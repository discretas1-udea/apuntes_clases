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94" r:id="rId6"/>
    <p:sldId id="274" r:id="rId7"/>
    <p:sldId id="295" r:id="rId8"/>
    <p:sldId id="296" r:id="rId9"/>
    <p:sldId id="297" r:id="rId10"/>
    <p:sldId id="298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2770-6FBD-4BB4-A2B9-23B83B79F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0A678D-ACF8-42CB-B602-771D3671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27A23-4A75-4158-B3E1-3279D54A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C36C1-26A3-49BE-A8A8-656951F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9EE2A-0423-43AD-9F4C-5952D9F2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26FE-A781-4BB8-B275-F95FB8E1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71A97-A3C2-4295-8826-D28A126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6F645-AB27-4911-BCC9-574BF367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8FE45-F388-46E1-847F-D74F2C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19B6D-4D65-4A9C-873F-E7FFC1C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38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6E4C1-EE2C-4DF3-B95E-10353CE8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596D-34C7-480C-B7C7-AE611D66A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F39E0B-86F6-4DD6-8E06-F04AB91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28C16-2CC1-490E-9309-92C8F9A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C182E-E5DD-4074-AA33-D149FC8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4A12-1EEC-4400-93DE-671E040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4AD98-7D87-40F1-9981-C755DC42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3F4873-7AED-4F9D-9103-5818CC36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DBBA8-578A-446A-800E-01BDB42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82B379-A5D7-4342-86D7-62F9B931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51239-35D4-4220-9B22-7EE6E22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2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B5A-6224-4348-9B94-4161FF84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CF24BE-9C24-4CA6-8A5C-36DBE928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EFA7D-A451-44F4-B5C6-2ACBE2F84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B200E4-6816-4997-87AF-39943A087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1A54D-0CA9-4172-B839-F19F04CF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8EF700-2071-4D13-B6EE-34550DBE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078420-F81E-408E-A9AB-0F92562D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306ED8-BF80-4607-B42A-65A6846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98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C3652-A105-4D57-9F69-2D3E81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D369-43CB-4B39-8D56-C54136F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F48D6-33A3-43B8-9361-244B90D5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8C44-51DA-4E62-85C0-E253415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7FBCCC-D27A-4A96-85AB-1BAF649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6C721-C0F1-483D-97A4-E08FDBE3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A1B9F-FE52-448D-B841-4A00EEA7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9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02A91-1D28-42A9-B21E-EFA7DDA2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94BA1-5B56-44D0-B843-FE7B2B25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E838D-4388-42AC-AC13-A32F7F7E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99FCE-0501-4EC2-A21B-EDDDE2E6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AC3F1-97ED-4708-B0C0-2A867F73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88FABF-430B-4BBC-AAF0-0C3836E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9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43730-08F4-474D-BF3B-2673A2E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ADB43-4142-4E41-9C02-2EC1C4EE5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0C94E-B1B0-42F9-8668-259526B6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7A2EA-ED3A-479F-B942-4062C664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577A8-F277-4E96-AC0F-E0581A09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59C557-34C4-49D7-B43D-1D70DA1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A3E-683D-49C3-B835-5DA47B06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2A7221-F084-498B-A2A3-827959A7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6429-F5E6-4B51-8B8E-E05BD78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0D87B-E1BE-4DE4-9F60-CD7364B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E0DB5-B959-49A6-9256-FDCF4D4D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1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88A24B-644E-406E-86FA-07F4B0DB5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2AB56-3945-4933-BAEA-72759D3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CA228-69BD-4106-8570-761E9E5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A0E29-7829-410A-9C8D-1D51D1C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1274-8A44-49CB-A1AD-9434CB35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9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5368ED-5B28-4202-9E33-32EC05B8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0C07D-486C-406F-ABEB-E3692C2C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E458E-9971-4F89-8F75-BCD52B59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4E5A-E75E-4899-90F5-DDB39F3E781F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3CD78-927C-4944-A41E-D7C93DAE7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AC53E-55C5-4980-8039-C8B4C48B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retas1-udea.github.io/discretas1-udea-20261/lessons/mod1/clase2/" TargetMode="External"/><Relationship Id="rId2" Type="http://schemas.openxmlformats.org/officeDocument/2006/relationships/hyperlink" Target="https://discretas1-udea.github.io/discretas1-udea-2026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retas1-udea.github.io/discretas1-udea-20261/assets/slides/clase2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E613-42B3-43C2-8E09-AFBF8FB9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Matemáticas Discretas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98DC3-5DEF-4734-A422-0A017D4D3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dirty="0"/>
              <a:t>Clase 04</a:t>
            </a:r>
          </a:p>
          <a:p>
            <a:r>
              <a:rPr lang="es-CO" dirty="0"/>
              <a:t>19/02/2025</a:t>
            </a:r>
          </a:p>
        </p:txBody>
      </p:sp>
    </p:spTree>
    <p:extLst>
      <p:ext uri="{BB962C8B-B14F-4D97-AF65-F5344CB8AC3E}">
        <p14:creationId xmlns:p14="http://schemas.microsoft.com/office/powerpoint/2010/main" val="270481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 de esta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/>
              <a:t>Pagina web</a:t>
            </a:r>
            <a:r>
              <a:rPr lang="es-CO" dirty="0"/>
              <a:t>: </a:t>
            </a:r>
            <a:r>
              <a:rPr lang="es-CO" dirty="0">
                <a:hlinkClick r:id="rId2"/>
              </a:rPr>
              <a:t>https://discretas1-udea.github.io/discretas1-udea-20261/</a:t>
            </a:r>
            <a:endParaRPr lang="es-CO" dirty="0"/>
          </a:p>
          <a:p>
            <a:pPr lvl="1"/>
            <a:r>
              <a:rPr lang="es-CO" b="1" dirty="0"/>
              <a:t>Clase 2</a:t>
            </a:r>
            <a:r>
              <a:rPr lang="es-CO" dirty="0"/>
              <a:t>: </a:t>
            </a:r>
            <a:r>
              <a:rPr lang="es-CO" dirty="0">
                <a:hlinkClick r:id="rId3"/>
              </a:rPr>
              <a:t>https://discretas1-udea.github.io/discretas1-udea-20261/lessons/mod1/clase2/</a:t>
            </a:r>
            <a:endParaRPr lang="es-CO" dirty="0"/>
          </a:p>
          <a:p>
            <a:r>
              <a:rPr lang="es-CO" b="1" dirty="0"/>
              <a:t>Diapositivas</a:t>
            </a:r>
            <a:r>
              <a:rPr lang="es-CO" dirty="0"/>
              <a:t>: </a:t>
            </a:r>
            <a:r>
              <a:rPr lang="es-CO" dirty="0">
                <a:hlinkClick r:id="rId4"/>
              </a:rPr>
              <a:t>https://discretas1-udea.github.io/discretas1-udea-20261/assets/slides/clase2.pdf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699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/>
          <a:lstStyle/>
          <a:p>
            <a:r>
              <a:rPr lang="es-CO" dirty="0"/>
              <a:t>Tablas de verdad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9693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4"/>
            <a:ext cx="11471563" cy="1742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solidFill>
                  <a:schemeClr val="accent2"/>
                </a:solidFill>
              </a:rPr>
              <a:t>Definición</a:t>
            </a:r>
          </a:p>
          <a:p>
            <a:r>
              <a:rPr lang="es-MX" sz="2000" dirty="0">
                <a:solidFill>
                  <a:srgbClr val="131314"/>
                </a:solidFill>
              </a:rPr>
              <a:t>Herramienta tabular empleada para analizar todos los posibles valores de verdad de la expresión que evalúa.</a:t>
            </a:r>
          </a:p>
          <a:p>
            <a:r>
              <a:rPr lang="es-MX" sz="2000" b="0" i="0" dirty="0">
                <a:solidFill>
                  <a:srgbClr val="131314"/>
                </a:solidFill>
                <a:effectLst/>
              </a:rPr>
              <a:t>Alternativa a la evaluación de expresiones lógicas que facilita la tarea de evaluar.</a:t>
            </a:r>
          </a:p>
          <a:p>
            <a:pPr lvl="1"/>
            <a:endParaRPr lang="es-MX" sz="1600" b="0" i="0" dirty="0">
              <a:solidFill>
                <a:srgbClr val="131314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0F501037-3838-4096-B05E-78C31FBAA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097949"/>
                  </p:ext>
                </p:extLst>
              </p:nvPr>
            </p:nvGraphicFramePr>
            <p:xfrm>
              <a:off x="1910583" y="3937576"/>
              <a:ext cx="1135628" cy="12801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0F501037-3838-4096-B05E-78C31FBAA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097949"/>
                  </p:ext>
                </p:extLst>
              </p:nvPr>
            </p:nvGraphicFramePr>
            <p:xfrm>
              <a:off x="1910583" y="3937576"/>
              <a:ext cx="1135628" cy="12801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FB34195-E2AA-4909-A49F-F91AAE1BF0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911169"/>
                  </p:ext>
                </p:extLst>
              </p:nvPr>
            </p:nvGraphicFramePr>
            <p:xfrm>
              <a:off x="4055592" y="3510856"/>
              <a:ext cx="6261577" cy="21336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FB34195-E2AA-4909-A49F-F91AAE1BF0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911169"/>
                  </p:ext>
                </p:extLst>
              </p:nvPr>
            </p:nvGraphicFramePr>
            <p:xfrm>
              <a:off x="4055592" y="3510856"/>
              <a:ext cx="6261577" cy="21336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173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5"/>
            <a:ext cx="11471563" cy="3072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solidFill>
                  <a:schemeClr val="accent2"/>
                </a:solidFill>
              </a:rPr>
              <a:t>Pasos</a:t>
            </a:r>
            <a:r>
              <a:rPr lang="es-MX" dirty="0">
                <a:solidFill>
                  <a:schemeClr val="accent2"/>
                </a:solidFill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rgbClr val="131314"/>
                </a:solidFill>
              </a:rPr>
              <a:t>Identificar las variables proposicionales.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rgbClr val="131314"/>
                </a:solidFill>
              </a:rPr>
              <a:t>Determinar el número de filas necesarias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Construir las columnas de las variables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Agregar columnas auxiliares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Evaluar la expresión lógica paso a paso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Revisar y validar la tabla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0BA250-E803-4847-BACF-C2EA1E6FD9D4}"/>
              </a:ext>
            </a:extLst>
          </p:cNvPr>
          <p:cNvSpPr txBox="1"/>
          <p:nvPr/>
        </p:nvSpPr>
        <p:spPr>
          <a:xfrm>
            <a:off x="692726" y="4987636"/>
            <a:ext cx="10661073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CO" b="1" dirty="0"/>
              <a:t>Convención</a:t>
            </a:r>
            <a:r>
              <a:rPr lang="es-CO" dirty="0"/>
              <a:t>: Para este curso, en las tablas de verdad, vamos a utilizar la notación binaria en ingeniería, es decir 1 para Verdadero y 0 para falso.</a:t>
            </a:r>
          </a:p>
        </p:txBody>
      </p:sp>
    </p:spTree>
    <p:extLst>
      <p:ext uri="{BB962C8B-B14F-4D97-AF65-F5344CB8AC3E}">
        <p14:creationId xmlns:p14="http://schemas.microsoft.com/office/powerpoint/2010/main" val="73870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244862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MX" b="1" i="0" dirty="0">
                    <a:solidFill>
                      <a:schemeClr val="accent2"/>
                    </a:solidFill>
                    <a:effectLst/>
                    <a:latin typeface="system-ui"/>
                  </a:rPr>
                  <a:t>Ejemplos</a:t>
                </a:r>
                <a:endParaRPr lang="es-MX" sz="2000" b="1" i="0" dirty="0">
                  <a:solidFill>
                    <a:schemeClr val="accent2"/>
                  </a:solidFill>
                  <a:effectLst/>
                  <a:latin typeface="system-ui"/>
                </a:endParaRPr>
              </a:p>
              <a:p>
                <a:pPr marL="0" indent="0">
                  <a:buNone/>
                </a:pPr>
                <a:r>
                  <a:rPr lang="es-MX" sz="22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Obtenga la tabla de verdad asociada a cada una de las siguientes expresiones compuestas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200" b="0" dirty="0">
                    <a:solidFill>
                      <a:srgbClr val="5C5962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s-MX" sz="2200" b="0" dirty="0">
                    <a:solidFill>
                      <a:srgbClr val="5C5962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200" b="0" i="1" dirty="0">
                  <a:solidFill>
                    <a:srgbClr val="5C596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∨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s-MX" sz="2200" b="0" i="0" dirty="0">
                  <a:solidFill>
                    <a:srgbClr val="5C5962"/>
                  </a:solidFill>
                  <a:effectLst/>
                  <a:latin typeface="Google Sans Text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200" b="0" i="1" smtClean="0">
                                <a:solidFill>
                                  <a:srgbClr val="5C5962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200" b="0" i="1" smtClean="0">
                                <a:solidFill>
                                  <a:srgbClr val="5C5962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MX" sz="2200" b="0" i="1" smtClean="0">
                                <a:solidFill>
                                  <a:srgbClr val="5C5962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s-MX" sz="2200" b="0" i="1" smtClean="0">
                                <a:solidFill>
                                  <a:srgbClr val="5C5962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∧¬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200" b="0" i="0" dirty="0">
                  <a:solidFill>
                    <a:srgbClr val="5C5962"/>
                  </a:solidFill>
                  <a:effectLst/>
                  <a:latin typeface="Google Sans Text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s-MX" sz="22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2448621"/>
              </a:xfrm>
              <a:blipFill>
                <a:blip r:embed="rId2"/>
                <a:stretch>
                  <a:fillRect l="-956" t="-523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58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4951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200" b="1" i="0" dirty="0">
                    <a:solidFill>
                      <a:srgbClr val="5C5962"/>
                    </a:solidFill>
                    <a:effectLst/>
                    <a:latin typeface="system-ui"/>
                  </a:rPr>
                  <a:t>Ejemplo 1</a:t>
                </a:r>
                <a:r>
                  <a:rPr lang="es-MX" sz="22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200" b="0" dirty="0">
                    <a:solidFill>
                      <a:srgbClr val="5C5962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s-MX" sz="2200" b="0" dirty="0">
                    <a:solidFill>
                      <a:srgbClr val="5C5962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200" b="0" i="1" dirty="0">
                  <a:solidFill>
                    <a:srgbClr val="5C596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495130"/>
              </a:xfrm>
              <a:blipFill>
                <a:blip r:embed="rId2"/>
                <a:stretch>
                  <a:fillRect l="-691" t="-14815" b="-49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695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24486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200" b="1" i="0" dirty="0">
                    <a:solidFill>
                      <a:srgbClr val="5C5962"/>
                    </a:solidFill>
                    <a:effectLst/>
                    <a:latin typeface="system-ui"/>
                  </a:rPr>
                  <a:t>Ejemplo 2</a:t>
                </a:r>
                <a:r>
                  <a:rPr lang="es-MX" sz="22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2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∨</m:t>
                        </m:r>
                        <m:r>
                          <a:rPr lang="es-MX" sz="2200" b="0" i="1" smtClean="0">
                            <a:solidFill>
                              <a:srgbClr val="5C596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s-MX" sz="2200" b="0" i="0" dirty="0">
                  <a:solidFill>
                    <a:srgbClr val="5C5962"/>
                  </a:solidFill>
                  <a:effectLst/>
                  <a:latin typeface="Google Sans Text"/>
                  <a:ea typeface="Cambria Math" panose="02040503050406030204" pitchFamily="18" charset="0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2448621"/>
              </a:xfrm>
              <a:blipFill>
                <a:blip r:embed="rId2"/>
                <a:stretch>
                  <a:fillRect l="-691" t="-299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5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4397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solidFill>
                      <a:srgbClr val="5C5962"/>
                    </a:solidFill>
                    <a:effectLst/>
                    <a:latin typeface="system-ui"/>
                  </a:rPr>
                  <a:t>Ejemplo 3</a:t>
                </a:r>
                <a:r>
                  <a:rPr lang="es-MX" sz="2000" b="0" i="0" dirty="0">
                    <a:solidFill>
                      <a:srgbClr val="5C5962"/>
                    </a:solidFill>
                    <a:effectLst/>
                    <a:latin typeface="system-ui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000" i="1">
                            <a:solidFill>
                              <a:srgbClr val="5C596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i="1">
                                <a:solidFill>
                                  <a:srgbClr val="5C596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solidFill>
                                  <a:srgbClr val="5C596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MX" sz="2000" i="1">
                                <a:solidFill>
                                  <a:srgbClr val="5C596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s-MX" sz="2000" i="1">
                                <a:solidFill>
                                  <a:srgbClr val="5C596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s-MX" sz="2000" i="1">
                            <a:solidFill>
                              <a:srgbClr val="5C596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∧¬</m:t>
                        </m:r>
                        <m:r>
                          <a:rPr lang="es-MX" sz="2000" i="1">
                            <a:solidFill>
                              <a:srgbClr val="5C596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000" i="1">
                        <a:solidFill>
                          <a:srgbClr val="5C596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s-MX" sz="2000" i="1">
                        <a:solidFill>
                          <a:srgbClr val="5C596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000" dirty="0">
                  <a:solidFill>
                    <a:srgbClr val="5C5962"/>
                  </a:solidFill>
                  <a:latin typeface="Google Sans Text"/>
                  <a:ea typeface="Cambria Math" panose="02040503050406030204" pitchFamily="18" charset="0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439711"/>
              </a:xfrm>
              <a:blipFill>
                <a:blip r:embed="rId2"/>
                <a:stretch>
                  <a:fillRect l="-531" t="-15278" b="-8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86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escargar fondos de Looneytunes, Eso Es Todo Amigos. | Wallpapers.com">
            <a:extLst>
              <a:ext uri="{FF2B5EF4-FFF2-40B4-BE49-F238E27FC236}">
                <a16:creationId xmlns:a16="http://schemas.microsoft.com/office/drawing/2014/main" id="{80E56D42-6B08-45CB-A8AD-5B69CC1F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189" y="1300595"/>
            <a:ext cx="8043676" cy="4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0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284</Words>
  <Application>Microsoft Office PowerPoint</Application>
  <PresentationFormat>Panorámica</PresentationFormat>
  <Paragraphs>77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Google Sans Text</vt:lpstr>
      <vt:lpstr>Roboto</vt:lpstr>
      <vt:lpstr>system-ui</vt:lpstr>
      <vt:lpstr>Tema de Office</vt:lpstr>
      <vt:lpstr>Matemáticas Discretas 1</vt:lpstr>
      <vt:lpstr>Recursos de esta clase</vt:lpstr>
      <vt:lpstr>Agenda</vt:lpstr>
      <vt:lpstr>Tablas de verdad</vt:lpstr>
      <vt:lpstr>Tablas de verdad</vt:lpstr>
      <vt:lpstr>Tablas de verdad</vt:lpstr>
      <vt:lpstr>Tablas de verdad</vt:lpstr>
      <vt:lpstr>Tablas de verdad</vt:lpstr>
      <vt:lpstr>Tablas de verdad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Discretas 1</dc:title>
  <dc:creator>Henry Arcila</dc:creator>
  <cp:lastModifiedBy>Henry Arcila</cp:lastModifiedBy>
  <cp:revision>4</cp:revision>
  <dcterms:created xsi:type="dcterms:W3CDTF">2026-02-16T23:39:43Z</dcterms:created>
  <dcterms:modified xsi:type="dcterms:W3CDTF">2026-02-19T13:06:18Z</dcterms:modified>
</cp:coreProperties>
</file>