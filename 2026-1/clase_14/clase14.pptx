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1"/>
  </p:sldMasterIdLst>
  <p:notesMasterIdLst>
    <p:notesMasterId r:id="rId46"/>
  </p:notesMasterIdLst>
  <p:sldIdLst>
    <p:sldId id="256" r:id="rId2"/>
    <p:sldId id="516" r:id="rId3"/>
    <p:sldId id="522" r:id="rId4"/>
    <p:sldId id="523" r:id="rId5"/>
    <p:sldId id="524" r:id="rId6"/>
    <p:sldId id="517" r:id="rId7"/>
    <p:sldId id="518" r:id="rId8"/>
    <p:sldId id="519" r:id="rId9"/>
    <p:sldId id="521" r:id="rId10"/>
    <p:sldId id="520" r:id="rId11"/>
    <p:sldId id="525" r:id="rId12"/>
    <p:sldId id="532" r:id="rId13"/>
    <p:sldId id="533" r:id="rId14"/>
    <p:sldId id="534" r:id="rId15"/>
    <p:sldId id="535" r:id="rId16"/>
    <p:sldId id="536" r:id="rId17"/>
    <p:sldId id="537" r:id="rId18"/>
    <p:sldId id="545" r:id="rId19"/>
    <p:sldId id="538" r:id="rId20"/>
    <p:sldId id="539" r:id="rId21"/>
    <p:sldId id="540" r:id="rId22"/>
    <p:sldId id="547" r:id="rId23"/>
    <p:sldId id="548" r:id="rId24"/>
    <p:sldId id="549" r:id="rId25"/>
    <p:sldId id="550" r:id="rId26"/>
    <p:sldId id="551" r:id="rId27"/>
    <p:sldId id="552" r:id="rId28"/>
    <p:sldId id="553" r:id="rId29"/>
    <p:sldId id="554" r:id="rId30"/>
    <p:sldId id="555" r:id="rId31"/>
    <p:sldId id="556" r:id="rId32"/>
    <p:sldId id="557" r:id="rId33"/>
    <p:sldId id="558" r:id="rId34"/>
    <p:sldId id="559" r:id="rId35"/>
    <p:sldId id="560" r:id="rId36"/>
    <p:sldId id="561" r:id="rId37"/>
    <p:sldId id="563" r:id="rId38"/>
    <p:sldId id="565" r:id="rId39"/>
    <p:sldId id="564" r:id="rId40"/>
    <p:sldId id="580" r:id="rId41"/>
    <p:sldId id="566" r:id="rId42"/>
    <p:sldId id="567" r:id="rId43"/>
    <p:sldId id="581" r:id="rId44"/>
    <p:sldId id="568" r:id="rId45"/>
  </p:sldIdLst>
  <p:sldSz cx="12192000" cy="6858000"/>
  <p:notesSz cx="6858000" cy="9144000"/>
  <p:embeddedFontLst>
    <p:embeddedFont>
      <p:font typeface="Calibri" panose="020F0502020204030204" pitchFamily="34" charset="0"/>
      <p:regular r:id="rId47"/>
      <p:bold r:id="rId48"/>
      <p:italic r:id="rId49"/>
      <p:boldItalic r:id="rId50"/>
    </p:embeddedFont>
    <p:embeddedFont>
      <p:font typeface="Calibri Light" panose="020F0302020204030204" pitchFamily="34" charset="0"/>
      <p:regular r:id="rId51"/>
      <p:italic r:id="rId52"/>
    </p:embeddedFont>
    <p:embeddedFont>
      <p:font typeface="Cambria Math" panose="02040503050406030204" pitchFamily="18" charset="0"/>
      <p:regular r:id="rId53"/>
    </p:embeddedFont>
    <p:embeddedFont>
      <p:font typeface="Roboto" panose="02000000000000000000" pitchFamily="2" charset="0"/>
      <p:regular r:id="rId54"/>
      <p:bold r:id="rId55"/>
      <p:italic r:id="rId56"/>
      <p:boldItalic r:id="rId57"/>
    </p:embeddedFont>
    <p:embeddedFont>
      <p:font typeface="Roboto Slab" panose="020B0604020202020204" charset="0"/>
      <p:regular r:id="rId58"/>
      <p:bold r:id="rId59"/>
    </p:embeddedFont>
  </p:embeddedFontLst>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6A3598-7CB8-4345-8D95-17CE05F158A0}">
  <a:tblStyle styleId="{AD6A3598-7CB8-4345-8D95-17CE05F158A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4" autoAdjust="0"/>
    <p:restoredTop sz="94291" autoAdjust="0"/>
  </p:normalViewPr>
  <p:slideViewPr>
    <p:cSldViewPr snapToGrid="0">
      <p:cViewPr varScale="1">
        <p:scale>
          <a:sx n="65" d="100"/>
          <a:sy n="65" d="100"/>
        </p:scale>
        <p:origin x="77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font" Target="fonts/font12.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8358aba0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8358aba0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98204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2947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19709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5002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89061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8172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32119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92815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48849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12656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033842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0803965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7662308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659465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040678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6992608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3003396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6623299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108313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1352115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42899588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6416216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4745204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42686562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633330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5861815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3491553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3713323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7134950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5009846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9481307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6968760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821956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3552146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2447010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41757435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4531959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6744868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5663603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431077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3362929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9526683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894182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197931-88D2-48EC-BDFD-C8C3C5166BD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38679D90-F057-4BD5-83C0-DDC6EE2119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22C13BD3-4696-4B09-8A88-F3994E7C744A}"/>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FF285628-4B07-48C3-A0F4-63457190B13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2DA6BEC-6DF4-4166-BD89-B2E0A39B701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816564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D74B2C-17C9-4AA4-9668-F80AC962E69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258D9D8-9866-4269-8D7D-807856891CC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9E009FBE-E524-4470-9FCD-AEB4BE306994}"/>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944FB710-71F8-4468-A8D3-4E66EDFF901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3AD742D-28B3-4CCB-96B9-49F1E45104F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91804877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24E514-96C5-4BA6-8853-8FD23DBA49B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CB46064-8B93-4EDC-9C8C-E62E5E204D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B64F67B-C4F9-4EEE-B654-135E40590AE6}"/>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D642D2EB-0949-472E-B96E-7077F243965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48BF961-D28F-480C-A33B-2D90830F358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855607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D49851-BE79-4814-B324-7A715144F00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FB8196A1-DDE1-4352-9C3D-A0CD29769B4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370082F4-C4BC-4497-8E38-2AAC216C98E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41CBF39F-7AC4-42AD-8BED-FB13480278B0}"/>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32CD1E40-2EDD-42B2-8717-B610AA70C44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C650591-7D21-4F93-B6A8-04637AA5290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258791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A18ABB-EB85-46DB-94FC-5071555A8DD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20E644E-2C94-4905-A3B3-39494B91F8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91FDA4E-3792-47ED-A324-BE4AB193A7A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7BAA52EB-49DC-417B-A1D3-7E5D77F55D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6D28227-5811-416F-8EB6-97579857349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13328A4A-DB4B-4AF3-A5E0-7FDD49D01449}"/>
              </a:ext>
            </a:extLst>
          </p:cNvPr>
          <p:cNvSpPr>
            <a:spLocks noGrp="1"/>
          </p:cNvSpPr>
          <p:nvPr>
            <p:ph type="dt" sz="half" idx="10"/>
          </p:nvPr>
        </p:nvSpPr>
        <p:spPr/>
        <p:txBody>
          <a:bodyPr/>
          <a:lstStyle/>
          <a:p>
            <a:endParaRPr lang="es-CO"/>
          </a:p>
        </p:txBody>
      </p:sp>
      <p:sp>
        <p:nvSpPr>
          <p:cNvPr id="8" name="Marcador de pie de página 7">
            <a:extLst>
              <a:ext uri="{FF2B5EF4-FFF2-40B4-BE49-F238E27FC236}">
                <a16:creationId xmlns:a16="http://schemas.microsoft.com/office/drawing/2014/main" id="{8760E545-7BCF-40CB-8EA9-E2B4649257ED}"/>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3089E4DE-3B1B-4798-B272-2678EA5F2ED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193544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87F13F-4B41-424E-B1EA-AD2F1961BB7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A0B4F20C-7C18-429B-BBC6-F1E1923258DF}"/>
              </a:ext>
            </a:extLst>
          </p:cNvPr>
          <p:cNvSpPr>
            <a:spLocks noGrp="1"/>
          </p:cNvSpPr>
          <p:nvPr>
            <p:ph type="dt" sz="half" idx="10"/>
          </p:nvPr>
        </p:nvSpPr>
        <p:spPr/>
        <p:txBody>
          <a:bodyPr/>
          <a:lstStyle/>
          <a:p>
            <a:endParaRPr lang="es-CO"/>
          </a:p>
        </p:txBody>
      </p:sp>
      <p:sp>
        <p:nvSpPr>
          <p:cNvPr id="4" name="Marcador de pie de página 3">
            <a:extLst>
              <a:ext uri="{FF2B5EF4-FFF2-40B4-BE49-F238E27FC236}">
                <a16:creationId xmlns:a16="http://schemas.microsoft.com/office/drawing/2014/main" id="{D3DD1AD9-50A0-4CE3-8023-232BC37E16F2}"/>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50C54793-A555-45AF-9D0F-A5E36048093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069583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0C75C98-5CC7-41D3-8B42-1FBCC7B8604E}"/>
              </a:ext>
            </a:extLst>
          </p:cNvPr>
          <p:cNvSpPr>
            <a:spLocks noGrp="1"/>
          </p:cNvSpPr>
          <p:nvPr>
            <p:ph type="dt" sz="half" idx="10"/>
          </p:nvPr>
        </p:nvSpPr>
        <p:spPr/>
        <p:txBody>
          <a:bodyPr/>
          <a:lstStyle/>
          <a:p>
            <a:endParaRPr lang="es-CO"/>
          </a:p>
        </p:txBody>
      </p:sp>
      <p:sp>
        <p:nvSpPr>
          <p:cNvPr id="3" name="Marcador de pie de página 2">
            <a:extLst>
              <a:ext uri="{FF2B5EF4-FFF2-40B4-BE49-F238E27FC236}">
                <a16:creationId xmlns:a16="http://schemas.microsoft.com/office/drawing/2014/main" id="{A4F9A19D-8546-4DB7-943E-A6C40975FE65}"/>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FE834467-C085-4B5F-A2D6-1D111E7B63C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29740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15EE5-EEA6-4207-BAC5-8F00A701829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FEC8231-695B-4518-9BF7-E97F512387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92354B8A-1CBC-41E0-A9E8-5FB2EDDB22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4F94055-E401-4C0E-938D-614524727DC5}"/>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83E66432-8574-4009-93CD-B90204AD67C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6F7A7D2-9509-468B-B64D-B399F9DB324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49093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E419B6-6D50-4A22-8E95-82EE8602FE7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EF31C67-83EC-4E09-A025-68611B0A31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88D1882C-D761-4343-B07D-229B12E86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1EC2773-E284-4FB7-96DB-FA2355335C55}"/>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D2179AA4-7DC2-4E0C-97DC-8A68C1379C7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407F01C-D4A8-4D86-8512-8420DA1E163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20013850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3C9AA4-F3E2-4CC2-A284-905F19ECAC4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A6CBEBAE-E35C-4899-864F-A5E0E8FF563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92D712-9AB0-4144-8F48-C505B6253E04}"/>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CD14778D-63AC-4546-B99B-D4A982BAA4F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B497614-F0BD-4E0B-BF9D-789914892DD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315041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DCF5863-9BB8-4C9A-9E37-8A7D97BE2D6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36A67F6-87AB-4DD7-B3BC-A39896F4C89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7C8C0A3-B3A6-4C11-B5E9-3F6DDA9113A6}"/>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30C6C295-0416-473F-848C-AC3B030A9B1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9718280-2589-4855-81D4-C63D086CD72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8751463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UdeA-Nueva 1 1">
  <p:cSld name="UdeA-Nueva 1 1">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8CC63E"/>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 name="Google Shape;38;p4"/>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39" name="Google Shape;39;p4"/>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32609506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UdeA-Nueva 1 1 1">
  <p:cSld name="UdeA-Nueva 1 1 1">
    <p:spTree>
      <p:nvGrpSpPr>
        <p:cNvPr id="1" name="Shape 48"/>
        <p:cNvGrpSpPr/>
        <p:nvPr/>
      </p:nvGrpSpPr>
      <p:grpSpPr>
        <a:xfrm>
          <a:off x="0" y="0"/>
          <a:ext cx="0" cy="0"/>
          <a:chOff x="0" y="0"/>
          <a:chExt cx="0" cy="0"/>
        </a:xfrm>
      </p:grpSpPr>
      <p:sp>
        <p:nvSpPr>
          <p:cNvPr id="49" name="Google Shape;49;p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701E5C"/>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0" name="Google Shape;50;p5"/>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51" name="Google Shape;51;p5"/>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2" name="Google Shape;52;p5"/>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3" name="Google Shape;53;p5"/>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169537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1E7B29E-FD20-45CE-B6B9-11DBA95B44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6E3B48-B3F4-480E-AA13-7F98C293F8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C5C6A56-744E-406A-A3F4-EB0DB79BFC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CO"/>
          </a:p>
        </p:txBody>
      </p:sp>
      <p:sp>
        <p:nvSpPr>
          <p:cNvPr id="5" name="Marcador de pie de página 4">
            <a:extLst>
              <a:ext uri="{FF2B5EF4-FFF2-40B4-BE49-F238E27FC236}">
                <a16:creationId xmlns:a16="http://schemas.microsoft.com/office/drawing/2014/main" id="{6AFCF1F0-6C88-47BC-ABAB-E51E406569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687FB6FA-3336-4974-922C-505465D633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81927930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16.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19.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123.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121.png"/><Relationship Id="rId4" Type="http://schemas.openxmlformats.org/officeDocument/2006/relationships/image" Target="../media/image8.png"/><Relationship Id="rId9" Type="http://schemas.openxmlformats.org/officeDocument/2006/relationships/image" Target="../media/image125.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129.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3.png"/><Relationship Id="rId11" Type="http://schemas.openxmlformats.org/officeDocument/2006/relationships/image" Target="../media/image133.png"/><Relationship Id="rId5" Type="http://schemas.openxmlformats.org/officeDocument/2006/relationships/image" Target="../media/image127.png"/><Relationship Id="rId10" Type="http://schemas.openxmlformats.org/officeDocument/2006/relationships/image" Target="../media/image15.png"/><Relationship Id="rId4" Type="http://schemas.openxmlformats.org/officeDocument/2006/relationships/image" Target="../media/image12.png"/><Relationship Id="rId9" Type="http://schemas.openxmlformats.org/officeDocument/2006/relationships/image" Target="../media/image131.pn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36.png"/><Relationship Id="rId11" Type="http://schemas.openxmlformats.org/officeDocument/2006/relationships/image" Target="../media/image141.png"/><Relationship Id="rId5" Type="http://schemas.openxmlformats.org/officeDocument/2006/relationships/image" Target="../media/image18.png"/><Relationship Id="rId10" Type="http://schemas.openxmlformats.org/officeDocument/2006/relationships/image" Target="../media/image140.png"/><Relationship Id="rId4" Type="http://schemas.openxmlformats.org/officeDocument/2006/relationships/image" Target="../media/image17.png"/><Relationship Id="rId9" Type="http://schemas.openxmlformats.org/officeDocument/2006/relationships/image" Target="../media/image139.png"/></Relationships>
</file>

<file path=ppt/slides/_rels/slide10.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21.png"/><Relationship Id="rId7" Type="http://schemas.openxmlformats.org/officeDocument/2006/relationships/image" Target="../media/image145.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image" Target="../media/image46.png"/><Relationship Id="rId4" Type="http://schemas.openxmlformats.org/officeDocument/2006/relationships/image" Target="../media/image45.png"/></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6.xml"/><Relationship Id="rId1" Type="http://schemas.openxmlformats.org/officeDocument/2006/relationships/slideLayout" Target="../slideLayouts/slideLayout12.xml"/><Relationship Id="rId4" Type="http://schemas.openxmlformats.org/officeDocument/2006/relationships/image" Target="../media/image48.png"/></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7.xml"/><Relationship Id="rId1" Type="http://schemas.openxmlformats.org/officeDocument/2006/relationships/slideLayout" Target="../slideLayouts/slideLayout12.xml"/><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7"/>
          <p:cNvSpPr txBox="1">
            <a:spLocks noGrp="1"/>
          </p:cNvSpPr>
          <p:nvPr>
            <p:ph type="ctrTitle"/>
          </p:nvPr>
        </p:nvSpPr>
        <p:spPr>
          <a:xfrm>
            <a:off x="408724" y="2964875"/>
            <a:ext cx="11021275" cy="922200"/>
          </a:xfrm>
          <a:prstGeom prst="rect">
            <a:avLst/>
          </a:prstGeom>
        </p:spPr>
        <p:txBody>
          <a:bodyPr spcFirstLastPara="1" wrap="square" lIns="91425" tIns="45700" rIns="91425" bIns="45700" anchor="b" anchorCtr="0">
            <a:noAutofit/>
          </a:bodyPr>
          <a:lstStyle/>
          <a:p>
            <a:pPr marL="0" lvl="0" indent="0" rtl="0">
              <a:spcBef>
                <a:spcPts val="0"/>
              </a:spcBef>
              <a:spcAft>
                <a:spcPts val="0"/>
              </a:spcAft>
              <a:buClr>
                <a:schemeClr val="lt1"/>
              </a:buClr>
              <a:buSzPts val="2800"/>
              <a:buFont typeface="Roboto Slab"/>
              <a:buNone/>
            </a:pPr>
            <a:endParaRPr sz="3200" dirty="0">
              <a:solidFill>
                <a:schemeClr val="dk1"/>
              </a:solidFill>
              <a:latin typeface="Arial"/>
              <a:ea typeface="Arial"/>
              <a:cs typeface="Arial"/>
              <a:sym typeface="Arial"/>
            </a:endParaRPr>
          </a:p>
          <a:p>
            <a:pPr marL="0" lvl="0" indent="0" rtl="0">
              <a:spcBef>
                <a:spcPts val="0"/>
              </a:spcBef>
              <a:spcAft>
                <a:spcPts val="0"/>
              </a:spcAft>
              <a:buClr>
                <a:schemeClr val="lt1"/>
              </a:buClr>
              <a:buSzPts val="2800"/>
              <a:buFont typeface="Roboto Slab"/>
              <a:buNone/>
            </a:pPr>
            <a:r>
              <a:rPr lang="es-ES" b="1" dirty="0"/>
              <a:t>Matemáticas Discretas I</a:t>
            </a:r>
            <a:endParaRPr sz="3200" dirty="0"/>
          </a:p>
        </p:txBody>
      </p:sp>
      <p:sp>
        <p:nvSpPr>
          <p:cNvPr id="140" name="Google Shape;140;p17"/>
          <p:cNvSpPr txBox="1">
            <a:spLocks noGrp="1"/>
          </p:cNvSpPr>
          <p:nvPr>
            <p:ph type="subTitle" idx="1"/>
          </p:nvPr>
        </p:nvSpPr>
        <p:spPr>
          <a:prstGeom prst="rect">
            <a:avLst/>
          </a:prstGeom>
        </p:spPr>
        <p:txBody>
          <a:bodyPr spcFirstLastPara="1" wrap="square" lIns="91425" tIns="45700" rIns="91425" bIns="45700" anchor="t" anchorCtr="0">
            <a:noAutofit/>
          </a:bodyPr>
          <a:lstStyle/>
          <a:p>
            <a:pPr marL="0" lvl="0" indent="0" algn="ctr" rtl="0">
              <a:spcBef>
                <a:spcPts val="1000"/>
              </a:spcBef>
              <a:spcAft>
                <a:spcPts val="0"/>
              </a:spcAft>
              <a:buNone/>
            </a:pPr>
            <a:r>
              <a:rPr lang="es-ES" sz="3600" b="1" dirty="0"/>
              <a:t>Clase 14</a:t>
            </a:r>
          </a:p>
          <a:p>
            <a:pPr marL="0" lvl="0" indent="0" algn="ctr" rtl="0">
              <a:spcBef>
                <a:spcPts val="1000"/>
              </a:spcBef>
              <a:spcAft>
                <a:spcPts val="0"/>
              </a:spcAft>
              <a:buNone/>
            </a:pPr>
            <a:r>
              <a:rPr lang="es-ES" dirty="0">
                <a:ea typeface="Roboto"/>
                <a:cs typeface="Roboto"/>
                <a:sym typeface="Roboto"/>
              </a:rPr>
              <a:t>30/04/2026</a:t>
            </a:r>
            <a:endParaRPr dirty="0">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p:txBody>
          <a:bodyPr/>
          <a:lstStyle/>
          <a:p>
            <a:r>
              <a:rPr lang="es-CO" dirty="0">
                <a:latin typeface="+mj-lt"/>
              </a:rPr>
              <a:t>Operaciones entre conjuntos</a:t>
            </a:r>
          </a:p>
        </p:txBody>
      </p:sp>
      <p:sp>
        <p:nvSpPr>
          <p:cNvPr id="10" name="CuadroTexto 9">
            <a:extLst>
              <a:ext uri="{FF2B5EF4-FFF2-40B4-BE49-F238E27FC236}">
                <a16:creationId xmlns:a16="http://schemas.microsoft.com/office/drawing/2014/main" id="{A19C6E9F-BCCF-4FD4-8EC3-574D66199786}"/>
              </a:ext>
            </a:extLst>
          </p:cNvPr>
          <p:cNvSpPr txBox="1"/>
          <p:nvPr/>
        </p:nvSpPr>
        <p:spPr>
          <a:xfrm>
            <a:off x="916650" y="985339"/>
            <a:ext cx="11044291"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Sobre las operaciones entre conjuntos</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862571" y="1492531"/>
            <a:ext cx="11044291" cy="392012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Las operaciones entre conjuntos permiten combinar o modificar conjuntos para crear nuevos conjuntos. Las principales son:</a:t>
            </a:r>
          </a:p>
          <a:p>
            <a:r>
              <a:rPr lang="es-MX" sz="2200" dirty="0">
                <a:latin typeface="+mn-lt"/>
                <a:ea typeface="Roboto" panose="02000000000000000000" pitchFamily="2" charset="0"/>
              </a:rPr>
              <a:t>Unión</a:t>
            </a:r>
          </a:p>
          <a:p>
            <a:r>
              <a:rPr lang="es-MX" sz="2200" dirty="0">
                <a:latin typeface="+mn-lt"/>
                <a:ea typeface="Roboto" panose="02000000000000000000" pitchFamily="2" charset="0"/>
              </a:rPr>
              <a:t>Intersección.</a:t>
            </a:r>
          </a:p>
          <a:p>
            <a:r>
              <a:rPr lang="es-MX" sz="2200" dirty="0">
                <a:latin typeface="+mn-lt"/>
                <a:ea typeface="Roboto" panose="02000000000000000000" pitchFamily="2" charset="0"/>
              </a:rPr>
              <a:t>Diferencia de conjuntos.</a:t>
            </a:r>
          </a:p>
          <a:p>
            <a:r>
              <a:rPr lang="es-MX" sz="2200" dirty="0">
                <a:latin typeface="+mn-lt"/>
                <a:ea typeface="Roboto" panose="02000000000000000000" pitchFamily="2" charset="0"/>
              </a:rPr>
              <a:t>Complemento de un conjunto.</a:t>
            </a:r>
          </a:p>
          <a:p>
            <a:r>
              <a:rPr lang="es-MX" sz="2200" dirty="0">
                <a:latin typeface="+mn-lt"/>
                <a:ea typeface="Roboto" panose="02000000000000000000" pitchFamily="2" charset="0"/>
              </a:rPr>
              <a:t>Diferencia simétrica.</a:t>
            </a:r>
          </a:p>
          <a:p>
            <a:endParaRPr lang="es-MX" sz="2000" dirty="0">
              <a:latin typeface="+mn-lt"/>
              <a:ea typeface="Roboto" panose="02000000000000000000" pitchFamily="2" charset="0"/>
            </a:endParaRPr>
          </a:p>
        </p:txBody>
      </p:sp>
    </p:spTree>
    <p:extLst>
      <p:ext uri="{BB962C8B-B14F-4D97-AF65-F5344CB8AC3E}">
        <p14:creationId xmlns:p14="http://schemas.microsoft.com/office/powerpoint/2010/main" val="2664164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p:txBody>
          <a:bodyPr/>
          <a:lstStyle/>
          <a:p>
            <a:r>
              <a:rPr lang="es-CO" dirty="0">
                <a:latin typeface="+mj-lt"/>
              </a:rPr>
              <a:t>Operaciones entre conjuntos</a:t>
            </a:r>
          </a:p>
        </p:txBody>
      </p:sp>
      <p:sp>
        <p:nvSpPr>
          <p:cNvPr id="10" name="CuadroTexto 9">
            <a:extLst>
              <a:ext uri="{FF2B5EF4-FFF2-40B4-BE49-F238E27FC236}">
                <a16:creationId xmlns:a16="http://schemas.microsoft.com/office/drawing/2014/main" id="{A19C6E9F-BCCF-4FD4-8EC3-574D66199786}"/>
              </a:ext>
            </a:extLst>
          </p:cNvPr>
          <p:cNvSpPr txBox="1"/>
          <p:nvPr/>
        </p:nvSpPr>
        <p:spPr>
          <a:xfrm>
            <a:off x="916650" y="985339"/>
            <a:ext cx="11044291"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Ejemplo</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788830" y="1451229"/>
            <a:ext cx="11044291" cy="52694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Sea A el conjunto de todas las letras que conforman la palabra calculo ‘calculo’ y B el conjunto asociado de letras que aparecen en ‘matemáticas discretas’. Determine:</a:t>
            </a:r>
          </a:p>
          <a:p>
            <a:pPr marL="584200" indent="-457200">
              <a:buFont typeface="+mj-lt"/>
              <a:buAutoNum type="arabicPeriod"/>
            </a:pPr>
            <a:r>
              <a:rPr lang="es-MX" sz="2000" dirty="0">
                <a:latin typeface="+mn-lt"/>
                <a:ea typeface="Roboto" panose="02000000000000000000" pitchFamily="2" charset="0"/>
              </a:rPr>
              <a:t>La representación por comprensión y extensión de cada conjunto.</a:t>
            </a:r>
          </a:p>
          <a:p>
            <a:pPr marL="584200" indent="-457200">
              <a:buFont typeface="+mj-lt"/>
              <a:buAutoNum type="arabicPeriod"/>
            </a:pPr>
            <a:r>
              <a:rPr lang="es-MX" sz="2000" dirty="0">
                <a:latin typeface="+mn-lt"/>
                <a:ea typeface="Roboto" panose="02000000000000000000" pitchFamily="2" charset="0"/>
              </a:rPr>
              <a:t>El conjunto universal.</a:t>
            </a:r>
          </a:p>
          <a:p>
            <a:pPr marL="584200" indent="-457200">
              <a:buFont typeface="+mj-lt"/>
              <a:buAutoNum type="arabicPeriod"/>
            </a:pPr>
            <a:r>
              <a:rPr lang="es-MX" sz="2000" dirty="0">
                <a:latin typeface="+mn-lt"/>
                <a:ea typeface="Roboto" panose="02000000000000000000" pitchFamily="2" charset="0"/>
              </a:rPr>
              <a:t>Dibuje el diagrama de ven que represente el problema.</a:t>
            </a:r>
          </a:p>
          <a:p>
            <a:pPr marL="584200" indent="-457200">
              <a:buFont typeface="+mj-lt"/>
              <a:buAutoNum type="arabicPeriod"/>
            </a:pPr>
            <a:r>
              <a:rPr lang="es-MX" sz="2000" dirty="0">
                <a:latin typeface="+mn-lt"/>
                <a:ea typeface="Roboto" panose="02000000000000000000" pitchFamily="2" charset="0"/>
              </a:rPr>
              <a:t>Las letras que aparecen en cualquiera de los dos conjuntos.</a:t>
            </a:r>
          </a:p>
          <a:p>
            <a:pPr marL="584200" indent="-457200">
              <a:buFont typeface="+mj-lt"/>
              <a:buAutoNum type="arabicPeriod"/>
            </a:pPr>
            <a:r>
              <a:rPr lang="es-MX" sz="2000" dirty="0">
                <a:latin typeface="+mn-lt"/>
                <a:ea typeface="Roboto" panose="02000000000000000000" pitchFamily="2" charset="0"/>
              </a:rPr>
              <a:t>Las letras que aparecen en ambos conjuntos.</a:t>
            </a:r>
          </a:p>
          <a:p>
            <a:pPr marL="584200" indent="-457200">
              <a:buFont typeface="+mj-lt"/>
              <a:buAutoNum type="arabicPeriod"/>
            </a:pPr>
            <a:r>
              <a:rPr lang="es-MX" sz="2000" dirty="0">
                <a:latin typeface="+mn-lt"/>
                <a:ea typeface="Roboto" panose="02000000000000000000" pitchFamily="2" charset="0"/>
              </a:rPr>
              <a:t>Las que solo aparecen en el conjunto A pero que no están en el conjunto B.</a:t>
            </a:r>
          </a:p>
          <a:p>
            <a:pPr marL="584200" indent="-457200">
              <a:buFont typeface="+mj-lt"/>
              <a:buAutoNum type="arabicPeriod"/>
            </a:pPr>
            <a:r>
              <a:rPr lang="es-MX" sz="2000" dirty="0">
                <a:latin typeface="+mn-lt"/>
                <a:ea typeface="Roboto" panose="02000000000000000000" pitchFamily="2" charset="0"/>
              </a:rPr>
              <a:t>Las que solo aparecen en el conjunto B pero que no están en el conjunto A.</a:t>
            </a:r>
          </a:p>
          <a:p>
            <a:pPr marL="584200" indent="-457200">
              <a:buFont typeface="+mj-lt"/>
              <a:buAutoNum type="arabicPeriod"/>
            </a:pPr>
            <a:r>
              <a:rPr lang="es-MX" sz="2000" dirty="0">
                <a:latin typeface="+mn-lt"/>
                <a:ea typeface="Roboto" panose="02000000000000000000" pitchFamily="2" charset="0"/>
              </a:rPr>
              <a:t>Las letras que no se encuentran en A.</a:t>
            </a:r>
          </a:p>
          <a:p>
            <a:pPr marL="584200" indent="-457200">
              <a:buFont typeface="+mj-lt"/>
              <a:buAutoNum type="arabicPeriod"/>
            </a:pPr>
            <a:r>
              <a:rPr lang="es-MX" sz="2000" dirty="0">
                <a:latin typeface="+mn-lt"/>
                <a:ea typeface="Roboto" panose="02000000000000000000" pitchFamily="2" charset="0"/>
              </a:rPr>
              <a:t>Las letras que no se encuentran en B.</a:t>
            </a:r>
          </a:p>
          <a:p>
            <a:pPr marL="584200" indent="-457200">
              <a:buFont typeface="+mj-lt"/>
              <a:buAutoNum type="arabicPeriod"/>
            </a:pPr>
            <a:r>
              <a:rPr lang="es-MX" sz="2000" dirty="0">
                <a:latin typeface="+mn-lt"/>
                <a:ea typeface="Roboto" panose="02000000000000000000" pitchFamily="2" charset="0"/>
              </a:rPr>
              <a:t>Las letras que están solo en A o en B.</a:t>
            </a:r>
            <a:endParaRPr lang="es-MX" sz="1800" dirty="0">
              <a:latin typeface="+mn-lt"/>
              <a:ea typeface="Roboto" panose="02000000000000000000" pitchFamily="2" charset="0"/>
            </a:endParaRPr>
          </a:p>
        </p:txBody>
      </p:sp>
    </p:spTree>
    <p:extLst>
      <p:ext uri="{BB962C8B-B14F-4D97-AF65-F5344CB8AC3E}">
        <p14:creationId xmlns:p14="http://schemas.microsoft.com/office/powerpoint/2010/main" val="671241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p:txBody>
          <a:bodyPr/>
          <a:lstStyle/>
          <a:p>
            <a:r>
              <a:rPr lang="es-CO" dirty="0">
                <a:latin typeface="+mj-lt"/>
              </a:rPr>
              <a:t>Operaciones entre conjuntos</a:t>
            </a:r>
          </a:p>
        </p:txBody>
      </p:sp>
      <p:sp>
        <p:nvSpPr>
          <p:cNvPr id="10" name="CuadroTexto 9">
            <a:extLst>
              <a:ext uri="{FF2B5EF4-FFF2-40B4-BE49-F238E27FC236}">
                <a16:creationId xmlns:a16="http://schemas.microsoft.com/office/drawing/2014/main" id="{A19C6E9F-BCCF-4FD4-8EC3-574D66199786}"/>
              </a:ext>
            </a:extLst>
          </p:cNvPr>
          <p:cNvSpPr txBox="1"/>
          <p:nvPr/>
        </p:nvSpPr>
        <p:spPr>
          <a:xfrm>
            <a:off x="916650" y="985339"/>
            <a:ext cx="11044291"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Ejemplo – Solución </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788830" y="1451229"/>
            <a:ext cx="11044291" cy="442143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Sea A el conjunto de todas las letras que conforman la palabra calculo ‘calculo’ y B el conjunto asociado de letras que aparecen en ‘matemáticas discretas’. Determine:</a:t>
            </a:r>
          </a:p>
          <a:p>
            <a:pPr marL="584200" indent="-457200">
              <a:buFont typeface="+mj-lt"/>
              <a:buAutoNum type="arabicPeriod"/>
            </a:pPr>
            <a:r>
              <a:rPr lang="es-MX" sz="2000" dirty="0">
                <a:latin typeface="+mn-lt"/>
                <a:ea typeface="Roboto" panose="02000000000000000000" pitchFamily="2" charset="0"/>
              </a:rPr>
              <a:t>La representación por comprensión y extensión de cada conjunto:</a:t>
            </a:r>
          </a:p>
          <a:p>
            <a:pPr marL="584200" indent="-457200">
              <a:buFont typeface="+mj-lt"/>
              <a:buAutoNum type="arabicPeriod"/>
            </a:pPr>
            <a:endParaRPr lang="es-MX" sz="2000" dirty="0">
              <a:latin typeface="+mn-lt"/>
              <a:ea typeface="Roboto" panose="02000000000000000000" pitchFamily="2" charset="0"/>
            </a:endParaRPr>
          </a:p>
          <a:p>
            <a:pPr marL="584200" indent="-457200">
              <a:buFont typeface="+mj-lt"/>
              <a:buAutoNum type="arabicPeriod"/>
            </a:pPr>
            <a:endParaRPr lang="es-MX" sz="2000" dirty="0">
              <a:latin typeface="+mn-lt"/>
              <a:ea typeface="Roboto" panose="02000000000000000000" pitchFamily="2" charset="0"/>
            </a:endParaRPr>
          </a:p>
          <a:p>
            <a:pPr marL="584200" indent="-457200">
              <a:buFont typeface="+mj-lt"/>
              <a:buAutoNum type="arabicPeriod"/>
            </a:pPr>
            <a:endParaRPr lang="es-MX" sz="2000" dirty="0">
              <a:latin typeface="+mn-lt"/>
              <a:ea typeface="Roboto" panose="02000000000000000000" pitchFamily="2" charset="0"/>
            </a:endParaRPr>
          </a:p>
          <a:p>
            <a:pPr marL="584200" indent="-457200">
              <a:buFont typeface="+mj-lt"/>
              <a:buAutoNum type="arabicPeriod"/>
            </a:pPr>
            <a:endParaRPr lang="es-MX" sz="2000" dirty="0">
              <a:latin typeface="+mn-lt"/>
              <a:ea typeface="Roboto" panose="02000000000000000000" pitchFamily="2" charset="0"/>
            </a:endParaRPr>
          </a:p>
          <a:p>
            <a:pPr marL="584200" indent="-457200">
              <a:buFont typeface="+mj-lt"/>
              <a:buAutoNum type="arabicPeriod"/>
            </a:pPr>
            <a:endParaRPr lang="es-MX" sz="2000" dirty="0">
              <a:latin typeface="+mn-lt"/>
              <a:ea typeface="Roboto" panose="02000000000000000000" pitchFamily="2" charset="0"/>
            </a:endParaRPr>
          </a:p>
          <a:p>
            <a:pPr marL="584200" indent="-457200">
              <a:buFont typeface="+mj-lt"/>
              <a:buAutoNum type="arabicPeriod"/>
            </a:pPr>
            <a:endParaRPr lang="es-MX" sz="2000" dirty="0">
              <a:latin typeface="+mn-lt"/>
              <a:ea typeface="Roboto" panose="02000000000000000000" pitchFamily="2" charset="0"/>
            </a:endParaRPr>
          </a:p>
          <a:p>
            <a:pPr marL="584200" indent="-457200">
              <a:buFont typeface="+mj-lt"/>
              <a:buAutoNum type="arabicPeriod"/>
            </a:pPr>
            <a:r>
              <a:rPr lang="es-MX" sz="2000" dirty="0">
                <a:latin typeface="+mn-lt"/>
                <a:ea typeface="Roboto" panose="02000000000000000000" pitchFamily="2" charset="0"/>
              </a:rPr>
              <a:t>El conjunto universal: Para el contexto de este problema podemos definir el conjunto universal como las palabras del alfabeto. Es decir:</a:t>
            </a:r>
          </a:p>
        </p:txBody>
      </p:sp>
      <mc:AlternateContent xmlns:mc="http://schemas.openxmlformats.org/markup-compatibility/2006">
        <mc:Choice xmlns:a14="http://schemas.microsoft.com/office/drawing/2010/main" Requires="a14">
          <p:graphicFrame>
            <p:nvGraphicFramePr>
              <p:cNvPr id="2" name="Tabla 3">
                <a:extLst>
                  <a:ext uri="{FF2B5EF4-FFF2-40B4-BE49-F238E27FC236}">
                    <a16:creationId xmlns:a16="http://schemas.microsoft.com/office/drawing/2014/main" id="{E6083017-87C3-486E-8647-AC967E460441}"/>
                  </a:ext>
                </a:extLst>
              </p:cNvPr>
              <p:cNvGraphicFramePr>
                <a:graphicFrameLocks noGrp="1"/>
              </p:cNvGraphicFramePr>
              <p:nvPr>
                <p:extLst>
                  <p:ext uri="{D42A27DB-BD31-4B8C-83A1-F6EECF244321}">
                    <p14:modId xmlns:p14="http://schemas.microsoft.com/office/powerpoint/2010/main" val="1394563067"/>
                  </p:ext>
                </p:extLst>
              </p:nvPr>
            </p:nvGraphicFramePr>
            <p:xfrm>
              <a:off x="921566" y="3082828"/>
              <a:ext cx="10778818" cy="1529080"/>
            </p:xfrm>
            <a:graphic>
              <a:graphicData uri="http://schemas.openxmlformats.org/drawingml/2006/table">
                <a:tbl>
                  <a:tblPr firstRow="1" bandRow="1">
                    <a:tableStyleId>{AD6A3598-7CB8-4345-8D95-17CE05F158A0}</a:tableStyleId>
                  </a:tblPr>
                  <a:tblGrid>
                    <a:gridCol w="2116600">
                      <a:extLst>
                        <a:ext uri="{9D8B030D-6E8A-4147-A177-3AD203B41FA5}">
                          <a16:colId xmlns:a16="http://schemas.microsoft.com/office/drawing/2014/main" val="2953214605"/>
                        </a:ext>
                      </a:extLst>
                    </a:gridCol>
                    <a:gridCol w="3082413">
                      <a:extLst>
                        <a:ext uri="{9D8B030D-6E8A-4147-A177-3AD203B41FA5}">
                          <a16:colId xmlns:a16="http://schemas.microsoft.com/office/drawing/2014/main" val="3299889694"/>
                        </a:ext>
                      </a:extLst>
                    </a:gridCol>
                    <a:gridCol w="5579805">
                      <a:extLst>
                        <a:ext uri="{9D8B030D-6E8A-4147-A177-3AD203B41FA5}">
                          <a16:colId xmlns:a16="http://schemas.microsoft.com/office/drawing/2014/main" val="3901078073"/>
                        </a:ext>
                      </a:extLst>
                    </a:gridCol>
                  </a:tblGrid>
                  <a:tr h="370840">
                    <a:tc>
                      <a:txBody>
                        <a:bodyPr/>
                        <a:lstStyle/>
                        <a:p>
                          <a:r>
                            <a:rPr lang="es-CO" sz="1600" b="1" dirty="0">
                              <a:latin typeface="+mn-lt"/>
                              <a:ea typeface="Roboto" panose="02000000000000000000" pitchFamily="2" charset="0"/>
                            </a:rPr>
                            <a:t>Contexto</a:t>
                          </a:r>
                        </a:p>
                      </a:txBody>
                      <a:tcPr/>
                    </a:tc>
                    <a:tc>
                      <a:txBody>
                        <a:bodyPr/>
                        <a:lstStyle/>
                        <a:p>
                          <a:r>
                            <a:rPr lang="es-CO" sz="1600" b="1" dirty="0">
                              <a:latin typeface="+mn-lt"/>
                              <a:ea typeface="Roboto" panose="02000000000000000000" pitchFamily="2" charset="0"/>
                            </a:rPr>
                            <a:t>Representación por extensión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Representación por comprensión</a:t>
                          </a:r>
                        </a:p>
                      </a:txBody>
                      <a:tcPr/>
                    </a:tc>
                    <a:extLst>
                      <a:ext uri="{0D108BD9-81ED-4DB2-BD59-A6C34878D82A}">
                        <a16:rowId xmlns:a16="http://schemas.microsoft.com/office/drawing/2014/main" val="1470192761"/>
                      </a:ext>
                    </a:extLst>
                  </a:tr>
                  <a:tr h="370840">
                    <a:tc>
                      <a:txBody>
                        <a:bodyPr/>
                        <a:lstStyle/>
                        <a:p>
                          <a:r>
                            <a:rPr lang="es-CO" sz="1600" dirty="0">
                              <a:latin typeface="+mn-lt"/>
                              <a:ea typeface="Roboto" panose="02000000000000000000" pitchFamily="2" charset="0"/>
                            </a:rPr>
                            <a:t>Letras de  la palabra ‘calculo’</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Roboto" panose="02000000000000000000" pitchFamily="2" charset="0"/>
                                  </a:rPr>
                                  <m:t>𝐴</m:t>
                                </m:r>
                                <m:r>
                                  <a:rPr lang="es-MX" sz="1600" b="0" i="1" smtClean="0">
                                    <a:latin typeface="+mn-lt"/>
                                    <a:ea typeface="Roboto" panose="02000000000000000000" pitchFamily="2" charset="0"/>
                                  </a:rPr>
                                  <m:t>={</m:t>
                                </m:r>
                                <m:r>
                                  <a:rPr lang="es-MX" sz="1600" b="0" i="1" smtClean="0">
                                    <a:latin typeface="+mn-lt"/>
                                    <a:ea typeface="Roboto" panose="02000000000000000000" pitchFamily="2" charset="0"/>
                                  </a:rPr>
                                  <m:t>𝑐</m:t>
                                </m:r>
                                <m:r>
                                  <a:rPr lang="es-MX" sz="1600" b="0" i="1" smtClean="0">
                                    <a:latin typeface="+mn-lt"/>
                                    <a:ea typeface="Roboto" panose="02000000000000000000" pitchFamily="2" charset="0"/>
                                  </a:rPr>
                                  <m:t>,</m:t>
                                </m:r>
                                <m:r>
                                  <a:rPr lang="es-MX" sz="1600" b="0" i="1" smtClean="0">
                                    <a:latin typeface="+mn-lt"/>
                                    <a:ea typeface="Roboto" panose="02000000000000000000" pitchFamily="2" charset="0"/>
                                  </a:rPr>
                                  <m:t>𝑎</m:t>
                                </m:r>
                                <m:r>
                                  <a:rPr lang="es-MX" sz="1600" b="0" i="1" smtClean="0">
                                    <a:latin typeface="+mn-lt"/>
                                    <a:ea typeface="Roboto" panose="02000000000000000000" pitchFamily="2" charset="0"/>
                                  </a:rPr>
                                  <m:t>,</m:t>
                                </m:r>
                                <m:r>
                                  <a:rPr lang="es-MX" sz="1600" b="0" i="1" smtClean="0">
                                    <a:latin typeface="+mn-lt"/>
                                    <a:ea typeface="Roboto" panose="02000000000000000000" pitchFamily="2" charset="0"/>
                                  </a:rPr>
                                  <m:t>𝑙</m:t>
                                </m:r>
                                <m:r>
                                  <a:rPr lang="es-MX" sz="1600" b="0" i="1" smtClean="0">
                                    <a:latin typeface="+mn-lt"/>
                                    <a:ea typeface="Roboto" panose="02000000000000000000" pitchFamily="2" charset="0"/>
                                  </a:rPr>
                                  <m:t>,</m:t>
                                </m:r>
                                <m:r>
                                  <a:rPr lang="es-MX" sz="1600" b="0" i="1" smtClean="0">
                                    <a:latin typeface="+mn-lt"/>
                                    <a:ea typeface="Roboto" panose="02000000000000000000" pitchFamily="2" charset="0"/>
                                  </a:rPr>
                                  <m:t>𝑢</m:t>
                                </m:r>
                                <m:r>
                                  <a:rPr lang="es-MX" sz="1600" b="0" i="1" smtClean="0">
                                    <a:latin typeface="+mn-lt"/>
                                    <a:ea typeface="Roboto" panose="02000000000000000000" pitchFamily="2" charset="0"/>
                                  </a:rPr>
                                  <m:t>,</m:t>
                                </m:r>
                                <m:r>
                                  <a:rPr lang="es-MX" sz="1600" b="0" i="1" smtClean="0">
                                    <a:latin typeface="+mn-lt"/>
                                    <a:ea typeface="Roboto" panose="02000000000000000000" pitchFamily="2" charset="0"/>
                                  </a:rPr>
                                  <m:t>𝑜</m:t>
                                </m:r>
                                <m:r>
                                  <a:rPr lang="es-MX" sz="1600" b="0" i="1" smtClean="0">
                                    <a:latin typeface="+mn-lt"/>
                                    <a:ea typeface="Roboto" panose="02000000000000000000" pitchFamily="2" charset="0"/>
                                  </a:rPr>
                                  <m:t>}</m:t>
                                </m:r>
                              </m:oMath>
                            </m:oMathPara>
                          </a14:m>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Roboto" panose="02000000000000000000" pitchFamily="2" charset="0"/>
                                  </a:rPr>
                                  <m:t>𝐴</m:t>
                                </m:r>
                                <m:r>
                                  <a:rPr lang="es-MX" sz="1600" b="0" i="1" smtClean="0">
                                    <a:latin typeface="+mn-lt"/>
                                    <a:ea typeface="Roboto" panose="02000000000000000000" pitchFamily="2" charset="0"/>
                                  </a:rPr>
                                  <m:t>=</m:t>
                                </m:r>
                                <m:d>
                                  <m:dPr>
                                    <m:begChr m:val="{"/>
                                    <m:endChr m:val="}"/>
                                    <m:ctrlPr>
                                      <a:rPr lang="es-MX" sz="1600" b="0" i="1" smtClean="0">
                                        <a:latin typeface="+mn-lt"/>
                                        <a:ea typeface="Roboto" panose="02000000000000000000" pitchFamily="2" charset="0"/>
                                      </a:rPr>
                                    </m:ctrlPr>
                                  </m:dPr>
                                  <m:e>
                                    <m:r>
                                      <a:rPr lang="es-MX" sz="1600" b="0" i="1" smtClean="0">
                                        <a:latin typeface="+mn-lt"/>
                                        <a:ea typeface="Roboto" panose="02000000000000000000" pitchFamily="2" charset="0"/>
                                      </a:rPr>
                                      <m:t>𝑥</m:t>
                                    </m:r>
                                  </m:e>
                                  <m:e>
                                    <m:r>
                                      <a:rPr lang="es-MX" sz="1600" b="0" i="1" smtClean="0">
                                        <a:latin typeface="+mn-lt"/>
                                        <a:ea typeface="Roboto" panose="02000000000000000000" pitchFamily="2" charset="0"/>
                                      </a:rPr>
                                      <m:t>𝑥</m:t>
                                    </m:r>
                                    <m:r>
                                      <a:rPr lang="es-MX" sz="1600" b="0" i="1" smtClean="0">
                                        <a:latin typeface="+mn-lt"/>
                                        <a:ea typeface="Roboto" panose="02000000000000000000" pitchFamily="2" charset="0"/>
                                      </a:rPr>
                                      <m:t> </m:t>
                                    </m:r>
                                    <m:r>
                                      <m:rPr>
                                        <m:sty m:val="p"/>
                                      </m:rPr>
                                      <a:rPr lang="es-MX" sz="1600" b="0" i="0" smtClean="0">
                                        <a:latin typeface="+mn-lt"/>
                                        <a:ea typeface="Roboto" panose="02000000000000000000" pitchFamily="2" charset="0"/>
                                      </a:rPr>
                                      <m:t>es</m:t>
                                    </m:r>
                                    <m:r>
                                      <a:rPr lang="es-MX" sz="1600" b="0" i="0" smtClean="0">
                                        <a:latin typeface="+mn-lt"/>
                                        <a:ea typeface="Roboto" panose="02000000000000000000" pitchFamily="2" charset="0"/>
                                      </a:rPr>
                                      <m:t> </m:t>
                                    </m:r>
                                    <m:r>
                                      <m:rPr>
                                        <m:sty m:val="p"/>
                                      </m:rPr>
                                      <a:rPr lang="es-MX" sz="1600" b="0" i="0" smtClean="0">
                                        <a:latin typeface="+mn-lt"/>
                                        <a:ea typeface="Roboto" panose="02000000000000000000" pitchFamily="2" charset="0"/>
                                      </a:rPr>
                                      <m:t>una</m:t>
                                    </m:r>
                                    <m:r>
                                      <a:rPr lang="es-MX" sz="1600" b="0" i="0" smtClean="0">
                                        <a:latin typeface="+mn-lt"/>
                                        <a:ea typeface="Roboto" panose="02000000000000000000" pitchFamily="2" charset="0"/>
                                      </a:rPr>
                                      <m:t> </m:t>
                                    </m:r>
                                    <m:r>
                                      <m:rPr>
                                        <m:sty m:val="p"/>
                                      </m:rPr>
                                      <a:rPr lang="es-MX" sz="1600" b="0" i="0" smtClean="0">
                                        <a:latin typeface="+mn-lt"/>
                                        <a:ea typeface="Roboto" panose="02000000000000000000" pitchFamily="2" charset="0"/>
                                      </a:rPr>
                                      <m:t>letra</m:t>
                                    </m:r>
                                    <m:r>
                                      <a:rPr lang="es-MX" sz="1600" b="0" i="0" smtClean="0">
                                        <a:latin typeface="+mn-lt"/>
                                        <a:ea typeface="Roboto" panose="02000000000000000000" pitchFamily="2" charset="0"/>
                                      </a:rPr>
                                      <m:t> </m:t>
                                    </m:r>
                                    <m:r>
                                      <m:rPr>
                                        <m:sty m:val="p"/>
                                      </m:rPr>
                                      <a:rPr lang="es-MX" sz="1600" b="0" i="0" smtClean="0">
                                        <a:latin typeface="+mn-lt"/>
                                        <a:ea typeface="Roboto" panose="02000000000000000000" pitchFamily="2" charset="0"/>
                                      </a:rPr>
                                      <m:t>de</m:t>
                                    </m:r>
                                    <m:r>
                                      <a:rPr lang="es-MX" sz="1600" b="0" i="0" smtClean="0">
                                        <a:latin typeface="+mn-lt"/>
                                        <a:ea typeface="Roboto" panose="02000000000000000000" pitchFamily="2" charset="0"/>
                                      </a:rPr>
                                      <m:t> </m:t>
                                    </m:r>
                                    <m:r>
                                      <m:rPr>
                                        <m:sty m:val="p"/>
                                      </m:rPr>
                                      <a:rPr lang="es-MX" sz="1600" b="0" i="0" smtClean="0">
                                        <a:latin typeface="+mn-lt"/>
                                        <a:ea typeface="Roboto" panose="02000000000000000000" pitchFamily="2" charset="0"/>
                                      </a:rPr>
                                      <m:t>la</m:t>
                                    </m:r>
                                    <m:r>
                                      <a:rPr lang="es-MX" sz="1600" b="0" i="0" smtClean="0">
                                        <a:latin typeface="+mn-lt"/>
                                        <a:ea typeface="Roboto" panose="02000000000000000000" pitchFamily="2" charset="0"/>
                                      </a:rPr>
                                      <m:t> </m:t>
                                    </m:r>
                                    <m:r>
                                      <m:rPr>
                                        <m:sty m:val="p"/>
                                      </m:rPr>
                                      <a:rPr lang="es-MX" sz="1600" b="0" i="0" smtClean="0">
                                        <a:latin typeface="+mn-lt"/>
                                        <a:ea typeface="Roboto" panose="02000000000000000000" pitchFamily="2" charset="0"/>
                                      </a:rPr>
                                      <m:t>palabra</m:t>
                                    </m:r>
                                    <m:r>
                                      <a:rPr lang="es-MX" sz="1600" b="0" i="0" smtClean="0">
                                        <a:latin typeface="+mn-lt"/>
                                        <a:ea typeface="Roboto" panose="02000000000000000000" pitchFamily="2" charset="0"/>
                                      </a:rPr>
                                      <m:t> ′</m:t>
                                    </m:r>
                                    <m:r>
                                      <m:rPr>
                                        <m:sty m:val="p"/>
                                      </m:rPr>
                                      <a:rPr lang="es-MX" sz="1600" b="0" i="0" smtClean="0">
                                        <a:latin typeface="+mn-lt"/>
                                        <a:ea typeface="Roboto" panose="02000000000000000000" pitchFamily="2" charset="0"/>
                                      </a:rPr>
                                      <m:t>calculo</m:t>
                                    </m:r>
                                    <m:r>
                                      <a:rPr lang="es-MX" sz="1600" b="0" i="0" smtClean="0">
                                        <a:latin typeface="+mn-lt"/>
                                        <a:ea typeface="Roboto" panose="02000000000000000000" pitchFamily="2" charset="0"/>
                                      </a:rPr>
                                      <m:t>′</m:t>
                                    </m:r>
                                  </m:e>
                                </m:d>
                              </m:oMath>
                            </m:oMathPara>
                          </a14:m>
                          <a:endParaRPr lang="es-CO" sz="1600" dirty="0">
                            <a:latin typeface="+mn-lt"/>
                            <a:ea typeface="Roboto" panose="02000000000000000000" pitchFamily="2" charset="0"/>
                          </a:endParaRPr>
                        </a:p>
                        <a:p>
                          <a:endParaRPr lang="es-CO" sz="1600" dirty="0">
                            <a:latin typeface="+mn-lt"/>
                            <a:ea typeface="Roboto" panose="02000000000000000000" pitchFamily="2" charset="0"/>
                          </a:endParaRPr>
                        </a:p>
                      </a:txBody>
                      <a:tcPr/>
                    </a:tc>
                    <a:extLst>
                      <a:ext uri="{0D108BD9-81ED-4DB2-BD59-A6C34878D82A}">
                        <a16:rowId xmlns:a16="http://schemas.microsoft.com/office/drawing/2014/main" val="145230258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Letras de la  palabra ‘matemáticas discretas’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Roboto" panose="02000000000000000000" pitchFamily="2" charset="0"/>
                                  </a:rPr>
                                  <m:t>𝐵</m:t>
                                </m:r>
                                <m:r>
                                  <a:rPr lang="es-MX" sz="1600" b="0" i="1" smtClean="0">
                                    <a:latin typeface="+mn-lt"/>
                                    <a:ea typeface="Roboto" panose="02000000000000000000" pitchFamily="2" charset="0"/>
                                  </a:rPr>
                                  <m:t>={</m:t>
                                </m:r>
                                <m:r>
                                  <a:rPr lang="es-MX" sz="1600" b="0" i="1" smtClean="0">
                                    <a:latin typeface="+mn-lt"/>
                                    <a:ea typeface="Roboto" panose="02000000000000000000" pitchFamily="2" charset="0"/>
                                  </a:rPr>
                                  <m:t>𝑚</m:t>
                                </m:r>
                                <m:r>
                                  <a:rPr lang="es-MX" sz="1600" b="0" i="1" smtClean="0">
                                    <a:latin typeface="+mn-lt"/>
                                    <a:ea typeface="Roboto" panose="02000000000000000000" pitchFamily="2" charset="0"/>
                                  </a:rPr>
                                  <m:t>,</m:t>
                                </m:r>
                                <m:r>
                                  <a:rPr lang="es-MX" sz="1600" b="0" i="1" smtClean="0">
                                    <a:latin typeface="+mn-lt"/>
                                    <a:ea typeface="Roboto" panose="02000000000000000000" pitchFamily="2" charset="0"/>
                                  </a:rPr>
                                  <m:t>𝑎</m:t>
                                </m:r>
                                <m:r>
                                  <a:rPr lang="es-MX" sz="1600" b="0" i="1" smtClean="0">
                                    <a:latin typeface="+mn-lt"/>
                                    <a:ea typeface="Roboto" panose="02000000000000000000" pitchFamily="2" charset="0"/>
                                  </a:rPr>
                                  <m:t>,</m:t>
                                </m:r>
                                <m:r>
                                  <a:rPr lang="es-MX" sz="1600" b="0" i="1" smtClean="0">
                                    <a:latin typeface="+mn-lt"/>
                                    <a:ea typeface="Roboto" panose="02000000000000000000" pitchFamily="2" charset="0"/>
                                  </a:rPr>
                                  <m:t>𝑡</m:t>
                                </m:r>
                                <m:r>
                                  <a:rPr lang="es-MX" sz="1600" b="0" i="1" smtClean="0">
                                    <a:latin typeface="+mn-lt"/>
                                    <a:ea typeface="Roboto" panose="02000000000000000000" pitchFamily="2" charset="0"/>
                                  </a:rPr>
                                  <m:t>,</m:t>
                                </m:r>
                                <m:r>
                                  <a:rPr lang="es-MX" sz="1600" b="0" i="1" smtClean="0">
                                    <a:latin typeface="+mn-lt"/>
                                    <a:ea typeface="Roboto" panose="02000000000000000000" pitchFamily="2" charset="0"/>
                                  </a:rPr>
                                  <m:t>𝑒</m:t>
                                </m:r>
                                <m:r>
                                  <a:rPr lang="es-MX" sz="1600" b="0" i="1" smtClean="0">
                                    <a:latin typeface="+mn-lt"/>
                                    <a:ea typeface="Roboto" panose="02000000000000000000" pitchFamily="2" charset="0"/>
                                  </a:rPr>
                                  <m:t>,</m:t>
                                </m:r>
                                <m:r>
                                  <a:rPr lang="es-MX" sz="1600" b="0" i="1" smtClean="0">
                                    <a:latin typeface="+mn-lt"/>
                                    <a:ea typeface="Roboto" panose="02000000000000000000" pitchFamily="2" charset="0"/>
                                  </a:rPr>
                                  <m:t>𝑖</m:t>
                                </m:r>
                                <m:r>
                                  <a:rPr lang="es-MX" sz="1600" b="0" i="1" smtClean="0">
                                    <a:latin typeface="+mn-lt"/>
                                    <a:ea typeface="Roboto" panose="02000000000000000000" pitchFamily="2" charset="0"/>
                                  </a:rPr>
                                  <m:t>,</m:t>
                                </m:r>
                                <m:r>
                                  <a:rPr lang="es-MX" sz="1600" b="0" i="1" smtClean="0">
                                    <a:latin typeface="+mn-lt"/>
                                    <a:ea typeface="Roboto" panose="02000000000000000000" pitchFamily="2" charset="0"/>
                                  </a:rPr>
                                  <m:t>𝑐</m:t>
                                </m:r>
                                <m:r>
                                  <a:rPr lang="es-MX" sz="1600" b="0" i="1" smtClean="0">
                                    <a:latin typeface="+mn-lt"/>
                                    <a:ea typeface="Roboto" panose="02000000000000000000" pitchFamily="2" charset="0"/>
                                  </a:rPr>
                                  <m:t>,</m:t>
                                </m:r>
                                <m:r>
                                  <a:rPr lang="es-MX" sz="1600" b="0" i="1" smtClean="0">
                                    <a:latin typeface="+mn-lt"/>
                                    <a:ea typeface="Roboto" panose="02000000000000000000" pitchFamily="2" charset="0"/>
                                  </a:rPr>
                                  <m:t>𝑠</m:t>
                                </m:r>
                                <m:r>
                                  <a:rPr lang="es-MX" sz="1600" b="0" i="1" smtClean="0">
                                    <a:latin typeface="+mn-lt"/>
                                    <a:ea typeface="Roboto" panose="02000000000000000000" pitchFamily="2" charset="0"/>
                                  </a:rPr>
                                  <m:t>,</m:t>
                                </m:r>
                                <m:r>
                                  <a:rPr lang="es-MX" sz="1600" b="0" i="1" smtClean="0">
                                    <a:latin typeface="+mn-lt"/>
                                    <a:ea typeface="Roboto" panose="02000000000000000000" pitchFamily="2" charset="0"/>
                                  </a:rPr>
                                  <m:t>𝑑</m:t>
                                </m:r>
                                <m:r>
                                  <a:rPr lang="es-MX" sz="1600" b="0" i="1" smtClean="0">
                                    <a:latin typeface="+mn-lt"/>
                                    <a:ea typeface="Roboto" panose="02000000000000000000" pitchFamily="2" charset="0"/>
                                  </a:rPr>
                                  <m:t>,</m:t>
                                </m:r>
                                <m:r>
                                  <a:rPr lang="es-MX" sz="1600" b="0" i="1" smtClean="0">
                                    <a:latin typeface="+mn-lt"/>
                                    <a:ea typeface="Roboto" panose="02000000000000000000" pitchFamily="2" charset="0"/>
                                  </a:rPr>
                                  <m:t>𝑟</m:t>
                                </m:r>
                                <m:r>
                                  <a:rPr lang="es-MX" sz="1600" b="0" i="1" smtClean="0">
                                    <a:latin typeface="+mn-lt"/>
                                    <a:ea typeface="Roboto" panose="02000000000000000000" pitchFamily="2" charset="0"/>
                                  </a:rPr>
                                  <m:t>}</m:t>
                                </m:r>
                              </m:oMath>
                            </m:oMathPara>
                          </a14:m>
                          <a:endParaRPr lang="es-CO" sz="1600" dirty="0">
                            <a:latin typeface="+mn-lt"/>
                            <a:ea typeface="Roboto" panose="02000000000000000000" pitchFamily="2" charset="0"/>
                          </a:endParaRPr>
                        </a:p>
                        <a:p>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Roboto" panose="02000000000000000000" pitchFamily="2" charset="0"/>
                                  </a:rPr>
                                  <m:t>𝐵</m:t>
                                </m:r>
                                <m:r>
                                  <a:rPr lang="es-MX" sz="1600" b="0" i="1" smtClean="0">
                                    <a:latin typeface="+mn-lt"/>
                                    <a:ea typeface="Roboto" panose="02000000000000000000" pitchFamily="2" charset="0"/>
                                  </a:rPr>
                                  <m:t>=</m:t>
                                </m:r>
                                <m:d>
                                  <m:dPr>
                                    <m:begChr m:val="{"/>
                                    <m:endChr m:val="}"/>
                                    <m:ctrlPr>
                                      <a:rPr lang="es-MX" sz="1600" b="0" i="1" smtClean="0">
                                        <a:latin typeface="+mn-lt"/>
                                        <a:ea typeface="Roboto" panose="02000000000000000000" pitchFamily="2" charset="0"/>
                                      </a:rPr>
                                    </m:ctrlPr>
                                  </m:dPr>
                                  <m:e>
                                    <m:r>
                                      <a:rPr lang="es-MX" sz="1600" b="0" i="1" smtClean="0">
                                        <a:latin typeface="+mn-lt"/>
                                        <a:ea typeface="Roboto" panose="02000000000000000000" pitchFamily="2" charset="0"/>
                                      </a:rPr>
                                      <m:t>𝑥</m:t>
                                    </m:r>
                                  </m:e>
                                  <m:e>
                                    <m:r>
                                      <a:rPr lang="es-MX" sz="1600" b="0" i="1" smtClean="0">
                                        <a:latin typeface="+mn-lt"/>
                                        <a:ea typeface="Roboto" panose="02000000000000000000" pitchFamily="2" charset="0"/>
                                      </a:rPr>
                                      <m:t>𝑥</m:t>
                                    </m:r>
                                    <m:r>
                                      <a:rPr lang="es-MX" sz="1600" b="0" i="1" smtClean="0">
                                        <a:latin typeface="+mn-lt"/>
                                        <a:ea typeface="Roboto" panose="02000000000000000000" pitchFamily="2" charset="0"/>
                                      </a:rPr>
                                      <m:t> </m:t>
                                    </m:r>
                                    <m:r>
                                      <m:rPr>
                                        <m:sty m:val="p"/>
                                      </m:rPr>
                                      <a:rPr lang="es-MX" sz="1600" b="0" i="0" smtClean="0">
                                        <a:latin typeface="+mn-lt"/>
                                        <a:ea typeface="Roboto" panose="02000000000000000000" pitchFamily="2" charset="0"/>
                                      </a:rPr>
                                      <m:t>es</m:t>
                                    </m:r>
                                    <m:r>
                                      <a:rPr lang="es-MX" sz="1600" b="0" i="0" smtClean="0">
                                        <a:latin typeface="+mn-lt"/>
                                        <a:ea typeface="Roboto" panose="02000000000000000000" pitchFamily="2" charset="0"/>
                                      </a:rPr>
                                      <m:t> </m:t>
                                    </m:r>
                                    <m:r>
                                      <m:rPr>
                                        <m:sty m:val="p"/>
                                      </m:rPr>
                                      <a:rPr lang="es-MX" sz="1600" b="0" i="0" smtClean="0">
                                        <a:latin typeface="+mn-lt"/>
                                        <a:ea typeface="Roboto" panose="02000000000000000000" pitchFamily="2" charset="0"/>
                                      </a:rPr>
                                      <m:t>una</m:t>
                                    </m:r>
                                    <m:r>
                                      <a:rPr lang="es-MX" sz="1600" b="0" i="0" smtClean="0">
                                        <a:latin typeface="+mn-lt"/>
                                        <a:ea typeface="Roboto" panose="02000000000000000000" pitchFamily="2" charset="0"/>
                                      </a:rPr>
                                      <m:t> </m:t>
                                    </m:r>
                                    <m:r>
                                      <m:rPr>
                                        <m:sty m:val="p"/>
                                      </m:rPr>
                                      <a:rPr lang="es-MX" sz="1600" b="0" i="0" smtClean="0">
                                        <a:latin typeface="+mn-lt"/>
                                        <a:ea typeface="Roboto" panose="02000000000000000000" pitchFamily="2" charset="0"/>
                                      </a:rPr>
                                      <m:t>letra</m:t>
                                    </m:r>
                                    <m:r>
                                      <a:rPr lang="es-MX" sz="1600" b="0" i="0" smtClean="0">
                                        <a:latin typeface="+mn-lt"/>
                                        <a:ea typeface="Roboto" panose="02000000000000000000" pitchFamily="2" charset="0"/>
                                      </a:rPr>
                                      <m:t> </m:t>
                                    </m:r>
                                    <m:r>
                                      <m:rPr>
                                        <m:sty m:val="p"/>
                                      </m:rPr>
                                      <a:rPr lang="es-MX" sz="1600" b="0" i="0" smtClean="0">
                                        <a:latin typeface="+mn-lt"/>
                                        <a:ea typeface="Roboto" panose="02000000000000000000" pitchFamily="2" charset="0"/>
                                      </a:rPr>
                                      <m:t>de</m:t>
                                    </m:r>
                                    <m:r>
                                      <a:rPr lang="es-MX" sz="1600" b="0" i="0" smtClean="0">
                                        <a:latin typeface="+mn-lt"/>
                                        <a:ea typeface="Roboto" panose="02000000000000000000" pitchFamily="2" charset="0"/>
                                      </a:rPr>
                                      <m:t> </m:t>
                                    </m:r>
                                    <m:r>
                                      <m:rPr>
                                        <m:sty m:val="p"/>
                                      </m:rPr>
                                      <a:rPr lang="es-MX" sz="1600" b="0" i="0" smtClean="0">
                                        <a:latin typeface="+mn-lt"/>
                                        <a:ea typeface="Roboto" panose="02000000000000000000" pitchFamily="2" charset="0"/>
                                      </a:rPr>
                                      <m:t>la</m:t>
                                    </m:r>
                                    <m:r>
                                      <a:rPr lang="es-MX" sz="1600" b="0" i="0" smtClean="0">
                                        <a:latin typeface="+mn-lt"/>
                                        <a:ea typeface="Roboto" panose="02000000000000000000" pitchFamily="2" charset="0"/>
                                      </a:rPr>
                                      <m:t> </m:t>
                                    </m:r>
                                    <m:r>
                                      <m:rPr>
                                        <m:sty m:val="p"/>
                                      </m:rPr>
                                      <a:rPr lang="es-MX" sz="1600" b="0" i="0" smtClean="0">
                                        <a:latin typeface="+mn-lt"/>
                                        <a:ea typeface="Roboto" panose="02000000000000000000" pitchFamily="2" charset="0"/>
                                      </a:rPr>
                                      <m:t>palabra</m:t>
                                    </m:r>
                                    <m:r>
                                      <a:rPr lang="es-MX" sz="1600" b="0" i="0" smtClean="0">
                                        <a:latin typeface="+mn-lt"/>
                                        <a:ea typeface="Roboto" panose="02000000000000000000" pitchFamily="2" charset="0"/>
                                      </a:rPr>
                                      <m:t> ′</m:t>
                                    </m:r>
                                    <m:r>
                                      <m:rPr>
                                        <m:sty m:val="p"/>
                                      </m:rPr>
                                      <a:rPr lang="es-MX" sz="1600" b="0" i="0" smtClean="0">
                                        <a:latin typeface="+mn-lt"/>
                                        <a:ea typeface="Roboto" panose="02000000000000000000" pitchFamily="2" charset="0"/>
                                      </a:rPr>
                                      <m:t>matematicas</m:t>
                                    </m:r>
                                    <m:r>
                                      <a:rPr lang="es-MX" sz="1600" b="0" i="0" smtClean="0">
                                        <a:latin typeface="+mn-lt"/>
                                        <a:ea typeface="Roboto" panose="02000000000000000000" pitchFamily="2" charset="0"/>
                                      </a:rPr>
                                      <m:t> </m:t>
                                    </m:r>
                                    <m:r>
                                      <m:rPr>
                                        <m:sty m:val="p"/>
                                      </m:rPr>
                                      <a:rPr lang="es-MX" sz="1600" b="0" i="0" smtClean="0">
                                        <a:latin typeface="+mn-lt"/>
                                        <a:ea typeface="Roboto" panose="02000000000000000000" pitchFamily="2" charset="0"/>
                                      </a:rPr>
                                      <m:t>discretas</m:t>
                                    </m:r>
                                    <m:r>
                                      <a:rPr lang="es-MX" sz="1600" b="0" i="0" smtClean="0">
                                        <a:latin typeface="+mn-lt"/>
                                        <a:ea typeface="Roboto" panose="02000000000000000000" pitchFamily="2" charset="0"/>
                                      </a:rPr>
                                      <m:t>′</m:t>
                                    </m:r>
                                  </m:e>
                                </m:d>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1605279419"/>
                      </a:ext>
                    </a:extLst>
                  </a:tr>
                </a:tbl>
              </a:graphicData>
            </a:graphic>
          </p:graphicFrame>
        </mc:Choice>
        <mc:Fallback>
          <p:graphicFrame>
            <p:nvGraphicFramePr>
              <p:cNvPr id="2" name="Tabla 3">
                <a:extLst>
                  <a:ext uri="{FF2B5EF4-FFF2-40B4-BE49-F238E27FC236}">
                    <a16:creationId xmlns:a16="http://schemas.microsoft.com/office/drawing/2014/main" id="{E6083017-87C3-486E-8647-AC967E460441}"/>
                  </a:ext>
                </a:extLst>
              </p:cNvPr>
              <p:cNvGraphicFramePr>
                <a:graphicFrameLocks noGrp="1"/>
              </p:cNvGraphicFramePr>
              <p:nvPr>
                <p:extLst>
                  <p:ext uri="{D42A27DB-BD31-4B8C-83A1-F6EECF244321}">
                    <p14:modId xmlns:p14="http://schemas.microsoft.com/office/powerpoint/2010/main" val="1394563067"/>
                  </p:ext>
                </p:extLst>
              </p:nvPr>
            </p:nvGraphicFramePr>
            <p:xfrm>
              <a:off x="921566" y="3082828"/>
              <a:ext cx="10778818" cy="1529080"/>
            </p:xfrm>
            <a:graphic>
              <a:graphicData uri="http://schemas.openxmlformats.org/drawingml/2006/table">
                <a:tbl>
                  <a:tblPr firstRow="1" bandRow="1">
                    <a:tableStyleId>{AD6A3598-7CB8-4345-8D95-17CE05F158A0}</a:tableStyleId>
                  </a:tblPr>
                  <a:tblGrid>
                    <a:gridCol w="2116600">
                      <a:extLst>
                        <a:ext uri="{9D8B030D-6E8A-4147-A177-3AD203B41FA5}">
                          <a16:colId xmlns:a16="http://schemas.microsoft.com/office/drawing/2014/main" val="2953214605"/>
                        </a:ext>
                      </a:extLst>
                    </a:gridCol>
                    <a:gridCol w="3082413">
                      <a:extLst>
                        <a:ext uri="{9D8B030D-6E8A-4147-A177-3AD203B41FA5}">
                          <a16:colId xmlns:a16="http://schemas.microsoft.com/office/drawing/2014/main" val="3299889694"/>
                        </a:ext>
                      </a:extLst>
                    </a:gridCol>
                    <a:gridCol w="5579805">
                      <a:extLst>
                        <a:ext uri="{9D8B030D-6E8A-4147-A177-3AD203B41FA5}">
                          <a16:colId xmlns:a16="http://schemas.microsoft.com/office/drawing/2014/main" val="3901078073"/>
                        </a:ext>
                      </a:extLst>
                    </a:gridCol>
                  </a:tblGrid>
                  <a:tr h="370840">
                    <a:tc>
                      <a:txBody>
                        <a:bodyPr/>
                        <a:lstStyle/>
                        <a:p>
                          <a:r>
                            <a:rPr lang="es-CO" sz="1600" b="1" dirty="0">
                              <a:latin typeface="+mn-lt"/>
                              <a:ea typeface="Roboto" panose="02000000000000000000" pitchFamily="2" charset="0"/>
                            </a:rPr>
                            <a:t>Contexto</a:t>
                          </a:r>
                        </a:p>
                      </a:txBody>
                      <a:tcPr/>
                    </a:tc>
                    <a:tc>
                      <a:txBody>
                        <a:bodyPr/>
                        <a:lstStyle/>
                        <a:p>
                          <a:r>
                            <a:rPr lang="es-CO" sz="1600" b="1" dirty="0">
                              <a:latin typeface="+mn-lt"/>
                              <a:ea typeface="Roboto" panose="02000000000000000000" pitchFamily="2" charset="0"/>
                            </a:rPr>
                            <a:t>Representación por extensión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Representación por comprensión</a:t>
                          </a:r>
                        </a:p>
                      </a:txBody>
                      <a:tcPr/>
                    </a:tc>
                    <a:extLst>
                      <a:ext uri="{0D108BD9-81ED-4DB2-BD59-A6C34878D82A}">
                        <a16:rowId xmlns:a16="http://schemas.microsoft.com/office/drawing/2014/main" val="1470192761"/>
                      </a:ext>
                    </a:extLst>
                  </a:tr>
                  <a:tr h="579120">
                    <a:tc>
                      <a:txBody>
                        <a:bodyPr/>
                        <a:lstStyle/>
                        <a:p>
                          <a:r>
                            <a:rPr lang="es-CO" sz="1600" dirty="0">
                              <a:latin typeface="+mn-lt"/>
                              <a:ea typeface="Roboto" panose="02000000000000000000" pitchFamily="2" charset="0"/>
                            </a:rPr>
                            <a:t>Letras de  la palabra ‘calculo’</a:t>
                          </a:r>
                        </a:p>
                      </a:txBody>
                      <a:tcPr/>
                    </a:tc>
                    <a:tc>
                      <a:txBody>
                        <a:bodyPr/>
                        <a:lstStyle/>
                        <a:p>
                          <a:endParaRPr lang="es-CO"/>
                        </a:p>
                      </a:txBody>
                      <a:tcPr>
                        <a:blipFill>
                          <a:blip r:embed="rId3"/>
                          <a:stretch>
                            <a:fillRect l="-68775" t="-65625" r="-181225" b="-112500"/>
                          </a:stretch>
                        </a:blipFill>
                      </a:tcPr>
                    </a:tc>
                    <a:tc>
                      <a:txBody>
                        <a:bodyPr/>
                        <a:lstStyle/>
                        <a:p>
                          <a:endParaRPr lang="es-CO"/>
                        </a:p>
                      </a:txBody>
                      <a:tcPr>
                        <a:blipFill>
                          <a:blip r:embed="rId3"/>
                          <a:stretch>
                            <a:fillRect l="-93231" t="-65625" r="-109" b="-112500"/>
                          </a:stretch>
                        </a:blipFill>
                      </a:tcPr>
                    </a:tc>
                    <a:extLst>
                      <a:ext uri="{0D108BD9-81ED-4DB2-BD59-A6C34878D82A}">
                        <a16:rowId xmlns:a16="http://schemas.microsoft.com/office/drawing/2014/main" val="1452302582"/>
                      </a:ext>
                    </a:extLst>
                  </a:tr>
                  <a:tr h="5791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Letras de la  palabra ‘matemáticas discretas’</a:t>
                          </a:r>
                        </a:p>
                      </a:txBody>
                      <a:tcPr/>
                    </a:tc>
                    <a:tc>
                      <a:txBody>
                        <a:bodyPr/>
                        <a:lstStyle/>
                        <a:p>
                          <a:endParaRPr lang="es-CO"/>
                        </a:p>
                      </a:txBody>
                      <a:tcPr>
                        <a:blipFill>
                          <a:blip r:embed="rId3"/>
                          <a:stretch>
                            <a:fillRect l="-68775" t="-167368" r="-181225" b="-13684"/>
                          </a:stretch>
                        </a:blipFill>
                      </a:tcPr>
                    </a:tc>
                    <a:tc>
                      <a:txBody>
                        <a:bodyPr/>
                        <a:lstStyle/>
                        <a:p>
                          <a:endParaRPr lang="es-CO"/>
                        </a:p>
                      </a:txBody>
                      <a:tcPr>
                        <a:blipFill>
                          <a:blip r:embed="rId3"/>
                          <a:stretch>
                            <a:fillRect l="-93231" t="-167368" r="-109" b="-13684"/>
                          </a:stretch>
                        </a:blipFill>
                      </a:tcPr>
                    </a:tc>
                    <a:extLst>
                      <a:ext uri="{0D108BD9-81ED-4DB2-BD59-A6C34878D82A}">
                        <a16:rowId xmlns:a16="http://schemas.microsoft.com/office/drawing/2014/main" val="1605279419"/>
                      </a:ext>
                    </a:extLst>
                  </a:tr>
                </a:tbl>
              </a:graphicData>
            </a:graphic>
          </p:graphicFrame>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5117F9BA-6CDC-4ED9-8F92-8CD8DE99AC70}"/>
                  </a:ext>
                </a:extLst>
              </p:cNvPr>
              <p:cNvSpPr txBox="1"/>
              <p:nvPr/>
            </p:nvSpPr>
            <p:spPr>
              <a:xfrm>
                <a:off x="2692091" y="5961777"/>
                <a:ext cx="763106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𝑈</m:t>
                      </m:r>
                      <m:r>
                        <a:rPr lang="es-MX" sz="1600" b="0" i="1" smtClean="0">
                          <a:latin typeface="Cambria Math" panose="02040503050406030204" pitchFamily="18" charset="0"/>
                          <a:ea typeface="Roboto" panose="02000000000000000000" pitchFamily="2" charset="0"/>
                        </a:rPr>
                        <m:t>=</m:t>
                      </m:r>
                      <m:d>
                        <m:dPr>
                          <m:begChr m:val="{"/>
                          <m:endChr m:val="}"/>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𝑎</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𝑏</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𝑐</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𝑚</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𝑛</m:t>
                          </m:r>
                          <m:r>
                            <a:rPr lang="es-MX" sz="1600" b="0" i="1" smtClean="0">
                              <a:latin typeface="Cambria Math" panose="02040503050406030204" pitchFamily="18" charset="0"/>
                              <a:ea typeface="Roboto" panose="02000000000000000000" pitchFamily="2" charset="0"/>
                            </a:rPr>
                            <m:t>,ñ,</m:t>
                          </m:r>
                          <m:r>
                            <a:rPr lang="es-MX" sz="1600" b="0" i="1" smtClean="0">
                              <a:latin typeface="Cambria Math" panose="02040503050406030204" pitchFamily="18" charset="0"/>
                              <a:ea typeface="Roboto" panose="02000000000000000000" pitchFamily="2" charset="0"/>
                            </a:rPr>
                            <m:t>𝑜</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𝑦</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𝑧</m:t>
                          </m:r>
                        </m:e>
                      </m:d>
                      <m:r>
                        <a:rPr lang="es-MX" sz="1600" b="0" i="1" smtClean="0">
                          <a:latin typeface="Cambria Math" panose="02040503050406030204" pitchFamily="18" charset="0"/>
                          <a:ea typeface="Roboto" panose="02000000000000000000" pitchFamily="2" charset="0"/>
                        </a:rPr>
                        <m:t>=</m:t>
                      </m:r>
                      <m:d>
                        <m:dPr>
                          <m:begChr m:val="{"/>
                          <m:endChr m:val="}"/>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e>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m:rPr>
                              <m:sty m:val="p"/>
                            </m:rPr>
                            <a:rPr lang="es-MX" sz="1600" b="0" i="0" smtClean="0">
                              <a:latin typeface="Cambria Math" panose="02040503050406030204" pitchFamily="18" charset="0"/>
                              <a:ea typeface="Roboto" panose="02000000000000000000" pitchFamily="2" charset="0"/>
                            </a:rPr>
                            <m:t>es</m:t>
                          </m:r>
                          <m:r>
                            <a:rPr lang="es-MX" sz="1600" b="0" i="0" smtClean="0">
                              <a:latin typeface="Cambria Math" panose="02040503050406030204" pitchFamily="18" charset="0"/>
                              <a:ea typeface="Roboto" panose="02000000000000000000" pitchFamily="2" charset="0"/>
                            </a:rPr>
                            <m:t> </m:t>
                          </m:r>
                          <m:r>
                            <m:rPr>
                              <m:sty m:val="p"/>
                            </m:rPr>
                            <a:rPr lang="es-MX" sz="1600" b="0" i="0" smtClean="0">
                              <a:latin typeface="Cambria Math" panose="02040503050406030204" pitchFamily="18" charset="0"/>
                              <a:ea typeface="Roboto" panose="02000000000000000000" pitchFamily="2" charset="0"/>
                            </a:rPr>
                            <m:t>una</m:t>
                          </m:r>
                          <m:r>
                            <a:rPr lang="es-MX" sz="1600" b="0" i="0" smtClean="0">
                              <a:latin typeface="Cambria Math" panose="02040503050406030204" pitchFamily="18" charset="0"/>
                              <a:ea typeface="Roboto" panose="02000000000000000000" pitchFamily="2" charset="0"/>
                            </a:rPr>
                            <m:t> </m:t>
                          </m:r>
                          <m:r>
                            <m:rPr>
                              <m:sty m:val="p"/>
                            </m:rPr>
                            <a:rPr lang="es-MX" sz="1600" b="0" i="0" smtClean="0">
                              <a:latin typeface="Cambria Math" panose="02040503050406030204" pitchFamily="18" charset="0"/>
                              <a:ea typeface="Roboto" panose="02000000000000000000" pitchFamily="2" charset="0"/>
                            </a:rPr>
                            <m:t>letra</m:t>
                          </m:r>
                          <m:r>
                            <a:rPr lang="es-MX" sz="1600" b="0" i="0" smtClean="0">
                              <a:latin typeface="Cambria Math" panose="02040503050406030204" pitchFamily="18" charset="0"/>
                              <a:ea typeface="Roboto" panose="02000000000000000000" pitchFamily="2" charset="0"/>
                            </a:rPr>
                            <m:t> </m:t>
                          </m:r>
                          <m:r>
                            <m:rPr>
                              <m:sty m:val="p"/>
                            </m:rPr>
                            <a:rPr lang="es-MX" sz="1600" b="0" i="0" smtClean="0">
                              <a:latin typeface="Cambria Math" panose="02040503050406030204" pitchFamily="18" charset="0"/>
                              <a:ea typeface="Roboto" panose="02000000000000000000" pitchFamily="2" charset="0"/>
                            </a:rPr>
                            <m:t>del</m:t>
                          </m:r>
                          <m:r>
                            <a:rPr lang="es-MX" sz="1600" b="0" i="0" smtClean="0">
                              <a:latin typeface="Cambria Math" panose="02040503050406030204" pitchFamily="18" charset="0"/>
                              <a:ea typeface="Roboto" panose="02000000000000000000" pitchFamily="2" charset="0"/>
                            </a:rPr>
                            <m:t> </m:t>
                          </m:r>
                          <m:r>
                            <m:rPr>
                              <m:sty m:val="p"/>
                            </m:rPr>
                            <a:rPr lang="es-MX" sz="1600" b="0" i="0" smtClean="0">
                              <a:latin typeface="Cambria Math" panose="02040503050406030204" pitchFamily="18" charset="0"/>
                              <a:ea typeface="Roboto" panose="02000000000000000000" pitchFamily="2" charset="0"/>
                            </a:rPr>
                            <m:t>alfabeto</m:t>
                          </m:r>
                          <m:r>
                            <a:rPr lang="es-MX" sz="1600" b="0" i="0" smtClean="0">
                              <a:latin typeface="Cambria Math" panose="02040503050406030204" pitchFamily="18" charset="0"/>
                              <a:ea typeface="Roboto" panose="02000000000000000000" pitchFamily="2" charset="0"/>
                            </a:rPr>
                            <m:t> </m:t>
                          </m:r>
                          <m:r>
                            <m:rPr>
                              <m:sty m:val="p"/>
                            </m:rPr>
                            <a:rPr lang="es-MX" sz="1600" b="0" i="0" smtClean="0">
                              <a:latin typeface="Cambria Math" panose="02040503050406030204" pitchFamily="18" charset="0"/>
                              <a:ea typeface="Roboto" panose="02000000000000000000" pitchFamily="2" charset="0"/>
                            </a:rPr>
                            <m:t>espa</m:t>
                          </m:r>
                          <m:r>
                            <a:rPr lang="es-MX" sz="1600" b="0" i="0" smtClean="0">
                              <a:latin typeface="Cambria Math" panose="02040503050406030204" pitchFamily="18" charset="0"/>
                              <a:ea typeface="Roboto" panose="02000000000000000000" pitchFamily="2" charset="0"/>
                            </a:rPr>
                            <m:t>ñ</m:t>
                          </m:r>
                          <m:r>
                            <m:rPr>
                              <m:sty m:val="p"/>
                            </m:rPr>
                            <a:rPr lang="es-MX" sz="1600" b="0" i="0" smtClean="0">
                              <a:latin typeface="Cambria Math" panose="02040503050406030204" pitchFamily="18" charset="0"/>
                              <a:ea typeface="Roboto" panose="02000000000000000000" pitchFamily="2" charset="0"/>
                            </a:rPr>
                            <m:t>ol</m:t>
                          </m:r>
                          <m:r>
                            <a:rPr lang="es-MX" sz="1600" b="0" i="1" smtClean="0">
                              <a:latin typeface="Cambria Math" panose="02040503050406030204" pitchFamily="18" charset="0"/>
                              <a:ea typeface="Roboto" panose="02000000000000000000" pitchFamily="2" charset="0"/>
                            </a:rPr>
                            <m:t> </m:t>
                          </m:r>
                        </m:e>
                      </m:d>
                    </m:oMath>
                  </m:oMathPara>
                </a14:m>
                <a:endParaRPr lang="es-CO" sz="1600" dirty="0">
                  <a:latin typeface="Roboto" panose="02000000000000000000" pitchFamily="2" charset="0"/>
                  <a:ea typeface="Roboto" panose="02000000000000000000" pitchFamily="2" charset="0"/>
                </a:endParaRPr>
              </a:p>
            </p:txBody>
          </p:sp>
        </mc:Choice>
        <mc:Fallback xmlns="">
          <p:sp>
            <p:nvSpPr>
              <p:cNvPr id="8" name="CuadroTexto 7">
                <a:extLst>
                  <a:ext uri="{FF2B5EF4-FFF2-40B4-BE49-F238E27FC236}">
                    <a16:creationId xmlns:a16="http://schemas.microsoft.com/office/drawing/2014/main" id="{5117F9BA-6CDC-4ED9-8F92-8CD8DE99AC70}"/>
                  </a:ext>
                </a:extLst>
              </p:cNvPr>
              <p:cNvSpPr txBox="1">
                <a:spLocks noRot="1" noChangeAspect="1" noMove="1" noResize="1" noEditPoints="1" noAdjustHandles="1" noChangeArrowheads="1" noChangeShapeType="1" noTextEdit="1"/>
              </p:cNvSpPr>
              <p:nvPr/>
            </p:nvSpPr>
            <p:spPr>
              <a:xfrm>
                <a:off x="2692091" y="5961777"/>
                <a:ext cx="7631061" cy="338554"/>
              </a:xfrm>
              <a:prstGeom prst="rect">
                <a:avLst/>
              </a:prstGeom>
              <a:blipFill>
                <a:blip r:embed="rId4"/>
                <a:stretch>
                  <a:fillRect b="-10714"/>
                </a:stretch>
              </a:blipFill>
            </p:spPr>
            <p:txBody>
              <a:bodyPr/>
              <a:lstStyle/>
              <a:p>
                <a:r>
                  <a:rPr lang="es-CO">
                    <a:noFill/>
                  </a:rPr>
                  <a:t> </a:t>
                </a:r>
              </a:p>
            </p:txBody>
          </p:sp>
        </mc:Fallback>
      </mc:AlternateContent>
    </p:spTree>
    <p:extLst>
      <p:ext uri="{BB962C8B-B14F-4D97-AF65-F5344CB8AC3E}">
        <p14:creationId xmlns:p14="http://schemas.microsoft.com/office/powerpoint/2010/main" val="4124035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p:txBody>
          <a:bodyPr/>
          <a:lstStyle/>
          <a:p>
            <a:r>
              <a:rPr lang="es-CO" dirty="0">
                <a:latin typeface="+mj-lt"/>
              </a:rPr>
              <a:t>Operaciones entre conjuntos</a:t>
            </a:r>
          </a:p>
        </p:txBody>
      </p:sp>
      <p:sp>
        <p:nvSpPr>
          <p:cNvPr id="10" name="CuadroTexto 9">
            <a:extLst>
              <a:ext uri="{FF2B5EF4-FFF2-40B4-BE49-F238E27FC236}">
                <a16:creationId xmlns:a16="http://schemas.microsoft.com/office/drawing/2014/main" id="{A19C6E9F-BCCF-4FD4-8EC3-574D66199786}"/>
              </a:ext>
            </a:extLst>
          </p:cNvPr>
          <p:cNvSpPr txBox="1"/>
          <p:nvPr/>
        </p:nvSpPr>
        <p:spPr>
          <a:xfrm>
            <a:off x="916650" y="985339"/>
            <a:ext cx="11044291"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Ejemplo – Solución </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788830" y="1451229"/>
            <a:ext cx="11044291" cy="130671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Sea A el conjunto de todas las letras que conforman la palabra calculo ‘calculo’ y B el conjunto asociado de letras que aparecen en ‘matemáticas discretas’. Determine:</a:t>
            </a:r>
          </a:p>
          <a:p>
            <a:pPr marL="584200" indent="-457200">
              <a:buFont typeface="+mj-lt"/>
              <a:buAutoNum type="arabicPeriod" startAt="3"/>
            </a:pPr>
            <a:r>
              <a:rPr lang="es-MX" sz="2000" dirty="0">
                <a:latin typeface="+mn-lt"/>
                <a:ea typeface="Roboto" panose="02000000000000000000" pitchFamily="2" charset="0"/>
              </a:rPr>
              <a:t>Diagrama de Venn</a:t>
            </a:r>
          </a:p>
          <a:p>
            <a:pPr marL="584200" indent="-457200">
              <a:buFont typeface="+mj-lt"/>
              <a:buAutoNum type="arabicPeriod" startAt="3"/>
            </a:pPr>
            <a:endParaRPr lang="es-MX" sz="2000" dirty="0">
              <a:latin typeface="+mn-lt"/>
              <a:ea typeface="Roboto" panose="02000000000000000000" pitchFamily="2" charset="0"/>
            </a:endParaRPr>
          </a:p>
        </p:txBody>
      </p:sp>
      <p:grpSp>
        <p:nvGrpSpPr>
          <p:cNvPr id="36" name="Grupo 35">
            <a:extLst>
              <a:ext uri="{FF2B5EF4-FFF2-40B4-BE49-F238E27FC236}">
                <a16:creationId xmlns:a16="http://schemas.microsoft.com/office/drawing/2014/main" id="{5A2D3109-1936-4506-9FDB-799A5AA1281A}"/>
              </a:ext>
            </a:extLst>
          </p:cNvPr>
          <p:cNvGrpSpPr/>
          <p:nvPr/>
        </p:nvGrpSpPr>
        <p:grpSpPr>
          <a:xfrm>
            <a:off x="2213382" y="2898277"/>
            <a:ext cx="8450826" cy="3132505"/>
            <a:chOff x="2182761" y="3163638"/>
            <a:chExt cx="8450826" cy="3132505"/>
          </a:xfrm>
        </p:grpSpPr>
        <p:sp>
          <p:nvSpPr>
            <p:cNvPr id="14" name="Rectángulo 13">
              <a:extLst>
                <a:ext uri="{FF2B5EF4-FFF2-40B4-BE49-F238E27FC236}">
                  <a16:creationId xmlns:a16="http://schemas.microsoft.com/office/drawing/2014/main" id="{0DE60BDD-EBA6-4398-BBE1-78CD42B9935D}"/>
                </a:ext>
              </a:extLst>
            </p:cNvPr>
            <p:cNvSpPr/>
            <p:nvPr/>
          </p:nvSpPr>
          <p:spPr>
            <a:xfrm>
              <a:off x="2182761" y="3163638"/>
              <a:ext cx="8450826" cy="31325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5" name="CuadroTexto 14">
              <a:extLst>
                <a:ext uri="{FF2B5EF4-FFF2-40B4-BE49-F238E27FC236}">
                  <a16:creationId xmlns:a16="http://schemas.microsoft.com/office/drawing/2014/main" id="{1CC68571-071E-4559-A475-395DAA6FF066}"/>
                </a:ext>
              </a:extLst>
            </p:cNvPr>
            <p:cNvSpPr txBox="1"/>
            <p:nvPr/>
          </p:nvSpPr>
          <p:spPr>
            <a:xfrm>
              <a:off x="10009239" y="3223838"/>
              <a:ext cx="398206" cy="523220"/>
            </a:xfrm>
            <a:prstGeom prst="rect">
              <a:avLst/>
            </a:prstGeom>
            <a:noFill/>
          </p:spPr>
          <p:txBody>
            <a:bodyPr wrap="square" rtlCol="0">
              <a:spAutoFit/>
            </a:bodyPr>
            <a:lstStyle/>
            <a:p>
              <a:r>
                <a:rPr lang="es-CO" sz="2800" b="1" dirty="0">
                  <a:latin typeface="Roboto" panose="02000000000000000000" pitchFamily="2" charset="0"/>
                  <a:ea typeface="Roboto" panose="02000000000000000000" pitchFamily="2" charset="0"/>
                </a:rPr>
                <a:t>U</a:t>
              </a:r>
            </a:p>
          </p:txBody>
        </p:sp>
        <p:sp>
          <p:nvSpPr>
            <p:cNvPr id="18" name="Elipse 17">
              <a:extLst>
                <a:ext uri="{FF2B5EF4-FFF2-40B4-BE49-F238E27FC236}">
                  <a16:creationId xmlns:a16="http://schemas.microsoft.com/office/drawing/2014/main" id="{617360F0-A875-498C-8D3E-F4B16E4233B5}"/>
                </a:ext>
              </a:extLst>
            </p:cNvPr>
            <p:cNvSpPr/>
            <p:nvPr/>
          </p:nvSpPr>
          <p:spPr>
            <a:xfrm>
              <a:off x="2971801" y="3626506"/>
              <a:ext cx="4417141" cy="2125603"/>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Elipse 19">
              <a:extLst>
                <a:ext uri="{FF2B5EF4-FFF2-40B4-BE49-F238E27FC236}">
                  <a16:creationId xmlns:a16="http://schemas.microsoft.com/office/drawing/2014/main" id="{08F163F7-F299-4CFB-9C61-B3004CB09742}"/>
                </a:ext>
              </a:extLst>
            </p:cNvPr>
            <p:cNvSpPr/>
            <p:nvPr/>
          </p:nvSpPr>
          <p:spPr>
            <a:xfrm>
              <a:off x="5790196" y="3659535"/>
              <a:ext cx="3937819" cy="212560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CuadroTexto 20">
              <a:extLst>
                <a:ext uri="{FF2B5EF4-FFF2-40B4-BE49-F238E27FC236}">
                  <a16:creationId xmlns:a16="http://schemas.microsoft.com/office/drawing/2014/main" id="{55DC1A9E-3143-441A-945D-F03D140C6E88}"/>
                </a:ext>
              </a:extLst>
            </p:cNvPr>
            <p:cNvSpPr txBox="1"/>
            <p:nvPr/>
          </p:nvSpPr>
          <p:spPr>
            <a:xfrm>
              <a:off x="4884624" y="3655193"/>
              <a:ext cx="398206" cy="523220"/>
            </a:xfrm>
            <a:prstGeom prst="rect">
              <a:avLst/>
            </a:prstGeom>
            <a:noFill/>
          </p:spPr>
          <p:txBody>
            <a:bodyPr wrap="square" rtlCol="0">
              <a:spAutoFit/>
            </a:bodyPr>
            <a:lstStyle/>
            <a:p>
              <a:r>
                <a:rPr lang="es-CO" sz="2800" b="1" dirty="0">
                  <a:solidFill>
                    <a:schemeClr val="tx1"/>
                  </a:solidFill>
                  <a:latin typeface="Roboto" panose="02000000000000000000" pitchFamily="2" charset="0"/>
                  <a:ea typeface="Roboto" panose="02000000000000000000" pitchFamily="2" charset="0"/>
                </a:rPr>
                <a:t>A</a:t>
              </a:r>
            </a:p>
          </p:txBody>
        </p:sp>
        <p:sp>
          <p:nvSpPr>
            <p:cNvPr id="22" name="CuadroTexto 21">
              <a:extLst>
                <a:ext uri="{FF2B5EF4-FFF2-40B4-BE49-F238E27FC236}">
                  <a16:creationId xmlns:a16="http://schemas.microsoft.com/office/drawing/2014/main" id="{B0FCE92A-9D1D-4EEC-B729-C336E196D4D4}"/>
                </a:ext>
              </a:extLst>
            </p:cNvPr>
            <p:cNvSpPr txBox="1"/>
            <p:nvPr/>
          </p:nvSpPr>
          <p:spPr>
            <a:xfrm>
              <a:off x="7642625" y="3683450"/>
              <a:ext cx="398206" cy="523220"/>
            </a:xfrm>
            <a:prstGeom prst="rect">
              <a:avLst/>
            </a:prstGeom>
            <a:noFill/>
          </p:spPr>
          <p:txBody>
            <a:bodyPr wrap="square" rtlCol="0">
              <a:spAutoFit/>
            </a:bodyPr>
            <a:lstStyle/>
            <a:p>
              <a:r>
                <a:rPr lang="es-CO" sz="2800" b="1" dirty="0">
                  <a:solidFill>
                    <a:schemeClr val="tx1"/>
                  </a:solidFill>
                  <a:latin typeface="Roboto" panose="02000000000000000000" pitchFamily="2" charset="0"/>
                  <a:ea typeface="Roboto" panose="02000000000000000000" pitchFamily="2" charset="0"/>
                </a:rPr>
                <a:t>B</a:t>
              </a:r>
            </a:p>
          </p:txBody>
        </p:sp>
        <p:sp>
          <p:nvSpPr>
            <p:cNvPr id="24" name="CuadroTexto 23">
              <a:extLst>
                <a:ext uri="{FF2B5EF4-FFF2-40B4-BE49-F238E27FC236}">
                  <a16:creationId xmlns:a16="http://schemas.microsoft.com/office/drawing/2014/main" id="{1C5BF190-B2EB-4D23-933B-D0A92F4A6121}"/>
                </a:ext>
              </a:extLst>
            </p:cNvPr>
            <p:cNvSpPr txBox="1"/>
            <p:nvPr/>
          </p:nvSpPr>
          <p:spPr>
            <a:xfrm>
              <a:off x="6338847" y="4192481"/>
              <a:ext cx="398206" cy="400110"/>
            </a:xfrm>
            <a:prstGeom prst="rect">
              <a:avLst/>
            </a:prstGeom>
            <a:noFill/>
          </p:spPr>
          <p:txBody>
            <a:bodyPr wrap="square" rtlCol="0">
              <a:spAutoFit/>
            </a:bodyPr>
            <a:lstStyle/>
            <a:p>
              <a:pPr algn="ctr"/>
              <a:r>
                <a:rPr lang="es-CO" sz="2000" b="1" i="1" dirty="0">
                  <a:solidFill>
                    <a:schemeClr val="accent6"/>
                  </a:solidFill>
                  <a:latin typeface="Roboto" panose="02000000000000000000" pitchFamily="2" charset="0"/>
                  <a:ea typeface="Roboto" panose="02000000000000000000" pitchFamily="2" charset="0"/>
                </a:rPr>
                <a:t>a</a:t>
              </a:r>
              <a:endParaRPr lang="es-CO" sz="2800" b="1" i="1" dirty="0">
                <a:solidFill>
                  <a:schemeClr val="accent6"/>
                </a:solidFill>
                <a:latin typeface="Roboto" panose="02000000000000000000" pitchFamily="2" charset="0"/>
                <a:ea typeface="Roboto" panose="02000000000000000000" pitchFamily="2" charset="0"/>
              </a:endParaRPr>
            </a:p>
          </p:txBody>
        </p:sp>
        <p:sp>
          <p:nvSpPr>
            <p:cNvPr id="25" name="CuadroTexto 24">
              <a:extLst>
                <a:ext uri="{FF2B5EF4-FFF2-40B4-BE49-F238E27FC236}">
                  <a16:creationId xmlns:a16="http://schemas.microsoft.com/office/drawing/2014/main" id="{BA2AC0D2-6D81-4DC2-92A4-19E0A7745B9E}"/>
                </a:ext>
              </a:extLst>
            </p:cNvPr>
            <p:cNvSpPr txBox="1"/>
            <p:nvPr/>
          </p:nvSpPr>
          <p:spPr>
            <a:xfrm>
              <a:off x="6438795" y="4729890"/>
              <a:ext cx="398206" cy="400110"/>
            </a:xfrm>
            <a:prstGeom prst="rect">
              <a:avLst/>
            </a:prstGeom>
            <a:noFill/>
          </p:spPr>
          <p:txBody>
            <a:bodyPr wrap="square" rtlCol="0">
              <a:spAutoFit/>
            </a:bodyPr>
            <a:lstStyle/>
            <a:p>
              <a:pPr algn="ctr"/>
              <a:r>
                <a:rPr lang="es-CO" sz="2000" b="1" i="1" dirty="0">
                  <a:solidFill>
                    <a:schemeClr val="accent6"/>
                  </a:solidFill>
                  <a:latin typeface="Roboto" panose="02000000000000000000" pitchFamily="2" charset="0"/>
                  <a:ea typeface="Roboto" panose="02000000000000000000" pitchFamily="2" charset="0"/>
                </a:rPr>
                <a:t>c</a:t>
              </a:r>
              <a:endParaRPr lang="es-CO" sz="2800" b="1" i="1" dirty="0">
                <a:solidFill>
                  <a:schemeClr val="accent6"/>
                </a:solidFill>
                <a:latin typeface="Roboto" panose="02000000000000000000" pitchFamily="2" charset="0"/>
                <a:ea typeface="Roboto" panose="02000000000000000000" pitchFamily="2" charset="0"/>
              </a:endParaRPr>
            </a:p>
          </p:txBody>
        </p:sp>
        <p:sp>
          <p:nvSpPr>
            <p:cNvPr id="26" name="CuadroTexto 25">
              <a:extLst>
                <a:ext uri="{FF2B5EF4-FFF2-40B4-BE49-F238E27FC236}">
                  <a16:creationId xmlns:a16="http://schemas.microsoft.com/office/drawing/2014/main" id="{00929545-9E37-4A8F-8E79-9D611BA22C3E}"/>
                </a:ext>
              </a:extLst>
            </p:cNvPr>
            <p:cNvSpPr txBox="1"/>
            <p:nvPr/>
          </p:nvSpPr>
          <p:spPr>
            <a:xfrm>
              <a:off x="3982793" y="4178160"/>
              <a:ext cx="398206" cy="400110"/>
            </a:xfrm>
            <a:prstGeom prst="rect">
              <a:avLst/>
            </a:prstGeom>
            <a:noFill/>
          </p:spPr>
          <p:txBody>
            <a:bodyPr wrap="square" rtlCol="0">
              <a:spAutoFit/>
            </a:bodyPr>
            <a:lstStyle/>
            <a:p>
              <a:pPr algn="ctr"/>
              <a:r>
                <a:rPr lang="es-CO" sz="2000" b="1" i="1" dirty="0">
                  <a:solidFill>
                    <a:schemeClr val="accent5"/>
                  </a:solidFill>
                  <a:latin typeface="Roboto" panose="02000000000000000000" pitchFamily="2" charset="0"/>
                  <a:ea typeface="Roboto" panose="02000000000000000000" pitchFamily="2" charset="0"/>
                </a:rPr>
                <a:t>o</a:t>
              </a:r>
              <a:endParaRPr lang="es-CO" sz="2800" b="1" i="1" dirty="0">
                <a:solidFill>
                  <a:schemeClr val="accent5"/>
                </a:solidFill>
                <a:latin typeface="Roboto" panose="02000000000000000000" pitchFamily="2" charset="0"/>
                <a:ea typeface="Roboto" panose="02000000000000000000" pitchFamily="2" charset="0"/>
              </a:endParaRPr>
            </a:p>
          </p:txBody>
        </p:sp>
        <p:sp>
          <p:nvSpPr>
            <p:cNvPr id="27" name="CuadroTexto 26">
              <a:extLst>
                <a:ext uri="{FF2B5EF4-FFF2-40B4-BE49-F238E27FC236}">
                  <a16:creationId xmlns:a16="http://schemas.microsoft.com/office/drawing/2014/main" id="{4DCA58E0-2E9B-47F0-9DC0-85A2476C3A79}"/>
                </a:ext>
              </a:extLst>
            </p:cNvPr>
            <p:cNvSpPr txBox="1"/>
            <p:nvPr/>
          </p:nvSpPr>
          <p:spPr>
            <a:xfrm>
              <a:off x="4918562" y="4548567"/>
              <a:ext cx="398206" cy="400110"/>
            </a:xfrm>
            <a:prstGeom prst="rect">
              <a:avLst/>
            </a:prstGeom>
            <a:noFill/>
          </p:spPr>
          <p:txBody>
            <a:bodyPr wrap="square" rtlCol="0">
              <a:spAutoFit/>
            </a:bodyPr>
            <a:lstStyle/>
            <a:p>
              <a:pPr algn="ctr"/>
              <a:r>
                <a:rPr lang="es-CO" sz="2000" b="1" i="1" dirty="0">
                  <a:solidFill>
                    <a:schemeClr val="accent5"/>
                  </a:solidFill>
                  <a:latin typeface="Roboto" panose="02000000000000000000" pitchFamily="2" charset="0"/>
                  <a:ea typeface="Roboto" panose="02000000000000000000" pitchFamily="2" charset="0"/>
                </a:rPr>
                <a:t>l</a:t>
              </a:r>
              <a:endParaRPr lang="es-CO" sz="2800" b="1" i="1" dirty="0">
                <a:solidFill>
                  <a:schemeClr val="accent5"/>
                </a:solidFill>
                <a:latin typeface="Roboto" panose="02000000000000000000" pitchFamily="2" charset="0"/>
                <a:ea typeface="Roboto" panose="02000000000000000000" pitchFamily="2" charset="0"/>
              </a:endParaRPr>
            </a:p>
          </p:txBody>
        </p:sp>
        <p:sp>
          <p:nvSpPr>
            <p:cNvPr id="28" name="CuadroTexto 27">
              <a:extLst>
                <a:ext uri="{FF2B5EF4-FFF2-40B4-BE49-F238E27FC236}">
                  <a16:creationId xmlns:a16="http://schemas.microsoft.com/office/drawing/2014/main" id="{374B7A8F-65E2-4610-ADD1-37A1A934A756}"/>
                </a:ext>
              </a:extLst>
            </p:cNvPr>
            <p:cNvSpPr txBox="1"/>
            <p:nvPr/>
          </p:nvSpPr>
          <p:spPr>
            <a:xfrm>
              <a:off x="4342318" y="4812415"/>
              <a:ext cx="322561" cy="400110"/>
            </a:xfrm>
            <a:prstGeom prst="rect">
              <a:avLst/>
            </a:prstGeom>
            <a:noFill/>
          </p:spPr>
          <p:txBody>
            <a:bodyPr wrap="square" rtlCol="0">
              <a:spAutoFit/>
            </a:bodyPr>
            <a:lstStyle/>
            <a:p>
              <a:pPr algn="ctr"/>
              <a:r>
                <a:rPr lang="es-CO" sz="2000" b="1" i="1" dirty="0">
                  <a:solidFill>
                    <a:schemeClr val="accent5"/>
                  </a:solidFill>
                  <a:latin typeface="Roboto" panose="02000000000000000000" pitchFamily="2" charset="0"/>
                  <a:ea typeface="Roboto" panose="02000000000000000000" pitchFamily="2" charset="0"/>
                </a:rPr>
                <a:t>u</a:t>
              </a:r>
              <a:endParaRPr lang="es-CO" sz="2800" b="1" i="1" dirty="0">
                <a:solidFill>
                  <a:schemeClr val="accent5"/>
                </a:solidFill>
                <a:latin typeface="Roboto" panose="02000000000000000000" pitchFamily="2" charset="0"/>
                <a:ea typeface="Roboto" panose="02000000000000000000" pitchFamily="2" charset="0"/>
              </a:endParaRPr>
            </a:p>
          </p:txBody>
        </p:sp>
        <p:sp>
          <p:nvSpPr>
            <p:cNvPr id="29" name="CuadroTexto 28">
              <a:extLst>
                <a:ext uri="{FF2B5EF4-FFF2-40B4-BE49-F238E27FC236}">
                  <a16:creationId xmlns:a16="http://schemas.microsoft.com/office/drawing/2014/main" id="{6CF9197D-9243-4F7C-AE38-CCAE7F6804C6}"/>
                </a:ext>
              </a:extLst>
            </p:cNvPr>
            <p:cNvSpPr txBox="1"/>
            <p:nvPr/>
          </p:nvSpPr>
          <p:spPr>
            <a:xfrm>
              <a:off x="7701796" y="5130000"/>
              <a:ext cx="398206" cy="400110"/>
            </a:xfrm>
            <a:prstGeom prst="rect">
              <a:avLst/>
            </a:prstGeom>
            <a:noFill/>
          </p:spPr>
          <p:txBody>
            <a:bodyPr wrap="square" rtlCol="0">
              <a:spAutoFit/>
            </a:bodyPr>
            <a:lstStyle/>
            <a:p>
              <a:pPr algn="ctr"/>
              <a:r>
                <a:rPr lang="es-CO" sz="2000" b="1" i="1" dirty="0">
                  <a:solidFill>
                    <a:schemeClr val="accent2"/>
                  </a:solidFill>
                  <a:latin typeface="Roboto" panose="02000000000000000000" pitchFamily="2" charset="0"/>
                  <a:ea typeface="Roboto" panose="02000000000000000000" pitchFamily="2" charset="0"/>
                </a:rPr>
                <a:t>i</a:t>
              </a:r>
              <a:endParaRPr lang="es-CO" sz="2800" b="1" i="1" dirty="0">
                <a:solidFill>
                  <a:schemeClr val="accent2"/>
                </a:solidFill>
                <a:latin typeface="Roboto" panose="02000000000000000000" pitchFamily="2" charset="0"/>
                <a:ea typeface="Roboto" panose="02000000000000000000" pitchFamily="2" charset="0"/>
              </a:endParaRPr>
            </a:p>
          </p:txBody>
        </p:sp>
        <p:sp>
          <p:nvSpPr>
            <p:cNvPr id="30" name="CuadroTexto 29">
              <a:extLst>
                <a:ext uri="{FF2B5EF4-FFF2-40B4-BE49-F238E27FC236}">
                  <a16:creationId xmlns:a16="http://schemas.microsoft.com/office/drawing/2014/main" id="{74A2E8D3-8303-455C-9E14-DF5801284D7E}"/>
                </a:ext>
              </a:extLst>
            </p:cNvPr>
            <p:cNvSpPr txBox="1"/>
            <p:nvPr/>
          </p:nvSpPr>
          <p:spPr>
            <a:xfrm>
              <a:off x="8305371" y="4986786"/>
              <a:ext cx="398206" cy="400110"/>
            </a:xfrm>
            <a:prstGeom prst="rect">
              <a:avLst/>
            </a:prstGeom>
            <a:noFill/>
          </p:spPr>
          <p:txBody>
            <a:bodyPr wrap="square" rtlCol="0">
              <a:spAutoFit/>
            </a:bodyPr>
            <a:lstStyle/>
            <a:p>
              <a:pPr algn="ctr"/>
              <a:r>
                <a:rPr lang="es-CO" sz="2000" b="1" i="1" dirty="0">
                  <a:solidFill>
                    <a:schemeClr val="accent2"/>
                  </a:solidFill>
                  <a:latin typeface="Roboto" panose="02000000000000000000" pitchFamily="2" charset="0"/>
                  <a:ea typeface="Roboto" panose="02000000000000000000" pitchFamily="2" charset="0"/>
                </a:rPr>
                <a:t>s</a:t>
              </a:r>
              <a:endParaRPr lang="es-CO" sz="2800" b="1" i="1" dirty="0">
                <a:solidFill>
                  <a:schemeClr val="accent2"/>
                </a:solidFill>
                <a:latin typeface="Roboto" panose="02000000000000000000" pitchFamily="2" charset="0"/>
                <a:ea typeface="Roboto" panose="02000000000000000000" pitchFamily="2" charset="0"/>
              </a:endParaRPr>
            </a:p>
          </p:txBody>
        </p:sp>
        <p:sp>
          <p:nvSpPr>
            <p:cNvPr id="31" name="CuadroTexto 30">
              <a:extLst>
                <a:ext uri="{FF2B5EF4-FFF2-40B4-BE49-F238E27FC236}">
                  <a16:creationId xmlns:a16="http://schemas.microsoft.com/office/drawing/2014/main" id="{36D4BC17-D5FD-4A1E-AA02-BF50B5047C32}"/>
                </a:ext>
              </a:extLst>
            </p:cNvPr>
            <p:cNvSpPr txBox="1"/>
            <p:nvPr/>
          </p:nvSpPr>
          <p:spPr>
            <a:xfrm>
              <a:off x="8388965" y="4046827"/>
              <a:ext cx="398206" cy="400110"/>
            </a:xfrm>
            <a:prstGeom prst="rect">
              <a:avLst/>
            </a:prstGeom>
            <a:noFill/>
          </p:spPr>
          <p:txBody>
            <a:bodyPr wrap="square" rtlCol="0">
              <a:spAutoFit/>
            </a:bodyPr>
            <a:lstStyle/>
            <a:p>
              <a:pPr algn="ctr"/>
              <a:r>
                <a:rPr lang="es-CO" sz="2000" b="1" i="1" dirty="0">
                  <a:solidFill>
                    <a:schemeClr val="accent2"/>
                  </a:solidFill>
                  <a:latin typeface="Roboto" panose="02000000000000000000" pitchFamily="2" charset="0"/>
                  <a:ea typeface="Roboto" panose="02000000000000000000" pitchFamily="2" charset="0"/>
                </a:rPr>
                <a:t>m</a:t>
              </a:r>
              <a:endParaRPr lang="es-CO" sz="2800" b="1" i="1" dirty="0">
                <a:solidFill>
                  <a:schemeClr val="accent2"/>
                </a:solidFill>
                <a:latin typeface="Roboto" panose="02000000000000000000" pitchFamily="2" charset="0"/>
                <a:ea typeface="Roboto" panose="02000000000000000000" pitchFamily="2" charset="0"/>
              </a:endParaRPr>
            </a:p>
          </p:txBody>
        </p:sp>
        <p:sp>
          <p:nvSpPr>
            <p:cNvPr id="32" name="CuadroTexto 31">
              <a:extLst>
                <a:ext uri="{FF2B5EF4-FFF2-40B4-BE49-F238E27FC236}">
                  <a16:creationId xmlns:a16="http://schemas.microsoft.com/office/drawing/2014/main" id="{290F695D-EAFB-4FBF-858A-B61F8B79280B}"/>
                </a:ext>
              </a:extLst>
            </p:cNvPr>
            <p:cNvSpPr txBox="1"/>
            <p:nvPr/>
          </p:nvSpPr>
          <p:spPr>
            <a:xfrm>
              <a:off x="8361319" y="4557246"/>
              <a:ext cx="398206" cy="400110"/>
            </a:xfrm>
            <a:prstGeom prst="rect">
              <a:avLst/>
            </a:prstGeom>
            <a:noFill/>
          </p:spPr>
          <p:txBody>
            <a:bodyPr wrap="square" rtlCol="0">
              <a:spAutoFit/>
            </a:bodyPr>
            <a:lstStyle/>
            <a:p>
              <a:pPr algn="ctr"/>
              <a:r>
                <a:rPr lang="es-CO" sz="2000" b="1" i="1" dirty="0">
                  <a:solidFill>
                    <a:schemeClr val="accent2"/>
                  </a:solidFill>
                  <a:latin typeface="Roboto" panose="02000000000000000000" pitchFamily="2" charset="0"/>
                  <a:ea typeface="Roboto" panose="02000000000000000000" pitchFamily="2" charset="0"/>
                </a:rPr>
                <a:t>e</a:t>
              </a:r>
              <a:endParaRPr lang="es-CO" sz="2800" b="1" i="1" dirty="0">
                <a:solidFill>
                  <a:schemeClr val="accent2"/>
                </a:solidFill>
                <a:latin typeface="Roboto" panose="02000000000000000000" pitchFamily="2" charset="0"/>
                <a:ea typeface="Roboto" panose="02000000000000000000" pitchFamily="2" charset="0"/>
              </a:endParaRPr>
            </a:p>
          </p:txBody>
        </p:sp>
        <p:sp>
          <p:nvSpPr>
            <p:cNvPr id="33" name="CuadroTexto 32">
              <a:extLst>
                <a:ext uri="{FF2B5EF4-FFF2-40B4-BE49-F238E27FC236}">
                  <a16:creationId xmlns:a16="http://schemas.microsoft.com/office/drawing/2014/main" id="{EEC236A0-AD68-479E-9150-15C46C5E049E}"/>
                </a:ext>
              </a:extLst>
            </p:cNvPr>
            <p:cNvSpPr txBox="1"/>
            <p:nvPr/>
          </p:nvSpPr>
          <p:spPr>
            <a:xfrm>
              <a:off x="7826200" y="4509216"/>
              <a:ext cx="322561" cy="400110"/>
            </a:xfrm>
            <a:prstGeom prst="rect">
              <a:avLst/>
            </a:prstGeom>
            <a:noFill/>
          </p:spPr>
          <p:txBody>
            <a:bodyPr wrap="square" rtlCol="0">
              <a:spAutoFit/>
            </a:bodyPr>
            <a:lstStyle/>
            <a:p>
              <a:pPr algn="ctr"/>
              <a:r>
                <a:rPr lang="es-CO" sz="2000" b="1" i="1" dirty="0">
                  <a:solidFill>
                    <a:schemeClr val="accent2"/>
                  </a:solidFill>
                  <a:latin typeface="Roboto" panose="02000000000000000000" pitchFamily="2" charset="0"/>
                  <a:ea typeface="Roboto" panose="02000000000000000000" pitchFamily="2" charset="0"/>
                </a:rPr>
                <a:t>t</a:t>
              </a:r>
              <a:endParaRPr lang="es-CO" sz="2800" b="1" i="1" dirty="0">
                <a:solidFill>
                  <a:schemeClr val="accent2"/>
                </a:solidFill>
                <a:latin typeface="Roboto" panose="02000000000000000000" pitchFamily="2" charset="0"/>
                <a:ea typeface="Roboto" panose="02000000000000000000" pitchFamily="2" charset="0"/>
              </a:endParaRPr>
            </a:p>
          </p:txBody>
        </p:sp>
        <p:sp>
          <p:nvSpPr>
            <p:cNvPr id="34" name="CuadroTexto 33">
              <a:extLst>
                <a:ext uri="{FF2B5EF4-FFF2-40B4-BE49-F238E27FC236}">
                  <a16:creationId xmlns:a16="http://schemas.microsoft.com/office/drawing/2014/main" id="{B335EFAA-D837-4CAA-BA45-57C889EA5014}"/>
                </a:ext>
              </a:extLst>
            </p:cNvPr>
            <p:cNvSpPr txBox="1"/>
            <p:nvPr/>
          </p:nvSpPr>
          <p:spPr>
            <a:xfrm>
              <a:off x="8985808" y="4378215"/>
              <a:ext cx="398206" cy="400110"/>
            </a:xfrm>
            <a:prstGeom prst="rect">
              <a:avLst/>
            </a:prstGeom>
            <a:noFill/>
          </p:spPr>
          <p:txBody>
            <a:bodyPr wrap="square" rtlCol="0">
              <a:spAutoFit/>
            </a:bodyPr>
            <a:lstStyle/>
            <a:p>
              <a:pPr algn="ctr"/>
              <a:r>
                <a:rPr lang="es-CO" sz="2000" b="1" i="1" dirty="0">
                  <a:solidFill>
                    <a:schemeClr val="accent2"/>
                  </a:solidFill>
                  <a:latin typeface="Roboto" panose="02000000000000000000" pitchFamily="2" charset="0"/>
                  <a:ea typeface="Roboto" panose="02000000000000000000" pitchFamily="2" charset="0"/>
                </a:rPr>
                <a:t>d</a:t>
              </a:r>
              <a:endParaRPr lang="es-CO" sz="2800" b="1" i="1" dirty="0">
                <a:solidFill>
                  <a:schemeClr val="accent2"/>
                </a:solidFill>
                <a:latin typeface="Roboto" panose="02000000000000000000" pitchFamily="2" charset="0"/>
                <a:ea typeface="Roboto" panose="02000000000000000000" pitchFamily="2" charset="0"/>
              </a:endParaRPr>
            </a:p>
          </p:txBody>
        </p:sp>
        <p:sp>
          <p:nvSpPr>
            <p:cNvPr id="35" name="CuadroTexto 34">
              <a:extLst>
                <a:ext uri="{FF2B5EF4-FFF2-40B4-BE49-F238E27FC236}">
                  <a16:creationId xmlns:a16="http://schemas.microsoft.com/office/drawing/2014/main" id="{5BCF8EB4-6B04-4447-8544-9FF64EDD0B7F}"/>
                </a:ext>
              </a:extLst>
            </p:cNvPr>
            <p:cNvSpPr txBox="1"/>
            <p:nvPr/>
          </p:nvSpPr>
          <p:spPr>
            <a:xfrm>
              <a:off x="8856038" y="4909326"/>
              <a:ext cx="398206" cy="400110"/>
            </a:xfrm>
            <a:prstGeom prst="rect">
              <a:avLst/>
            </a:prstGeom>
            <a:noFill/>
          </p:spPr>
          <p:txBody>
            <a:bodyPr wrap="square" rtlCol="0">
              <a:spAutoFit/>
            </a:bodyPr>
            <a:lstStyle/>
            <a:p>
              <a:pPr algn="ctr"/>
              <a:r>
                <a:rPr lang="es-CO" sz="2000" b="1" i="1" dirty="0">
                  <a:solidFill>
                    <a:schemeClr val="accent2"/>
                  </a:solidFill>
                  <a:latin typeface="Roboto" panose="02000000000000000000" pitchFamily="2" charset="0"/>
                  <a:ea typeface="Roboto" panose="02000000000000000000" pitchFamily="2" charset="0"/>
                </a:rPr>
                <a:t>r</a:t>
              </a:r>
              <a:endParaRPr lang="es-CO" sz="2800" b="1" i="1" dirty="0">
                <a:solidFill>
                  <a:schemeClr val="accent2"/>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1265689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p:txBody>
          <a:bodyPr/>
          <a:lstStyle/>
          <a:p>
            <a:r>
              <a:rPr lang="es-CO" dirty="0">
                <a:latin typeface="+mj-lt"/>
              </a:rPr>
              <a:t>Operaciones entre conjuntos</a:t>
            </a:r>
          </a:p>
        </p:txBody>
      </p:sp>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A19C6E9F-BCCF-4FD4-8EC3-574D66199786}"/>
                  </a:ext>
                </a:extLst>
              </p:cNvPr>
              <p:cNvSpPr txBox="1"/>
              <p:nvPr/>
            </p:nvSpPr>
            <p:spPr>
              <a:xfrm>
                <a:off x="916650" y="985339"/>
                <a:ext cx="11044291"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Unión (</a:t>
                </a:r>
                <a14:m>
                  <m:oMath xmlns:m="http://schemas.openxmlformats.org/officeDocument/2006/math">
                    <m:r>
                      <a:rPr lang="es-MX" sz="2600" b="1" i="1" smtClean="0">
                        <a:solidFill>
                          <a:schemeClr val="accent6"/>
                        </a:solidFill>
                        <a:ea typeface="Roboto" panose="02000000000000000000" pitchFamily="2" charset="0"/>
                      </a:rPr>
                      <m:t>𝑨</m:t>
                    </m:r>
                    <m:r>
                      <a:rPr lang="es-MX" sz="2600" b="1" i="1" smtClean="0">
                        <a:solidFill>
                          <a:schemeClr val="accent6"/>
                        </a:solidFill>
                        <a:ea typeface="Cambria Math" panose="02040503050406030204" pitchFamily="18" charset="0"/>
                      </a:rPr>
                      <m:t>∪</m:t>
                    </m:r>
                    <m:r>
                      <a:rPr lang="es-MX" sz="2600" b="1" i="1" smtClean="0">
                        <a:solidFill>
                          <a:schemeClr val="accent6"/>
                        </a:solidFill>
                        <a:ea typeface="Cambria Math" panose="02040503050406030204" pitchFamily="18" charset="0"/>
                      </a:rPr>
                      <m:t>𝑩</m:t>
                    </m:r>
                  </m:oMath>
                </a14:m>
                <a:r>
                  <a:rPr lang="es-MX" sz="2600" b="1" dirty="0">
                    <a:solidFill>
                      <a:schemeClr val="accent6"/>
                    </a:solidFill>
                    <a:ea typeface="Roboto" panose="02000000000000000000" pitchFamily="2" charset="0"/>
                  </a:rPr>
                  <a:t>)</a:t>
                </a:r>
              </a:p>
            </p:txBody>
          </p:sp>
        </mc:Choice>
        <mc:Fallback>
          <p:sp>
            <p:nvSpPr>
              <p:cNvPr id="10" name="CuadroTexto 9">
                <a:extLst>
                  <a:ext uri="{FF2B5EF4-FFF2-40B4-BE49-F238E27FC236}">
                    <a16:creationId xmlns:a16="http://schemas.microsoft.com/office/drawing/2014/main" id="{A19C6E9F-BCCF-4FD4-8EC3-574D66199786}"/>
                  </a:ext>
                </a:extLst>
              </p:cNvPr>
              <p:cNvSpPr txBox="1">
                <a:spLocks noRot="1" noChangeAspect="1" noMove="1" noResize="1" noEditPoints="1" noAdjustHandles="1" noChangeArrowheads="1" noChangeShapeType="1" noTextEdit="1"/>
              </p:cNvSpPr>
              <p:nvPr/>
            </p:nvSpPr>
            <p:spPr>
              <a:xfrm>
                <a:off x="916650" y="985339"/>
                <a:ext cx="11044291" cy="492443"/>
              </a:xfrm>
              <a:prstGeom prst="rect">
                <a:avLst/>
              </a:prstGeom>
              <a:blipFill>
                <a:blip r:embed="rId3"/>
                <a:stretch>
                  <a:fillRect l="-993" t="-11250" b="-3250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5" name="Google Shape;310;p34">
                <a:extLst>
                  <a:ext uri="{FF2B5EF4-FFF2-40B4-BE49-F238E27FC236}">
                    <a16:creationId xmlns:a16="http://schemas.microsoft.com/office/drawing/2014/main" id="{74048116-F8B3-487E-B641-CCAA4370A901}"/>
                  </a:ext>
                </a:extLst>
              </p:cNvPr>
              <p:cNvSpPr txBox="1">
                <a:spLocks/>
              </p:cNvSpPr>
              <p:nvPr/>
            </p:nvSpPr>
            <p:spPr>
              <a:xfrm>
                <a:off x="916651" y="1477783"/>
                <a:ext cx="7033550" cy="27640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La unión de </a:t>
                </a:r>
                <a14:m>
                  <m:oMath xmlns:m="http://schemas.openxmlformats.org/officeDocument/2006/math">
                    <m:r>
                      <a:rPr lang="es-MX" sz="2000" b="0" i="1" smtClean="0">
                        <a:latin typeface="+mn-lt"/>
                        <a:ea typeface="Cambria Math" panose="02040503050406030204" pitchFamily="18" charset="0"/>
                      </a:rPr>
                      <m:t>𝐴</m:t>
                    </m:r>
                  </m:oMath>
                </a14:m>
                <a:r>
                  <a:rPr lang="es-MX" sz="2000" dirty="0">
                    <a:latin typeface="+mn-lt"/>
                    <a:ea typeface="Roboto" panose="02000000000000000000" pitchFamily="2" charset="0"/>
                  </a:rPr>
                  <a:t> y </a:t>
                </a:r>
                <a14:m>
                  <m:oMath xmlns:m="http://schemas.openxmlformats.org/officeDocument/2006/math">
                    <m:r>
                      <a:rPr lang="es-MX" sz="2000" b="0" i="1" smtClean="0">
                        <a:latin typeface="+mn-lt"/>
                        <a:ea typeface="Cambria Math" panose="02040503050406030204" pitchFamily="18" charset="0"/>
                      </a:rPr>
                      <m:t>𝐵</m:t>
                    </m:r>
                  </m:oMath>
                </a14:m>
                <a:r>
                  <a:rPr lang="es-MX" sz="2000" dirty="0">
                    <a:latin typeface="+mn-lt"/>
                    <a:ea typeface="Roboto" panose="02000000000000000000" pitchFamily="2" charset="0"/>
                  </a:rPr>
                  <a:t> es el conjunto de todos los elementos que pertenecen a </a:t>
                </a:r>
                <a14:m>
                  <m:oMath xmlns:m="http://schemas.openxmlformats.org/officeDocument/2006/math">
                    <m:r>
                      <a:rPr lang="es-MX" sz="2000" i="1">
                        <a:latin typeface="+mn-lt"/>
                        <a:ea typeface="Cambria Math" panose="02040503050406030204" pitchFamily="18" charset="0"/>
                      </a:rPr>
                      <m:t>𝐴</m:t>
                    </m:r>
                  </m:oMath>
                </a14:m>
                <a:r>
                  <a:rPr lang="es-MX" sz="2000" dirty="0">
                    <a:latin typeface="+mn-lt"/>
                    <a:ea typeface="Roboto" panose="02000000000000000000" pitchFamily="2" charset="0"/>
                  </a:rPr>
                  <a:t>, a </a:t>
                </a:r>
                <a14:m>
                  <m:oMath xmlns:m="http://schemas.openxmlformats.org/officeDocument/2006/math">
                    <m:r>
                      <a:rPr lang="es-MX" sz="2000" b="0" i="1" smtClean="0">
                        <a:latin typeface="+mn-lt"/>
                        <a:ea typeface="Cambria Math" panose="02040503050406030204" pitchFamily="18" charset="0"/>
                      </a:rPr>
                      <m:t>𝐵</m:t>
                    </m:r>
                  </m:oMath>
                </a14:m>
                <a:r>
                  <a:rPr lang="es-MX" sz="2000" dirty="0">
                    <a:latin typeface="+mn-lt"/>
                    <a:ea typeface="Roboto" panose="02000000000000000000" pitchFamily="2" charset="0"/>
                  </a:rPr>
                  <a:t>, o a ambos.</a:t>
                </a:r>
              </a:p>
              <a:p>
                <a:r>
                  <a:rPr lang="es-MX" sz="2000" b="1" dirty="0">
                    <a:latin typeface="+mn-lt"/>
                    <a:ea typeface="Roboto" panose="02000000000000000000" pitchFamily="2" charset="0"/>
                  </a:rPr>
                  <a:t>Definición formal</a:t>
                </a:r>
                <a:r>
                  <a:rPr lang="es-MX" sz="2000" dirty="0">
                    <a:latin typeface="+mn-lt"/>
                    <a:ea typeface="Roboto" panose="02000000000000000000" pitchFamily="2" charset="0"/>
                  </a:rPr>
                  <a:t>:</a:t>
                </a:r>
              </a:p>
              <a:p>
                <a:endParaRPr lang="es-MX" sz="2000" dirty="0">
                  <a:latin typeface="+mn-lt"/>
                  <a:ea typeface="Roboto" panose="02000000000000000000" pitchFamily="2" charset="0"/>
                </a:endParaRPr>
              </a:p>
              <a:p>
                <a:endParaRPr lang="es-MX" sz="2000" b="1" dirty="0">
                  <a:latin typeface="+mn-lt"/>
                  <a:ea typeface="Roboto" panose="02000000000000000000" pitchFamily="2" charset="0"/>
                </a:endParaRPr>
              </a:p>
              <a:p>
                <a:endParaRPr lang="es-MX" sz="2000" b="1" dirty="0">
                  <a:latin typeface="+mn-lt"/>
                  <a:ea typeface="Roboto" panose="02000000000000000000" pitchFamily="2" charset="0"/>
                </a:endParaRPr>
              </a:p>
              <a:p>
                <a:endParaRPr lang="es-MX" sz="2000" b="1" dirty="0">
                  <a:latin typeface="+mn-lt"/>
                  <a:ea typeface="Roboto" panose="02000000000000000000" pitchFamily="2" charset="0"/>
                </a:endParaRPr>
              </a:p>
              <a:p>
                <a:endParaRPr lang="es-MX" sz="1800" dirty="0">
                  <a:latin typeface="+mn-lt"/>
                  <a:ea typeface="Roboto" panose="02000000000000000000" pitchFamily="2" charset="0"/>
                </a:endParaRPr>
              </a:p>
            </p:txBody>
          </p:sp>
        </mc:Choice>
        <mc:Fallback>
          <p:sp>
            <p:nvSpPr>
              <p:cNvPr id="5" name="Google Shape;310;p34">
                <a:extLst>
                  <a:ext uri="{FF2B5EF4-FFF2-40B4-BE49-F238E27FC236}">
                    <a16:creationId xmlns:a16="http://schemas.microsoft.com/office/drawing/2014/main" id="{74048116-F8B3-487E-B641-CCAA4370A901}"/>
                  </a:ext>
                </a:extLst>
              </p:cNvPr>
              <p:cNvSpPr txBox="1">
                <a:spLocks noRot="1" noChangeAspect="1" noMove="1" noResize="1" noEditPoints="1" noAdjustHandles="1" noChangeArrowheads="1" noChangeShapeType="1" noTextEdit="1"/>
              </p:cNvSpPr>
              <p:nvPr/>
            </p:nvSpPr>
            <p:spPr>
              <a:xfrm>
                <a:off x="916651" y="1477783"/>
                <a:ext cx="7033550" cy="2764018"/>
              </a:xfrm>
              <a:prstGeom prst="rect">
                <a:avLst/>
              </a:prstGeom>
              <a:blipFill>
                <a:blip r:embed="rId4"/>
                <a:stretch>
                  <a:fillRect/>
                </a:stretch>
              </a:blipFill>
              <a:ln>
                <a:noFill/>
              </a:ln>
            </p:spPr>
            <p:txBody>
              <a:bodyPr/>
              <a:lstStyle/>
              <a:p>
                <a:r>
                  <a:rPr lang="es-CO">
                    <a:noFill/>
                  </a:rPr>
                  <a:t> </a:t>
                </a:r>
              </a:p>
            </p:txBody>
          </p:sp>
        </mc:Fallback>
      </mc:AlternateContent>
      <p:pic>
        <p:nvPicPr>
          <p:cNvPr id="4" name="Imagen 3">
            <a:extLst>
              <a:ext uri="{FF2B5EF4-FFF2-40B4-BE49-F238E27FC236}">
                <a16:creationId xmlns:a16="http://schemas.microsoft.com/office/drawing/2014/main" id="{BC20E4E9-62D4-4A37-9915-F9AFDB4EC5B1}"/>
              </a:ext>
            </a:extLst>
          </p:cNvPr>
          <p:cNvPicPr>
            <a:picLocks noChangeAspect="1"/>
          </p:cNvPicPr>
          <p:nvPr/>
        </p:nvPicPr>
        <p:blipFill>
          <a:blip r:embed="rId5"/>
          <a:stretch>
            <a:fillRect/>
          </a:stretch>
        </p:blipFill>
        <p:spPr>
          <a:xfrm>
            <a:off x="7609407" y="1672318"/>
            <a:ext cx="4288034" cy="2569483"/>
          </a:xfrm>
          <a:prstGeom prst="rect">
            <a:avLst/>
          </a:prstGeom>
        </p:spPr>
      </p:pic>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01F8B108-D5A8-4460-ADB2-888D6A903DEA}"/>
                  </a:ext>
                </a:extLst>
              </p:cNvPr>
              <p:cNvSpPr txBox="1"/>
              <p:nvPr/>
            </p:nvSpPr>
            <p:spPr>
              <a:xfrm>
                <a:off x="2711751" y="2952701"/>
                <a:ext cx="3005053" cy="307777"/>
              </a:xfrm>
              <a:prstGeom prst="rect">
                <a:avLst/>
              </a:prstGeom>
              <a:solidFill>
                <a:schemeClr val="bg1">
                  <a:lumMod val="95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000" i="1">
                          <a:latin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m:t>
                      </m:r>
                      <m:d>
                        <m:dPr>
                          <m:begChr m:val="{"/>
                          <m:endChr m:val="}"/>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e>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e>
                      </m:d>
                    </m:oMath>
                  </m:oMathPara>
                </a14:m>
                <a:endParaRPr lang="es-MX" sz="2000" dirty="0">
                  <a:latin typeface="Roboto" panose="02000000000000000000" pitchFamily="2" charset="0"/>
                  <a:ea typeface="Cambria Math" panose="02040503050406030204" pitchFamily="18" charset="0"/>
                </a:endParaRPr>
              </a:p>
            </p:txBody>
          </p:sp>
        </mc:Choice>
        <mc:Fallback xmlns="">
          <p:sp>
            <p:nvSpPr>
              <p:cNvPr id="6" name="CuadroTexto 5">
                <a:extLst>
                  <a:ext uri="{FF2B5EF4-FFF2-40B4-BE49-F238E27FC236}">
                    <a16:creationId xmlns:a16="http://schemas.microsoft.com/office/drawing/2014/main" id="{01F8B108-D5A8-4460-ADB2-888D6A903DEA}"/>
                  </a:ext>
                </a:extLst>
              </p:cNvPr>
              <p:cNvSpPr txBox="1">
                <a:spLocks noRot="1" noChangeAspect="1" noMove="1" noResize="1" noEditPoints="1" noAdjustHandles="1" noChangeArrowheads="1" noChangeShapeType="1" noTextEdit="1"/>
              </p:cNvSpPr>
              <p:nvPr/>
            </p:nvSpPr>
            <p:spPr>
              <a:xfrm>
                <a:off x="2711751" y="2952701"/>
                <a:ext cx="3005053" cy="307777"/>
              </a:xfrm>
              <a:prstGeom prst="rect">
                <a:avLst/>
              </a:prstGeom>
              <a:blipFill>
                <a:blip r:embed="rId6"/>
                <a:stretch>
                  <a:fillRect l="-1623" b="-7843"/>
                </a:stretch>
              </a:blipFill>
            </p:spPr>
            <p:txBody>
              <a:bodyPr/>
              <a:lstStyle/>
              <a:p>
                <a:r>
                  <a:rPr lang="es-CO">
                    <a:noFill/>
                  </a:rPr>
                  <a:t> </a:t>
                </a:r>
              </a:p>
            </p:txBody>
          </p:sp>
        </mc:Fallback>
      </mc:AlternateContent>
      <p:sp>
        <p:nvSpPr>
          <p:cNvPr id="14" name="Google Shape;310;p34">
            <a:extLst>
              <a:ext uri="{FF2B5EF4-FFF2-40B4-BE49-F238E27FC236}">
                <a16:creationId xmlns:a16="http://schemas.microsoft.com/office/drawing/2014/main" id="{35D3C228-B308-4C1D-BCAE-561214ED586F}"/>
              </a:ext>
            </a:extLst>
          </p:cNvPr>
          <p:cNvSpPr txBox="1">
            <a:spLocks/>
          </p:cNvSpPr>
          <p:nvPr/>
        </p:nvSpPr>
        <p:spPr>
          <a:xfrm>
            <a:off x="741309" y="4113905"/>
            <a:ext cx="11044291" cy="103082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1600" b="1" dirty="0">
                <a:latin typeface="+mn-lt"/>
                <a:ea typeface="Roboto" panose="02000000000000000000" pitchFamily="2" charset="0"/>
              </a:rPr>
              <a:t>Ejemplo: </a:t>
            </a:r>
            <a:r>
              <a:rPr lang="es-MX" sz="1600" dirty="0">
                <a:latin typeface="+mn-lt"/>
                <a:ea typeface="Roboto" panose="02000000000000000000" pitchFamily="2" charset="0"/>
              </a:rPr>
              <a:t>Sea A el conjunto de todas las letras que conforman la palabra calculo ‘calculo’ y B el conjunto asociado de letras que aparecen en ‘matemáticas discretas’. Determine:</a:t>
            </a:r>
          </a:p>
          <a:p>
            <a:pPr marL="469900" indent="-342900">
              <a:buFont typeface="+mj-lt"/>
              <a:buAutoNum type="arabicPeriod" startAt="4"/>
            </a:pPr>
            <a:r>
              <a:rPr lang="es-MX" sz="1600" dirty="0">
                <a:latin typeface="+mn-lt"/>
                <a:ea typeface="Roboto" panose="02000000000000000000" pitchFamily="2" charset="0"/>
              </a:rPr>
              <a:t>Las letras que aparecen en cualquiera de los dos conjuntos.</a:t>
            </a:r>
          </a:p>
          <a:p>
            <a:endParaRPr lang="es-MX" sz="1800" dirty="0">
              <a:latin typeface="+mn-lt"/>
              <a:ea typeface="Roboto" panose="02000000000000000000" pitchFamily="2" charset="0"/>
            </a:endParaRPr>
          </a:p>
        </p:txBody>
      </p:sp>
      <p:sp>
        <p:nvSpPr>
          <p:cNvPr id="15" name="CuadroTexto 14">
            <a:extLst>
              <a:ext uri="{FF2B5EF4-FFF2-40B4-BE49-F238E27FC236}">
                <a16:creationId xmlns:a16="http://schemas.microsoft.com/office/drawing/2014/main" id="{23748291-A34F-405E-A619-B48619CDF5E0}"/>
              </a:ext>
            </a:extLst>
          </p:cNvPr>
          <p:cNvSpPr txBox="1"/>
          <p:nvPr/>
        </p:nvSpPr>
        <p:spPr>
          <a:xfrm>
            <a:off x="1854200" y="5537200"/>
            <a:ext cx="1701800" cy="460961"/>
          </a:xfrm>
          <a:prstGeom prst="rect">
            <a:avLst/>
          </a:prstGeom>
          <a:noFill/>
        </p:spPr>
        <p:txBody>
          <a:bodyPr wrap="square" rtlCol="0">
            <a:spAutoFit/>
          </a:bodyPr>
          <a:lstStyle/>
          <a:p>
            <a:endParaRPr lang="es-CO" dirty="0"/>
          </a:p>
        </p:txBody>
      </p: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95E61BF5-4171-420E-A71E-D7079ED499F3}"/>
                  </a:ext>
                </a:extLst>
              </p:cNvPr>
              <p:cNvSpPr txBox="1"/>
              <p:nvPr/>
            </p:nvSpPr>
            <p:spPr>
              <a:xfrm>
                <a:off x="1128863" y="5380217"/>
                <a:ext cx="3590599" cy="1107996"/>
              </a:xfrm>
              <a:prstGeom prst="rect">
                <a:avLst/>
              </a:prstGeom>
              <a:noFill/>
            </p:spPr>
            <p:txBody>
              <a:bodyPr wrap="square" rtlCol="0">
                <a:spAutoFit/>
              </a:bodyPr>
              <a:lstStyle/>
              <a:p>
                <a:r>
                  <a:rPr lang="es-CO" sz="1600" b="1" dirty="0"/>
                  <a:t>Solución</a:t>
                </a:r>
                <a:r>
                  <a:rPr lang="es-CO" sz="1600" dirty="0"/>
                  <a:t>:</a:t>
                </a:r>
              </a:p>
              <a:p>
                <a:pPr marL="285750" indent="-285750">
                  <a:buFont typeface="Arial" panose="020B0604020202020204" pitchFamily="34" charset="0"/>
                  <a:buChar char="•"/>
                </a:pPr>
                <a14:m>
                  <m:oMath xmlns:m="http://schemas.openxmlformats.org/officeDocument/2006/math">
                    <m:r>
                      <a:rPr lang="es-MX" sz="1600" b="0" i="1" smtClean="0">
                        <a:solidFill>
                          <a:schemeClr val="accent5"/>
                        </a:solidFill>
                        <a:latin typeface="Cambria Math" panose="02040503050406030204" pitchFamily="18" charset="0"/>
                        <a:ea typeface="Roboto" panose="02000000000000000000" pitchFamily="2" charset="0"/>
                      </a:rPr>
                      <m:t>𝐴</m:t>
                    </m:r>
                    <m:r>
                      <a:rPr lang="es-MX" sz="1600" b="0" i="1" smtClean="0">
                        <a:solidFill>
                          <a:schemeClr val="accent5"/>
                        </a:solidFill>
                        <a:latin typeface="Cambria Math" panose="02040503050406030204" pitchFamily="18" charset="0"/>
                        <a:ea typeface="Roboto" panose="02000000000000000000" pitchFamily="2" charset="0"/>
                      </a:rPr>
                      <m:t>=</m:t>
                    </m:r>
                    <m:d>
                      <m:dPr>
                        <m:begChr m:val="{"/>
                        <m:endChr m:val="}"/>
                        <m:ctrlPr>
                          <a:rPr lang="es-MX" sz="1600" b="0" i="1" smtClean="0">
                            <a:solidFill>
                              <a:schemeClr val="accent5"/>
                            </a:solidFill>
                            <a:latin typeface="Cambria Math" panose="02040503050406030204" pitchFamily="18" charset="0"/>
                            <a:ea typeface="Roboto" panose="02000000000000000000" pitchFamily="2" charset="0"/>
                          </a:rPr>
                        </m:ctrlPr>
                      </m:dPr>
                      <m:e>
                        <m:r>
                          <a:rPr lang="es-MX" sz="1600" b="0" i="1" smtClean="0">
                            <a:solidFill>
                              <a:schemeClr val="accent5"/>
                            </a:solidFill>
                            <a:latin typeface="Cambria Math" panose="02040503050406030204" pitchFamily="18" charset="0"/>
                            <a:ea typeface="Roboto" panose="02000000000000000000" pitchFamily="2" charset="0"/>
                          </a:rPr>
                          <m:t>𝑐</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𝑎</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𝑙</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𝑢</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𝑜</m:t>
                        </m:r>
                      </m:e>
                    </m:d>
                  </m:oMath>
                </a14:m>
                <a:endParaRPr lang="es-MX" sz="1600" b="0" dirty="0">
                  <a:latin typeface="Roboto" panose="02000000000000000000" pitchFamily="2" charset="0"/>
                  <a:ea typeface="Roboto" panose="02000000000000000000" pitchFamily="2" charset="0"/>
                </a:endParaRPr>
              </a:p>
              <a:p>
                <a:pPr marL="285750" indent="-285750">
                  <a:buFont typeface="Arial" panose="020B0604020202020204" pitchFamily="34" charset="0"/>
                  <a:buChar char="•"/>
                </a:pPr>
                <a14:m>
                  <m:oMath xmlns:m="http://schemas.openxmlformats.org/officeDocument/2006/math">
                    <m:r>
                      <a:rPr lang="es-MX" sz="1600" b="0" i="1" smtClean="0">
                        <a:solidFill>
                          <a:schemeClr val="accent2"/>
                        </a:solidFill>
                        <a:latin typeface="Cambria Math" panose="02040503050406030204" pitchFamily="18" charset="0"/>
                        <a:ea typeface="Roboto" panose="02000000000000000000" pitchFamily="2" charset="0"/>
                      </a:rPr>
                      <m:t>𝐵</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𝑚</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𝑎</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𝑡</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𝑒</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𝑖</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𝑐</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𝑠</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𝑑</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𝑟</m:t>
                    </m:r>
                    <m:r>
                      <a:rPr lang="es-MX" sz="1600" b="0" i="1" smtClean="0">
                        <a:solidFill>
                          <a:schemeClr val="accent2"/>
                        </a:solidFill>
                        <a:latin typeface="Cambria Math" panose="02040503050406030204" pitchFamily="18" charset="0"/>
                        <a:ea typeface="Roboto" panose="02000000000000000000" pitchFamily="2" charset="0"/>
                      </a:rPr>
                      <m:t>}</m:t>
                    </m:r>
                  </m:oMath>
                </a14:m>
                <a:endParaRPr lang="es-CO" sz="1600" dirty="0">
                  <a:solidFill>
                    <a:schemeClr val="accent2"/>
                  </a:solidFill>
                  <a:latin typeface="Roboto" panose="02000000000000000000" pitchFamily="2" charset="0"/>
                  <a:ea typeface="Roboto" panose="02000000000000000000" pitchFamily="2" charset="0"/>
                </a:endParaRPr>
              </a:p>
              <a:p>
                <a:pPr marL="285750" indent="-285750">
                  <a:buFont typeface="Arial" panose="020B0604020202020204" pitchFamily="34" charset="0"/>
                  <a:buChar char="•"/>
                </a:pPr>
                <a14:m>
                  <m:oMath xmlns:m="http://schemas.openxmlformats.org/officeDocument/2006/math">
                    <m:r>
                      <a:rPr lang="es-MX" sz="1600" b="0" i="1" smtClean="0">
                        <a:latin typeface="Cambria Math" panose="02040503050406030204" pitchFamily="18" charset="0"/>
                        <a:ea typeface="Roboto" panose="02000000000000000000" pitchFamily="2" charset="0"/>
                      </a:rPr>
                      <m:t>𝐴</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𝐵</m:t>
                    </m:r>
                    <m:r>
                      <a:rPr lang="es-MX" sz="1600" b="0" i="1" smtClean="0">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𝑚</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𝑎</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𝑡</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𝑒</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𝑖</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𝑐</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𝑠</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𝑑</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𝑟</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𝑙</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𝑢</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𝑜</m:t>
                    </m:r>
                    <m:r>
                      <a:rPr lang="es-MX" sz="1600" b="0" i="1" smtClean="0">
                        <a:latin typeface="Cambria Math" panose="02040503050406030204" pitchFamily="18" charset="0"/>
                        <a:ea typeface="Roboto" panose="02000000000000000000" pitchFamily="2" charset="0"/>
                      </a:rPr>
                      <m:t>}</m:t>
                    </m:r>
                  </m:oMath>
                </a14:m>
                <a:endParaRPr lang="es-CO" sz="1600" dirty="0"/>
              </a:p>
            </p:txBody>
          </p:sp>
        </mc:Choice>
        <mc:Fallback>
          <p:sp>
            <p:nvSpPr>
              <p:cNvPr id="16" name="CuadroTexto 15">
                <a:extLst>
                  <a:ext uri="{FF2B5EF4-FFF2-40B4-BE49-F238E27FC236}">
                    <a16:creationId xmlns:a16="http://schemas.microsoft.com/office/drawing/2014/main" id="{95E61BF5-4171-420E-A71E-D7079ED499F3}"/>
                  </a:ext>
                </a:extLst>
              </p:cNvPr>
              <p:cNvSpPr txBox="1">
                <a:spLocks noRot="1" noChangeAspect="1" noMove="1" noResize="1" noEditPoints="1" noAdjustHandles="1" noChangeArrowheads="1" noChangeShapeType="1" noTextEdit="1"/>
              </p:cNvSpPr>
              <p:nvPr/>
            </p:nvSpPr>
            <p:spPr>
              <a:xfrm>
                <a:off x="1128863" y="5380217"/>
                <a:ext cx="3590599" cy="1107996"/>
              </a:xfrm>
              <a:prstGeom prst="rect">
                <a:avLst/>
              </a:prstGeom>
              <a:blipFill>
                <a:blip r:embed="rId7"/>
                <a:stretch>
                  <a:fillRect l="-849" t="-1657" b="-1657"/>
                </a:stretch>
              </a:blipFill>
            </p:spPr>
            <p:txBody>
              <a:bodyPr/>
              <a:lstStyle/>
              <a:p>
                <a:r>
                  <a:rPr lang="es-CO">
                    <a:noFill/>
                  </a:rPr>
                  <a:t> </a:t>
                </a:r>
              </a:p>
            </p:txBody>
          </p:sp>
        </mc:Fallback>
      </mc:AlternateContent>
      <p:grpSp>
        <p:nvGrpSpPr>
          <p:cNvPr id="18" name="Grupo 17">
            <a:extLst>
              <a:ext uri="{FF2B5EF4-FFF2-40B4-BE49-F238E27FC236}">
                <a16:creationId xmlns:a16="http://schemas.microsoft.com/office/drawing/2014/main" id="{DC60FBB5-9869-4C38-86D3-6927C3EE74D7}"/>
              </a:ext>
            </a:extLst>
          </p:cNvPr>
          <p:cNvGrpSpPr/>
          <p:nvPr/>
        </p:nvGrpSpPr>
        <p:grpSpPr>
          <a:xfrm>
            <a:off x="5409094" y="5189182"/>
            <a:ext cx="3110210" cy="1497394"/>
            <a:chOff x="5409094" y="5189182"/>
            <a:chExt cx="3110210" cy="1497394"/>
          </a:xfrm>
        </p:grpSpPr>
        <p:pic>
          <p:nvPicPr>
            <p:cNvPr id="13" name="Imagen 12">
              <a:extLst>
                <a:ext uri="{FF2B5EF4-FFF2-40B4-BE49-F238E27FC236}">
                  <a16:creationId xmlns:a16="http://schemas.microsoft.com/office/drawing/2014/main" id="{FD24BAC1-9211-4180-8792-E2520978280B}"/>
                </a:ext>
              </a:extLst>
            </p:cNvPr>
            <p:cNvPicPr>
              <a:picLocks noChangeAspect="1"/>
            </p:cNvPicPr>
            <p:nvPr/>
          </p:nvPicPr>
          <p:blipFill>
            <a:blip r:embed="rId8"/>
            <a:stretch>
              <a:fillRect/>
            </a:stretch>
          </p:blipFill>
          <p:spPr>
            <a:xfrm>
              <a:off x="5444799" y="5189182"/>
              <a:ext cx="3038801" cy="1156995"/>
            </a:xfrm>
            <a:prstGeom prst="rect">
              <a:avLst/>
            </a:prstGeom>
          </p:spPr>
        </p:pic>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A3FF6A88-FE3A-4E2D-B198-D72D99815A63}"/>
                    </a:ext>
                  </a:extLst>
                </p:cNvPr>
                <p:cNvSpPr txBox="1"/>
                <p:nvPr/>
              </p:nvSpPr>
              <p:spPr>
                <a:xfrm>
                  <a:off x="5409094" y="6440355"/>
                  <a:ext cx="3110210" cy="246221"/>
                </a:xfrm>
                <a:prstGeom prst="rect">
                  <a:avLst/>
                </a:prstGeom>
                <a:no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1600" i="1">
                            <a:latin typeface="Cambria Math" panose="02040503050406030204" pitchFamily="18" charset="0"/>
                            <a:ea typeface="Roboto" panose="02000000000000000000" pitchFamily="2" charset="0"/>
                          </a:rPr>
                          <m:t>𝐴</m:t>
                        </m:r>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𝐵</m:t>
                        </m:r>
                        <m:r>
                          <a:rPr lang="es-MX" sz="1600" i="1">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𝑚</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𝑎</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𝑡</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𝑒</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𝑖</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𝑐</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𝑠</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𝑑</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𝑟</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5"/>
                            </a:solidFill>
                            <a:latin typeface="Cambria Math" panose="02040503050406030204" pitchFamily="18" charset="0"/>
                            <a:ea typeface="Roboto" panose="02000000000000000000" pitchFamily="2" charset="0"/>
                          </a:rPr>
                          <m:t>𝑙</m:t>
                        </m:r>
                        <m:r>
                          <a:rPr lang="es-MX" sz="1600" i="1">
                            <a:solidFill>
                              <a:schemeClr val="accent5"/>
                            </a:solidFill>
                            <a:latin typeface="Cambria Math" panose="02040503050406030204" pitchFamily="18" charset="0"/>
                            <a:ea typeface="Roboto" panose="02000000000000000000" pitchFamily="2" charset="0"/>
                          </a:rPr>
                          <m:t>,</m:t>
                        </m:r>
                        <m:r>
                          <a:rPr lang="es-MX" sz="1600" i="1">
                            <a:solidFill>
                              <a:schemeClr val="accent5"/>
                            </a:solidFill>
                            <a:latin typeface="Cambria Math" panose="02040503050406030204" pitchFamily="18" charset="0"/>
                            <a:ea typeface="Roboto" panose="02000000000000000000" pitchFamily="2" charset="0"/>
                          </a:rPr>
                          <m:t>𝑢</m:t>
                        </m:r>
                        <m:r>
                          <a:rPr lang="es-MX" sz="1600" i="1">
                            <a:solidFill>
                              <a:schemeClr val="accent5"/>
                            </a:solidFill>
                            <a:latin typeface="Cambria Math" panose="02040503050406030204" pitchFamily="18" charset="0"/>
                            <a:ea typeface="Roboto" panose="02000000000000000000" pitchFamily="2" charset="0"/>
                          </a:rPr>
                          <m:t>,</m:t>
                        </m:r>
                        <m:r>
                          <a:rPr lang="es-MX" sz="1600" i="1">
                            <a:solidFill>
                              <a:schemeClr val="accent5"/>
                            </a:solidFill>
                            <a:latin typeface="Cambria Math" panose="02040503050406030204" pitchFamily="18" charset="0"/>
                            <a:ea typeface="Roboto" panose="02000000000000000000" pitchFamily="2" charset="0"/>
                          </a:rPr>
                          <m:t>𝑜</m:t>
                        </m:r>
                        <m:r>
                          <a:rPr lang="es-MX" sz="1600" i="1">
                            <a:latin typeface="Cambria Math" panose="02040503050406030204" pitchFamily="18" charset="0"/>
                            <a:ea typeface="Roboto" panose="02000000000000000000" pitchFamily="2" charset="0"/>
                          </a:rPr>
                          <m:t>}</m:t>
                        </m:r>
                      </m:oMath>
                    </m:oMathPara>
                  </a14:m>
                  <a:endParaRPr lang="es-MX" sz="1600" dirty="0">
                    <a:latin typeface="Roboto" panose="02000000000000000000" pitchFamily="2" charset="0"/>
                    <a:ea typeface="Cambria Math" panose="02040503050406030204" pitchFamily="18" charset="0"/>
                  </a:endParaRPr>
                </a:p>
              </p:txBody>
            </p:sp>
          </mc:Choice>
          <mc:Fallback xmlns="">
            <p:sp>
              <p:nvSpPr>
                <p:cNvPr id="17" name="CuadroTexto 16">
                  <a:extLst>
                    <a:ext uri="{FF2B5EF4-FFF2-40B4-BE49-F238E27FC236}">
                      <a16:creationId xmlns:a16="http://schemas.microsoft.com/office/drawing/2014/main" id="{A3FF6A88-FE3A-4E2D-B198-D72D99815A63}"/>
                    </a:ext>
                  </a:extLst>
                </p:cNvPr>
                <p:cNvSpPr txBox="1">
                  <a:spLocks noRot="1" noChangeAspect="1" noMove="1" noResize="1" noEditPoints="1" noAdjustHandles="1" noChangeArrowheads="1" noChangeShapeType="1" noTextEdit="1"/>
                </p:cNvSpPr>
                <p:nvPr/>
              </p:nvSpPr>
              <p:spPr>
                <a:xfrm>
                  <a:off x="5409094" y="6440355"/>
                  <a:ext cx="3110210" cy="246221"/>
                </a:xfrm>
                <a:prstGeom prst="rect">
                  <a:avLst/>
                </a:prstGeom>
                <a:blipFill>
                  <a:blip r:embed="rId9"/>
                  <a:stretch>
                    <a:fillRect l="-585" r="-1559" b="-30233"/>
                  </a:stretch>
                </a:blipFill>
                <a:ln>
                  <a:solidFill>
                    <a:schemeClr val="tx1"/>
                  </a:solidFill>
                </a:ln>
              </p:spPr>
              <p:txBody>
                <a:bodyPr/>
                <a:lstStyle/>
                <a:p>
                  <a:r>
                    <a:rPr lang="es-CO">
                      <a:noFill/>
                    </a:rPr>
                    <a:t> </a:t>
                  </a:r>
                </a:p>
              </p:txBody>
            </p:sp>
          </mc:Fallback>
        </mc:AlternateContent>
      </p:grpSp>
    </p:spTree>
    <p:extLst>
      <p:ext uri="{BB962C8B-B14F-4D97-AF65-F5344CB8AC3E}">
        <p14:creationId xmlns:p14="http://schemas.microsoft.com/office/powerpoint/2010/main" val="3323282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p:txBody>
          <a:bodyPr/>
          <a:lstStyle/>
          <a:p>
            <a:r>
              <a:rPr lang="es-CO" dirty="0">
                <a:latin typeface="+mj-lt"/>
              </a:rPr>
              <a:t>Operaciones entre conjuntos</a:t>
            </a:r>
          </a:p>
        </p:txBody>
      </p:sp>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A19C6E9F-BCCF-4FD4-8EC3-574D66199786}"/>
                  </a:ext>
                </a:extLst>
              </p:cNvPr>
              <p:cNvSpPr txBox="1"/>
              <p:nvPr/>
            </p:nvSpPr>
            <p:spPr>
              <a:xfrm>
                <a:off x="916650" y="985339"/>
                <a:ext cx="11044291"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Intersección (</a:t>
                </a:r>
                <a14:m>
                  <m:oMath xmlns:m="http://schemas.openxmlformats.org/officeDocument/2006/math">
                    <m:r>
                      <a:rPr lang="es-MX" sz="2600" b="1" i="1" smtClean="0">
                        <a:solidFill>
                          <a:schemeClr val="accent6"/>
                        </a:solidFill>
                        <a:ea typeface="Roboto" panose="02000000000000000000" pitchFamily="2" charset="0"/>
                      </a:rPr>
                      <m:t>𝑨</m:t>
                    </m:r>
                    <m:r>
                      <a:rPr lang="es-MX" sz="2600" b="1" i="1" smtClean="0">
                        <a:solidFill>
                          <a:schemeClr val="accent6"/>
                        </a:solidFill>
                        <a:ea typeface="Cambria Math" panose="02040503050406030204" pitchFamily="18" charset="0"/>
                      </a:rPr>
                      <m:t>∩</m:t>
                    </m:r>
                    <m:r>
                      <a:rPr lang="es-MX" sz="2600" b="1" i="1" smtClean="0">
                        <a:solidFill>
                          <a:schemeClr val="accent6"/>
                        </a:solidFill>
                        <a:ea typeface="Cambria Math" panose="02040503050406030204" pitchFamily="18" charset="0"/>
                      </a:rPr>
                      <m:t>𝑩</m:t>
                    </m:r>
                  </m:oMath>
                </a14:m>
                <a:r>
                  <a:rPr lang="es-MX" sz="2600" b="1" dirty="0">
                    <a:solidFill>
                      <a:schemeClr val="accent6"/>
                    </a:solidFill>
                    <a:ea typeface="Roboto" panose="02000000000000000000" pitchFamily="2" charset="0"/>
                  </a:rPr>
                  <a:t>)</a:t>
                </a:r>
              </a:p>
            </p:txBody>
          </p:sp>
        </mc:Choice>
        <mc:Fallback>
          <p:sp>
            <p:nvSpPr>
              <p:cNvPr id="10" name="CuadroTexto 9">
                <a:extLst>
                  <a:ext uri="{FF2B5EF4-FFF2-40B4-BE49-F238E27FC236}">
                    <a16:creationId xmlns:a16="http://schemas.microsoft.com/office/drawing/2014/main" id="{A19C6E9F-BCCF-4FD4-8EC3-574D66199786}"/>
                  </a:ext>
                </a:extLst>
              </p:cNvPr>
              <p:cNvSpPr txBox="1">
                <a:spLocks noRot="1" noChangeAspect="1" noMove="1" noResize="1" noEditPoints="1" noAdjustHandles="1" noChangeArrowheads="1" noChangeShapeType="1" noTextEdit="1"/>
              </p:cNvSpPr>
              <p:nvPr/>
            </p:nvSpPr>
            <p:spPr>
              <a:xfrm>
                <a:off x="916650" y="985339"/>
                <a:ext cx="11044291" cy="492443"/>
              </a:xfrm>
              <a:prstGeom prst="rect">
                <a:avLst/>
              </a:prstGeom>
              <a:blipFill>
                <a:blip r:embed="rId3"/>
                <a:stretch>
                  <a:fillRect l="-993" t="-11250" b="-3250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5" name="Google Shape;310;p34">
                <a:extLst>
                  <a:ext uri="{FF2B5EF4-FFF2-40B4-BE49-F238E27FC236}">
                    <a16:creationId xmlns:a16="http://schemas.microsoft.com/office/drawing/2014/main" id="{74048116-F8B3-487E-B641-CCAA4370A901}"/>
                  </a:ext>
                </a:extLst>
              </p:cNvPr>
              <p:cNvSpPr txBox="1">
                <a:spLocks/>
              </p:cNvSpPr>
              <p:nvPr/>
            </p:nvSpPr>
            <p:spPr>
              <a:xfrm>
                <a:off x="916651" y="1484515"/>
                <a:ext cx="6512850" cy="28783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La unión de </a:t>
                </a:r>
                <a14:m>
                  <m:oMath xmlns:m="http://schemas.openxmlformats.org/officeDocument/2006/math">
                    <m:r>
                      <a:rPr lang="es-MX" sz="2000" b="0" i="1" smtClean="0">
                        <a:latin typeface="+mn-lt"/>
                        <a:ea typeface="Cambria Math" panose="02040503050406030204" pitchFamily="18" charset="0"/>
                      </a:rPr>
                      <m:t>𝐴</m:t>
                    </m:r>
                  </m:oMath>
                </a14:m>
                <a:r>
                  <a:rPr lang="es-MX" sz="2000" dirty="0">
                    <a:latin typeface="+mn-lt"/>
                    <a:ea typeface="Roboto" panose="02000000000000000000" pitchFamily="2" charset="0"/>
                  </a:rPr>
                  <a:t> y </a:t>
                </a:r>
                <a14:m>
                  <m:oMath xmlns:m="http://schemas.openxmlformats.org/officeDocument/2006/math">
                    <m:r>
                      <a:rPr lang="es-MX" sz="2000" b="0" i="1" smtClean="0">
                        <a:latin typeface="+mn-lt"/>
                        <a:ea typeface="Cambria Math" panose="02040503050406030204" pitchFamily="18" charset="0"/>
                      </a:rPr>
                      <m:t>𝐵</m:t>
                    </m:r>
                  </m:oMath>
                </a14:m>
                <a:r>
                  <a:rPr lang="es-MX" sz="2000" dirty="0">
                    <a:latin typeface="+mn-lt"/>
                    <a:ea typeface="Roboto" panose="02000000000000000000" pitchFamily="2" charset="0"/>
                  </a:rPr>
                  <a:t> es el conjunto de elementos que pertenecen a ambos conjuntos simultáneamente.</a:t>
                </a:r>
              </a:p>
              <a:p>
                <a:r>
                  <a:rPr lang="es-MX" sz="2000" b="1" dirty="0">
                    <a:latin typeface="+mn-lt"/>
                    <a:ea typeface="Roboto" panose="02000000000000000000" pitchFamily="2" charset="0"/>
                  </a:rPr>
                  <a:t>Definición formal</a:t>
                </a:r>
                <a:r>
                  <a:rPr lang="es-MX" sz="2000" dirty="0">
                    <a:latin typeface="+mn-lt"/>
                    <a:ea typeface="Roboto" panose="02000000000000000000" pitchFamily="2" charset="0"/>
                  </a:rPr>
                  <a:t>:</a:t>
                </a:r>
              </a:p>
              <a:p>
                <a:endParaRPr lang="es-MX" sz="2000" dirty="0">
                  <a:latin typeface="+mn-lt"/>
                  <a:ea typeface="Roboto" panose="02000000000000000000" pitchFamily="2" charset="0"/>
                </a:endParaRPr>
              </a:p>
              <a:p>
                <a:pPr lvl="1"/>
                <a:endParaRPr lang="es-MX" sz="1800" b="1" dirty="0">
                  <a:latin typeface="+mn-lt"/>
                  <a:ea typeface="Roboto" panose="02000000000000000000" pitchFamily="2" charset="0"/>
                </a:endParaRPr>
              </a:p>
            </p:txBody>
          </p:sp>
        </mc:Choice>
        <mc:Fallback>
          <p:sp>
            <p:nvSpPr>
              <p:cNvPr id="5" name="Google Shape;310;p34">
                <a:extLst>
                  <a:ext uri="{FF2B5EF4-FFF2-40B4-BE49-F238E27FC236}">
                    <a16:creationId xmlns:a16="http://schemas.microsoft.com/office/drawing/2014/main" id="{74048116-F8B3-487E-B641-CCAA4370A901}"/>
                  </a:ext>
                </a:extLst>
              </p:cNvPr>
              <p:cNvSpPr txBox="1">
                <a:spLocks noRot="1" noChangeAspect="1" noMove="1" noResize="1" noEditPoints="1" noAdjustHandles="1" noChangeArrowheads="1" noChangeShapeType="1" noTextEdit="1"/>
              </p:cNvSpPr>
              <p:nvPr/>
            </p:nvSpPr>
            <p:spPr>
              <a:xfrm>
                <a:off x="916651" y="1484515"/>
                <a:ext cx="6512850" cy="2878318"/>
              </a:xfrm>
              <a:prstGeom prst="rect">
                <a:avLst/>
              </a:prstGeom>
              <a:blipFill>
                <a:blip r:embed="rId4"/>
                <a:stretch>
                  <a:fillRect/>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CF20BE0B-4DFD-4F2D-9A71-D1B0D1AD7515}"/>
                  </a:ext>
                </a:extLst>
              </p:cNvPr>
              <p:cNvSpPr txBox="1"/>
              <p:nvPr/>
            </p:nvSpPr>
            <p:spPr>
              <a:xfrm>
                <a:off x="2606429" y="3275111"/>
                <a:ext cx="3133294" cy="307777"/>
              </a:xfrm>
              <a:prstGeom prst="rect">
                <a:avLst/>
              </a:prstGeom>
              <a:solidFill>
                <a:schemeClr val="bg1">
                  <a:lumMod val="95000"/>
                </a:schemeClr>
              </a:solidFill>
            </p:spPr>
            <p:txBody>
              <a:bodyPr wrap="none" lIns="0" tIns="0" rIns="0" bIns="0" rtlCol="0">
                <a:spAutoFit/>
              </a:bodyPr>
              <a:lstStyle/>
              <a:p>
                <a:pPr marL="127000" indent="0">
                  <a:buNone/>
                </a:pPr>
                <a14:m>
                  <m:oMathPara xmlns:m="http://schemas.openxmlformats.org/officeDocument/2006/math">
                    <m:oMathParaPr>
                      <m:jc m:val="centerGroup"/>
                    </m:oMathParaPr>
                    <m:oMath xmlns:m="http://schemas.openxmlformats.org/officeDocument/2006/math">
                      <m:r>
                        <a:rPr lang="es-MX" sz="2000" i="1">
                          <a:latin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m:t>
                      </m:r>
                      <m:d>
                        <m:dPr>
                          <m:begChr m:val="{"/>
                          <m:endChr m:val="}"/>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e>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e>
                      </m:d>
                    </m:oMath>
                  </m:oMathPara>
                </a14:m>
                <a:endParaRPr lang="es-MX" sz="2000" dirty="0">
                  <a:latin typeface="Roboto" panose="02000000000000000000" pitchFamily="2" charset="0"/>
                  <a:ea typeface="Cambria Math" panose="02040503050406030204" pitchFamily="18" charset="0"/>
                </a:endParaRPr>
              </a:p>
            </p:txBody>
          </p:sp>
        </mc:Choice>
        <mc:Fallback xmlns="">
          <p:sp>
            <p:nvSpPr>
              <p:cNvPr id="6" name="CuadroTexto 5">
                <a:extLst>
                  <a:ext uri="{FF2B5EF4-FFF2-40B4-BE49-F238E27FC236}">
                    <a16:creationId xmlns:a16="http://schemas.microsoft.com/office/drawing/2014/main" id="{CF20BE0B-4DFD-4F2D-9A71-D1B0D1AD7515}"/>
                  </a:ext>
                </a:extLst>
              </p:cNvPr>
              <p:cNvSpPr txBox="1">
                <a:spLocks noRot="1" noChangeAspect="1" noMove="1" noResize="1" noEditPoints="1" noAdjustHandles="1" noChangeArrowheads="1" noChangeShapeType="1" noTextEdit="1"/>
              </p:cNvSpPr>
              <p:nvPr/>
            </p:nvSpPr>
            <p:spPr>
              <a:xfrm>
                <a:off x="2606429" y="3275111"/>
                <a:ext cx="3133294" cy="307777"/>
              </a:xfrm>
              <a:prstGeom prst="rect">
                <a:avLst/>
              </a:prstGeom>
              <a:blipFill>
                <a:blip r:embed="rId5"/>
                <a:stretch>
                  <a:fillRect b="-7843"/>
                </a:stretch>
              </a:blipFill>
            </p:spPr>
            <p:txBody>
              <a:bodyPr/>
              <a:lstStyle/>
              <a:p>
                <a:r>
                  <a:rPr lang="es-CO">
                    <a:noFill/>
                  </a:rPr>
                  <a:t> </a:t>
                </a:r>
              </a:p>
            </p:txBody>
          </p:sp>
        </mc:Fallback>
      </mc:AlternateContent>
      <p:pic>
        <p:nvPicPr>
          <p:cNvPr id="4" name="Imagen 3">
            <a:extLst>
              <a:ext uri="{FF2B5EF4-FFF2-40B4-BE49-F238E27FC236}">
                <a16:creationId xmlns:a16="http://schemas.microsoft.com/office/drawing/2014/main" id="{835A20F8-7E12-4D28-AC2A-85186032E2C2}"/>
              </a:ext>
            </a:extLst>
          </p:cNvPr>
          <p:cNvPicPr>
            <a:picLocks noChangeAspect="1"/>
          </p:cNvPicPr>
          <p:nvPr/>
        </p:nvPicPr>
        <p:blipFill>
          <a:blip r:embed="rId6"/>
          <a:stretch>
            <a:fillRect/>
          </a:stretch>
        </p:blipFill>
        <p:spPr>
          <a:xfrm>
            <a:off x="7387950" y="1348586"/>
            <a:ext cx="4395241" cy="2650826"/>
          </a:xfrm>
          <a:prstGeom prst="rect">
            <a:avLst/>
          </a:prstGeom>
        </p:spPr>
      </p:pic>
      <p:sp>
        <p:nvSpPr>
          <p:cNvPr id="8" name="Google Shape;310;p34">
            <a:extLst>
              <a:ext uri="{FF2B5EF4-FFF2-40B4-BE49-F238E27FC236}">
                <a16:creationId xmlns:a16="http://schemas.microsoft.com/office/drawing/2014/main" id="{FC023576-C72E-403B-BCD4-FA81A9A51665}"/>
              </a:ext>
            </a:extLst>
          </p:cNvPr>
          <p:cNvSpPr txBox="1">
            <a:spLocks/>
          </p:cNvSpPr>
          <p:nvPr/>
        </p:nvSpPr>
        <p:spPr>
          <a:xfrm>
            <a:off x="916649" y="4006145"/>
            <a:ext cx="11044291" cy="110799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1600" b="1" dirty="0">
                <a:latin typeface="+mn-lt"/>
                <a:ea typeface="Roboto" panose="02000000000000000000" pitchFamily="2" charset="0"/>
              </a:rPr>
              <a:t>Ejemplos: </a:t>
            </a:r>
            <a:r>
              <a:rPr lang="es-MX" sz="1600" dirty="0">
                <a:latin typeface="+mn-lt"/>
                <a:ea typeface="Roboto" panose="02000000000000000000" pitchFamily="2" charset="0"/>
              </a:rPr>
              <a:t>Sea A el conjunto de todas las letras que conforman la palabra calculo ‘calculo’ y B el conjunto asociado de letras que aparecen en ‘matemáticas discretas’. Determine:</a:t>
            </a:r>
          </a:p>
          <a:p>
            <a:pPr marL="469900" indent="-342900">
              <a:buFont typeface="+mj-lt"/>
              <a:buAutoNum type="arabicPeriod" startAt="5"/>
            </a:pPr>
            <a:r>
              <a:rPr lang="es-MX" sz="1600" dirty="0">
                <a:latin typeface="+mn-lt"/>
                <a:ea typeface="Roboto" panose="02000000000000000000" pitchFamily="2" charset="0"/>
              </a:rPr>
              <a:t>Las letras que aparecen en ambos conjuntos.</a:t>
            </a: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D16A8B87-72FD-4336-8922-425C79D27F23}"/>
                  </a:ext>
                </a:extLst>
              </p:cNvPr>
              <p:cNvSpPr txBox="1"/>
              <p:nvPr/>
            </p:nvSpPr>
            <p:spPr>
              <a:xfrm>
                <a:off x="1442880" y="5160358"/>
                <a:ext cx="3590599" cy="1107996"/>
              </a:xfrm>
              <a:prstGeom prst="rect">
                <a:avLst/>
              </a:prstGeom>
              <a:noFill/>
            </p:spPr>
            <p:txBody>
              <a:bodyPr wrap="square" rtlCol="0">
                <a:spAutoFit/>
              </a:bodyPr>
              <a:lstStyle/>
              <a:p>
                <a:r>
                  <a:rPr lang="es-CO" sz="1600" b="1" dirty="0"/>
                  <a:t>Solución</a:t>
                </a:r>
                <a:r>
                  <a:rPr lang="es-CO" sz="1600" dirty="0"/>
                  <a:t>:</a:t>
                </a:r>
              </a:p>
              <a:p>
                <a:pPr marL="285750" indent="-285750">
                  <a:buFont typeface="Arial" panose="020B0604020202020204" pitchFamily="34" charset="0"/>
                  <a:buChar char="•"/>
                </a:pPr>
                <a14:m>
                  <m:oMath xmlns:m="http://schemas.openxmlformats.org/officeDocument/2006/math">
                    <m:r>
                      <a:rPr lang="es-MX" sz="1600" b="0" i="1" smtClean="0">
                        <a:solidFill>
                          <a:schemeClr val="accent5"/>
                        </a:solidFill>
                        <a:latin typeface="Cambria Math" panose="02040503050406030204" pitchFamily="18" charset="0"/>
                        <a:ea typeface="Roboto" panose="02000000000000000000" pitchFamily="2" charset="0"/>
                      </a:rPr>
                      <m:t>𝐴</m:t>
                    </m:r>
                    <m:r>
                      <a:rPr lang="es-MX" sz="1600" b="0" i="1" smtClean="0">
                        <a:solidFill>
                          <a:schemeClr val="accent5"/>
                        </a:solidFill>
                        <a:latin typeface="Cambria Math" panose="02040503050406030204" pitchFamily="18" charset="0"/>
                        <a:ea typeface="Roboto" panose="02000000000000000000" pitchFamily="2" charset="0"/>
                      </a:rPr>
                      <m:t>=</m:t>
                    </m:r>
                    <m:d>
                      <m:dPr>
                        <m:begChr m:val="{"/>
                        <m:endChr m:val="}"/>
                        <m:ctrlPr>
                          <a:rPr lang="es-MX" sz="1600" b="0" i="1" smtClean="0">
                            <a:solidFill>
                              <a:schemeClr val="accent5"/>
                            </a:solidFill>
                            <a:latin typeface="Cambria Math" panose="02040503050406030204" pitchFamily="18" charset="0"/>
                            <a:ea typeface="Roboto" panose="02000000000000000000" pitchFamily="2" charset="0"/>
                          </a:rPr>
                        </m:ctrlPr>
                      </m:dPr>
                      <m:e>
                        <m:r>
                          <a:rPr lang="es-MX" sz="1600" b="0" i="1" smtClean="0">
                            <a:solidFill>
                              <a:schemeClr val="accent6"/>
                            </a:solidFill>
                            <a:latin typeface="Cambria Math" panose="02040503050406030204" pitchFamily="18" charset="0"/>
                            <a:ea typeface="Roboto" panose="02000000000000000000" pitchFamily="2" charset="0"/>
                          </a:rPr>
                          <m:t>𝑐</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6"/>
                            </a:solidFill>
                            <a:latin typeface="Cambria Math" panose="02040503050406030204" pitchFamily="18" charset="0"/>
                            <a:ea typeface="Roboto" panose="02000000000000000000" pitchFamily="2" charset="0"/>
                          </a:rPr>
                          <m:t>𝑎</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𝑙</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𝑢</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𝑜</m:t>
                        </m:r>
                      </m:e>
                    </m:d>
                  </m:oMath>
                </a14:m>
                <a:endParaRPr lang="es-MX" sz="1600" b="0" dirty="0">
                  <a:latin typeface="Roboto" panose="02000000000000000000" pitchFamily="2" charset="0"/>
                  <a:ea typeface="Roboto" panose="02000000000000000000" pitchFamily="2" charset="0"/>
                </a:endParaRPr>
              </a:p>
              <a:p>
                <a:pPr marL="285750" indent="-285750">
                  <a:buFont typeface="Arial" panose="020B0604020202020204" pitchFamily="34" charset="0"/>
                  <a:buChar char="•"/>
                </a:pPr>
                <a14:m>
                  <m:oMath xmlns:m="http://schemas.openxmlformats.org/officeDocument/2006/math">
                    <m:r>
                      <a:rPr lang="es-MX" sz="1600" b="0" i="1" smtClean="0">
                        <a:solidFill>
                          <a:schemeClr val="accent2"/>
                        </a:solidFill>
                        <a:latin typeface="Cambria Math" panose="02040503050406030204" pitchFamily="18" charset="0"/>
                        <a:ea typeface="Roboto" panose="02000000000000000000" pitchFamily="2" charset="0"/>
                      </a:rPr>
                      <m:t>𝐵</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𝑚</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6"/>
                        </a:solidFill>
                        <a:latin typeface="Cambria Math" panose="02040503050406030204" pitchFamily="18" charset="0"/>
                        <a:ea typeface="Roboto" panose="02000000000000000000" pitchFamily="2" charset="0"/>
                      </a:rPr>
                      <m:t>𝑎</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𝑡</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𝑒</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𝑖</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6"/>
                        </a:solidFill>
                        <a:latin typeface="Cambria Math" panose="02040503050406030204" pitchFamily="18" charset="0"/>
                        <a:ea typeface="Roboto" panose="02000000000000000000" pitchFamily="2" charset="0"/>
                      </a:rPr>
                      <m:t>𝑐</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𝑠</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𝑑</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𝑟</m:t>
                    </m:r>
                    <m:r>
                      <a:rPr lang="es-MX" sz="1600" b="0" i="1" smtClean="0">
                        <a:solidFill>
                          <a:schemeClr val="accent2"/>
                        </a:solidFill>
                        <a:latin typeface="Cambria Math" panose="02040503050406030204" pitchFamily="18" charset="0"/>
                        <a:ea typeface="Roboto" panose="02000000000000000000" pitchFamily="2" charset="0"/>
                      </a:rPr>
                      <m:t>}</m:t>
                    </m:r>
                  </m:oMath>
                </a14:m>
                <a:endParaRPr lang="es-CO" sz="1600" dirty="0">
                  <a:solidFill>
                    <a:schemeClr val="accent2"/>
                  </a:solidFill>
                  <a:latin typeface="Roboto" panose="02000000000000000000" pitchFamily="2" charset="0"/>
                  <a:ea typeface="Roboto" panose="02000000000000000000" pitchFamily="2" charset="0"/>
                </a:endParaRPr>
              </a:p>
              <a:p>
                <a:pPr marL="285750" indent="-285750">
                  <a:buFont typeface="Arial" panose="020B0604020202020204" pitchFamily="34" charset="0"/>
                  <a:buChar char="•"/>
                </a:pPr>
                <a14:m>
                  <m:oMath xmlns:m="http://schemas.openxmlformats.org/officeDocument/2006/math">
                    <m:r>
                      <a:rPr lang="es-MX" sz="1600" b="0" i="1" smtClean="0">
                        <a:latin typeface="Cambria Math" panose="02040503050406030204" pitchFamily="18" charset="0"/>
                        <a:ea typeface="Roboto" panose="02000000000000000000" pitchFamily="2" charset="0"/>
                      </a:rPr>
                      <m:t>𝐴</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𝐵</m:t>
                    </m:r>
                    <m:r>
                      <a:rPr lang="es-MX" sz="1600" b="0" i="1" smtClean="0">
                        <a:latin typeface="Cambria Math" panose="02040503050406030204" pitchFamily="18" charset="0"/>
                        <a:ea typeface="Roboto" panose="02000000000000000000" pitchFamily="2" charset="0"/>
                      </a:rPr>
                      <m:t>={</m:t>
                    </m:r>
                    <m:r>
                      <a:rPr lang="es-MX" sz="1600" b="0" i="1" smtClean="0">
                        <a:solidFill>
                          <a:schemeClr val="accent6"/>
                        </a:solidFill>
                        <a:latin typeface="Cambria Math" panose="02040503050406030204" pitchFamily="18" charset="0"/>
                        <a:ea typeface="Roboto" panose="02000000000000000000" pitchFamily="2" charset="0"/>
                      </a:rPr>
                      <m:t>𝑎</m:t>
                    </m:r>
                    <m:r>
                      <a:rPr lang="es-MX" sz="1600" b="0" i="1" smtClean="0">
                        <a:solidFill>
                          <a:schemeClr val="accent6"/>
                        </a:solidFill>
                        <a:latin typeface="Cambria Math" panose="02040503050406030204" pitchFamily="18" charset="0"/>
                        <a:ea typeface="Roboto" panose="02000000000000000000" pitchFamily="2" charset="0"/>
                      </a:rPr>
                      <m:t>,</m:t>
                    </m:r>
                    <m:r>
                      <a:rPr lang="es-MX" sz="1600" b="0" i="1" smtClean="0">
                        <a:solidFill>
                          <a:schemeClr val="accent6"/>
                        </a:solidFill>
                        <a:latin typeface="Cambria Math" panose="02040503050406030204" pitchFamily="18" charset="0"/>
                        <a:ea typeface="Roboto" panose="02000000000000000000" pitchFamily="2" charset="0"/>
                      </a:rPr>
                      <m:t>𝑐</m:t>
                    </m:r>
                    <m:r>
                      <a:rPr lang="es-MX" sz="1600" b="0" i="1" smtClean="0">
                        <a:latin typeface="Cambria Math" panose="02040503050406030204" pitchFamily="18" charset="0"/>
                        <a:ea typeface="Roboto" panose="02000000000000000000" pitchFamily="2" charset="0"/>
                      </a:rPr>
                      <m:t>}</m:t>
                    </m:r>
                  </m:oMath>
                </a14:m>
                <a:endParaRPr lang="es-CO" sz="1600" dirty="0"/>
              </a:p>
            </p:txBody>
          </p:sp>
        </mc:Choice>
        <mc:Fallback xmlns="">
          <p:sp>
            <p:nvSpPr>
              <p:cNvPr id="9" name="CuadroTexto 8">
                <a:extLst>
                  <a:ext uri="{FF2B5EF4-FFF2-40B4-BE49-F238E27FC236}">
                    <a16:creationId xmlns:a16="http://schemas.microsoft.com/office/drawing/2014/main" id="{D16A8B87-72FD-4336-8922-425C79D27F23}"/>
                  </a:ext>
                </a:extLst>
              </p:cNvPr>
              <p:cNvSpPr txBox="1">
                <a:spLocks noRot="1" noChangeAspect="1" noMove="1" noResize="1" noEditPoints="1" noAdjustHandles="1" noChangeArrowheads="1" noChangeShapeType="1" noTextEdit="1"/>
              </p:cNvSpPr>
              <p:nvPr/>
            </p:nvSpPr>
            <p:spPr>
              <a:xfrm>
                <a:off x="1442880" y="5160358"/>
                <a:ext cx="3590599" cy="1107996"/>
              </a:xfrm>
              <a:prstGeom prst="rect">
                <a:avLst/>
              </a:prstGeom>
              <a:blipFill>
                <a:blip r:embed="rId7"/>
                <a:stretch>
                  <a:fillRect l="-1019" t="-1657" b="-2210"/>
                </a:stretch>
              </a:blipFill>
            </p:spPr>
            <p:txBody>
              <a:bodyPr/>
              <a:lstStyle/>
              <a:p>
                <a:r>
                  <a:rPr lang="es-CO">
                    <a:noFill/>
                  </a:rPr>
                  <a:t> </a:t>
                </a:r>
              </a:p>
            </p:txBody>
          </p:sp>
        </mc:Fallback>
      </mc:AlternateContent>
      <p:grpSp>
        <p:nvGrpSpPr>
          <p:cNvPr id="2" name="Grupo 1">
            <a:extLst>
              <a:ext uri="{FF2B5EF4-FFF2-40B4-BE49-F238E27FC236}">
                <a16:creationId xmlns:a16="http://schemas.microsoft.com/office/drawing/2014/main" id="{E5BA5947-D8BA-4C64-A0C3-087BD88D149C}"/>
              </a:ext>
            </a:extLst>
          </p:cNvPr>
          <p:cNvGrpSpPr/>
          <p:nvPr/>
        </p:nvGrpSpPr>
        <p:grpSpPr>
          <a:xfrm>
            <a:off x="5320231" y="5092407"/>
            <a:ext cx="3373437" cy="1560507"/>
            <a:chOff x="5371565" y="5151589"/>
            <a:chExt cx="3373437" cy="1560507"/>
          </a:xfrm>
        </p:grpSpPr>
        <p:pic>
          <p:nvPicPr>
            <p:cNvPr id="7" name="Imagen 6">
              <a:extLst>
                <a:ext uri="{FF2B5EF4-FFF2-40B4-BE49-F238E27FC236}">
                  <a16:creationId xmlns:a16="http://schemas.microsoft.com/office/drawing/2014/main" id="{87DC2913-1B83-4C6E-A8E6-D5909D82D7A0}"/>
                </a:ext>
              </a:extLst>
            </p:cNvPr>
            <p:cNvPicPr>
              <a:picLocks noChangeAspect="1"/>
            </p:cNvPicPr>
            <p:nvPr/>
          </p:nvPicPr>
          <p:blipFill>
            <a:blip r:embed="rId8"/>
            <a:stretch>
              <a:fillRect/>
            </a:stretch>
          </p:blipFill>
          <p:spPr>
            <a:xfrm>
              <a:off x="5371565" y="5151589"/>
              <a:ext cx="3373437" cy="1276838"/>
            </a:xfrm>
            <a:prstGeom prst="rect">
              <a:avLst/>
            </a:prstGeom>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A1D2DEAB-AB1B-4379-AB4D-4177C65B2513}"/>
                    </a:ext>
                  </a:extLst>
                </p:cNvPr>
                <p:cNvSpPr txBox="1"/>
                <p:nvPr/>
              </p:nvSpPr>
              <p:spPr>
                <a:xfrm>
                  <a:off x="6438794" y="6465875"/>
                  <a:ext cx="1277914" cy="246221"/>
                </a:xfrm>
                <a:prstGeom prst="rect">
                  <a:avLst/>
                </a:prstGeom>
                <a:no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1600" i="1">
                            <a:latin typeface="Cambria Math" panose="02040503050406030204" pitchFamily="18" charset="0"/>
                            <a:ea typeface="Roboto" panose="02000000000000000000" pitchFamily="2" charset="0"/>
                          </a:rPr>
                          <m:t>𝐴</m:t>
                        </m:r>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𝐵</m:t>
                        </m:r>
                        <m:r>
                          <a:rPr lang="es-MX" sz="1600" i="1">
                            <a:latin typeface="Cambria Math" panose="02040503050406030204" pitchFamily="18" charset="0"/>
                            <a:ea typeface="Roboto" panose="02000000000000000000" pitchFamily="2" charset="0"/>
                          </a:rPr>
                          <m:t>={</m:t>
                        </m:r>
                        <m:r>
                          <a:rPr lang="es-MX" sz="1600" i="1">
                            <a:solidFill>
                              <a:schemeClr val="accent6"/>
                            </a:solidFill>
                            <a:latin typeface="Cambria Math" panose="02040503050406030204" pitchFamily="18" charset="0"/>
                            <a:ea typeface="Roboto" panose="02000000000000000000" pitchFamily="2" charset="0"/>
                          </a:rPr>
                          <m:t>𝑎</m:t>
                        </m:r>
                        <m:r>
                          <a:rPr lang="es-MX" sz="1600" i="1">
                            <a:solidFill>
                              <a:schemeClr val="accent6"/>
                            </a:solidFill>
                            <a:latin typeface="Cambria Math" panose="02040503050406030204" pitchFamily="18" charset="0"/>
                            <a:ea typeface="Roboto" panose="02000000000000000000" pitchFamily="2" charset="0"/>
                          </a:rPr>
                          <m:t>,</m:t>
                        </m:r>
                        <m:r>
                          <a:rPr lang="es-MX" sz="1600" i="1">
                            <a:solidFill>
                              <a:schemeClr val="accent6"/>
                            </a:solidFill>
                            <a:latin typeface="Cambria Math" panose="02040503050406030204" pitchFamily="18" charset="0"/>
                            <a:ea typeface="Roboto" panose="02000000000000000000" pitchFamily="2" charset="0"/>
                          </a:rPr>
                          <m:t>𝑐</m:t>
                        </m:r>
                        <m:r>
                          <a:rPr lang="es-MX" sz="1600" i="1">
                            <a:latin typeface="Cambria Math" panose="02040503050406030204" pitchFamily="18" charset="0"/>
                            <a:ea typeface="Roboto" panose="02000000000000000000" pitchFamily="2" charset="0"/>
                          </a:rPr>
                          <m:t>}</m:t>
                        </m:r>
                      </m:oMath>
                    </m:oMathPara>
                  </a14:m>
                  <a:endParaRPr lang="es-MX" sz="1600" dirty="0">
                    <a:latin typeface="Roboto" panose="02000000000000000000" pitchFamily="2" charset="0"/>
                    <a:ea typeface="Cambria Math" panose="02040503050406030204" pitchFamily="18" charset="0"/>
                  </a:endParaRPr>
                </a:p>
              </p:txBody>
            </p:sp>
          </mc:Choice>
          <mc:Fallback xmlns="">
            <p:sp>
              <p:nvSpPr>
                <p:cNvPr id="11" name="CuadroTexto 10">
                  <a:extLst>
                    <a:ext uri="{FF2B5EF4-FFF2-40B4-BE49-F238E27FC236}">
                      <a16:creationId xmlns:a16="http://schemas.microsoft.com/office/drawing/2014/main" id="{A1D2DEAB-AB1B-4379-AB4D-4177C65B2513}"/>
                    </a:ext>
                  </a:extLst>
                </p:cNvPr>
                <p:cNvSpPr txBox="1">
                  <a:spLocks noRot="1" noChangeAspect="1" noMove="1" noResize="1" noEditPoints="1" noAdjustHandles="1" noChangeArrowheads="1" noChangeShapeType="1" noTextEdit="1"/>
                </p:cNvSpPr>
                <p:nvPr/>
              </p:nvSpPr>
              <p:spPr>
                <a:xfrm>
                  <a:off x="6438794" y="6465875"/>
                  <a:ext cx="1277914" cy="246221"/>
                </a:xfrm>
                <a:prstGeom prst="rect">
                  <a:avLst/>
                </a:prstGeom>
                <a:blipFill>
                  <a:blip r:embed="rId9"/>
                  <a:stretch>
                    <a:fillRect l="-2844" r="-4265" b="-30952"/>
                  </a:stretch>
                </a:blipFill>
                <a:ln>
                  <a:solidFill>
                    <a:schemeClr val="tx1"/>
                  </a:solidFill>
                </a:ln>
              </p:spPr>
              <p:txBody>
                <a:bodyPr/>
                <a:lstStyle/>
                <a:p>
                  <a:r>
                    <a:rPr lang="es-CO">
                      <a:noFill/>
                    </a:rPr>
                    <a:t> </a:t>
                  </a:r>
                </a:p>
              </p:txBody>
            </p:sp>
          </mc:Fallback>
        </mc:AlternateContent>
      </p:grpSp>
    </p:spTree>
    <p:extLst>
      <p:ext uri="{BB962C8B-B14F-4D97-AF65-F5344CB8AC3E}">
        <p14:creationId xmlns:p14="http://schemas.microsoft.com/office/powerpoint/2010/main" val="3288140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p:txBody>
          <a:bodyPr/>
          <a:lstStyle/>
          <a:p>
            <a:r>
              <a:rPr lang="es-CO" dirty="0">
                <a:latin typeface="+mj-lt"/>
              </a:rPr>
              <a:t>Operaciones entre conjuntos</a:t>
            </a:r>
          </a:p>
        </p:txBody>
      </p:sp>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A19C6E9F-BCCF-4FD4-8EC3-574D66199786}"/>
                  </a:ext>
                </a:extLst>
              </p:cNvPr>
              <p:cNvSpPr txBox="1"/>
              <p:nvPr/>
            </p:nvSpPr>
            <p:spPr>
              <a:xfrm>
                <a:off x="916650" y="985339"/>
                <a:ext cx="11044291"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Diferencia (</a:t>
                </a:r>
                <a14:m>
                  <m:oMath xmlns:m="http://schemas.openxmlformats.org/officeDocument/2006/math">
                    <m:r>
                      <a:rPr lang="es-MX" sz="2600" b="1" i="1">
                        <a:solidFill>
                          <a:schemeClr val="accent6"/>
                        </a:solidFill>
                        <a:ea typeface="Roboto" panose="02000000000000000000" pitchFamily="2" charset="0"/>
                      </a:rPr>
                      <m:t>𝑨</m:t>
                    </m:r>
                    <m:r>
                      <a:rPr lang="es-MX" sz="2600" b="1" i="1" smtClean="0">
                        <a:solidFill>
                          <a:schemeClr val="accent6"/>
                        </a:solidFill>
                        <a:ea typeface="Roboto" panose="02000000000000000000" pitchFamily="2" charset="0"/>
                      </a:rPr>
                      <m:t>−</m:t>
                    </m:r>
                    <m:r>
                      <a:rPr lang="es-MX" sz="2600" b="1" i="1" smtClean="0">
                        <a:solidFill>
                          <a:schemeClr val="accent6"/>
                        </a:solidFill>
                        <a:ea typeface="Roboto" panose="02000000000000000000" pitchFamily="2" charset="0"/>
                      </a:rPr>
                      <m:t>𝑩</m:t>
                    </m:r>
                  </m:oMath>
                </a14:m>
                <a:r>
                  <a:rPr lang="es-MX" sz="2600" b="1" dirty="0">
                    <a:solidFill>
                      <a:schemeClr val="accent6"/>
                    </a:solidFill>
                    <a:ea typeface="Roboto" panose="02000000000000000000" pitchFamily="2" charset="0"/>
                  </a:rPr>
                  <a:t> ó </a:t>
                </a:r>
                <a14:m>
                  <m:oMath xmlns:m="http://schemas.openxmlformats.org/officeDocument/2006/math">
                    <m:r>
                      <a:rPr lang="es-MX" sz="2600" b="1" i="1" smtClean="0">
                        <a:solidFill>
                          <a:schemeClr val="accent6"/>
                        </a:solidFill>
                        <a:ea typeface="Roboto" panose="02000000000000000000" pitchFamily="2" charset="0"/>
                      </a:rPr>
                      <m:t>𝑨</m:t>
                    </m:r>
                    <m:r>
                      <a:rPr lang="es-MX" sz="2600" b="1" i="1" smtClean="0">
                        <a:solidFill>
                          <a:schemeClr val="accent6"/>
                        </a:solidFill>
                        <a:ea typeface="Roboto" panose="02000000000000000000" pitchFamily="2" charset="0"/>
                      </a:rPr>
                      <m:t> \</m:t>
                    </m:r>
                    <m:r>
                      <m:rPr>
                        <m:lit/>
                      </m:rPr>
                      <a:rPr lang="es-MX" sz="2600" b="1" i="1" smtClean="0">
                        <a:solidFill>
                          <a:schemeClr val="accent6"/>
                        </a:solidFill>
                        <a:ea typeface="Cambria Math" panose="02040503050406030204" pitchFamily="18" charset="0"/>
                      </a:rPr>
                      <m:t> </m:t>
                    </m:r>
                    <m:r>
                      <a:rPr lang="es-MX" sz="2600" b="1" i="1" smtClean="0">
                        <a:solidFill>
                          <a:schemeClr val="accent6"/>
                        </a:solidFill>
                        <a:ea typeface="Cambria Math" panose="02040503050406030204" pitchFamily="18" charset="0"/>
                      </a:rPr>
                      <m:t>𝑩</m:t>
                    </m:r>
                  </m:oMath>
                </a14:m>
                <a:r>
                  <a:rPr lang="es-MX" sz="2600" b="1" dirty="0">
                    <a:solidFill>
                      <a:schemeClr val="accent6"/>
                    </a:solidFill>
                    <a:ea typeface="Roboto" panose="02000000000000000000" pitchFamily="2" charset="0"/>
                  </a:rPr>
                  <a:t>)</a:t>
                </a:r>
              </a:p>
            </p:txBody>
          </p:sp>
        </mc:Choice>
        <mc:Fallback>
          <p:sp>
            <p:nvSpPr>
              <p:cNvPr id="10" name="CuadroTexto 9">
                <a:extLst>
                  <a:ext uri="{FF2B5EF4-FFF2-40B4-BE49-F238E27FC236}">
                    <a16:creationId xmlns:a16="http://schemas.microsoft.com/office/drawing/2014/main" id="{A19C6E9F-BCCF-4FD4-8EC3-574D66199786}"/>
                  </a:ext>
                </a:extLst>
              </p:cNvPr>
              <p:cNvSpPr txBox="1">
                <a:spLocks noRot="1" noChangeAspect="1" noMove="1" noResize="1" noEditPoints="1" noAdjustHandles="1" noChangeArrowheads="1" noChangeShapeType="1" noTextEdit="1"/>
              </p:cNvSpPr>
              <p:nvPr/>
            </p:nvSpPr>
            <p:spPr>
              <a:xfrm>
                <a:off x="916650" y="985339"/>
                <a:ext cx="11044291" cy="492443"/>
              </a:xfrm>
              <a:prstGeom prst="rect">
                <a:avLst/>
              </a:prstGeom>
              <a:blipFill>
                <a:blip r:embed="rId3"/>
                <a:stretch>
                  <a:fillRect l="-993" t="-11250" b="-3250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5" name="Google Shape;310;p34">
                <a:extLst>
                  <a:ext uri="{FF2B5EF4-FFF2-40B4-BE49-F238E27FC236}">
                    <a16:creationId xmlns:a16="http://schemas.microsoft.com/office/drawing/2014/main" id="{74048116-F8B3-487E-B641-CCAA4370A901}"/>
                  </a:ext>
                </a:extLst>
              </p:cNvPr>
              <p:cNvSpPr txBox="1">
                <a:spLocks/>
              </p:cNvSpPr>
              <p:nvPr/>
            </p:nvSpPr>
            <p:spPr>
              <a:xfrm>
                <a:off x="916651" y="1477783"/>
                <a:ext cx="6589050" cy="272223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La diferencia (o complemento relativo) de </a:t>
                </a:r>
                <a14:m>
                  <m:oMath xmlns:m="http://schemas.openxmlformats.org/officeDocument/2006/math">
                    <m:r>
                      <a:rPr lang="es-MX" sz="2000" b="0" i="1" smtClean="0">
                        <a:latin typeface="+mn-lt"/>
                        <a:ea typeface="Cambria Math" panose="02040503050406030204" pitchFamily="18" charset="0"/>
                      </a:rPr>
                      <m:t>𝐴</m:t>
                    </m:r>
                  </m:oMath>
                </a14:m>
                <a:r>
                  <a:rPr lang="es-MX" sz="2000" dirty="0">
                    <a:latin typeface="+mn-lt"/>
                    <a:ea typeface="Roboto" panose="02000000000000000000" pitchFamily="2" charset="0"/>
                  </a:rPr>
                  <a:t> y </a:t>
                </a:r>
                <a14:m>
                  <m:oMath xmlns:m="http://schemas.openxmlformats.org/officeDocument/2006/math">
                    <m:r>
                      <a:rPr lang="es-MX" sz="2000" b="0" i="1" smtClean="0">
                        <a:latin typeface="+mn-lt"/>
                        <a:ea typeface="Cambria Math" panose="02040503050406030204" pitchFamily="18" charset="0"/>
                      </a:rPr>
                      <m:t>𝐵</m:t>
                    </m:r>
                  </m:oMath>
                </a14:m>
                <a:r>
                  <a:rPr lang="es-MX" sz="2000" dirty="0">
                    <a:latin typeface="+mn-lt"/>
                    <a:ea typeface="Roboto" panose="02000000000000000000" pitchFamily="2" charset="0"/>
                  </a:rPr>
                  <a:t> es el conjunto de elementos que están en </a:t>
                </a:r>
                <a14:m>
                  <m:oMath xmlns:m="http://schemas.openxmlformats.org/officeDocument/2006/math">
                    <m:r>
                      <a:rPr lang="es-MX" sz="2000" i="1">
                        <a:latin typeface="+mn-lt"/>
                        <a:ea typeface="Cambria Math" panose="02040503050406030204" pitchFamily="18" charset="0"/>
                      </a:rPr>
                      <m:t>𝐴</m:t>
                    </m:r>
                  </m:oMath>
                </a14:m>
                <a:r>
                  <a:rPr lang="es-MX" sz="2000" dirty="0">
                    <a:latin typeface="+mn-lt"/>
                    <a:ea typeface="Roboto" panose="02000000000000000000" pitchFamily="2" charset="0"/>
                  </a:rPr>
                  <a:t> pero no en </a:t>
                </a:r>
                <a14:m>
                  <m:oMath xmlns:m="http://schemas.openxmlformats.org/officeDocument/2006/math">
                    <m:r>
                      <a:rPr lang="es-MX" sz="2000" b="0" i="1" smtClean="0">
                        <a:latin typeface="+mn-lt"/>
                        <a:ea typeface="Cambria Math" panose="02040503050406030204" pitchFamily="18" charset="0"/>
                      </a:rPr>
                      <m:t>𝐵</m:t>
                    </m:r>
                  </m:oMath>
                </a14:m>
                <a:r>
                  <a:rPr lang="es-MX" sz="2000" dirty="0">
                    <a:latin typeface="+mn-lt"/>
                    <a:ea typeface="Roboto" panose="02000000000000000000" pitchFamily="2" charset="0"/>
                  </a:rPr>
                  <a:t>. </a:t>
                </a:r>
              </a:p>
              <a:p>
                <a:r>
                  <a:rPr lang="es-MX" sz="2000" b="1" dirty="0">
                    <a:latin typeface="+mn-lt"/>
                    <a:ea typeface="Roboto" panose="02000000000000000000" pitchFamily="2" charset="0"/>
                  </a:rPr>
                  <a:t>Definición formal</a:t>
                </a:r>
                <a:r>
                  <a:rPr lang="es-MX" sz="2000" dirty="0">
                    <a:latin typeface="+mn-lt"/>
                    <a:ea typeface="Roboto" panose="02000000000000000000" pitchFamily="2" charset="0"/>
                  </a:rPr>
                  <a:t>:</a:t>
                </a:r>
              </a:p>
              <a:p>
                <a:endParaRPr lang="es-MX" sz="2000" dirty="0">
                  <a:latin typeface="+mn-lt"/>
                  <a:ea typeface="Roboto" panose="02000000000000000000" pitchFamily="2" charset="0"/>
                </a:endParaRPr>
              </a:p>
              <a:p>
                <a:endParaRPr lang="es-MX" sz="2000" b="1" dirty="0">
                  <a:latin typeface="+mn-lt"/>
                  <a:ea typeface="Roboto" panose="02000000000000000000" pitchFamily="2" charset="0"/>
                </a:endParaRPr>
              </a:p>
              <a:p>
                <a:endParaRPr lang="es-MX" sz="2000" b="1" dirty="0">
                  <a:latin typeface="+mn-lt"/>
                  <a:ea typeface="Roboto" panose="02000000000000000000" pitchFamily="2" charset="0"/>
                </a:endParaRPr>
              </a:p>
              <a:p>
                <a:pPr lvl="1"/>
                <a:endParaRPr lang="es-MX" sz="1800" b="1" dirty="0">
                  <a:latin typeface="+mn-lt"/>
                  <a:ea typeface="Roboto" panose="02000000000000000000" pitchFamily="2" charset="0"/>
                </a:endParaRPr>
              </a:p>
            </p:txBody>
          </p:sp>
        </mc:Choice>
        <mc:Fallback>
          <p:sp>
            <p:nvSpPr>
              <p:cNvPr id="5" name="Google Shape;310;p34">
                <a:extLst>
                  <a:ext uri="{FF2B5EF4-FFF2-40B4-BE49-F238E27FC236}">
                    <a16:creationId xmlns:a16="http://schemas.microsoft.com/office/drawing/2014/main" id="{74048116-F8B3-487E-B641-CCAA4370A901}"/>
                  </a:ext>
                </a:extLst>
              </p:cNvPr>
              <p:cNvSpPr txBox="1">
                <a:spLocks noRot="1" noChangeAspect="1" noMove="1" noResize="1" noEditPoints="1" noAdjustHandles="1" noChangeArrowheads="1" noChangeShapeType="1" noTextEdit="1"/>
              </p:cNvSpPr>
              <p:nvPr/>
            </p:nvSpPr>
            <p:spPr>
              <a:xfrm>
                <a:off x="916651" y="1477783"/>
                <a:ext cx="6589050" cy="2722236"/>
              </a:xfrm>
              <a:prstGeom prst="rect">
                <a:avLst/>
              </a:prstGeom>
              <a:blipFill>
                <a:blip r:embed="rId4"/>
                <a:stretch>
                  <a:fillRect/>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16B97773-3F9C-4A18-ABB2-61AEE464493D}"/>
                  </a:ext>
                </a:extLst>
              </p:cNvPr>
              <p:cNvSpPr txBox="1"/>
              <p:nvPr/>
            </p:nvSpPr>
            <p:spPr>
              <a:xfrm>
                <a:off x="2644529" y="3026757"/>
                <a:ext cx="3133294" cy="307777"/>
              </a:xfrm>
              <a:prstGeom prst="rect">
                <a:avLst/>
              </a:prstGeom>
              <a:solidFill>
                <a:schemeClr val="bg1">
                  <a:lumMod val="95000"/>
                </a:schemeClr>
              </a:solidFill>
            </p:spPr>
            <p:txBody>
              <a:bodyPr wrap="none" lIns="0" tIns="0" rIns="0" bIns="0" rtlCol="0">
                <a:spAutoFit/>
              </a:bodyPr>
              <a:lstStyle/>
              <a:p>
                <a:pPr marL="127000" indent="0">
                  <a:buNone/>
                </a:pPr>
                <a14:m>
                  <m:oMathPara xmlns:m="http://schemas.openxmlformats.org/officeDocument/2006/math">
                    <m:oMathParaPr>
                      <m:jc m:val="centerGroup"/>
                    </m:oMathParaPr>
                    <m:oMath xmlns:m="http://schemas.openxmlformats.org/officeDocument/2006/math">
                      <m:r>
                        <a:rPr lang="es-MX" sz="2000" i="1">
                          <a:latin typeface="Cambria Math" panose="02040503050406030204" pitchFamily="18" charset="0"/>
                        </a:rPr>
                        <m:t>𝐴</m:t>
                      </m:r>
                      <m:r>
                        <a:rPr lang="es-MX" sz="2000" i="1">
                          <a:latin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m:t>
                      </m:r>
                      <m:d>
                        <m:dPr>
                          <m:begChr m:val="{"/>
                          <m:endChr m:val="}"/>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e>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e>
                      </m:d>
                    </m:oMath>
                  </m:oMathPara>
                </a14:m>
                <a:endParaRPr lang="es-MX" sz="2000" dirty="0">
                  <a:latin typeface="Roboto" panose="02000000000000000000" pitchFamily="2" charset="0"/>
                  <a:ea typeface="Cambria Math" panose="02040503050406030204" pitchFamily="18" charset="0"/>
                </a:endParaRPr>
              </a:p>
            </p:txBody>
          </p:sp>
        </mc:Choice>
        <mc:Fallback xmlns="">
          <p:sp>
            <p:nvSpPr>
              <p:cNvPr id="6" name="CuadroTexto 5">
                <a:extLst>
                  <a:ext uri="{FF2B5EF4-FFF2-40B4-BE49-F238E27FC236}">
                    <a16:creationId xmlns:a16="http://schemas.microsoft.com/office/drawing/2014/main" id="{16B97773-3F9C-4A18-ABB2-61AEE464493D}"/>
                  </a:ext>
                </a:extLst>
              </p:cNvPr>
              <p:cNvSpPr txBox="1">
                <a:spLocks noRot="1" noChangeAspect="1" noMove="1" noResize="1" noEditPoints="1" noAdjustHandles="1" noChangeArrowheads="1" noChangeShapeType="1" noTextEdit="1"/>
              </p:cNvSpPr>
              <p:nvPr/>
            </p:nvSpPr>
            <p:spPr>
              <a:xfrm>
                <a:off x="2644529" y="3026757"/>
                <a:ext cx="3133294" cy="307777"/>
              </a:xfrm>
              <a:prstGeom prst="rect">
                <a:avLst/>
              </a:prstGeom>
              <a:blipFill>
                <a:blip r:embed="rId5"/>
                <a:stretch>
                  <a:fillRect b="-20000"/>
                </a:stretch>
              </a:blipFill>
            </p:spPr>
            <p:txBody>
              <a:bodyPr/>
              <a:lstStyle/>
              <a:p>
                <a:r>
                  <a:rPr lang="es-CO">
                    <a:noFill/>
                  </a:rPr>
                  <a:t> </a:t>
                </a:r>
              </a:p>
            </p:txBody>
          </p:sp>
        </mc:Fallback>
      </mc:AlternateContent>
      <p:pic>
        <p:nvPicPr>
          <p:cNvPr id="4" name="Imagen 3">
            <a:extLst>
              <a:ext uri="{FF2B5EF4-FFF2-40B4-BE49-F238E27FC236}">
                <a16:creationId xmlns:a16="http://schemas.microsoft.com/office/drawing/2014/main" id="{DB10C07B-19B4-49C3-ADD4-4D9617B63F8B}"/>
              </a:ext>
            </a:extLst>
          </p:cNvPr>
          <p:cNvPicPr>
            <a:picLocks noChangeAspect="1"/>
          </p:cNvPicPr>
          <p:nvPr/>
        </p:nvPicPr>
        <p:blipFill>
          <a:blip r:embed="rId6"/>
          <a:stretch>
            <a:fillRect/>
          </a:stretch>
        </p:blipFill>
        <p:spPr>
          <a:xfrm>
            <a:off x="7759625" y="1195023"/>
            <a:ext cx="3946040" cy="2636220"/>
          </a:xfrm>
          <a:prstGeom prst="rect">
            <a:avLst/>
          </a:prstGeom>
        </p:spPr>
      </p:pic>
      <p:sp>
        <p:nvSpPr>
          <p:cNvPr id="11" name="Google Shape;310;p34">
            <a:extLst>
              <a:ext uri="{FF2B5EF4-FFF2-40B4-BE49-F238E27FC236}">
                <a16:creationId xmlns:a16="http://schemas.microsoft.com/office/drawing/2014/main" id="{D40C4E82-3564-4CB1-9CF0-8753A374169E}"/>
              </a:ext>
            </a:extLst>
          </p:cNvPr>
          <p:cNvSpPr txBox="1">
            <a:spLocks/>
          </p:cNvSpPr>
          <p:nvPr/>
        </p:nvSpPr>
        <p:spPr>
          <a:xfrm>
            <a:off x="916650" y="3745607"/>
            <a:ext cx="11042940" cy="135147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1600" b="1" dirty="0">
                <a:latin typeface="+mn-lt"/>
                <a:ea typeface="Roboto" panose="02000000000000000000" pitchFamily="2" charset="0"/>
              </a:rPr>
              <a:t>Ejemplos: </a:t>
            </a:r>
            <a:r>
              <a:rPr lang="es-MX" sz="1600" dirty="0">
                <a:latin typeface="+mn-lt"/>
                <a:ea typeface="Roboto" panose="02000000000000000000" pitchFamily="2" charset="0"/>
              </a:rPr>
              <a:t>Sea A el conjunto de todas las letras que conforman la palabra calculo ‘calculo’ y B el conjunto asociado de letras que aparecen en ‘matemáticas discretas’. Determine:</a:t>
            </a:r>
          </a:p>
          <a:p>
            <a:pPr marL="469900" indent="-342900">
              <a:buFont typeface="+mj-lt"/>
              <a:buAutoNum type="arabicPeriod" startAt="6"/>
            </a:pPr>
            <a:r>
              <a:rPr lang="es-MX" sz="1600" dirty="0">
                <a:latin typeface="+mn-lt"/>
                <a:ea typeface="Roboto" panose="02000000000000000000" pitchFamily="2" charset="0"/>
              </a:rPr>
              <a:t>Las que solo aparecen en el conjunto A pero que no están en el conjunto B.</a:t>
            </a:r>
          </a:p>
          <a:p>
            <a:pPr marL="469900" indent="-342900">
              <a:buFont typeface="+mj-lt"/>
              <a:buAutoNum type="arabicPeriod" startAt="6"/>
            </a:pPr>
            <a:r>
              <a:rPr lang="es-MX" sz="1600" dirty="0">
                <a:latin typeface="+mn-lt"/>
                <a:ea typeface="Roboto" panose="02000000000000000000" pitchFamily="2" charset="0"/>
              </a:rPr>
              <a:t>Las que solo aparecen en el conjunto B pero que no están en el conjunto A.</a:t>
            </a:r>
          </a:p>
          <a:p>
            <a:pPr marL="584200" lvl="1" indent="0">
              <a:buNone/>
            </a:pPr>
            <a:endParaRPr lang="es-MX" sz="1600" dirty="0">
              <a:latin typeface="+mn-lt"/>
              <a:ea typeface="Roboto" panose="02000000000000000000" pitchFamily="2" charset="0"/>
            </a:endParaRPr>
          </a:p>
          <a:p>
            <a:pPr lvl="1"/>
            <a:endParaRPr lang="es-MX" sz="1800" b="1" dirty="0">
              <a:latin typeface="+mn-lt"/>
              <a:ea typeface="Roboto" panose="02000000000000000000" pitchFamily="2" charset="0"/>
            </a:endParaRP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255A1B2B-D11C-4C1E-9AA9-0F5A980EC9D0}"/>
                  </a:ext>
                </a:extLst>
              </p:cNvPr>
              <p:cNvSpPr txBox="1"/>
              <p:nvPr/>
            </p:nvSpPr>
            <p:spPr>
              <a:xfrm>
                <a:off x="1435568" y="5210941"/>
                <a:ext cx="3021487" cy="1323439"/>
              </a:xfrm>
              <a:prstGeom prst="rect">
                <a:avLst/>
              </a:prstGeom>
              <a:noFill/>
            </p:spPr>
            <p:txBody>
              <a:bodyPr wrap="square" rtlCol="0">
                <a:spAutoFit/>
              </a:bodyPr>
              <a:lstStyle/>
              <a:p>
                <a:r>
                  <a:rPr lang="es-CO" sz="1600" b="1" dirty="0"/>
                  <a:t>Solución</a:t>
                </a:r>
                <a:r>
                  <a:rPr lang="es-CO" sz="1600" dirty="0"/>
                  <a:t>:</a:t>
                </a:r>
              </a:p>
              <a:p>
                <a:pPr marL="285750" indent="-285750">
                  <a:buFont typeface="Arial" panose="020B0604020202020204" pitchFamily="34" charset="0"/>
                  <a:buChar char="•"/>
                </a:pPr>
                <a14:m>
                  <m:oMath xmlns:m="http://schemas.openxmlformats.org/officeDocument/2006/math">
                    <m:r>
                      <a:rPr lang="es-MX" sz="1600" b="0" i="1" smtClean="0">
                        <a:solidFill>
                          <a:schemeClr val="accent5"/>
                        </a:solidFill>
                        <a:latin typeface="Cambria Math" panose="02040503050406030204" pitchFamily="18" charset="0"/>
                        <a:ea typeface="Roboto" panose="02000000000000000000" pitchFamily="2" charset="0"/>
                      </a:rPr>
                      <m:t>𝐴</m:t>
                    </m:r>
                    <m:r>
                      <a:rPr lang="es-MX" sz="1600" b="0" i="1" smtClean="0">
                        <a:solidFill>
                          <a:schemeClr val="accent5"/>
                        </a:solidFill>
                        <a:latin typeface="Cambria Math" panose="02040503050406030204" pitchFamily="18" charset="0"/>
                        <a:ea typeface="Roboto" panose="02000000000000000000" pitchFamily="2" charset="0"/>
                      </a:rPr>
                      <m:t>=</m:t>
                    </m:r>
                    <m:d>
                      <m:dPr>
                        <m:begChr m:val="{"/>
                        <m:endChr m:val="}"/>
                        <m:ctrlPr>
                          <a:rPr lang="es-MX" sz="1600" b="0" i="1" smtClean="0">
                            <a:solidFill>
                              <a:schemeClr val="accent5"/>
                            </a:solidFill>
                            <a:latin typeface="Cambria Math" panose="02040503050406030204" pitchFamily="18" charset="0"/>
                            <a:ea typeface="Roboto" panose="02000000000000000000" pitchFamily="2" charset="0"/>
                          </a:rPr>
                        </m:ctrlPr>
                      </m:dPr>
                      <m:e>
                        <m:r>
                          <a:rPr lang="es-MX" sz="1600" b="0" i="1" smtClean="0">
                            <a:solidFill>
                              <a:schemeClr val="accent6"/>
                            </a:solidFill>
                            <a:latin typeface="Cambria Math" panose="02040503050406030204" pitchFamily="18" charset="0"/>
                            <a:ea typeface="Roboto" panose="02000000000000000000" pitchFamily="2" charset="0"/>
                          </a:rPr>
                          <m:t>𝑐</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6"/>
                            </a:solidFill>
                            <a:latin typeface="Cambria Math" panose="02040503050406030204" pitchFamily="18" charset="0"/>
                            <a:ea typeface="Roboto" panose="02000000000000000000" pitchFamily="2" charset="0"/>
                          </a:rPr>
                          <m:t>𝑎</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𝑙</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𝑢</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𝑜</m:t>
                        </m:r>
                      </m:e>
                    </m:d>
                  </m:oMath>
                </a14:m>
                <a:endParaRPr lang="es-MX" sz="1600" b="0" dirty="0">
                  <a:latin typeface="Roboto" panose="02000000000000000000" pitchFamily="2" charset="0"/>
                  <a:ea typeface="Roboto" panose="02000000000000000000" pitchFamily="2" charset="0"/>
                </a:endParaRPr>
              </a:p>
              <a:p>
                <a:pPr marL="285750" indent="-285750">
                  <a:buFont typeface="Arial" panose="020B0604020202020204" pitchFamily="34" charset="0"/>
                  <a:buChar char="•"/>
                </a:pPr>
                <a14:m>
                  <m:oMath xmlns:m="http://schemas.openxmlformats.org/officeDocument/2006/math">
                    <m:r>
                      <a:rPr lang="es-MX" sz="1600" b="0" i="1" smtClean="0">
                        <a:solidFill>
                          <a:schemeClr val="accent2"/>
                        </a:solidFill>
                        <a:latin typeface="Cambria Math" panose="02040503050406030204" pitchFamily="18" charset="0"/>
                        <a:ea typeface="Roboto" panose="02000000000000000000" pitchFamily="2" charset="0"/>
                      </a:rPr>
                      <m:t>𝐵</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𝑚</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6"/>
                        </a:solidFill>
                        <a:latin typeface="Cambria Math" panose="02040503050406030204" pitchFamily="18" charset="0"/>
                        <a:ea typeface="Roboto" panose="02000000000000000000" pitchFamily="2" charset="0"/>
                      </a:rPr>
                      <m:t>𝑎</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𝑡</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𝑒</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𝑖</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6"/>
                        </a:solidFill>
                        <a:latin typeface="Cambria Math" panose="02040503050406030204" pitchFamily="18" charset="0"/>
                        <a:ea typeface="Roboto" panose="02000000000000000000" pitchFamily="2" charset="0"/>
                      </a:rPr>
                      <m:t>𝑐</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𝑠</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𝑑</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𝑟</m:t>
                    </m:r>
                    <m:r>
                      <a:rPr lang="es-MX" sz="1600" b="0" i="1" smtClean="0">
                        <a:solidFill>
                          <a:schemeClr val="accent2"/>
                        </a:solidFill>
                        <a:latin typeface="Cambria Math" panose="02040503050406030204" pitchFamily="18" charset="0"/>
                        <a:ea typeface="Roboto" panose="02000000000000000000" pitchFamily="2" charset="0"/>
                      </a:rPr>
                      <m:t>}</m:t>
                    </m:r>
                  </m:oMath>
                </a14:m>
                <a:endParaRPr lang="es-CO" sz="1600" dirty="0">
                  <a:solidFill>
                    <a:schemeClr val="accent2"/>
                  </a:solidFill>
                  <a:latin typeface="Roboto" panose="02000000000000000000" pitchFamily="2" charset="0"/>
                  <a:ea typeface="Roboto" panose="02000000000000000000" pitchFamily="2" charset="0"/>
                </a:endParaRPr>
              </a:p>
              <a:p>
                <a:pPr marL="285750" indent="-285750">
                  <a:buFont typeface="Arial" panose="020B0604020202020204" pitchFamily="34" charset="0"/>
                  <a:buChar char="•"/>
                </a:pPr>
                <a14:m>
                  <m:oMath xmlns:m="http://schemas.openxmlformats.org/officeDocument/2006/math">
                    <m:r>
                      <a:rPr lang="es-MX" sz="1600" b="0" i="1" smtClean="0">
                        <a:latin typeface="Cambria Math" panose="02040503050406030204" pitchFamily="18" charset="0"/>
                        <a:ea typeface="Roboto" panose="02000000000000000000" pitchFamily="2" charset="0"/>
                      </a:rPr>
                      <m:t>𝐴</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𝐵</m:t>
                    </m:r>
                    <m:r>
                      <a:rPr lang="es-MX" sz="1600" b="0" i="1" smtClean="0">
                        <a:latin typeface="Cambria Math" panose="02040503050406030204" pitchFamily="18" charset="0"/>
                        <a:ea typeface="Roboto" panose="02000000000000000000" pitchFamily="2" charset="0"/>
                      </a:rPr>
                      <m:t>=</m:t>
                    </m:r>
                    <m:d>
                      <m:dPr>
                        <m:begChr m:val="{"/>
                        <m:endChr m:val="}"/>
                        <m:ctrlPr>
                          <a:rPr lang="es-MX" sz="1600" b="0" i="1" smtClean="0">
                            <a:latin typeface="Cambria Math" panose="02040503050406030204" pitchFamily="18" charset="0"/>
                            <a:ea typeface="Cambria Math" panose="02040503050406030204" pitchFamily="18" charset="0"/>
                          </a:rPr>
                        </m:ctrlPr>
                      </m:dPr>
                      <m:e>
                        <m:r>
                          <a:rPr lang="es-MX" sz="1600" i="1">
                            <a:solidFill>
                              <a:schemeClr val="accent5"/>
                            </a:solidFill>
                            <a:latin typeface="Cambria Math" panose="02040503050406030204" pitchFamily="18" charset="0"/>
                            <a:ea typeface="Roboto" panose="02000000000000000000" pitchFamily="2" charset="0"/>
                          </a:rPr>
                          <m:t>𝑙</m:t>
                        </m:r>
                        <m:r>
                          <a:rPr lang="es-MX" sz="1600" i="1">
                            <a:solidFill>
                              <a:schemeClr val="accent5"/>
                            </a:solidFill>
                            <a:latin typeface="Cambria Math" panose="02040503050406030204" pitchFamily="18" charset="0"/>
                            <a:ea typeface="Roboto" panose="02000000000000000000" pitchFamily="2" charset="0"/>
                          </a:rPr>
                          <m:t>,</m:t>
                        </m:r>
                        <m:r>
                          <a:rPr lang="es-MX" sz="1600" i="1">
                            <a:solidFill>
                              <a:schemeClr val="accent5"/>
                            </a:solidFill>
                            <a:latin typeface="Cambria Math" panose="02040503050406030204" pitchFamily="18" charset="0"/>
                            <a:ea typeface="Roboto" panose="02000000000000000000" pitchFamily="2" charset="0"/>
                          </a:rPr>
                          <m:t>𝑢</m:t>
                        </m:r>
                        <m:r>
                          <a:rPr lang="es-MX" sz="1600" i="1">
                            <a:solidFill>
                              <a:schemeClr val="accent5"/>
                            </a:solidFill>
                            <a:latin typeface="Cambria Math" panose="02040503050406030204" pitchFamily="18" charset="0"/>
                            <a:ea typeface="Roboto" panose="02000000000000000000" pitchFamily="2" charset="0"/>
                          </a:rPr>
                          <m:t>,</m:t>
                        </m:r>
                        <m:r>
                          <a:rPr lang="es-MX" sz="1600" i="1">
                            <a:solidFill>
                              <a:schemeClr val="accent5"/>
                            </a:solidFill>
                            <a:latin typeface="Cambria Math" panose="02040503050406030204" pitchFamily="18" charset="0"/>
                            <a:ea typeface="Roboto" panose="02000000000000000000" pitchFamily="2" charset="0"/>
                          </a:rPr>
                          <m:t>𝑜</m:t>
                        </m:r>
                      </m:e>
                    </m:d>
                  </m:oMath>
                </a14:m>
                <a:endParaRPr lang="es-MX" sz="1600" b="0" dirty="0">
                  <a:ea typeface="Roboto" panose="02000000000000000000" pitchFamily="2" charset="0"/>
                </a:endParaRPr>
              </a:p>
              <a:p>
                <a:pPr marL="285750" indent="-285750">
                  <a:buFont typeface="Arial" panose="020B0604020202020204" pitchFamily="34" charset="0"/>
                  <a:buChar char="•"/>
                </a:pPr>
                <a14:m>
                  <m:oMath xmlns:m="http://schemas.openxmlformats.org/officeDocument/2006/math">
                    <m:r>
                      <a:rPr lang="es-MX" sz="1600" b="0" i="1" smtClean="0">
                        <a:latin typeface="Cambria Math" panose="02040503050406030204" pitchFamily="18" charset="0"/>
                        <a:ea typeface="Roboto" panose="02000000000000000000" pitchFamily="2" charset="0"/>
                      </a:rPr>
                      <m:t>𝐵</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𝐴</m:t>
                    </m:r>
                    <m:r>
                      <a:rPr lang="es-MX" sz="1600" b="0" i="1" smtClean="0">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𝑚</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𝑡</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𝑒</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𝑖</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𝑠</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𝑑</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𝑟</m:t>
                    </m:r>
                    <m:r>
                      <a:rPr lang="es-MX" sz="1600" b="0" i="1" smtClean="0">
                        <a:latin typeface="Cambria Math" panose="02040503050406030204" pitchFamily="18" charset="0"/>
                        <a:ea typeface="Roboto" panose="02000000000000000000" pitchFamily="2" charset="0"/>
                      </a:rPr>
                      <m:t>}</m:t>
                    </m:r>
                  </m:oMath>
                </a14:m>
                <a:endParaRPr lang="es-CO" sz="1600" dirty="0"/>
              </a:p>
            </p:txBody>
          </p:sp>
        </mc:Choice>
        <mc:Fallback xmlns="">
          <p:sp>
            <p:nvSpPr>
              <p:cNvPr id="12" name="CuadroTexto 11">
                <a:extLst>
                  <a:ext uri="{FF2B5EF4-FFF2-40B4-BE49-F238E27FC236}">
                    <a16:creationId xmlns:a16="http://schemas.microsoft.com/office/drawing/2014/main" id="{255A1B2B-D11C-4C1E-9AA9-0F5A980EC9D0}"/>
                  </a:ext>
                </a:extLst>
              </p:cNvPr>
              <p:cNvSpPr txBox="1">
                <a:spLocks noRot="1" noChangeAspect="1" noMove="1" noResize="1" noEditPoints="1" noAdjustHandles="1" noChangeArrowheads="1" noChangeShapeType="1" noTextEdit="1"/>
              </p:cNvSpPr>
              <p:nvPr/>
            </p:nvSpPr>
            <p:spPr>
              <a:xfrm>
                <a:off x="1435568" y="5210941"/>
                <a:ext cx="3021487" cy="1323439"/>
              </a:xfrm>
              <a:prstGeom prst="rect">
                <a:avLst/>
              </a:prstGeom>
              <a:blipFill>
                <a:blip r:embed="rId7"/>
                <a:stretch>
                  <a:fillRect l="-1008" t="-1382" b="-3687"/>
                </a:stretch>
              </a:blipFill>
            </p:spPr>
            <p:txBody>
              <a:bodyPr/>
              <a:lstStyle/>
              <a:p>
                <a:r>
                  <a:rPr lang="es-CO">
                    <a:noFill/>
                  </a:rPr>
                  <a:t> </a:t>
                </a:r>
              </a:p>
            </p:txBody>
          </p:sp>
        </mc:Fallback>
      </mc:AlternateContent>
      <p:grpSp>
        <p:nvGrpSpPr>
          <p:cNvPr id="16" name="Grupo 15">
            <a:extLst>
              <a:ext uri="{FF2B5EF4-FFF2-40B4-BE49-F238E27FC236}">
                <a16:creationId xmlns:a16="http://schemas.microsoft.com/office/drawing/2014/main" id="{0AE7A61B-C28C-4BCB-A5E4-15B64DC66387}"/>
              </a:ext>
            </a:extLst>
          </p:cNvPr>
          <p:cNvGrpSpPr/>
          <p:nvPr/>
        </p:nvGrpSpPr>
        <p:grpSpPr>
          <a:xfrm>
            <a:off x="4373736" y="5211578"/>
            <a:ext cx="3021487" cy="1445911"/>
            <a:chOff x="4267079" y="5211578"/>
            <a:chExt cx="3021487" cy="1445911"/>
          </a:xfrm>
        </p:grpSpPr>
        <p:pic>
          <p:nvPicPr>
            <p:cNvPr id="7" name="Imagen 6">
              <a:extLst>
                <a:ext uri="{FF2B5EF4-FFF2-40B4-BE49-F238E27FC236}">
                  <a16:creationId xmlns:a16="http://schemas.microsoft.com/office/drawing/2014/main" id="{2B880AC8-8753-4691-92EC-B7C0932B75F7}"/>
                </a:ext>
              </a:extLst>
            </p:cNvPr>
            <p:cNvPicPr>
              <a:picLocks noChangeAspect="1"/>
            </p:cNvPicPr>
            <p:nvPr/>
          </p:nvPicPr>
          <p:blipFill>
            <a:blip r:embed="rId8"/>
            <a:stretch>
              <a:fillRect/>
            </a:stretch>
          </p:blipFill>
          <p:spPr>
            <a:xfrm>
              <a:off x="4267079" y="5211578"/>
              <a:ext cx="3021487" cy="1141451"/>
            </a:xfrm>
            <a:prstGeom prst="rect">
              <a:avLst/>
            </a:prstGeom>
          </p:spPr>
        </p:pic>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9DAD0472-FD8A-4657-B828-A4FF5CD3C70A}"/>
                    </a:ext>
                  </a:extLst>
                </p:cNvPr>
                <p:cNvSpPr txBox="1"/>
                <p:nvPr/>
              </p:nvSpPr>
              <p:spPr>
                <a:xfrm>
                  <a:off x="5048007" y="6411268"/>
                  <a:ext cx="1459630" cy="246221"/>
                </a:xfrm>
                <a:prstGeom prst="rect">
                  <a:avLst/>
                </a:prstGeom>
                <a:no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1600" i="1">
                            <a:latin typeface="Cambria Math" panose="02040503050406030204" pitchFamily="18" charset="0"/>
                            <a:ea typeface="Roboto" panose="02000000000000000000" pitchFamily="2" charset="0"/>
                          </a:rPr>
                          <m:t>𝐴</m:t>
                        </m:r>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𝐵</m:t>
                        </m:r>
                        <m:r>
                          <a:rPr lang="es-MX" sz="1600" i="1">
                            <a:latin typeface="Cambria Math" panose="02040503050406030204" pitchFamily="18" charset="0"/>
                            <a:ea typeface="Roboto" panose="02000000000000000000" pitchFamily="2" charset="0"/>
                          </a:rPr>
                          <m:t>=</m:t>
                        </m:r>
                        <m:d>
                          <m:dPr>
                            <m:begChr m:val="{"/>
                            <m:endChr m:val="}"/>
                            <m:ctrlPr>
                              <a:rPr lang="es-MX" sz="1600" i="1">
                                <a:latin typeface="Cambria Math" panose="02040503050406030204" pitchFamily="18" charset="0"/>
                                <a:ea typeface="Cambria Math" panose="02040503050406030204" pitchFamily="18" charset="0"/>
                              </a:rPr>
                            </m:ctrlPr>
                          </m:dPr>
                          <m:e>
                            <m:r>
                              <a:rPr lang="es-MX" sz="1600" i="1">
                                <a:solidFill>
                                  <a:schemeClr val="accent5"/>
                                </a:solidFill>
                                <a:latin typeface="Cambria Math" panose="02040503050406030204" pitchFamily="18" charset="0"/>
                                <a:ea typeface="Roboto" panose="02000000000000000000" pitchFamily="2" charset="0"/>
                              </a:rPr>
                              <m:t>𝑙</m:t>
                            </m:r>
                            <m:r>
                              <a:rPr lang="es-MX" sz="1600" i="1">
                                <a:solidFill>
                                  <a:schemeClr val="accent5"/>
                                </a:solidFill>
                                <a:latin typeface="Cambria Math" panose="02040503050406030204" pitchFamily="18" charset="0"/>
                                <a:ea typeface="Roboto" panose="02000000000000000000" pitchFamily="2" charset="0"/>
                              </a:rPr>
                              <m:t>,</m:t>
                            </m:r>
                            <m:r>
                              <a:rPr lang="es-MX" sz="1600" i="1">
                                <a:solidFill>
                                  <a:schemeClr val="accent5"/>
                                </a:solidFill>
                                <a:latin typeface="Cambria Math" panose="02040503050406030204" pitchFamily="18" charset="0"/>
                                <a:ea typeface="Roboto" panose="02000000000000000000" pitchFamily="2" charset="0"/>
                              </a:rPr>
                              <m:t>𝑢</m:t>
                            </m:r>
                            <m:r>
                              <a:rPr lang="es-MX" sz="1600" i="1">
                                <a:solidFill>
                                  <a:schemeClr val="accent5"/>
                                </a:solidFill>
                                <a:latin typeface="Cambria Math" panose="02040503050406030204" pitchFamily="18" charset="0"/>
                                <a:ea typeface="Roboto" panose="02000000000000000000" pitchFamily="2" charset="0"/>
                              </a:rPr>
                              <m:t>,</m:t>
                            </m:r>
                            <m:r>
                              <a:rPr lang="es-MX" sz="1600" i="1">
                                <a:solidFill>
                                  <a:schemeClr val="accent5"/>
                                </a:solidFill>
                                <a:latin typeface="Cambria Math" panose="02040503050406030204" pitchFamily="18" charset="0"/>
                                <a:ea typeface="Roboto" panose="02000000000000000000" pitchFamily="2" charset="0"/>
                              </a:rPr>
                              <m:t>𝑜</m:t>
                            </m:r>
                          </m:e>
                        </m:d>
                      </m:oMath>
                    </m:oMathPara>
                  </a14:m>
                  <a:endParaRPr lang="es-MX" sz="1600" dirty="0">
                    <a:ea typeface="Roboto" panose="02000000000000000000" pitchFamily="2" charset="0"/>
                  </a:endParaRPr>
                </a:p>
              </p:txBody>
            </p:sp>
          </mc:Choice>
          <mc:Fallback xmlns="">
            <p:sp>
              <p:nvSpPr>
                <p:cNvPr id="13" name="CuadroTexto 12">
                  <a:extLst>
                    <a:ext uri="{FF2B5EF4-FFF2-40B4-BE49-F238E27FC236}">
                      <a16:creationId xmlns:a16="http://schemas.microsoft.com/office/drawing/2014/main" id="{9DAD0472-FD8A-4657-B828-A4FF5CD3C70A}"/>
                    </a:ext>
                  </a:extLst>
                </p:cNvPr>
                <p:cNvSpPr txBox="1">
                  <a:spLocks noRot="1" noChangeAspect="1" noMove="1" noResize="1" noEditPoints="1" noAdjustHandles="1" noChangeArrowheads="1" noChangeShapeType="1" noTextEdit="1"/>
                </p:cNvSpPr>
                <p:nvPr/>
              </p:nvSpPr>
              <p:spPr>
                <a:xfrm>
                  <a:off x="5048007" y="6411268"/>
                  <a:ext cx="1459630" cy="246221"/>
                </a:xfrm>
                <a:prstGeom prst="rect">
                  <a:avLst/>
                </a:prstGeom>
                <a:blipFill>
                  <a:blip r:embed="rId9"/>
                  <a:stretch>
                    <a:fillRect l="-2075" b="-7143"/>
                  </a:stretch>
                </a:blipFill>
                <a:ln>
                  <a:solidFill>
                    <a:schemeClr val="tx1"/>
                  </a:solidFill>
                </a:ln>
              </p:spPr>
              <p:txBody>
                <a:bodyPr/>
                <a:lstStyle/>
                <a:p>
                  <a:r>
                    <a:rPr lang="es-CO">
                      <a:noFill/>
                    </a:rPr>
                    <a:t> </a:t>
                  </a:r>
                </a:p>
              </p:txBody>
            </p:sp>
          </mc:Fallback>
        </mc:AlternateContent>
      </p:grpSp>
      <p:grpSp>
        <p:nvGrpSpPr>
          <p:cNvPr id="15" name="Grupo 14">
            <a:extLst>
              <a:ext uri="{FF2B5EF4-FFF2-40B4-BE49-F238E27FC236}">
                <a16:creationId xmlns:a16="http://schemas.microsoft.com/office/drawing/2014/main" id="{9BA6CF9A-AAD8-48CA-BFE3-4F415B4CF781}"/>
              </a:ext>
            </a:extLst>
          </p:cNvPr>
          <p:cNvGrpSpPr/>
          <p:nvPr/>
        </p:nvGrpSpPr>
        <p:grpSpPr>
          <a:xfrm>
            <a:off x="7633706" y="5206023"/>
            <a:ext cx="3021488" cy="1451466"/>
            <a:chOff x="7505701" y="5206024"/>
            <a:chExt cx="3021488" cy="1451466"/>
          </a:xfrm>
        </p:grpSpPr>
        <p:pic>
          <p:nvPicPr>
            <p:cNvPr id="9" name="Imagen 8">
              <a:extLst>
                <a:ext uri="{FF2B5EF4-FFF2-40B4-BE49-F238E27FC236}">
                  <a16:creationId xmlns:a16="http://schemas.microsoft.com/office/drawing/2014/main" id="{BE9C8D52-7D0D-4A19-BE4C-DE7D9818CE5C}"/>
                </a:ext>
              </a:extLst>
            </p:cNvPr>
            <p:cNvPicPr>
              <a:picLocks noChangeAspect="1"/>
            </p:cNvPicPr>
            <p:nvPr/>
          </p:nvPicPr>
          <p:blipFill>
            <a:blip r:embed="rId10"/>
            <a:stretch>
              <a:fillRect/>
            </a:stretch>
          </p:blipFill>
          <p:spPr>
            <a:xfrm>
              <a:off x="7505701" y="5206024"/>
              <a:ext cx="3021488" cy="1147005"/>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75E3F59D-59AC-42B2-9166-7D58E77F4538}"/>
                    </a:ext>
                  </a:extLst>
                </p:cNvPr>
                <p:cNvSpPr txBox="1"/>
                <p:nvPr/>
              </p:nvSpPr>
              <p:spPr>
                <a:xfrm>
                  <a:off x="7903704" y="6411269"/>
                  <a:ext cx="2225481" cy="246221"/>
                </a:xfrm>
                <a:prstGeom prst="rect">
                  <a:avLst/>
                </a:prstGeom>
                <a:no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1600" i="1">
                            <a:latin typeface="Cambria Math" panose="02040503050406030204" pitchFamily="18" charset="0"/>
                            <a:ea typeface="Roboto" panose="02000000000000000000" pitchFamily="2" charset="0"/>
                          </a:rPr>
                          <m:t>𝐴</m:t>
                        </m:r>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𝐵</m:t>
                        </m:r>
                        <m:r>
                          <a:rPr lang="es-MX" sz="1600" i="1">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𝑚</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𝑡</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𝑒</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𝑖</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𝑠</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𝑑</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𝑟</m:t>
                        </m:r>
                        <m:r>
                          <a:rPr lang="es-MX" sz="1600" i="1">
                            <a:latin typeface="Cambria Math" panose="02040503050406030204" pitchFamily="18" charset="0"/>
                            <a:ea typeface="Roboto" panose="02000000000000000000" pitchFamily="2" charset="0"/>
                          </a:rPr>
                          <m:t>}</m:t>
                        </m:r>
                      </m:oMath>
                    </m:oMathPara>
                  </a14:m>
                  <a:endParaRPr lang="es-MX" sz="1600" dirty="0">
                    <a:ea typeface="Roboto" panose="02000000000000000000" pitchFamily="2" charset="0"/>
                  </a:endParaRPr>
                </a:p>
              </p:txBody>
            </p:sp>
          </mc:Choice>
          <mc:Fallback xmlns="">
            <p:sp>
              <p:nvSpPr>
                <p:cNvPr id="14" name="CuadroTexto 13">
                  <a:extLst>
                    <a:ext uri="{FF2B5EF4-FFF2-40B4-BE49-F238E27FC236}">
                      <a16:creationId xmlns:a16="http://schemas.microsoft.com/office/drawing/2014/main" id="{75E3F59D-59AC-42B2-9166-7D58E77F4538}"/>
                    </a:ext>
                  </a:extLst>
                </p:cNvPr>
                <p:cNvSpPr txBox="1">
                  <a:spLocks noRot="1" noChangeAspect="1" noMove="1" noResize="1" noEditPoints="1" noAdjustHandles="1" noChangeArrowheads="1" noChangeShapeType="1" noTextEdit="1"/>
                </p:cNvSpPr>
                <p:nvPr/>
              </p:nvSpPr>
              <p:spPr>
                <a:xfrm>
                  <a:off x="7903704" y="6411269"/>
                  <a:ext cx="2225481" cy="246221"/>
                </a:xfrm>
                <a:prstGeom prst="rect">
                  <a:avLst/>
                </a:prstGeom>
                <a:blipFill>
                  <a:blip r:embed="rId11"/>
                  <a:stretch>
                    <a:fillRect l="-1362" r="-1907" b="-30952"/>
                  </a:stretch>
                </a:blipFill>
                <a:ln>
                  <a:solidFill>
                    <a:schemeClr val="tx1"/>
                  </a:solidFill>
                </a:ln>
              </p:spPr>
              <p:txBody>
                <a:bodyPr/>
                <a:lstStyle/>
                <a:p>
                  <a:r>
                    <a:rPr lang="es-CO">
                      <a:noFill/>
                    </a:rPr>
                    <a:t> </a:t>
                  </a:r>
                </a:p>
              </p:txBody>
            </p:sp>
          </mc:Fallback>
        </mc:AlternateContent>
      </p:grpSp>
    </p:spTree>
    <p:extLst>
      <p:ext uri="{BB962C8B-B14F-4D97-AF65-F5344CB8AC3E}">
        <p14:creationId xmlns:p14="http://schemas.microsoft.com/office/powerpoint/2010/main" val="3624167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p:txBody>
          <a:bodyPr/>
          <a:lstStyle/>
          <a:p>
            <a:r>
              <a:rPr lang="es-CO" dirty="0">
                <a:latin typeface="+mj-lt"/>
              </a:rPr>
              <a:t>Operaciones entre conjuntos</a:t>
            </a:r>
          </a:p>
        </p:txBody>
      </p:sp>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A19C6E9F-BCCF-4FD4-8EC3-574D66199786}"/>
                  </a:ext>
                </a:extLst>
              </p:cNvPr>
              <p:cNvSpPr txBox="1"/>
              <p:nvPr/>
            </p:nvSpPr>
            <p:spPr>
              <a:xfrm>
                <a:off x="916650" y="985339"/>
                <a:ext cx="11044291"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Complemento (</a:t>
                </a:r>
                <a14:m>
                  <m:oMath xmlns:m="http://schemas.openxmlformats.org/officeDocument/2006/math">
                    <m:sSup>
                      <m:sSupPr>
                        <m:ctrlPr>
                          <a:rPr lang="es-MX" sz="2600" b="1" i="1" smtClean="0">
                            <a:solidFill>
                              <a:schemeClr val="accent6"/>
                            </a:solidFill>
                            <a:ea typeface="Roboto" panose="02000000000000000000" pitchFamily="2" charset="0"/>
                          </a:rPr>
                        </m:ctrlPr>
                      </m:sSupPr>
                      <m:e>
                        <m:r>
                          <a:rPr lang="es-MX" sz="2600" b="1" i="1">
                            <a:solidFill>
                              <a:schemeClr val="accent6"/>
                            </a:solidFill>
                            <a:ea typeface="Roboto" panose="02000000000000000000" pitchFamily="2" charset="0"/>
                          </a:rPr>
                          <m:t>𝑨</m:t>
                        </m:r>
                      </m:e>
                      <m:sup>
                        <m:r>
                          <a:rPr lang="es-MX" sz="2600" b="1" i="1" smtClean="0">
                            <a:solidFill>
                              <a:schemeClr val="accent6"/>
                            </a:solidFill>
                            <a:ea typeface="Roboto" panose="02000000000000000000" pitchFamily="2" charset="0"/>
                          </a:rPr>
                          <m:t>𝒄</m:t>
                        </m:r>
                      </m:sup>
                    </m:sSup>
                  </m:oMath>
                </a14:m>
                <a:r>
                  <a:rPr lang="es-MX" sz="2600" b="1" dirty="0">
                    <a:solidFill>
                      <a:schemeClr val="accent6"/>
                    </a:solidFill>
                    <a:ea typeface="Roboto" panose="02000000000000000000" pitchFamily="2" charset="0"/>
                  </a:rPr>
                  <a:t> ó </a:t>
                </a:r>
                <a14:m>
                  <m:oMath xmlns:m="http://schemas.openxmlformats.org/officeDocument/2006/math">
                    <m:r>
                      <a:rPr lang="es-MX" sz="2600" b="1" i="1" smtClean="0">
                        <a:solidFill>
                          <a:schemeClr val="accent6"/>
                        </a:solidFill>
                        <a:ea typeface="Roboto" panose="02000000000000000000" pitchFamily="2" charset="0"/>
                      </a:rPr>
                      <m:t>𝑨</m:t>
                    </m:r>
                    <m:r>
                      <a:rPr lang="es-MX" sz="2600" b="1" i="1" smtClean="0">
                        <a:solidFill>
                          <a:schemeClr val="accent6"/>
                        </a:solidFill>
                        <a:ea typeface="Roboto" panose="02000000000000000000" pitchFamily="2" charset="0"/>
                      </a:rPr>
                      <m:t>′</m:t>
                    </m:r>
                  </m:oMath>
                </a14:m>
                <a:r>
                  <a:rPr lang="es-MX" sz="2600" b="1" dirty="0">
                    <a:solidFill>
                      <a:schemeClr val="accent6"/>
                    </a:solidFill>
                    <a:ea typeface="Roboto" panose="02000000000000000000" pitchFamily="2" charset="0"/>
                  </a:rPr>
                  <a:t> ó </a:t>
                </a:r>
                <a14:m>
                  <m:oMath xmlns:m="http://schemas.openxmlformats.org/officeDocument/2006/math">
                    <m:acc>
                      <m:accPr>
                        <m:chr m:val="̅"/>
                        <m:ctrlPr>
                          <a:rPr lang="es-MX" sz="2600" b="1" i="1" smtClean="0">
                            <a:solidFill>
                              <a:schemeClr val="accent6"/>
                            </a:solidFill>
                            <a:ea typeface="Roboto" panose="02000000000000000000" pitchFamily="2" charset="0"/>
                          </a:rPr>
                        </m:ctrlPr>
                      </m:accPr>
                      <m:e>
                        <m:r>
                          <a:rPr lang="es-MX" sz="2600" b="1" i="1">
                            <a:solidFill>
                              <a:schemeClr val="accent6"/>
                            </a:solidFill>
                            <a:ea typeface="Roboto" panose="02000000000000000000" pitchFamily="2" charset="0"/>
                          </a:rPr>
                          <m:t>𝑨</m:t>
                        </m:r>
                      </m:e>
                    </m:acc>
                  </m:oMath>
                </a14:m>
                <a:r>
                  <a:rPr lang="es-MX" sz="2600" b="1" dirty="0">
                    <a:solidFill>
                      <a:schemeClr val="accent6"/>
                    </a:solidFill>
                    <a:ea typeface="Roboto" panose="02000000000000000000" pitchFamily="2" charset="0"/>
                  </a:rPr>
                  <a:t>)</a:t>
                </a:r>
              </a:p>
            </p:txBody>
          </p:sp>
        </mc:Choice>
        <mc:Fallback>
          <p:sp>
            <p:nvSpPr>
              <p:cNvPr id="10" name="CuadroTexto 9">
                <a:extLst>
                  <a:ext uri="{FF2B5EF4-FFF2-40B4-BE49-F238E27FC236}">
                    <a16:creationId xmlns:a16="http://schemas.microsoft.com/office/drawing/2014/main" id="{A19C6E9F-BCCF-4FD4-8EC3-574D66199786}"/>
                  </a:ext>
                </a:extLst>
              </p:cNvPr>
              <p:cNvSpPr txBox="1">
                <a:spLocks noRot="1" noChangeAspect="1" noMove="1" noResize="1" noEditPoints="1" noAdjustHandles="1" noChangeArrowheads="1" noChangeShapeType="1" noTextEdit="1"/>
              </p:cNvSpPr>
              <p:nvPr/>
            </p:nvSpPr>
            <p:spPr>
              <a:xfrm>
                <a:off x="916650" y="985339"/>
                <a:ext cx="11044291" cy="492443"/>
              </a:xfrm>
              <a:prstGeom prst="rect">
                <a:avLst/>
              </a:prstGeom>
              <a:blipFill>
                <a:blip r:embed="rId3"/>
                <a:stretch>
                  <a:fillRect l="-993" t="-11250" b="-3250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5" name="Google Shape;310;p34">
                <a:extLst>
                  <a:ext uri="{FF2B5EF4-FFF2-40B4-BE49-F238E27FC236}">
                    <a16:creationId xmlns:a16="http://schemas.microsoft.com/office/drawing/2014/main" id="{74048116-F8B3-487E-B641-CCAA4370A901}"/>
                  </a:ext>
                </a:extLst>
              </p:cNvPr>
              <p:cNvSpPr txBox="1">
                <a:spLocks/>
              </p:cNvSpPr>
              <p:nvPr/>
            </p:nvSpPr>
            <p:spPr>
              <a:xfrm>
                <a:off x="916651" y="1477783"/>
                <a:ext cx="7262150" cy="23576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El complemento de </a:t>
                </a:r>
                <a14:m>
                  <m:oMath xmlns:m="http://schemas.openxmlformats.org/officeDocument/2006/math">
                    <m:r>
                      <a:rPr lang="es-MX" sz="2000" i="1">
                        <a:latin typeface="+mn-lt"/>
                        <a:ea typeface="Cambria Math" panose="02040503050406030204" pitchFamily="18" charset="0"/>
                      </a:rPr>
                      <m:t>𝐴</m:t>
                    </m:r>
                  </m:oMath>
                </a14:m>
                <a:r>
                  <a:rPr lang="es-MX" sz="2000" dirty="0">
                    <a:latin typeface="+mn-lt"/>
                    <a:ea typeface="Roboto" panose="02000000000000000000" pitchFamily="2" charset="0"/>
                  </a:rPr>
                  <a:t> (</a:t>
                </a:r>
                <a14:m>
                  <m:oMath xmlns:m="http://schemas.openxmlformats.org/officeDocument/2006/math">
                    <m:r>
                      <a:rPr lang="es-MX" sz="2000" i="1">
                        <a:latin typeface="+mn-lt"/>
                        <a:ea typeface="Cambria Math" panose="02040503050406030204" pitchFamily="18" charset="0"/>
                      </a:rPr>
                      <m:t>𝐴</m:t>
                    </m:r>
                    <m:r>
                      <a:rPr lang="es-MX" sz="2000" b="0" i="1" smtClean="0">
                        <a:latin typeface="+mn-lt"/>
                        <a:ea typeface="Cambria Math" panose="02040503050406030204" pitchFamily="18" charset="0"/>
                      </a:rPr>
                      <m:t>′</m:t>
                    </m:r>
                  </m:oMath>
                </a14:m>
                <a:r>
                  <a:rPr lang="es-MX" sz="2000" dirty="0">
                    <a:latin typeface="+mn-lt"/>
                    <a:ea typeface="Roboto" panose="02000000000000000000" pitchFamily="2" charset="0"/>
                  </a:rPr>
                  <a:t>) es el conjunto de elementos del universo </a:t>
                </a:r>
                <a14:m>
                  <m:oMath xmlns:m="http://schemas.openxmlformats.org/officeDocument/2006/math">
                    <m:r>
                      <a:rPr lang="es-MX" sz="2000" b="0" i="1" smtClean="0">
                        <a:latin typeface="+mn-lt"/>
                        <a:ea typeface="Cambria Math" panose="02040503050406030204" pitchFamily="18" charset="0"/>
                      </a:rPr>
                      <m:t>𝑈</m:t>
                    </m:r>
                  </m:oMath>
                </a14:m>
                <a:r>
                  <a:rPr lang="es-MX" sz="2000" dirty="0">
                    <a:latin typeface="+mn-lt"/>
                    <a:ea typeface="Roboto" panose="02000000000000000000" pitchFamily="2" charset="0"/>
                  </a:rPr>
                  <a:t> que no pertenecen a </a:t>
                </a:r>
                <a14:m>
                  <m:oMath xmlns:m="http://schemas.openxmlformats.org/officeDocument/2006/math">
                    <m:r>
                      <a:rPr lang="es-MX" sz="2000" i="1">
                        <a:latin typeface="+mn-lt"/>
                        <a:ea typeface="Cambria Math" panose="02040503050406030204" pitchFamily="18" charset="0"/>
                      </a:rPr>
                      <m:t>𝐴</m:t>
                    </m:r>
                  </m:oMath>
                </a14:m>
                <a:r>
                  <a:rPr lang="es-MX" sz="2000" dirty="0">
                    <a:latin typeface="+mn-lt"/>
                    <a:ea typeface="Roboto" panose="02000000000000000000" pitchFamily="2" charset="0"/>
                  </a:rPr>
                  <a:t>.</a:t>
                </a:r>
              </a:p>
              <a:p>
                <a:r>
                  <a:rPr lang="es-MX" sz="2000" b="1" dirty="0">
                    <a:latin typeface="+mn-lt"/>
                    <a:ea typeface="Roboto" panose="02000000000000000000" pitchFamily="2" charset="0"/>
                  </a:rPr>
                  <a:t>Definición formal</a:t>
                </a:r>
                <a:r>
                  <a:rPr lang="es-MX" sz="2000" dirty="0">
                    <a:latin typeface="+mn-lt"/>
                    <a:ea typeface="Roboto" panose="02000000000000000000" pitchFamily="2" charset="0"/>
                  </a:rPr>
                  <a:t>:</a:t>
                </a:r>
              </a:p>
              <a:p>
                <a:endParaRPr lang="es-MX" sz="2000" dirty="0">
                  <a:latin typeface="+mn-lt"/>
                  <a:ea typeface="Roboto" panose="02000000000000000000" pitchFamily="2" charset="0"/>
                </a:endParaRPr>
              </a:p>
              <a:p>
                <a:endParaRPr lang="es-MX" sz="2000" b="1" dirty="0">
                  <a:latin typeface="+mn-lt"/>
                  <a:ea typeface="Roboto" panose="02000000000000000000" pitchFamily="2" charset="0"/>
                </a:endParaRPr>
              </a:p>
              <a:p>
                <a:endParaRPr lang="es-MX" sz="2000" b="1" dirty="0">
                  <a:latin typeface="+mn-lt"/>
                  <a:ea typeface="Roboto" panose="02000000000000000000" pitchFamily="2" charset="0"/>
                </a:endParaRPr>
              </a:p>
              <a:p>
                <a:pPr lvl="1"/>
                <a:endParaRPr lang="es-MX" sz="1800" b="1" dirty="0">
                  <a:latin typeface="+mn-lt"/>
                  <a:ea typeface="Roboto" panose="02000000000000000000" pitchFamily="2" charset="0"/>
                </a:endParaRPr>
              </a:p>
            </p:txBody>
          </p:sp>
        </mc:Choice>
        <mc:Fallback>
          <p:sp>
            <p:nvSpPr>
              <p:cNvPr id="5" name="Google Shape;310;p34">
                <a:extLst>
                  <a:ext uri="{FF2B5EF4-FFF2-40B4-BE49-F238E27FC236}">
                    <a16:creationId xmlns:a16="http://schemas.microsoft.com/office/drawing/2014/main" id="{74048116-F8B3-487E-B641-CCAA4370A901}"/>
                  </a:ext>
                </a:extLst>
              </p:cNvPr>
              <p:cNvSpPr txBox="1">
                <a:spLocks noRot="1" noChangeAspect="1" noMove="1" noResize="1" noEditPoints="1" noAdjustHandles="1" noChangeArrowheads="1" noChangeShapeType="1" noTextEdit="1"/>
              </p:cNvSpPr>
              <p:nvPr/>
            </p:nvSpPr>
            <p:spPr>
              <a:xfrm>
                <a:off x="916651" y="1477783"/>
                <a:ext cx="7262150" cy="2357618"/>
              </a:xfrm>
              <a:prstGeom prst="rect">
                <a:avLst/>
              </a:prstGeom>
              <a:blipFill>
                <a:blip r:embed="rId4"/>
                <a:stretch>
                  <a:fillRect r="-1426"/>
                </a:stretch>
              </a:blipFill>
              <a:ln>
                <a:noFill/>
              </a:ln>
            </p:spPr>
            <p:txBody>
              <a:bodyPr/>
              <a:lstStyle/>
              <a:p>
                <a:r>
                  <a:rPr lang="es-CO">
                    <a:noFill/>
                  </a:rPr>
                  <a:t> </a:t>
                </a:r>
              </a:p>
            </p:txBody>
          </p:sp>
        </mc:Fallback>
      </mc:AlternateContent>
      <p:pic>
        <p:nvPicPr>
          <p:cNvPr id="4" name="Imagen 3">
            <a:extLst>
              <a:ext uri="{FF2B5EF4-FFF2-40B4-BE49-F238E27FC236}">
                <a16:creationId xmlns:a16="http://schemas.microsoft.com/office/drawing/2014/main" id="{965A374F-ED7A-4228-BDCA-44F198D3902C}"/>
              </a:ext>
            </a:extLst>
          </p:cNvPr>
          <p:cNvPicPr>
            <a:picLocks noChangeAspect="1"/>
          </p:cNvPicPr>
          <p:nvPr/>
        </p:nvPicPr>
        <p:blipFill>
          <a:blip r:embed="rId5"/>
          <a:stretch>
            <a:fillRect/>
          </a:stretch>
        </p:blipFill>
        <p:spPr>
          <a:xfrm>
            <a:off x="8042086" y="907631"/>
            <a:ext cx="3791335" cy="2610700"/>
          </a:xfrm>
          <a:prstGeom prst="rect">
            <a:avLst/>
          </a:prstGeom>
        </p:spPr>
      </p:pic>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4F97A43A-7318-47E9-A946-53A4B229A0C8}"/>
                  </a:ext>
                </a:extLst>
              </p:cNvPr>
              <p:cNvSpPr txBox="1"/>
              <p:nvPr/>
            </p:nvSpPr>
            <p:spPr>
              <a:xfrm>
                <a:off x="1633755" y="2782561"/>
                <a:ext cx="5827942" cy="307777"/>
              </a:xfrm>
              <a:prstGeom prst="rect">
                <a:avLst/>
              </a:prstGeom>
              <a:solidFill>
                <a:schemeClr val="bg1">
                  <a:lumMod val="95000"/>
                </a:schemeClr>
              </a:solidFill>
            </p:spPr>
            <p:txBody>
              <a:bodyPr wrap="none" lIns="0" tIns="0" rIns="0" bIns="0" rtlCol="0">
                <a:spAutoFit/>
              </a:bodyPr>
              <a:lstStyle/>
              <a:p>
                <a:pPr marL="127000" indent="0">
                  <a:buNone/>
                </a:pPr>
                <a14:m>
                  <m:oMathPara xmlns:m="http://schemas.openxmlformats.org/officeDocument/2006/math">
                    <m:oMathParaPr>
                      <m:jc m:val="centerGroup"/>
                    </m:oMathParaPr>
                    <m:oMath xmlns:m="http://schemas.openxmlformats.org/officeDocument/2006/math">
                      <m:sSup>
                        <m:sSupPr>
                          <m:ctrlPr>
                            <a:rPr lang="es-MX" sz="2000" i="1">
                              <a:latin typeface="Cambria Math" panose="02040503050406030204" pitchFamily="18" charset="0"/>
                              <a:ea typeface="Cambria Math" panose="02040503050406030204" pitchFamily="18" charset="0"/>
                            </a:rPr>
                          </m:ctrlPr>
                        </m:sSupPr>
                        <m:e>
                          <m:r>
                            <a:rPr lang="es-MX" sz="2000" i="1">
                              <a:latin typeface="Cambria Math" panose="02040503050406030204" pitchFamily="18" charset="0"/>
                            </a:rPr>
                            <m:t>𝐴</m:t>
                          </m:r>
                        </m:e>
                        <m:sup>
                          <m:r>
                            <a:rPr lang="es-MX" sz="2000" i="1">
                              <a:latin typeface="Cambria Math" panose="02040503050406030204" pitchFamily="18" charset="0"/>
                              <a:ea typeface="Cambria Math" panose="02040503050406030204" pitchFamily="18" charset="0"/>
                            </a:rPr>
                            <m:t>′</m:t>
                          </m:r>
                        </m:sup>
                      </m:sSup>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𝑈</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e>
                      </m:d>
                      <m:r>
                        <a:rPr lang="es-MX" sz="2000" i="1">
                          <a:latin typeface="Cambria Math" panose="02040503050406030204" pitchFamily="18" charset="0"/>
                          <a:ea typeface="Cambria Math" panose="02040503050406030204" pitchFamily="18" charset="0"/>
                        </a:rPr>
                        <m:t>∪</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e>
                      </m:d>
                      <m:r>
                        <a:rPr lang="es-MX" sz="2000" i="1">
                          <a:latin typeface="Cambria Math" panose="02040503050406030204" pitchFamily="18" charset="0"/>
                          <a:ea typeface="Cambria Math" panose="02040503050406030204" pitchFamily="18" charset="0"/>
                        </a:rPr>
                        <m:t>=</m:t>
                      </m:r>
                      <m:d>
                        <m:dPr>
                          <m:begChr m:val="{"/>
                          <m:endChr m:val="}"/>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𝑈</m:t>
                          </m:r>
                        </m:e>
                        <m:e>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e>
                          </m:d>
                        </m:e>
                      </m:d>
                    </m:oMath>
                  </m:oMathPara>
                </a14:m>
                <a:endParaRPr lang="es-MX" sz="2000" dirty="0">
                  <a:latin typeface="Roboto" panose="02000000000000000000" pitchFamily="2" charset="0"/>
                  <a:ea typeface="Cambria Math" panose="02040503050406030204" pitchFamily="18" charset="0"/>
                </a:endParaRPr>
              </a:p>
            </p:txBody>
          </p:sp>
        </mc:Choice>
        <mc:Fallback xmlns="">
          <p:sp>
            <p:nvSpPr>
              <p:cNvPr id="7" name="CuadroTexto 6">
                <a:extLst>
                  <a:ext uri="{FF2B5EF4-FFF2-40B4-BE49-F238E27FC236}">
                    <a16:creationId xmlns:a16="http://schemas.microsoft.com/office/drawing/2014/main" id="{4F97A43A-7318-47E9-A946-53A4B229A0C8}"/>
                  </a:ext>
                </a:extLst>
              </p:cNvPr>
              <p:cNvSpPr txBox="1">
                <a:spLocks noRot="1" noChangeAspect="1" noMove="1" noResize="1" noEditPoints="1" noAdjustHandles="1" noChangeArrowheads="1" noChangeShapeType="1" noTextEdit="1"/>
              </p:cNvSpPr>
              <p:nvPr/>
            </p:nvSpPr>
            <p:spPr>
              <a:xfrm>
                <a:off x="1633755" y="2782561"/>
                <a:ext cx="5827942" cy="307777"/>
              </a:xfrm>
              <a:prstGeom prst="rect">
                <a:avLst/>
              </a:prstGeom>
              <a:blipFill>
                <a:blip r:embed="rId6"/>
                <a:stretch>
                  <a:fillRect b="-19608"/>
                </a:stretch>
              </a:blipFill>
            </p:spPr>
            <p:txBody>
              <a:bodyPr/>
              <a:lstStyle/>
              <a:p>
                <a:r>
                  <a:rPr lang="es-CO">
                    <a:noFill/>
                  </a:rPr>
                  <a:t> </a:t>
                </a:r>
              </a:p>
            </p:txBody>
          </p:sp>
        </mc:Fallback>
      </mc:AlternateContent>
      <p:pic>
        <p:nvPicPr>
          <p:cNvPr id="9" name="Imagen 8">
            <a:extLst>
              <a:ext uri="{FF2B5EF4-FFF2-40B4-BE49-F238E27FC236}">
                <a16:creationId xmlns:a16="http://schemas.microsoft.com/office/drawing/2014/main" id="{46185A98-942A-467A-9591-699D62391621}"/>
              </a:ext>
            </a:extLst>
          </p:cNvPr>
          <p:cNvPicPr>
            <a:picLocks noChangeAspect="1"/>
          </p:cNvPicPr>
          <p:nvPr/>
        </p:nvPicPr>
        <p:blipFill>
          <a:blip r:embed="rId7"/>
          <a:stretch>
            <a:fillRect/>
          </a:stretch>
        </p:blipFill>
        <p:spPr>
          <a:xfrm>
            <a:off x="5170250" y="5380217"/>
            <a:ext cx="3260261" cy="1250248"/>
          </a:xfrm>
          <a:prstGeom prst="rect">
            <a:avLst/>
          </a:prstGeom>
        </p:spPr>
      </p:pic>
      <p:pic>
        <p:nvPicPr>
          <p:cNvPr id="12" name="Imagen 11">
            <a:extLst>
              <a:ext uri="{FF2B5EF4-FFF2-40B4-BE49-F238E27FC236}">
                <a16:creationId xmlns:a16="http://schemas.microsoft.com/office/drawing/2014/main" id="{CCB40FA0-A73A-4A64-BDCE-042E53C9F0B0}"/>
              </a:ext>
            </a:extLst>
          </p:cNvPr>
          <p:cNvPicPr>
            <a:picLocks noChangeAspect="1"/>
          </p:cNvPicPr>
          <p:nvPr/>
        </p:nvPicPr>
        <p:blipFill>
          <a:blip r:embed="rId8"/>
          <a:stretch>
            <a:fillRect/>
          </a:stretch>
        </p:blipFill>
        <p:spPr>
          <a:xfrm>
            <a:off x="8700679" y="5404100"/>
            <a:ext cx="3260261" cy="1239478"/>
          </a:xfrm>
          <a:prstGeom prst="rect">
            <a:avLst/>
          </a:prstGeom>
        </p:spPr>
      </p:pic>
      <p:sp>
        <p:nvSpPr>
          <p:cNvPr id="13" name="Google Shape;310;p34">
            <a:extLst>
              <a:ext uri="{FF2B5EF4-FFF2-40B4-BE49-F238E27FC236}">
                <a16:creationId xmlns:a16="http://schemas.microsoft.com/office/drawing/2014/main" id="{F32DFCB7-4500-412E-BE63-A591940C7EF7}"/>
              </a:ext>
            </a:extLst>
          </p:cNvPr>
          <p:cNvSpPr txBox="1">
            <a:spLocks/>
          </p:cNvSpPr>
          <p:nvPr/>
        </p:nvSpPr>
        <p:spPr>
          <a:xfrm>
            <a:off x="852303" y="3446793"/>
            <a:ext cx="11108637" cy="135147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1600" b="1" dirty="0">
                <a:latin typeface="+mn-lt"/>
                <a:ea typeface="Roboto" panose="02000000000000000000" pitchFamily="2" charset="0"/>
              </a:rPr>
              <a:t>Ejemplos: </a:t>
            </a:r>
            <a:r>
              <a:rPr lang="es-MX" sz="1600" dirty="0">
                <a:latin typeface="+mn-lt"/>
                <a:ea typeface="Roboto" panose="02000000000000000000" pitchFamily="2" charset="0"/>
              </a:rPr>
              <a:t>Sea A el conjunto de todas las letras que conforman la palabra calculo ‘calculo’ y B el conjunto asociado de letras que aparecen en ‘matemáticas discretas’. Determine:</a:t>
            </a:r>
          </a:p>
          <a:p>
            <a:pPr marL="584200" indent="-457200">
              <a:buFont typeface="+mj-lt"/>
              <a:buAutoNum type="arabicPeriod" startAt="8"/>
            </a:pPr>
            <a:r>
              <a:rPr lang="es-MX" sz="1600" dirty="0">
                <a:latin typeface="+mn-lt"/>
                <a:ea typeface="Roboto" panose="02000000000000000000" pitchFamily="2" charset="0"/>
              </a:rPr>
              <a:t>Las letras que no se encuentran en A.</a:t>
            </a:r>
          </a:p>
          <a:p>
            <a:pPr marL="584200" indent="-457200">
              <a:buFont typeface="+mj-lt"/>
              <a:buAutoNum type="arabicPeriod" startAt="8"/>
            </a:pPr>
            <a:r>
              <a:rPr lang="es-MX" sz="1600" dirty="0">
                <a:latin typeface="+mn-lt"/>
                <a:ea typeface="Roboto" panose="02000000000000000000" pitchFamily="2" charset="0"/>
              </a:rPr>
              <a:t>Las letras que no se encuentran en B.</a:t>
            </a:r>
          </a:p>
          <a:p>
            <a:pPr lvl="1"/>
            <a:endParaRPr lang="es-MX" sz="1800" b="1" dirty="0">
              <a:latin typeface="+mn-lt"/>
              <a:ea typeface="Roboto" panose="02000000000000000000" pitchFamily="2" charset="0"/>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2EEC6B6C-0EA3-4B65-91C3-BA838E095B0F}"/>
                  </a:ext>
                </a:extLst>
              </p:cNvPr>
              <p:cNvSpPr txBox="1"/>
              <p:nvPr/>
            </p:nvSpPr>
            <p:spPr>
              <a:xfrm>
                <a:off x="961351" y="5142691"/>
                <a:ext cx="3938731" cy="1323439"/>
              </a:xfrm>
              <a:prstGeom prst="rect">
                <a:avLst/>
              </a:prstGeom>
              <a:noFill/>
            </p:spPr>
            <p:txBody>
              <a:bodyPr wrap="square" rtlCol="0">
                <a:spAutoFit/>
              </a:bodyPr>
              <a:lstStyle/>
              <a:p>
                <a:r>
                  <a:rPr lang="es-CO" sz="1600" b="1" dirty="0"/>
                  <a:t>Solución</a:t>
                </a:r>
                <a:r>
                  <a:rPr lang="es-CO" sz="1600" dirty="0"/>
                  <a:t>:</a:t>
                </a:r>
              </a:p>
              <a:p>
                <a:pPr marL="285750" indent="-285750">
                  <a:buFont typeface="Arial" panose="020B0604020202020204" pitchFamily="34" charset="0"/>
                  <a:buChar char="•"/>
                </a:pPr>
                <a14:m>
                  <m:oMath xmlns:m="http://schemas.openxmlformats.org/officeDocument/2006/math">
                    <m:r>
                      <a:rPr lang="es-MX" sz="1600" b="0" i="1" smtClean="0">
                        <a:solidFill>
                          <a:schemeClr val="accent5"/>
                        </a:solidFill>
                        <a:latin typeface="Cambria Math" panose="02040503050406030204" pitchFamily="18" charset="0"/>
                        <a:ea typeface="Roboto" panose="02000000000000000000" pitchFamily="2" charset="0"/>
                      </a:rPr>
                      <m:t>𝐴</m:t>
                    </m:r>
                    <m:r>
                      <a:rPr lang="es-MX" sz="1600" b="0" i="1" smtClean="0">
                        <a:solidFill>
                          <a:schemeClr val="accent5"/>
                        </a:solidFill>
                        <a:latin typeface="Cambria Math" panose="02040503050406030204" pitchFamily="18" charset="0"/>
                        <a:ea typeface="Roboto" panose="02000000000000000000" pitchFamily="2" charset="0"/>
                      </a:rPr>
                      <m:t>=</m:t>
                    </m:r>
                    <m:d>
                      <m:dPr>
                        <m:begChr m:val="{"/>
                        <m:endChr m:val="}"/>
                        <m:ctrlPr>
                          <a:rPr lang="es-MX" sz="1600" b="0" i="1" smtClean="0">
                            <a:solidFill>
                              <a:schemeClr val="accent5"/>
                            </a:solidFill>
                            <a:latin typeface="Cambria Math" panose="02040503050406030204" pitchFamily="18" charset="0"/>
                            <a:ea typeface="Roboto" panose="02000000000000000000" pitchFamily="2" charset="0"/>
                          </a:rPr>
                        </m:ctrlPr>
                      </m:dPr>
                      <m:e>
                        <m:r>
                          <a:rPr lang="es-MX" sz="1600" b="0" i="1" smtClean="0">
                            <a:solidFill>
                              <a:schemeClr val="accent6"/>
                            </a:solidFill>
                            <a:latin typeface="Cambria Math" panose="02040503050406030204" pitchFamily="18" charset="0"/>
                            <a:ea typeface="Roboto" panose="02000000000000000000" pitchFamily="2" charset="0"/>
                          </a:rPr>
                          <m:t>𝑐</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6"/>
                            </a:solidFill>
                            <a:latin typeface="Cambria Math" panose="02040503050406030204" pitchFamily="18" charset="0"/>
                            <a:ea typeface="Roboto" panose="02000000000000000000" pitchFamily="2" charset="0"/>
                          </a:rPr>
                          <m:t>𝑎</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𝑙</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𝑢</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𝑜</m:t>
                        </m:r>
                      </m:e>
                    </m:d>
                  </m:oMath>
                </a14:m>
                <a:endParaRPr lang="es-MX" sz="1600" b="0" dirty="0">
                  <a:latin typeface="Roboto" panose="02000000000000000000" pitchFamily="2" charset="0"/>
                  <a:ea typeface="Roboto" panose="02000000000000000000" pitchFamily="2" charset="0"/>
                </a:endParaRPr>
              </a:p>
              <a:p>
                <a:pPr marL="285750" indent="-285750">
                  <a:buFont typeface="Arial" panose="020B0604020202020204" pitchFamily="34" charset="0"/>
                  <a:buChar char="•"/>
                </a:pPr>
                <a14:m>
                  <m:oMath xmlns:m="http://schemas.openxmlformats.org/officeDocument/2006/math">
                    <m:r>
                      <a:rPr lang="es-MX" sz="1600" b="0" i="1" smtClean="0">
                        <a:solidFill>
                          <a:schemeClr val="accent2"/>
                        </a:solidFill>
                        <a:latin typeface="Cambria Math" panose="02040503050406030204" pitchFamily="18" charset="0"/>
                        <a:ea typeface="Roboto" panose="02000000000000000000" pitchFamily="2" charset="0"/>
                      </a:rPr>
                      <m:t>𝐵</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𝑚</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6"/>
                        </a:solidFill>
                        <a:latin typeface="Cambria Math" panose="02040503050406030204" pitchFamily="18" charset="0"/>
                        <a:ea typeface="Roboto" panose="02000000000000000000" pitchFamily="2" charset="0"/>
                      </a:rPr>
                      <m:t>𝑎</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𝑡</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𝑒</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𝑖</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6"/>
                        </a:solidFill>
                        <a:latin typeface="Cambria Math" panose="02040503050406030204" pitchFamily="18" charset="0"/>
                        <a:ea typeface="Roboto" panose="02000000000000000000" pitchFamily="2" charset="0"/>
                      </a:rPr>
                      <m:t>𝑐</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𝑠</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𝑑</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𝑟</m:t>
                    </m:r>
                    <m:r>
                      <a:rPr lang="es-MX" sz="1600" b="0" i="1" smtClean="0">
                        <a:solidFill>
                          <a:schemeClr val="accent2"/>
                        </a:solidFill>
                        <a:latin typeface="Cambria Math" panose="02040503050406030204" pitchFamily="18" charset="0"/>
                        <a:ea typeface="Roboto" panose="02000000000000000000" pitchFamily="2" charset="0"/>
                      </a:rPr>
                      <m:t>}</m:t>
                    </m:r>
                  </m:oMath>
                </a14:m>
                <a:endParaRPr lang="es-CO" sz="1600" dirty="0">
                  <a:solidFill>
                    <a:schemeClr val="accent2"/>
                  </a:solidFill>
                  <a:latin typeface="Roboto" panose="02000000000000000000" pitchFamily="2" charset="0"/>
                  <a:ea typeface="Roboto" panose="02000000000000000000" pitchFamily="2" charset="0"/>
                </a:endParaRPr>
              </a:p>
              <a:p>
                <a:pPr marL="285750" indent="-285750">
                  <a:buFont typeface="Arial" panose="020B0604020202020204" pitchFamily="34" charset="0"/>
                  <a:buChar char="•"/>
                </a:pPr>
                <a14:m>
                  <m:oMath xmlns:m="http://schemas.openxmlformats.org/officeDocument/2006/math">
                    <m:sSup>
                      <m:sSupPr>
                        <m:ctrlPr>
                          <a:rPr lang="es-MX" sz="1600" b="0" i="1" smtClean="0">
                            <a:latin typeface="Cambria Math" panose="02040503050406030204" pitchFamily="18" charset="0"/>
                            <a:ea typeface="Roboto" panose="02000000000000000000" pitchFamily="2" charset="0"/>
                          </a:rPr>
                        </m:ctrlPr>
                      </m:sSupPr>
                      <m:e>
                        <m:r>
                          <a:rPr lang="es-MX" sz="1600" b="0" i="1" smtClean="0">
                            <a:latin typeface="Cambria Math" panose="02040503050406030204" pitchFamily="18" charset="0"/>
                            <a:ea typeface="Roboto" panose="02000000000000000000" pitchFamily="2" charset="0"/>
                          </a:rPr>
                          <m:t>𝐴</m:t>
                        </m:r>
                      </m:e>
                      <m:sup>
                        <m:r>
                          <a:rPr lang="es-MX" sz="1600" b="0" i="1" smtClean="0">
                            <a:latin typeface="Cambria Math" panose="02040503050406030204" pitchFamily="18" charset="0"/>
                            <a:ea typeface="Roboto" panose="02000000000000000000" pitchFamily="2" charset="0"/>
                          </a:rPr>
                          <m:t>′</m:t>
                        </m:r>
                      </m:sup>
                    </m:sSup>
                    <m:r>
                      <a:rPr lang="es-MX" sz="1600" b="0" i="1" smtClean="0">
                        <a:latin typeface="Cambria Math" panose="02040503050406030204" pitchFamily="18" charset="0"/>
                        <a:ea typeface="Roboto" panose="02000000000000000000" pitchFamily="2" charset="0"/>
                      </a:rPr>
                      <m:t>=</m:t>
                    </m:r>
                    <m:d>
                      <m:dPr>
                        <m:begChr m:val="{"/>
                        <m:endChr m:val="}"/>
                        <m:ctrlPr>
                          <a:rPr lang="es-MX" sz="1600" b="0" i="1" smtClean="0">
                            <a:solidFill>
                              <a:schemeClr val="tx1"/>
                            </a:solidFill>
                            <a:latin typeface="Cambria Math" panose="02040503050406030204" pitchFamily="18" charset="0"/>
                            <a:ea typeface="Cambria Math" panose="02040503050406030204" pitchFamily="18" charset="0"/>
                          </a:rPr>
                        </m:ctrlPr>
                      </m:dPr>
                      <m:e>
                        <m:r>
                          <a:rPr lang="es-MX" sz="1600" b="0" i="1" smtClean="0">
                            <a:solidFill>
                              <a:schemeClr val="tx1"/>
                            </a:solidFill>
                            <a:latin typeface="Cambria Math" panose="02040503050406030204" pitchFamily="18" charset="0"/>
                            <a:ea typeface="Roboto" panose="02000000000000000000" pitchFamily="2" charset="0"/>
                          </a:rPr>
                          <m:t>𝑎</m:t>
                        </m:r>
                        <m:r>
                          <a:rPr lang="es-MX" sz="1600" b="0" i="1" smtClean="0">
                            <a:solidFill>
                              <a:schemeClr val="tx1"/>
                            </a:solidFill>
                            <a:latin typeface="Cambria Math" panose="02040503050406030204" pitchFamily="18" charset="0"/>
                            <a:ea typeface="Roboto" panose="02000000000000000000" pitchFamily="2" charset="0"/>
                          </a:rPr>
                          <m:t>,</m:t>
                        </m:r>
                        <m:r>
                          <a:rPr lang="es-MX" sz="1600" b="0" i="1" smtClean="0">
                            <a:solidFill>
                              <a:schemeClr val="tx1"/>
                            </a:solidFill>
                            <a:latin typeface="Cambria Math" panose="02040503050406030204" pitchFamily="18" charset="0"/>
                            <a:ea typeface="Roboto" panose="02000000000000000000" pitchFamily="2" charset="0"/>
                          </a:rPr>
                          <m:t>𝑏</m:t>
                        </m:r>
                        <m:r>
                          <a:rPr lang="es-MX" sz="1600" b="0" i="1" smtClean="0">
                            <a:solidFill>
                              <a:schemeClr val="tx1"/>
                            </a:solidFill>
                            <a:latin typeface="Cambria Math" panose="02040503050406030204" pitchFamily="18" charset="0"/>
                            <a:ea typeface="Roboto" panose="02000000000000000000" pitchFamily="2" charset="0"/>
                          </a:rPr>
                          <m:t>,…,</m:t>
                        </m:r>
                        <m:r>
                          <a:rPr lang="es-MX" sz="1600" b="0" i="1" smtClean="0">
                            <a:solidFill>
                              <a:schemeClr val="tx1"/>
                            </a:solidFill>
                            <a:latin typeface="Cambria Math" panose="02040503050406030204" pitchFamily="18" charset="0"/>
                            <a:ea typeface="Roboto" panose="02000000000000000000" pitchFamily="2" charset="0"/>
                          </a:rPr>
                          <m:t>𝑧</m:t>
                        </m:r>
                      </m:e>
                    </m:d>
                    <m:r>
                      <a:rPr lang="es-MX" sz="1600" i="1">
                        <a:solidFill>
                          <a:schemeClr val="accent6"/>
                        </a:solidFill>
                        <a:latin typeface="Cambria Math" panose="02040503050406030204" pitchFamily="18" charset="0"/>
                        <a:ea typeface="Roboto" panose="02000000000000000000" pitchFamily="2" charset="0"/>
                      </a:rPr>
                      <m:t>−{</m:t>
                    </m:r>
                    <m:r>
                      <a:rPr lang="es-MX" sz="1600" i="1">
                        <a:solidFill>
                          <a:schemeClr val="accent6"/>
                        </a:solidFill>
                        <a:latin typeface="Cambria Math" panose="02040503050406030204" pitchFamily="18" charset="0"/>
                        <a:ea typeface="Roboto" panose="02000000000000000000" pitchFamily="2" charset="0"/>
                      </a:rPr>
                      <m:t>𝑐</m:t>
                    </m:r>
                    <m:r>
                      <a:rPr lang="es-MX" sz="1600" i="1">
                        <a:solidFill>
                          <a:schemeClr val="accent5"/>
                        </a:solidFill>
                        <a:latin typeface="Cambria Math" panose="02040503050406030204" pitchFamily="18" charset="0"/>
                        <a:ea typeface="Roboto" panose="02000000000000000000" pitchFamily="2" charset="0"/>
                      </a:rPr>
                      <m:t>,</m:t>
                    </m:r>
                    <m:r>
                      <a:rPr lang="es-MX" sz="1600" i="1">
                        <a:solidFill>
                          <a:schemeClr val="accent6"/>
                        </a:solidFill>
                        <a:latin typeface="Cambria Math" panose="02040503050406030204" pitchFamily="18" charset="0"/>
                        <a:ea typeface="Roboto" panose="02000000000000000000" pitchFamily="2" charset="0"/>
                      </a:rPr>
                      <m:t>𝑎</m:t>
                    </m:r>
                    <m:r>
                      <a:rPr lang="es-MX" sz="1600" i="1">
                        <a:solidFill>
                          <a:schemeClr val="accent5"/>
                        </a:solidFill>
                        <a:latin typeface="Cambria Math" panose="02040503050406030204" pitchFamily="18" charset="0"/>
                        <a:ea typeface="Roboto" panose="02000000000000000000" pitchFamily="2" charset="0"/>
                      </a:rPr>
                      <m:t>,</m:t>
                    </m:r>
                    <m:r>
                      <a:rPr lang="es-MX" sz="1600" i="1">
                        <a:solidFill>
                          <a:schemeClr val="accent5"/>
                        </a:solidFill>
                        <a:latin typeface="Cambria Math" panose="02040503050406030204" pitchFamily="18" charset="0"/>
                        <a:ea typeface="Roboto" panose="02000000000000000000" pitchFamily="2" charset="0"/>
                      </a:rPr>
                      <m:t>𝑙</m:t>
                    </m:r>
                    <m:r>
                      <a:rPr lang="es-MX" sz="1600" i="1">
                        <a:solidFill>
                          <a:schemeClr val="accent5"/>
                        </a:solidFill>
                        <a:latin typeface="Cambria Math" panose="02040503050406030204" pitchFamily="18" charset="0"/>
                        <a:ea typeface="Roboto" panose="02000000000000000000" pitchFamily="2" charset="0"/>
                      </a:rPr>
                      <m:t>,</m:t>
                    </m:r>
                    <m:r>
                      <a:rPr lang="es-MX" sz="1600" i="1">
                        <a:solidFill>
                          <a:schemeClr val="accent5"/>
                        </a:solidFill>
                        <a:latin typeface="Cambria Math" panose="02040503050406030204" pitchFamily="18" charset="0"/>
                        <a:ea typeface="Roboto" panose="02000000000000000000" pitchFamily="2" charset="0"/>
                      </a:rPr>
                      <m:t>𝑢</m:t>
                    </m:r>
                    <m:r>
                      <a:rPr lang="es-MX" sz="1600" i="1">
                        <a:solidFill>
                          <a:schemeClr val="accent5"/>
                        </a:solidFill>
                        <a:latin typeface="Cambria Math" panose="02040503050406030204" pitchFamily="18" charset="0"/>
                        <a:ea typeface="Roboto" panose="02000000000000000000" pitchFamily="2" charset="0"/>
                      </a:rPr>
                      <m:t>,</m:t>
                    </m:r>
                    <m:r>
                      <a:rPr lang="es-MX" sz="1600" i="1">
                        <a:solidFill>
                          <a:schemeClr val="accent5"/>
                        </a:solidFill>
                        <a:latin typeface="Cambria Math" panose="02040503050406030204" pitchFamily="18" charset="0"/>
                        <a:ea typeface="Roboto" panose="02000000000000000000" pitchFamily="2" charset="0"/>
                      </a:rPr>
                      <m:t>𝑜</m:t>
                    </m:r>
                    <m:r>
                      <a:rPr lang="es-MX" sz="1600" b="0" i="1" smtClean="0">
                        <a:solidFill>
                          <a:schemeClr val="accent6"/>
                        </a:solidFill>
                        <a:latin typeface="Cambria Math" panose="02040503050406030204" pitchFamily="18" charset="0"/>
                        <a:ea typeface="Roboto" panose="02000000000000000000" pitchFamily="2" charset="0"/>
                      </a:rPr>
                      <m:t>}</m:t>
                    </m:r>
                  </m:oMath>
                </a14:m>
                <a:endParaRPr lang="es-MX" sz="1600" b="0" dirty="0">
                  <a:ea typeface="Roboto" panose="02000000000000000000" pitchFamily="2" charset="0"/>
                </a:endParaRPr>
              </a:p>
              <a:p>
                <a:pPr marL="285750" indent="-285750">
                  <a:buFont typeface="Arial" panose="020B0604020202020204" pitchFamily="34" charset="0"/>
                  <a:buChar char="•"/>
                </a:pPr>
                <a14:m>
                  <m:oMath xmlns:m="http://schemas.openxmlformats.org/officeDocument/2006/math">
                    <m:sSup>
                      <m:sSupPr>
                        <m:ctrlPr>
                          <a:rPr lang="es-MX" sz="1600" i="1">
                            <a:latin typeface="Cambria Math" panose="02040503050406030204" pitchFamily="18" charset="0"/>
                            <a:ea typeface="Roboto" panose="02000000000000000000" pitchFamily="2" charset="0"/>
                          </a:rPr>
                        </m:ctrlPr>
                      </m:sSupPr>
                      <m:e>
                        <m:r>
                          <a:rPr lang="es-MX" sz="1600" i="1">
                            <a:latin typeface="Cambria Math" panose="02040503050406030204" pitchFamily="18" charset="0"/>
                            <a:ea typeface="Roboto" panose="02000000000000000000" pitchFamily="2" charset="0"/>
                          </a:rPr>
                          <m:t>𝐵</m:t>
                        </m:r>
                      </m:e>
                      <m:sup>
                        <m:r>
                          <a:rPr lang="es-MX" sz="1600" i="1">
                            <a:latin typeface="Cambria Math" panose="02040503050406030204" pitchFamily="18" charset="0"/>
                            <a:ea typeface="Roboto" panose="02000000000000000000" pitchFamily="2" charset="0"/>
                          </a:rPr>
                          <m:t>′</m:t>
                        </m:r>
                      </m:sup>
                    </m:sSup>
                    <m:r>
                      <a:rPr lang="es-MX" sz="1600" i="1">
                        <a:latin typeface="Cambria Math" panose="02040503050406030204" pitchFamily="18" charset="0"/>
                        <a:ea typeface="Roboto" panose="02000000000000000000" pitchFamily="2" charset="0"/>
                      </a:rPr>
                      <m:t>=</m:t>
                    </m:r>
                    <m:d>
                      <m:dPr>
                        <m:begChr m:val="{"/>
                        <m:endChr m:val="}"/>
                        <m:ctrlPr>
                          <a:rPr lang="es-MX" sz="1600" i="1">
                            <a:solidFill>
                              <a:schemeClr val="tx1"/>
                            </a:solidFill>
                            <a:latin typeface="Cambria Math" panose="02040503050406030204" pitchFamily="18" charset="0"/>
                            <a:ea typeface="Cambria Math" panose="02040503050406030204" pitchFamily="18" charset="0"/>
                          </a:rPr>
                        </m:ctrlPr>
                      </m:dPr>
                      <m:e>
                        <m:r>
                          <a:rPr lang="es-MX" sz="1600" i="1">
                            <a:solidFill>
                              <a:schemeClr val="tx1"/>
                            </a:solidFill>
                            <a:latin typeface="Cambria Math" panose="02040503050406030204" pitchFamily="18" charset="0"/>
                            <a:ea typeface="Roboto" panose="02000000000000000000" pitchFamily="2" charset="0"/>
                          </a:rPr>
                          <m:t>𝑎</m:t>
                        </m:r>
                        <m:r>
                          <a:rPr lang="es-MX" sz="1600" i="1">
                            <a:solidFill>
                              <a:schemeClr val="tx1"/>
                            </a:solidFill>
                            <a:latin typeface="Cambria Math" panose="02040503050406030204" pitchFamily="18" charset="0"/>
                            <a:ea typeface="Roboto" panose="02000000000000000000" pitchFamily="2" charset="0"/>
                          </a:rPr>
                          <m:t>,</m:t>
                        </m:r>
                        <m:r>
                          <a:rPr lang="es-MX" sz="1600" i="1">
                            <a:solidFill>
                              <a:schemeClr val="tx1"/>
                            </a:solidFill>
                            <a:latin typeface="Cambria Math" panose="02040503050406030204" pitchFamily="18" charset="0"/>
                            <a:ea typeface="Roboto" panose="02000000000000000000" pitchFamily="2" charset="0"/>
                          </a:rPr>
                          <m:t>𝑏</m:t>
                        </m:r>
                        <m:r>
                          <a:rPr lang="es-MX" sz="1600" i="1">
                            <a:solidFill>
                              <a:schemeClr val="tx1"/>
                            </a:solidFill>
                            <a:latin typeface="Cambria Math" panose="02040503050406030204" pitchFamily="18" charset="0"/>
                            <a:ea typeface="Roboto" panose="02000000000000000000" pitchFamily="2" charset="0"/>
                          </a:rPr>
                          <m:t>,…,</m:t>
                        </m:r>
                        <m:r>
                          <a:rPr lang="es-MX" sz="1600" i="1">
                            <a:solidFill>
                              <a:schemeClr val="tx1"/>
                            </a:solidFill>
                            <a:latin typeface="Cambria Math" panose="02040503050406030204" pitchFamily="18" charset="0"/>
                            <a:ea typeface="Roboto" panose="02000000000000000000" pitchFamily="2" charset="0"/>
                          </a:rPr>
                          <m:t>𝑧</m:t>
                        </m:r>
                      </m:e>
                    </m:d>
                    <m:r>
                      <a:rPr lang="es-MX" sz="1600" b="0" i="1" smtClean="0">
                        <a:solidFill>
                          <a:schemeClr val="tx1"/>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𝑚</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6"/>
                        </a:solidFill>
                        <a:latin typeface="Cambria Math" panose="02040503050406030204" pitchFamily="18" charset="0"/>
                        <a:ea typeface="Roboto" panose="02000000000000000000" pitchFamily="2" charset="0"/>
                      </a:rPr>
                      <m:t>𝑎</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𝑡</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𝑒</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𝑖</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6"/>
                        </a:solidFill>
                        <a:latin typeface="Cambria Math" panose="02040503050406030204" pitchFamily="18" charset="0"/>
                        <a:ea typeface="Roboto" panose="02000000000000000000" pitchFamily="2" charset="0"/>
                      </a:rPr>
                      <m:t>𝑐</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𝑠</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𝑑</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𝑟</m:t>
                    </m:r>
                    <m:r>
                      <a:rPr lang="es-MX" sz="1600" i="1">
                        <a:solidFill>
                          <a:schemeClr val="accent2"/>
                        </a:solidFill>
                        <a:latin typeface="Cambria Math" panose="02040503050406030204" pitchFamily="18" charset="0"/>
                        <a:ea typeface="Roboto" panose="02000000000000000000" pitchFamily="2" charset="0"/>
                      </a:rPr>
                      <m:t>}</m:t>
                    </m:r>
                  </m:oMath>
                </a14:m>
                <a:endParaRPr lang="es-CO" sz="1600" dirty="0">
                  <a:solidFill>
                    <a:schemeClr val="accent2"/>
                  </a:solidFill>
                  <a:latin typeface="Roboto" panose="02000000000000000000" pitchFamily="2" charset="0"/>
                  <a:ea typeface="Roboto" panose="02000000000000000000" pitchFamily="2" charset="0"/>
                </a:endParaRPr>
              </a:p>
            </p:txBody>
          </p:sp>
        </mc:Choice>
        <mc:Fallback xmlns="">
          <p:sp>
            <p:nvSpPr>
              <p:cNvPr id="14" name="CuadroTexto 13">
                <a:extLst>
                  <a:ext uri="{FF2B5EF4-FFF2-40B4-BE49-F238E27FC236}">
                    <a16:creationId xmlns:a16="http://schemas.microsoft.com/office/drawing/2014/main" id="{2EEC6B6C-0EA3-4B65-91C3-BA838E095B0F}"/>
                  </a:ext>
                </a:extLst>
              </p:cNvPr>
              <p:cNvSpPr txBox="1">
                <a:spLocks noRot="1" noChangeAspect="1" noMove="1" noResize="1" noEditPoints="1" noAdjustHandles="1" noChangeArrowheads="1" noChangeShapeType="1" noTextEdit="1"/>
              </p:cNvSpPr>
              <p:nvPr/>
            </p:nvSpPr>
            <p:spPr>
              <a:xfrm>
                <a:off x="961351" y="5142691"/>
                <a:ext cx="3938731" cy="1323439"/>
              </a:xfrm>
              <a:prstGeom prst="rect">
                <a:avLst/>
              </a:prstGeom>
              <a:blipFill>
                <a:blip r:embed="rId9"/>
                <a:stretch>
                  <a:fillRect l="-929" t="-1382" b="-3687"/>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855A5849-AF4D-49F8-A441-481277F368CF}"/>
                  </a:ext>
                </a:extLst>
              </p:cNvPr>
              <p:cNvSpPr txBox="1"/>
              <p:nvPr/>
            </p:nvSpPr>
            <p:spPr>
              <a:xfrm>
                <a:off x="5728358" y="5031607"/>
                <a:ext cx="2339487" cy="246221"/>
              </a:xfrm>
              <a:prstGeom prst="rect">
                <a:avLst/>
              </a:prstGeom>
              <a:no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MX" sz="1600" i="1" smtClean="0">
                              <a:latin typeface="Cambria Math" panose="02040503050406030204" pitchFamily="18" charset="0"/>
                              <a:ea typeface="Roboto" panose="02000000000000000000" pitchFamily="2" charset="0"/>
                            </a:rPr>
                          </m:ctrlPr>
                        </m:sSupPr>
                        <m:e>
                          <m:r>
                            <a:rPr lang="es-MX" sz="1600" i="1">
                              <a:latin typeface="Cambria Math" panose="02040503050406030204" pitchFamily="18" charset="0"/>
                              <a:ea typeface="Roboto" panose="02000000000000000000" pitchFamily="2" charset="0"/>
                            </a:rPr>
                            <m:t>𝐴</m:t>
                          </m:r>
                        </m:e>
                        <m:sup>
                          <m:r>
                            <a:rPr lang="es-MX" sz="1600" i="1">
                              <a:latin typeface="Cambria Math" panose="02040503050406030204" pitchFamily="18" charset="0"/>
                              <a:ea typeface="Roboto" panose="02000000000000000000" pitchFamily="2" charset="0"/>
                            </a:rPr>
                            <m:t>′</m:t>
                          </m:r>
                        </m:sup>
                      </m:sSup>
                      <m:r>
                        <a:rPr lang="es-MX" sz="1600" i="1">
                          <a:latin typeface="Cambria Math" panose="02040503050406030204" pitchFamily="18" charset="0"/>
                          <a:ea typeface="Roboto" panose="02000000000000000000" pitchFamily="2" charset="0"/>
                        </a:rPr>
                        <m:t>=</m:t>
                      </m:r>
                      <m:d>
                        <m:dPr>
                          <m:begChr m:val="{"/>
                          <m:endChr m:val="}"/>
                          <m:ctrlPr>
                            <a:rPr lang="es-MX" sz="1600" i="1">
                              <a:solidFill>
                                <a:schemeClr val="tx1"/>
                              </a:solidFill>
                              <a:latin typeface="Cambria Math" panose="02040503050406030204" pitchFamily="18" charset="0"/>
                              <a:ea typeface="Cambria Math" panose="02040503050406030204" pitchFamily="18" charset="0"/>
                            </a:rPr>
                          </m:ctrlPr>
                        </m:dPr>
                        <m:e>
                          <m:r>
                            <a:rPr lang="es-MX" sz="1600" i="1">
                              <a:solidFill>
                                <a:schemeClr val="tx1"/>
                              </a:solidFill>
                              <a:latin typeface="Cambria Math" panose="02040503050406030204" pitchFamily="18" charset="0"/>
                              <a:ea typeface="Roboto" panose="02000000000000000000" pitchFamily="2" charset="0"/>
                            </a:rPr>
                            <m:t>𝑏</m:t>
                          </m:r>
                          <m:r>
                            <a:rPr lang="es-MX" sz="1600" i="1">
                              <a:solidFill>
                                <a:schemeClr val="tx1"/>
                              </a:solidFill>
                              <a:latin typeface="Cambria Math" panose="02040503050406030204" pitchFamily="18" charset="0"/>
                              <a:ea typeface="Roboto" panose="02000000000000000000" pitchFamily="2" charset="0"/>
                            </a:rPr>
                            <m:t>,</m:t>
                          </m:r>
                          <m:r>
                            <a:rPr lang="es-MX" sz="1600" b="0" i="1" smtClean="0">
                              <a:solidFill>
                                <a:schemeClr val="tx1"/>
                              </a:solidFill>
                              <a:latin typeface="Cambria Math" panose="02040503050406030204" pitchFamily="18" charset="0"/>
                              <a:ea typeface="Roboto" panose="02000000000000000000" pitchFamily="2" charset="0"/>
                            </a:rPr>
                            <m:t>𝑑</m:t>
                          </m:r>
                          <m:r>
                            <a:rPr lang="es-MX" sz="1600" b="0" i="1" smtClean="0">
                              <a:solidFill>
                                <a:schemeClr val="tx1"/>
                              </a:solidFill>
                              <a:latin typeface="Cambria Math" panose="02040503050406030204" pitchFamily="18" charset="0"/>
                              <a:ea typeface="Roboto" panose="02000000000000000000" pitchFamily="2" charset="0"/>
                            </a:rPr>
                            <m:t>,…,</m:t>
                          </m:r>
                          <m:r>
                            <a:rPr lang="es-MX" sz="1600" b="0" i="1" smtClean="0">
                              <a:solidFill>
                                <a:schemeClr val="tx1"/>
                              </a:solidFill>
                              <a:latin typeface="Cambria Math" panose="02040503050406030204" pitchFamily="18" charset="0"/>
                              <a:ea typeface="Roboto" panose="02000000000000000000" pitchFamily="2" charset="0"/>
                            </a:rPr>
                            <m:t>𝑘</m:t>
                          </m:r>
                          <m:r>
                            <a:rPr lang="es-MX" sz="1600" b="0" i="1" smtClean="0">
                              <a:solidFill>
                                <a:schemeClr val="tx1"/>
                              </a:solidFill>
                              <a:latin typeface="Cambria Math" panose="02040503050406030204" pitchFamily="18" charset="0"/>
                              <a:ea typeface="Roboto" panose="02000000000000000000" pitchFamily="2" charset="0"/>
                            </a:rPr>
                            <m:t>,</m:t>
                          </m:r>
                          <m:r>
                            <a:rPr lang="es-MX" sz="1600" b="0" i="1" smtClean="0">
                              <a:solidFill>
                                <a:schemeClr val="tx1"/>
                              </a:solidFill>
                              <a:latin typeface="Cambria Math" panose="02040503050406030204" pitchFamily="18" charset="0"/>
                              <a:ea typeface="Roboto" panose="02000000000000000000" pitchFamily="2" charset="0"/>
                            </a:rPr>
                            <m:t>𝑚</m:t>
                          </m:r>
                          <m:r>
                            <a:rPr lang="es-MX" sz="1600" b="0" i="1" smtClean="0">
                              <a:solidFill>
                                <a:schemeClr val="tx1"/>
                              </a:solidFill>
                              <a:latin typeface="Cambria Math" panose="02040503050406030204" pitchFamily="18" charset="0"/>
                              <a:ea typeface="Roboto" panose="02000000000000000000" pitchFamily="2" charset="0"/>
                            </a:rPr>
                            <m:t>,</m:t>
                          </m:r>
                          <m:r>
                            <a:rPr lang="es-MX" sz="1600" b="0" i="1" smtClean="0">
                              <a:solidFill>
                                <a:schemeClr val="tx1"/>
                              </a:solidFill>
                              <a:latin typeface="Cambria Math" panose="02040503050406030204" pitchFamily="18" charset="0"/>
                              <a:ea typeface="Roboto" panose="02000000000000000000" pitchFamily="2" charset="0"/>
                            </a:rPr>
                            <m:t>𝑛</m:t>
                          </m:r>
                          <m:r>
                            <a:rPr lang="es-MX" sz="1600" b="0" i="1" smtClean="0">
                              <a:solidFill>
                                <a:schemeClr val="tx1"/>
                              </a:solidFill>
                              <a:latin typeface="Cambria Math" panose="02040503050406030204" pitchFamily="18" charset="0"/>
                              <a:ea typeface="Roboto" panose="02000000000000000000" pitchFamily="2" charset="0"/>
                            </a:rPr>
                            <m:t>,…,</m:t>
                          </m:r>
                          <m:r>
                            <a:rPr lang="es-MX" sz="1600" i="1">
                              <a:solidFill>
                                <a:schemeClr val="tx1"/>
                              </a:solidFill>
                              <a:latin typeface="Cambria Math" panose="02040503050406030204" pitchFamily="18" charset="0"/>
                              <a:ea typeface="Roboto" panose="02000000000000000000" pitchFamily="2" charset="0"/>
                            </a:rPr>
                            <m:t>𝑧</m:t>
                          </m:r>
                        </m:e>
                      </m:d>
                    </m:oMath>
                  </m:oMathPara>
                </a14:m>
                <a:endParaRPr lang="es-MX" sz="1600" dirty="0">
                  <a:ea typeface="Roboto" panose="02000000000000000000" pitchFamily="2" charset="0"/>
                </a:endParaRPr>
              </a:p>
            </p:txBody>
          </p:sp>
        </mc:Choice>
        <mc:Fallback xmlns="">
          <p:sp>
            <p:nvSpPr>
              <p:cNvPr id="15" name="CuadroTexto 14">
                <a:extLst>
                  <a:ext uri="{FF2B5EF4-FFF2-40B4-BE49-F238E27FC236}">
                    <a16:creationId xmlns:a16="http://schemas.microsoft.com/office/drawing/2014/main" id="{855A5849-AF4D-49F8-A441-481277F368CF}"/>
                  </a:ext>
                </a:extLst>
              </p:cNvPr>
              <p:cNvSpPr txBox="1">
                <a:spLocks noRot="1" noChangeAspect="1" noMove="1" noResize="1" noEditPoints="1" noAdjustHandles="1" noChangeArrowheads="1" noChangeShapeType="1" noTextEdit="1"/>
              </p:cNvSpPr>
              <p:nvPr/>
            </p:nvSpPr>
            <p:spPr>
              <a:xfrm>
                <a:off x="5728358" y="5031607"/>
                <a:ext cx="2339487" cy="246221"/>
              </a:xfrm>
              <a:prstGeom prst="rect">
                <a:avLst/>
              </a:prstGeom>
              <a:blipFill>
                <a:blip r:embed="rId10"/>
                <a:stretch>
                  <a:fillRect l="-1299" b="-4651"/>
                </a:stretch>
              </a:blipFill>
              <a:ln>
                <a:solidFill>
                  <a:schemeClr val="tx1"/>
                </a:solid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9A02AC19-EA69-40A1-B2CF-9DCCF7026A6F}"/>
                  </a:ext>
                </a:extLst>
              </p:cNvPr>
              <p:cNvSpPr txBox="1"/>
              <p:nvPr/>
            </p:nvSpPr>
            <p:spPr>
              <a:xfrm>
                <a:off x="9076587" y="5031606"/>
                <a:ext cx="2508444" cy="246221"/>
              </a:xfrm>
              <a:prstGeom prst="rect">
                <a:avLst/>
              </a:prstGeom>
              <a:no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MX" sz="1600" i="1" smtClean="0">
                              <a:latin typeface="Cambria Math" panose="02040503050406030204" pitchFamily="18" charset="0"/>
                              <a:ea typeface="Roboto" panose="02000000000000000000" pitchFamily="2" charset="0"/>
                            </a:rPr>
                          </m:ctrlPr>
                        </m:sSupPr>
                        <m:e>
                          <m:r>
                            <a:rPr lang="es-MX" sz="1600" b="0" i="1" smtClean="0">
                              <a:latin typeface="Cambria Math" panose="02040503050406030204" pitchFamily="18" charset="0"/>
                              <a:ea typeface="Roboto" panose="02000000000000000000" pitchFamily="2" charset="0"/>
                            </a:rPr>
                            <m:t>𝐵</m:t>
                          </m:r>
                        </m:e>
                        <m:sup>
                          <m:r>
                            <a:rPr lang="es-MX" sz="1600" i="1">
                              <a:latin typeface="Cambria Math" panose="02040503050406030204" pitchFamily="18" charset="0"/>
                              <a:ea typeface="Roboto" panose="02000000000000000000" pitchFamily="2" charset="0"/>
                            </a:rPr>
                            <m:t>′</m:t>
                          </m:r>
                        </m:sup>
                      </m:sSup>
                      <m:r>
                        <a:rPr lang="es-MX" sz="1600" i="1">
                          <a:latin typeface="Cambria Math" panose="02040503050406030204" pitchFamily="18" charset="0"/>
                          <a:ea typeface="Roboto" panose="02000000000000000000" pitchFamily="2" charset="0"/>
                        </a:rPr>
                        <m:t>=</m:t>
                      </m:r>
                      <m:d>
                        <m:dPr>
                          <m:begChr m:val="{"/>
                          <m:endChr m:val="}"/>
                          <m:ctrlPr>
                            <a:rPr lang="es-MX" sz="1600" i="1">
                              <a:solidFill>
                                <a:schemeClr val="tx1"/>
                              </a:solidFill>
                              <a:latin typeface="Cambria Math" panose="02040503050406030204" pitchFamily="18" charset="0"/>
                              <a:ea typeface="Cambria Math" panose="02040503050406030204" pitchFamily="18" charset="0"/>
                            </a:rPr>
                          </m:ctrlPr>
                        </m:dPr>
                        <m:e>
                          <m:r>
                            <a:rPr lang="es-MX" sz="1600" i="1">
                              <a:solidFill>
                                <a:schemeClr val="tx1"/>
                              </a:solidFill>
                              <a:latin typeface="Cambria Math" panose="02040503050406030204" pitchFamily="18" charset="0"/>
                              <a:ea typeface="Roboto" panose="02000000000000000000" pitchFamily="2" charset="0"/>
                            </a:rPr>
                            <m:t>𝑏</m:t>
                          </m:r>
                          <m:r>
                            <a:rPr lang="es-MX" sz="1600" i="1">
                              <a:solidFill>
                                <a:schemeClr val="tx1"/>
                              </a:solidFill>
                              <a:latin typeface="Cambria Math" panose="02040503050406030204" pitchFamily="18" charset="0"/>
                              <a:ea typeface="Roboto" panose="02000000000000000000" pitchFamily="2" charset="0"/>
                            </a:rPr>
                            <m:t>,</m:t>
                          </m:r>
                          <m:r>
                            <a:rPr lang="es-MX" sz="1600" b="0" i="1" smtClean="0">
                              <a:solidFill>
                                <a:schemeClr val="tx1"/>
                              </a:solidFill>
                              <a:latin typeface="Cambria Math" panose="02040503050406030204" pitchFamily="18" charset="0"/>
                              <a:ea typeface="Roboto" panose="02000000000000000000" pitchFamily="2" charset="0"/>
                            </a:rPr>
                            <m:t>𝑓</m:t>
                          </m:r>
                          <m:r>
                            <a:rPr lang="es-MX" sz="1600" b="0" i="1" smtClean="0">
                              <a:solidFill>
                                <a:schemeClr val="tx1"/>
                              </a:solidFill>
                              <a:latin typeface="Cambria Math" panose="02040503050406030204" pitchFamily="18" charset="0"/>
                              <a:ea typeface="Roboto" panose="02000000000000000000" pitchFamily="2" charset="0"/>
                            </a:rPr>
                            <m:t>,</m:t>
                          </m:r>
                          <m:r>
                            <a:rPr lang="es-MX" sz="1600" b="0" i="1" smtClean="0">
                              <a:solidFill>
                                <a:schemeClr val="tx1"/>
                              </a:solidFill>
                              <a:latin typeface="Cambria Math" panose="02040503050406030204" pitchFamily="18" charset="0"/>
                              <a:ea typeface="Roboto" panose="02000000000000000000" pitchFamily="2" charset="0"/>
                            </a:rPr>
                            <m:t>𝑔</m:t>
                          </m:r>
                          <m:r>
                            <a:rPr lang="es-MX" sz="1600" b="0" i="1" smtClean="0">
                              <a:solidFill>
                                <a:schemeClr val="tx1"/>
                              </a:solidFill>
                              <a:latin typeface="Cambria Math" panose="02040503050406030204" pitchFamily="18" charset="0"/>
                              <a:ea typeface="Roboto" panose="02000000000000000000" pitchFamily="2" charset="0"/>
                            </a:rPr>
                            <m:t>,…,</m:t>
                          </m:r>
                          <m:r>
                            <a:rPr lang="es-MX" sz="1600" b="0" i="1" smtClean="0">
                              <a:solidFill>
                                <a:schemeClr val="tx1"/>
                              </a:solidFill>
                              <a:latin typeface="Cambria Math" panose="02040503050406030204" pitchFamily="18" charset="0"/>
                              <a:ea typeface="Roboto" panose="02000000000000000000" pitchFamily="2" charset="0"/>
                            </a:rPr>
                            <m:t>𝑘</m:t>
                          </m:r>
                          <m:r>
                            <a:rPr lang="es-MX" sz="1600" b="0" i="1" smtClean="0">
                              <a:solidFill>
                                <a:schemeClr val="tx1"/>
                              </a:solidFill>
                              <a:latin typeface="Cambria Math" panose="02040503050406030204" pitchFamily="18" charset="0"/>
                              <a:ea typeface="Roboto" panose="02000000000000000000" pitchFamily="2" charset="0"/>
                            </a:rPr>
                            <m:t>,</m:t>
                          </m:r>
                          <m:r>
                            <a:rPr lang="es-MX" sz="1600" b="0" i="1" smtClean="0">
                              <a:solidFill>
                                <a:schemeClr val="tx1"/>
                              </a:solidFill>
                              <a:latin typeface="Cambria Math" panose="02040503050406030204" pitchFamily="18" charset="0"/>
                              <a:ea typeface="Roboto" panose="02000000000000000000" pitchFamily="2" charset="0"/>
                            </a:rPr>
                            <m:t>𝑙</m:t>
                          </m:r>
                          <m:r>
                            <a:rPr lang="es-MX" sz="1600" b="0" i="1" smtClean="0">
                              <a:solidFill>
                                <a:schemeClr val="tx1"/>
                              </a:solidFill>
                              <a:latin typeface="Cambria Math" panose="02040503050406030204" pitchFamily="18" charset="0"/>
                              <a:ea typeface="Roboto" panose="02000000000000000000" pitchFamily="2" charset="0"/>
                            </a:rPr>
                            <m:t>,</m:t>
                          </m:r>
                          <m:r>
                            <a:rPr lang="es-MX" sz="1600" b="0" i="1" smtClean="0">
                              <a:solidFill>
                                <a:schemeClr val="tx1"/>
                              </a:solidFill>
                              <a:latin typeface="Cambria Math" panose="02040503050406030204" pitchFamily="18" charset="0"/>
                              <a:ea typeface="Roboto" panose="02000000000000000000" pitchFamily="2" charset="0"/>
                            </a:rPr>
                            <m:t>𝑛</m:t>
                          </m:r>
                          <m:r>
                            <a:rPr lang="es-MX" sz="1600" b="0" i="1" smtClean="0">
                              <a:solidFill>
                                <a:schemeClr val="tx1"/>
                              </a:solidFill>
                              <a:latin typeface="Cambria Math" panose="02040503050406030204" pitchFamily="18" charset="0"/>
                              <a:ea typeface="Roboto" panose="02000000000000000000" pitchFamily="2" charset="0"/>
                            </a:rPr>
                            <m:t>,…,</m:t>
                          </m:r>
                          <m:r>
                            <a:rPr lang="es-MX" sz="1600" i="1">
                              <a:solidFill>
                                <a:schemeClr val="tx1"/>
                              </a:solidFill>
                              <a:latin typeface="Cambria Math" panose="02040503050406030204" pitchFamily="18" charset="0"/>
                              <a:ea typeface="Roboto" panose="02000000000000000000" pitchFamily="2" charset="0"/>
                            </a:rPr>
                            <m:t>𝑧</m:t>
                          </m:r>
                        </m:e>
                      </m:d>
                    </m:oMath>
                  </m:oMathPara>
                </a14:m>
                <a:endParaRPr lang="es-MX" sz="1600" dirty="0">
                  <a:ea typeface="Roboto" panose="02000000000000000000" pitchFamily="2" charset="0"/>
                </a:endParaRPr>
              </a:p>
            </p:txBody>
          </p:sp>
        </mc:Choice>
        <mc:Fallback xmlns="">
          <p:sp>
            <p:nvSpPr>
              <p:cNvPr id="17" name="CuadroTexto 16">
                <a:extLst>
                  <a:ext uri="{FF2B5EF4-FFF2-40B4-BE49-F238E27FC236}">
                    <a16:creationId xmlns:a16="http://schemas.microsoft.com/office/drawing/2014/main" id="{9A02AC19-EA69-40A1-B2CF-9DCCF7026A6F}"/>
                  </a:ext>
                </a:extLst>
              </p:cNvPr>
              <p:cNvSpPr txBox="1">
                <a:spLocks noRot="1" noChangeAspect="1" noMove="1" noResize="1" noEditPoints="1" noAdjustHandles="1" noChangeArrowheads="1" noChangeShapeType="1" noTextEdit="1"/>
              </p:cNvSpPr>
              <p:nvPr/>
            </p:nvSpPr>
            <p:spPr>
              <a:xfrm>
                <a:off x="9076587" y="5031606"/>
                <a:ext cx="2508444" cy="246221"/>
              </a:xfrm>
              <a:prstGeom prst="rect">
                <a:avLst/>
              </a:prstGeom>
              <a:blipFill>
                <a:blip r:embed="rId11"/>
                <a:stretch>
                  <a:fillRect b="-30233"/>
                </a:stretch>
              </a:blipFill>
              <a:ln>
                <a:solidFill>
                  <a:schemeClr val="tx1"/>
                </a:solidFill>
              </a:ln>
            </p:spPr>
            <p:txBody>
              <a:bodyPr/>
              <a:lstStyle/>
              <a:p>
                <a:r>
                  <a:rPr lang="es-CO">
                    <a:noFill/>
                  </a:rPr>
                  <a:t> </a:t>
                </a:r>
              </a:p>
            </p:txBody>
          </p:sp>
        </mc:Fallback>
      </mc:AlternateContent>
    </p:spTree>
    <p:extLst>
      <p:ext uri="{BB962C8B-B14F-4D97-AF65-F5344CB8AC3E}">
        <p14:creationId xmlns:p14="http://schemas.microsoft.com/office/powerpoint/2010/main" val="492496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p:txBody>
          <a:bodyPr/>
          <a:lstStyle/>
          <a:p>
            <a:r>
              <a:rPr lang="es-CO" dirty="0">
                <a:latin typeface="+mj-lt"/>
              </a:rPr>
              <a:t>Operaciones entre conjuntos</a:t>
            </a:r>
          </a:p>
        </p:txBody>
      </p:sp>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A19C6E9F-BCCF-4FD4-8EC3-574D66199786}"/>
                  </a:ext>
                </a:extLst>
              </p:cNvPr>
              <p:cNvSpPr txBox="1"/>
              <p:nvPr/>
            </p:nvSpPr>
            <p:spPr>
              <a:xfrm>
                <a:off x="916650" y="985339"/>
                <a:ext cx="11044291"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Diferencia simétrica (</a:t>
                </a:r>
                <a14:m>
                  <m:oMath xmlns:m="http://schemas.openxmlformats.org/officeDocument/2006/math">
                    <m:r>
                      <a:rPr lang="es-MX" sz="2600" b="1" i="1">
                        <a:solidFill>
                          <a:schemeClr val="accent6"/>
                        </a:solidFill>
                        <a:ea typeface="Roboto" panose="02000000000000000000" pitchFamily="2" charset="0"/>
                      </a:rPr>
                      <m:t>𝑨</m:t>
                    </m:r>
                    <m:r>
                      <a:rPr lang="es-MX" sz="2600" b="1" i="1" smtClean="0">
                        <a:solidFill>
                          <a:schemeClr val="accent6"/>
                        </a:solidFill>
                        <a:ea typeface="Cambria Math" panose="02040503050406030204" pitchFamily="18" charset="0"/>
                      </a:rPr>
                      <m:t>⊕</m:t>
                    </m:r>
                    <m:r>
                      <a:rPr lang="es-MX" sz="2600" b="1" i="1" smtClean="0">
                        <a:solidFill>
                          <a:schemeClr val="accent6"/>
                        </a:solidFill>
                        <a:ea typeface="Roboto" panose="02000000000000000000" pitchFamily="2" charset="0"/>
                      </a:rPr>
                      <m:t>𝑩</m:t>
                    </m:r>
                  </m:oMath>
                </a14:m>
                <a:r>
                  <a:rPr lang="es-MX" sz="2600" b="1" dirty="0">
                    <a:solidFill>
                      <a:schemeClr val="accent6"/>
                    </a:solidFill>
                    <a:ea typeface="Roboto" panose="02000000000000000000" pitchFamily="2" charset="0"/>
                  </a:rPr>
                  <a:t> ó </a:t>
                </a:r>
                <a14:m>
                  <m:oMath xmlns:m="http://schemas.openxmlformats.org/officeDocument/2006/math">
                    <m:r>
                      <a:rPr lang="es-MX" sz="2600" b="1" i="1" smtClean="0">
                        <a:solidFill>
                          <a:schemeClr val="accent6"/>
                        </a:solidFill>
                        <a:ea typeface="Roboto" panose="02000000000000000000" pitchFamily="2" charset="0"/>
                      </a:rPr>
                      <m:t>𝑨</m:t>
                    </m:r>
                    <m:r>
                      <a:rPr lang="es-MX" sz="2600" b="1" i="1" smtClean="0">
                        <a:solidFill>
                          <a:schemeClr val="accent6"/>
                        </a:solidFill>
                        <a:ea typeface="Cambria Math" panose="02040503050406030204" pitchFamily="18" charset="0"/>
                      </a:rPr>
                      <m:t>△</m:t>
                    </m:r>
                    <m:r>
                      <a:rPr lang="es-MX" sz="2600" b="1" i="1" smtClean="0">
                        <a:solidFill>
                          <a:schemeClr val="accent6"/>
                        </a:solidFill>
                        <a:ea typeface="Cambria Math" panose="02040503050406030204" pitchFamily="18" charset="0"/>
                      </a:rPr>
                      <m:t>𝑩</m:t>
                    </m:r>
                  </m:oMath>
                </a14:m>
                <a:r>
                  <a:rPr lang="es-MX" sz="2600" b="1" dirty="0">
                    <a:solidFill>
                      <a:schemeClr val="accent6"/>
                    </a:solidFill>
                    <a:ea typeface="Roboto" panose="02000000000000000000" pitchFamily="2" charset="0"/>
                  </a:rPr>
                  <a:t>)</a:t>
                </a:r>
              </a:p>
            </p:txBody>
          </p:sp>
        </mc:Choice>
        <mc:Fallback>
          <p:sp>
            <p:nvSpPr>
              <p:cNvPr id="10" name="CuadroTexto 9">
                <a:extLst>
                  <a:ext uri="{FF2B5EF4-FFF2-40B4-BE49-F238E27FC236}">
                    <a16:creationId xmlns:a16="http://schemas.microsoft.com/office/drawing/2014/main" id="{A19C6E9F-BCCF-4FD4-8EC3-574D66199786}"/>
                  </a:ext>
                </a:extLst>
              </p:cNvPr>
              <p:cNvSpPr txBox="1">
                <a:spLocks noRot="1" noChangeAspect="1" noMove="1" noResize="1" noEditPoints="1" noAdjustHandles="1" noChangeArrowheads="1" noChangeShapeType="1" noTextEdit="1"/>
              </p:cNvSpPr>
              <p:nvPr/>
            </p:nvSpPr>
            <p:spPr>
              <a:xfrm>
                <a:off x="916650" y="985339"/>
                <a:ext cx="11044291" cy="492443"/>
              </a:xfrm>
              <a:prstGeom prst="rect">
                <a:avLst/>
              </a:prstGeom>
              <a:blipFill>
                <a:blip r:embed="rId3"/>
                <a:stretch>
                  <a:fillRect l="-993" t="-11250" b="-3250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5" name="Google Shape;310;p34">
                <a:extLst>
                  <a:ext uri="{FF2B5EF4-FFF2-40B4-BE49-F238E27FC236}">
                    <a16:creationId xmlns:a16="http://schemas.microsoft.com/office/drawing/2014/main" id="{74048116-F8B3-487E-B641-CCAA4370A901}"/>
                  </a:ext>
                </a:extLst>
              </p:cNvPr>
              <p:cNvSpPr txBox="1">
                <a:spLocks/>
              </p:cNvSpPr>
              <p:nvPr/>
            </p:nvSpPr>
            <p:spPr>
              <a:xfrm>
                <a:off x="916650" y="1477783"/>
                <a:ext cx="11044291" cy="12781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La diferencia simétrica de </a:t>
                </a:r>
                <a14:m>
                  <m:oMath xmlns:m="http://schemas.openxmlformats.org/officeDocument/2006/math">
                    <m:r>
                      <a:rPr lang="es-MX" sz="2000" b="0" i="1" smtClean="0">
                        <a:latin typeface="+mn-lt"/>
                        <a:ea typeface="Cambria Math" panose="02040503050406030204" pitchFamily="18" charset="0"/>
                      </a:rPr>
                      <m:t>𝐴</m:t>
                    </m:r>
                  </m:oMath>
                </a14:m>
                <a:r>
                  <a:rPr lang="es-MX" sz="2000" dirty="0">
                    <a:latin typeface="+mn-lt"/>
                    <a:ea typeface="Roboto" panose="02000000000000000000" pitchFamily="2" charset="0"/>
                  </a:rPr>
                  <a:t> y </a:t>
                </a:r>
                <a14:m>
                  <m:oMath xmlns:m="http://schemas.openxmlformats.org/officeDocument/2006/math">
                    <m:r>
                      <a:rPr lang="es-MX" sz="2000" b="0" i="1" smtClean="0">
                        <a:latin typeface="+mn-lt"/>
                        <a:ea typeface="Cambria Math" panose="02040503050406030204" pitchFamily="18" charset="0"/>
                      </a:rPr>
                      <m:t>𝐵</m:t>
                    </m:r>
                  </m:oMath>
                </a14:m>
                <a:r>
                  <a:rPr lang="es-MX" sz="2000" dirty="0">
                    <a:latin typeface="+mn-lt"/>
                    <a:ea typeface="Roboto" panose="02000000000000000000" pitchFamily="2" charset="0"/>
                  </a:rPr>
                  <a:t> es el conjunto de elementos que están en </a:t>
                </a:r>
                <a14:m>
                  <m:oMath xmlns:m="http://schemas.openxmlformats.org/officeDocument/2006/math">
                    <m:r>
                      <a:rPr lang="es-MX" sz="2000" i="1">
                        <a:latin typeface="+mn-lt"/>
                        <a:ea typeface="Cambria Math" panose="02040503050406030204" pitchFamily="18" charset="0"/>
                      </a:rPr>
                      <m:t>𝐴</m:t>
                    </m:r>
                  </m:oMath>
                </a14:m>
                <a:r>
                  <a:rPr lang="es-MX" sz="2000" dirty="0">
                    <a:latin typeface="+mn-lt"/>
                    <a:ea typeface="Roboto" panose="02000000000000000000" pitchFamily="2" charset="0"/>
                  </a:rPr>
                  <a:t> o en </a:t>
                </a:r>
                <a14:m>
                  <m:oMath xmlns:m="http://schemas.openxmlformats.org/officeDocument/2006/math">
                    <m:r>
                      <a:rPr lang="es-MX" sz="2000" b="0" i="1" smtClean="0">
                        <a:latin typeface="+mn-lt"/>
                        <a:ea typeface="Cambria Math" panose="02040503050406030204" pitchFamily="18" charset="0"/>
                      </a:rPr>
                      <m:t>𝐵</m:t>
                    </m:r>
                  </m:oMath>
                </a14:m>
                <a:r>
                  <a:rPr lang="es-MX" sz="2000" dirty="0">
                    <a:latin typeface="+mn-lt"/>
                    <a:ea typeface="Roboto" panose="02000000000000000000" pitchFamily="2" charset="0"/>
                  </a:rPr>
                  <a:t>, pero no en ambos.</a:t>
                </a:r>
              </a:p>
              <a:p>
                <a:r>
                  <a:rPr lang="es-MX" sz="2000" b="1" dirty="0">
                    <a:latin typeface="+mn-lt"/>
                    <a:ea typeface="Roboto" panose="02000000000000000000" pitchFamily="2" charset="0"/>
                  </a:rPr>
                  <a:t>Definición formal</a:t>
                </a:r>
                <a:r>
                  <a:rPr lang="es-MX" sz="2000" dirty="0">
                    <a:latin typeface="+mn-lt"/>
                    <a:ea typeface="Roboto" panose="02000000000000000000" pitchFamily="2" charset="0"/>
                  </a:rPr>
                  <a:t>:</a:t>
                </a:r>
                <a:endParaRPr lang="es-MX" sz="1600" dirty="0">
                  <a:latin typeface="+mn-lt"/>
                  <a:ea typeface="Roboto" panose="02000000000000000000" pitchFamily="2" charset="0"/>
                </a:endParaRPr>
              </a:p>
              <a:p>
                <a:pPr lvl="1"/>
                <a:endParaRPr lang="es-MX" sz="1800" b="1" dirty="0">
                  <a:latin typeface="+mn-lt"/>
                  <a:ea typeface="Roboto" panose="02000000000000000000" pitchFamily="2" charset="0"/>
                </a:endParaRPr>
              </a:p>
            </p:txBody>
          </p:sp>
        </mc:Choice>
        <mc:Fallback>
          <p:sp>
            <p:nvSpPr>
              <p:cNvPr id="5" name="Google Shape;310;p34">
                <a:extLst>
                  <a:ext uri="{FF2B5EF4-FFF2-40B4-BE49-F238E27FC236}">
                    <a16:creationId xmlns:a16="http://schemas.microsoft.com/office/drawing/2014/main" id="{74048116-F8B3-487E-B641-CCAA4370A901}"/>
                  </a:ext>
                </a:extLst>
              </p:cNvPr>
              <p:cNvSpPr txBox="1">
                <a:spLocks noRot="1" noChangeAspect="1" noMove="1" noResize="1" noEditPoints="1" noAdjustHandles="1" noChangeArrowheads="1" noChangeShapeType="1" noTextEdit="1"/>
              </p:cNvSpPr>
              <p:nvPr/>
            </p:nvSpPr>
            <p:spPr>
              <a:xfrm>
                <a:off x="916650" y="1477783"/>
                <a:ext cx="11044291" cy="1278118"/>
              </a:xfrm>
              <a:prstGeom prst="rect">
                <a:avLst/>
              </a:prstGeom>
              <a:blipFill>
                <a:blip r:embed="rId4"/>
                <a:stretch>
                  <a:fillRect/>
                </a:stretch>
              </a:blipFill>
              <a:ln>
                <a:noFill/>
              </a:ln>
            </p:spPr>
            <p:txBody>
              <a:bodyPr/>
              <a:lstStyle/>
              <a:p>
                <a:r>
                  <a:rPr lang="es-CO">
                    <a:noFill/>
                  </a:rPr>
                  <a:t> </a:t>
                </a:r>
              </a:p>
            </p:txBody>
          </p:sp>
        </mc:Fallback>
      </mc:AlternateContent>
      <p:pic>
        <p:nvPicPr>
          <p:cNvPr id="4" name="Imagen 3">
            <a:extLst>
              <a:ext uri="{FF2B5EF4-FFF2-40B4-BE49-F238E27FC236}">
                <a16:creationId xmlns:a16="http://schemas.microsoft.com/office/drawing/2014/main" id="{549398B6-0D4C-44BD-A3BA-8F79074C4CA6}"/>
              </a:ext>
            </a:extLst>
          </p:cNvPr>
          <p:cNvPicPr>
            <a:picLocks noChangeAspect="1"/>
          </p:cNvPicPr>
          <p:nvPr/>
        </p:nvPicPr>
        <p:blipFill>
          <a:blip r:embed="rId5"/>
          <a:stretch>
            <a:fillRect/>
          </a:stretch>
        </p:blipFill>
        <p:spPr>
          <a:xfrm>
            <a:off x="5803900" y="4574108"/>
            <a:ext cx="4524374" cy="1721665"/>
          </a:xfrm>
          <a:prstGeom prst="rect">
            <a:avLst/>
          </a:prstGeom>
        </p:spPr>
      </p:pic>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CD820D55-97C5-4D3A-95DE-137EB59AACC9}"/>
                  </a:ext>
                </a:extLst>
              </p:cNvPr>
              <p:cNvSpPr txBox="1"/>
              <p:nvPr/>
            </p:nvSpPr>
            <p:spPr>
              <a:xfrm>
                <a:off x="1403007" y="2639681"/>
                <a:ext cx="10007227" cy="307777"/>
              </a:xfrm>
              <a:prstGeom prst="rect">
                <a:avLst/>
              </a:prstGeom>
              <a:solidFill>
                <a:schemeClr val="bg1">
                  <a:lumMod val="95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000" i="1">
                          <a:latin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e>
                      </m:d>
                      <m:r>
                        <a:rPr lang="es-MX" sz="2000" i="1">
                          <a:latin typeface="Cambria Math" panose="02040503050406030204" pitchFamily="18" charset="0"/>
                          <a:ea typeface="Cambria Math" panose="02040503050406030204" pitchFamily="18" charset="0"/>
                        </a:rPr>
                        <m:t>−</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e>
                      </m:d>
                      <m:r>
                        <a:rPr lang="es-MX" sz="2000" i="1">
                          <a:latin typeface="Cambria Math" panose="02040503050406030204" pitchFamily="18" charset="0"/>
                          <a:ea typeface="Cambria Math" panose="02040503050406030204" pitchFamily="18" charset="0"/>
                        </a:rPr>
                        <m:t>=</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e>
                      </m:d>
                      <m:r>
                        <a:rPr lang="es-MX" sz="2000" i="1">
                          <a:latin typeface="Cambria Math" panose="02040503050406030204" pitchFamily="18" charset="0"/>
                          <a:ea typeface="Cambria Math" panose="02040503050406030204" pitchFamily="18" charset="0"/>
                        </a:rPr>
                        <m:t>∪</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e>
                      </m:d>
                      <m:r>
                        <a:rPr lang="es-MX" sz="2000" i="1">
                          <a:latin typeface="Cambria Math" panose="02040503050406030204" pitchFamily="18" charset="0"/>
                          <a:ea typeface="Cambria Math" panose="02040503050406030204" pitchFamily="18" charset="0"/>
                        </a:rPr>
                        <m:t>=</m:t>
                      </m:r>
                      <m:d>
                        <m:dPr>
                          <m:begChr m:val="{"/>
                          <m:endChr m:val="}"/>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e>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e>
                          </m:d>
                          <m:r>
                            <a:rPr lang="es-MX" sz="2000" i="1">
                              <a:latin typeface="Cambria Math" panose="02040503050406030204" pitchFamily="18" charset="0"/>
                              <a:ea typeface="Cambria Math" panose="02040503050406030204" pitchFamily="18" charset="0"/>
                            </a:rPr>
                            <m:t>∨</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e>
                          </m:d>
                        </m:e>
                      </m:d>
                    </m:oMath>
                  </m:oMathPara>
                </a14:m>
                <a:endParaRPr lang="es-CO" sz="2000" dirty="0"/>
              </a:p>
            </p:txBody>
          </p:sp>
        </mc:Choice>
        <mc:Fallback>
          <p:sp>
            <p:nvSpPr>
              <p:cNvPr id="6" name="CuadroTexto 5">
                <a:extLst>
                  <a:ext uri="{FF2B5EF4-FFF2-40B4-BE49-F238E27FC236}">
                    <a16:creationId xmlns:a16="http://schemas.microsoft.com/office/drawing/2014/main" id="{CD820D55-97C5-4D3A-95DE-137EB59AACC9}"/>
                  </a:ext>
                </a:extLst>
              </p:cNvPr>
              <p:cNvSpPr txBox="1">
                <a:spLocks noRot="1" noChangeAspect="1" noMove="1" noResize="1" noEditPoints="1" noAdjustHandles="1" noChangeArrowheads="1" noChangeShapeType="1" noTextEdit="1"/>
              </p:cNvSpPr>
              <p:nvPr/>
            </p:nvSpPr>
            <p:spPr>
              <a:xfrm>
                <a:off x="1403007" y="2639681"/>
                <a:ext cx="10007227" cy="307777"/>
              </a:xfrm>
              <a:prstGeom prst="rect">
                <a:avLst/>
              </a:prstGeom>
              <a:blipFill>
                <a:blip r:embed="rId6"/>
                <a:stretch>
                  <a:fillRect b="-25490"/>
                </a:stretch>
              </a:blipFill>
            </p:spPr>
            <p:txBody>
              <a:bodyPr/>
              <a:lstStyle/>
              <a:p>
                <a:r>
                  <a:rPr lang="es-CO">
                    <a:noFill/>
                  </a:rPr>
                  <a:t> </a:t>
                </a:r>
              </a:p>
            </p:txBody>
          </p:sp>
        </mc:Fallback>
      </mc:AlternateContent>
      <p:sp>
        <p:nvSpPr>
          <p:cNvPr id="8" name="Google Shape;310;p34">
            <a:extLst>
              <a:ext uri="{FF2B5EF4-FFF2-40B4-BE49-F238E27FC236}">
                <a16:creationId xmlns:a16="http://schemas.microsoft.com/office/drawing/2014/main" id="{A2D7B9F5-2DD6-4A85-B4CB-0C77BAE71C37}"/>
              </a:ext>
            </a:extLst>
          </p:cNvPr>
          <p:cNvSpPr txBox="1">
            <a:spLocks/>
          </p:cNvSpPr>
          <p:nvPr/>
        </p:nvSpPr>
        <p:spPr>
          <a:xfrm>
            <a:off x="852304" y="3121907"/>
            <a:ext cx="11108637" cy="135147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1600" b="1" dirty="0">
                <a:latin typeface="+mn-lt"/>
                <a:ea typeface="Roboto" panose="02000000000000000000" pitchFamily="2" charset="0"/>
              </a:rPr>
              <a:t>Ejemplos: </a:t>
            </a:r>
            <a:r>
              <a:rPr lang="es-MX" sz="1600" dirty="0">
                <a:latin typeface="+mn-lt"/>
                <a:ea typeface="Roboto" panose="02000000000000000000" pitchFamily="2" charset="0"/>
              </a:rPr>
              <a:t>Sea A el conjunto de todas las letras que conforman la palabra calculo ‘calculo’ y B el conjunto asociado de letras que aparecen en ‘matemáticas discretas’. Determine:</a:t>
            </a:r>
          </a:p>
          <a:p>
            <a:pPr marL="469900" indent="-342900">
              <a:buFont typeface="+mj-lt"/>
              <a:buAutoNum type="arabicPeriod" startAt="10"/>
            </a:pPr>
            <a:r>
              <a:rPr lang="es-MX" sz="1600" dirty="0">
                <a:latin typeface="+mn-lt"/>
                <a:ea typeface="Roboto" panose="02000000000000000000" pitchFamily="2" charset="0"/>
              </a:rPr>
              <a:t>Las letras que están solo en A o solo en B</a:t>
            </a:r>
          </a:p>
          <a:p>
            <a:pPr marL="584200" lvl="1" indent="0">
              <a:buNone/>
            </a:pPr>
            <a:endParaRPr lang="es-MX" sz="1600" dirty="0">
              <a:latin typeface="+mn-lt"/>
              <a:ea typeface="Roboto" panose="02000000000000000000" pitchFamily="2" charset="0"/>
            </a:endParaRPr>
          </a:p>
          <a:p>
            <a:pPr lvl="1"/>
            <a:endParaRPr lang="es-MX" sz="1800" b="1" dirty="0">
              <a:latin typeface="+mn-lt"/>
              <a:ea typeface="Roboto" panose="02000000000000000000" pitchFamily="2" charset="0"/>
            </a:endParaRP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C1E9C0C-07E8-456E-9D80-849F4ADE78E7}"/>
                  </a:ext>
                </a:extLst>
              </p:cNvPr>
              <p:cNvSpPr txBox="1"/>
              <p:nvPr/>
            </p:nvSpPr>
            <p:spPr>
              <a:xfrm>
                <a:off x="1129919" y="4692073"/>
                <a:ext cx="3938731" cy="1077218"/>
              </a:xfrm>
              <a:prstGeom prst="rect">
                <a:avLst/>
              </a:prstGeom>
              <a:noFill/>
            </p:spPr>
            <p:txBody>
              <a:bodyPr wrap="square" rtlCol="0">
                <a:spAutoFit/>
              </a:bodyPr>
              <a:lstStyle/>
              <a:p>
                <a:r>
                  <a:rPr lang="es-CO" sz="1600" b="1" dirty="0"/>
                  <a:t>Solución</a:t>
                </a:r>
                <a:r>
                  <a:rPr lang="es-CO" sz="1600" dirty="0"/>
                  <a:t>:</a:t>
                </a:r>
              </a:p>
              <a:p>
                <a:pPr marL="285750" indent="-285750">
                  <a:buFont typeface="Arial" panose="020B0604020202020204" pitchFamily="34" charset="0"/>
                  <a:buChar char="•"/>
                </a:pPr>
                <a14:m>
                  <m:oMath xmlns:m="http://schemas.openxmlformats.org/officeDocument/2006/math">
                    <m:r>
                      <a:rPr lang="es-MX" sz="1600" b="0" i="1" smtClean="0">
                        <a:solidFill>
                          <a:schemeClr val="accent5"/>
                        </a:solidFill>
                        <a:latin typeface="Cambria Math" panose="02040503050406030204" pitchFamily="18" charset="0"/>
                        <a:ea typeface="Roboto" panose="02000000000000000000" pitchFamily="2" charset="0"/>
                      </a:rPr>
                      <m:t>𝐴</m:t>
                    </m:r>
                    <m:r>
                      <a:rPr lang="es-MX" sz="1600" b="0" i="1" smtClean="0">
                        <a:solidFill>
                          <a:schemeClr val="accent5"/>
                        </a:solidFill>
                        <a:latin typeface="Cambria Math" panose="02040503050406030204" pitchFamily="18" charset="0"/>
                        <a:ea typeface="Roboto" panose="02000000000000000000" pitchFamily="2" charset="0"/>
                      </a:rPr>
                      <m:t>=</m:t>
                    </m:r>
                    <m:d>
                      <m:dPr>
                        <m:begChr m:val="{"/>
                        <m:endChr m:val="}"/>
                        <m:ctrlPr>
                          <a:rPr lang="es-MX" sz="1600" b="0" i="1" smtClean="0">
                            <a:solidFill>
                              <a:schemeClr val="accent5"/>
                            </a:solidFill>
                            <a:latin typeface="Cambria Math" panose="02040503050406030204" pitchFamily="18" charset="0"/>
                            <a:ea typeface="Roboto" panose="02000000000000000000" pitchFamily="2" charset="0"/>
                          </a:rPr>
                        </m:ctrlPr>
                      </m:dPr>
                      <m:e>
                        <m:r>
                          <a:rPr lang="es-MX" sz="1600" b="0" i="1" smtClean="0">
                            <a:solidFill>
                              <a:schemeClr val="accent6"/>
                            </a:solidFill>
                            <a:latin typeface="Cambria Math" panose="02040503050406030204" pitchFamily="18" charset="0"/>
                            <a:ea typeface="Roboto" panose="02000000000000000000" pitchFamily="2" charset="0"/>
                          </a:rPr>
                          <m:t>𝑐</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6"/>
                            </a:solidFill>
                            <a:latin typeface="Cambria Math" panose="02040503050406030204" pitchFamily="18" charset="0"/>
                            <a:ea typeface="Roboto" panose="02000000000000000000" pitchFamily="2" charset="0"/>
                          </a:rPr>
                          <m:t>𝑎</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𝑙</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𝑢</m:t>
                        </m:r>
                        <m:r>
                          <a:rPr lang="es-MX" sz="1600" b="0" i="1" smtClean="0">
                            <a:solidFill>
                              <a:schemeClr val="accent5"/>
                            </a:solidFill>
                            <a:latin typeface="Cambria Math" panose="02040503050406030204" pitchFamily="18" charset="0"/>
                            <a:ea typeface="Roboto" panose="02000000000000000000" pitchFamily="2" charset="0"/>
                          </a:rPr>
                          <m:t>,</m:t>
                        </m:r>
                        <m:r>
                          <a:rPr lang="es-MX" sz="1600" b="0" i="1" smtClean="0">
                            <a:solidFill>
                              <a:schemeClr val="accent5"/>
                            </a:solidFill>
                            <a:latin typeface="Cambria Math" panose="02040503050406030204" pitchFamily="18" charset="0"/>
                            <a:ea typeface="Roboto" panose="02000000000000000000" pitchFamily="2" charset="0"/>
                          </a:rPr>
                          <m:t>𝑜</m:t>
                        </m:r>
                      </m:e>
                    </m:d>
                  </m:oMath>
                </a14:m>
                <a:endParaRPr lang="es-MX" sz="1600" b="0" dirty="0">
                  <a:latin typeface="Roboto" panose="02000000000000000000" pitchFamily="2" charset="0"/>
                  <a:ea typeface="Roboto" panose="02000000000000000000" pitchFamily="2" charset="0"/>
                </a:endParaRPr>
              </a:p>
              <a:p>
                <a:pPr marL="285750" indent="-285750">
                  <a:buFont typeface="Arial" panose="020B0604020202020204" pitchFamily="34" charset="0"/>
                  <a:buChar char="•"/>
                </a:pPr>
                <a14:m>
                  <m:oMath xmlns:m="http://schemas.openxmlformats.org/officeDocument/2006/math">
                    <m:r>
                      <a:rPr lang="es-MX" sz="1600" b="0" i="1" smtClean="0">
                        <a:solidFill>
                          <a:schemeClr val="accent2"/>
                        </a:solidFill>
                        <a:latin typeface="Cambria Math" panose="02040503050406030204" pitchFamily="18" charset="0"/>
                        <a:ea typeface="Roboto" panose="02000000000000000000" pitchFamily="2" charset="0"/>
                      </a:rPr>
                      <m:t>𝐵</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𝑚</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6"/>
                        </a:solidFill>
                        <a:latin typeface="Cambria Math" panose="02040503050406030204" pitchFamily="18" charset="0"/>
                        <a:ea typeface="Roboto" panose="02000000000000000000" pitchFamily="2" charset="0"/>
                      </a:rPr>
                      <m:t>𝑎</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𝑡</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𝑒</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𝑖</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6"/>
                        </a:solidFill>
                        <a:latin typeface="Cambria Math" panose="02040503050406030204" pitchFamily="18" charset="0"/>
                        <a:ea typeface="Roboto" panose="02000000000000000000" pitchFamily="2" charset="0"/>
                      </a:rPr>
                      <m:t>𝑐</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𝑠</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𝑑</m:t>
                    </m:r>
                    <m:r>
                      <a:rPr lang="es-MX" sz="1600" b="0" i="1" smtClean="0">
                        <a:solidFill>
                          <a:schemeClr val="accent2"/>
                        </a:solidFill>
                        <a:latin typeface="Cambria Math" panose="02040503050406030204" pitchFamily="18" charset="0"/>
                        <a:ea typeface="Roboto" panose="02000000000000000000" pitchFamily="2" charset="0"/>
                      </a:rPr>
                      <m:t>,</m:t>
                    </m:r>
                    <m:r>
                      <a:rPr lang="es-MX" sz="1600" b="0" i="1" smtClean="0">
                        <a:solidFill>
                          <a:schemeClr val="accent2"/>
                        </a:solidFill>
                        <a:latin typeface="Cambria Math" panose="02040503050406030204" pitchFamily="18" charset="0"/>
                        <a:ea typeface="Roboto" panose="02000000000000000000" pitchFamily="2" charset="0"/>
                      </a:rPr>
                      <m:t>𝑟</m:t>
                    </m:r>
                    <m:r>
                      <a:rPr lang="es-MX" sz="1600" b="0" i="1" smtClean="0">
                        <a:solidFill>
                          <a:schemeClr val="accent2"/>
                        </a:solidFill>
                        <a:latin typeface="Cambria Math" panose="02040503050406030204" pitchFamily="18" charset="0"/>
                        <a:ea typeface="Roboto" panose="02000000000000000000" pitchFamily="2" charset="0"/>
                      </a:rPr>
                      <m:t>}</m:t>
                    </m:r>
                  </m:oMath>
                </a14:m>
                <a:endParaRPr lang="es-CO" sz="1600" dirty="0">
                  <a:solidFill>
                    <a:schemeClr val="accent2"/>
                  </a:solidFill>
                  <a:latin typeface="Roboto" panose="02000000000000000000" pitchFamily="2" charset="0"/>
                  <a:ea typeface="Roboto" panose="02000000000000000000" pitchFamily="2" charset="0"/>
                </a:endParaRPr>
              </a:p>
              <a:p>
                <a:pPr marL="285750" indent="-285750">
                  <a:buFont typeface="Arial" panose="020B0604020202020204" pitchFamily="34" charset="0"/>
                  <a:buChar char="•"/>
                </a:pPr>
                <a14:m>
                  <m:oMath xmlns:m="http://schemas.openxmlformats.org/officeDocument/2006/math">
                    <m:r>
                      <a:rPr lang="es-MX" sz="1600" i="1">
                        <a:latin typeface="Cambria Math" panose="02040503050406030204" pitchFamily="18" charset="0"/>
                      </a:rPr>
                      <m:t>𝐴</m:t>
                    </m:r>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𝐵</m:t>
                    </m:r>
                    <m:r>
                      <a:rPr lang="es-MX" sz="1600" b="0" i="1" smtClean="0">
                        <a:latin typeface="Cambria Math" panose="02040503050406030204" pitchFamily="18" charset="0"/>
                        <a:ea typeface="Roboto" panose="02000000000000000000" pitchFamily="2" charset="0"/>
                      </a:rPr>
                      <m:t>=</m:t>
                    </m:r>
                    <m:d>
                      <m:dPr>
                        <m:begChr m:val="{"/>
                        <m:endChr m:val="}"/>
                        <m:ctrlPr>
                          <a:rPr lang="es-MX" sz="1600" b="0" i="1" smtClean="0">
                            <a:solidFill>
                              <a:schemeClr val="tx1"/>
                            </a:solidFill>
                            <a:latin typeface="Cambria Math" panose="02040503050406030204" pitchFamily="18" charset="0"/>
                            <a:ea typeface="Cambria Math" panose="02040503050406030204" pitchFamily="18" charset="0"/>
                          </a:rPr>
                        </m:ctrlPr>
                      </m:dPr>
                      <m:e>
                        <m:r>
                          <a:rPr lang="es-MX" sz="1600" i="1">
                            <a:solidFill>
                              <a:schemeClr val="accent5"/>
                            </a:solidFill>
                            <a:latin typeface="Cambria Math" panose="02040503050406030204" pitchFamily="18" charset="0"/>
                            <a:ea typeface="Roboto" panose="02000000000000000000" pitchFamily="2" charset="0"/>
                          </a:rPr>
                          <m:t>𝑙</m:t>
                        </m:r>
                        <m:r>
                          <a:rPr lang="es-MX" sz="1600" i="1">
                            <a:solidFill>
                              <a:schemeClr val="accent5"/>
                            </a:solidFill>
                            <a:latin typeface="Cambria Math" panose="02040503050406030204" pitchFamily="18" charset="0"/>
                            <a:ea typeface="Roboto" panose="02000000000000000000" pitchFamily="2" charset="0"/>
                          </a:rPr>
                          <m:t>,</m:t>
                        </m:r>
                        <m:r>
                          <a:rPr lang="es-MX" sz="1600" i="1">
                            <a:solidFill>
                              <a:schemeClr val="accent5"/>
                            </a:solidFill>
                            <a:latin typeface="Cambria Math" panose="02040503050406030204" pitchFamily="18" charset="0"/>
                            <a:ea typeface="Roboto" panose="02000000000000000000" pitchFamily="2" charset="0"/>
                          </a:rPr>
                          <m:t>𝑢</m:t>
                        </m:r>
                        <m:r>
                          <a:rPr lang="es-MX" sz="1600" i="1">
                            <a:solidFill>
                              <a:schemeClr val="accent5"/>
                            </a:solidFill>
                            <a:latin typeface="Cambria Math" panose="02040503050406030204" pitchFamily="18" charset="0"/>
                            <a:ea typeface="Roboto" panose="02000000000000000000" pitchFamily="2" charset="0"/>
                          </a:rPr>
                          <m:t>,</m:t>
                        </m:r>
                        <m:r>
                          <a:rPr lang="es-MX" sz="1600" i="1">
                            <a:solidFill>
                              <a:schemeClr val="accent5"/>
                            </a:solidFill>
                            <a:latin typeface="Cambria Math" panose="02040503050406030204" pitchFamily="18" charset="0"/>
                            <a:ea typeface="Roboto" panose="02000000000000000000" pitchFamily="2" charset="0"/>
                          </a:rPr>
                          <m:t>𝑜</m:t>
                        </m:r>
                        <m:r>
                          <a:rPr lang="es-MX" sz="1600" b="0" i="1" smtClean="0">
                            <a:solidFill>
                              <a:schemeClr val="tx1"/>
                            </a:solidFill>
                            <a:latin typeface="Cambria Math" panose="02040503050406030204" pitchFamily="18" charset="0"/>
                            <a:ea typeface="Cambria Math" panose="02040503050406030204" pitchFamily="18" charset="0"/>
                          </a:rPr>
                          <m:t>,</m:t>
                        </m:r>
                        <m:r>
                          <a:rPr lang="es-MX" sz="1600" i="1">
                            <a:solidFill>
                              <a:schemeClr val="accent2"/>
                            </a:solidFill>
                            <a:latin typeface="Cambria Math" panose="02040503050406030204" pitchFamily="18" charset="0"/>
                            <a:ea typeface="Roboto" panose="02000000000000000000" pitchFamily="2" charset="0"/>
                          </a:rPr>
                          <m:t>𝑚</m:t>
                        </m:r>
                        <m:r>
                          <a:rPr lang="es-MX" sz="1600" i="1">
                            <a:solidFill>
                              <a:schemeClr val="accent2"/>
                            </a:solidFill>
                            <a:latin typeface="Cambria Math" panose="02040503050406030204" pitchFamily="18" charset="0"/>
                            <a:ea typeface="Roboto" panose="02000000000000000000" pitchFamily="2" charset="0"/>
                          </a:rPr>
                          <m:t>, </m:t>
                        </m:r>
                        <m:r>
                          <a:rPr lang="es-MX" sz="1600" i="1">
                            <a:solidFill>
                              <a:schemeClr val="accent2"/>
                            </a:solidFill>
                            <a:latin typeface="Cambria Math" panose="02040503050406030204" pitchFamily="18" charset="0"/>
                            <a:ea typeface="Roboto" panose="02000000000000000000" pitchFamily="2" charset="0"/>
                          </a:rPr>
                          <m:t>𝑡</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𝑒</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𝑖</m:t>
                        </m:r>
                        <m:r>
                          <a:rPr lang="es-MX" sz="1600" i="1">
                            <a:solidFill>
                              <a:schemeClr val="accent2"/>
                            </a:solidFill>
                            <a:latin typeface="Cambria Math" panose="02040503050406030204" pitchFamily="18" charset="0"/>
                            <a:ea typeface="Roboto" panose="02000000000000000000" pitchFamily="2" charset="0"/>
                          </a:rPr>
                          <m:t>, </m:t>
                        </m:r>
                        <m:r>
                          <a:rPr lang="es-MX" sz="1600" i="1">
                            <a:solidFill>
                              <a:schemeClr val="accent2"/>
                            </a:solidFill>
                            <a:latin typeface="Cambria Math" panose="02040503050406030204" pitchFamily="18" charset="0"/>
                            <a:ea typeface="Roboto" panose="02000000000000000000" pitchFamily="2" charset="0"/>
                          </a:rPr>
                          <m:t>𝑠</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𝑑</m:t>
                        </m:r>
                      </m:e>
                    </m:d>
                  </m:oMath>
                </a14:m>
                <a:endParaRPr lang="es-MX" sz="1600" b="0" dirty="0">
                  <a:ea typeface="Roboto" panose="02000000000000000000" pitchFamily="2" charset="0"/>
                </a:endParaRPr>
              </a:p>
            </p:txBody>
          </p:sp>
        </mc:Choice>
        <mc:Fallback xmlns="">
          <p:sp>
            <p:nvSpPr>
              <p:cNvPr id="9" name="CuadroTexto 8">
                <a:extLst>
                  <a:ext uri="{FF2B5EF4-FFF2-40B4-BE49-F238E27FC236}">
                    <a16:creationId xmlns:a16="http://schemas.microsoft.com/office/drawing/2014/main" id="{CC1E9C0C-07E8-456E-9D80-849F4ADE78E7}"/>
                  </a:ext>
                </a:extLst>
              </p:cNvPr>
              <p:cNvSpPr txBox="1">
                <a:spLocks noRot="1" noChangeAspect="1" noMove="1" noResize="1" noEditPoints="1" noAdjustHandles="1" noChangeArrowheads="1" noChangeShapeType="1" noTextEdit="1"/>
              </p:cNvSpPr>
              <p:nvPr/>
            </p:nvSpPr>
            <p:spPr>
              <a:xfrm>
                <a:off x="1129919" y="4692073"/>
                <a:ext cx="3938731" cy="1077218"/>
              </a:xfrm>
              <a:prstGeom prst="rect">
                <a:avLst/>
              </a:prstGeom>
              <a:blipFill>
                <a:blip r:embed="rId7"/>
                <a:stretch>
                  <a:fillRect l="-774" t="-1705" b="-5114"/>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BE23F7AE-3506-4BAD-87ED-F1197E99F311}"/>
                  </a:ext>
                </a:extLst>
              </p:cNvPr>
              <p:cNvSpPr txBox="1"/>
              <p:nvPr/>
            </p:nvSpPr>
            <p:spPr>
              <a:xfrm>
                <a:off x="6751304" y="6384673"/>
                <a:ext cx="2629566" cy="246221"/>
              </a:xfrm>
              <a:prstGeom prst="rect">
                <a:avLst/>
              </a:prstGeom>
              <a:no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1600" i="1">
                          <a:latin typeface="Cambria Math" panose="02040503050406030204" pitchFamily="18" charset="0"/>
                        </a:rPr>
                        <m:t>𝐴</m:t>
                      </m:r>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𝐵</m:t>
                      </m:r>
                      <m:r>
                        <a:rPr lang="es-MX" sz="1600" i="1">
                          <a:latin typeface="Cambria Math" panose="02040503050406030204" pitchFamily="18" charset="0"/>
                          <a:ea typeface="Roboto" panose="02000000000000000000" pitchFamily="2" charset="0"/>
                        </a:rPr>
                        <m:t>=</m:t>
                      </m:r>
                      <m:d>
                        <m:dPr>
                          <m:begChr m:val="{"/>
                          <m:endChr m:val="}"/>
                          <m:ctrlPr>
                            <a:rPr lang="es-MX" sz="1600" i="1">
                              <a:solidFill>
                                <a:schemeClr val="tx1"/>
                              </a:solidFill>
                              <a:latin typeface="Cambria Math" panose="02040503050406030204" pitchFamily="18" charset="0"/>
                              <a:ea typeface="Cambria Math" panose="02040503050406030204" pitchFamily="18" charset="0"/>
                            </a:rPr>
                          </m:ctrlPr>
                        </m:dPr>
                        <m:e>
                          <m:r>
                            <a:rPr lang="es-MX" sz="1600" i="1">
                              <a:solidFill>
                                <a:schemeClr val="accent5"/>
                              </a:solidFill>
                              <a:latin typeface="Cambria Math" panose="02040503050406030204" pitchFamily="18" charset="0"/>
                              <a:ea typeface="Roboto" panose="02000000000000000000" pitchFamily="2" charset="0"/>
                            </a:rPr>
                            <m:t>𝑙</m:t>
                          </m:r>
                          <m:r>
                            <a:rPr lang="es-MX" sz="1600" i="1">
                              <a:solidFill>
                                <a:schemeClr val="accent5"/>
                              </a:solidFill>
                              <a:latin typeface="Cambria Math" panose="02040503050406030204" pitchFamily="18" charset="0"/>
                              <a:ea typeface="Roboto" panose="02000000000000000000" pitchFamily="2" charset="0"/>
                            </a:rPr>
                            <m:t>,</m:t>
                          </m:r>
                          <m:r>
                            <a:rPr lang="es-MX" sz="1600" i="1">
                              <a:solidFill>
                                <a:schemeClr val="accent5"/>
                              </a:solidFill>
                              <a:latin typeface="Cambria Math" panose="02040503050406030204" pitchFamily="18" charset="0"/>
                              <a:ea typeface="Roboto" panose="02000000000000000000" pitchFamily="2" charset="0"/>
                            </a:rPr>
                            <m:t>𝑢</m:t>
                          </m:r>
                          <m:r>
                            <a:rPr lang="es-MX" sz="1600" i="1">
                              <a:solidFill>
                                <a:schemeClr val="accent5"/>
                              </a:solidFill>
                              <a:latin typeface="Cambria Math" panose="02040503050406030204" pitchFamily="18" charset="0"/>
                              <a:ea typeface="Roboto" panose="02000000000000000000" pitchFamily="2" charset="0"/>
                            </a:rPr>
                            <m:t>,</m:t>
                          </m:r>
                          <m:r>
                            <a:rPr lang="es-MX" sz="1600" i="1">
                              <a:solidFill>
                                <a:schemeClr val="accent5"/>
                              </a:solidFill>
                              <a:latin typeface="Cambria Math" panose="02040503050406030204" pitchFamily="18" charset="0"/>
                              <a:ea typeface="Roboto" panose="02000000000000000000" pitchFamily="2" charset="0"/>
                            </a:rPr>
                            <m:t>𝑜</m:t>
                          </m:r>
                          <m:r>
                            <a:rPr lang="es-MX" sz="1600" i="1">
                              <a:solidFill>
                                <a:schemeClr val="tx1"/>
                              </a:solidFill>
                              <a:latin typeface="Cambria Math" panose="02040503050406030204" pitchFamily="18" charset="0"/>
                              <a:ea typeface="Cambria Math" panose="02040503050406030204" pitchFamily="18" charset="0"/>
                            </a:rPr>
                            <m:t>,</m:t>
                          </m:r>
                          <m:r>
                            <a:rPr lang="es-MX" sz="1600" i="1">
                              <a:solidFill>
                                <a:schemeClr val="accent2"/>
                              </a:solidFill>
                              <a:latin typeface="Cambria Math" panose="02040503050406030204" pitchFamily="18" charset="0"/>
                              <a:ea typeface="Roboto" panose="02000000000000000000" pitchFamily="2" charset="0"/>
                            </a:rPr>
                            <m:t>𝑚</m:t>
                          </m:r>
                          <m:r>
                            <a:rPr lang="es-MX" sz="1600" i="1">
                              <a:solidFill>
                                <a:schemeClr val="accent2"/>
                              </a:solidFill>
                              <a:latin typeface="Cambria Math" panose="02040503050406030204" pitchFamily="18" charset="0"/>
                              <a:ea typeface="Roboto" panose="02000000000000000000" pitchFamily="2" charset="0"/>
                            </a:rPr>
                            <m:t>, </m:t>
                          </m:r>
                          <m:r>
                            <a:rPr lang="es-MX" sz="1600" i="1">
                              <a:solidFill>
                                <a:schemeClr val="accent2"/>
                              </a:solidFill>
                              <a:latin typeface="Cambria Math" panose="02040503050406030204" pitchFamily="18" charset="0"/>
                              <a:ea typeface="Roboto" panose="02000000000000000000" pitchFamily="2" charset="0"/>
                            </a:rPr>
                            <m:t>𝑡</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𝑒</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𝑖</m:t>
                          </m:r>
                          <m:r>
                            <a:rPr lang="es-MX" sz="1600" i="1">
                              <a:solidFill>
                                <a:schemeClr val="accent2"/>
                              </a:solidFill>
                              <a:latin typeface="Cambria Math" panose="02040503050406030204" pitchFamily="18" charset="0"/>
                              <a:ea typeface="Roboto" panose="02000000000000000000" pitchFamily="2" charset="0"/>
                            </a:rPr>
                            <m:t>, </m:t>
                          </m:r>
                          <m:r>
                            <a:rPr lang="es-MX" sz="1600" i="1">
                              <a:solidFill>
                                <a:schemeClr val="accent2"/>
                              </a:solidFill>
                              <a:latin typeface="Cambria Math" panose="02040503050406030204" pitchFamily="18" charset="0"/>
                              <a:ea typeface="Roboto" panose="02000000000000000000" pitchFamily="2" charset="0"/>
                            </a:rPr>
                            <m:t>𝑠</m:t>
                          </m:r>
                          <m:r>
                            <a:rPr lang="es-MX" sz="1600" i="1">
                              <a:solidFill>
                                <a:schemeClr val="accent2"/>
                              </a:solidFill>
                              <a:latin typeface="Cambria Math" panose="02040503050406030204" pitchFamily="18" charset="0"/>
                              <a:ea typeface="Roboto" panose="02000000000000000000" pitchFamily="2" charset="0"/>
                            </a:rPr>
                            <m:t>,</m:t>
                          </m:r>
                          <m:r>
                            <a:rPr lang="es-MX" sz="1600" i="1">
                              <a:solidFill>
                                <a:schemeClr val="accent2"/>
                              </a:solidFill>
                              <a:latin typeface="Cambria Math" panose="02040503050406030204" pitchFamily="18" charset="0"/>
                              <a:ea typeface="Roboto" panose="02000000000000000000" pitchFamily="2" charset="0"/>
                            </a:rPr>
                            <m:t>𝑑</m:t>
                          </m:r>
                        </m:e>
                      </m:d>
                    </m:oMath>
                  </m:oMathPara>
                </a14:m>
                <a:endParaRPr lang="es-MX" sz="1600" dirty="0">
                  <a:ea typeface="Roboto" panose="02000000000000000000" pitchFamily="2" charset="0"/>
                </a:endParaRPr>
              </a:p>
            </p:txBody>
          </p:sp>
        </mc:Choice>
        <mc:Fallback xmlns="">
          <p:sp>
            <p:nvSpPr>
              <p:cNvPr id="11" name="CuadroTexto 10">
                <a:extLst>
                  <a:ext uri="{FF2B5EF4-FFF2-40B4-BE49-F238E27FC236}">
                    <a16:creationId xmlns:a16="http://schemas.microsoft.com/office/drawing/2014/main" id="{BE23F7AE-3506-4BAD-87ED-F1197E99F311}"/>
                  </a:ext>
                </a:extLst>
              </p:cNvPr>
              <p:cNvSpPr txBox="1">
                <a:spLocks noRot="1" noChangeAspect="1" noMove="1" noResize="1" noEditPoints="1" noAdjustHandles="1" noChangeArrowheads="1" noChangeShapeType="1" noTextEdit="1"/>
              </p:cNvSpPr>
              <p:nvPr/>
            </p:nvSpPr>
            <p:spPr>
              <a:xfrm>
                <a:off x="6751304" y="6384673"/>
                <a:ext cx="2629566" cy="246221"/>
              </a:xfrm>
              <a:prstGeom prst="rect">
                <a:avLst/>
              </a:prstGeom>
              <a:blipFill>
                <a:blip r:embed="rId8"/>
                <a:stretch>
                  <a:fillRect l="-691" b="-18605"/>
                </a:stretch>
              </a:blipFill>
              <a:ln>
                <a:solidFill>
                  <a:schemeClr val="tx1"/>
                </a:solidFill>
              </a:ln>
            </p:spPr>
            <p:txBody>
              <a:bodyPr/>
              <a:lstStyle/>
              <a:p>
                <a:r>
                  <a:rPr lang="es-CO">
                    <a:noFill/>
                  </a:rPr>
                  <a:t> </a:t>
                </a:r>
              </a:p>
            </p:txBody>
          </p:sp>
        </mc:Fallback>
      </mc:AlternateContent>
    </p:spTree>
    <p:extLst>
      <p:ext uri="{BB962C8B-B14F-4D97-AF65-F5344CB8AC3E}">
        <p14:creationId xmlns:p14="http://schemas.microsoft.com/office/powerpoint/2010/main" val="2957273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723625" y="30686"/>
            <a:ext cx="8304000" cy="949500"/>
          </a:xfrm>
        </p:spPr>
        <p:txBody>
          <a:bodyPr/>
          <a:lstStyle/>
          <a:p>
            <a:r>
              <a:rPr lang="es-CO" dirty="0">
                <a:latin typeface="+mj-lt"/>
              </a:rPr>
              <a:t>Operaciones entre conjuntos</a:t>
            </a:r>
          </a:p>
        </p:txBody>
      </p:sp>
      <p:sp>
        <p:nvSpPr>
          <p:cNvPr id="10" name="CuadroTexto 9">
            <a:extLst>
              <a:ext uri="{FF2B5EF4-FFF2-40B4-BE49-F238E27FC236}">
                <a16:creationId xmlns:a16="http://schemas.microsoft.com/office/drawing/2014/main" id="{A19C6E9F-BCCF-4FD4-8EC3-574D66199786}"/>
              </a:ext>
            </a:extLst>
          </p:cNvPr>
          <p:cNvSpPr txBox="1"/>
          <p:nvPr/>
        </p:nvSpPr>
        <p:spPr>
          <a:xfrm>
            <a:off x="573854" y="733964"/>
            <a:ext cx="11044291"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Resumen</a:t>
            </a:r>
          </a:p>
        </p:txBody>
      </p:sp>
      <mc:AlternateContent xmlns:mc="http://schemas.openxmlformats.org/markup-compatibility/2006">
        <mc:Choice xmlns:a14="http://schemas.microsoft.com/office/drawing/2010/main" Requires="a14">
          <p:graphicFrame>
            <p:nvGraphicFramePr>
              <p:cNvPr id="12" name="Tabla 4">
                <a:extLst>
                  <a:ext uri="{FF2B5EF4-FFF2-40B4-BE49-F238E27FC236}">
                    <a16:creationId xmlns:a16="http://schemas.microsoft.com/office/drawing/2014/main" id="{F59169A5-5CF2-4611-AC44-B0246806BF37}"/>
                  </a:ext>
                </a:extLst>
              </p:cNvPr>
              <p:cNvGraphicFramePr>
                <a:graphicFrameLocks noGrp="1"/>
              </p:cNvGraphicFramePr>
              <p:nvPr>
                <p:extLst>
                  <p:ext uri="{D42A27DB-BD31-4B8C-83A1-F6EECF244321}">
                    <p14:modId xmlns:p14="http://schemas.microsoft.com/office/powerpoint/2010/main" val="1104915363"/>
                  </p:ext>
                </p:extLst>
              </p:nvPr>
            </p:nvGraphicFramePr>
            <p:xfrm>
              <a:off x="586450" y="1247876"/>
              <a:ext cx="9383460" cy="4192397"/>
            </p:xfrm>
            <a:graphic>
              <a:graphicData uri="http://schemas.openxmlformats.org/drawingml/2006/table">
                <a:tbl>
                  <a:tblPr firstRow="1" bandRow="1">
                    <a:tableStyleId>{AD6A3598-7CB8-4345-8D95-17CE05F158A0}</a:tableStyleId>
                  </a:tblPr>
                  <a:tblGrid>
                    <a:gridCol w="1168608">
                      <a:extLst>
                        <a:ext uri="{9D8B030D-6E8A-4147-A177-3AD203B41FA5}">
                          <a16:colId xmlns:a16="http://schemas.microsoft.com/office/drawing/2014/main" val="3517824357"/>
                        </a:ext>
                      </a:extLst>
                    </a:gridCol>
                    <a:gridCol w="3790335">
                      <a:extLst>
                        <a:ext uri="{9D8B030D-6E8A-4147-A177-3AD203B41FA5}">
                          <a16:colId xmlns:a16="http://schemas.microsoft.com/office/drawing/2014/main" val="2272156606"/>
                        </a:ext>
                      </a:extLst>
                    </a:gridCol>
                    <a:gridCol w="2772697">
                      <a:extLst>
                        <a:ext uri="{9D8B030D-6E8A-4147-A177-3AD203B41FA5}">
                          <a16:colId xmlns:a16="http://schemas.microsoft.com/office/drawing/2014/main" val="2212776800"/>
                        </a:ext>
                      </a:extLst>
                    </a:gridCol>
                    <a:gridCol w="1651820">
                      <a:extLst>
                        <a:ext uri="{9D8B030D-6E8A-4147-A177-3AD203B41FA5}">
                          <a16:colId xmlns:a16="http://schemas.microsoft.com/office/drawing/2014/main" val="25054674"/>
                        </a:ext>
                      </a:extLst>
                    </a:gridCol>
                  </a:tblGrid>
                  <a:tr h="0">
                    <a:tc>
                      <a:txBody>
                        <a:bodyPr/>
                        <a:lstStyle/>
                        <a:p>
                          <a:r>
                            <a:rPr lang="es-CO" sz="1400" b="1" dirty="0">
                              <a:latin typeface="+mn-lt"/>
                              <a:ea typeface="Roboto" panose="02000000000000000000" pitchFamily="2" charset="0"/>
                            </a:rPr>
                            <a:t>Operación</a:t>
                          </a:r>
                        </a:p>
                      </a:txBody>
                      <a:tcPr>
                        <a:solidFill>
                          <a:schemeClr val="bg1">
                            <a:lumMod val="95000"/>
                          </a:schemeClr>
                        </a:solidFill>
                      </a:tcPr>
                    </a:tc>
                    <a:tc>
                      <a:txBody>
                        <a:bodyPr/>
                        <a:lstStyle/>
                        <a:p>
                          <a:endParaRPr lang="es-CO" sz="1400" b="1" dirty="0">
                            <a:latin typeface="+mn-lt"/>
                            <a:ea typeface="Roboto" panose="02000000000000000000" pitchFamily="2" charset="0"/>
                          </a:endParaRPr>
                        </a:p>
                      </a:txBody>
                      <a:tcPr>
                        <a:solidFill>
                          <a:schemeClr val="bg1">
                            <a:lumMod val="95000"/>
                          </a:schemeClr>
                        </a:solidFill>
                      </a:tcPr>
                    </a:tc>
                    <a:tc>
                      <a:txBody>
                        <a:bodyPr/>
                        <a:lstStyle/>
                        <a:p>
                          <a:r>
                            <a:rPr lang="es-CO" sz="1400" b="1" dirty="0">
                              <a:latin typeface="+mn-lt"/>
                              <a:ea typeface="Roboto" panose="02000000000000000000" pitchFamily="2" charset="0"/>
                            </a:rPr>
                            <a:t>Definición</a:t>
                          </a:r>
                        </a:p>
                      </a:txBody>
                      <a:tcPr>
                        <a:solidFill>
                          <a:schemeClr val="bg1">
                            <a:lumMod val="95000"/>
                          </a:schemeClr>
                        </a:solidFill>
                      </a:tcPr>
                    </a:tc>
                    <a:tc>
                      <a:txBody>
                        <a:bodyPr/>
                        <a:lstStyle/>
                        <a:p>
                          <a:r>
                            <a:rPr lang="es-CO" sz="1400" b="1" dirty="0">
                              <a:latin typeface="+mn-lt"/>
                              <a:ea typeface="Roboto" panose="02000000000000000000" pitchFamily="2" charset="0"/>
                            </a:rPr>
                            <a:t>Ejemplo</a:t>
                          </a:r>
                        </a:p>
                      </a:txBody>
                      <a:tcPr>
                        <a:solidFill>
                          <a:schemeClr val="bg1">
                            <a:lumMod val="95000"/>
                          </a:schemeClr>
                        </a:solidFill>
                      </a:tcPr>
                    </a:tc>
                    <a:extLst>
                      <a:ext uri="{0D108BD9-81ED-4DB2-BD59-A6C34878D82A}">
                        <a16:rowId xmlns:a16="http://schemas.microsoft.com/office/drawing/2014/main" val="3873507432"/>
                      </a:ext>
                    </a:extLst>
                  </a:tr>
                  <a:tr h="243775">
                    <a:tc>
                      <a:txBody>
                        <a:bodyPr/>
                        <a:lstStyle/>
                        <a:p>
                          <a:r>
                            <a:rPr lang="es-CO" sz="1400" dirty="0">
                              <a:latin typeface="+mn-lt"/>
                              <a:ea typeface="Roboto" panose="02000000000000000000" pitchFamily="2" charset="0"/>
                            </a:rPr>
                            <a:t>Unión</a:t>
                          </a:r>
                        </a:p>
                      </a:txBody>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mn-lt"/>
                                    <a:ea typeface="Roboto" panose="02000000000000000000" pitchFamily="2" charset="0"/>
                                  </a:rPr>
                                  <m:t>𝐴</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𝐵</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𝐴</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𝐵</m:t>
                                </m:r>
                                <m:r>
                                  <a:rPr lang="es-MX" sz="1400" b="0" i="1" smtClean="0">
                                    <a:latin typeface="+mn-lt"/>
                                    <a:ea typeface="Cambria Math" panose="02040503050406030204" pitchFamily="18" charset="0"/>
                                  </a:rPr>
                                  <m:t>=</m:t>
                                </m:r>
                                <m:d>
                                  <m:dPr>
                                    <m:begChr m:val="{"/>
                                    <m:endChr m:val="}"/>
                                    <m:ctrlPr>
                                      <a:rPr lang="es-MX" sz="1400" b="0" i="1" smtClean="0">
                                        <a:latin typeface="+mn-lt"/>
                                        <a:ea typeface="Cambria Math" panose="02040503050406030204" pitchFamily="18" charset="0"/>
                                      </a:rPr>
                                    </m:ctrlPr>
                                  </m:dPr>
                                  <m:e>
                                    <m:r>
                                      <a:rPr lang="es-MX" sz="1400" b="0" i="1" smtClean="0">
                                        <a:latin typeface="+mn-lt"/>
                                        <a:ea typeface="Cambria Math" panose="02040503050406030204" pitchFamily="18" charset="0"/>
                                      </a:rPr>
                                      <m:t>𝑥</m:t>
                                    </m:r>
                                  </m:e>
                                  <m:e>
                                    <m:r>
                                      <a:rPr lang="es-MX" sz="1400" b="0" i="1" smtClean="0">
                                        <a:latin typeface="+mn-lt"/>
                                        <a:ea typeface="Cambria Math" panose="02040503050406030204" pitchFamily="18" charset="0"/>
                                      </a:rPr>
                                      <m:t>𝑥</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𝐴</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𝑥</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𝐵</m:t>
                                    </m:r>
                                  </m:e>
                                </m:d>
                              </m:oMath>
                            </m:oMathPara>
                          </a14:m>
                          <a:endParaRPr lang="es-CO" sz="1400" dirty="0">
                            <a:latin typeface="+mn-lt"/>
                            <a:ea typeface="Roboto" panose="02000000000000000000" pitchFamily="2" charset="0"/>
                          </a:endParaRPr>
                        </a:p>
                      </a:txBody>
                      <a:tcPr/>
                    </a:tc>
                    <a:tc>
                      <a:txBody>
                        <a:bodyPr/>
                        <a:lstStyle/>
                        <a:p>
                          <a:pPr lvl="0" algn="l"/>
                          <a:r>
                            <a:rPr lang="es-MX" sz="1400" dirty="0">
                              <a:latin typeface="+mn-lt"/>
                              <a:ea typeface="Roboto" panose="02000000000000000000" pitchFamily="2" charset="0"/>
                            </a:rPr>
                            <a:t>Conjunto de elementos que están en A o en B (o en ambos)</a:t>
                          </a:r>
                          <a:endParaRPr lang="es-CO" sz="1400" dirty="0">
                            <a:latin typeface="+mn-lt"/>
                            <a:ea typeface="Roboto" panose="02000000000000000000" pitchFamily="2" charset="0"/>
                          </a:endParaRPr>
                        </a:p>
                      </a:txBody>
                      <a:tcPr/>
                    </a:tc>
                    <a:tc>
                      <a:txBody>
                        <a:bodyPr/>
                        <a:lstStyle/>
                        <a:p>
                          <a:pPr lvl="1" algn="l"/>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𝐴</m:t>
                                </m:r>
                                <m:r>
                                  <a:rPr lang="es-MX" sz="1400" b="0" i="1" smtClean="0">
                                    <a:latin typeface="+mn-lt"/>
                                    <a:ea typeface="Roboto" panose="02000000000000000000" pitchFamily="2" charset="0"/>
                                  </a:rPr>
                                  <m:t>=</m:t>
                                </m:r>
                                <m:d>
                                  <m:dPr>
                                    <m:begChr m:val="{"/>
                                    <m:endChr m:val="}"/>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1,2</m:t>
                                    </m:r>
                                  </m:e>
                                </m:d>
                              </m:oMath>
                            </m:oMathPara>
                          </a14:m>
                          <a:endParaRPr lang="es-MX" sz="1400" b="0" i="1" dirty="0">
                            <a:latin typeface="+mn-lt"/>
                            <a:ea typeface="Roboto" panose="02000000000000000000" pitchFamily="2" charset="0"/>
                          </a:endParaRPr>
                        </a:p>
                        <a:p>
                          <a:pPr lvl="1" algn="l"/>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𝐵</m:t>
                                </m:r>
                                <m:r>
                                  <a:rPr lang="es-MX" sz="1400" b="0" i="1" smtClean="0">
                                    <a:latin typeface="+mn-lt"/>
                                    <a:ea typeface="Roboto" panose="02000000000000000000" pitchFamily="2" charset="0"/>
                                  </a:rPr>
                                  <m:t>=</m:t>
                                </m:r>
                                <m:d>
                                  <m:dPr>
                                    <m:begChr m:val="{"/>
                                    <m:endChr m:val="}"/>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2,3</m:t>
                                    </m:r>
                                  </m:e>
                                </m:d>
                              </m:oMath>
                            </m:oMathPara>
                          </a14:m>
                          <a:endParaRPr lang="es-MX" sz="1400" b="0" i="1" dirty="0">
                            <a:latin typeface="+mn-lt"/>
                            <a:ea typeface="Roboto" panose="02000000000000000000" pitchFamily="2" charset="0"/>
                          </a:endParaRPr>
                        </a:p>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𝐴</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𝐵</m:t>
                                </m:r>
                                <m:r>
                                  <a:rPr lang="es-MX" sz="1400" b="0" i="1" smtClean="0">
                                    <a:latin typeface="+mn-lt"/>
                                    <a:ea typeface="Cambria Math" panose="02040503050406030204" pitchFamily="18" charset="0"/>
                                  </a:rPr>
                                  <m:t>=</m:t>
                                </m:r>
                                <m:d>
                                  <m:dPr>
                                    <m:begChr m:val="{"/>
                                    <m:endChr m:val="}"/>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1,2,3</m:t>
                                    </m:r>
                                  </m:e>
                                </m:d>
                              </m:oMath>
                            </m:oMathPara>
                          </a14:m>
                          <a:endParaRPr lang="es-MX" sz="1400" b="0" i="1" dirty="0">
                            <a:latin typeface="+mn-lt"/>
                            <a:ea typeface="Roboto" panose="02000000000000000000" pitchFamily="2" charset="0"/>
                          </a:endParaRPr>
                        </a:p>
                      </a:txBody>
                      <a:tcPr/>
                    </a:tc>
                    <a:extLst>
                      <a:ext uri="{0D108BD9-81ED-4DB2-BD59-A6C34878D82A}">
                        <a16:rowId xmlns:a16="http://schemas.microsoft.com/office/drawing/2014/main" val="4259179385"/>
                      </a:ext>
                    </a:extLst>
                  </a:tr>
                  <a:tr h="243775">
                    <a:tc>
                      <a:txBody>
                        <a:bodyPr/>
                        <a:lstStyle/>
                        <a:p>
                          <a:r>
                            <a:rPr lang="es-CO" sz="1400" dirty="0">
                              <a:latin typeface="+mn-lt"/>
                              <a:ea typeface="Roboto" panose="02000000000000000000" pitchFamily="2" charset="0"/>
                            </a:rPr>
                            <a:t>Intersección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mn-lt"/>
                                    <a:ea typeface="Roboto" panose="02000000000000000000" pitchFamily="2" charset="0"/>
                                  </a:rPr>
                                  <m:t>𝐴</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𝐵</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𝐴</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𝐵</m:t>
                                </m:r>
                                <m:r>
                                  <a:rPr lang="es-MX" sz="1400" b="0" i="1" smtClean="0">
                                    <a:latin typeface="+mn-lt"/>
                                    <a:ea typeface="Cambria Math" panose="02040503050406030204" pitchFamily="18" charset="0"/>
                                  </a:rPr>
                                  <m:t>=</m:t>
                                </m:r>
                                <m:d>
                                  <m:dPr>
                                    <m:begChr m:val="{"/>
                                    <m:endChr m:val="}"/>
                                    <m:ctrlPr>
                                      <a:rPr lang="es-MX" sz="1400" b="0" i="1" smtClean="0">
                                        <a:latin typeface="+mn-lt"/>
                                        <a:ea typeface="Cambria Math" panose="02040503050406030204" pitchFamily="18" charset="0"/>
                                      </a:rPr>
                                    </m:ctrlPr>
                                  </m:dPr>
                                  <m:e>
                                    <m:r>
                                      <a:rPr lang="es-MX" sz="1400" b="0" i="1" smtClean="0">
                                        <a:latin typeface="+mn-lt"/>
                                        <a:ea typeface="Cambria Math" panose="02040503050406030204" pitchFamily="18" charset="0"/>
                                      </a:rPr>
                                      <m:t>𝑥</m:t>
                                    </m:r>
                                  </m:e>
                                  <m:e>
                                    <m:r>
                                      <a:rPr lang="es-MX" sz="1400" b="0" i="1" smtClean="0">
                                        <a:latin typeface="+mn-lt"/>
                                        <a:ea typeface="Cambria Math" panose="02040503050406030204" pitchFamily="18" charset="0"/>
                                      </a:rPr>
                                      <m:t>𝑥</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𝐴</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𝑥</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𝐵</m:t>
                                    </m:r>
                                  </m:e>
                                </m:d>
                              </m:oMath>
                            </m:oMathPara>
                          </a14:m>
                          <a:endParaRPr lang="es-CO" sz="1400" dirty="0">
                            <a:latin typeface="+mn-lt"/>
                            <a:ea typeface="Roboto" panose="02000000000000000000" pitchFamily="2" charset="0"/>
                          </a:endParaRPr>
                        </a:p>
                        <a:p>
                          <a:endParaRPr lang="es-CO" sz="1400" dirty="0">
                            <a:latin typeface="+mn-lt"/>
                            <a:ea typeface="Roboto" panose="02000000000000000000" pitchFamily="2" charset="0"/>
                          </a:endParaRPr>
                        </a:p>
                      </a:txBody>
                      <a:tcPr/>
                    </a:tc>
                    <a:tc>
                      <a:txBody>
                        <a:bodyPr/>
                        <a:lstStyle/>
                        <a:p>
                          <a:pPr lvl="0" algn="l"/>
                          <a:r>
                            <a:rPr lang="es-MX" sz="1400" dirty="0">
                              <a:latin typeface="+mn-lt"/>
                              <a:ea typeface="Roboto" panose="02000000000000000000" pitchFamily="2" charset="0"/>
                            </a:rPr>
                            <a:t>Conjunto de elementos que están tanto en A como en B</a:t>
                          </a:r>
                          <a:endParaRPr lang="es-CO" sz="1400" dirty="0">
                            <a:latin typeface="+mn-lt"/>
                            <a:ea typeface="Roboto" panose="02000000000000000000" pitchFamily="2" charset="0"/>
                          </a:endParaRPr>
                        </a:p>
                      </a:txBody>
                      <a:tcPr/>
                    </a:tc>
                    <a:tc>
                      <a:txBody>
                        <a:bodyPr/>
                        <a:lstStyle/>
                        <a:p>
                          <a:pPr lvl="1" algn="l"/>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𝐴</m:t>
                                </m:r>
                                <m:r>
                                  <a:rPr lang="es-MX" sz="1400" b="0" i="1" smtClean="0">
                                    <a:latin typeface="+mn-lt"/>
                                    <a:ea typeface="Roboto" panose="02000000000000000000" pitchFamily="2" charset="0"/>
                                  </a:rPr>
                                  <m:t>=</m:t>
                                </m:r>
                                <m:d>
                                  <m:dPr>
                                    <m:begChr m:val="{"/>
                                    <m:endChr m:val="}"/>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1,2</m:t>
                                    </m:r>
                                  </m:e>
                                </m:d>
                              </m:oMath>
                            </m:oMathPara>
                          </a14:m>
                          <a:endParaRPr lang="es-MX" sz="1400" b="0" i="1" dirty="0">
                            <a:latin typeface="+mn-lt"/>
                            <a:ea typeface="Roboto" panose="02000000000000000000" pitchFamily="2" charset="0"/>
                          </a:endParaRPr>
                        </a:p>
                        <a:p>
                          <a:pPr lvl="1" algn="l"/>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𝐵</m:t>
                                </m:r>
                                <m:r>
                                  <a:rPr lang="es-MX" sz="1400" b="0" i="1" smtClean="0">
                                    <a:latin typeface="+mn-lt"/>
                                    <a:ea typeface="Roboto" panose="02000000000000000000" pitchFamily="2" charset="0"/>
                                  </a:rPr>
                                  <m:t>=</m:t>
                                </m:r>
                                <m:d>
                                  <m:dPr>
                                    <m:begChr m:val="{"/>
                                    <m:endChr m:val="}"/>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2,3</m:t>
                                    </m:r>
                                  </m:e>
                                </m:d>
                              </m:oMath>
                            </m:oMathPara>
                          </a14:m>
                          <a:endParaRPr lang="es-MX" sz="1400" b="0" i="1" dirty="0">
                            <a:latin typeface="+mn-lt"/>
                            <a:ea typeface="Roboto" panose="02000000000000000000" pitchFamily="2" charset="0"/>
                          </a:endParaRPr>
                        </a:p>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𝐴</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𝐵</m:t>
                                </m:r>
                                <m:r>
                                  <a:rPr lang="es-MX" sz="1400" b="0" i="1" smtClean="0">
                                    <a:latin typeface="+mn-lt"/>
                                    <a:ea typeface="Cambria Math" panose="02040503050406030204" pitchFamily="18" charset="0"/>
                                  </a:rPr>
                                  <m:t>=</m:t>
                                </m:r>
                                <m:d>
                                  <m:dPr>
                                    <m:begChr m:val="{"/>
                                    <m:endChr m:val="}"/>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2</m:t>
                                    </m:r>
                                  </m:e>
                                </m:d>
                              </m:oMath>
                            </m:oMathPara>
                          </a14:m>
                          <a:endParaRPr lang="es-MX" sz="1400" b="0" i="1" dirty="0">
                            <a:latin typeface="+mn-lt"/>
                            <a:ea typeface="Roboto" panose="02000000000000000000" pitchFamily="2" charset="0"/>
                          </a:endParaRPr>
                        </a:p>
                      </a:txBody>
                      <a:tcPr/>
                    </a:tc>
                    <a:extLst>
                      <a:ext uri="{0D108BD9-81ED-4DB2-BD59-A6C34878D82A}">
                        <a16:rowId xmlns:a16="http://schemas.microsoft.com/office/drawing/2014/main" val="1078799334"/>
                      </a:ext>
                    </a:extLst>
                  </a:tr>
                  <a:tr h="243775">
                    <a:tc>
                      <a:txBody>
                        <a:bodyPr/>
                        <a:lstStyle/>
                        <a:p>
                          <a:r>
                            <a:rPr lang="es-CO" sz="1400" dirty="0">
                              <a:latin typeface="+mn-lt"/>
                              <a:ea typeface="Roboto" panose="02000000000000000000" pitchFamily="2" charset="0"/>
                            </a:rPr>
                            <a:t>Diferencia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mn-lt"/>
                                    <a:ea typeface="Roboto" panose="02000000000000000000" pitchFamily="2" charset="0"/>
                                  </a:rPr>
                                  <m:t>𝐴</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𝐵</m:t>
                                </m:r>
                                <m:r>
                                  <a:rPr lang="es-MX" sz="1400" b="0" i="1" smtClean="0">
                                    <a:latin typeface="+mn-lt"/>
                                    <a:ea typeface="Cambria Math" panose="02040503050406030204" pitchFamily="18" charset="0"/>
                                  </a:rPr>
                                  <m:t>=</m:t>
                                </m:r>
                                <m:d>
                                  <m:dPr>
                                    <m:begChr m:val="{"/>
                                    <m:endChr m:val="}"/>
                                    <m:ctrlPr>
                                      <a:rPr lang="es-MX" sz="1400" b="0" i="1" smtClean="0">
                                        <a:latin typeface="+mn-lt"/>
                                        <a:ea typeface="Cambria Math" panose="02040503050406030204" pitchFamily="18" charset="0"/>
                                      </a:rPr>
                                    </m:ctrlPr>
                                  </m:dPr>
                                  <m:e>
                                    <m:r>
                                      <a:rPr lang="es-MX" sz="1400" b="0" i="1" smtClean="0">
                                        <a:latin typeface="+mn-lt"/>
                                        <a:ea typeface="Cambria Math" panose="02040503050406030204" pitchFamily="18" charset="0"/>
                                      </a:rPr>
                                      <m:t>𝑥</m:t>
                                    </m:r>
                                  </m:e>
                                  <m:e>
                                    <m:r>
                                      <a:rPr lang="es-MX" sz="1400" b="0" i="1" smtClean="0">
                                        <a:latin typeface="+mn-lt"/>
                                        <a:ea typeface="Cambria Math" panose="02040503050406030204" pitchFamily="18" charset="0"/>
                                      </a:rPr>
                                      <m:t>𝑥</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𝐴</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𝑥</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𝐵</m:t>
                                    </m:r>
                                  </m:e>
                                </m:d>
                              </m:oMath>
                            </m:oMathPara>
                          </a14:m>
                          <a:endParaRPr lang="es-CO" sz="1400" dirty="0">
                            <a:latin typeface="+mn-lt"/>
                            <a:ea typeface="Roboto" panose="02000000000000000000" pitchFamily="2" charset="0"/>
                          </a:endParaRPr>
                        </a:p>
                        <a:p>
                          <a:endParaRPr lang="es-CO" sz="1400" dirty="0">
                            <a:latin typeface="+mn-lt"/>
                            <a:ea typeface="Roboto" panose="02000000000000000000" pitchFamily="2" charset="0"/>
                          </a:endParaRPr>
                        </a:p>
                      </a:txBody>
                      <a:tcPr/>
                    </a:tc>
                    <a:tc>
                      <a:txBody>
                        <a:bodyPr/>
                        <a:lstStyle/>
                        <a:p>
                          <a:pPr lvl="0" algn="l"/>
                          <a:r>
                            <a:rPr lang="es-MX" sz="1400" dirty="0">
                              <a:latin typeface="+mn-lt"/>
                              <a:ea typeface="Roboto" panose="02000000000000000000" pitchFamily="2" charset="0"/>
                            </a:rPr>
                            <a:t>Conjunto de elementos que están en A pero no en B</a:t>
                          </a:r>
                          <a:endParaRPr lang="es-CO" sz="1400" dirty="0">
                            <a:latin typeface="+mn-lt"/>
                            <a:ea typeface="Roboto" panose="02000000000000000000" pitchFamily="2" charset="0"/>
                          </a:endParaRPr>
                        </a:p>
                      </a:txBody>
                      <a:tcPr/>
                    </a:tc>
                    <a:tc>
                      <a:txBody>
                        <a:bodyPr/>
                        <a:lstStyle/>
                        <a:p>
                          <a:pPr lvl="1" algn="l"/>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𝐴</m:t>
                                </m:r>
                                <m:r>
                                  <a:rPr lang="es-MX" sz="1400" b="0" i="1" smtClean="0">
                                    <a:latin typeface="+mn-lt"/>
                                    <a:ea typeface="Roboto" panose="02000000000000000000" pitchFamily="2" charset="0"/>
                                  </a:rPr>
                                  <m:t>=</m:t>
                                </m:r>
                                <m:d>
                                  <m:dPr>
                                    <m:begChr m:val="{"/>
                                    <m:endChr m:val="}"/>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1,2,3</m:t>
                                    </m:r>
                                  </m:e>
                                </m:d>
                              </m:oMath>
                            </m:oMathPara>
                          </a14:m>
                          <a:endParaRPr lang="es-MX" sz="1400" b="0" i="1" dirty="0">
                            <a:latin typeface="+mn-lt"/>
                            <a:ea typeface="Roboto" panose="02000000000000000000" pitchFamily="2" charset="0"/>
                          </a:endParaRPr>
                        </a:p>
                        <a:p>
                          <a:pPr lvl="1" algn="l"/>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𝐵</m:t>
                                </m:r>
                                <m:r>
                                  <a:rPr lang="es-MX" sz="1400" b="0" i="1" smtClean="0">
                                    <a:latin typeface="+mn-lt"/>
                                    <a:ea typeface="Roboto" panose="02000000000000000000" pitchFamily="2" charset="0"/>
                                  </a:rPr>
                                  <m:t>=</m:t>
                                </m:r>
                                <m:d>
                                  <m:dPr>
                                    <m:begChr m:val="{"/>
                                    <m:endChr m:val="}"/>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2</m:t>
                                    </m:r>
                                  </m:e>
                                </m:d>
                              </m:oMath>
                            </m:oMathPara>
                          </a14:m>
                          <a:endParaRPr lang="es-MX" sz="1400" b="0" i="1" dirty="0">
                            <a:latin typeface="+mn-lt"/>
                            <a:ea typeface="Roboto" panose="02000000000000000000" pitchFamily="2" charset="0"/>
                          </a:endParaRPr>
                        </a:p>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𝐴</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𝐵</m:t>
                                </m:r>
                                <m:r>
                                  <a:rPr lang="es-MX" sz="1400" b="0" i="1" smtClean="0">
                                    <a:latin typeface="+mn-lt"/>
                                    <a:ea typeface="Cambria Math" panose="02040503050406030204" pitchFamily="18" charset="0"/>
                                  </a:rPr>
                                  <m:t>=</m:t>
                                </m:r>
                                <m:d>
                                  <m:dPr>
                                    <m:begChr m:val="{"/>
                                    <m:endChr m:val="}"/>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1,3</m:t>
                                    </m:r>
                                  </m:e>
                                </m:d>
                              </m:oMath>
                            </m:oMathPara>
                          </a14:m>
                          <a:endParaRPr lang="es-MX" sz="1400" b="0" dirty="0">
                            <a:latin typeface="+mn-lt"/>
                            <a:ea typeface="Roboto" panose="02000000000000000000" pitchFamily="2" charset="0"/>
                          </a:endParaRPr>
                        </a:p>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400" b="0" i="1" smtClean="0">
                                    <a:latin typeface="+mn-lt"/>
                                    <a:ea typeface="Cambria Math" panose="02040503050406030204" pitchFamily="18" charset="0"/>
                                  </a:rPr>
                                  <m:t>𝐵</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𝐴</m:t>
                                </m:r>
                                <m:r>
                                  <a:rPr lang="es-MX" sz="1400" b="0" i="1" smtClean="0">
                                    <a:latin typeface="+mn-lt"/>
                                    <a:ea typeface="Cambria Math" panose="02040503050406030204" pitchFamily="18" charset="0"/>
                                  </a:rPr>
                                  <m:t>=</m:t>
                                </m:r>
                                <m:d>
                                  <m:dPr>
                                    <m:begChr m:val="{"/>
                                    <m:endChr m:val="}"/>
                                    <m:ctrlPr>
                                      <a:rPr lang="es-MX" sz="1400" b="0" i="1" smtClean="0">
                                        <a:latin typeface="+mn-lt"/>
                                        <a:ea typeface="Roboto" panose="02000000000000000000" pitchFamily="2" charset="0"/>
                                      </a:rPr>
                                    </m:ctrlPr>
                                  </m:dPr>
                                  <m:e/>
                                </m:d>
                                <m:r>
                                  <a:rPr lang="es-MX" sz="1400" b="0" i="1" smtClean="0">
                                    <a:latin typeface="+mn-lt"/>
                                    <a:ea typeface="Roboto" panose="02000000000000000000" pitchFamily="2" charset="0"/>
                                  </a:rPr>
                                  <m:t>=∅</m:t>
                                </m:r>
                              </m:oMath>
                            </m:oMathPara>
                          </a14:m>
                          <a:endParaRPr lang="es-CO" sz="1400" dirty="0">
                            <a:latin typeface="+mn-lt"/>
                            <a:ea typeface="Roboto" panose="02000000000000000000" pitchFamily="2" charset="0"/>
                          </a:endParaRPr>
                        </a:p>
                      </a:txBody>
                      <a:tcPr/>
                    </a:tc>
                    <a:extLst>
                      <a:ext uri="{0D108BD9-81ED-4DB2-BD59-A6C34878D82A}">
                        <a16:rowId xmlns:a16="http://schemas.microsoft.com/office/drawing/2014/main" val="682340052"/>
                      </a:ext>
                    </a:extLst>
                  </a:tr>
                  <a:tr h="243775">
                    <a:tc>
                      <a:txBody>
                        <a:bodyPr/>
                        <a:lstStyle/>
                        <a:p>
                          <a:r>
                            <a:rPr lang="es-CO" sz="1400" dirty="0">
                              <a:latin typeface="+mn-lt"/>
                              <a:ea typeface="Roboto" panose="02000000000000000000" pitchFamily="2" charset="0"/>
                            </a:rPr>
                            <a:t>Diferencia simétrica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mn-lt"/>
                                    <a:ea typeface="Roboto" panose="02000000000000000000" pitchFamily="2" charset="0"/>
                                  </a:rPr>
                                  <m:t>𝐴</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𝐵</m:t>
                                </m:r>
                                <m:r>
                                  <a:rPr lang="es-MX" sz="1400" b="0" i="1" smtClean="0">
                                    <a:latin typeface="+mn-lt"/>
                                    <a:ea typeface="Cambria Math" panose="02040503050406030204" pitchFamily="18" charset="0"/>
                                  </a:rPr>
                                  <m:t>=</m:t>
                                </m:r>
                                <m:d>
                                  <m:dPr>
                                    <m:begChr m:val="{"/>
                                    <m:endChr m:val="}"/>
                                    <m:ctrlPr>
                                      <a:rPr lang="es-MX" sz="1400" b="0" i="1" smtClean="0">
                                        <a:latin typeface="+mn-lt"/>
                                        <a:ea typeface="Cambria Math" panose="02040503050406030204" pitchFamily="18" charset="0"/>
                                      </a:rPr>
                                    </m:ctrlPr>
                                  </m:dPr>
                                  <m:e>
                                    <m:r>
                                      <a:rPr lang="es-MX" sz="1400" b="0" i="1" smtClean="0">
                                        <a:latin typeface="+mn-lt"/>
                                        <a:ea typeface="Cambria Math" panose="02040503050406030204" pitchFamily="18" charset="0"/>
                                      </a:rPr>
                                      <m:t>𝑥</m:t>
                                    </m:r>
                                  </m:e>
                                  <m:e>
                                    <m:d>
                                      <m:dPr>
                                        <m:ctrlPr>
                                          <a:rPr lang="es-MX" sz="1400" b="0" i="1" smtClean="0">
                                            <a:latin typeface="+mn-lt"/>
                                            <a:ea typeface="Cambria Math" panose="02040503050406030204" pitchFamily="18" charset="0"/>
                                          </a:rPr>
                                        </m:ctrlPr>
                                      </m:dPr>
                                      <m:e>
                                        <m:r>
                                          <a:rPr lang="es-MX" sz="1400" b="0" i="1" smtClean="0">
                                            <a:latin typeface="+mn-lt"/>
                                            <a:ea typeface="Cambria Math" panose="02040503050406030204" pitchFamily="18" charset="0"/>
                                          </a:rPr>
                                          <m:t>𝑥</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𝐴</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𝑥</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𝐵</m:t>
                                        </m:r>
                                      </m:e>
                                    </m:d>
                                    <m:r>
                                      <a:rPr lang="es-MX" sz="1400" b="0" i="1" smtClean="0">
                                        <a:latin typeface="+mn-lt"/>
                                        <a:ea typeface="Cambria Math" panose="02040503050406030204" pitchFamily="18" charset="0"/>
                                      </a:rPr>
                                      <m:t>∨</m:t>
                                    </m:r>
                                    <m:d>
                                      <m:dPr>
                                        <m:ctrlPr>
                                          <a:rPr lang="es-MX" sz="1400" b="0" i="1" smtClean="0">
                                            <a:latin typeface="+mn-lt"/>
                                            <a:ea typeface="Cambria Math" panose="02040503050406030204" pitchFamily="18" charset="0"/>
                                          </a:rPr>
                                        </m:ctrlPr>
                                      </m:dPr>
                                      <m:e>
                                        <m:r>
                                          <a:rPr lang="es-MX" sz="1400" b="0" i="1" smtClean="0">
                                            <a:latin typeface="+mn-lt"/>
                                            <a:ea typeface="Cambria Math" panose="02040503050406030204" pitchFamily="18" charset="0"/>
                                          </a:rPr>
                                          <m:t>𝑥</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𝐵</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𝑥</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𝐴</m:t>
                                        </m:r>
                                      </m:e>
                                    </m:d>
                                  </m:e>
                                </m:d>
                              </m:oMath>
                            </m:oMathPara>
                          </a14:m>
                          <a:endParaRPr lang="es-CO" sz="1400" dirty="0">
                            <a:latin typeface="+mn-lt"/>
                            <a:ea typeface="Roboto" panose="02000000000000000000" pitchFamily="2" charset="0"/>
                          </a:endParaRPr>
                        </a:p>
                        <a:p>
                          <a:endParaRPr lang="es-CO" sz="1400" dirty="0">
                            <a:latin typeface="+mn-lt"/>
                            <a:ea typeface="Roboto" panose="02000000000000000000" pitchFamily="2" charset="0"/>
                          </a:endParaRPr>
                        </a:p>
                      </a:txBody>
                      <a:tcPr/>
                    </a:tc>
                    <a:tc>
                      <a:txBody>
                        <a:bodyPr/>
                        <a:lstStyle/>
                        <a:p>
                          <a:pPr lvl="0" algn="l"/>
                          <a:r>
                            <a:rPr lang="es-MX" sz="1400" dirty="0">
                              <a:latin typeface="+mn-lt"/>
                              <a:ea typeface="Roboto" panose="02000000000000000000" pitchFamily="2" charset="0"/>
                            </a:rPr>
                            <a:t>Conjunto de elementos que están en A o en B, pero no en ambos</a:t>
                          </a:r>
                          <a:endParaRPr lang="es-CO" sz="1400" dirty="0">
                            <a:latin typeface="+mn-lt"/>
                            <a:ea typeface="Roboto" panose="02000000000000000000" pitchFamily="2" charset="0"/>
                          </a:endParaRPr>
                        </a:p>
                      </a:txBody>
                      <a:tcPr/>
                    </a:tc>
                    <a:tc>
                      <a:txBody>
                        <a:bodyPr/>
                        <a:lstStyle/>
                        <a:p>
                          <a:pPr lvl="1" algn="l"/>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𝐴</m:t>
                                </m:r>
                                <m:r>
                                  <a:rPr lang="es-MX" sz="1400" b="0" i="1" smtClean="0">
                                    <a:latin typeface="+mn-lt"/>
                                    <a:ea typeface="Roboto" panose="02000000000000000000" pitchFamily="2" charset="0"/>
                                  </a:rPr>
                                  <m:t>=</m:t>
                                </m:r>
                                <m:d>
                                  <m:dPr>
                                    <m:begChr m:val="{"/>
                                    <m:endChr m:val="}"/>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1,2</m:t>
                                    </m:r>
                                  </m:e>
                                </m:d>
                              </m:oMath>
                            </m:oMathPara>
                          </a14:m>
                          <a:endParaRPr lang="es-MX" sz="1400" b="0" i="1" dirty="0">
                            <a:latin typeface="+mn-lt"/>
                            <a:ea typeface="Roboto" panose="02000000000000000000" pitchFamily="2" charset="0"/>
                          </a:endParaRPr>
                        </a:p>
                        <a:p>
                          <a:pPr lvl="1" algn="l"/>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𝐵</m:t>
                                </m:r>
                                <m:r>
                                  <a:rPr lang="es-MX" sz="1400" b="0" i="1" smtClean="0">
                                    <a:latin typeface="+mn-lt"/>
                                    <a:ea typeface="Roboto" panose="02000000000000000000" pitchFamily="2" charset="0"/>
                                  </a:rPr>
                                  <m:t>=</m:t>
                                </m:r>
                                <m:d>
                                  <m:dPr>
                                    <m:begChr m:val="{"/>
                                    <m:endChr m:val="}"/>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2,3</m:t>
                                    </m:r>
                                  </m:e>
                                </m:d>
                              </m:oMath>
                            </m:oMathPara>
                          </a14:m>
                          <a:endParaRPr lang="es-MX" sz="1400" b="0" i="1" dirty="0">
                            <a:latin typeface="+mn-lt"/>
                            <a:ea typeface="Roboto" panose="02000000000000000000" pitchFamily="2" charset="0"/>
                          </a:endParaRPr>
                        </a:p>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𝐴</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𝐵</m:t>
                                </m:r>
                                <m:r>
                                  <a:rPr lang="es-MX" sz="1400" b="0" i="1" smtClean="0">
                                    <a:latin typeface="+mn-lt"/>
                                    <a:ea typeface="Cambria Math" panose="02040503050406030204" pitchFamily="18" charset="0"/>
                                  </a:rPr>
                                  <m:t>=</m:t>
                                </m:r>
                                <m:d>
                                  <m:dPr>
                                    <m:begChr m:val="{"/>
                                    <m:endChr m:val="}"/>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1,3</m:t>
                                    </m:r>
                                  </m:e>
                                </m:d>
                              </m:oMath>
                            </m:oMathPara>
                          </a14:m>
                          <a:endParaRPr lang="es-MX" sz="1400" b="0" i="1" dirty="0">
                            <a:latin typeface="+mn-lt"/>
                            <a:ea typeface="Roboto" panose="02000000000000000000" pitchFamily="2" charset="0"/>
                          </a:endParaRPr>
                        </a:p>
                      </a:txBody>
                      <a:tcPr/>
                    </a:tc>
                    <a:extLst>
                      <a:ext uri="{0D108BD9-81ED-4DB2-BD59-A6C34878D82A}">
                        <a16:rowId xmlns:a16="http://schemas.microsoft.com/office/drawing/2014/main" val="3118226202"/>
                      </a:ext>
                    </a:extLst>
                  </a:tr>
                  <a:tr h="0">
                    <a:tc>
                      <a:txBody>
                        <a:bodyPr/>
                        <a:lstStyle/>
                        <a:p>
                          <a:r>
                            <a:rPr lang="es-CO" sz="1400" dirty="0">
                              <a:latin typeface="+mn-lt"/>
                              <a:ea typeface="Roboto" panose="02000000000000000000" pitchFamily="2" charset="0"/>
                            </a:rPr>
                            <a:t>Complemento</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p>
                                  <m:sSupPr>
                                    <m:ctrlPr>
                                      <a:rPr lang="es-MX" sz="1400" b="0" i="1" smtClean="0">
                                        <a:latin typeface="+mn-lt"/>
                                        <a:ea typeface="Roboto" panose="02000000000000000000" pitchFamily="2" charset="0"/>
                                      </a:rPr>
                                    </m:ctrlPr>
                                  </m:sSupPr>
                                  <m:e>
                                    <m:r>
                                      <a:rPr lang="es-MX" sz="1400" b="0" i="1" smtClean="0">
                                        <a:latin typeface="+mn-lt"/>
                                        <a:ea typeface="Roboto" panose="02000000000000000000" pitchFamily="2" charset="0"/>
                                      </a:rPr>
                                      <m:t>𝐴</m:t>
                                    </m:r>
                                  </m:e>
                                  <m:sup>
                                    <m:r>
                                      <a:rPr lang="es-MX" sz="1400" b="0" i="1" smtClean="0">
                                        <a:latin typeface="+mn-lt"/>
                                        <a:ea typeface="Roboto" panose="02000000000000000000" pitchFamily="2" charset="0"/>
                                      </a:rPr>
                                      <m:t>′</m:t>
                                    </m:r>
                                  </m:sup>
                                </m:sSup>
                                <m:r>
                                  <a:rPr lang="es-MX" sz="1400" b="0" i="1" smtClean="0">
                                    <a:latin typeface="+mn-lt"/>
                                    <a:ea typeface="Cambria Math" panose="02040503050406030204" pitchFamily="18" charset="0"/>
                                  </a:rPr>
                                  <m:t>=</m:t>
                                </m:r>
                                <m:sSup>
                                  <m:sSupPr>
                                    <m:ctrlPr>
                                      <a:rPr lang="es-MX" sz="1400" b="0" i="1" smtClean="0">
                                        <a:latin typeface="+mn-lt"/>
                                        <a:ea typeface="Cambria Math" panose="02040503050406030204" pitchFamily="18" charset="0"/>
                                      </a:rPr>
                                    </m:ctrlPr>
                                  </m:sSupPr>
                                  <m:e>
                                    <m:r>
                                      <a:rPr lang="es-MX" sz="1400" b="0" i="1" smtClean="0">
                                        <a:latin typeface="+mn-lt"/>
                                        <a:ea typeface="Cambria Math" panose="02040503050406030204" pitchFamily="18" charset="0"/>
                                      </a:rPr>
                                      <m:t>𝐴</m:t>
                                    </m:r>
                                  </m:e>
                                  <m:sup>
                                    <m:r>
                                      <a:rPr lang="es-MX" sz="1400" b="0" i="1" smtClean="0">
                                        <a:latin typeface="+mn-lt"/>
                                        <a:ea typeface="Cambria Math" panose="02040503050406030204" pitchFamily="18" charset="0"/>
                                      </a:rPr>
                                      <m:t>𝐶</m:t>
                                    </m:r>
                                  </m:sup>
                                </m:sSup>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𝑈</m:t>
                                </m:r>
                                <m:r>
                                  <a:rPr lang="es-MX" sz="1400" b="0" i="1" smtClean="0">
                                    <a:latin typeface="+mn-lt"/>
                                    <a:ea typeface="Cambria Math" panose="02040503050406030204" pitchFamily="18" charset="0"/>
                                  </a:rPr>
                                  <m:t>−</m:t>
                                </m:r>
                                <m:r>
                                  <a:rPr lang="es-MX" sz="1400" b="0" i="1" smtClean="0">
                                    <a:latin typeface="+mn-lt"/>
                                    <a:ea typeface="Cambria Math" panose="02040503050406030204" pitchFamily="18" charset="0"/>
                                  </a:rPr>
                                  <m:t>𝐴</m:t>
                                </m:r>
                              </m:oMath>
                            </m:oMathPara>
                          </a14:m>
                          <a:endParaRPr lang="es-CO" sz="1400" dirty="0">
                            <a:latin typeface="+mn-lt"/>
                            <a:ea typeface="Roboto" panose="02000000000000000000" pitchFamily="2" charset="0"/>
                          </a:endParaRPr>
                        </a:p>
                        <a:p>
                          <a:endParaRPr lang="es-CO" sz="1400" dirty="0">
                            <a:latin typeface="+mn-lt"/>
                            <a:ea typeface="Roboto" panose="02000000000000000000" pitchFamily="2" charset="0"/>
                          </a:endParaRPr>
                        </a:p>
                      </a:txBody>
                      <a:tcPr/>
                    </a:tc>
                    <a:tc>
                      <a:txBody>
                        <a:bodyPr/>
                        <a:lstStyle/>
                        <a:p>
                          <a:pPr lvl="0" algn="l"/>
                          <a:r>
                            <a:rPr lang="es-MX" sz="1400" dirty="0">
                              <a:latin typeface="+mn-lt"/>
                              <a:ea typeface="Roboto" panose="02000000000000000000" pitchFamily="2" charset="0"/>
                            </a:rPr>
                            <a:t>Conjunto de elementos que están en el universo pero no en A</a:t>
                          </a:r>
                          <a:endParaRPr lang="es-CO" sz="1400" dirty="0">
                            <a:latin typeface="+mn-lt"/>
                            <a:ea typeface="Roboto" panose="02000000000000000000" pitchFamily="2" charset="0"/>
                          </a:endParaRPr>
                        </a:p>
                      </a:txBody>
                      <a:tcPr/>
                    </a:tc>
                    <a:tc>
                      <a:txBody>
                        <a:bodyPr/>
                        <a:lstStyle/>
                        <a:p>
                          <a:pPr lvl="1" algn="l"/>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𝑈</m:t>
                                </m:r>
                                <m:r>
                                  <a:rPr lang="es-MX" sz="1400" b="0" i="1" smtClean="0">
                                    <a:latin typeface="+mn-lt"/>
                                    <a:ea typeface="Roboto" panose="02000000000000000000" pitchFamily="2" charset="0"/>
                                  </a:rPr>
                                  <m:t>=</m:t>
                                </m:r>
                                <m:d>
                                  <m:dPr>
                                    <m:begChr m:val="{"/>
                                    <m:endChr m:val="}"/>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1,2,3</m:t>
                                    </m:r>
                                  </m:e>
                                </m:d>
                              </m:oMath>
                            </m:oMathPara>
                          </a14:m>
                          <a:endParaRPr lang="es-MX" sz="1400" b="0" i="1" dirty="0">
                            <a:latin typeface="+mn-lt"/>
                            <a:ea typeface="Roboto" panose="02000000000000000000" pitchFamily="2" charset="0"/>
                          </a:endParaRPr>
                        </a:p>
                        <a:p>
                          <a:pPr lvl="1" algn="l"/>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𝐴</m:t>
                                </m:r>
                                <m:r>
                                  <a:rPr lang="es-MX" sz="1400" b="0" i="1" smtClean="0">
                                    <a:latin typeface="+mn-lt"/>
                                    <a:ea typeface="Roboto" panose="02000000000000000000" pitchFamily="2" charset="0"/>
                                  </a:rPr>
                                  <m:t>=</m:t>
                                </m:r>
                                <m:d>
                                  <m:dPr>
                                    <m:begChr m:val="{"/>
                                    <m:endChr m:val="}"/>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1,2</m:t>
                                    </m:r>
                                  </m:e>
                                </m:d>
                              </m:oMath>
                            </m:oMathPara>
                          </a14:m>
                          <a:endParaRPr lang="es-MX" sz="1400" b="0" i="1" dirty="0">
                            <a:latin typeface="+mn-lt"/>
                            <a:ea typeface="Roboto" panose="02000000000000000000" pitchFamily="2" charset="0"/>
                          </a:endParaRPr>
                        </a:p>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sSup>
                                  <m:sSupPr>
                                    <m:ctrlPr>
                                      <a:rPr lang="es-MX" sz="1400" b="0" i="1" smtClean="0">
                                        <a:latin typeface="+mn-lt"/>
                                        <a:ea typeface="Cambria Math" panose="02040503050406030204" pitchFamily="18" charset="0"/>
                                      </a:rPr>
                                    </m:ctrlPr>
                                  </m:sSupPr>
                                  <m:e>
                                    <m:r>
                                      <a:rPr lang="es-MX" sz="1400" b="0" i="1" smtClean="0">
                                        <a:latin typeface="+mn-lt"/>
                                        <a:ea typeface="Roboto" panose="02000000000000000000" pitchFamily="2" charset="0"/>
                                      </a:rPr>
                                      <m:t>𝐴</m:t>
                                    </m:r>
                                  </m:e>
                                  <m:sup>
                                    <m:r>
                                      <a:rPr lang="es-MX" sz="1400" b="0" i="1" smtClean="0">
                                        <a:latin typeface="+mn-lt"/>
                                        <a:ea typeface="Cambria Math" panose="02040503050406030204" pitchFamily="18" charset="0"/>
                                      </a:rPr>
                                      <m:t>′</m:t>
                                    </m:r>
                                  </m:sup>
                                </m:sSup>
                                <m:r>
                                  <a:rPr lang="es-MX" sz="1400" b="0" i="1" smtClean="0">
                                    <a:latin typeface="+mn-lt"/>
                                    <a:ea typeface="Cambria Math" panose="02040503050406030204" pitchFamily="18" charset="0"/>
                                  </a:rPr>
                                  <m:t>=</m:t>
                                </m:r>
                                <m:sSup>
                                  <m:sSupPr>
                                    <m:ctrlPr>
                                      <a:rPr lang="es-MX" sz="1400" b="0" i="1" smtClean="0">
                                        <a:latin typeface="+mn-lt"/>
                                        <a:ea typeface="Cambria Math" panose="02040503050406030204" pitchFamily="18" charset="0"/>
                                      </a:rPr>
                                    </m:ctrlPr>
                                  </m:sSupPr>
                                  <m:e>
                                    <m:r>
                                      <a:rPr lang="es-MX" sz="1400" b="0" i="1" smtClean="0">
                                        <a:latin typeface="+mn-lt"/>
                                        <a:ea typeface="Cambria Math" panose="02040503050406030204" pitchFamily="18" charset="0"/>
                                      </a:rPr>
                                      <m:t>𝐴</m:t>
                                    </m:r>
                                  </m:e>
                                  <m:sup>
                                    <m:r>
                                      <a:rPr lang="es-MX" sz="1400" b="0" i="1" smtClean="0">
                                        <a:latin typeface="+mn-lt"/>
                                        <a:ea typeface="Cambria Math" panose="02040503050406030204" pitchFamily="18" charset="0"/>
                                      </a:rPr>
                                      <m:t>𝐶</m:t>
                                    </m:r>
                                  </m:sup>
                                </m:sSup>
                                <m:r>
                                  <a:rPr lang="es-MX" sz="1400" b="0" i="1" smtClean="0">
                                    <a:latin typeface="+mn-lt"/>
                                    <a:ea typeface="Cambria Math" panose="02040503050406030204" pitchFamily="18" charset="0"/>
                                  </a:rPr>
                                  <m:t>=</m:t>
                                </m:r>
                                <m:d>
                                  <m:dPr>
                                    <m:begChr m:val="{"/>
                                    <m:endChr m:val="}"/>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3</m:t>
                                    </m:r>
                                  </m:e>
                                </m:d>
                              </m:oMath>
                            </m:oMathPara>
                          </a14:m>
                          <a:endParaRPr lang="es-MX" sz="1400" b="0" i="1" dirty="0">
                            <a:latin typeface="+mn-lt"/>
                            <a:ea typeface="Roboto" panose="02000000000000000000" pitchFamily="2" charset="0"/>
                          </a:endParaRPr>
                        </a:p>
                      </a:txBody>
                      <a:tcPr/>
                    </a:tc>
                    <a:extLst>
                      <a:ext uri="{0D108BD9-81ED-4DB2-BD59-A6C34878D82A}">
                        <a16:rowId xmlns:a16="http://schemas.microsoft.com/office/drawing/2014/main" val="2217682141"/>
                      </a:ext>
                    </a:extLst>
                  </a:tr>
                </a:tbl>
              </a:graphicData>
            </a:graphic>
          </p:graphicFrame>
        </mc:Choice>
        <mc:Fallback>
          <p:graphicFrame>
            <p:nvGraphicFramePr>
              <p:cNvPr id="12" name="Tabla 4">
                <a:extLst>
                  <a:ext uri="{FF2B5EF4-FFF2-40B4-BE49-F238E27FC236}">
                    <a16:creationId xmlns:a16="http://schemas.microsoft.com/office/drawing/2014/main" id="{F59169A5-5CF2-4611-AC44-B0246806BF37}"/>
                  </a:ext>
                </a:extLst>
              </p:cNvPr>
              <p:cNvGraphicFramePr>
                <a:graphicFrameLocks noGrp="1"/>
              </p:cNvGraphicFramePr>
              <p:nvPr>
                <p:extLst>
                  <p:ext uri="{D42A27DB-BD31-4B8C-83A1-F6EECF244321}">
                    <p14:modId xmlns:p14="http://schemas.microsoft.com/office/powerpoint/2010/main" val="1104915363"/>
                  </p:ext>
                </p:extLst>
              </p:nvPr>
            </p:nvGraphicFramePr>
            <p:xfrm>
              <a:off x="586450" y="1247876"/>
              <a:ext cx="9383460" cy="4192397"/>
            </p:xfrm>
            <a:graphic>
              <a:graphicData uri="http://schemas.openxmlformats.org/drawingml/2006/table">
                <a:tbl>
                  <a:tblPr firstRow="1" bandRow="1">
                    <a:tableStyleId>{AD6A3598-7CB8-4345-8D95-17CE05F158A0}</a:tableStyleId>
                  </a:tblPr>
                  <a:tblGrid>
                    <a:gridCol w="1168608">
                      <a:extLst>
                        <a:ext uri="{9D8B030D-6E8A-4147-A177-3AD203B41FA5}">
                          <a16:colId xmlns:a16="http://schemas.microsoft.com/office/drawing/2014/main" val="3517824357"/>
                        </a:ext>
                      </a:extLst>
                    </a:gridCol>
                    <a:gridCol w="3790335">
                      <a:extLst>
                        <a:ext uri="{9D8B030D-6E8A-4147-A177-3AD203B41FA5}">
                          <a16:colId xmlns:a16="http://schemas.microsoft.com/office/drawing/2014/main" val="2272156606"/>
                        </a:ext>
                      </a:extLst>
                    </a:gridCol>
                    <a:gridCol w="2772697">
                      <a:extLst>
                        <a:ext uri="{9D8B030D-6E8A-4147-A177-3AD203B41FA5}">
                          <a16:colId xmlns:a16="http://schemas.microsoft.com/office/drawing/2014/main" val="2212776800"/>
                        </a:ext>
                      </a:extLst>
                    </a:gridCol>
                    <a:gridCol w="1651820">
                      <a:extLst>
                        <a:ext uri="{9D8B030D-6E8A-4147-A177-3AD203B41FA5}">
                          <a16:colId xmlns:a16="http://schemas.microsoft.com/office/drawing/2014/main" val="25054674"/>
                        </a:ext>
                      </a:extLst>
                    </a:gridCol>
                  </a:tblGrid>
                  <a:tr h="304800">
                    <a:tc>
                      <a:txBody>
                        <a:bodyPr/>
                        <a:lstStyle/>
                        <a:p>
                          <a:r>
                            <a:rPr lang="es-CO" sz="1400" b="1" dirty="0">
                              <a:latin typeface="+mn-lt"/>
                              <a:ea typeface="Roboto" panose="02000000000000000000" pitchFamily="2" charset="0"/>
                            </a:rPr>
                            <a:t>Operación</a:t>
                          </a:r>
                        </a:p>
                      </a:txBody>
                      <a:tcPr>
                        <a:solidFill>
                          <a:schemeClr val="bg1">
                            <a:lumMod val="95000"/>
                          </a:schemeClr>
                        </a:solidFill>
                      </a:tcPr>
                    </a:tc>
                    <a:tc>
                      <a:txBody>
                        <a:bodyPr/>
                        <a:lstStyle/>
                        <a:p>
                          <a:endParaRPr lang="es-CO" sz="1400" b="1" dirty="0">
                            <a:latin typeface="+mn-lt"/>
                            <a:ea typeface="Roboto" panose="02000000000000000000" pitchFamily="2" charset="0"/>
                          </a:endParaRPr>
                        </a:p>
                      </a:txBody>
                      <a:tcPr>
                        <a:solidFill>
                          <a:schemeClr val="bg1">
                            <a:lumMod val="95000"/>
                          </a:schemeClr>
                        </a:solidFill>
                      </a:tcPr>
                    </a:tc>
                    <a:tc>
                      <a:txBody>
                        <a:bodyPr/>
                        <a:lstStyle/>
                        <a:p>
                          <a:r>
                            <a:rPr lang="es-CO" sz="1400" b="1" dirty="0">
                              <a:latin typeface="+mn-lt"/>
                              <a:ea typeface="Roboto" panose="02000000000000000000" pitchFamily="2" charset="0"/>
                            </a:rPr>
                            <a:t>Definición</a:t>
                          </a:r>
                        </a:p>
                      </a:txBody>
                      <a:tcPr>
                        <a:solidFill>
                          <a:schemeClr val="bg1">
                            <a:lumMod val="95000"/>
                          </a:schemeClr>
                        </a:solidFill>
                      </a:tcPr>
                    </a:tc>
                    <a:tc>
                      <a:txBody>
                        <a:bodyPr/>
                        <a:lstStyle/>
                        <a:p>
                          <a:r>
                            <a:rPr lang="es-CO" sz="1400" b="1" dirty="0">
                              <a:latin typeface="+mn-lt"/>
                              <a:ea typeface="Roboto" panose="02000000000000000000" pitchFamily="2" charset="0"/>
                            </a:rPr>
                            <a:t>Ejemplo</a:t>
                          </a:r>
                        </a:p>
                      </a:txBody>
                      <a:tcPr>
                        <a:solidFill>
                          <a:schemeClr val="bg1">
                            <a:lumMod val="95000"/>
                          </a:schemeClr>
                        </a:solidFill>
                      </a:tcPr>
                    </a:tc>
                    <a:extLst>
                      <a:ext uri="{0D108BD9-81ED-4DB2-BD59-A6C34878D82A}">
                        <a16:rowId xmlns:a16="http://schemas.microsoft.com/office/drawing/2014/main" val="3873507432"/>
                      </a:ext>
                    </a:extLst>
                  </a:tr>
                  <a:tr h="731520">
                    <a:tc>
                      <a:txBody>
                        <a:bodyPr/>
                        <a:lstStyle/>
                        <a:p>
                          <a:r>
                            <a:rPr lang="es-CO" sz="1400" dirty="0">
                              <a:latin typeface="+mn-lt"/>
                              <a:ea typeface="Roboto" panose="02000000000000000000" pitchFamily="2" charset="0"/>
                            </a:rPr>
                            <a:t>Unión</a:t>
                          </a:r>
                        </a:p>
                      </a:txBody>
                      <a:tcPr/>
                    </a:tc>
                    <a:tc>
                      <a:txBody>
                        <a:bodyPr/>
                        <a:lstStyle/>
                        <a:p>
                          <a:endParaRPr lang="es-CO"/>
                        </a:p>
                      </a:txBody>
                      <a:tcPr>
                        <a:blipFill>
                          <a:blip r:embed="rId3"/>
                          <a:stretch>
                            <a:fillRect l="-31029" t="-42500" r="-117042" b="-433333"/>
                          </a:stretch>
                        </a:blipFill>
                      </a:tcPr>
                    </a:tc>
                    <a:tc>
                      <a:txBody>
                        <a:bodyPr/>
                        <a:lstStyle/>
                        <a:p>
                          <a:pPr lvl="0" algn="l"/>
                          <a:r>
                            <a:rPr lang="es-MX" sz="1400" dirty="0">
                              <a:latin typeface="+mn-lt"/>
                              <a:ea typeface="Roboto" panose="02000000000000000000" pitchFamily="2" charset="0"/>
                            </a:rPr>
                            <a:t>Conjunto de elementos que están en A o en B (o en ambos)</a:t>
                          </a:r>
                          <a:endParaRPr lang="es-CO" sz="1400" dirty="0">
                            <a:latin typeface="+mn-lt"/>
                            <a:ea typeface="Roboto" panose="02000000000000000000" pitchFamily="2" charset="0"/>
                          </a:endParaRPr>
                        </a:p>
                      </a:txBody>
                      <a:tcPr/>
                    </a:tc>
                    <a:tc>
                      <a:txBody>
                        <a:bodyPr/>
                        <a:lstStyle/>
                        <a:p>
                          <a:endParaRPr lang="es-CO"/>
                        </a:p>
                      </a:txBody>
                      <a:tcPr>
                        <a:blipFill>
                          <a:blip r:embed="rId3"/>
                          <a:stretch>
                            <a:fillRect l="-468635" t="-42500" r="-738" b="-433333"/>
                          </a:stretch>
                        </a:blipFill>
                      </a:tcPr>
                    </a:tc>
                    <a:extLst>
                      <a:ext uri="{0D108BD9-81ED-4DB2-BD59-A6C34878D82A}">
                        <a16:rowId xmlns:a16="http://schemas.microsoft.com/office/drawing/2014/main" val="4259179385"/>
                      </a:ext>
                    </a:extLst>
                  </a:tr>
                  <a:tr h="731520">
                    <a:tc>
                      <a:txBody>
                        <a:bodyPr/>
                        <a:lstStyle/>
                        <a:p>
                          <a:r>
                            <a:rPr lang="es-CO" sz="1400" dirty="0">
                              <a:latin typeface="+mn-lt"/>
                              <a:ea typeface="Roboto" panose="02000000000000000000" pitchFamily="2" charset="0"/>
                            </a:rPr>
                            <a:t>Intersección </a:t>
                          </a:r>
                        </a:p>
                      </a:txBody>
                      <a:tcPr/>
                    </a:tc>
                    <a:tc>
                      <a:txBody>
                        <a:bodyPr/>
                        <a:lstStyle/>
                        <a:p>
                          <a:endParaRPr lang="es-CO"/>
                        </a:p>
                      </a:txBody>
                      <a:tcPr>
                        <a:blipFill>
                          <a:blip r:embed="rId3"/>
                          <a:stretch>
                            <a:fillRect l="-31029" t="-141322" r="-117042" b="-329752"/>
                          </a:stretch>
                        </a:blipFill>
                      </a:tcPr>
                    </a:tc>
                    <a:tc>
                      <a:txBody>
                        <a:bodyPr/>
                        <a:lstStyle/>
                        <a:p>
                          <a:pPr lvl="0" algn="l"/>
                          <a:r>
                            <a:rPr lang="es-MX" sz="1400" dirty="0">
                              <a:latin typeface="+mn-lt"/>
                              <a:ea typeface="Roboto" panose="02000000000000000000" pitchFamily="2" charset="0"/>
                            </a:rPr>
                            <a:t>Conjunto de elementos que están tanto en A como en B</a:t>
                          </a:r>
                          <a:endParaRPr lang="es-CO" sz="1400" dirty="0">
                            <a:latin typeface="+mn-lt"/>
                            <a:ea typeface="Roboto" panose="02000000000000000000" pitchFamily="2" charset="0"/>
                          </a:endParaRPr>
                        </a:p>
                      </a:txBody>
                      <a:tcPr/>
                    </a:tc>
                    <a:tc>
                      <a:txBody>
                        <a:bodyPr/>
                        <a:lstStyle/>
                        <a:p>
                          <a:endParaRPr lang="es-CO"/>
                        </a:p>
                      </a:txBody>
                      <a:tcPr>
                        <a:blipFill>
                          <a:blip r:embed="rId3"/>
                          <a:stretch>
                            <a:fillRect l="-468635" t="-141322" r="-738" b="-329752"/>
                          </a:stretch>
                        </a:blipFill>
                      </a:tcPr>
                    </a:tc>
                    <a:extLst>
                      <a:ext uri="{0D108BD9-81ED-4DB2-BD59-A6C34878D82A}">
                        <a16:rowId xmlns:a16="http://schemas.microsoft.com/office/drawing/2014/main" val="1078799334"/>
                      </a:ext>
                    </a:extLst>
                  </a:tr>
                  <a:tr h="944880">
                    <a:tc>
                      <a:txBody>
                        <a:bodyPr/>
                        <a:lstStyle/>
                        <a:p>
                          <a:r>
                            <a:rPr lang="es-CO" sz="1400" dirty="0">
                              <a:latin typeface="+mn-lt"/>
                              <a:ea typeface="Roboto" panose="02000000000000000000" pitchFamily="2" charset="0"/>
                            </a:rPr>
                            <a:t>Diferencia</a:t>
                          </a:r>
                        </a:p>
                      </a:txBody>
                      <a:tcPr/>
                    </a:tc>
                    <a:tc>
                      <a:txBody>
                        <a:bodyPr/>
                        <a:lstStyle/>
                        <a:p>
                          <a:endParaRPr lang="es-CO"/>
                        </a:p>
                      </a:txBody>
                      <a:tcPr>
                        <a:blipFill>
                          <a:blip r:embed="rId3"/>
                          <a:stretch>
                            <a:fillRect l="-31029" t="-188387" r="-117042" b="-157419"/>
                          </a:stretch>
                        </a:blipFill>
                      </a:tcPr>
                    </a:tc>
                    <a:tc>
                      <a:txBody>
                        <a:bodyPr/>
                        <a:lstStyle/>
                        <a:p>
                          <a:pPr lvl="0" algn="l"/>
                          <a:r>
                            <a:rPr lang="es-MX" sz="1400" dirty="0">
                              <a:latin typeface="+mn-lt"/>
                              <a:ea typeface="Roboto" panose="02000000000000000000" pitchFamily="2" charset="0"/>
                            </a:rPr>
                            <a:t>Conjunto de elementos que están en A pero no en B</a:t>
                          </a:r>
                          <a:endParaRPr lang="es-CO" sz="1400" dirty="0">
                            <a:latin typeface="+mn-lt"/>
                            <a:ea typeface="Roboto" panose="02000000000000000000" pitchFamily="2" charset="0"/>
                          </a:endParaRPr>
                        </a:p>
                      </a:txBody>
                      <a:tcPr/>
                    </a:tc>
                    <a:tc>
                      <a:txBody>
                        <a:bodyPr/>
                        <a:lstStyle/>
                        <a:p>
                          <a:endParaRPr lang="es-CO"/>
                        </a:p>
                      </a:txBody>
                      <a:tcPr>
                        <a:blipFill>
                          <a:blip r:embed="rId3"/>
                          <a:stretch>
                            <a:fillRect l="-468635" t="-188387" r="-738" b="-157419"/>
                          </a:stretch>
                        </a:blipFill>
                      </a:tcPr>
                    </a:tc>
                    <a:extLst>
                      <a:ext uri="{0D108BD9-81ED-4DB2-BD59-A6C34878D82A}">
                        <a16:rowId xmlns:a16="http://schemas.microsoft.com/office/drawing/2014/main" val="682340052"/>
                      </a:ext>
                    </a:extLst>
                  </a:tr>
                  <a:tr h="731520">
                    <a:tc>
                      <a:txBody>
                        <a:bodyPr/>
                        <a:lstStyle/>
                        <a:p>
                          <a:r>
                            <a:rPr lang="es-CO" sz="1400" dirty="0">
                              <a:latin typeface="+mn-lt"/>
                              <a:ea typeface="Roboto" panose="02000000000000000000" pitchFamily="2" charset="0"/>
                            </a:rPr>
                            <a:t>Diferencia simétrica</a:t>
                          </a:r>
                        </a:p>
                      </a:txBody>
                      <a:tcPr/>
                    </a:tc>
                    <a:tc>
                      <a:txBody>
                        <a:bodyPr/>
                        <a:lstStyle/>
                        <a:p>
                          <a:endParaRPr lang="es-CO"/>
                        </a:p>
                      </a:txBody>
                      <a:tcPr>
                        <a:blipFill>
                          <a:blip r:embed="rId3"/>
                          <a:stretch>
                            <a:fillRect l="-31029" t="-372500" r="-117042" b="-103333"/>
                          </a:stretch>
                        </a:blipFill>
                      </a:tcPr>
                    </a:tc>
                    <a:tc>
                      <a:txBody>
                        <a:bodyPr/>
                        <a:lstStyle/>
                        <a:p>
                          <a:pPr lvl="0" algn="l"/>
                          <a:r>
                            <a:rPr lang="es-MX" sz="1400" dirty="0">
                              <a:latin typeface="+mn-lt"/>
                              <a:ea typeface="Roboto" panose="02000000000000000000" pitchFamily="2" charset="0"/>
                            </a:rPr>
                            <a:t>Conjunto de elementos que están en A o en B, pero no en ambos</a:t>
                          </a:r>
                          <a:endParaRPr lang="es-CO" sz="1400" dirty="0">
                            <a:latin typeface="+mn-lt"/>
                            <a:ea typeface="Roboto" panose="02000000000000000000" pitchFamily="2" charset="0"/>
                          </a:endParaRPr>
                        </a:p>
                      </a:txBody>
                      <a:tcPr/>
                    </a:tc>
                    <a:tc>
                      <a:txBody>
                        <a:bodyPr/>
                        <a:lstStyle/>
                        <a:p>
                          <a:endParaRPr lang="es-CO"/>
                        </a:p>
                      </a:txBody>
                      <a:tcPr>
                        <a:blipFill>
                          <a:blip r:embed="rId3"/>
                          <a:stretch>
                            <a:fillRect l="-468635" t="-372500" r="-738" b="-103333"/>
                          </a:stretch>
                        </a:blipFill>
                      </a:tcPr>
                    </a:tc>
                    <a:extLst>
                      <a:ext uri="{0D108BD9-81ED-4DB2-BD59-A6C34878D82A}">
                        <a16:rowId xmlns:a16="http://schemas.microsoft.com/office/drawing/2014/main" val="3118226202"/>
                      </a:ext>
                    </a:extLst>
                  </a:tr>
                  <a:tr h="748157">
                    <a:tc>
                      <a:txBody>
                        <a:bodyPr/>
                        <a:lstStyle/>
                        <a:p>
                          <a:r>
                            <a:rPr lang="es-CO" sz="1400" dirty="0">
                              <a:latin typeface="+mn-lt"/>
                              <a:ea typeface="Roboto" panose="02000000000000000000" pitchFamily="2" charset="0"/>
                            </a:rPr>
                            <a:t>Complemento</a:t>
                          </a:r>
                        </a:p>
                      </a:txBody>
                      <a:tcPr/>
                    </a:tc>
                    <a:tc>
                      <a:txBody>
                        <a:bodyPr/>
                        <a:lstStyle/>
                        <a:p>
                          <a:endParaRPr lang="es-CO"/>
                        </a:p>
                      </a:txBody>
                      <a:tcPr>
                        <a:blipFill>
                          <a:blip r:embed="rId3"/>
                          <a:stretch>
                            <a:fillRect l="-31029" t="-460976" r="-117042" b="-813"/>
                          </a:stretch>
                        </a:blipFill>
                      </a:tcPr>
                    </a:tc>
                    <a:tc>
                      <a:txBody>
                        <a:bodyPr/>
                        <a:lstStyle/>
                        <a:p>
                          <a:pPr lvl="0" algn="l"/>
                          <a:r>
                            <a:rPr lang="es-MX" sz="1400" dirty="0">
                              <a:latin typeface="+mn-lt"/>
                              <a:ea typeface="Roboto" panose="02000000000000000000" pitchFamily="2" charset="0"/>
                            </a:rPr>
                            <a:t>Conjunto de elementos que están en el universo pero no en A</a:t>
                          </a:r>
                          <a:endParaRPr lang="es-CO" sz="1400" dirty="0">
                            <a:latin typeface="+mn-lt"/>
                            <a:ea typeface="Roboto" panose="02000000000000000000" pitchFamily="2" charset="0"/>
                          </a:endParaRPr>
                        </a:p>
                      </a:txBody>
                      <a:tcPr/>
                    </a:tc>
                    <a:tc>
                      <a:txBody>
                        <a:bodyPr/>
                        <a:lstStyle/>
                        <a:p>
                          <a:endParaRPr lang="es-CO"/>
                        </a:p>
                      </a:txBody>
                      <a:tcPr>
                        <a:blipFill>
                          <a:blip r:embed="rId3"/>
                          <a:stretch>
                            <a:fillRect l="-468635" t="-460976" r="-738" b="-813"/>
                          </a:stretch>
                        </a:blipFill>
                      </a:tcPr>
                    </a:tc>
                    <a:extLst>
                      <a:ext uri="{0D108BD9-81ED-4DB2-BD59-A6C34878D82A}">
                        <a16:rowId xmlns:a16="http://schemas.microsoft.com/office/drawing/2014/main" val="2217682141"/>
                      </a:ext>
                    </a:extLst>
                  </a:tr>
                </a:tbl>
              </a:graphicData>
            </a:graphic>
          </p:graphicFrame>
        </mc:Fallback>
      </mc:AlternateContent>
      <p:pic>
        <p:nvPicPr>
          <p:cNvPr id="13" name="Imagen 12">
            <a:extLst>
              <a:ext uri="{FF2B5EF4-FFF2-40B4-BE49-F238E27FC236}">
                <a16:creationId xmlns:a16="http://schemas.microsoft.com/office/drawing/2014/main" id="{1281B426-6B41-4B3A-BF5B-2AA9A292D3B5}"/>
              </a:ext>
            </a:extLst>
          </p:cNvPr>
          <p:cNvPicPr>
            <a:picLocks noChangeAspect="1"/>
          </p:cNvPicPr>
          <p:nvPr/>
        </p:nvPicPr>
        <p:blipFill>
          <a:blip r:embed="rId4"/>
          <a:stretch>
            <a:fillRect/>
          </a:stretch>
        </p:blipFill>
        <p:spPr>
          <a:xfrm>
            <a:off x="3703150" y="5440273"/>
            <a:ext cx="5324475" cy="1390650"/>
          </a:xfrm>
          <a:prstGeom prst="rect">
            <a:avLst/>
          </a:prstGeom>
        </p:spPr>
      </p:pic>
    </p:spTree>
    <p:extLst>
      <p:ext uri="{BB962C8B-B14F-4D97-AF65-F5344CB8AC3E}">
        <p14:creationId xmlns:p14="http://schemas.microsoft.com/office/powerpoint/2010/main" val="3671272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916650" y="131422"/>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Identidades</a:t>
            </a:r>
            <a:endParaRPr dirty="0"/>
          </a:p>
        </p:txBody>
      </p:sp>
      <p:sp>
        <p:nvSpPr>
          <p:cNvPr id="20" name="CuadroTexto 19">
            <a:extLst>
              <a:ext uri="{FF2B5EF4-FFF2-40B4-BE49-F238E27FC236}">
                <a16:creationId xmlns:a16="http://schemas.microsoft.com/office/drawing/2014/main" id="{EC981F08-C206-4A60-8BF8-5D902A118C7A}"/>
              </a:ext>
            </a:extLst>
          </p:cNvPr>
          <p:cNvSpPr txBox="1"/>
          <p:nvPr/>
        </p:nvSpPr>
        <p:spPr>
          <a:xfrm>
            <a:off x="916650" y="888638"/>
            <a:ext cx="10587093" cy="492443"/>
          </a:xfrm>
          <a:prstGeom prst="rect">
            <a:avLst/>
          </a:prstGeom>
          <a:noFill/>
        </p:spPr>
        <p:txBody>
          <a:bodyPr wrap="square" rtlCol="0">
            <a:spAutoFit/>
          </a:bodyPr>
          <a:lstStyle/>
          <a:p>
            <a:r>
              <a:rPr lang="es-MX" sz="2600" b="1" dirty="0">
                <a:solidFill>
                  <a:schemeClr val="accent2"/>
                </a:solidFill>
                <a:ea typeface="Roboto" panose="02000000000000000000" pitchFamily="2" charset="0"/>
              </a:rPr>
              <a:t>Tabla de las principales identidades básicas de conjuntos</a:t>
            </a:r>
          </a:p>
        </p:txBody>
      </p:sp>
      <mc:AlternateContent xmlns:mc="http://schemas.openxmlformats.org/markup-compatibility/2006">
        <mc:Choice xmlns:a14="http://schemas.microsoft.com/office/drawing/2010/main" Requires="a14">
          <p:graphicFrame>
            <p:nvGraphicFramePr>
              <p:cNvPr id="18" name="Tabla 3">
                <a:extLst>
                  <a:ext uri="{FF2B5EF4-FFF2-40B4-BE49-F238E27FC236}">
                    <a16:creationId xmlns:a16="http://schemas.microsoft.com/office/drawing/2014/main" id="{FBC9B938-0923-4F00-B891-E858560C2D84}"/>
                  </a:ext>
                </a:extLst>
              </p:cNvPr>
              <p:cNvGraphicFramePr>
                <a:graphicFrameLocks noGrp="1"/>
              </p:cNvGraphicFramePr>
              <p:nvPr>
                <p:extLst>
                  <p:ext uri="{D42A27DB-BD31-4B8C-83A1-F6EECF244321}">
                    <p14:modId xmlns:p14="http://schemas.microsoft.com/office/powerpoint/2010/main" val="2340565266"/>
                  </p:ext>
                </p:extLst>
              </p:nvPr>
            </p:nvGraphicFramePr>
            <p:xfrm>
              <a:off x="2100079" y="1709420"/>
              <a:ext cx="8220234" cy="3737674"/>
            </p:xfrm>
            <a:graphic>
              <a:graphicData uri="http://schemas.openxmlformats.org/drawingml/2006/table">
                <a:tbl>
                  <a:tblPr firstRow="1" bandRow="1">
                    <a:tableStyleId>{AD6A3598-7CB8-4345-8D95-17CE05F158A0}</a:tableStyleId>
                  </a:tblPr>
                  <a:tblGrid>
                    <a:gridCol w="2049465">
                      <a:extLst>
                        <a:ext uri="{9D8B030D-6E8A-4147-A177-3AD203B41FA5}">
                          <a16:colId xmlns:a16="http://schemas.microsoft.com/office/drawing/2014/main" val="2419793140"/>
                        </a:ext>
                      </a:extLst>
                    </a:gridCol>
                    <a:gridCol w="3014662">
                      <a:extLst>
                        <a:ext uri="{9D8B030D-6E8A-4147-A177-3AD203B41FA5}">
                          <a16:colId xmlns:a16="http://schemas.microsoft.com/office/drawing/2014/main" val="2761119023"/>
                        </a:ext>
                      </a:extLst>
                    </a:gridCol>
                    <a:gridCol w="116840">
                      <a:extLst>
                        <a:ext uri="{9D8B030D-6E8A-4147-A177-3AD203B41FA5}">
                          <a16:colId xmlns:a16="http://schemas.microsoft.com/office/drawing/2014/main" val="3891570482"/>
                        </a:ext>
                      </a:extLst>
                    </a:gridCol>
                    <a:gridCol w="3039267">
                      <a:extLst>
                        <a:ext uri="{9D8B030D-6E8A-4147-A177-3AD203B41FA5}">
                          <a16:colId xmlns:a16="http://schemas.microsoft.com/office/drawing/2014/main" val="1788288122"/>
                        </a:ext>
                      </a:extLst>
                    </a:gridCol>
                  </a:tblGrid>
                  <a:tr h="342003">
                    <a:tc>
                      <a:txBody>
                        <a:bodyPr/>
                        <a:lstStyle/>
                        <a:p>
                          <a:r>
                            <a:rPr lang="es-CO" sz="1800" b="1" dirty="0">
                              <a:latin typeface="+mn-lt"/>
                              <a:ea typeface="Roboto" panose="02000000000000000000" pitchFamily="2" charset="0"/>
                            </a:rPr>
                            <a:t>Nombre</a:t>
                          </a:r>
                        </a:p>
                      </a:txBody>
                      <a:tcPr>
                        <a:solidFill>
                          <a:schemeClr val="bg1">
                            <a:lumMod val="95000"/>
                          </a:schemeClr>
                        </a:solidFill>
                      </a:tcPr>
                    </a:tc>
                    <a:tc gridSpan="3">
                      <a:txBody>
                        <a:bodyPr/>
                        <a:lstStyle/>
                        <a:p>
                          <a:pPr algn="ctr"/>
                          <a:r>
                            <a:rPr lang="es-CO" sz="1800" b="1" dirty="0">
                              <a:latin typeface="+mn-lt"/>
                              <a:ea typeface="Roboto" panose="02000000000000000000" pitchFamily="2" charset="0"/>
                            </a:rPr>
                            <a:t>Equivalencia</a:t>
                          </a:r>
                        </a:p>
                      </a:txBody>
                      <a:tcPr>
                        <a:solidFill>
                          <a:schemeClr val="bg1">
                            <a:lumMod val="95000"/>
                          </a:schemeClr>
                        </a:solidFill>
                      </a:tcPr>
                    </a:tc>
                    <a:tc hMerge="1">
                      <a:txBody>
                        <a:bodyPr/>
                        <a:lstStyle/>
                        <a:p>
                          <a:endParaRPr lang="es-CO" sz="1600" b="1"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1624526593"/>
                      </a:ext>
                    </a:extLst>
                  </a:tr>
                  <a:tr h="313503">
                    <a:tc>
                      <a:txBody>
                        <a:bodyPr/>
                        <a:lstStyle/>
                        <a:p>
                          <a:r>
                            <a:rPr lang="es-CO" sz="1600" b="1" dirty="0">
                              <a:latin typeface="+mn-lt"/>
                              <a:ea typeface="Roboto" panose="02000000000000000000" pitchFamily="2" charset="0"/>
                            </a:rPr>
                            <a:t>Idempotencia</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Roboto" panose="02000000000000000000" pitchFamily="2" charset="0"/>
                                  </a:rPr>
                                  <m:t>𝐴</m:t>
                                </m:r>
                              </m:oMath>
                            </m:oMathPara>
                          </a14:m>
                          <a:endParaRPr lang="es-CO" sz="1600" dirty="0">
                            <a:latin typeface="+mn-lt"/>
                            <a:ea typeface="Roboto" panose="02000000000000000000" pitchFamily="2" charset="0"/>
                          </a:endParaRPr>
                        </a:p>
                      </a:txBody>
                      <a:tcPr/>
                    </a:tc>
                    <a:tc gridSpan="2">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Roboto" panose="02000000000000000000" pitchFamily="2" charset="0"/>
                                  </a:rPr>
                                  <m:t>𝐴</m:t>
                                </m:r>
                              </m:oMath>
                            </m:oMathPara>
                          </a14:m>
                          <a:endParaRPr lang="es-CO" sz="16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154515760"/>
                      </a:ext>
                    </a:extLst>
                  </a:tr>
                  <a:tr h="313503">
                    <a:tc>
                      <a:txBody>
                        <a:bodyPr/>
                        <a:lstStyle/>
                        <a:p>
                          <a:r>
                            <a:rPr lang="es-CO" sz="1600" b="1" dirty="0">
                              <a:latin typeface="+mn-lt"/>
                              <a:ea typeface="Roboto" panose="02000000000000000000" pitchFamily="2" charset="0"/>
                            </a:rPr>
                            <a:t>Identidad</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⋅1=</m:t>
                                </m:r>
                                <m:r>
                                  <a:rPr lang="es-MX" sz="1600" b="0" i="1" smtClean="0">
                                    <a:latin typeface="+mn-lt"/>
                                    <a:ea typeface="Roboto" panose="02000000000000000000" pitchFamily="2" charset="0"/>
                                  </a:rPr>
                                  <m:t>𝐴</m:t>
                                </m:r>
                              </m:oMath>
                            </m:oMathPara>
                          </a14:m>
                          <a:endParaRPr lang="es-CO" sz="1600" dirty="0">
                            <a:latin typeface="+mn-lt"/>
                            <a:ea typeface="Roboto" panose="02000000000000000000" pitchFamily="2" charset="0"/>
                          </a:endParaRPr>
                        </a:p>
                      </a:txBody>
                      <a:tcPr/>
                    </a:tc>
                    <a:tc gridSpan="2">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+0=</m:t>
                                </m:r>
                                <m:r>
                                  <a:rPr lang="es-MX" sz="1600" b="0" i="1" smtClean="0">
                                    <a:latin typeface="+mn-lt"/>
                                    <a:ea typeface="Roboto" panose="02000000000000000000" pitchFamily="2" charset="0"/>
                                  </a:rPr>
                                  <m:t>𝐴</m:t>
                                </m:r>
                              </m:oMath>
                            </m:oMathPara>
                          </a14:m>
                          <a:endParaRPr lang="es-CO" sz="16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1913743916"/>
                      </a:ext>
                    </a:extLst>
                  </a:tr>
                  <a:tr h="313503">
                    <a:tc>
                      <a:txBody>
                        <a:bodyPr/>
                        <a:lstStyle/>
                        <a:p>
                          <a:r>
                            <a:rPr lang="es-CO" sz="1600" b="1" dirty="0">
                              <a:latin typeface="+mn-lt"/>
                              <a:ea typeface="Roboto" panose="02000000000000000000" pitchFamily="2" charset="0"/>
                            </a:rPr>
                            <a:t>Dominación</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⋅0=0</m:t>
                                </m:r>
                              </m:oMath>
                            </m:oMathPara>
                          </a14:m>
                          <a:endParaRPr lang="es-CO" sz="1600" dirty="0">
                            <a:latin typeface="+mn-lt"/>
                            <a:ea typeface="Roboto" panose="02000000000000000000" pitchFamily="2" charset="0"/>
                          </a:endParaRPr>
                        </a:p>
                      </a:txBody>
                      <a:tcPr/>
                    </a:tc>
                    <a:tc gridSpan="2">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+1=1</m:t>
                                </m:r>
                              </m:oMath>
                            </m:oMathPara>
                          </a14:m>
                          <a:endParaRPr lang="es-CO" sz="16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717401643"/>
                      </a:ext>
                    </a:extLst>
                  </a:tr>
                  <a:tr h="313503">
                    <a:tc>
                      <a:txBody>
                        <a:bodyPr/>
                        <a:lstStyle/>
                        <a:p>
                          <a:r>
                            <a:rPr lang="es-CO" sz="1600" b="1" dirty="0">
                              <a:latin typeface="+mn-lt"/>
                              <a:ea typeface="Roboto" panose="02000000000000000000" pitchFamily="2" charset="0"/>
                            </a:rPr>
                            <a:t>Conmutativa</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oMath>
                            </m:oMathPara>
                          </a14:m>
                          <a:endParaRPr lang="es-CO" sz="1600" dirty="0">
                            <a:latin typeface="+mn-lt"/>
                            <a:ea typeface="Roboto" panose="02000000000000000000" pitchFamily="2" charset="0"/>
                          </a:endParaRPr>
                        </a:p>
                      </a:txBody>
                      <a:tcPr/>
                    </a:tc>
                    <a:tc gridSpan="2">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oMath>
                            </m:oMathPara>
                          </a14:m>
                          <a:endParaRPr lang="es-CO" sz="16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2246818852"/>
                      </a:ext>
                    </a:extLst>
                  </a:tr>
                  <a:tr h="313503">
                    <a:tc>
                      <a:txBody>
                        <a:bodyPr/>
                        <a:lstStyle/>
                        <a:p>
                          <a:r>
                            <a:rPr lang="es-CO" sz="1600" b="1" dirty="0">
                              <a:latin typeface="+mn-lt"/>
                              <a:ea typeface="Roboto" panose="02000000000000000000" pitchFamily="2" charset="0"/>
                            </a:rPr>
                            <a:t>Asociativa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𝐶</m:t>
                                    </m:r>
                                  </m:e>
                                </m:d>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𝐶</m:t>
                                </m:r>
                              </m:oMath>
                            </m:oMathPara>
                          </a14:m>
                          <a:endParaRPr lang="es-CO" sz="1600" dirty="0">
                            <a:latin typeface="+mn-lt"/>
                            <a:ea typeface="Roboto" panose="02000000000000000000" pitchFamily="2" charset="0"/>
                          </a:endParaRP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𝐶</m:t>
                                    </m:r>
                                  </m:e>
                                </m:d>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𝐶</m:t>
                                </m:r>
                              </m:oMath>
                            </m:oMathPara>
                          </a14:m>
                          <a:endParaRPr lang="es-CO" sz="16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1992230363"/>
                      </a:ext>
                    </a:extLst>
                  </a:tr>
                  <a:tr h="313503">
                    <a:tc>
                      <a:txBody>
                        <a:bodyPr/>
                        <a:lstStyle/>
                        <a:p>
                          <a:r>
                            <a:rPr lang="es-CO" sz="1600" b="1" dirty="0">
                              <a:latin typeface="+mn-lt"/>
                              <a:ea typeface="Roboto" panose="02000000000000000000" pitchFamily="2" charset="0"/>
                            </a:rPr>
                            <a:t>Distributiva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𝐶</m:t>
                                    </m:r>
                                  </m:e>
                                </m:d>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𝐶</m:t>
                                </m:r>
                              </m:oMath>
                            </m:oMathPara>
                          </a14:m>
                          <a:endParaRPr lang="es-CO" sz="1600" dirty="0">
                            <a:latin typeface="+mn-lt"/>
                            <a:ea typeface="Roboto" panose="02000000000000000000" pitchFamily="2" charset="0"/>
                          </a:endParaRP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𝐶</m:t>
                                    </m:r>
                                  </m:e>
                                </m:d>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𝐶</m:t>
                                    </m:r>
                                  </m:e>
                                </m:d>
                              </m:oMath>
                            </m:oMathPara>
                          </a14:m>
                          <a:endParaRPr lang="es-CO" sz="16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2113060234"/>
                      </a:ext>
                    </a:extLst>
                  </a:tr>
                  <a:tr h="313503">
                    <a:tc>
                      <a:txBody>
                        <a:bodyPr/>
                        <a:lstStyle/>
                        <a:p>
                          <a:r>
                            <a:rPr lang="es-CO" sz="1600" b="1" dirty="0">
                              <a:latin typeface="+mn-lt"/>
                              <a:ea typeface="Roboto" panose="02000000000000000000" pitchFamily="2" charset="0"/>
                            </a:rPr>
                            <a:t>Complemento</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′=0</m:t>
                                </m:r>
                              </m:oMath>
                            </m:oMathPara>
                          </a14:m>
                          <a:endParaRPr lang="es-CO" sz="1600" dirty="0">
                            <a:latin typeface="+mn-lt"/>
                            <a:ea typeface="Roboto" panose="02000000000000000000" pitchFamily="2" charset="0"/>
                          </a:endParaRPr>
                        </a:p>
                      </a:txBody>
                      <a:tcPr/>
                    </a:tc>
                    <a:tc gridSpan="2">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′=1</m:t>
                                </m:r>
                              </m:oMath>
                            </m:oMathPara>
                          </a14:m>
                          <a:endParaRPr lang="es-CO" sz="16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1232652958"/>
                      </a:ext>
                    </a:extLst>
                  </a:tr>
                  <a:tr h="313503">
                    <a:tc>
                      <a:txBody>
                        <a:bodyPr/>
                        <a:lstStyle/>
                        <a:p>
                          <a:r>
                            <a:rPr lang="es-CO" sz="1600" b="1" dirty="0">
                              <a:latin typeface="+mn-lt"/>
                              <a:ea typeface="Roboto" panose="02000000000000000000" pitchFamily="2" charset="0"/>
                            </a:rPr>
                            <a:t>Doble negación</a:t>
                          </a:r>
                        </a:p>
                      </a:txBody>
                      <a:tcPr/>
                    </a:tc>
                    <a:tc gridSpan="3">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oMath>
                            </m:oMathPara>
                          </a14:m>
                          <a:endParaRPr lang="es-CO" sz="1600" b="1" dirty="0">
                            <a:latin typeface="+mn-lt"/>
                            <a:ea typeface="Roboto" panose="02000000000000000000" pitchFamily="2"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b="1"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770911309"/>
                      </a:ext>
                    </a:extLst>
                  </a:tr>
                  <a:tr h="313503">
                    <a:tc>
                      <a:txBody>
                        <a:bodyPr/>
                        <a:lstStyle/>
                        <a:p>
                          <a:r>
                            <a:rPr lang="es-CO" sz="1600" b="1" dirty="0">
                              <a:latin typeface="+mn-lt"/>
                              <a:ea typeface="Roboto" panose="02000000000000000000" pitchFamily="2" charset="0"/>
                            </a:rPr>
                            <a:t>Absorción</a:t>
                          </a: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oMath>
                            </m:oMathPara>
                          </a14:m>
                          <a:endParaRPr lang="es-CO" sz="1600" dirty="0">
                            <a:latin typeface="+mn-lt"/>
                            <a:ea typeface="Roboto" panose="02000000000000000000" pitchFamily="2" charset="0"/>
                          </a:endParaRPr>
                        </a:p>
                      </a:txBody>
                      <a:tcPr/>
                    </a:tc>
                    <a:tc hMerge="1">
                      <a:txBody>
                        <a:bodyPr/>
                        <a:lstStyle/>
                        <a:p>
                          <a:pPr algn="ctr"/>
                          <a:endParaRPr lang="es-CO" sz="1600" dirty="0">
                            <a:latin typeface="Roboto" panose="02000000000000000000" pitchFamily="2" charset="0"/>
                            <a:ea typeface="Roboto" panose="02000000000000000000"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3483938044"/>
                      </a:ext>
                    </a:extLst>
                  </a:tr>
                  <a:tr h="313503">
                    <a:tc>
                      <a:txBody>
                        <a:bodyPr/>
                        <a:lstStyle/>
                        <a:p>
                          <a:r>
                            <a:rPr lang="es-CO" sz="1600" b="1" dirty="0">
                              <a:latin typeface="+mn-lt"/>
                              <a:ea typeface="Roboto" panose="02000000000000000000" pitchFamily="2" charset="0"/>
                            </a:rPr>
                            <a:t>De Morgan</a:t>
                          </a: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p>
                                  <m:sSupPr>
                                    <m:ctrlPr>
                                      <a:rPr lang="es-MX" sz="1600" b="0" i="1" smtClean="0">
                                        <a:latin typeface="+mn-lt"/>
                                        <a:ea typeface="Cambria Math" panose="02040503050406030204" pitchFamily="18" charset="0"/>
                                      </a:rPr>
                                    </m:ctrlPr>
                                  </m:sSupPr>
                                  <m:e>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e>
                                  <m:sup>
                                    <m:r>
                                      <a:rPr lang="es-MX" sz="1600" b="0" i="1" smtClean="0">
                                        <a:latin typeface="+mn-lt"/>
                                        <a:ea typeface="Cambria Math" panose="02040503050406030204" pitchFamily="18" charset="0"/>
                                      </a:rPr>
                                      <m:t>′</m:t>
                                    </m:r>
                                  </m:sup>
                                </m:sSup>
                                <m:r>
                                  <a:rPr lang="es-MX" sz="1600" b="0" i="1" smtClean="0">
                                    <a:latin typeface="+mn-lt"/>
                                    <a:ea typeface="Cambria Math" panose="02040503050406030204" pitchFamily="18" charset="0"/>
                                  </a:rPr>
                                  <m:t>=</m:t>
                                </m:r>
                                <m:sSup>
                                  <m:sSupPr>
                                    <m:ctrlPr>
                                      <a:rPr lang="es-MX" sz="1600" b="0" i="1" smtClean="0">
                                        <a:latin typeface="+mn-lt"/>
                                        <a:ea typeface="Cambria Math" panose="02040503050406030204" pitchFamily="18" charset="0"/>
                                      </a:rPr>
                                    </m:ctrlPr>
                                  </m:sSupPr>
                                  <m:e>
                                    <m:r>
                                      <a:rPr lang="es-MX" sz="1600" b="0" i="1" smtClean="0">
                                        <a:latin typeface="+mn-lt"/>
                                        <a:ea typeface="Cambria Math" panose="02040503050406030204" pitchFamily="18" charset="0"/>
                                      </a:rPr>
                                      <m:t>𝐴</m:t>
                                    </m:r>
                                  </m:e>
                                  <m:sup>
                                    <m:r>
                                      <a:rPr lang="es-MX" sz="1600" b="0" i="1" smtClean="0">
                                        <a:latin typeface="+mn-lt"/>
                                        <a:ea typeface="Cambria Math" panose="02040503050406030204" pitchFamily="18" charset="0"/>
                                      </a:rPr>
                                      <m:t>′</m:t>
                                    </m:r>
                                  </m:sup>
                                </m:sSup>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oMath>
                            </m:oMathPara>
                          </a14:m>
                          <a:endParaRPr lang="es-CO" sz="1600" dirty="0">
                            <a:latin typeface="+mn-lt"/>
                            <a:ea typeface="Roboto" panose="02000000000000000000" pitchFamily="2" charset="0"/>
                          </a:endParaRPr>
                        </a:p>
                      </a:txBody>
                      <a:tcPr/>
                    </a:tc>
                    <a:tc hMerge="1">
                      <a:txBody>
                        <a:bodyPr/>
                        <a:lstStyle/>
                        <a:p>
                          <a:endParaRPr lang="es-CO"/>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p>
                                  <m:sSupPr>
                                    <m:ctrlPr>
                                      <a:rPr lang="es-MX" sz="1600" b="0" i="1" smtClean="0">
                                        <a:latin typeface="+mn-lt"/>
                                        <a:ea typeface="Cambria Math" panose="02040503050406030204" pitchFamily="18" charset="0"/>
                                      </a:rPr>
                                    </m:ctrlPr>
                                  </m:sSupPr>
                                  <m:e>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e>
                                  <m:sup>
                                    <m:r>
                                      <a:rPr lang="es-MX" sz="1600" b="0" i="1" smtClean="0">
                                        <a:latin typeface="+mn-lt"/>
                                        <a:ea typeface="Cambria Math" panose="02040503050406030204" pitchFamily="18" charset="0"/>
                                      </a:rPr>
                                      <m:t>′</m:t>
                                    </m:r>
                                  </m:sup>
                                </m:sSup>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493544081"/>
                      </a:ext>
                    </a:extLst>
                  </a:tr>
                </a:tbl>
              </a:graphicData>
            </a:graphic>
          </p:graphicFrame>
        </mc:Choice>
        <mc:Fallback>
          <p:graphicFrame>
            <p:nvGraphicFramePr>
              <p:cNvPr id="18" name="Tabla 3">
                <a:extLst>
                  <a:ext uri="{FF2B5EF4-FFF2-40B4-BE49-F238E27FC236}">
                    <a16:creationId xmlns:a16="http://schemas.microsoft.com/office/drawing/2014/main" id="{FBC9B938-0923-4F00-B891-E858560C2D84}"/>
                  </a:ext>
                </a:extLst>
              </p:cNvPr>
              <p:cNvGraphicFramePr>
                <a:graphicFrameLocks noGrp="1"/>
              </p:cNvGraphicFramePr>
              <p:nvPr>
                <p:extLst>
                  <p:ext uri="{D42A27DB-BD31-4B8C-83A1-F6EECF244321}">
                    <p14:modId xmlns:p14="http://schemas.microsoft.com/office/powerpoint/2010/main" val="2340565266"/>
                  </p:ext>
                </p:extLst>
              </p:nvPr>
            </p:nvGraphicFramePr>
            <p:xfrm>
              <a:off x="2100079" y="1709420"/>
              <a:ext cx="8220234" cy="3737674"/>
            </p:xfrm>
            <a:graphic>
              <a:graphicData uri="http://schemas.openxmlformats.org/drawingml/2006/table">
                <a:tbl>
                  <a:tblPr firstRow="1" bandRow="1">
                    <a:tableStyleId>{AD6A3598-7CB8-4345-8D95-17CE05F158A0}</a:tableStyleId>
                  </a:tblPr>
                  <a:tblGrid>
                    <a:gridCol w="2049465">
                      <a:extLst>
                        <a:ext uri="{9D8B030D-6E8A-4147-A177-3AD203B41FA5}">
                          <a16:colId xmlns:a16="http://schemas.microsoft.com/office/drawing/2014/main" val="2419793140"/>
                        </a:ext>
                      </a:extLst>
                    </a:gridCol>
                    <a:gridCol w="3014662">
                      <a:extLst>
                        <a:ext uri="{9D8B030D-6E8A-4147-A177-3AD203B41FA5}">
                          <a16:colId xmlns:a16="http://schemas.microsoft.com/office/drawing/2014/main" val="2761119023"/>
                        </a:ext>
                      </a:extLst>
                    </a:gridCol>
                    <a:gridCol w="116840">
                      <a:extLst>
                        <a:ext uri="{9D8B030D-6E8A-4147-A177-3AD203B41FA5}">
                          <a16:colId xmlns:a16="http://schemas.microsoft.com/office/drawing/2014/main" val="3891570482"/>
                        </a:ext>
                      </a:extLst>
                    </a:gridCol>
                    <a:gridCol w="3039267">
                      <a:extLst>
                        <a:ext uri="{9D8B030D-6E8A-4147-A177-3AD203B41FA5}">
                          <a16:colId xmlns:a16="http://schemas.microsoft.com/office/drawing/2014/main" val="1788288122"/>
                        </a:ext>
                      </a:extLst>
                    </a:gridCol>
                  </a:tblGrid>
                  <a:tr h="365760">
                    <a:tc>
                      <a:txBody>
                        <a:bodyPr/>
                        <a:lstStyle/>
                        <a:p>
                          <a:r>
                            <a:rPr lang="es-CO" sz="1800" b="1" dirty="0">
                              <a:latin typeface="+mn-lt"/>
                              <a:ea typeface="Roboto" panose="02000000000000000000" pitchFamily="2" charset="0"/>
                            </a:rPr>
                            <a:t>Nombre</a:t>
                          </a:r>
                        </a:p>
                      </a:txBody>
                      <a:tcPr>
                        <a:solidFill>
                          <a:schemeClr val="bg1">
                            <a:lumMod val="95000"/>
                          </a:schemeClr>
                        </a:solidFill>
                      </a:tcPr>
                    </a:tc>
                    <a:tc gridSpan="3">
                      <a:txBody>
                        <a:bodyPr/>
                        <a:lstStyle/>
                        <a:p>
                          <a:pPr algn="ctr"/>
                          <a:r>
                            <a:rPr lang="es-CO" sz="1800" b="1" dirty="0">
                              <a:latin typeface="+mn-lt"/>
                              <a:ea typeface="Roboto" panose="02000000000000000000" pitchFamily="2" charset="0"/>
                            </a:rPr>
                            <a:t>Equivalencia</a:t>
                          </a:r>
                        </a:p>
                      </a:txBody>
                      <a:tcPr>
                        <a:solidFill>
                          <a:schemeClr val="bg1">
                            <a:lumMod val="95000"/>
                          </a:schemeClr>
                        </a:solidFill>
                      </a:tcPr>
                    </a:tc>
                    <a:tc hMerge="1">
                      <a:txBody>
                        <a:bodyPr/>
                        <a:lstStyle/>
                        <a:p>
                          <a:endParaRPr lang="es-CO" sz="1600" b="1"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1624526593"/>
                      </a:ext>
                    </a:extLst>
                  </a:tr>
                  <a:tr h="335280">
                    <a:tc>
                      <a:txBody>
                        <a:bodyPr/>
                        <a:lstStyle/>
                        <a:p>
                          <a:r>
                            <a:rPr lang="es-CO" sz="1600" b="1" dirty="0">
                              <a:latin typeface="+mn-lt"/>
                              <a:ea typeface="Roboto" panose="02000000000000000000" pitchFamily="2" charset="0"/>
                            </a:rPr>
                            <a:t>Idempotencia</a:t>
                          </a:r>
                        </a:p>
                      </a:txBody>
                      <a:tcPr/>
                    </a:tc>
                    <a:tc>
                      <a:txBody>
                        <a:bodyPr/>
                        <a:lstStyle/>
                        <a:p>
                          <a:endParaRPr lang="es-CO"/>
                        </a:p>
                      </a:txBody>
                      <a:tcPr>
                        <a:blipFill>
                          <a:blip r:embed="rId3"/>
                          <a:stretch>
                            <a:fillRect l="-68081" t="-118182" r="-105051" b="-923636"/>
                          </a:stretch>
                        </a:blipFill>
                      </a:tcPr>
                    </a:tc>
                    <a:tc gridSpan="2">
                      <a:txBody>
                        <a:bodyPr/>
                        <a:lstStyle/>
                        <a:p>
                          <a:endParaRPr lang="es-CO"/>
                        </a:p>
                      </a:txBody>
                      <a:tcPr>
                        <a:blipFill>
                          <a:blip r:embed="rId3"/>
                          <a:stretch>
                            <a:fillRect l="-160618" t="-118182" r="-386" b="-923636"/>
                          </a:stretch>
                        </a:blipFill>
                      </a:tcPr>
                    </a:tc>
                    <a:tc hMerge="1">
                      <a:txBody>
                        <a:bodyPr/>
                        <a:lstStyle/>
                        <a:p>
                          <a:endParaRPr lang="es-CO"/>
                        </a:p>
                      </a:txBody>
                      <a:tcPr/>
                    </a:tc>
                    <a:extLst>
                      <a:ext uri="{0D108BD9-81ED-4DB2-BD59-A6C34878D82A}">
                        <a16:rowId xmlns:a16="http://schemas.microsoft.com/office/drawing/2014/main" val="3154515760"/>
                      </a:ext>
                    </a:extLst>
                  </a:tr>
                  <a:tr h="335280">
                    <a:tc>
                      <a:txBody>
                        <a:bodyPr/>
                        <a:lstStyle/>
                        <a:p>
                          <a:r>
                            <a:rPr lang="es-CO" sz="1600" b="1" dirty="0">
                              <a:latin typeface="+mn-lt"/>
                              <a:ea typeface="Roboto" panose="02000000000000000000" pitchFamily="2" charset="0"/>
                            </a:rPr>
                            <a:t>Identidad</a:t>
                          </a:r>
                        </a:p>
                      </a:txBody>
                      <a:tcPr/>
                    </a:tc>
                    <a:tc>
                      <a:txBody>
                        <a:bodyPr/>
                        <a:lstStyle/>
                        <a:p>
                          <a:endParaRPr lang="es-CO"/>
                        </a:p>
                      </a:txBody>
                      <a:tcPr>
                        <a:blipFill>
                          <a:blip r:embed="rId3"/>
                          <a:stretch>
                            <a:fillRect l="-68081" t="-218182" r="-105051" b="-823636"/>
                          </a:stretch>
                        </a:blipFill>
                      </a:tcPr>
                    </a:tc>
                    <a:tc gridSpan="2">
                      <a:txBody>
                        <a:bodyPr/>
                        <a:lstStyle/>
                        <a:p>
                          <a:endParaRPr lang="es-CO"/>
                        </a:p>
                      </a:txBody>
                      <a:tcPr>
                        <a:blipFill>
                          <a:blip r:embed="rId3"/>
                          <a:stretch>
                            <a:fillRect l="-160618" t="-218182" r="-386" b="-823636"/>
                          </a:stretch>
                        </a:blipFill>
                      </a:tcPr>
                    </a:tc>
                    <a:tc hMerge="1">
                      <a:txBody>
                        <a:bodyPr/>
                        <a:lstStyle/>
                        <a:p>
                          <a:endParaRPr lang="es-CO"/>
                        </a:p>
                      </a:txBody>
                      <a:tcPr/>
                    </a:tc>
                    <a:extLst>
                      <a:ext uri="{0D108BD9-81ED-4DB2-BD59-A6C34878D82A}">
                        <a16:rowId xmlns:a16="http://schemas.microsoft.com/office/drawing/2014/main" val="1913743916"/>
                      </a:ext>
                    </a:extLst>
                  </a:tr>
                  <a:tr h="335280">
                    <a:tc>
                      <a:txBody>
                        <a:bodyPr/>
                        <a:lstStyle/>
                        <a:p>
                          <a:r>
                            <a:rPr lang="es-CO" sz="1600" b="1" dirty="0">
                              <a:latin typeface="+mn-lt"/>
                              <a:ea typeface="Roboto" panose="02000000000000000000" pitchFamily="2" charset="0"/>
                            </a:rPr>
                            <a:t>Dominación</a:t>
                          </a:r>
                        </a:p>
                      </a:txBody>
                      <a:tcPr/>
                    </a:tc>
                    <a:tc>
                      <a:txBody>
                        <a:bodyPr/>
                        <a:lstStyle/>
                        <a:p>
                          <a:endParaRPr lang="es-CO"/>
                        </a:p>
                      </a:txBody>
                      <a:tcPr>
                        <a:blipFill>
                          <a:blip r:embed="rId3"/>
                          <a:stretch>
                            <a:fillRect l="-68081" t="-318182" r="-105051" b="-723636"/>
                          </a:stretch>
                        </a:blipFill>
                      </a:tcPr>
                    </a:tc>
                    <a:tc gridSpan="2">
                      <a:txBody>
                        <a:bodyPr/>
                        <a:lstStyle/>
                        <a:p>
                          <a:endParaRPr lang="es-CO"/>
                        </a:p>
                      </a:txBody>
                      <a:tcPr>
                        <a:blipFill>
                          <a:blip r:embed="rId3"/>
                          <a:stretch>
                            <a:fillRect l="-160618" t="-318182" r="-386" b="-723636"/>
                          </a:stretch>
                        </a:blipFill>
                      </a:tcPr>
                    </a:tc>
                    <a:tc hMerge="1">
                      <a:txBody>
                        <a:bodyPr/>
                        <a:lstStyle/>
                        <a:p>
                          <a:endParaRPr lang="es-CO"/>
                        </a:p>
                      </a:txBody>
                      <a:tcPr/>
                    </a:tc>
                    <a:extLst>
                      <a:ext uri="{0D108BD9-81ED-4DB2-BD59-A6C34878D82A}">
                        <a16:rowId xmlns:a16="http://schemas.microsoft.com/office/drawing/2014/main" val="717401643"/>
                      </a:ext>
                    </a:extLst>
                  </a:tr>
                  <a:tr h="335280">
                    <a:tc>
                      <a:txBody>
                        <a:bodyPr/>
                        <a:lstStyle/>
                        <a:p>
                          <a:r>
                            <a:rPr lang="es-CO" sz="1600" b="1" dirty="0">
                              <a:latin typeface="+mn-lt"/>
                              <a:ea typeface="Roboto" panose="02000000000000000000" pitchFamily="2" charset="0"/>
                            </a:rPr>
                            <a:t>Conmutativa</a:t>
                          </a:r>
                        </a:p>
                      </a:txBody>
                      <a:tcPr/>
                    </a:tc>
                    <a:tc>
                      <a:txBody>
                        <a:bodyPr/>
                        <a:lstStyle/>
                        <a:p>
                          <a:endParaRPr lang="es-CO"/>
                        </a:p>
                      </a:txBody>
                      <a:tcPr>
                        <a:blipFill>
                          <a:blip r:embed="rId3"/>
                          <a:stretch>
                            <a:fillRect l="-68081" t="-418182" r="-105051" b="-623636"/>
                          </a:stretch>
                        </a:blipFill>
                      </a:tcPr>
                    </a:tc>
                    <a:tc gridSpan="2">
                      <a:txBody>
                        <a:bodyPr/>
                        <a:lstStyle/>
                        <a:p>
                          <a:endParaRPr lang="es-CO"/>
                        </a:p>
                      </a:txBody>
                      <a:tcPr>
                        <a:blipFill>
                          <a:blip r:embed="rId3"/>
                          <a:stretch>
                            <a:fillRect l="-160618" t="-418182" r="-386" b="-623636"/>
                          </a:stretch>
                        </a:blipFill>
                      </a:tcPr>
                    </a:tc>
                    <a:tc hMerge="1">
                      <a:txBody>
                        <a:bodyPr/>
                        <a:lstStyle/>
                        <a:p>
                          <a:endParaRPr lang="es-CO"/>
                        </a:p>
                      </a:txBody>
                      <a:tcPr/>
                    </a:tc>
                    <a:extLst>
                      <a:ext uri="{0D108BD9-81ED-4DB2-BD59-A6C34878D82A}">
                        <a16:rowId xmlns:a16="http://schemas.microsoft.com/office/drawing/2014/main" val="2246818852"/>
                      </a:ext>
                    </a:extLst>
                  </a:tr>
                  <a:tr h="335280">
                    <a:tc>
                      <a:txBody>
                        <a:bodyPr/>
                        <a:lstStyle/>
                        <a:p>
                          <a:r>
                            <a:rPr lang="es-CO" sz="1600" b="1" dirty="0">
                              <a:latin typeface="+mn-lt"/>
                              <a:ea typeface="Roboto" panose="02000000000000000000" pitchFamily="2" charset="0"/>
                            </a:rPr>
                            <a:t>Asociativa</a:t>
                          </a:r>
                        </a:p>
                      </a:txBody>
                      <a:tcPr/>
                    </a:tc>
                    <a:tc>
                      <a:txBody>
                        <a:bodyPr/>
                        <a:lstStyle/>
                        <a:p>
                          <a:endParaRPr lang="es-CO"/>
                        </a:p>
                      </a:txBody>
                      <a:tcPr>
                        <a:blipFill>
                          <a:blip r:embed="rId3"/>
                          <a:stretch>
                            <a:fillRect l="-68081" t="-518182" r="-105051" b="-523636"/>
                          </a:stretch>
                        </a:blipFill>
                      </a:tcPr>
                    </a:tc>
                    <a:tc gridSpan="2">
                      <a:txBody>
                        <a:bodyPr/>
                        <a:lstStyle/>
                        <a:p>
                          <a:endParaRPr lang="es-CO"/>
                        </a:p>
                      </a:txBody>
                      <a:tcPr>
                        <a:blipFill>
                          <a:blip r:embed="rId3"/>
                          <a:stretch>
                            <a:fillRect l="-160618" t="-518182" r="-386" b="-523636"/>
                          </a:stretch>
                        </a:blipFill>
                      </a:tcPr>
                    </a:tc>
                    <a:tc hMerge="1">
                      <a:txBody>
                        <a:bodyPr/>
                        <a:lstStyle/>
                        <a:p>
                          <a:endParaRPr lang="es-CO"/>
                        </a:p>
                      </a:txBody>
                      <a:tcPr/>
                    </a:tc>
                    <a:extLst>
                      <a:ext uri="{0D108BD9-81ED-4DB2-BD59-A6C34878D82A}">
                        <a16:rowId xmlns:a16="http://schemas.microsoft.com/office/drawing/2014/main" val="1992230363"/>
                      </a:ext>
                    </a:extLst>
                  </a:tr>
                  <a:tr h="335280">
                    <a:tc>
                      <a:txBody>
                        <a:bodyPr/>
                        <a:lstStyle/>
                        <a:p>
                          <a:r>
                            <a:rPr lang="es-CO" sz="1600" b="1" dirty="0">
                              <a:latin typeface="+mn-lt"/>
                              <a:ea typeface="Roboto" panose="02000000000000000000" pitchFamily="2" charset="0"/>
                            </a:rPr>
                            <a:t>Distributiva</a:t>
                          </a:r>
                        </a:p>
                      </a:txBody>
                      <a:tcPr/>
                    </a:tc>
                    <a:tc>
                      <a:txBody>
                        <a:bodyPr/>
                        <a:lstStyle/>
                        <a:p>
                          <a:endParaRPr lang="es-CO"/>
                        </a:p>
                      </a:txBody>
                      <a:tcPr>
                        <a:blipFill>
                          <a:blip r:embed="rId3"/>
                          <a:stretch>
                            <a:fillRect l="-68081" t="-607143" r="-105051" b="-414286"/>
                          </a:stretch>
                        </a:blipFill>
                      </a:tcPr>
                    </a:tc>
                    <a:tc gridSpan="2">
                      <a:txBody>
                        <a:bodyPr/>
                        <a:lstStyle/>
                        <a:p>
                          <a:endParaRPr lang="es-CO"/>
                        </a:p>
                      </a:txBody>
                      <a:tcPr>
                        <a:blipFill>
                          <a:blip r:embed="rId3"/>
                          <a:stretch>
                            <a:fillRect l="-160618" t="-607143" r="-386" b="-414286"/>
                          </a:stretch>
                        </a:blipFill>
                      </a:tcPr>
                    </a:tc>
                    <a:tc hMerge="1">
                      <a:txBody>
                        <a:bodyPr/>
                        <a:lstStyle/>
                        <a:p>
                          <a:endParaRPr lang="es-CO"/>
                        </a:p>
                      </a:txBody>
                      <a:tcPr/>
                    </a:tc>
                    <a:extLst>
                      <a:ext uri="{0D108BD9-81ED-4DB2-BD59-A6C34878D82A}">
                        <a16:rowId xmlns:a16="http://schemas.microsoft.com/office/drawing/2014/main" val="2113060234"/>
                      </a:ext>
                    </a:extLst>
                  </a:tr>
                  <a:tr h="335280">
                    <a:tc>
                      <a:txBody>
                        <a:bodyPr/>
                        <a:lstStyle/>
                        <a:p>
                          <a:r>
                            <a:rPr lang="es-CO" sz="1600" b="1" dirty="0">
                              <a:latin typeface="+mn-lt"/>
                              <a:ea typeface="Roboto" panose="02000000000000000000" pitchFamily="2" charset="0"/>
                            </a:rPr>
                            <a:t>Complemento</a:t>
                          </a:r>
                        </a:p>
                      </a:txBody>
                      <a:tcPr/>
                    </a:tc>
                    <a:tc>
                      <a:txBody>
                        <a:bodyPr/>
                        <a:lstStyle/>
                        <a:p>
                          <a:endParaRPr lang="es-CO"/>
                        </a:p>
                      </a:txBody>
                      <a:tcPr>
                        <a:blipFill>
                          <a:blip r:embed="rId3"/>
                          <a:stretch>
                            <a:fillRect l="-68081" t="-720000" r="-105051" b="-321818"/>
                          </a:stretch>
                        </a:blipFill>
                      </a:tcPr>
                    </a:tc>
                    <a:tc gridSpan="2">
                      <a:txBody>
                        <a:bodyPr/>
                        <a:lstStyle/>
                        <a:p>
                          <a:endParaRPr lang="es-CO"/>
                        </a:p>
                      </a:txBody>
                      <a:tcPr>
                        <a:blipFill>
                          <a:blip r:embed="rId3"/>
                          <a:stretch>
                            <a:fillRect l="-160618" t="-720000" r="-386" b="-321818"/>
                          </a:stretch>
                        </a:blipFill>
                      </a:tcPr>
                    </a:tc>
                    <a:tc hMerge="1">
                      <a:txBody>
                        <a:bodyPr/>
                        <a:lstStyle/>
                        <a:p>
                          <a:endParaRPr lang="es-CO"/>
                        </a:p>
                      </a:txBody>
                      <a:tcPr/>
                    </a:tc>
                    <a:extLst>
                      <a:ext uri="{0D108BD9-81ED-4DB2-BD59-A6C34878D82A}">
                        <a16:rowId xmlns:a16="http://schemas.microsoft.com/office/drawing/2014/main" val="1232652958"/>
                      </a:ext>
                    </a:extLst>
                  </a:tr>
                  <a:tr h="335280">
                    <a:tc>
                      <a:txBody>
                        <a:bodyPr/>
                        <a:lstStyle/>
                        <a:p>
                          <a:r>
                            <a:rPr lang="es-CO" sz="1600" b="1" dirty="0">
                              <a:latin typeface="+mn-lt"/>
                              <a:ea typeface="Roboto" panose="02000000000000000000" pitchFamily="2" charset="0"/>
                            </a:rPr>
                            <a:t>Doble negación</a:t>
                          </a:r>
                        </a:p>
                      </a:txBody>
                      <a:tcPr/>
                    </a:tc>
                    <a:tc gridSpan="3">
                      <a:txBody>
                        <a:bodyPr/>
                        <a:lstStyle/>
                        <a:p>
                          <a:endParaRPr lang="es-CO"/>
                        </a:p>
                      </a:txBody>
                      <a:tcPr>
                        <a:blipFill>
                          <a:blip r:embed="rId3"/>
                          <a:stretch>
                            <a:fillRect l="-33268" t="-820000" r="-197" b="-221818"/>
                          </a:stretch>
                        </a:blip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xmlns:a14="http://schemas.microsoft.com/office/drawing/2010/main">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b="1"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770911309"/>
                      </a:ext>
                    </a:extLst>
                  </a:tr>
                  <a:tr h="335280">
                    <a:tc>
                      <a:txBody>
                        <a:bodyPr/>
                        <a:lstStyle/>
                        <a:p>
                          <a:r>
                            <a:rPr lang="es-CO" sz="1600" b="1" dirty="0">
                              <a:latin typeface="+mn-lt"/>
                              <a:ea typeface="Roboto" panose="02000000000000000000" pitchFamily="2" charset="0"/>
                            </a:rPr>
                            <a:t>Absorción</a:t>
                          </a:r>
                        </a:p>
                      </a:txBody>
                      <a:tcPr/>
                    </a:tc>
                    <a:tc gridSpan="2">
                      <a:txBody>
                        <a:bodyPr/>
                        <a:lstStyle/>
                        <a:p>
                          <a:endParaRPr lang="es-CO"/>
                        </a:p>
                      </a:txBody>
                      <a:tcPr>
                        <a:blipFill>
                          <a:blip r:embed="rId3"/>
                          <a:stretch>
                            <a:fillRect l="-65564" t="-920000" r="-97471" b="-121818"/>
                          </a:stretch>
                        </a:blipFill>
                      </a:tcPr>
                    </a:tc>
                    <a:tc hMerge="1">
                      <a:txBody>
                        <a:bodyPr/>
                        <a:lstStyle/>
                        <a:p>
                          <a:pPr algn="ctr"/>
                          <a:endParaRPr lang="es-CO" sz="1600" dirty="0">
                            <a:latin typeface="Roboto" panose="02000000000000000000" pitchFamily="2" charset="0"/>
                            <a:ea typeface="Roboto" panose="02000000000000000000" pitchFamily="2" charset="0"/>
                          </a:endParaRPr>
                        </a:p>
                      </a:txBody>
                      <a:tcPr/>
                    </a:tc>
                    <a:tc>
                      <a:txBody>
                        <a:bodyPr/>
                        <a:lstStyle/>
                        <a:p>
                          <a:endParaRPr lang="es-CO"/>
                        </a:p>
                      </a:txBody>
                      <a:tcPr>
                        <a:blipFill>
                          <a:blip r:embed="rId3"/>
                          <a:stretch>
                            <a:fillRect l="-170541" t="-920000" r="-401" b="-121818"/>
                          </a:stretch>
                        </a:blipFill>
                      </a:tcPr>
                    </a:tc>
                    <a:extLst>
                      <a:ext uri="{0D108BD9-81ED-4DB2-BD59-A6C34878D82A}">
                        <a16:rowId xmlns:a16="http://schemas.microsoft.com/office/drawing/2014/main" val="3483938044"/>
                      </a:ext>
                    </a:extLst>
                  </a:tr>
                  <a:tr h="354394">
                    <a:tc>
                      <a:txBody>
                        <a:bodyPr/>
                        <a:lstStyle/>
                        <a:p>
                          <a:r>
                            <a:rPr lang="es-CO" sz="1600" b="1" dirty="0">
                              <a:latin typeface="+mn-lt"/>
                              <a:ea typeface="Roboto" panose="02000000000000000000" pitchFamily="2" charset="0"/>
                            </a:rPr>
                            <a:t>De Morgan</a:t>
                          </a:r>
                        </a:p>
                      </a:txBody>
                      <a:tcPr/>
                    </a:tc>
                    <a:tc gridSpan="2">
                      <a:txBody>
                        <a:bodyPr/>
                        <a:lstStyle/>
                        <a:p>
                          <a:endParaRPr lang="es-CO"/>
                        </a:p>
                      </a:txBody>
                      <a:tcPr>
                        <a:blipFill>
                          <a:blip r:embed="rId3"/>
                          <a:stretch>
                            <a:fillRect l="-65564" t="-967241" r="-97471" b="-15517"/>
                          </a:stretch>
                        </a:blipFill>
                      </a:tcPr>
                    </a:tc>
                    <a:tc hMerge="1">
                      <a:txBody>
                        <a:bodyPr/>
                        <a:lstStyle/>
                        <a:p>
                          <a:endParaRPr lang="es-CO"/>
                        </a:p>
                      </a:txBody>
                      <a:tcPr/>
                    </a:tc>
                    <a:tc>
                      <a:txBody>
                        <a:bodyPr/>
                        <a:lstStyle/>
                        <a:p>
                          <a:endParaRPr lang="es-CO"/>
                        </a:p>
                      </a:txBody>
                      <a:tcPr>
                        <a:blipFill>
                          <a:blip r:embed="rId3"/>
                          <a:stretch>
                            <a:fillRect l="-170541" t="-967241" r="-401" b="-15517"/>
                          </a:stretch>
                        </a:blipFill>
                      </a:tcPr>
                    </a:tc>
                    <a:extLst>
                      <a:ext uri="{0D108BD9-81ED-4DB2-BD59-A6C34878D82A}">
                        <a16:rowId xmlns:a16="http://schemas.microsoft.com/office/drawing/2014/main" val="493544081"/>
                      </a:ext>
                    </a:extLst>
                  </a:tr>
                </a:tbl>
              </a:graphicData>
            </a:graphic>
          </p:graphicFrame>
        </mc:Fallback>
      </mc:AlternateContent>
    </p:spTree>
    <p:extLst>
      <p:ext uri="{BB962C8B-B14F-4D97-AF65-F5344CB8AC3E}">
        <p14:creationId xmlns:p14="http://schemas.microsoft.com/office/powerpoint/2010/main" val="1240126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Identidades</a:t>
            </a:r>
            <a:endParaRPr dirty="0"/>
          </a:p>
        </p:txBody>
      </p:sp>
      <p:sp>
        <p:nvSpPr>
          <p:cNvPr id="20" name="CuadroTexto 19">
            <a:extLst>
              <a:ext uri="{FF2B5EF4-FFF2-40B4-BE49-F238E27FC236}">
                <a16:creationId xmlns:a16="http://schemas.microsoft.com/office/drawing/2014/main" id="{EC981F08-C206-4A60-8BF8-5D902A118C7A}"/>
              </a:ext>
            </a:extLst>
          </p:cNvPr>
          <p:cNvSpPr txBox="1"/>
          <p:nvPr/>
        </p:nvSpPr>
        <p:spPr>
          <a:xfrm>
            <a:off x="916650" y="888638"/>
            <a:ext cx="10587093" cy="492443"/>
          </a:xfrm>
          <a:prstGeom prst="rect">
            <a:avLst/>
          </a:prstGeom>
          <a:noFill/>
        </p:spPr>
        <p:txBody>
          <a:bodyPr wrap="square" rtlCol="0">
            <a:spAutoFit/>
          </a:bodyPr>
          <a:lstStyle/>
          <a:p>
            <a:r>
              <a:rPr lang="es-MX" sz="2600" b="1" dirty="0">
                <a:solidFill>
                  <a:schemeClr val="accent2"/>
                </a:solidFill>
                <a:ea typeface="Roboto" panose="02000000000000000000" pitchFamily="2" charset="0"/>
              </a:rPr>
              <a:t>Identidades básicas de cardinalidad</a:t>
            </a:r>
          </a:p>
        </p:txBody>
      </p:sp>
      <mc:AlternateContent xmlns:mc="http://schemas.openxmlformats.org/markup-compatibility/2006">
        <mc:Choice xmlns:a14="http://schemas.microsoft.com/office/drawing/2010/main" Requires="a14">
          <p:graphicFrame>
            <p:nvGraphicFramePr>
              <p:cNvPr id="18" name="Tabla 3">
                <a:extLst>
                  <a:ext uri="{FF2B5EF4-FFF2-40B4-BE49-F238E27FC236}">
                    <a16:creationId xmlns:a16="http://schemas.microsoft.com/office/drawing/2014/main" id="{FBC9B938-0923-4F00-B891-E858560C2D84}"/>
                  </a:ext>
                </a:extLst>
              </p:cNvPr>
              <p:cNvGraphicFramePr>
                <a:graphicFrameLocks noGrp="1"/>
              </p:cNvGraphicFramePr>
              <p:nvPr>
                <p:extLst>
                  <p:ext uri="{D42A27DB-BD31-4B8C-83A1-F6EECF244321}">
                    <p14:modId xmlns:p14="http://schemas.microsoft.com/office/powerpoint/2010/main" val="2291848185"/>
                  </p:ext>
                </p:extLst>
              </p:nvPr>
            </p:nvGraphicFramePr>
            <p:xfrm>
              <a:off x="2584450" y="1665947"/>
              <a:ext cx="7023100" cy="3757232"/>
            </p:xfrm>
            <a:graphic>
              <a:graphicData uri="http://schemas.openxmlformats.org/drawingml/2006/table">
                <a:tbl>
                  <a:tblPr firstRow="1" bandRow="1">
                    <a:tableStyleId>{AD6A3598-7CB8-4345-8D95-17CE05F158A0}</a:tableStyleId>
                  </a:tblPr>
                  <a:tblGrid>
                    <a:gridCol w="1422400">
                      <a:extLst>
                        <a:ext uri="{9D8B030D-6E8A-4147-A177-3AD203B41FA5}">
                          <a16:colId xmlns:a16="http://schemas.microsoft.com/office/drawing/2014/main" val="2419793140"/>
                        </a:ext>
                      </a:extLst>
                    </a:gridCol>
                    <a:gridCol w="5600700">
                      <a:extLst>
                        <a:ext uri="{9D8B030D-6E8A-4147-A177-3AD203B41FA5}">
                          <a16:colId xmlns:a16="http://schemas.microsoft.com/office/drawing/2014/main" val="2761119023"/>
                        </a:ext>
                      </a:extLst>
                    </a:gridCol>
                  </a:tblGrid>
                  <a:tr h="213585">
                    <a:tc>
                      <a:txBody>
                        <a:bodyPr/>
                        <a:lstStyle/>
                        <a:p>
                          <a:r>
                            <a:rPr lang="es-CO" sz="1800" b="1" dirty="0">
                              <a:latin typeface="+mn-lt"/>
                              <a:ea typeface="Roboto" panose="02000000000000000000" pitchFamily="2" charset="0"/>
                            </a:rPr>
                            <a:t>Nombre</a:t>
                          </a:r>
                        </a:p>
                      </a:txBody>
                      <a:tcPr>
                        <a:solidFill>
                          <a:schemeClr val="bg1">
                            <a:lumMod val="95000"/>
                          </a:schemeClr>
                        </a:solidFill>
                      </a:tcPr>
                    </a:tc>
                    <a:tc>
                      <a:txBody>
                        <a:bodyPr/>
                        <a:lstStyle/>
                        <a:p>
                          <a:pPr algn="ctr"/>
                          <a:r>
                            <a:rPr lang="es-CO" sz="1800" b="1" dirty="0">
                              <a:latin typeface="+mn-lt"/>
                              <a:ea typeface="Roboto" panose="02000000000000000000" pitchFamily="2" charset="0"/>
                            </a:rPr>
                            <a:t>Equivalencia</a:t>
                          </a:r>
                        </a:p>
                      </a:txBody>
                      <a:tcPr>
                        <a:solidFill>
                          <a:schemeClr val="bg1">
                            <a:lumMod val="95000"/>
                          </a:schemeClr>
                        </a:solidFill>
                      </a:tcPr>
                    </a:tc>
                    <a:extLst>
                      <a:ext uri="{0D108BD9-81ED-4DB2-BD59-A6C34878D82A}">
                        <a16:rowId xmlns:a16="http://schemas.microsoft.com/office/drawing/2014/main" val="1624526593"/>
                      </a:ext>
                    </a:extLst>
                  </a:tr>
                  <a:tr h="21358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1</a:t>
                          </a: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m:t>
                                    </m:r>
                                  </m:e>
                                </m:d>
                                <m:r>
                                  <a:rPr lang="es-MX" sz="1600" b="0" i="1" smtClean="0">
                                    <a:latin typeface="+mn-lt"/>
                                    <a:ea typeface="Cambria Math" panose="02040503050406030204" pitchFamily="18" charset="0"/>
                                  </a:rPr>
                                  <m:t>=0</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3154515760"/>
                      </a:ext>
                    </a:extLst>
                  </a:tr>
                  <a:tr h="213585">
                    <a:tc>
                      <a:txBody>
                        <a:bodyPr/>
                        <a:lstStyle/>
                        <a:p>
                          <a:r>
                            <a:rPr lang="es-CO" sz="1600" b="1" dirty="0">
                              <a:latin typeface="+mn-lt"/>
                              <a:ea typeface="Roboto" panose="02000000000000000000" pitchFamily="2" charset="0"/>
                            </a:rPr>
                            <a:t>2</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=0→</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𝐵</m:t>
                                    </m:r>
                                  </m:e>
                                </m:d>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1913743916"/>
                      </a:ext>
                    </a:extLst>
                  </a:tr>
                  <a:tr h="21358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3</a:t>
                          </a: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1512456821"/>
                      </a:ext>
                    </a:extLst>
                  </a:tr>
                  <a:tr h="213585">
                    <a:tc>
                      <a:txBody>
                        <a:bodyPr/>
                        <a:lstStyle/>
                        <a:p>
                          <a:r>
                            <a:rPr lang="es-CO" sz="1600" b="1" dirty="0">
                              <a:latin typeface="+mn-lt"/>
                              <a:ea typeface="Roboto" panose="02000000000000000000" pitchFamily="2" charset="0"/>
                            </a:rPr>
                            <a:t>4</a:t>
                          </a: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717401643"/>
                      </a:ext>
                    </a:extLst>
                  </a:tr>
                  <a:tr h="213585">
                    <a:tc>
                      <a:txBody>
                        <a:bodyPr/>
                        <a:lstStyle/>
                        <a:p>
                          <a:r>
                            <a:rPr lang="es-CO" sz="1600" b="1" dirty="0">
                              <a:latin typeface="+mn-lt"/>
                              <a:ea typeface="Roboto" panose="02000000000000000000" pitchFamily="2" charset="0"/>
                            </a:rPr>
                            <a:t>5</a:t>
                          </a: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e>
                                </m:d>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2246818852"/>
                      </a:ext>
                    </a:extLst>
                  </a:tr>
                  <a:tr h="213585">
                    <a:tc>
                      <a:txBody>
                        <a:bodyPr/>
                        <a:lstStyle/>
                        <a:p>
                          <a:r>
                            <a:rPr lang="es-CO" sz="1600" b="1" dirty="0">
                              <a:latin typeface="+mn-lt"/>
                              <a:ea typeface="Roboto" panose="02000000000000000000" pitchFamily="2" charset="0"/>
                            </a:rPr>
                            <a:t>6</a:t>
                          </a: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1992230363"/>
                      </a:ext>
                    </a:extLst>
                  </a:tr>
                  <a:tr h="213585">
                    <a:tc>
                      <a:txBody>
                        <a:bodyPr/>
                        <a:lstStyle/>
                        <a:p>
                          <a:r>
                            <a:rPr lang="es-CO" sz="1600" b="1" dirty="0">
                              <a:latin typeface="+mn-lt"/>
                              <a:ea typeface="Roboto" panose="02000000000000000000" pitchFamily="2" charset="0"/>
                            </a:rPr>
                            <a:t>7</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𝑈</m:t>
                                    </m:r>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e>
                                </m:d>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2113060234"/>
                      </a:ext>
                    </a:extLst>
                  </a:tr>
                  <a:tr h="21358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8</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𝑎</m:t>
                                </m:r>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e>
                                </m:d>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𝑏</m:t>
                                </m:r>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𝑈</m:t>
                                    </m:r>
                                  </m:e>
                                </m:d>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𝑎</m:t>
                                </m:r>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sSup>
                                      <m:sSupPr>
                                        <m:ctrlPr>
                                          <a:rPr lang="es-MX" sz="1600" b="0" i="1" smtClean="0">
                                            <a:latin typeface="+mn-lt"/>
                                            <a:ea typeface="Cambria Math" panose="02040503050406030204" pitchFamily="18" charset="0"/>
                                          </a:rPr>
                                        </m:ctrlPr>
                                      </m:sSupPr>
                                      <m:e>
                                        <m:r>
                                          <a:rPr lang="es-MX" sz="1600" b="0" i="1" smtClean="0">
                                            <a:latin typeface="+mn-lt"/>
                                            <a:ea typeface="Cambria Math" panose="02040503050406030204" pitchFamily="18" charset="0"/>
                                          </a:rPr>
                                          <m:t>𝐴</m:t>
                                        </m:r>
                                      </m:e>
                                      <m:sup>
                                        <m:r>
                                          <a:rPr lang="es-MX" sz="1600" b="0" i="1" smtClean="0">
                                            <a:latin typeface="+mn-lt"/>
                                            <a:ea typeface="Cambria Math" panose="02040503050406030204" pitchFamily="18" charset="0"/>
                                          </a:rPr>
                                          <m:t>′</m:t>
                                        </m:r>
                                      </m:sup>
                                    </m:sSup>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𝑈</m:t>
                                    </m:r>
                                  </m:e>
                                </m:d>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𝑏</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1232652958"/>
                      </a:ext>
                    </a:extLst>
                  </a:tr>
                  <a:tr h="21358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9</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𝑀𝑎𝑥</m:t>
                                </m:r>
                                <m:d>
                                  <m:dPr>
                                    <m:ctrlPr>
                                      <a:rPr lang="es-MX" sz="1600" b="0" i="1" smtClean="0">
                                        <a:latin typeface="+mn-lt"/>
                                        <a:ea typeface="Cambria Math" panose="02040503050406030204" pitchFamily="18" charset="0"/>
                                      </a:rPr>
                                    </m:ctrlPr>
                                  </m:dPr>
                                  <m:e>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𝐵</m:t>
                                        </m:r>
                                      </m:e>
                                    </m:d>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𝑀𝑖𝑛</m:t>
                                </m:r>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𝑈</m:t>
                                    </m:r>
                                  </m:e>
                                </m:d>
                                <m:r>
                                  <a:rPr lang="es-MX" sz="1600" b="0" i="1" smtClean="0">
                                    <a:latin typeface="+mn-lt"/>
                                    <a:ea typeface="Cambria Math" panose="02040503050406030204" pitchFamily="18" charset="0"/>
                                  </a:rPr>
                                  <m:t>)</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3483938044"/>
                      </a:ext>
                    </a:extLst>
                  </a:tr>
                  <a:tr h="213585">
                    <a:tc>
                      <a:txBody>
                        <a:bodyPr/>
                        <a:lstStyle/>
                        <a:p>
                          <a:r>
                            <a:rPr lang="es-CO" sz="1600" b="1" dirty="0">
                              <a:latin typeface="+mn-lt"/>
                              <a:ea typeface="Roboto" panose="02000000000000000000" pitchFamily="2" charset="0"/>
                            </a:rPr>
                            <a:t>10</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𝑀𝑎𝑥</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0,</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𝑈</m:t>
                                        </m:r>
                                      </m:e>
                                    </m:d>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𝑀𝑖𝑛</m:t>
                                </m:r>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e>
                                </m:d>
                                <m:r>
                                  <a:rPr lang="es-MX" sz="1600" b="0" i="1" smtClean="0">
                                    <a:latin typeface="+mn-lt"/>
                                    <a:ea typeface="Cambria Math" panose="02040503050406030204" pitchFamily="18" charset="0"/>
                                  </a:rPr>
                                  <m:t>+</m:t>
                                </m:r>
                                <m:d>
                                  <m:dPr>
                                    <m:begChr m:val="|"/>
                                    <m:endChr m:val="|"/>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493544081"/>
                      </a:ext>
                    </a:extLst>
                  </a:tr>
                </a:tbl>
              </a:graphicData>
            </a:graphic>
          </p:graphicFrame>
        </mc:Choice>
        <mc:Fallback>
          <p:graphicFrame>
            <p:nvGraphicFramePr>
              <p:cNvPr id="18" name="Tabla 3">
                <a:extLst>
                  <a:ext uri="{FF2B5EF4-FFF2-40B4-BE49-F238E27FC236}">
                    <a16:creationId xmlns:a16="http://schemas.microsoft.com/office/drawing/2014/main" id="{FBC9B938-0923-4F00-B891-E858560C2D84}"/>
                  </a:ext>
                </a:extLst>
              </p:cNvPr>
              <p:cNvGraphicFramePr>
                <a:graphicFrameLocks noGrp="1"/>
              </p:cNvGraphicFramePr>
              <p:nvPr>
                <p:extLst>
                  <p:ext uri="{D42A27DB-BD31-4B8C-83A1-F6EECF244321}">
                    <p14:modId xmlns:p14="http://schemas.microsoft.com/office/powerpoint/2010/main" val="2291848185"/>
                  </p:ext>
                </p:extLst>
              </p:nvPr>
            </p:nvGraphicFramePr>
            <p:xfrm>
              <a:off x="2584450" y="1665947"/>
              <a:ext cx="7023100" cy="3757232"/>
            </p:xfrm>
            <a:graphic>
              <a:graphicData uri="http://schemas.openxmlformats.org/drawingml/2006/table">
                <a:tbl>
                  <a:tblPr firstRow="1" bandRow="1">
                    <a:tableStyleId>{AD6A3598-7CB8-4345-8D95-17CE05F158A0}</a:tableStyleId>
                  </a:tblPr>
                  <a:tblGrid>
                    <a:gridCol w="1422400">
                      <a:extLst>
                        <a:ext uri="{9D8B030D-6E8A-4147-A177-3AD203B41FA5}">
                          <a16:colId xmlns:a16="http://schemas.microsoft.com/office/drawing/2014/main" val="2419793140"/>
                        </a:ext>
                      </a:extLst>
                    </a:gridCol>
                    <a:gridCol w="5600700">
                      <a:extLst>
                        <a:ext uri="{9D8B030D-6E8A-4147-A177-3AD203B41FA5}">
                          <a16:colId xmlns:a16="http://schemas.microsoft.com/office/drawing/2014/main" val="2761119023"/>
                        </a:ext>
                      </a:extLst>
                    </a:gridCol>
                  </a:tblGrid>
                  <a:tr h="365760">
                    <a:tc>
                      <a:txBody>
                        <a:bodyPr/>
                        <a:lstStyle/>
                        <a:p>
                          <a:r>
                            <a:rPr lang="es-CO" sz="1800" b="1" dirty="0">
                              <a:latin typeface="+mn-lt"/>
                              <a:ea typeface="Roboto" panose="02000000000000000000" pitchFamily="2" charset="0"/>
                            </a:rPr>
                            <a:t>Nombre</a:t>
                          </a:r>
                        </a:p>
                      </a:txBody>
                      <a:tcPr>
                        <a:solidFill>
                          <a:schemeClr val="bg1">
                            <a:lumMod val="95000"/>
                          </a:schemeClr>
                        </a:solidFill>
                      </a:tcPr>
                    </a:tc>
                    <a:tc>
                      <a:txBody>
                        <a:bodyPr/>
                        <a:lstStyle/>
                        <a:p>
                          <a:pPr algn="ctr"/>
                          <a:r>
                            <a:rPr lang="es-CO" sz="1800" b="1" dirty="0">
                              <a:latin typeface="+mn-lt"/>
                              <a:ea typeface="Roboto" panose="02000000000000000000" pitchFamily="2" charset="0"/>
                            </a:rPr>
                            <a:t>Equivalencia</a:t>
                          </a:r>
                        </a:p>
                      </a:txBody>
                      <a:tcPr>
                        <a:solidFill>
                          <a:schemeClr val="bg1">
                            <a:lumMod val="95000"/>
                          </a:schemeClr>
                        </a:solidFill>
                      </a:tcPr>
                    </a:tc>
                    <a:extLst>
                      <a:ext uri="{0D108BD9-81ED-4DB2-BD59-A6C34878D82A}">
                        <a16:rowId xmlns:a16="http://schemas.microsoft.com/office/drawing/2014/main" val="1624526593"/>
                      </a:ext>
                    </a:extLst>
                  </a:tr>
                  <a:tr h="33528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1</a:t>
                          </a:r>
                        </a:p>
                      </a:txBody>
                      <a:tcPr/>
                    </a:tc>
                    <a:tc>
                      <a:txBody>
                        <a:bodyPr/>
                        <a:lstStyle/>
                        <a:p>
                          <a:endParaRPr lang="es-CO"/>
                        </a:p>
                      </a:txBody>
                      <a:tcPr>
                        <a:blipFill>
                          <a:blip r:embed="rId3"/>
                          <a:stretch>
                            <a:fillRect l="-25435" t="-118182" r="-109" b="-936364"/>
                          </a:stretch>
                        </a:blipFill>
                      </a:tcPr>
                    </a:tc>
                    <a:extLst>
                      <a:ext uri="{0D108BD9-81ED-4DB2-BD59-A6C34878D82A}">
                        <a16:rowId xmlns:a16="http://schemas.microsoft.com/office/drawing/2014/main" val="3154515760"/>
                      </a:ext>
                    </a:extLst>
                  </a:tr>
                  <a:tr h="335280">
                    <a:tc>
                      <a:txBody>
                        <a:bodyPr/>
                        <a:lstStyle/>
                        <a:p>
                          <a:r>
                            <a:rPr lang="es-CO" sz="1600" b="1" dirty="0">
                              <a:latin typeface="+mn-lt"/>
                              <a:ea typeface="Roboto" panose="02000000000000000000" pitchFamily="2" charset="0"/>
                            </a:rPr>
                            <a:t>2</a:t>
                          </a:r>
                        </a:p>
                      </a:txBody>
                      <a:tcPr/>
                    </a:tc>
                    <a:tc>
                      <a:txBody>
                        <a:bodyPr/>
                        <a:lstStyle/>
                        <a:p>
                          <a:endParaRPr lang="es-CO"/>
                        </a:p>
                      </a:txBody>
                      <a:tcPr>
                        <a:blipFill>
                          <a:blip r:embed="rId3"/>
                          <a:stretch>
                            <a:fillRect l="-25435" t="-218182" r="-109" b="-836364"/>
                          </a:stretch>
                        </a:blipFill>
                      </a:tcPr>
                    </a:tc>
                    <a:extLst>
                      <a:ext uri="{0D108BD9-81ED-4DB2-BD59-A6C34878D82A}">
                        <a16:rowId xmlns:a16="http://schemas.microsoft.com/office/drawing/2014/main" val="1913743916"/>
                      </a:ext>
                    </a:extLst>
                  </a:tr>
                  <a:tr h="33528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3</a:t>
                          </a:r>
                        </a:p>
                      </a:txBody>
                      <a:tcPr/>
                    </a:tc>
                    <a:tc>
                      <a:txBody>
                        <a:bodyPr/>
                        <a:lstStyle/>
                        <a:p>
                          <a:endParaRPr lang="es-CO"/>
                        </a:p>
                      </a:txBody>
                      <a:tcPr>
                        <a:blipFill>
                          <a:blip r:embed="rId3"/>
                          <a:stretch>
                            <a:fillRect l="-25435" t="-318182" r="-109" b="-736364"/>
                          </a:stretch>
                        </a:blipFill>
                      </a:tcPr>
                    </a:tc>
                    <a:extLst>
                      <a:ext uri="{0D108BD9-81ED-4DB2-BD59-A6C34878D82A}">
                        <a16:rowId xmlns:a16="http://schemas.microsoft.com/office/drawing/2014/main" val="1512456821"/>
                      </a:ext>
                    </a:extLst>
                  </a:tr>
                  <a:tr h="335280">
                    <a:tc>
                      <a:txBody>
                        <a:bodyPr/>
                        <a:lstStyle/>
                        <a:p>
                          <a:r>
                            <a:rPr lang="es-CO" sz="1600" b="1" dirty="0">
                              <a:latin typeface="+mn-lt"/>
                              <a:ea typeface="Roboto" panose="02000000000000000000" pitchFamily="2" charset="0"/>
                            </a:rPr>
                            <a:t>4</a:t>
                          </a:r>
                        </a:p>
                      </a:txBody>
                      <a:tcPr/>
                    </a:tc>
                    <a:tc>
                      <a:txBody>
                        <a:bodyPr/>
                        <a:lstStyle/>
                        <a:p>
                          <a:endParaRPr lang="es-CO"/>
                        </a:p>
                      </a:txBody>
                      <a:tcPr>
                        <a:blipFill>
                          <a:blip r:embed="rId3"/>
                          <a:stretch>
                            <a:fillRect l="-25435" t="-418182" r="-109" b="-636364"/>
                          </a:stretch>
                        </a:blipFill>
                      </a:tcPr>
                    </a:tc>
                    <a:extLst>
                      <a:ext uri="{0D108BD9-81ED-4DB2-BD59-A6C34878D82A}">
                        <a16:rowId xmlns:a16="http://schemas.microsoft.com/office/drawing/2014/main" val="717401643"/>
                      </a:ext>
                    </a:extLst>
                  </a:tr>
                  <a:tr h="335280">
                    <a:tc>
                      <a:txBody>
                        <a:bodyPr/>
                        <a:lstStyle/>
                        <a:p>
                          <a:r>
                            <a:rPr lang="es-CO" sz="1600" b="1" dirty="0">
                              <a:latin typeface="+mn-lt"/>
                              <a:ea typeface="Roboto" panose="02000000000000000000" pitchFamily="2" charset="0"/>
                            </a:rPr>
                            <a:t>5</a:t>
                          </a:r>
                        </a:p>
                      </a:txBody>
                      <a:tcPr/>
                    </a:tc>
                    <a:tc>
                      <a:txBody>
                        <a:bodyPr/>
                        <a:lstStyle/>
                        <a:p>
                          <a:endParaRPr lang="es-CO"/>
                        </a:p>
                      </a:txBody>
                      <a:tcPr>
                        <a:blipFill>
                          <a:blip r:embed="rId3"/>
                          <a:stretch>
                            <a:fillRect l="-25435" t="-518182" r="-109" b="-536364"/>
                          </a:stretch>
                        </a:blipFill>
                      </a:tcPr>
                    </a:tc>
                    <a:extLst>
                      <a:ext uri="{0D108BD9-81ED-4DB2-BD59-A6C34878D82A}">
                        <a16:rowId xmlns:a16="http://schemas.microsoft.com/office/drawing/2014/main" val="2246818852"/>
                      </a:ext>
                    </a:extLst>
                  </a:tr>
                  <a:tr h="335280">
                    <a:tc>
                      <a:txBody>
                        <a:bodyPr/>
                        <a:lstStyle/>
                        <a:p>
                          <a:r>
                            <a:rPr lang="es-CO" sz="1600" b="1" dirty="0">
                              <a:latin typeface="+mn-lt"/>
                              <a:ea typeface="Roboto" panose="02000000000000000000" pitchFamily="2" charset="0"/>
                            </a:rPr>
                            <a:t>6</a:t>
                          </a:r>
                        </a:p>
                      </a:txBody>
                      <a:tcPr/>
                    </a:tc>
                    <a:tc>
                      <a:txBody>
                        <a:bodyPr/>
                        <a:lstStyle/>
                        <a:p>
                          <a:endParaRPr lang="es-CO"/>
                        </a:p>
                      </a:txBody>
                      <a:tcPr>
                        <a:blipFill>
                          <a:blip r:embed="rId3"/>
                          <a:stretch>
                            <a:fillRect l="-25435" t="-618182" r="-109" b="-436364"/>
                          </a:stretch>
                        </a:blipFill>
                      </a:tcPr>
                    </a:tc>
                    <a:extLst>
                      <a:ext uri="{0D108BD9-81ED-4DB2-BD59-A6C34878D82A}">
                        <a16:rowId xmlns:a16="http://schemas.microsoft.com/office/drawing/2014/main" val="1992230363"/>
                      </a:ext>
                    </a:extLst>
                  </a:tr>
                  <a:tr h="335280">
                    <a:tc>
                      <a:txBody>
                        <a:bodyPr/>
                        <a:lstStyle/>
                        <a:p>
                          <a:r>
                            <a:rPr lang="es-CO" sz="1600" b="1" dirty="0">
                              <a:latin typeface="+mn-lt"/>
                              <a:ea typeface="Roboto" panose="02000000000000000000" pitchFamily="2" charset="0"/>
                            </a:rPr>
                            <a:t>7</a:t>
                          </a:r>
                        </a:p>
                      </a:txBody>
                      <a:tcPr/>
                    </a:tc>
                    <a:tc>
                      <a:txBody>
                        <a:bodyPr/>
                        <a:lstStyle/>
                        <a:p>
                          <a:endParaRPr lang="es-CO"/>
                        </a:p>
                      </a:txBody>
                      <a:tcPr>
                        <a:blipFill>
                          <a:blip r:embed="rId3"/>
                          <a:stretch>
                            <a:fillRect l="-25435" t="-718182" r="-109" b="-336364"/>
                          </a:stretch>
                        </a:blipFill>
                      </a:tcPr>
                    </a:tc>
                    <a:extLst>
                      <a:ext uri="{0D108BD9-81ED-4DB2-BD59-A6C34878D82A}">
                        <a16:rowId xmlns:a16="http://schemas.microsoft.com/office/drawing/2014/main" val="2113060234"/>
                      </a:ext>
                    </a:extLst>
                  </a:tr>
                  <a:tr h="37395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8</a:t>
                          </a:r>
                        </a:p>
                      </a:txBody>
                      <a:tcPr/>
                    </a:tc>
                    <a:tc>
                      <a:txBody>
                        <a:bodyPr/>
                        <a:lstStyle/>
                        <a:p>
                          <a:endParaRPr lang="es-CO"/>
                        </a:p>
                      </a:txBody>
                      <a:tcPr>
                        <a:blipFill>
                          <a:blip r:embed="rId3"/>
                          <a:stretch>
                            <a:fillRect l="-25435" t="-725806" r="-109" b="-198387"/>
                          </a:stretch>
                        </a:blipFill>
                      </a:tcPr>
                    </a:tc>
                    <a:extLst>
                      <a:ext uri="{0D108BD9-81ED-4DB2-BD59-A6C34878D82A}">
                        <a16:rowId xmlns:a16="http://schemas.microsoft.com/office/drawing/2014/main" val="1232652958"/>
                      </a:ext>
                    </a:extLst>
                  </a:tr>
                  <a:tr h="33528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9</a:t>
                          </a:r>
                        </a:p>
                      </a:txBody>
                      <a:tcPr/>
                    </a:tc>
                    <a:tc>
                      <a:txBody>
                        <a:bodyPr/>
                        <a:lstStyle/>
                        <a:p>
                          <a:endParaRPr lang="es-CO"/>
                        </a:p>
                      </a:txBody>
                      <a:tcPr>
                        <a:blipFill>
                          <a:blip r:embed="rId3"/>
                          <a:stretch>
                            <a:fillRect l="-25435" t="-930909" r="-109" b="-123636"/>
                          </a:stretch>
                        </a:blipFill>
                      </a:tcPr>
                    </a:tc>
                    <a:extLst>
                      <a:ext uri="{0D108BD9-81ED-4DB2-BD59-A6C34878D82A}">
                        <a16:rowId xmlns:a16="http://schemas.microsoft.com/office/drawing/2014/main" val="3483938044"/>
                      </a:ext>
                    </a:extLst>
                  </a:tr>
                  <a:tr h="335280">
                    <a:tc>
                      <a:txBody>
                        <a:bodyPr/>
                        <a:lstStyle/>
                        <a:p>
                          <a:r>
                            <a:rPr lang="es-CO" sz="1600" b="1" dirty="0">
                              <a:latin typeface="+mn-lt"/>
                              <a:ea typeface="Roboto" panose="02000000000000000000" pitchFamily="2" charset="0"/>
                            </a:rPr>
                            <a:t>10</a:t>
                          </a:r>
                        </a:p>
                      </a:txBody>
                      <a:tcPr/>
                    </a:tc>
                    <a:tc>
                      <a:txBody>
                        <a:bodyPr/>
                        <a:lstStyle/>
                        <a:p>
                          <a:endParaRPr lang="es-CO"/>
                        </a:p>
                      </a:txBody>
                      <a:tcPr>
                        <a:blipFill>
                          <a:blip r:embed="rId3"/>
                          <a:stretch>
                            <a:fillRect l="-25435" t="-1030909" r="-109" b="-23636"/>
                          </a:stretch>
                        </a:blipFill>
                      </a:tcPr>
                    </a:tc>
                    <a:extLst>
                      <a:ext uri="{0D108BD9-81ED-4DB2-BD59-A6C34878D82A}">
                        <a16:rowId xmlns:a16="http://schemas.microsoft.com/office/drawing/2014/main" val="493544081"/>
                      </a:ext>
                    </a:extLst>
                  </a:tr>
                </a:tbl>
              </a:graphicData>
            </a:graphic>
          </p:graphicFrame>
        </mc:Fallback>
      </mc:AlternateContent>
    </p:spTree>
    <p:extLst>
      <p:ext uri="{BB962C8B-B14F-4D97-AF65-F5344CB8AC3E}">
        <p14:creationId xmlns:p14="http://schemas.microsoft.com/office/powerpoint/2010/main" val="2227420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Identidades</a:t>
            </a:r>
            <a:endParaRPr dirty="0"/>
          </a:p>
        </p:txBody>
      </p:sp>
      <p:sp>
        <p:nvSpPr>
          <p:cNvPr id="20" name="CuadroTexto 19">
            <a:extLst>
              <a:ext uri="{FF2B5EF4-FFF2-40B4-BE49-F238E27FC236}">
                <a16:creationId xmlns:a16="http://schemas.microsoft.com/office/drawing/2014/main" id="{EC981F08-C206-4A60-8BF8-5D902A118C7A}"/>
              </a:ext>
            </a:extLst>
          </p:cNvPr>
          <p:cNvSpPr txBox="1"/>
          <p:nvPr/>
        </p:nvSpPr>
        <p:spPr>
          <a:xfrm>
            <a:off x="916650" y="888638"/>
            <a:ext cx="10587093" cy="492443"/>
          </a:xfrm>
          <a:prstGeom prst="rect">
            <a:avLst/>
          </a:prstGeom>
          <a:noFill/>
        </p:spPr>
        <p:txBody>
          <a:bodyPr wrap="square" rtlCol="0">
            <a:spAutoFit/>
          </a:bodyPr>
          <a:lstStyle/>
          <a:p>
            <a:r>
              <a:rPr lang="es-MX" sz="2600" b="1" dirty="0">
                <a:solidFill>
                  <a:schemeClr val="accent2"/>
                </a:solidFill>
                <a:ea typeface="Roboto" panose="02000000000000000000" pitchFamily="2" charset="0"/>
              </a:rPr>
              <a:t>Demostración de identidades de conjuntos</a:t>
            </a:r>
          </a:p>
        </p:txBody>
      </p:sp>
      <p:sp>
        <p:nvSpPr>
          <p:cNvPr id="5" name="Google Shape;310;p34">
            <a:extLst>
              <a:ext uri="{FF2B5EF4-FFF2-40B4-BE49-F238E27FC236}">
                <a16:creationId xmlns:a16="http://schemas.microsoft.com/office/drawing/2014/main" id="{BBD38E2F-FE36-42C0-B6C0-29D97760C3BC}"/>
              </a:ext>
            </a:extLst>
          </p:cNvPr>
          <p:cNvSpPr txBox="1">
            <a:spLocks/>
          </p:cNvSpPr>
          <p:nvPr/>
        </p:nvSpPr>
        <p:spPr>
          <a:xfrm>
            <a:off x="788830" y="1451229"/>
            <a:ext cx="11044291" cy="39761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Existen diferentes maneras de demostrar identidades de conjuntos:</a:t>
            </a:r>
          </a:p>
          <a:p>
            <a:pPr marL="584200" indent="-457200">
              <a:buFont typeface="+mj-lt"/>
              <a:buAutoNum type="arabicPeriod"/>
            </a:pPr>
            <a:r>
              <a:rPr lang="es-MX" sz="2000" b="1" dirty="0">
                <a:latin typeface="+mn-lt"/>
                <a:ea typeface="Roboto" panose="02000000000000000000" pitchFamily="2" charset="0"/>
              </a:rPr>
              <a:t>Demostración por doble inclusión</a:t>
            </a:r>
            <a:r>
              <a:rPr lang="es-MX" sz="2000" dirty="0">
                <a:latin typeface="+mn-lt"/>
                <a:ea typeface="Roboto" panose="02000000000000000000" pitchFamily="2" charset="0"/>
              </a:rPr>
              <a:t>: Consiste en demostrar que cada conjunto (lado de la identidad) es un subconjunto del otro. </a:t>
            </a:r>
          </a:p>
          <a:p>
            <a:pPr marL="584200" indent="-457200">
              <a:buFont typeface="+mj-lt"/>
              <a:buAutoNum type="arabicPeriod"/>
            </a:pPr>
            <a:r>
              <a:rPr lang="es-MX" sz="2000" b="1" dirty="0">
                <a:latin typeface="+mn-lt"/>
                <a:ea typeface="Roboto" panose="02000000000000000000" pitchFamily="2" charset="0"/>
              </a:rPr>
              <a:t>Método de reescritura algebraica</a:t>
            </a:r>
            <a:r>
              <a:rPr lang="es-MX" sz="2000" dirty="0">
                <a:latin typeface="+mn-lt"/>
                <a:ea typeface="Roboto" panose="02000000000000000000" pitchFamily="2" charset="0"/>
              </a:rPr>
              <a:t>: Usa la notación de construcción de conjuntos y la lógica proposicional.</a:t>
            </a:r>
          </a:p>
          <a:p>
            <a:pPr marL="584200" indent="-457200">
              <a:buFont typeface="+mj-lt"/>
              <a:buAutoNum type="arabicPeriod"/>
            </a:pPr>
            <a:r>
              <a:rPr lang="es-MX" sz="2000" b="1" dirty="0">
                <a:latin typeface="+mn-lt"/>
                <a:ea typeface="Roboto" panose="02000000000000000000" pitchFamily="2" charset="0"/>
              </a:rPr>
              <a:t>Tablas de pertenencia</a:t>
            </a:r>
            <a:r>
              <a:rPr lang="es-MX" sz="2000" dirty="0">
                <a:latin typeface="+mn-lt"/>
                <a:ea typeface="Roboto" panose="02000000000000000000" pitchFamily="2" charset="0"/>
              </a:rPr>
              <a:t>: En este método, análogo a las tablas de verdad,  se verifica que los elementos de la misma combinación de conjuntos siempre pertenezcan o no al mismo lado de la identidad. Para esto, se usa 1 para indicar pertenencia al conjunto y 0 para indicar no pertenencia. </a:t>
            </a:r>
          </a:p>
        </p:txBody>
      </p:sp>
    </p:spTree>
    <p:extLst>
      <p:ext uri="{BB962C8B-B14F-4D97-AF65-F5344CB8AC3E}">
        <p14:creationId xmlns:p14="http://schemas.microsoft.com/office/powerpoint/2010/main" val="169726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Identidades</a:t>
            </a:r>
            <a:endParaRPr dirty="0"/>
          </a:p>
        </p:txBody>
      </p:sp>
      <p:sp>
        <p:nvSpPr>
          <p:cNvPr id="20" name="CuadroTexto 19">
            <a:extLst>
              <a:ext uri="{FF2B5EF4-FFF2-40B4-BE49-F238E27FC236}">
                <a16:creationId xmlns:a16="http://schemas.microsoft.com/office/drawing/2014/main" id="{EC981F08-C206-4A60-8BF8-5D902A118C7A}"/>
              </a:ext>
            </a:extLst>
          </p:cNvPr>
          <p:cNvSpPr txBox="1"/>
          <p:nvPr/>
        </p:nvSpPr>
        <p:spPr>
          <a:xfrm>
            <a:off x="802453" y="967088"/>
            <a:ext cx="10587093" cy="492443"/>
          </a:xfrm>
          <a:prstGeom prst="rect">
            <a:avLst/>
          </a:prstGeom>
          <a:noFill/>
        </p:spPr>
        <p:txBody>
          <a:bodyPr wrap="square" rtlCol="0">
            <a:spAutoFit/>
          </a:bodyPr>
          <a:lstStyle/>
          <a:p>
            <a:r>
              <a:rPr lang="es-MX" sz="2600" b="1" dirty="0">
                <a:solidFill>
                  <a:schemeClr val="accent2"/>
                </a:solidFill>
                <a:ea typeface="Roboto" panose="02000000000000000000" pitchFamily="2" charset="0"/>
              </a:rPr>
              <a:t>Demostración por doble inclusión</a:t>
            </a:r>
          </a:p>
        </p:txBody>
      </p:sp>
      <mc:AlternateContent xmlns:mc="http://schemas.openxmlformats.org/markup-compatibility/2006">
        <mc:Choice xmlns:a14="http://schemas.microsoft.com/office/drawing/2010/main" Requires="a14">
          <p:sp>
            <p:nvSpPr>
              <p:cNvPr id="5" name="Google Shape;310;p34">
                <a:extLst>
                  <a:ext uri="{FF2B5EF4-FFF2-40B4-BE49-F238E27FC236}">
                    <a16:creationId xmlns:a16="http://schemas.microsoft.com/office/drawing/2014/main" id="{BBD38E2F-FE36-42C0-B6C0-29D97760C3BC}"/>
                  </a:ext>
                </a:extLst>
              </p:cNvPr>
              <p:cNvSpPr txBox="1">
                <a:spLocks/>
              </p:cNvSpPr>
              <p:nvPr/>
            </p:nvSpPr>
            <p:spPr>
              <a:xfrm>
                <a:off x="688257" y="1381081"/>
                <a:ext cx="11044291" cy="221907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Consiste en demostrar que cada conjunto (lado de la identidad) es un subconjunto del otro. Por ejemplo, para demostrar que </a:t>
                </a:r>
                <a14:m>
                  <m:oMath xmlns:m="http://schemas.openxmlformats.org/officeDocument/2006/math">
                    <m:r>
                      <a:rPr lang="es-MX" sz="2000" b="0" i="1" smtClean="0">
                        <a:latin typeface="+mn-lt"/>
                        <a:ea typeface="Roboto" panose="02000000000000000000" pitchFamily="2" charset="0"/>
                      </a:rPr>
                      <m:t>𝐴</m:t>
                    </m:r>
                    <m:r>
                      <a:rPr lang="es-MX" sz="2000" b="0" i="1" smtClean="0">
                        <a:latin typeface="+mn-lt"/>
                        <a:ea typeface="Roboto" panose="02000000000000000000" pitchFamily="2" charset="0"/>
                      </a:rPr>
                      <m:t>=</m:t>
                    </m:r>
                    <m:r>
                      <a:rPr lang="es-MX" sz="2000" b="0" i="1" smtClean="0">
                        <a:latin typeface="+mn-lt"/>
                        <a:ea typeface="Roboto" panose="02000000000000000000" pitchFamily="2" charset="0"/>
                      </a:rPr>
                      <m:t>𝐵</m:t>
                    </m:r>
                  </m:oMath>
                </a14:m>
                <a:r>
                  <a:rPr lang="es-MX" sz="2000" dirty="0">
                    <a:latin typeface="+mn-lt"/>
                    <a:ea typeface="Roboto" panose="02000000000000000000" pitchFamily="2" charset="0"/>
                  </a:rPr>
                  <a:t>, este procedimiento consiste en dos pasos:</a:t>
                </a:r>
              </a:p>
              <a:p>
                <a:pPr marL="584200" indent="-457200">
                  <a:buFont typeface="+mj-lt"/>
                  <a:buAutoNum type="arabicPeriod"/>
                </a:pPr>
                <a:r>
                  <a:rPr lang="es-MX" sz="2000" b="1" dirty="0">
                    <a:latin typeface="+mn-lt"/>
                    <a:ea typeface="Roboto" panose="02000000000000000000" pitchFamily="2" charset="0"/>
                  </a:rPr>
                  <a:t>Probar que </a:t>
                </a:r>
                <a14:m>
                  <m:oMath xmlns:m="http://schemas.openxmlformats.org/officeDocument/2006/math">
                    <m:r>
                      <a:rPr lang="es-MX" sz="2000" b="1" i="1" smtClean="0">
                        <a:latin typeface="+mn-lt"/>
                        <a:ea typeface="Roboto" panose="02000000000000000000" pitchFamily="2" charset="0"/>
                      </a:rPr>
                      <m:t>𝑨</m:t>
                    </m:r>
                    <m:r>
                      <a:rPr lang="es-MX" sz="2000" b="1" i="1" smtClean="0">
                        <a:latin typeface="+mn-lt"/>
                        <a:ea typeface="Cambria Math" panose="02040503050406030204" pitchFamily="18" charset="0"/>
                      </a:rPr>
                      <m:t>⊆</m:t>
                    </m:r>
                    <m:r>
                      <a:rPr lang="es-MX" sz="2000" b="1" i="1" smtClean="0">
                        <a:latin typeface="+mn-lt"/>
                        <a:ea typeface="Roboto" panose="02000000000000000000" pitchFamily="2" charset="0"/>
                      </a:rPr>
                      <m:t>𝑩</m:t>
                    </m:r>
                  </m:oMath>
                </a14:m>
                <a:r>
                  <a:rPr lang="es-MX" sz="2000" dirty="0">
                    <a:latin typeface="+mn-lt"/>
                    <a:ea typeface="Roboto" panose="02000000000000000000" pitchFamily="2" charset="0"/>
                  </a:rPr>
                  <a:t>: Se toma un elemento arbitrario </a:t>
                </a:r>
                <a14:m>
                  <m:oMath xmlns:m="http://schemas.openxmlformats.org/officeDocument/2006/math">
                    <m:r>
                      <a:rPr lang="es-MX" sz="2000" b="0" i="1" smtClean="0">
                        <a:latin typeface="+mn-lt"/>
                        <a:ea typeface="Roboto" panose="02000000000000000000" pitchFamily="2" charset="0"/>
                      </a:rPr>
                      <m:t>𝑥</m:t>
                    </m:r>
                    <m:r>
                      <a:rPr lang="es-MX" sz="2000" b="0" i="1" smtClean="0">
                        <a:latin typeface="+mn-lt"/>
                        <a:ea typeface="Roboto" panose="02000000000000000000" pitchFamily="2" charset="0"/>
                      </a:rPr>
                      <m:t>∈</m:t>
                    </m:r>
                    <m:r>
                      <a:rPr lang="es-MX" sz="2000" b="0" i="1" smtClean="0">
                        <a:latin typeface="+mn-lt"/>
                        <a:ea typeface="Roboto" panose="02000000000000000000" pitchFamily="2" charset="0"/>
                      </a:rPr>
                      <m:t>𝐴</m:t>
                    </m:r>
                  </m:oMath>
                </a14:m>
                <a:r>
                  <a:rPr lang="es-MX" sz="2000" dirty="0">
                    <a:latin typeface="+mn-lt"/>
                    <a:ea typeface="Roboto" panose="02000000000000000000" pitchFamily="2" charset="0"/>
                  </a:rPr>
                  <a:t> y, utilizando las definiciones y propiedades de las operaciones de conjuntos, se demuestra que necesariamente </a:t>
                </a:r>
                <a14:m>
                  <m:oMath xmlns:m="http://schemas.openxmlformats.org/officeDocument/2006/math">
                    <m:r>
                      <a:rPr lang="es-MX" sz="2000" i="1">
                        <a:latin typeface="+mn-lt"/>
                        <a:ea typeface="Roboto" panose="02000000000000000000" pitchFamily="2" charset="0"/>
                      </a:rPr>
                      <m:t>𝑥</m:t>
                    </m:r>
                    <m:r>
                      <a:rPr lang="es-MX" sz="2000" b="0" i="1" smtClean="0">
                        <a:latin typeface="+mn-lt"/>
                        <a:ea typeface="Roboto" panose="02000000000000000000" pitchFamily="2" charset="0"/>
                      </a:rPr>
                      <m:t>∈</m:t>
                    </m:r>
                    <m:r>
                      <a:rPr lang="es-MX" sz="2000" b="0" i="1" smtClean="0">
                        <a:latin typeface="+mn-lt"/>
                        <a:ea typeface="Roboto" panose="02000000000000000000" pitchFamily="2" charset="0"/>
                      </a:rPr>
                      <m:t>𝐵</m:t>
                    </m:r>
                  </m:oMath>
                </a14:m>
                <a:r>
                  <a:rPr lang="es-MX" sz="2000" dirty="0">
                    <a:latin typeface="+mn-lt"/>
                    <a:ea typeface="Roboto" panose="02000000000000000000" pitchFamily="2" charset="0"/>
                  </a:rPr>
                  <a:t>.</a:t>
                </a:r>
              </a:p>
              <a:p>
                <a:pPr marL="584200" indent="-457200">
                  <a:buFont typeface="+mj-lt"/>
                  <a:buAutoNum type="arabicPeriod"/>
                </a:pPr>
                <a:r>
                  <a:rPr lang="es-MX" sz="2000" b="1" dirty="0">
                    <a:latin typeface="+mn-lt"/>
                    <a:ea typeface="Roboto" panose="02000000000000000000" pitchFamily="2" charset="0"/>
                  </a:rPr>
                  <a:t>Probar que </a:t>
                </a:r>
                <a14:m>
                  <m:oMath xmlns:m="http://schemas.openxmlformats.org/officeDocument/2006/math">
                    <m:r>
                      <a:rPr lang="es-MX" sz="2000" b="1" i="1" smtClean="0">
                        <a:latin typeface="+mn-lt"/>
                        <a:ea typeface="Roboto" panose="02000000000000000000" pitchFamily="2" charset="0"/>
                      </a:rPr>
                      <m:t>𝑩</m:t>
                    </m:r>
                    <m:r>
                      <a:rPr lang="es-MX" sz="2000" b="1" i="1" smtClean="0">
                        <a:latin typeface="+mn-lt"/>
                        <a:ea typeface="Cambria Math" panose="02040503050406030204" pitchFamily="18" charset="0"/>
                      </a:rPr>
                      <m:t>⊆</m:t>
                    </m:r>
                    <m:r>
                      <a:rPr lang="es-MX" sz="2000" b="1" i="1" smtClean="0">
                        <a:latin typeface="+mn-lt"/>
                        <a:ea typeface="Roboto" panose="02000000000000000000" pitchFamily="2" charset="0"/>
                      </a:rPr>
                      <m:t>𝑨</m:t>
                    </m:r>
                  </m:oMath>
                </a14:m>
                <a:r>
                  <a:rPr lang="es-MX" sz="2000" dirty="0">
                    <a:latin typeface="+mn-lt"/>
                    <a:ea typeface="Roboto" panose="02000000000000000000" pitchFamily="2" charset="0"/>
                  </a:rPr>
                  <a:t>: Se repite el mismo razonamiento en sentido contrario comando un </a:t>
                </a:r>
                <a14:m>
                  <m:oMath xmlns:m="http://schemas.openxmlformats.org/officeDocument/2006/math">
                    <m:r>
                      <a:rPr lang="es-MX" sz="2000" i="1">
                        <a:latin typeface="+mn-lt"/>
                        <a:ea typeface="Roboto" panose="02000000000000000000" pitchFamily="2" charset="0"/>
                      </a:rPr>
                      <m:t>𝑥</m:t>
                    </m:r>
                    <m:r>
                      <a:rPr lang="es-MX" sz="2000" i="1">
                        <a:latin typeface="+mn-lt"/>
                        <a:ea typeface="Roboto" panose="02000000000000000000" pitchFamily="2" charset="0"/>
                      </a:rPr>
                      <m:t>∈</m:t>
                    </m:r>
                    <m:r>
                      <a:rPr lang="es-MX" sz="2000" i="1">
                        <a:latin typeface="+mn-lt"/>
                        <a:ea typeface="Roboto" panose="02000000000000000000" pitchFamily="2" charset="0"/>
                      </a:rPr>
                      <m:t>𝐵</m:t>
                    </m:r>
                  </m:oMath>
                </a14:m>
                <a:r>
                  <a:rPr lang="es-MX" sz="2000" dirty="0">
                    <a:latin typeface="+mn-lt"/>
                    <a:ea typeface="Roboto" panose="02000000000000000000" pitchFamily="2" charset="0"/>
                  </a:rPr>
                  <a:t> para demostrar que </a:t>
                </a:r>
                <a14:m>
                  <m:oMath xmlns:m="http://schemas.openxmlformats.org/officeDocument/2006/math">
                    <m:r>
                      <a:rPr lang="es-MX" sz="2000" i="1">
                        <a:latin typeface="+mn-lt"/>
                        <a:ea typeface="Roboto" panose="02000000000000000000" pitchFamily="2" charset="0"/>
                      </a:rPr>
                      <m:t>𝑥</m:t>
                    </m:r>
                    <m:r>
                      <a:rPr lang="es-MX" sz="2000" i="1">
                        <a:latin typeface="+mn-lt"/>
                        <a:ea typeface="Roboto" panose="02000000000000000000" pitchFamily="2" charset="0"/>
                      </a:rPr>
                      <m:t>∈</m:t>
                    </m:r>
                    <m:r>
                      <a:rPr lang="es-MX" sz="2000" b="0" i="1" smtClean="0">
                        <a:latin typeface="+mn-lt"/>
                        <a:ea typeface="Roboto" panose="02000000000000000000" pitchFamily="2" charset="0"/>
                      </a:rPr>
                      <m:t>𝐴</m:t>
                    </m:r>
                  </m:oMath>
                </a14:m>
                <a:r>
                  <a:rPr lang="es-MX" sz="2000" dirty="0">
                    <a:latin typeface="+mn-lt"/>
                    <a:ea typeface="Roboto" panose="02000000000000000000" pitchFamily="2" charset="0"/>
                  </a:rPr>
                  <a:t> </a:t>
                </a:r>
              </a:p>
            </p:txBody>
          </p:sp>
        </mc:Choice>
        <mc:Fallback>
          <p:sp>
            <p:nvSpPr>
              <p:cNvPr id="5" name="Google Shape;310;p34">
                <a:extLst>
                  <a:ext uri="{FF2B5EF4-FFF2-40B4-BE49-F238E27FC236}">
                    <a16:creationId xmlns:a16="http://schemas.microsoft.com/office/drawing/2014/main" id="{BBD38E2F-FE36-42C0-B6C0-29D97760C3BC}"/>
                  </a:ext>
                </a:extLst>
              </p:cNvPr>
              <p:cNvSpPr txBox="1">
                <a:spLocks noRot="1" noChangeAspect="1" noMove="1" noResize="1" noEditPoints="1" noAdjustHandles="1" noChangeArrowheads="1" noChangeShapeType="1" noTextEdit="1"/>
              </p:cNvSpPr>
              <p:nvPr/>
            </p:nvSpPr>
            <p:spPr>
              <a:xfrm>
                <a:off x="688257" y="1381081"/>
                <a:ext cx="11044291" cy="2219070"/>
              </a:xfrm>
              <a:prstGeom prst="rect">
                <a:avLst/>
              </a:prstGeom>
              <a:blipFill>
                <a:blip r:embed="rId3"/>
                <a:stretch>
                  <a:fillRect b="-549"/>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7" name="Tabla 4">
                <a:extLst>
                  <a:ext uri="{FF2B5EF4-FFF2-40B4-BE49-F238E27FC236}">
                    <a16:creationId xmlns:a16="http://schemas.microsoft.com/office/drawing/2014/main" id="{E5442E0D-FABE-4C95-AD5C-E5EE7CCE465E}"/>
                  </a:ext>
                </a:extLst>
              </p:cNvPr>
              <p:cNvGraphicFramePr>
                <a:graphicFrameLocks noGrp="1"/>
              </p:cNvGraphicFramePr>
              <p:nvPr>
                <p:extLst>
                  <p:ext uri="{D42A27DB-BD31-4B8C-83A1-F6EECF244321}">
                    <p14:modId xmlns:p14="http://schemas.microsoft.com/office/powerpoint/2010/main" val="2758521509"/>
                  </p:ext>
                </p:extLst>
              </p:nvPr>
            </p:nvGraphicFramePr>
            <p:xfrm>
              <a:off x="2434302" y="3830781"/>
              <a:ext cx="7551787" cy="2215960"/>
            </p:xfrm>
            <a:graphic>
              <a:graphicData uri="http://schemas.openxmlformats.org/drawingml/2006/table">
                <a:tbl>
                  <a:tblPr firstRow="1" bandRow="1">
                    <a:tableStyleId>{AD6A3598-7CB8-4345-8D95-17CE05F158A0}</a:tableStyleId>
                  </a:tblPr>
                  <a:tblGrid>
                    <a:gridCol w="2374490">
                      <a:extLst>
                        <a:ext uri="{9D8B030D-6E8A-4147-A177-3AD203B41FA5}">
                          <a16:colId xmlns:a16="http://schemas.microsoft.com/office/drawing/2014/main" val="3517824357"/>
                        </a:ext>
                      </a:extLst>
                    </a:gridCol>
                    <a:gridCol w="5177297">
                      <a:extLst>
                        <a:ext uri="{9D8B030D-6E8A-4147-A177-3AD203B41FA5}">
                          <a16:colId xmlns:a16="http://schemas.microsoft.com/office/drawing/2014/main" val="2272156606"/>
                        </a:ext>
                      </a:extLst>
                    </a:gridCol>
                  </a:tblGrid>
                  <a:tr h="135768">
                    <a:tc>
                      <a:txBody>
                        <a:bodyPr/>
                        <a:lstStyle/>
                        <a:p>
                          <a:r>
                            <a:rPr lang="es-CO" sz="1800" b="1" dirty="0">
                              <a:latin typeface="+mn-lt"/>
                              <a:ea typeface="Roboto" panose="02000000000000000000" pitchFamily="2" charset="0"/>
                            </a:rPr>
                            <a:t>Operación</a:t>
                          </a:r>
                        </a:p>
                      </a:txBody>
                      <a:tcPr>
                        <a:solidFill>
                          <a:schemeClr val="bg1">
                            <a:lumMod val="95000"/>
                          </a:schemeClr>
                        </a:solidFill>
                      </a:tcPr>
                    </a:tc>
                    <a:tc>
                      <a:txBody>
                        <a:bodyPr/>
                        <a:lstStyle/>
                        <a:p>
                          <a:r>
                            <a:rPr lang="es-CO" sz="1800" b="1" dirty="0">
                              <a:latin typeface="+mn-lt"/>
                              <a:ea typeface="Roboto" panose="02000000000000000000" pitchFamily="2" charset="0"/>
                            </a:rPr>
                            <a:t>Definición</a:t>
                          </a:r>
                        </a:p>
                      </a:txBody>
                      <a:tcPr>
                        <a:solidFill>
                          <a:schemeClr val="bg1">
                            <a:lumMod val="95000"/>
                          </a:schemeClr>
                        </a:solidFill>
                      </a:tcPr>
                    </a:tc>
                    <a:extLst>
                      <a:ext uri="{0D108BD9-81ED-4DB2-BD59-A6C34878D82A}">
                        <a16:rowId xmlns:a16="http://schemas.microsoft.com/office/drawing/2014/main" val="3873507432"/>
                      </a:ext>
                    </a:extLst>
                  </a:tr>
                  <a:tr h="122191">
                    <a:tc>
                      <a:txBody>
                        <a:bodyPr/>
                        <a:lstStyle/>
                        <a:p>
                          <a:r>
                            <a:rPr lang="es-CO" sz="1800" dirty="0">
                              <a:latin typeface="+mn-lt"/>
                              <a:ea typeface="Roboto" panose="02000000000000000000" pitchFamily="2" charset="0"/>
                            </a:rPr>
                            <a:t>Unión</a:t>
                          </a:r>
                        </a:p>
                      </a:txBody>
                      <a:tcPr/>
                    </a:tc>
                    <a:tc>
                      <a:txBody>
                        <a:bodyPr/>
                        <a:lstStyle/>
                        <a:p>
                          <a:pPr/>
                          <a14:m>
                            <m:oMathPara xmlns:m="http://schemas.openxmlformats.org/officeDocument/2006/math">
                              <m:oMathParaPr>
                                <m:jc m:val="centerGroup"/>
                              </m:oMathParaPr>
                              <m:oMath xmlns:m="http://schemas.openxmlformats.org/officeDocument/2006/math">
                                <m:r>
                                  <a:rPr lang="es-MX" sz="1800" b="0" i="1" smtClean="0">
                                    <a:latin typeface="+mn-lt"/>
                                    <a:ea typeface="Roboto" panose="02000000000000000000" pitchFamily="2" charset="0"/>
                                  </a:rPr>
                                  <m:t>𝐴</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𝐵</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𝐴</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𝐵</m:t>
                                </m:r>
                                <m:r>
                                  <a:rPr lang="es-MX" sz="1800" b="0" i="1" smtClean="0">
                                    <a:latin typeface="+mn-lt"/>
                                    <a:ea typeface="Cambria Math" panose="02040503050406030204" pitchFamily="18" charset="0"/>
                                  </a:rPr>
                                  <m:t>=</m:t>
                                </m:r>
                                <m:d>
                                  <m:dPr>
                                    <m:begChr m:val="{"/>
                                    <m:endChr m:val="}"/>
                                    <m:ctrlPr>
                                      <a:rPr lang="es-MX" sz="1800" b="0" i="1" smtClean="0">
                                        <a:latin typeface="+mn-lt"/>
                                        <a:ea typeface="Cambria Math" panose="02040503050406030204" pitchFamily="18" charset="0"/>
                                      </a:rPr>
                                    </m:ctrlPr>
                                  </m:dPr>
                                  <m:e>
                                    <m:r>
                                      <a:rPr lang="es-MX" sz="1800" b="0" i="1" smtClean="0">
                                        <a:latin typeface="+mn-lt"/>
                                        <a:ea typeface="Cambria Math" panose="02040503050406030204" pitchFamily="18" charset="0"/>
                                      </a:rPr>
                                      <m:t>𝑥</m:t>
                                    </m:r>
                                  </m:e>
                                  <m:e>
                                    <m:r>
                                      <a:rPr lang="es-MX" sz="1800" b="0" i="1" smtClean="0">
                                        <a:latin typeface="+mn-lt"/>
                                        <a:ea typeface="Cambria Math" panose="02040503050406030204" pitchFamily="18" charset="0"/>
                                      </a:rPr>
                                      <m:t>𝑥</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𝐴</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𝑥</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𝐵</m:t>
                                    </m:r>
                                  </m:e>
                                </m:d>
                              </m:oMath>
                            </m:oMathPara>
                          </a14:m>
                          <a:endParaRPr lang="es-CO" sz="1800" dirty="0">
                            <a:latin typeface="+mn-lt"/>
                            <a:ea typeface="Roboto" panose="02000000000000000000" pitchFamily="2" charset="0"/>
                          </a:endParaRPr>
                        </a:p>
                      </a:txBody>
                      <a:tcPr/>
                    </a:tc>
                    <a:extLst>
                      <a:ext uri="{0D108BD9-81ED-4DB2-BD59-A6C34878D82A}">
                        <a16:rowId xmlns:a16="http://schemas.microsoft.com/office/drawing/2014/main" val="4259179385"/>
                      </a:ext>
                    </a:extLst>
                  </a:tr>
                  <a:tr h="203652">
                    <a:tc>
                      <a:txBody>
                        <a:bodyPr/>
                        <a:lstStyle/>
                        <a:p>
                          <a:r>
                            <a:rPr lang="es-CO" sz="1800" dirty="0">
                              <a:latin typeface="+mn-lt"/>
                              <a:ea typeface="Roboto" panose="02000000000000000000" pitchFamily="2" charset="0"/>
                            </a:rPr>
                            <a:t>Intersección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mn-lt"/>
                                    <a:ea typeface="Roboto" panose="02000000000000000000" pitchFamily="2" charset="0"/>
                                  </a:rPr>
                                  <m:t>𝐴</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𝐵</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𝐴</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𝐵</m:t>
                                </m:r>
                                <m:r>
                                  <a:rPr lang="es-MX" sz="1800" b="0" i="1" smtClean="0">
                                    <a:latin typeface="+mn-lt"/>
                                    <a:ea typeface="Cambria Math" panose="02040503050406030204" pitchFamily="18" charset="0"/>
                                  </a:rPr>
                                  <m:t>=</m:t>
                                </m:r>
                                <m:d>
                                  <m:dPr>
                                    <m:begChr m:val="{"/>
                                    <m:endChr m:val="}"/>
                                    <m:ctrlPr>
                                      <a:rPr lang="es-MX" sz="1800" b="0" i="1" smtClean="0">
                                        <a:latin typeface="+mn-lt"/>
                                        <a:ea typeface="Cambria Math" panose="02040503050406030204" pitchFamily="18" charset="0"/>
                                      </a:rPr>
                                    </m:ctrlPr>
                                  </m:dPr>
                                  <m:e>
                                    <m:r>
                                      <a:rPr lang="es-MX" sz="1800" b="0" i="1" smtClean="0">
                                        <a:latin typeface="+mn-lt"/>
                                        <a:ea typeface="Cambria Math" panose="02040503050406030204" pitchFamily="18" charset="0"/>
                                      </a:rPr>
                                      <m:t>𝑥</m:t>
                                    </m:r>
                                  </m:e>
                                  <m:e>
                                    <m:r>
                                      <a:rPr lang="es-MX" sz="1800" b="0" i="1" smtClean="0">
                                        <a:latin typeface="+mn-lt"/>
                                        <a:ea typeface="Cambria Math" panose="02040503050406030204" pitchFamily="18" charset="0"/>
                                      </a:rPr>
                                      <m:t>𝑥</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𝐴</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𝑥</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𝐵</m:t>
                                    </m:r>
                                  </m:e>
                                </m:d>
                              </m:oMath>
                            </m:oMathPara>
                          </a14:m>
                          <a:endParaRPr lang="es-CO" sz="1800" dirty="0">
                            <a:latin typeface="+mn-lt"/>
                            <a:ea typeface="Roboto" panose="02000000000000000000" pitchFamily="2" charset="0"/>
                          </a:endParaRPr>
                        </a:p>
                      </a:txBody>
                      <a:tcPr/>
                    </a:tc>
                    <a:extLst>
                      <a:ext uri="{0D108BD9-81ED-4DB2-BD59-A6C34878D82A}">
                        <a16:rowId xmlns:a16="http://schemas.microsoft.com/office/drawing/2014/main" val="1078799334"/>
                      </a:ext>
                    </a:extLst>
                  </a:tr>
                  <a:tr h="203652">
                    <a:tc>
                      <a:txBody>
                        <a:bodyPr/>
                        <a:lstStyle/>
                        <a:p>
                          <a:r>
                            <a:rPr lang="es-CO" sz="1800" dirty="0">
                              <a:latin typeface="+mn-lt"/>
                              <a:ea typeface="Roboto" panose="02000000000000000000" pitchFamily="2" charset="0"/>
                            </a:rPr>
                            <a:t>Diferencia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mn-lt"/>
                                    <a:ea typeface="Roboto" panose="02000000000000000000" pitchFamily="2" charset="0"/>
                                  </a:rPr>
                                  <m:t>𝐴</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𝐵</m:t>
                                </m:r>
                                <m:r>
                                  <a:rPr lang="es-MX" sz="1800" b="0" i="1" smtClean="0">
                                    <a:latin typeface="+mn-lt"/>
                                    <a:ea typeface="Cambria Math" panose="02040503050406030204" pitchFamily="18" charset="0"/>
                                  </a:rPr>
                                  <m:t>=</m:t>
                                </m:r>
                                <m:d>
                                  <m:dPr>
                                    <m:begChr m:val="{"/>
                                    <m:endChr m:val="}"/>
                                    <m:ctrlPr>
                                      <a:rPr lang="es-MX" sz="1800" b="0" i="1" smtClean="0">
                                        <a:latin typeface="+mn-lt"/>
                                        <a:ea typeface="Cambria Math" panose="02040503050406030204" pitchFamily="18" charset="0"/>
                                      </a:rPr>
                                    </m:ctrlPr>
                                  </m:dPr>
                                  <m:e>
                                    <m:r>
                                      <a:rPr lang="es-MX" sz="1800" b="0" i="1" smtClean="0">
                                        <a:latin typeface="+mn-lt"/>
                                        <a:ea typeface="Cambria Math" panose="02040503050406030204" pitchFamily="18" charset="0"/>
                                      </a:rPr>
                                      <m:t>𝑥</m:t>
                                    </m:r>
                                  </m:e>
                                  <m:e>
                                    <m:r>
                                      <a:rPr lang="es-MX" sz="1800" b="0" i="1" smtClean="0">
                                        <a:latin typeface="+mn-lt"/>
                                        <a:ea typeface="Cambria Math" panose="02040503050406030204" pitchFamily="18" charset="0"/>
                                      </a:rPr>
                                      <m:t>𝑥</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𝐴</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𝑥</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𝐵</m:t>
                                    </m:r>
                                  </m:e>
                                </m:d>
                              </m:oMath>
                            </m:oMathPara>
                          </a14:m>
                          <a:endParaRPr lang="es-CO" sz="1800" dirty="0">
                            <a:latin typeface="+mn-lt"/>
                            <a:ea typeface="Roboto" panose="02000000000000000000" pitchFamily="2" charset="0"/>
                          </a:endParaRPr>
                        </a:p>
                      </a:txBody>
                      <a:tcPr/>
                    </a:tc>
                    <a:extLst>
                      <a:ext uri="{0D108BD9-81ED-4DB2-BD59-A6C34878D82A}">
                        <a16:rowId xmlns:a16="http://schemas.microsoft.com/office/drawing/2014/main" val="682340052"/>
                      </a:ext>
                    </a:extLst>
                  </a:tr>
                  <a:tr h="203652">
                    <a:tc>
                      <a:txBody>
                        <a:bodyPr/>
                        <a:lstStyle/>
                        <a:p>
                          <a:r>
                            <a:rPr lang="es-CO" sz="1800" dirty="0">
                              <a:latin typeface="+mn-lt"/>
                              <a:ea typeface="Roboto" panose="02000000000000000000" pitchFamily="2" charset="0"/>
                            </a:rPr>
                            <a:t>Diferencia simétrica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mn-lt"/>
                                    <a:ea typeface="Roboto" panose="02000000000000000000" pitchFamily="2" charset="0"/>
                                  </a:rPr>
                                  <m:t>𝐴</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𝐵</m:t>
                                </m:r>
                                <m:r>
                                  <a:rPr lang="es-MX" sz="1800" b="0" i="1" smtClean="0">
                                    <a:latin typeface="+mn-lt"/>
                                    <a:ea typeface="Cambria Math" panose="02040503050406030204" pitchFamily="18" charset="0"/>
                                  </a:rPr>
                                  <m:t>=</m:t>
                                </m:r>
                                <m:d>
                                  <m:dPr>
                                    <m:begChr m:val="{"/>
                                    <m:endChr m:val="}"/>
                                    <m:ctrlPr>
                                      <a:rPr lang="es-MX" sz="1800" b="0" i="1" smtClean="0">
                                        <a:latin typeface="+mn-lt"/>
                                        <a:ea typeface="Cambria Math" panose="02040503050406030204" pitchFamily="18" charset="0"/>
                                      </a:rPr>
                                    </m:ctrlPr>
                                  </m:dPr>
                                  <m:e>
                                    <m:r>
                                      <a:rPr lang="es-MX" sz="1800" b="0" i="1" smtClean="0">
                                        <a:latin typeface="+mn-lt"/>
                                        <a:ea typeface="Cambria Math" panose="02040503050406030204" pitchFamily="18" charset="0"/>
                                      </a:rPr>
                                      <m:t>𝑥</m:t>
                                    </m:r>
                                  </m:e>
                                  <m:e>
                                    <m:d>
                                      <m:dPr>
                                        <m:ctrlPr>
                                          <a:rPr lang="es-MX" sz="1800" b="0" i="1" smtClean="0">
                                            <a:latin typeface="+mn-lt"/>
                                            <a:ea typeface="Cambria Math" panose="02040503050406030204" pitchFamily="18" charset="0"/>
                                          </a:rPr>
                                        </m:ctrlPr>
                                      </m:dPr>
                                      <m:e>
                                        <m:r>
                                          <a:rPr lang="es-MX" sz="1800" b="0" i="1" smtClean="0">
                                            <a:latin typeface="+mn-lt"/>
                                            <a:ea typeface="Cambria Math" panose="02040503050406030204" pitchFamily="18" charset="0"/>
                                          </a:rPr>
                                          <m:t>𝑥</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𝐴</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𝑥</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𝐵</m:t>
                                        </m:r>
                                      </m:e>
                                    </m:d>
                                    <m:r>
                                      <a:rPr lang="es-MX" sz="1800" b="0" i="1" smtClean="0">
                                        <a:latin typeface="+mn-lt"/>
                                        <a:ea typeface="Cambria Math" panose="02040503050406030204" pitchFamily="18" charset="0"/>
                                      </a:rPr>
                                      <m:t>∨</m:t>
                                    </m:r>
                                    <m:d>
                                      <m:dPr>
                                        <m:ctrlPr>
                                          <a:rPr lang="es-MX" sz="1800" b="0" i="1" smtClean="0">
                                            <a:latin typeface="+mn-lt"/>
                                            <a:ea typeface="Cambria Math" panose="02040503050406030204" pitchFamily="18" charset="0"/>
                                          </a:rPr>
                                        </m:ctrlPr>
                                      </m:dPr>
                                      <m:e>
                                        <m:r>
                                          <a:rPr lang="es-MX" sz="1800" b="0" i="1" smtClean="0">
                                            <a:latin typeface="+mn-lt"/>
                                            <a:ea typeface="Cambria Math" panose="02040503050406030204" pitchFamily="18" charset="0"/>
                                          </a:rPr>
                                          <m:t>𝑥</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𝐵</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𝑥</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𝐴</m:t>
                                        </m:r>
                                      </m:e>
                                    </m:d>
                                  </m:e>
                                </m:d>
                              </m:oMath>
                            </m:oMathPara>
                          </a14:m>
                          <a:endParaRPr lang="es-CO" sz="1800" dirty="0">
                            <a:latin typeface="+mn-lt"/>
                            <a:ea typeface="Roboto" panose="02000000000000000000" pitchFamily="2" charset="0"/>
                          </a:endParaRPr>
                        </a:p>
                      </a:txBody>
                      <a:tcPr/>
                    </a:tc>
                    <a:extLst>
                      <a:ext uri="{0D108BD9-81ED-4DB2-BD59-A6C34878D82A}">
                        <a16:rowId xmlns:a16="http://schemas.microsoft.com/office/drawing/2014/main" val="3118226202"/>
                      </a:ext>
                    </a:extLst>
                  </a:tr>
                  <a:tr h="203935">
                    <a:tc>
                      <a:txBody>
                        <a:bodyPr/>
                        <a:lstStyle/>
                        <a:p>
                          <a:r>
                            <a:rPr lang="es-CO" sz="1800" dirty="0">
                              <a:latin typeface="+mn-lt"/>
                              <a:ea typeface="Roboto" panose="02000000000000000000" pitchFamily="2" charset="0"/>
                            </a:rPr>
                            <a:t>Complemento</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p>
                                  <m:sSupPr>
                                    <m:ctrlPr>
                                      <a:rPr lang="es-MX" sz="1800" b="0" i="1" smtClean="0">
                                        <a:latin typeface="+mn-lt"/>
                                        <a:ea typeface="Roboto" panose="02000000000000000000" pitchFamily="2" charset="0"/>
                                      </a:rPr>
                                    </m:ctrlPr>
                                  </m:sSupPr>
                                  <m:e>
                                    <m:r>
                                      <a:rPr lang="es-MX" sz="1800" b="0" i="1" smtClean="0">
                                        <a:latin typeface="+mn-lt"/>
                                        <a:ea typeface="Roboto" panose="02000000000000000000" pitchFamily="2" charset="0"/>
                                      </a:rPr>
                                      <m:t>𝐴</m:t>
                                    </m:r>
                                  </m:e>
                                  <m:sup>
                                    <m:r>
                                      <a:rPr lang="es-MX" sz="1800" b="0" i="1" smtClean="0">
                                        <a:latin typeface="+mn-lt"/>
                                        <a:ea typeface="Roboto" panose="02000000000000000000" pitchFamily="2" charset="0"/>
                                      </a:rPr>
                                      <m:t>′</m:t>
                                    </m:r>
                                  </m:sup>
                                </m:sSup>
                                <m:r>
                                  <a:rPr lang="es-MX" sz="1800" b="0" i="1" smtClean="0">
                                    <a:latin typeface="+mn-lt"/>
                                    <a:ea typeface="Cambria Math" panose="02040503050406030204" pitchFamily="18" charset="0"/>
                                  </a:rPr>
                                  <m:t>=</m:t>
                                </m:r>
                                <m:sSup>
                                  <m:sSupPr>
                                    <m:ctrlPr>
                                      <a:rPr lang="es-MX" sz="1800" b="0" i="1" smtClean="0">
                                        <a:latin typeface="+mn-lt"/>
                                        <a:ea typeface="Cambria Math" panose="02040503050406030204" pitchFamily="18" charset="0"/>
                                      </a:rPr>
                                    </m:ctrlPr>
                                  </m:sSupPr>
                                  <m:e>
                                    <m:r>
                                      <a:rPr lang="es-MX" sz="1800" b="0" i="1" smtClean="0">
                                        <a:latin typeface="+mn-lt"/>
                                        <a:ea typeface="Cambria Math" panose="02040503050406030204" pitchFamily="18" charset="0"/>
                                      </a:rPr>
                                      <m:t>𝐴</m:t>
                                    </m:r>
                                  </m:e>
                                  <m:sup>
                                    <m:r>
                                      <a:rPr lang="es-MX" sz="1800" b="0" i="1" smtClean="0">
                                        <a:latin typeface="+mn-lt"/>
                                        <a:ea typeface="Cambria Math" panose="02040503050406030204" pitchFamily="18" charset="0"/>
                                      </a:rPr>
                                      <m:t>𝐶</m:t>
                                    </m:r>
                                  </m:sup>
                                </m:sSup>
                                <m:r>
                                  <a:rPr lang="es-MX" sz="1800" b="0" i="1" smtClean="0">
                                    <a:latin typeface="+mn-lt"/>
                                    <a:ea typeface="Cambria Math" panose="02040503050406030204" pitchFamily="18" charset="0"/>
                                  </a:rPr>
                                  <m:t>=</m:t>
                                </m:r>
                                <m:acc>
                                  <m:accPr>
                                    <m:chr m:val="̅"/>
                                    <m:ctrlPr>
                                      <a:rPr lang="es-MX" sz="1800" b="0" i="1" smtClean="0">
                                        <a:latin typeface="+mn-lt"/>
                                        <a:ea typeface="Cambria Math" panose="02040503050406030204" pitchFamily="18" charset="0"/>
                                      </a:rPr>
                                    </m:ctrlPr>
                                  </m:accPr>
                                  <m:e>
                                    <m:r>
                                      <a:rPr lang="es-MX" sz="1800" b="0" i="1" smtClean="0">
                                        <a:latin typeface="+mn-lt"/>
                                        <a:ea typeface="Cambria Math" panose="02040503050406030204" pitchFamily="18" charset="0"/>
                                      </a:rPr>
                                      <m:t>𝐴</m:t>
                                    </m:r>
                                  </m:e>
                                </m:acc>
                                <m:r>
                                  <a:rPr lang="es-MX" sz="1800" b="0" i="1" smtClean="0">
                                    <a:latin typeface="+mn-lt"/>
                                    <a:ea typeface="Cambria Math" panose="02040503050406030204" pitchFamily="18" charset="0"/>
                                  </a:rPr>
                                  <m:t>=</m:t>
                                </m:r>
                                <m:d>
                                  <m:dPr>
                                    <m:begChr m:val="{"/>
                                    <m:endChr m:val="}"/>
                                    <m:ctrlPr>
                                      <a:rPr lang="es-MX" sz="1800" b="0" i="1" smtClean="0">
                                        <a:latin typeface="+mn-lt"/>
                                        <a:ea typeface="Cambria Math" panose="02040503050406030204" pitchFamily="18" charset="0"/>
                                      </a:rPr>
                                    </m:ctrlPr>
                                  </m:dPr>
                                  <m:e>
                                    <m:r>
                                      <a:rPr lang="es-MX" sz="1800" b="0" i="1" smtClean="0">
                                        <a:latin typeface="+mn-lt"/>
                                        <a:ea typeface="Cambria Math" panose="02040503050406030204" pitchFamily="18" charset="0"/>
                                      </a:rPr>
                                      <m:t>𝑥</m:t>
                                    </m:r>
                                  </m:e>
                                  <m:e>
                                    <m:r>
                                      <a:rPr lang="es-MX" sz="1800" b="0" i="1" smtClean="0">
                                        <a:latin typeface="+mn-lt"/>
                                        <a:ea typeface="Cambria Math" panose="02040503050406030204" pitchFamily="18" charset="0"/>
                                      </a:rPr>
                                      <m:t>𝑥</m:t>
                                    </m:r>
                                    <m:r>
                                      <a:rPr lang="es-MX" sz="1800" b="0" i="1" smtClean="0">
                                        <a:latin typeface="+mn-lt"/>
                                        <a:ea typeface="Cambria Math" panose="02040503050406030204" pitchFamily="18" charset="0"/>
                                      </a:rPr>
                                      <m:t>∉</m:t>
                                    </m:r>
                                    <m:r>
                                      <a:rPr lang="es-MX" sz="1800" b="0" i="1" smtClean="0">
                                        <a:latin typeface="+mn-lt"/>
                                        <a:ea typeface="Cambria Math" panose="02040503050406030204" pitchFamily="18" charset="0"/>
                                      </a:rPr>
                                      <m:t>𝐴</m:t>
                                    </m:r>
                                  </m:e>
                                </m:d>
                              </m:oMath>
                            </m:oMathPara>
                          </a14:m>
                          <a:endParaRPr lang="es-CO" sz="1800" dirty="0">
                            <a:latin typeface="+mn-lt"/>
                            <a:ea typeface="Roboto" panose="02000000000000000000" pitchFamily="2" charset="0"/>
                          </a:endParaRPr>
                        </a:p>
                      </a:txBody>
                      <a:tcPr/>
                    </a:tc>
                    <a:extLst>
                      <a:ext uri="{0D108BD9-81ED-4DB2-BD59-A6C34878D82A}">
                        <a16:rowId xmlns:a16="http://schemas.microsoft.com/office/drawing/2014/main" val="2217682141"/>
                      </a:ext>
                    </a:extLst>
                  </a:tr>
                </a:tbl>
              </a:graphicData>
            </a:graphic>
          </p:graphicFrame>
        </mc:Choice>
        <mc:Fallback>
          <p:graphicFrame>
            <p:nvGraphicFramePr>
              <p:cNvPr id="7" name="Tabla 4">
                <a:extLst>
                  <a:ext uri="{FF2B5EF4-FFF2-40B4-BE49-F238E27FC236}">
                    <a16:creationId xmlns:a16="http://schemas.microsoft.com/office/drawing/2014/main" id="{E5442E0D-FABE-4C95-AD5C-E5EE7CCE465E}"/>
                  </a:ext>
                </a:extLst>
              </p:cNvPr>
              <p:cNvGraphicFramePr>
                <a:graphicFrameLocks noGrp="1"/>
              </p:cNvGraphicFramePr>
              <p:nvPr>
                <p:extLst>
                  <p:ext uri="{D42A27DB-BD31-4B8C-83A1-F6EECF244321}">
                    <p14:modId xmlns:p14="http://schemas.microsoft.com/office/powerpoint/2010/main" val="2758521509"/>
                  </p:ext>
                </p:extLst>
              </p:nvPr>
            </p:nvGraphicFramePr>
            <p:xfrm>
              <a:off x="2434302" y="3830781"/>
              <a:ext cx="7551787" cy="2215960"/>
            </p:xfrm>
            <a:graphic>
              <a:graphicData uri="http://schemas.openxmlformats.org/drawingml/2006/table">
                <a:tbl>
                  <a:tblPr firstRow="1" bandRow="1">
                    <a:tableStyleId>{AD6A3598-7CB8-4345-8D95-17CE05F158A0}</a:tableStyleId>
                  </a:tblPr>
                  <a:tblGrid>
                    <a:gridCol w="2374490">
                      <a:extLst>
                        <a:ext uri="{9D8B030D-6E8A-4147-A177-3AD203B41FA5}">
                          <a16:colId xmlns:a16="http://schemas.microsoft.com/office/drawing/2014/main" val="3517824357"/>
                        </a:ext>
                      </a:extLst>
                    </a:gridCol>
                    <a:gridCol w="5177297">
                      <a:extLst>
                        <a:ext uri="{9D8B030D-6E8A-4147-A177-3AD203B41FA5}">
                          <a16:colId xmlns:a16="http://schemas.microsoft.com/office/drawing/2014/main" val="2272156606"/>
                        </a:ext>
                      </a:extLst>
                    </a:gridCol>
                  </a:tblGrid>
                  <a:tr h="365760">
                    <a:tc>
                      <a:txBody>
                        <a:bodyPr/>
                        <a:lstStyle/>
                        <a:p>
                          <a:r>
                            <a:rPr lang="es-CO" sz="1800" b="1" dirty="0">
                              <a:latin typeface="+mn-lt"/>
                              <a:ea typeface="Roboto" panose="02000000000000000000" pitchFamily="2" charset="0"/>
                            </a:rPr>
                            <a:t>Operación</a:t>
                          </a:r>
                        </a:p>
                      </a:txBody>
                      <a:tcPr>
                        <a:solidFill>
                          <a:schemeClr val="bg1">
                            <a:lumMod val="95000"/>
                          </a:schemeClr>
                        </a:solidFill>
                      </a:tcPr>
                    </a:tc>
                    <a:tc>
                      <a:txBody>
                        <a:bodyPr/>
                        <a:lstStyle/>
                        <a:p>
                          <a:r>
                            <a:rPr lang="es-CO" sz="1800" b="1" dirty="0">
                              <a:latin typeface="+mn-lt"/>
                              <a:ea typeface="Roboto" panose="02000000000000000000" pitchFamily="2" charset="0"/>
                            </a:rPr>
                            <a:t>Definición</a:t>
                          </a:r>
                        </a:p>
                      </a:txBody>
                      <a:tcPr>
                        <a:solidFill>
                          <a:schemeClr val="bg1">
                            <a:lumMod val="95000"/>
                          </a:schemeClr>
                        </a:solidFill>
                      </a:tcPr>
                    </a:tc>
                    <a:extLst>
                      <a:ext uri="{0D108BD9-81ED-4DB2-BD59-A6C34878D82A}">
                        <a16:rowId xmlns:a16="http://schemas.microsoft.com/office/drawing/2014/main" val="3873507432"/>
                      </a:ext>
                    </a:extLst>
                  </a:tr>
                  <a:tr h="365760">
                    <a:tc>
                      <a:txBody>
                        <a:bodyPr/>
                        <a:lstStyle/>
                        <a:p>
                          <a:r>
                            <a:rPr lang="es-CO" sz="1800" dirty="0">
                              <a:latin typeface="+mn-lt"/>
                              <a:ea typeface="Roboto" panose="02000000000000000000" pitchFamily="2" charset="0"/>
                            </a:rPr>
                            <a:t>Unión</a:t>
                          </a:r>
                        </a:p>
                      </a:txBody>
                      <a:tcPr/>
                    </a:tc>
                    <a:tc>
                      <a:txBody>
                        <a:bodyPr/>
                        <a:lstStyle/>
                        <a:p>
                          <a:endParaRPr lang="es-CO"/>
                        </a:p>
                      </a:txBody>
                      <a:tcPr>
                        <a:blipFill>
                          <a:blip r:embed="rId4"/>
                          <a:stretch>
                            <a:fillRect l="-46000" t="-108333" r="-118" b="-426667"/>
                          </a:stretch>
                        </a:blipFill>
                      </a:tcPr>
                    </a:tc>
                    <a:extLst>
                      <a:ext uri="{0D108BD9-81ED-4DB2-BD59-A6C34878D82A}">
                        <a16:rowId xmlns:a16="http://schemas.microsoft.com/office/drawing/2014/main" val="4259179385"/>
                      </a:ext>
                    </a:extLst>
                  </a:tr>
                  <a:tr h="365760">
                    <a:tc>
                      <a:txBody>
                        <a:bodyPr/>
                        <a:lstStyle/>
                        <a:p>
                          <a:r>
                            <a:rPr lang="es-CO" sz="1800" dirty="0">
                              <a:latin typeface="+mn-lt"/>
                              <a:ea typeface="Roboto" panose="02000000000000000000" pitchFamily="2" charset="0"/>
                            </a:rPr>
                            <a:t>Intersección </a:t>
                          </a:r>
                        </a:p>
                      </a:txBody>
                      <a:tcPr/>
                    </a:tc>
                    <a:tc>
                      <a:txBody>
                        <a:bodyPr/>
                        <a:lstStyle/>
                        <a:p>
                          <a:endParaRPr lang="es-CO"/>
                        </a:p>
                      </a:txBody>
                      <a:tcPr>
                        <a:blipFill>
                          <a:blip r:embed="rId4"/>
                          <a:stretch>
                            <a:fillRect l="-46000" t="-208333" r="-118" b="-326667"/>
                          </a:stretch>
                        </a:blipFill>
                      </a:tcPr>
                    </a:tc>
                    <a:extLst>
                      <a:ext uri="{0D108BD9-81ED-4DB2-BD59-A6C34878D82A}">
                        <a16:rowId xmlns:a16="http://schemas.microsoft.com/office/drawing/2014/main" val="1078799334"/>
                      </a:ext>
                    </a:extLst>
                  </a:tr>
                  <a:tr h="365760">
                    <a:tc>
                      <a:txBody>
                        <a:bodyPr/>
                        <a:lstStyle/>
                        <a:p>
                          <a:r>
                            <a:rPr lang="es-CO" sz="1800" dirty="0">
                              <a:latin typeface="+mn-lt"/>
                              <a:ea typeface="Roboto" panose="02000000000000000000" pitchFamily="2" charset="0"/>
                            </a:rPr>
                            <a:t>Diferencia</a:t>
                          </a:r>
                        </a:p>
                      </a:txBody>
                      <a:tcPr/>
                    </a:tc>
                    <a:tc>
                      <a:txBody>
                        <a:bodyPr/>
                        <a:lstStyle/>
                        <a:p>
                          <a:endParaRPr lang="es-CO"/>
                        </a:p>
                      </a:txBody>
                      <a:tcPr>
                        <a:blipFill>
                          <a:blip r:embed="rId4"/>
                          <a:stretch>
                            <a:fillRect l="-46000" t="-308333" r="-118" b="-226667"/>
                          </a:stretch>
                        </a:blipFill>
                      </a:tcPr>
                    </a:tc>
                    <a:extLst>
                      <a:ext uri="{0D108BD9-81ED-4DB2-BD59-A6C34878D82A}">
                        <a16:rowId xmlns:a16="http://schemas.microsoft.com/office/drawing/2014/main" val="682340052"/>
                      </a:ext>
                    </a:extLst>
                  </a:tr>
                  <a:tr h="365760">
                    <a:tc>
                      <a:txBody>
                        <a:bodyPr/>
                        <a:lstStyle/>
                        <a:p>
                          <a:r>
                            <a:rPr lang="es-CO" sz="1800" dirty="0">
                              <a:latin typeface="+mn-lt"/>
                              <a:ea typeface="Roboto" panose="02000000000000000000" pitchFamily="2" charset="0"/>
                            </a:rPr>
                            <a:t>Diferencia simétrica</a:t>
                          </a:r>
                        </a:p>
                      </a:txBody>
                      <a:tcPr/>
                    </a:tc>
                    <a:tc>
                      <a:txBody>
                        <a:bodyPr/>
                        <a:lstStyle/>
                        <a:p>
                          <a:endParaRPr lang="es-CO"/>
                        </a:p>
                      </a:txBody>
                      <a:tcPr>
                        <a:blipFill>
                          <a:blip r:embed="rId4"/>
                          <a:stretch>
                            <a:fillRect l="-46000" t="-408333" r="-118" b="-126667"/>
                          </a:stretch>
                        </a:blipFill>
                      </a:tcPr>
                    </a:tc>
                    <a:extLst>
                      <a:ext uri="{0D108BD9-81ED-4DB2-BD59-A6C34878D82A}">
                        <a16:rowId xmlns:a16="http://schemas.microsoft.com/office/drawing/2014/main" val="3118226202"/>
                      </a:ext>
                    </a:extLst>
                  </a:tr>
                  <a:tr h="387160">
                    <a:tc>
                      <a:txBody>
                        <a:bodyPr/>
                        <a:lstStyle/>
                        <a:p>
                          <a:r>
                            <a:rPr lang="es-CO" sz="1800" dirty="0">
                              <a:latin typeface="+mn-lt"/>
                              <a:ea typeface="Roboto" panose="02000000000000000000" pitchFamily="2" charset="0"/>
                            </a:rPr>
                            <a:t>Complemento</a:t>
                          </a:r>
                        </a:p>
                      </a:txBody>
                      <a:tcPr/>
                    </a:tc>
                    <a:tc>
                      <a:txBody>
                        <a:bodyPr/>
                        <a:lstStyle/>
                        <a:p>
                          <a:endParaRPr lang="es-CO"/>
                        </a:p>
                      </a:txBody>
                      <a:tcPr>
                        <a:blipFill>
                          <a:blip r:embed="rId4"/>
                          <a:stretch>
                            <a:fillRect l="-46000" t="-476563" r="-118" b="-18750"/>
                          </a:stretch>
                        </a:blipFill>
                      </a:tcPr>
                    </a:tc>
                    <a:extLst>
                      <a:ext uri="{0D108BD9-81ED-4DB2-BD59-A6C34878D82A}">
                        <a16:rowId xmlns:a16="http://schemas.microsoft.com/office/drawing/2014/main" val="2217682141"/>
                      </a:ext>
                    </a:extLst>
                  </a:tr>
                </a:tbl>
              </a:graphicData>
            </a:graphic>
          </p:graphicFrame>
        </mc:Fallback>
      </mc:AlternateContent>
    </p:spTree>
    <p:extLst>
      <p:ext uri="{BB962C8B-B14F-4D97-AF65-F5344CB8AC3E}">
        <p14:creationId xmlns:p14="http://schemas.microsoft.com/office/powerpoint/2010/main" val="312965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Identidades</a:t>
            </a:r>
            <a:endParaRPr dirty="0"/>
          </a:p>
        </p:txBody>
      </p:sp>
      <p:sp>
        <p:nvSpPr>
          <p:cNvPr id="20" name="CuadroTexto 19">
            <a:extLst>
              <a:ext uri="{FF2B5EF4-FFF2-40B4-BE49-F238E27FC236}">
                <a16:creationId xmlns:a16="http://schemas.microsoft.com/office/drawing/2014/main" id="{EC981F08-C206-4A60-8BF8-5D902A118C7A}"/>
              </a:ext>
            </a:extLst>
          </p:cNvPr>
          <p:cNvSpPr txBox="1"/>
          <p:nvPr/>
        </p:nvSpPr>
        <p:spPr>
          <a:xfrm>
            <a:off x="916650" y="876183"/>
            <a:ext cx="10587093" cy="492443"/>
          </a:xfrm>
          <a:prstGeom prst="rect">
            <a:avLst/>
          </a:prstGeom>
          <a:noFill/>
        </p:spPr>
        <p:txBody>
          <a:bodyPr wrap="square" rtlCol="0">
            <a:spAutoFit/>
          </a:bodyPr>
          <a:lstStyle/>
          <a:p>
            <a:r>
              <a:rPr lang="es-MX" sz="2600" b="1" dirty="0">
                <a:solidFill>
                  <a:schemeClr val="accent2"/>
                </a:solidFill>
                <a:ea typeface="Roboto" panose="02000000000000000000" pitchFamily="2" charset="0"/>
              </a:rPr>
              <a:t>Demostración por doble inclusión</a:t>
            </a:r>
          </a:p>
        </p:txBody>
      </p:sp>
      <mc:AlternateContent xmlns:mc="http://schemas.openxmlformats.org/markup-compatibility/2006">
        <mc:Choice xmlns:a14="http://schemas.microsoft.com/office/drawing/2010/main" Requires="a14">
          <p:sp>
            <p:nvSpPr>
              <p:cNvPr id="5" name="Google Shape;310;p34">
                <a:extLst>
                  <a:ext uri="{FF2B5EF4-FFF2-40B4-BE49-F238E27FC236}">
                    <a16:creationId xmlns:a16="http://schemas.microsoft.com/office/drawing/2014/main" id="{BBD38E2F-FE36-42C0-B6C0-29D97760C3BC}"/>
                  </a:ext>
                </a:extLst>
              </p:cNvPr>
              <p:cNvSpPr txBox="1">
                <a:spLocks/>
              </p:cNvSpPr>
              <p:nvPr/>
            </p:nvSpPr>
            <p:spPr>
              <a:xfrm>
                <a:off x="788827" y="1345695"/>
                <a:ext cx="11044291" cy="49244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latin typeface="+mn-lt"/>
                    <a:ea typeface="Roboto" panose="02000000000000000000" pitchFamily="2" charset="0"/>
                  </a:rPr>
                  <a:t>Ejemplo</a:t>
                </a:r>
                <a:r>
                  <a:rPr lang="es-MX" sz="2000" dirty="0">
                    <a:latin typeface="+mn-lt"/>
                    <a:ea typeface="Roboto" panose="02000000000000000000" pitchFamily="2" charset="0"/>
                  </a:rPr>
                  <a:t>: Demuestre la ley de Morgan: </a:t>
                </a:r>
                <a14:m>
                  <m:oMath xmlns:m="http://schemas.openxmlformats.org/officeDocument/2006/math">
                    <m:sSup>
                      <m:sSupPr>
                        <m:ctrlPr>
                          <a:rPr lang="es-MX" sz="2000" b="0" i="1" smtClean="0">
                            <a:latin typeface="+mn-lt"/>
                            <a:ea typeface="Roboto" panose="02000000000000000000" pitchFamily="2" charset="0"/>
                          </a:rPr>
                        </m:ctrlPr>
                      </m:sSupPr>
                      <m:e>
                        <m:d>
                          <m:dPr>
                            <m:ctrlPr>
                              <a:rPr lang="es-MX" sz="2000" b="0" i="1" smtClean="0">
                                <a:latin typeface="+mn-lt"/>
                                <a:ea typeface="Roboto" panose="02000000000000000000" pitchFamily="2" charset="0"/>
                              </a:rPr>
                            </m:ctrlPr>
                          </m:dPr>
                          <m:e>
                            <m:r>
                              <a:rPr lang="es-MX" sz="2000" b="0" i="1" smtClean="0">
                                <a:latin typeface="+mn-lt"/>
                                <a:ea typeface="Roboto" panose="02000000000000000000" pitchFamily="2" charset="0"/>
                              </a:rPr>
                              <m:t>𝐴</m:t>
                            </m:r>
                            <m:r>
                              <a:rPr lang="es-MX" sz="2000" b="0" i="1" smtClean="0">
                                <a:latin typeface="+mn-lt"/>
                                <a:ea typeface="Cambria Math" panose="02040503050406030204" pitchFamily="18" charset="0"/>
                              </a:rPr>
                              <m:t>⋅</m:t>
                            </m:r>
                            <m:r>
                              <a:rPr lang="es-MX" sz="2000" b="0" i="1" smtClean="0">
                                <a:latin typeface="+mn-lt"/>
                                <a:ea typeface="Roboto" panose="02000000000000000000" pitchFamily="2" charset="0"/>
                              </a:rPr>
                              <m:t>𝐵</m:t>
                            </m:r>
                          </m:e>
                        </m:d>
                      </m:e>
                      <m:sup>
                        <m:r>
                          <a:rPr lang="es-MX" sz="2000" b="0" i="1" smtClean="0">
                            <a:latin typeface="+mn-lt"/>
                            <a:ea typeface="Roboto" panose="02000000000000000000" pitchFamily="2" charset="0"/>
                          </a:rPr>
                          <m:t>′</m:t>
                        </m:r>
                      </m:sup>
                    </m:sSup>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𝐴</m:t>
                        </m:r>
                      </m:e>
                      <m:sup>
                        <m:r>
                          <a:rPr lang="es-MX" sz="2000" b="0" i="1" smtClean="0">
                            <a:latin typeface="+mn-lt"/>
                            <a:ea typeface="Roboto" panose="02000000000000000000" pitchFamily="2" charset="0"/>
                          </a:rPr>
                          <m:t>′</m:t>
                        </m:r>
                      </m:sup>
                    </m:sSup>
                    <m:r>
                      <a:rPr lang="es-MX" sz="2000" b="0" i="1" smtClean="0">
                        <a:latin typeface="+mn-lt"/>
                        <a:ea typeface="Roboto" panose="02000000000000000000" pitchFamily="2" charset="0"/>
                      </a:rPr>
                      <m:t>+</m:t>
                    </m:r>
                    <m:r>
                      <a:rPr lang="es-MX" sz="2000" b="0" i="1" smtClean="0">
                        <a:latin typeface="+mn-lt"/>
                        <a:ea typeface="Roboto" panose="02000000000000000000" pitchFamily="2" charset="0"/>
                      </a:rPr>
                      <m:t>𝐵</m:t>
                    </m:r>
                    <m:r>
                      <a:rPr lang="es-MX" sz="2000" b="0" i="1" smtClean="0">
                        <a:latin typeface="+mn-lt"/>
                        <a:ea typeface="Roboto" panose="02000000000000000000" pitchFamily="2" charset="0"/>
                      </a:rPr>
                      <m:t>′</m:t>
                    </m:r>
                  </m:oMath>
                </a14:m>
                <a:endParaRPr lang="es-MX" sz="2000" b="0" dirty="0">
                  <a:latin typeface="+mn-lt"/>
                  <a:ea typeface="Roboto" panose="02000000000000000000" pitchFamily="2" charset="0"/>
                </a:endParaRPr>
              </a:p>
            </p:txBody>
          </p:sp>
        </mc:Choice>
        <mc:Fallback>
          <p:sp>
            <p:nvSpPr>
              <p:cNvPr id="5" name="Google Shape;310;p34">
                <a:extLst>
                  <a:ext uri="{FF2B5EF4-FFF2-40B4-BE49-F238E27FC236}">
                    <a16:creationId xmlns:a16="http://schemas.microsoft.com/office/drawing/2014/main" id="{BBD38E2F-FE36-42C0-B6C0-29D97760C3BC}"/>
                  </a:ext>
                </a:extLst>
              </p:cNvPr>
              <p:cNvSpPr txBox="1">
                <a:spLocks noRot="1" noChangeAspect="1" noMove="1" noResize="1" noEditPoints="1" noAdjustHandles="1" noChangeArrowheads="1" noChangeShapeType="1" noTextEdit="1"/>
              </p:cNvSpPr>
              <p:nvPr/>
            </p:nvSpPr>
            <p:spPr>
              <a:xfrm>
                <a:off x="788827" y="1345695"/>
                <a:ext cx="11044291" cy="492443"/>
              </a:xfrm>
              <a:prstGeom prst="rect">
                <a:avLst/>
              </a:prstGeom>
              <a:blipFill>
                <a:blip r:embed="rId3"/>
                <a:stretch>
                  <a:fillRect b="-27160"/>
                </a:stretch>
              </a:blipFill>
              <a:ln>
                <a:noFill/>
              </a:ln>
            </p:spPr>
            <p:txBody>
              <a:bodyPr/>
              <a:lstStyle/>
              <a:p>
                <a:r>
                  <a:rPr lang="es-CO">
                    <a:noFill/>
                  </a:rPr>
                  <a:t> </a:t>
                </a:r>
              </a:p>
            </p:txBody>
          </p:sp>
        </mc:Fallback>
      </mc:AlternateContent>
      <p:sp>
        <p:nvSpPr>
          <p:cNvPr id="6" name="Google Shape;310;p34">
            <a:extLst>
              <a:ext uri="{FF2B5EF4-FFF2-40B4-BE49-F238E27FC236}">
                <a16:creationId xmlns:a16="http://schemas.microsoft.com/office/drawing/2014/main" id="{F3B3338C-C0B5-4DD7-BC27-A441E155F149}"/>
              </a:ext>
            </a:extLst>
          </p:cNvPr>
          <p:cNvSpPr txBox="1">
            <a:spLocks/>
          </p:cNvSpPr>
          <p:nvPr/>
        </p:nvSpPr>
        <p:spPr>
          <a:xfrm>
            <a:off x="788827" y="1973787"/>
            <a:ext cx="11044291" cy="59057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1800" b="1" dirty="0">
                <a:latin typeface="+mn-lt"/>
                <a:ea typeface="Roboto" panose="02000000000000000000" pitchFamily="2" charset="0"/>
              </a:rPr>
              <a:t>Demostración por doble inclusión</a:t>
            </a:r>
            <a:r>
              <a:rPr lang="es-MX" sz="1800" dirty="0">
                <a:latin typeface="+mn-lt"/>
                <a:ea typeface="Roboto" panose="02000000000000000000" pitchFamily="2" charset="0"/>
              </a:rPr>
              <a:t>:</a:t>
            </a:r>
          </a:p>
        </p:txBody>
      </p:sp>
      <mc:AlternateContent xmlns:mc="http://schemas.openxmlformats.org/markup-compatibility/2006">
        <mc:Choice xmlns:a14="http://schemas.microsoft.com/office/drawing/2010/main" Requires="a14">
          <p:graphicFrame>
            <p:nvGraphicFramePr>
              <p:cNvPr id="7" name="Tabla 2">
                <a:extLst>
                  <a:ext uri="{FF2B5EF4-FFF2-40B4-BE49-F238E27FC236}">
                    <a16:creationId xmlns:a16="http://schemas.microsoft.com/office/drawing/2014/main" id="{3A1905AC-BF90-4405-B354-9E9CCD510688}"/>
                  </a:ext>
                </a:extLst>
              </p:cNvPr>
              <p:cNvGraphicFramePr>
                <a:graphicFrameLocks noGrp="1"/>
              </p:cNvGraphicFramePr>
              <p:nvPr>
                <p:extLst>
                  <p:ext uri="{D42A27DB-BD31-4B8C-83A1-F6EECF244321}">
                    <p14:modId xmlns:p14="http://schemas.microsoft.com/office/powerpoint/2010/main" val="3223646912"/>
                  </p:ext>
                </p:extLst>
              </p:nvPr>
            </p:nvGraphicFramePr>
            <p:xfrm>
              <a:off x="1025762" y="3215184"/>
              <a:ext cx="4746946" cy="2989644"/>
            </p:xfrm>
            <a:graphic>
              <a:graphicData uri="http://schemas.openxmlformats.org/drawingml/2006/table">
                <a:tbl>
                  <a:tblPr firstRow="1" bandRow="1">
                    <a:tableStyleId>{AD6A3598-7CB8-4345-8D95-17CE05F158A0}</a:tableStyleId>
                  </a:tblPr>
                  <a:tblGrid>
                    <a:gridCol w="401237">
                      <a:extLst>
                        <a:ext uri="{9D8B030D-6E8A-4147-A177-3AD203B41FA5}">
                          <a16:colId xmlns:a16="http://schemas.microsoft.com/office/drawing/2014/main" val="1610952478"/>
                        </a:ext>
                      </a:extLst>
                    </a:gridCol>
                    <a:gridCol w="1635749">
                      <a:extLst>
                        <a:ext uri="{9D8B030D-6E8A-4147-A177-3AD203B41FA5}">
                          <a16:colId xmlns:a16="http://schemas.microsoft.com/office/drawing/2014/main" val="2942974496"/>
                        </a:ext>
                      </a:extLst>
                    </a:gridCol>
                    <a:gridCol w="2709960">
                      <a:extLst>
                        <a:ext uri="{9D8B030D-6E8A-4147-A177-3AD203B41FA5}">
                          <a16:colId xmlns:a16="http://schemas.microsoft.com/office/drawing/2014/main" val="4281859008"/>
                        </a:ext>
                      </a:extLst>
                    </a:gridCol>
                  </a:tblGrid>
                  <a:tr h="155944">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129954">
                    <a:tc>
                      <a:txBody>
                        <a:bodyPr/>
                        <a:lstStyle/>
                        <a:p>
                          <a:pPr/>
                          <a14:m>
                            <m:oMathPara xmlns:m="http://schemas.openxmlformats.org/officeDocument/2006/math">
                              <m:oMathParaPr>
                                <m:jc m:val="centerGroup"/>
                              </m:oMathParaPr>
                              <m:oMath xmlns:m="http://schemas.openxmlformats.org/officeDocument/2006/math">
                                <m:r>
                                  <a:rPr lang="es-MX" sz="1400" b="0" i="1" smtClean="0">
                                    <a:latin typeface="+mn-lt"/>
                                    <a:ea typeface="Cambria Math" panose="02040503050406030204" pitchFamily="18" charset="0"/>
                                  </a:rPr>
                                  <m:t>1</m:t>
                                </m:r>
                              </m:oMath>
                            </m:oMathPara>
                          </a14:m>
                          <a:endParaRPr lang="es-CO" sz="14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𝐴</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𝐵</m:t>
                                    </m:r>
                                  </m:e>
                                </m:d>
                                <m:r>
                                  <a:rPr lang="es-MX" sz="1400" b="0" i="1" smtClean="0">
                                    <a:latin typeface="+mn-lt"/>
                                    <a:ea typeface="Roboto" panose="02000000000000000000" pitchFamily="2" charset="0"/>
                                  </a:rPr>
                                  <m:t>′</m:t>
                                </m:r>
                              </m:oMath>
                            </m:oMathPara>
                          </a14:m>
                          <a:endParaRPr lang="es-CO" sz="14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400" dirty="0">
                              <a:latin typeface="+mn-lt"/>
                              <a:ea typeface="Roboto" panose="02000000000000000000" pitchFamily="2" charset="0"/>
                            </a:rPr>
                            <a:t>Lado izquierdo</a:t>
                          </a:r>
                          <a:endParaRPr lang="es-CO" sz="14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129954">
                    <a:tc>
                      <a:txBody>
                        <a:bodyPr/>
                        <a:lstStyle/>
                        <a:p>
                          <a:pPr/>
                          <a14:m>
                            <m:oMathPara xmlns:m="http://schemas.openxmlformats.org/officeDocument/2006/math">
                              <m:oMathParaPr>
                                <m:jc m:val="centerGroup"/>
                              </m:oMathParaPr>
                              <m:oMath xmlns:m="http://schemas.openxmlformats.org/officeDocument/2006/math">
                                <m:r>
                                  <a:rPr lang="es-MX" sz="1400" b="0" i="1" smtClean="0">
                                    <a:latin typeface="+mn-lt"/>
                                    <a:ea typeface="Cambria Math" panose="02040503050406030204" pitchFamily="18" charset="0"/>
                                  </a:rPr>
                                  <m:t>2</m:t>
                                </m:r>
                              </m:oMath>
                            </m:oMathPara>
                          </a14:m>
                          <a:endParaRPr lang="es-CO" sz="14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𝐴</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𝐵</m:t>
                                    </m:r>
                                  </m:e>
                                </m:d>
                              </m:oMath>
                            </m:oMathPara>
                          </a14:m>
                          <a:endParaRPr lang="es-CO" sz="14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400" b="0" dirty="0">
                              <a:latin typeface="+mn-lt"/>
                              <a:ea typeface="Roboto" panose="02000000000000000000" pitchFamily="2" charset="0"/>
                            </a:rPr>
                            <a:t>Definición de complemento en 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141649">
                    <a:tc>
                      <a:txBody>
                        <a:bodyPr/>
                        <a:lstStyle/>
                        <a:p>
                          <a:pPr/>
                          <a14:m>
                            <m:oMathPara xmlns:m="http://schemas.openxmlformats.org/officeDocument/2006/math">
                              <m:oMathParaPr>
                                <m:jc m:val="centerGroup"/>
                              </m:oMathParaPr>
                              <m:oMath xmlns:m="http://schemas.openxmlformats.org/officeDocument/2006/math">
                                <m:r>
                                  <a:rPr lang="es-MX" sz="1400" b="0" i="1" smtClean="0">
                                    <a:latin typeface="+mn-lt"/>
                                    <a:ea typeface="Cambria Math" panose="02040503050406030204" pitchFamily="18" charset="0"/>
                                  </a:rPr>
                                  <m:t>3</m:t>
                                </m:r>
                              </m:oMath>
                            </m:oMathPara>
                          </a14:m>
                          <a:endParaRPr lang="es-CO" sz="14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m:t>
                                </m:r>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𝐴</m:t>
                                        </m:r>
                                        <m:r>
                                          <a:rPr lang="es-MX" sz="1400" b="0" i="1" smtClean="0">
                                            <a:latin typeface="+mn-lt"/>
                                            <a:ea typeface="Cambria Math" panose="02040503050406030204" pitchFamily="18" charset="0"/>
                                          </a:rPr>
                                          <m:t>⋅</m:t>
                                        </m:r>
                                        <m:r>
                                          <a:rPr lang="es-MX" sz="1400" b="0" i="1" smtClean="0">
                                            <a:latin typeface="+mn-lt"/>
                                            <a:ea typeface="Roboto" panose="02000000000000000000" pitchFamily="2" charset="0"/>
                                          </a:rPr>
                                          <m:t>𝐵</m:t>
                                        </m:r>
                                      </m:e>
                                    </m:d>
                                  </m:e>
                                </m:d>
                              </m:oMath>
                            </m:oMathPara>
                          </a14:m>
                          <a:endParaRPr lang="es-CO" sz="14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400" dirty="0">
                              <a:latin typeface="+mn-lt"/>
                              <a:ea typeface="Roboto" panose="02000000000000000000" pitchFamily="2" charset="0"/>
                            </a:rPr>
                            <a:t>Definición de negación en 2</a:t>
                          </a:r>
                          <a:endParaRPr lang="es-CO" sz="14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141649">
                    <a:tc>
                      <a:txBody>
                        <a:bodyPr/>
                        <a:lstStyle/>
                        <a:p>
                          <a:pPr/>
                          <a14:m>
                            <m:oMathPara xmlns:m="http://schemas.openxmlformats.org/officeDocument/2006/math">
                              <m:oMathParaPr>
                                <m:jc m:val="centerGroup"/>
                              </m:oMathParaPr>
                              <m:oMath xmlns:m="http://schemas.openxmlformats.org/officeDocument/2006/math">
                                <m:r>
                                  <a:rPr lang="es-MX" sz="1400" b="0" i="1" smtClean="0">
                                    <a:latin typeface="+mn-lt"/>
                                    <a:ea typeface="Cambria Math" panose="02040503050406030204" pitchFamily="18" charset="0"/>
                                  </a:rPr>
                                  <m:t>4</m:t>
                                </m:r>
                              </m:oMath>
                            </m:oMathPara>
                          </a14:m>
                          <a:endParaRPr lang="es-CO" sz="14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m:t>
                                </m:r>
                                <m:d>
                                  <m:dPr>
                                    <m:ctrlPr>
                                      <a:rPr lang="es-MX" sz="1400" b="0" i="1" smtClean="0">
                                        <a:latin typeface="+mn-lt"/>
                                        <a:ea typeface="Roboto" panose="02000000000000000000" pitchFamily="2" charset="0"/>
                                      </a:rPr>
                                    </m:ctrlPr>
                                  </m:dPr>
                                  <m:e>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𝐴</m:t>
                                        </m:r>
                                      </m:e>
                                    </m:d>
                                    <m:r>
                                      <a:rPr lang="es-MX" sz="1400" b="0" i="1" smtClean="0">
                                        <a:latin typeface="+mn-lt"/>
                                        <a:ea typeface="Cambria Math" panose="02040503050406030204" pitchFamily="18" charset="0"/>
                                      </a:rPr>
                                      <m:t>∧</m:t>
                                    </m:r>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𝐵</m:t>
                                        </m:r>
                                      </m:e>
                                    </m:d>
                                  </m:e>
                                </m:d>
                              </m:oMath>
                            </m:oMathPara>
                          </a14:m>
                          <a:endParaRPr lang="es-CO" sz="14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400" dirty="0">
                              <a:latin typeface="+mn-lt"/>
                              <a:ea typeface="Roboto" panose="02000000000000000000" pitchFamily="2" charset="0"/>
                            </a:rPr>
                            <a:t>Definición de intersección en 3</a:t>
                          </a:r>
                          <a:endParaRPr lang="es-CO" sz="14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129954">
                    <a:tc>
                      <a:txBody>
                        <a:bodyPr/>
                        <a:lstStyle/>
                        <a:p>
                          <a:pPr/>
                          <a14:m>
                            <m:oMathPara xmlns:m="http://schemas.openxmlformats.org/officeDocument/2006/math">
                              <m:oMathParaPr>
                                <m:jc m:val="centerGroup"/>
                              </m:oMathParaPr>
                              <m:oMath xmlns:m="http://schemas.openxmlformats.org/officeDocument/2006/math">
                                <m:r>
                                  <a:rPr lang="es-MX" sz="1400" b="0" i="1" smtClean="0">
                                    <a:latin typeface="+mn-lt"/>
                                    <a:ea typeface="Cambria Math" panose="02040503050406030204" pitchFamily="18" charset="0"/>
                                  </a:rPr>
                                  <m:t>5</m:t>
                                </m:r>
                              </m:oMath>
                            </m:oMathPara>
                          </a14:m>
                          <a:endParaRPr lang="es-CO" sz="14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m:t>
                                </m:r>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𝐴</m:t>
                                    </m:r>
                                  </m:e>
                                </m:d>
                                <m:r>
                                  <a:rPr lang="es-MX" sz="1400" b="0" i="1" smtClean="0">
                                    <a:latin typeface="+mn-lt"/>
                                    <a:ea typeface="Cambria Math" panose="02040503050406030204" pitchFamily="18" charset="0"/>
                                  </a:rPr>
                                  <m:t>∨</m:t>
                                </m:r>
                                <m:r>
                                  <a:rPr lang="es-MX" sz="1400" b="0" i="1" smtClean="0">
                                    <a:latin typeface="+mn-lt"/>
                                    <a:ea typeface="Roboto" panose="02000000000000000000" pitchFamily="2" charset="0"/>
                                  </a:rPr>
                                  <m:t>¬</m:t>
                                </m:r>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𝐵</m:t>
                                    </m:r>
                                  </m:e>
                                </m:d>
                              </m:oMath>
                            </m:oMathPara>
                          </a14:m>
                          <a:endParaRPr lang="es-CO" sz="14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400" b="0" dirty="0">
                              <a:latin typeface="+mn-lt"/>
                              <a:ea typeface="Roboto" panose="02000000000000000000" pitchFamily="2" charset="0"/>
                            </a:rPr>
                            <a:t>Ley de Morgan en 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63555"/>
                      </a:ext>
                    </a:extLst>
                  </a:tr>
                  <a:tr h="12995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mn-lt"/>
                                    <a:ea typeface="Cambria Math" panose="02040503050406030204" pitchFamily="18" charset="0"/>
                                  </a:rPr>
                                  <m:t>6</m:t>
                                </m:r>
                              </m:oMath>
                            </m:oMathPara>
                          </a14:m>
                          <a:endParaRPr lang="es-CO" sz="14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𝐴</m:t>
                                    </m:r>
                                  </m:e>
                                </m:d>
                                <m:r>
                                  <a:rPr lang="es-MX" sz="1400" b="0" i="1" smtClean="0">
                                    <a:latin typeface="+mn-lt"/>
                                    <a:ea typeface="Cambria Math" panose="02040503050406030204" pitchFamily="18" charset="0"/>
                                  </a:rPr>
                                  <m:t>∨</m:t>
                                </m:r>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𝐵</m:t>
                                    </m:r>
                                  </m:e>
                                </m:d>
                              </m:oMath>
                            </m:oMathPara>
                          </a14:m>
                          <a:endParaRPr lang="es-CO" sz="14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400" b="0" dirty="0">
                              <a:latin typeface="+mn-lt"/>
                              <a:ea typeface="Roboto" panose="02000000000000000000" pitchFamily="2" charset="0"/>
                            </a:rPr>
                            <a:t>Definición de negación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4150395"/>
                      </a:ext>
                    </a:extLst>
                  </a:tr>
                  <a:tr h="12995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mn-lt"/>
                                    <a:ea typeface="Cambria Math" panose="02040503050406030204" pitchFamily="18" charset="0"/>
                                  </a:rPr>
                                  <m:t>7</m:t>
                                </m:r>
                              </m:oMath>
                            </m:oMathPara>
                          </a14:m>
                          <a:endParaRPr lang="es-CO" sz="14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sSup>
                                  <m:sSupPr>
                                    <m:ctrlPr>
                                      <a:rPr lang="es-MX" sz="1400" b="0" i="1" smtClean="0">
                                        <a:latin typeface="+mn-lt"/>
                                        <a:ea typeface="Roboto" panose="02000000000000000000" pitchFamily="2" charset="0"/>
                                      </a:rPr>
                                    </m:ctrlPr>
                                  </m:sSupPr>
                                  <m:e>
                                    <m:r>
                                      <a:rPr lang="es-MX" sz="1400" b="0" i="1" smtClean="0">
                                        <a:latin typeface="+mn-lt"/>
                                        <a:ea typeface="Roboto" panose="02000000000000000000" pitchFamily="2" charset="0"/>
                                      </a:rPr>
                                      <m:t>𝐴</m:t>
                                    </m:r>
                                  </m:e>
                                  <m:sup>
                                    <m:r>
                                      <a:rPr lang="es-MX" sz="1400" b="0" i="1" smtClean="0">
                                        <a:latin typeface="+mn-lt"/>
                                        <a:ea typeface="Roboto" panose="02000000000000000000" pitchFamily="2" charset="0"/>
                                      </a:rPr>
                                      <m:t>′</m:t>
                                    </m:r>
                                  </m:sup>
                                </m:sSup>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𝐵</m:t>
                                </m:r>
                                <m:r>
                                  <a:rPr lang="es-MX" sz="1400" b="0" i="1" smtClean="0">
                                    <a:latin typeface="+mn-lt"/>
                                    <a:ea typeface="Roboto" panose="02000000000000000000" pitchFamily="2" charset="0"/>
                                  </a:rPr>
                                  <m:t>′</m:t>
                                </m:r>
                              </m:oMath>
                            </m:oMathPara>
                          </a14:m>
                          <a:endParaRPr lang="es-CO" sz="14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400" b="0" dirty="0">
                              <a:latin typeface="+mn-lt"/>
                              <a:ea typeface="Roboto" panose="02000000000000000000" pitchFamily="2" charset="0"/>
                            </a:rPr>
                            <a:t>Definición de unión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2120571"/>
                      </a:ext>
                    </a:extLst>
                  </a:tr>
                </a:tbl>
              </a:graphicData>
            </a:graphic>
          </p:graphicFrame>
        </mc:Choice>
        <mc:Fallback>
          <p:graphicFrame>
            <p:nvGraphicFramePr>
              <p:cNvPr id="7" name="Tabla 2">
                <a:extLst>
                  <a:ext uri="{FF2B5EF4-FFF2-40B4-BE49-F238E27FC236}">
                    <a16:creationId xmlns:a16="http://schemas.microsoft.com/office/drawing/2014/main" id="{3A1905AC-BF90-4405-B354-9E9CCD510688}"/>
                  </a:ext>
                </a:extLst>
              </p:cNvPr>
              <p:cNvGraphicFramePr>
                <a:graphicFrameLocks noGrp="1"/>
              </p:cNvGraphicFramePr>
              <p:nvPr>
                <p:extLst>
                  <p:ext uri="{D42A27DB-BD31-4B8C-83A1-F6EECF244321}">
                    <p14:modId xmlns:p14="http://schemas.microsoft.com/office/powerpoint/2010/main" val="3223646912"/>
                  </p:ext>
                </p:extLst>
              </p:nvPr>
            </p:nvGraphicFramePr>
            <p:xfrm>
              <a:off x="1025762" y="3215184"/>
              <a:ext cx="4746946" cy="2989644"/>
            </p:xfrm>
            <a:graphic>
              <a:graphicData uri="http://schemas.openxmlformats.org/drawingml/2006/table">
                <a:tbl>
                  <a:tblPr firstRow="1" bandRow="1">
                    <a:tableStyleId>{AD6A3598-7CB8-4345-8D95-17CE05F158A0}</a:tableStyleId>
                  </a:tblPr>
                  <a:tblGrid>
                    <a:gridCol w="401237">
                      <a:extLst>
                        <a:ext uri="{9D8B030D-6E8A-4147-A177-3AD203B41FA5}">
                          <a16:colId xmlns:a16="http://schemas.microsoft.com/office/drawing/2014/main" val="1610952478"/>
                        </a:ext>
                      </a:extLst>
                    </a:gridCol>
                    <a:gridCol w="1635749">
                      <a:extLst>
                        <a:ext uri="{9D8B030D-6E8A-4147-A177-3AD203B41FA5}">
                          <a16:colId xmlns:a16="http://schemas.microsoft.com/office/drawing/2014/main" val="2942974496"/>
                        </a:ext>
                      </a:extLst>
                    </a:gridCol>
                    <a:gridCol w="2709960">
                      <a:extLst>
                        <a:ext uri="{9D8B030D-6E8A-4147-A177-3AD203B41FA5}">
                          <a16:colId xmlns:a16="http://schemas.microsoft.com/office/drawing/2014/main" val="4281859008"/>
                        </a:ext>
                      </a:extLst>
                    </a:gridCol>
                  </a:tblGrid>
                  <a:tr h="33528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0480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16000" r="-1083333" b="-79000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4627" t="-116000" r="-166791" b="-790000"/>
                          </a:stretch>
                        </a:blipFill>
                      </a:tcPr>
                    </a:tc>
                    <a:tc>
                      <a:txBody>
                        <a:bodyPr/>
                        <a:lstStyle/>
                        <a:p>
                          <a:r>
                            <a:rPr lang="es-CO" sz="1400" dirty="0">
                              <a:latin typeface="+mn-lt"/>
                              <a:ea typeface="Roboto" panose="02000000000000000000" pitchFamily="2" charset="0"/>
                            </a:rPr>
                            <a:t>Lado izquierdo</a:t>
                          </a:r>
                          <a:endParaRPr lang="es-CO" sz="14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0480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216000" r="-1083333" b="-69000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4627" t="-216000" r="-166791" b="-690000"/>
                          </a:stretch>
                        </a:blipFill>
                      </a:tcPr>
                    </a:tc>
                    <a:tc>
                      <a:txBody>
                        <a:bodyPr/>
                        <a:lstStyle/>
                        <a:p>
                          <a:r>
                            <a:rPr lang="es-CO" sz="1400" b="0" dirty="0">
                              <a:latin typeface="+mn-lt"/>
                              <a:ea typeface="Roboto" panose="02000000000000000000" pitchFamily="2" charset="0"/>
                            </a:rPr>
                            <a:t>Definición de complemento en 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32232">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287273" r="-1083333" b="-527273"/>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4627" t="-287273" r="-166791" b="-527273"/>
                          </a:stretch>
                        </a:blipFill>
                      </a:tcPr>
                    </a:tc>
                    <a:tc>
                      <a:txBody>
                        <a:bodyPr/>
                        <a:lstStyle/>
                        <a:p>
                          <a:r>
                            <a:rPr lang="es-CO" sz="1400" dirty="0">
                              <a:latin typeface="+mn-lt"/>
                              <a:ea typeface="Roboto" panose="02000000000000000000" pitchFamily="2" charset="0"/>
                            </a:rPr>
                            <a:t>Definición de negación en 2</a:t>
                          </a:r>
                          <a:endParaRPr lang="es-CO" sz="14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573024">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226596" r="-1083333" b="-208511"/>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4627" t="-226596" r="-166791" b="-208511"/>
                          </a:stretch>
                        </a:blipFill>
                      </a:tcPr>
                    </a:tc>
                    <a:tc>
                      <a:txBody>
                        <a:bodyPr/>
                        <a:lstStyle/>
                        <a:p>
                          <a:r>
                            <a:rPr lang="es-CO" sz="1400" dirty="0">
                              <a:latin typeface="+mn-lt"/>
                              <a:ea typeface="Roboto" panose="02000000000000000000" pitchFamily="2" charset="0"/>
                            </a:rPr>
                            <a:t>Definición de intersección en 3</a:t>
                          </a:r>
                          <a:endParaRPr lang="es-CO" sz="14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513271">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365476" r="-1083333" b="-133333"/>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4627" t="-365476" r="-166791" b="-133333"/>
                          </a:stretch>
                        </a:blipFill>
                      </a:tcPr>
                    </a:tc>
                    <a:tc>
                      <a:txBody>
                        <a:bodyPr/>
                        <a:lstStyle/>
                        <a:p>
                          <a:r>
                            <a:rPr lang="es-CO" sz="1400" b="0" dirty="0">
                              <a:latin typeface="+mn-lt"/>
                              <a:ea typeface="Roboto" panose="02000000000000000000" pitchFamily="2" charset="0"/>
                            </a:rPr>
                            <a:t>Ley de Morgan en 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63555"/>
                      </a:ext>
                    </a:extLst>
                  </a:tr>
                  <a:tr h="30480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782000" r="-1083333" b="-12400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4627" t="-782000" r="-166791" b="-124000"/>
                          </a:stretch>
                        </a:blipFill>
                      </a:tcPr>
                    </a:tc>
                    <a:tc>
                      <a:txBody>
                        <a:bodyPr/>
                        <a:lstStyle/>
                        <a:p>
                          <a:r>
                            <a:rPr lang="es-CO" sz="1400" b="0" dirty="0">
                              <a:latin typeface="+mn-lt"/>
                              <a:ea typeface="Roboto" panose="02000000000000000000" pitchFamily="2" charset="0"/>
                            </a:rPr>
                            <a:t>Definición de negación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4150395"/>
                      </a:ext>
                    </a:extLst>
                  </a:tr>
                  <a:tr h="321437">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832075" r="-1083333" b="-16981"/>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4627" t="-832075" r="-166791" b="-16981"/>
                          </a:stretch>
                        </a:blipFill>
                      </a:tcPr>
                    </a:tc>
                    <a:tc>
                      <a:txBody>
                        <a:bodyPr/>
                        <a:lstStyle/>
                        <a:p>
                          <a:r>
                            <a:rPr lang="es-CO" sz="1400" b="0" dirty="0">
                              <a:latin typeface="+mn-lt"/>
                              <a:ea typeface="Roboto" panose="02000000000000000000" pitchFamily="2" charset="0"/>
                            </a:rPr>
                            <a:t>Definición de unión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2120571"/>
                      </a:ext>
                    </a:extLst>
                  </a:tr>
                </a:tbl>
              </a:graphicData>
            </a:graphic>
          </p:graphicFrame>
        </mc:Fallback>
      </mc:AlternateContent>
      <mc:AlternateContent xmlns:mc="http://schemas.openxmlformats.org/markup-compatibility/2006">
        <mc:Choice xmlns:a14="http://schemas.microsoft.com/office/drawing/2010/main" Requires="a14">
          <p:sp>
            <p:nvSpPr>
              <p:cNvPr id="8" name="Google Shape;310;p34">
                <a:extLst>
                  <a:ext uri="{FF2B5EF4-FFF2-40B4-BE49-F238E27FC236}">
                    <a16:creationId xmlns:a16="http://schemas.microsoft.com/office/drawing/2014/main" id="{3093284B-B0FF-4487-BA8D-A13A6C33DE57}"/>
                  </a:ext>
                </a:extLst>
              </p:cNvPr>
              <p:cNvSpPr txBox="1">
                <a:spLocks/>
              </p:cNvSpPr>
              <p:nvPr/>
            </p:nvSpPr>
            <p:spPr>
              <a:xfrm>
                <a:off x="788827" y="2585581"/>
                <a:ext cx="2919573" cy="49244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1800" b="1" dirty="0">
                    <a:latin typeface="+mn-lt"/>
                    <a:ea typeface="Roboto" panose="02000000000000000000" pitchFamily="2" charset="0"/>
                  </a:rPr>
                  <a:t>Paso 1</a:t>
                </a:r>
                <a:r>
                  <a:rPr lang="es-MX" sz="1800" dirty="0">
                    <a:latin typeface="+mn-lt"/>
                    <a:ea typeface="Roboto" panose="02000000000000000000" pitchFamily="2" charset="0"/>
                  </a:rPr>
                  <a:t>: </a:t>
                </a:r>
                <a14:m>
                  <m:oMath xmlns:m="http://schemas.openxmlformats.org/officeDocument/2006/math">
                    <m:sSup>
                      <m:sSupPr>
                        <m:ctrlPr>
                          <a:rPr lang="es-MX" sz="1800" b="0" i="1" smtClean="0">
                            <a:latin typeface="+mn-lt"/>
                            <a:ea typeface="Roboto" panose="02000000000000000000" pitchFamily="2" charset="0"/>
                          </a:rPr>
                        </m:ctrlPr>
                      </m:sSupPr>
                      <m:e>
                        <m:d>
                          <m:dPr>
                            <m:ctrlPr>
                              <a:rPr lang="es-MX" sz="1800" b="0" i="1" smtClean="0">
                                <a:latin typeface="+mn-lt"/>
                                <a:ea typeface="Roboto" panose="02000000000000000000" pitchFamily="2" charset="0"/>
                              </a:rPr>
                            </m:ctrlPr>
                          </m:dPr>
                          <m:e>
                            <m:r>
                              <a:rPr lang="es-MX" sz="1800" b="0" i="1" smtClean="0">
                                <a:latin typeface="+mn-lt"/>
                                <a:ea typeface="Roboto" panose="02000000000000000000" pitchFamily="2" charset="0"/>
                              </a:rPr>
                              <m:t>𝐴</m:t>
                            </m:r>
                            <m:r>
                              <a:rPr lang="es-MX" sz="1800" b="0" i="1" smtClean="0">
                                <a:latin typeface="+mn-lt"/>
                                <a:ea typeface="Cambria Math" panose="02040503050406030204" pitchFamily="18" charset="0"/>
                              </a:rPr>
                              <m:t>⋅</m:t>
                            </m:r>
                            <m:r>
                              <a:rPr lang="es-MX" sz="1800" b="0" i="1" smtClean="0">
                                <a:latin typeface="+mn-lt"/>
                                <a:ea typeface="Roboto" panose="02000000000000000000" pitchFamily="2" charset="0"/>
                              </a:rPr>
                              <m:t>𝐵</m:t>
                            </m:r>
                          </m:e>
                        </m:d>
                      </m:e>
                      <m:sup>
                        <m:r>
                          <a:rPr lang="es-MX" sz="1800" b="0" i="1" smtClean="0">
                            <a:latin typeface="+mn-lt"/>
                            <a:ea typeface="Roboto" panose="02000000000000000000" pitchFamily="2" charset="0"/>
                          </a:rPr>
                          <m:t>′</m:t>
                        </m:r>
                      </m:sup>
                    </m:sSup>
                    <m:r>
                      <a:rPr lang="es-MX" sz="1800" b="0" i="1" smtClean="0">
                        <a:latin typeface="+mn-lt"/>
                        <a:ea typeface="Cambria Math" panose="02040503050406030204" pitchFamily="18" charset="0"/>
                      </a:rPr>
                      <m:t>⊆</m:t>
                    </m:r>
                    <m:sSup>
                      <m:sSupPr>
                        <m:ctrlPr>
                          <a:rPr lang="es-MX" sz="1800" b="0" i="1" smtClean="0">
                            <a:latin typeface="+mn-lt"/>
                            <a:ea typeface="Roboto" panose="02000000000000000000" pitchFamily="2" charset="0"/>
                          </a:rPr>
                        </m:ctrlPr>
                      </m:sSupPr>
                      <m:e>
                        <m:r>
                          <a:rPr lang="es-MX" sz="1800" b="0" i="1" smtClean="0">
                            <a:latin typeface="+mn-lt"/>
                            <a:ea typeface="Roboto" panose="02000000000000000000" pitchFamily="2" charset="0"/>
                          </a:rPr>
                          <m:t>𝐴</m:t>
                        </m:r>
                      </m:e>
                      <m:sup>
                        <m:r>
                          <a:rPr lang="es-MX" sz="1800" b="0" i="1" smtClean="0">
                            <a:latin typeface="+mn-lt"/>
                            <a:ea typeface="Roboto" panose="02000000000000000000" pitchFamily="2" charset="0"/>
                          </a:rPr>
                          <m:t>′</m:t>
                        </m:r>
                      </m:sup>
                    </m:sSup>
                    <m:r>
                      <a:rPr lang="es-MX" sz="1800" b="0" i="1" smtClean="0">
                        <a:latin typeface="+mn-lt"/>
                        <a:ea typeface="Roboto" panose="02000000000000000000" pitchFamily="2" charset="0"/>
                      </a:rPr>
                      <m:t>+</m:t>
                    </m:r>
                    <m:r>
                      <a:rPr lang="es-MX" sz="1800" b="0" i="1" smtClean="0">
                        <a:latin typeface="+mn-lt"/>
                        <a:ea typeface="Roboto" panose="02000000000000000000" pitchFamily="2" charset="0"/>
                      </a:rPr>
                      <m:t>𝐵</m:t>
                    </m:r>
                    <m:r>
                      <a:rPr lang="es-MX" sz="1800" b="0" i="1" smtClean="0">
                        <a:latin typeface="+mn-lt"/>
                        <a:ea typeface="Roboto" panose="02000000000000000000" pitchFamily="2" charset="0"/>
                      </a:rPr>
                      <m:t>′</m:t>
                    </m:r>
                  </m:oMath>
                </a14:m>
                <a:endParaRPr lang="es-MX" sz="1800" b="0" dirty="0">
                  <a:latin typeface="+mn-lt"/>
                  <a:ea typeface="Roboto" panose="02000000000000000000" pitchFamily="2" charset="0"/>
                </a:endParaRPr>
              </a:p>
              <a:p>
                <a:pPr marL="127000" indent="0">
                  <a:buNone/>
                </a:pPr>
                <a:endParaRPr lang="es-MX" sz="1800" dirty="0">
                  <a:latin typeface="+mn-lt"/>
                  <a:ea typeface="Roboto" panose="02000000000000000000" pitchFamily="2" charset="0"/>
                </a:endParaRPr>
              </a:p>
            </p:txBody>
          </p:sp>
        </mc:Choice>
        <mc:Fallback>
          <p:sp>
            <p:nvSpPr>
              <p:cNvPr id="8" name="Google Shape;310;p34">
                <a:extLst>
                  <a:ext uri="{FF2B5EF4-FFF2-40B4-BE49-F238E27FC236}">
                    <a16:creationId xmlns:a16="http://schemas.microsoft.com/office/drawing/2014/main" id="{3093284B-B0FF-4487-BA8D-A13A6C33DE57}"/>
                  </a:ext>
                </a:extLst>
              </p:cNvPr>
              <p:cNvSpPr txBox="1">
                <a:spLocks noRot="1" noChangeAspect="1" noMove="1" noResize="1" noEditPoints="1" noAdjustHandles="1" noChangeArrowheads="1" noChangeShapeType="1" noTextEdit="1"/>
              </p:cNvSpPr>
              <p:nvPr/>
            </p:nvSpPr>
            <p:spPr>
              <a:xfrm>
                <a:off x="788827" y="2585581"/>
                <a:ext cx="2919573" cy="492443"/>
              </a:xfrm>
              <a:prstGeom prst="rect">
                <a:avLst/>
              </a:prstGeom>
              <a:blipFill>
                <a:blip r:embed="rId5"/>
                <a:stretch>
                  <a:fillRect b="-18519"/>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9" name="Tabla 2">
                <a:extLst>
                  <a:ext uri="{FF2B5EF4-FFF2-40B4-BE49-F238E27FC236}">
                    <a16:creationId xmlns:a16="http://schemas.microsoft.com/office/drawing/2014/main" id="{73020190-B54B-4075-BF87-1E67D2043912}"/>
                  </a:ext>
                </a:extLst>
              </p:cNvPr>
              <p:cNvGraphicFramePr>
                <a:graphicFrameLocks noGrp="1"/>
              </p:cNvGraphicFramePr>
              <p:nvPr>
                <p:extLst>
                  <p:ext uri="{D42A27DB-BD31-4B8C-83A1-F6EECF244321}">
                    <p14:modId xmlns:p14="http://schemas.microsoft.com/office/powerpoint/2010/main" val="2053701199"/>
                  </p:ext>
                </p:extLst>
              </p:nvPr>
            </p:nvGraphicFramePr>
            <p:xfrm>
              <a:off x="6310972" y="3429000"/>
              <a:ext cx="5450311" cy="2845181"/>
            </p:xfrm>
            <a:graphic>
              <a:graphicData uri="http://schemas.openxmlformats.org/drawingml/2006/table">
                <a:tbl>
                  <a:tblPr firstRow="1" bandRow="1">
                    <a:tableStyleId>{AD6A3598-7CB8-4345-8D95-17CE05F158A0}</a:tableStyleId>
                  </a:tblPr>
                  <a:tblGrid>
                    <a:gridCol w="460690">
                      <a:extLst>
                        <a:ext uri="{9D8B030D-6E8A-4147-A177-3AD203B41FA5}">
                          <a16:colId xmlns:a16="http://schemas.microsoft.com/office/drawing/2014/main" val="1610952478"/>
                        </a:ext>
                      </a:extLst>
                    </a:gridCol>
                    <a:gridCol w="1878121">
                      <a:extLst>
                        <a:ext uri="{9D8B030D-6E8A-4147-A177-3AD203B41FA5}">
                          <a16:colId xmlns:a16="http://schemas.microsoft.com/office/drawing/2014/main" val="2942974496"/>
                        </a:ext>
                      </a:extLst>
                    </a:gridCol>
                    <a:gridCol w="3111500">
                      <a:extLst>
                        <a:ext uri="{9D8B030D-6E8A-4147-A177-3AD203B41FA5}">
                          <a16:colId xmlns:a16="http://schemas.microsoft.com/office/drawing/2014/main" val="4281859008"/>
                        </a:ext>
                      </a:extLst>
                    </a:gridCol>
                  </a:tblGrid>
                  <a:tr h="155944">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129954">
                    <a:tc>
                      <a:txBody>
                        <a:bodyPr/>
                        <a:lstStyle/>
                        <a:p>
                          <a:pPr/>
                          <a14:m>
                            <m:oMathPara xmlns:m="http://schemas.openxmlformats.org/officeDocument/2006/math">
                              <m:oMathParaPr>
                                <m:jc m:val="centerGroup"/>
                              </m:oMathParaPr>
                              <m:oMath xmlns:m="http://schemas.openxmlformats.org/officeDocument/2006/math">
                                <m:r>
                                  <a:rPr lang="es-MX" sz="1400" b="0" i="1" smtClean="0">
                                    <a:latin typeface="+mn-lt"/>
                                    <a:ea typeface="Cambria Math" panose="02040503050406030204" pitchFamily="18" charset="0"/>
                                  </a:rPr>
                                  <m:t>1</m:t>
                                </m:r>
                              </m:oMath>
                            </m:oMathPara>
                          </a14:m>
                          <a:endParaRPr lang="es-CO" sz="14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𝐴</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𝐵</m:t>
                                    </m:r>
                                    <m:r>
                                      <a:rPr lang="es-MX" sz="1400" b="0" i="1" smtClean="0">
                                        <a:latin typeface="+mn-lt"/>
                                        <a:ea typeface="Roboto" panose="02000000000000000000" pitchFamily="2" charset="0"/>
                                      </a:rPr>
                                      <m:t>′</m:t>
                                    </m:r>
                                  </m:e>
                                </m:d>
                              </m:oMath>
                            </m:oMathPara>
                          </a14:m>
                          <a:endParaRPr lang="es-CO" sz="14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400" dirty="0">
                              <a:latin typeface="+mn-lt"/>
                              <a:ea typeface="Roboto" panose="02000000000000000000" pitchFamily="2" charset="0"/>
                            </a:rPr>
                            <a:t>Lado derecho</a:t>
                          </a:r>
                          <a:endParaRPr lang="es-CO" sz="14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129954">
                    <a:tc>
                      <a:txBody>
                        <a:bodyPr/>
                        <a:lstStyle/>
                        <a:p>
                          <a:pPr/>
                          <a14:m>
                            <m:oMathPara xmlns:m="http://schemas.openxmlformats.org/officeDocument/2006/math">
                              <m:oMathParaPr>
                                <m:jc m:val="centerGroup"/>
                              </m:oMathParaPr>
                              <m:oMath xmlns:m="http://schemas.openxmlformats.org/officeDocument/2006/math">
                                <m:r>
                                  <a:rPr lang="es-MX" sz="1400" b="0" i="1" smtClean="0">
                                    <a:latin typeface="+mn-lt"/>
                                    <a:ea typeface="Cambria Math" panose="02040503050406030204" pitchFamily="18" charset="0"/>
                                  </a:rPr>
                                  <m:t>2</m:t>
                                </m:r>
                              </m:oMath>
                            </m:oMathPara>
                          </a14:m>
                          <a:endParaRPr lang="es-CO" sz="14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sSup>
                                  <m:sSupPr>
                                    <m:ctrlPr>
                                      <a:rPr lang="es-MX" sz="1400" b="0" i="1" smtClean="0">
                                        <a:latin typeface="+mn-lt"/>
                                        <a:ea typeface="Roboto" panose="02000000000000000000" pitchFamily="2" charset="0"/>
                                      </a:rPr>
                                    </m:ctrlPr>
                                  </m:sSupPr>
                                  <m:e>
                                    <m:r>
                                      <a:rPr lang="es-MX" sz="1400" b="0" i="1" smtClean="0">
                                        <a:latin typeface="+mn-lt"/>
                                        <a:ea typeface="Roboto" panose="02000000000000000000" pitchFamily="2" charset="0"/>
                                      </a:rPr>
                                      <m:t>𝐴</m:t>
                                    </m:r>
                                  </m:e>
                                  <m:sup>
                                    <m:r>
                                      <a:rPr lang="es-MX" sz="1400" b="0" i="1" smtClean="0">
                                        <a:latin typeface="+mn-lt"/>
                                        <a:ea typeface="Roboto" panose="02000000000000000000" pitchFamily="2" charset="0"/>
                                      </a:rPr>
                                      <m:t>′</m:t>
                                    </m:r>
                                  </m:sup>
                                </m:sSup>
                                <m:r>
                                  <a:rPr lang="es-MX" sz="1400" b="0" i="1" smtClean="0">
                                    <a:latin typeface="+mn-lt"/>
                                    <a:ea typeface="Cambria Math" panose="02040503050406030204" pitchFamily="18" charset="0"/>
                                  </a:rPr>
                                  <m:t>∨</m:t>
                                </m:r>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sSup>
                                  <m:sSupPr>
                                    <m:ctrlPr>
                                      <a:rPr lang="es-MX" sz="1400" b="0" i="1" smtClean="0">
                                        <a:latin typeface="+mn-lt"/>
                                        <a:ea typeface="Roboto" panose="02000000000000000000" pitchFamily="2" charset="0"/>
                                      </a:rPr>
                                    </m:ctrlPr>
                                  </m:sSupPr>
                                  <m:e>
                                    <m:r>
                                      <a:rPr lang="es-MX" sz="1400" b="0" i="1" smtClean="0">
                                        <a:latin typeface="+mn-lt"/>
                                        <a:ea typeface="Roboto" panose="02000000000000000000" pitchFamily="2" charset="0"/>
                                      </a:rPr>
                                      <m:t>𝐵</m:t>
                                    </m:r>
                                  </m:e>
                                  <m:sup>
                                    <m:r>
                                      <a:rPr lang="es-MX" sz="1400" b="0" i="1" smtClean="0">
                                        <a:latin typeface="+mn-lt"/>
                                        <a:ea typeface="Roboto" panose="02000000000000000000" pitchFamily="2" charset="0"/>
                                      </a:rPr>
                                      <m:t>′</m:t>
                                    </m:r>
                                  </m:sup>
                                </m:sSup>
                              </m:oMath>
                            </m:oMathPara>
                          </a14:m>
                          <a:endParaRPr lang="es-CO" sz="14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400" b="0" dirty="0">
                              <a:latin typeface="+mn-lt"/>
                              <a:ea typeface="Roboto" panose="02000000000000000000" pitchFamily="2" charset="0"/>
                            </a:rPr>
                            <a:t>Definición de unión en 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12995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mn-lt"/>
                                    <a:ea typeface="Cambria Math" panose="02040503050406030204" pitchFamily="18" charset="0"/>
                                  </a:rPr>
                                  <m:t>3</m:t>
                                </m:r>
                              </m:oMath>
                            </m:oMathPara>
                          </a14:m>
                          <a:endParaRPr lang="es-CO" sz="14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𝐴</m:t>
                                </m:r>
                                <m:r>
                                  <a:rPr lang="es-MX" sz="1400" b="0" i="1" smtClean="0">
                                    <a:latin typeface="+mn-lt"/>
                                    <a:ea typeface="Cambria Math" panose="02040503050406030204" pitchFamily="18" charset="0"/>
                                  </a:rPr>
                                  <m:t>∨</m:t>
                                </m:r>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𝐵</m:t>
                                </m:r>
                              </m:oMath>
                            </m:oMathPara>
                          </a14:m>
                          <a:endParaRPr lang="es-CO" sz="14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400" b="0" dirty="0">
                              <a:latin typeface="+mn-lt"/>
                              <a:ea typeface="Roboto" panose="02000000000000000000" pitchFamily="2" charset="0"/>
                            </a:rPr>
                            <a:t>Definición de complemento 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37519119"/>
                      </a:ext>
                    </a:extLst>
                  </a:tr>
                  <a:tr h="141649">
                    <a:tc>
                      <a:txBody>
                        <a:bodyPr/>
                        <a:lstStyle/>
                        <a:p>
                          <a:pPr/>
                          <a14:m>
                            <m:oMathPara xmlns:m="http://schemas.openxmlformats.org/officeDocument/2006/math">
                              <m:oMathParaPr>
                                <m:jc m:val="centerGroup"/>
                              </m:oMathParaPr>
                              <m:oMath xmlns:m="http://schemas.openxmlformats.org/officeDocument/2006/math">
                                <m:r>
                                  <a:rPr lang="es-MX" sz="1400" b="0" i="1" smtClean="0">
                                    <a:latin typeface="+mn-lt"/>
                                    <a:ea typeface="Cambria Math" panose="02040503050406030204" pitchFamily="18" charset="0"/>
                                  </a:rPr>
                                  <m:t>4</m:t>
                                </m:r>
                              </m:oMath>
                            </m:oMathPara>
                          </a14:m>
                          <a:endParaRPr lang="es-CO" sz="14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m:t>
                                </m:r>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𝐴</m:t>
                                    </m:r>
                                  </m:e>
                                </m:d>
                                <m:r>
                                  <a:rPr lang="es-MX" sz="1400" b="0" i="1" smtClean="0">
                                    <a:latin typeface="+mn-lt"/>
                                    <a:ea typeface="Cambria Math" panose="02040503050406030204" pitchFamily="18" charset="0"/>
                                  </a:rPr>
                                  <m:t>∨</m:t>
                                </m:r>
                                <m:r>
                                  <a:rPr lang="es-MX" sz="1400" b="0" i="1" smtClean="0">
                                    <a:latin typeface="+mn-lt"/>
                                    <a:ea typeface="Roboto" panose="02000000000000000000" pitchFamily="2" charset="0"/>
                                  </a:rPr>
                                  <m:t>¬</m:t>
                                </m:r>
                                <m:d>
                                  <m:dPr>
                                    <m:ctrlPr>
                                      <a:rPr lang="es-MX" sz="1400" b="0" i="1" smtClean="0">
                                        <a:latin typeface="+mn-lt"/>
                                        <a:ea typeface="Cambria Math" panose="02040503050406030204" pitchFamily="18" charset="0"/>
                                      </a:rPr>
                                    </m:ctrlPr>
                                  </m:dPr>
                                  <m:e>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𝐵</m:t>
                                    </m:r>
                                  </m:e>
                                </m:d>
                              </m:oMath>
                            </m:oMathPara>
                          </a14:m>
                          <a:endParaRPr lang="es-CO" sz="14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400" dirty="0">
                              <a:latin typeface="+mn-lt"/>
                              <a:ea typeface="Roboto" panose="02000000000000000000" pitchFamily="2" charset="0"/>
                            </a:rPr>
                            <a:t>Definición de negación en 3</a:t>
                          </a:r>
                          <a:endParaRPr lang="es-CO" sz="14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141649">
                    <a:tc>
                      <a:txBody>
                        <a:bodyPr/>
                        <a:lstStyle/>
                        <a:p>
                          <a:pPr/>
                          <a14:m>
                            <m:oMathPara xmlns:m="http://schemas.openxmlformats.org/officeDocument/2006/math">
                              <m:oMathParaPr>
                                <m:jc m:val="centerGroup"/>
                              </m:oMathParaPr>
                              <m:oMath xmlns:m="http://schemas.openxmlformats.org/officeDocument/2006/math">
                                <m:r>
                                  <a:rPr lang="es-MX" sz="1400" b="0" i="1" smtClean="0">
                                    <a:latin typeface="+mn-lt"/>
                                    <a:ea typeface="Cambria Math" panose="02040503050406030204" pitchFamily="18" charset="0"/>
                                  </a:rPr>
                                  <m:t>5</m:t>
                                </m:r>
                              </m:oMath>
                            </m:oMathPara>
                          </a14:m>
                          <a:endParaRPr lang="es-CO" sz="14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m:t>
                                </m:r>
                                <m:d>
                                  <m:dPr>
                                    <m:ctrlPr>
                                      <a:rPr lang="es-MX" sz="1400" b="0" i="1" smtClean="0">
                                        <a:latin typeface="+mn-lt"/>
                                        <a:ea typeface="Roboto" panose="02000000000000000000" pitchFamily="2" charset="0"/>
                                      </a:rPr>
                                    </m:ctrlPr>
                                  </m:dPr>
                                  <m:e>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𝐴</m:t>
                                        </m:r>
                                      </m:e>
                                    </m:d>
                                    <m:r>
                                      <a:rPr lang="es-MX" sz="1400" b="0" i="1" smtClean="0">
                                        <a:latin typeface="+mn-lt"/>
                                        <a:ea typeface="Roboto" panose="02000000000000000000" pitchFamily="2" charset="0"/>
                                      </a:rPr>
                                      <m:t>∧</m:t>
                                    </m:r>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𝐵</m:t>
                                        </m:r>
                                      </m:e>
                                    </m:d>
                                  </m:e>
                                </m:d>
                              </m:oMath>
                            </m:oMathPara>
                          </a14:m>
                          <a:endParaRPr lang="es-CO" sz="14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400" dirty="0">
                              <a:latin typeface="+mn-lt"/>
                              <a:ea typeface="Roboto" panose="02000000000000000000" pitchFamily="2" charset="0"/>
                            </a:rPr>
                            <a:t>Definición de intersección en 4</a:t>
                          </a:r>
                          <a:endParaRPr lang="es-CO" sz="14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129954">
                    <a:tc>
                      <a:txBody>
                        <a:bodyPr/>
                        <a:lstStyle/>
                        <a:p>
                          <a:pPr/>
                          <a14:m>
                            <m:oMathPara xmlns:m="http://schemas.openxmlformats.org/officeDocument/2006/math">
                              <m:oMathParaPr>
                                <m:jc m:val="centerGroup"/>
                              </m:oMathParaPr>
                              <m:oMath xmlns:m="http://schemas.openxmlformats.org/officeDocument/2006/math">
                                <m:r>
                                  <a:rPr lang="es-MX" sz="1400" b="0" i="1" smtClean="0">
                                    <a:latin typeface="+mn-lt"/>
                                    <a:ea typeface="Cambria Math" panose="02040503050406030204" pitchFamily="18" charset="0"/>
                                  </a:rPr>
                                  <m:t>6</m:t>
                                </m:r>
                              </m:oMath>
                            </m:oMathPara>
                          </a14:m>
                          <a:endParaRPr lang="es-CO" sz="14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m:t>
                                </m:r>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𝐴</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𝐵</m:t>
                                        </m:r>
                                      </m:e>
                                    </m:d>
                                  </m:e>
                                </m:d>
                              </m:oMath>
                            </m:oMathPara>
                          </a14:m>
                          <a:endParaRPr lang="es-CO" sz="14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400" b="0" dirty="0">
                              <a:latin typeface="+mn-lt"/>
                              <a:ea typeface="Roboto" panose="02000000000000000000" pitchFamily="2" charset="0"/>
                            </a:rPr>
                            <a:t>Ley de Morgan en 5</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63555"/>
                      </a:ext>
                    </a:extLst>
                  </a:tr>
                  <a:tr h="129954">
                    <a:tc>
                      <a:txBody>
                        <a:bodyPr/>
                        <a:lstStyle/>
                        <a:p>
                          <a:pPr/>
                          <a14:m>
                            <m:oMathPara xmlns:m="http://schemas.openxmlformats.org/officeDocument/2006/math">
                              <m:oMathParaPr>
                                <m:jc m:val="centerGroup"/>
                              </m:oMathParaPr>
                              <m:oMath xmlns:m="http://schemas.openxmlformats.org/officeDocument/2006/math">
                                <m:r>
                                  <a:rPr lang="es-MX" sz="1400" b="0" i="1" smtClean="0">
                                    <a:latin typeface="+mn-lt"/>
                                    <a:ea typeface="Cambria Math" panose="02040503050406030204" pitchFamily="18" charset="0"/>
                                  </a:rPr>
                                  <m:t>7</m:t>
                                </m:r>
                              </m:oMath>
                            </m:oMathPara>
                          </a14:m>
                          <a:endParaRPr lang="es-CO" sz="14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𝐴</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𝐵</m:t>
                                    </m:r>
                                  </m:e>
                                </m:d>
                              </m:oMath>
                            </m:oMathPara>
                          </a14:m>
                          <a:endParaRPr lang="es-CO" sz="14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400" b="0" dirty="0">
                              <a:latin typeface="+mn-lt"/>
                              <a:ea typeface="Roboto" panose="02000000000000000000" pitchFamily="2" charset="0"/>
                            </a:rPr>
                            <a:t>Definición de negación 6</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4150395"/>
                      </a:ext>
                    </a:extLst>
                  </a:tr>
                  <a:tr h="12995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mn-lt"/>
                                    <a:ea typeface="Cambria Math" panose="02040503050406030204" pitchFamily="18" charset="0"/>
                                  </a:rPr>
                                  <m:t>8</m:t>
                                </m:r>
                              </m:oMath>
                            </m:oMathPara>
                          </a14:m>
                          <a:endParaRPr lang="es-CO" sz="14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400" b="0" i="1" smtClean="0">
                                    <a:latin typeface="+mn-lt"/>
                                    <a:ea typeface="Roboto" panose="02000000000000000000" pitchFamily="2" charset="0"/>
                                  </a:rPr>
                                  <m:t>𝑥</m:t>
                                </m:r>
                                <m:r>
                                  <a:rPr lang="es-MX" sz="1400" b="0" i="1" smtClean="0">
                                    <a:latin typeface="+mn-lt"/>
                                    <a:ea typeface="Roboto" panose="02000000000000000000" pitchFamily="2" charset="0"/>
                                  </a:rPr>
                                  <m:t>∈</m:t>
                                </m:r>
                                <m:d>
                                  <m:dPr>
                                    <m:ctrlPr>
                                      <a:rPr lang="es-MX" sz="1400" b="0" i="1" smtClean="0">
                                        <a:latin typeface="+mn-lt"/>
                                        <a:ea typeface="Roboto" panose="02000000000000000000" pitchFamily="2" charset="0"/>
                                      </a:rPr>
                                    </m:ctrlPr>
                                  </m:dPr>
                                  <m:e>
                                    <m:r>
                                      <a:rPr lang="es-MX" sz="1400" b="0" i="1" smtClean="0">
                                        <a:latin typeface="+mn-lt"/>
                                        <a:ea typeface="Roboto" panose="02000000000000000000" pitchFamily="2" charset="0"/>
                                      </a:rPr>
                                      <m:t>𝐴</m:t>
                                    </m:r>
                                    <m:r>
                                      <a:rPr lang="es-MX" sz="1400" b="0" i="1" smtClean="0">
                                        <a:latin typeface="+mn-lt"/>
                                        <a:ea typeface="Roboto" panose="02000000000000000000" pitchFamily="2" charset="0"/>
                                      </a:rPr>
                                      <m:t>⋅</m:t>
                                    </m:r>
                                    <m:r>
                                      <a:rPr lang="es-MX" sz="1400" b="0" i="1" smtClean="0">
                                        <a:latin typeface="+mn-lt"/>
                                        <a:ea typeface="Roboto" panose="02000000000000000000" pitchFamily="2" charset="0"/>
                                      </a:rPr>
                                      <m:t>𝐵</m:t>
                                    </m:r>
                                  </m:e>
                                </m:d>
                                <m:r>
                                  <a:rPr lang="es-MX" sz="1400" b="0" i="1" smtClean="0">
                                    <a:latin typeface="+mn-lt"/>
                                    <a:ea typeface="Roboto" panose="02000000000000000000" pitchFamily="2" charset="0"/>
                                  </a:rPr>
                                  <m:t>′</m:t>
                                </m:r>
                              </m:oMath>
                            </m:oMathPara>
                          </a14:m>
                          <a:endParaRPr lang="es-CO" sz="14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400" b="0" dirty="0">
                              <a:latin typeface="+mn-lt"/>
                              <a:ea typeface="Roboto" panose="02000000000000000000" pitchFamily="2" charset="0"/>
                            </a:rPr>
                            <a:t>Definición de complemento 7</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2120571"/>
                      </a:ext>
                    </a:extLst>
                  </a:tr>
                </a:tbl>
              </a:graphicData>
            </a:graphic>
          </p:graphicFrame>
        </mc:Choice>
        <mc:Fallback>
          <p:graphicFrame>
            <p:nvGraphicFramePr>
              <p:cNvPr id="9" name="Tabla 2">
                <a:extLst>
                  <a:ext uri="{FF2B5EF4-FFF2-40B4-BE49-F238E27FC236}">
                    <a16:creationId xmlns:a16="http://schemas.microsoft.com/office/drawing/2014/main" id="{73020190-B54B-4075-BF87-1E67D2043912}"/>
                  </a:ext>
                </a:extLst>
              </p:cNvPr>
              <p:cNvGraphicFramePr>
                <a:graphicFrameLocks noGrp="1"/>
              </p:cNvGraphicFramePr>
              <p:nvPr>
                <p:extLst>
                  <p:ext uri="{D42A27DB-BD31-4B8C-83A1-F6EECF244321}">
                    <p14:modId xmlns:p14="http://schemas.microsoft.com/office/powerpoint/2010/main" val="2053701199"/>
                  </p:ext>
                </p:extLst>
              </p:nvPr>
            </p:nvGraphicFramePr>
            <p:xfrm>
              <a:off x="6310972" y="3429000"/>
              <a:ext cx="5450311" cy="2845181"/>
            </p:xfrm>
            <a:graphic>
              <a:graphicData uri="http://schemas.openxmlformats.org/drawingml/2006/table">
                <a:tbl>
                  <a:tblPr firstRow="1" bandRow="1">
                    <a:tableStyleId>{AD6A3598-7CB8-4345-8D95-17CE05F158A0}</a:tableStyleId>
                  </a:tblPr>
                  <a:tblGrid>
                    <a:gridCol w="460690">
                      <a:extLst>
                        <a:ext uri="{9D8B030D-6E8A-4147-A177-3AD203B41FA5}">
                          <a16:colId xmlns:a16="http://schemas.microsoft.com/office/drawing/2014/main" val="1610952478"/>
                        </a:ext>
                      </a:extLst>
                    </a:gridCol>
                    <a:gridCol w="1878121">
                      <a:extLst>
                        <a:ext uri="{9D8B030D-6E8A-4147-A177-3AD203B41FA5}">
                          <a16:colId xmlns:a16="http://schemas.microsoft.com/office/drawing/2014/main" val="2942974496"/>
                        </a:ext>
                      </a:extLst>
                    </a:gridCol>
                    <a:gridCol w="3111500">
                      <a:extLst>
                        <a:ext uri="{9D8B030D-6E8A-4147-A177-3AD203B41FA5}">
                          <a16:colId xmlns:a16="http://schemas.microsoft.com/office/drawing/2014/main" val="4281859008"/>
                        </a:ext>
                      </a:extLst>
                    </a:gridCol>
                  </a:tblGrid>
                  <a:tr h="33528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0480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114000" r="-1078947" b="-74600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4675" t="-114000" r="-166234" b="-746000"/>
                          </a:stretch>
                        </a:blipFill>
                      </a:tcPr>
                    </a:tc>
                    <a:tc>
                      <a:txBody>
                        <a:bodyPr/>
                        <a:lstStyle/>
                        <a:p>
                          <a:r>
                            <a:rPr lang="es-CO" sz="1400" dirty="0">
                              <a:latin typeface="+mn-lt"/>
                              <a:ea typeface="Roboto" panose="02000000000000000000" pitchFamily="2" charset="0"/>
                            </a:rPr>
                            <a:t>Lado derecho</a:t>
                          </a:r>
                          <a:endParaRPr lang="es-CO" sz="14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21437">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201887" r="-1078947" b="-603774"/>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4675" t="-201887" r="-166234" b="-603774"/>
                          </a:stretch>
                        </a:blipFill>
                      </a:tcPr>
                    </a:tc>
                    <a:tc>
                      <a:txBody>
                        <a:bodyPr/>
                        <a:lstStyle/>
                        <a:p>
                          <a:r>
                            <a:rPr lang="es-CO" sz="1400" b="0" dirty="0">
                              <a:latin typeface="+mn-lt"/>
                              <a:ea typeface="Roboto" panose="02000000000000000000" pitchFamily="2" charset="0"/>
                            </a:rPr>
                            <a:t>Definición de unión en 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0480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320000" r="-1078947" b="-54000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4675" t="-320000" r="-166234" b="-540000"/>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400" b="0" dirty="0">
                              <a:latin typeface="+mn-lt"/>
                              <a:ea typeface="Roboto" panose="02000000000000000000" pitchFamily="2" charset="0"/>
                            </a:rPr>
                            <a:t>Definición de complemento 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37519119"/>
                      </a:ext>
                    </a:extLst>
                  </a:tr>
                  <a:tr h="30480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420000" r="-1078947" b="-44000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4675" t="-420000" r="-166234" b="-440000"/>
                          </a:stretch>
                        </a:blipFill>
                      </a:tcPr>
                    </a:tc>
                    <a:tc>
                      <a:txBody>
                        <a:bodyPr/>
                        <a:lstStyle/>
                        <a:p>
                          <a:r>
                            <a:rPr lang="es-CO" sz="1400" dirty="0">
                              <a:latin typeface="+mn-lt"/>
                              <a:ea typeface="Roboto" panose="02000000000000000000" pitchFamily="2" charset="0"/>
                            </a:rPr>
                            <a:t>Definición de negación en 3</a:t>
                          </a:r>
                          <a:endParaRPr lang="es-CO" sz="14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32232">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472727" r="-1078947" b="-30000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4675" t="-472727" r="-166234" b="-300000"/>
                          </a:stretch>
                        </a:blipFill>
                      </a:tcPr>
                    </a:tc>
                    <a:tc>
                      <a:txBody>
                        <a:bodyPr/>
                        <a:lstStyle/>
                        <a:p>
                          <a:r>
                            <a:rPr lang="es-CO" sz="1400" dirty="0">
                              <a:latin typeface="+mn-lt"/>
                              <a:ea typeface="Roboto" panose="02000000000000000000" pitchFamily="2" charset="0"/>
                            </a:rPr>
                            <a:t>Definición de intersección en 4</a:t>
                          </a:r>
                          <a:endParaRPr lang="es-CO" sz="14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32232">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572727" r="-1078947" b="-20000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4675" t="-572727" r="-166234" b="-200000"/>
                          </a:stretch>
                        </a:blipFill>
                      </a:tcPr>
                    </a:tc>
                    <a:tc>
                      <a:txBody>
                        <a:bodyPr/>
                        <a:lstStyle/>
                        <a:p>
                          <a:r>
                            <a:rPr lang="es-CO" sz="1400" b="0" dirty="0">
                              <a:latin typeface="+mn-lt"/>
                              <a:ea typeface="Roboto" panose="02000000000000000000" pitchFamily="2" charset="0"/>
                            </a:rPr>
                            <a:t>Ley de Morgan en 5</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63555"/>
                      </a:ext>
                    </a:extLst>
                  </a:tr>
                  <a:tr h="30480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740000" r="-1078947" b="-12000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4675" t="-740000" r="-166234" b="-120000"/>
                          </a:stretch>
                        </a:blipFill>
                      </a:tcPr>
                    </a:tc>
                    <a:tc>
                      <a:txBody>
                        <a:bodyPr/>
                        <a:lstStyle/>
                        <a:p>
                          <a:r>
                            <a:rPr lang="es-CO" sz="1400" b="0" dirty="0">
                              <a:latin typeface="+mn-lt"/>
                              <a:ea typeface="Roboto" panose="02000000000000000000" pitchFamily="2" charset="0"/>
                            </a:rPr>
                            <a:t>Definición de negación 6</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4150395"/>
                      </a:ext>
                    </a:extLst>
                  </a:tr>
                  <a:tr h="30480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840000" r="-1078947" b="-2000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4675" t="-840000" r="-166234" b="-20000"/>
                          </a:stretch>
                        </a:blipFill>
                      </a:tcPr>
                    </a:tc>
                    <a:tc>
                      <a:txBody>
                        <a:bodyPr/>
                        <a:lstStyle/>
                        <a:p>
                          <a:r>
                            <a:rPr lang="es-CO" sz="1400" b="0" dirty="0">
                              <a:latin typeface="+mn-lt"/>
                              <a:ea typeface="Roboto" panose="02000000000000000000" pitchFamily="2" charset="0"/>
                            </a:rPr>
                            <a:t>Definición de complemento 7</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2120571"/>
                      </a:ext>
                    </a:extLst>
                  </a:tr>
                </a:tbl>
              </a:graphicData>
            </a:graphic>
          </p:graphicFrame>
        </mc:Fallback>
      </mc:AlternateContent>
      <mc:AlternateContent xmlns:mc="http://schemas.openxmlformats.org/markup-compatibility/2006">
        <mc:Choice xmlns:a14="http://schemas.microsoft.com/office/drawing/2010/main" Requires="a14">
          <p:sp>
            <p:nvSpPr>
              <p:cNvPr id="10" name="Google Shape;310;p34">
                <a:extLst>
                  <a:ext uri="{FF2B5EF4-FFF2-40B4-BE49-F238E27FC236}">
                    <a16:creationId xmlns:a16="http://schemas.microsoft.com/office/drawing/2014/main" id="{BA1A4491-21CF-4751-AB4F-39AF47375D2F}"/>
                  </a:ext>
                </a:extLst>
              </p:cNvPr>
              <p:cNvSpPr txBox="1">
                <a:spLocks/>
              </p:cNvSpPr>
              <p:nvPr/>
            </p:nvSpPr>
            <p:spPr>
              <a:xfrm>
                <a:off x="6210196" y="2609665"/>
                <a:ext cx="2919573" cy="49244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1800" b="1" dirty="0">
                    <a:latin typeface="+mn-lt"/>
                    <a:ea typeface="Roboto" panose="02000000000000000000" pitchFamily="2" charset="0"/>
                  </a:rPr>
                  <a:t>Paso 2</a:t>
                </a:r>
                <a:r>
                  <a:rPr lang="es-MX" sz="1800" dirty="0">
                    <a:latin typeface="+mn-lt"/>
                    <a:ea typeface="Roboto" panose="02000000000000000000" pitchFamily="2" charset="0"/>
                  </a:rPr>
                  <a:t>: </a:t>
                </a:r>
                <a14:m>
                  <m:oMath xmlns:m="http://schemas.openxmlformats.org/officeDocument/2006/math">
                    <m:sSup>
                      <m:sSupPr>
                        <m:ctrlPr>
                          <a:rPr lang="es-MX" sz="1800" i="1">
                            <a:latin typeface="+mn-lt"/>
                            <a:ea typeface="Roboto" panose="02000000000000000000" pitchFamily="2" charset="0"/>
                          </a:rPr>
                        </m:ctrlPr>
                      </m:sSupPr>
                      <m:e>
                        <m:r>
                          <a:rPr lang="es-MX" sz="1800" i="1">
                            <a:latin typeface="+mn-lt"/>
                            <a:ea typeface="Roboto" panose="02000000000000000000" pitchFamily="2" charset="0"/>
                          </a:rPr>
                          <m:t>𝐴</m:t>
                        </m:r>
                      </m:e>
                      <m:sup>
                        <m:r>
                          <a:rPr lang="es-MX" sz="1800" i="1">
                            <a:latin typeface="+mn-lt"/>
                            <a:ea typeface="Roboto" panose="02000000000000000000" pitchFamily="2" charset="0"/>
                          </a:rPr>
                          <m:t>′</m:t>
                        </m:r>
                      </m:sup>
                    </m:sSup>
                    <m:r>
                      <a:rPr lang="es-MX" sz="1800" i="1">
                        <a:latin typeface="+mn-lt"/>
                        <a:ea typeface="Roboto" panose="02000000000000000000" pitchFamily="2" charset="0"/>
                      </a:rPr>
                      <m:t>+</m:t>
                    </m:r>
                    <m:r>
                      <a:rPr lang="es-MX" sz="1800" i="1">
                        <a:latin typeface="+mn-lt"/>
                        <a:ea typeface="Roboto" panose="02000000000000000000" pitchFamily="2" charset="0"/>
                      </a:rPr>
                      <m:t>𝐵</m:t>
                    </m:r>
                    <m:r>
                      <a:rPr lang="es-MX" sz="1800" i="1">
                        <a:latin typeface="+mn-lt"/>
                        <a:ea typeface="Roboto" panose="02000000000000000000" pitchFamily="2" charset="0"/>
                      </a:rPr>
                      <m:t>′⊆</m:t>
                    </m:r>
                    <m:sSup>
                      <m:sSupPr>
                        <m:ctrlPr>
                          <a:rPr lang="es-MX" sz="1800" i="1">
                            <a:latin typeface="+mn-lt"/>
                            <a:ea typeface="Roboto" panose="02000000000000000000" pitchFamily="2" charset="0"/>
                          </a:rPr>
                        </m:ctrlPr>
                      </m:sSupPr>
                      <m:e>
                        <m:d>
                          <m:dPr>
                            <m:ctrlPr>
                              <a:rPr lang="es-MX" sz="1800" i="1">
                                <a:latin typeface="+mn-lt"/>
                                <a:ea typeface="Roboto" panose="02000000000000000000" pitchFamily="2" charset="0"/>
                              </a:rPr>
                            </m:ctrlPr>
                          </m:dPr>
                          <m:e>
                            <m:r>
                              <a:rPr lang="es-MX" sz="1800" i="1">
                                <a:latin typeface="+mn-lt"/>
                                <a:ea typeface="Roboto" panose="02000000000000000000" pitchFamily="2" charset="0"/>
                              </a:rPr>
                              <m:t>𝐴</m:t>
                            </m:r>
                            <m:r>
                              <a:rPr lang="es-MX" sz="1800" i="1">
                                <a:latin typeface="+mn-lt"/>
                                <a:ea typeface="Cambria Math" panose="02040503050406030204" pitchFamily="18" charset="0"/>
                              </a:rPr>
                              <m:t>⋅</m:t>
                            </m:r>
                            <m:r>
                              <a:rPr lang="es-MX" sz="1800" i="1">
                                <a:latin typeface="+mn-lt"/>
                                <a:ea typeface="Roboto" panose="02000000000000000000" pitchFamily="2" charset="0"/>
                              </a:rPr>
                              <m:t>𝐵</m:t>
                            </m:r>
                          </m:e>
                        </m:d>
                      </m:e>
                      <m:sup>
                        <m:r>
                          <a:rPr lang="es-MX" sz="1800" i="1">
                            <a:latin typeface="+mn-lt"/>
                            <a:ea typeface="Roboto" panose="02000000000000000000" pitchFamily="2" charset="0"/>
                          </a:rPr>
                          <m:t>′</m:t>
                        </m:r>
                      </m:sup>
                    </m:sSup>
                  </m:oMath>
                </a14:m>
                <a:endParaRPr lang="es-MX" sz="1800" dirty="0">
                  <a:latin typeface="+mn-lt"/>
                  <a:ea typeface="Roboto" panose="02000000000000000000" pitchFamily="2" charset="0"/>
                </a:endParaRPr>
              </a:p>
            </p:txBody>
          </p:sp>
        </mc:Choice>
        <mc:Fallback>
          <p:sp>
            <p:nvSpPr>
              <p:cNvPr id="10" name="Google Shape;310;p34">
                <a:extLst>
                  <a:ext uri="{FF2B5EF4-FFF2-40B4-BE49-F238E27FC236}">
                    <a16:creationId xmlns:a16="http://schemas.microsoft.com/office/drawing/2014/main" id="{BA1A4491-21CF-4751-AB4F-39AF47375D2F}"/>
                  </a:ext>
                </a:extLst>
              </p:cNvPr>
              <p:cNvSpPr txBox="1">
                <a:spLocks noRot="1" noChangeAspect="1" noMove="1" noResize="1" noEditPoints="1" noAdjustHandles="1" noChangeArrowheads="1" noChangeShapeType="1" noTextEdit="1"/>
              </p:cNvSpPr>
              <p:nvPr/>
            </p:nvSpPr>
            <p:spPr>
              <a:xfrm>
                <a:off x="6210196" y="2609665"/>
                <a:ext cx="2919573" cy="492443"/>
              </a:xfrm>
              <a:prstGeom prst="rect">
                <a:avLst/>
              </a:prstGeom>
              <a:blipFill>
                <a:blip r:embed="rId7"/>
                <a:stretch>
                  <a:fillRect b="-18519"/>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342579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Identidades</a:t>
            </a:r>
            <a:endParaRPr dirty="0"/>
          </a:p>
        </p:txBody>
      </p:sp>
      <p:sp>
        <p:nvSpPr>
          <p:cNvPr id="20" name="CuadroTexto 19">
            <a:extLst>
              <a:ext uri="{FF2B5EF4-FFF2-40B4-BE49-F238E27FC236}">
                <a16:creationId xmlns:a16="http://schemas.microsoft.com/office/drawing/2014/main" id="{EC981F08-C206-4A60-8BF8-5D902A118C7A}"/>
              </a:ext>
            </a:extLst>
          </p:cNvPr>
          <p:cNvSpPr txBox="1"/>
          <p:nvPr/>
        </p:nvSpPr>
        <p:spPr>
          <a:xfrm>
            <a:off x="916650" y="888638"/>
            <a:ext cx="10587093" cy="492443"/>
          </a:xfrm>
          <a:prstGeom prst="rect">
            <a:avLst/>
          </a:prstGeom>
          <a:noFill/>
        </p:spPr>
        <p:txBody>
          <a:bodyPr wrap="square" rtlCol="0">
            <a:spAutoFit/>
          </a:bodyPr>
          <a:lstStyle/>
          <a:p>
            <a:r>
              <a:rPr lang="es-MX" sz="2600" b="1" dirty="0">
                <a:solidFill>
                  <a:schemeClr val="accent2"/>
                </a:solidFill>
                <a:ea typeface="Roboto" panose="02000000000000000000" pitchFamily="2" charset="0"/>
              </a:rPr>
              <a:t>Método de escritura algebraica</a:t>
            </a:r>
          </a:p>
        </p:txBody>
      </p:sp>
      <p:sp>
        <p:nvSpPr>
          <p:cNvPr id="5" name="Google Shape;310;p34">
            <a:extLst>
              <a:ext uri="{FF2B5EF4-FFF2-40B4-BE49-F238E27FC236}">
                <a16:creationId xmlns:a16="http://schemas.microsoft.com/office/drawing/2014/main" id="{BBD38E2F-FE36-42C0-B6C0-29D97760C3BC}"/>
              </a:ext>
            </a:extLst>
          </p:cNvPr>
          <p:cNvSpPr txBox="1">
            <a:spLocks/>
          </p:cNvSpPr>
          <p:nvPr/>
        </p:nvSpPr>
        <p:spPr>
          <a:xfrm>
            <a:off x="788829" y="1322089"/>
            <a:ext cx="11044291" cy="139357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Este método implica transformar un lado de la identidad en el otro utilizando leyes de conjuntos ya establecidas (como las leyes conmutativas, asociativas, distributivas, de De Morgan, de identidad, de complemento, etc.). Es similar a las manipulaciones algebraicas en expresiones numéricas.</a:t>
            </a:r>
          </a:p>
        </p:txBody>
      </p:sp>
      <mc:AlternateContent xmlns:mc="http://schemas.openxmlformats.org/markup-compatibility/2006">
        <mc:Choice xmlns:a14="http://schemas.microsoft.com/office/drawing/2010/main" Requires="a14">
          <p:graphicFrame>
            <p:nvGraphicFramePr>
              <p:cNvPr id="6" name="Tabla 3">
                <a:extLst>
                  <a:ext uri="{FF2B5EF4-FFF2-40B4-BE49-F238E27FC236}">
                    <a16:creationId xmlns:a16="http://schemas.microsoft.com/office/drawing/2014/main" id="{24F5D65F-F107-474A-BE77-7AED35EE00BA}"/>
                  </a:ext>
                </a:extLst>
              </p:cNvPr>
              <p:cNvGraphicFramePr>
                <a:graphicFrameLocks noGrp="1"/>
              </p:cNvGraphicFramePr>
              <p:nvPr>
                <p:extLst>
                  <p:ext uri="{D42A27DB-BD31-4B8C-83A1-F6EECF244321}">
                    <p14:modId xmlns:p14="http://schemas.microsoft.com/office/powerpoint/2010/main" val="1648775163"/>
                  </p:ext>
                </p:extLst>
              </p:nvPr>
            </p:nvGraphicFramePr>
            <p:xfrm>
              <a:off x="2200857" y="2553426"/>
              <a:ext cx="8220234" cy="3737674"/>
            </p:xfrm>
            <a:graphic>
              <a:graphicData uri="http://schemas.openxmlformats.org/drawingml/2006/table">
                <a:tbl>
                  <a:tblPr firstRow="1" bandRow="1">
                    <a:tableStyleId>{AD6A3598-7CB8-4345-8D95-17CE05F158A0}</a:tableStyleId>
                  </a:tblPr>
                  <a:tblGrid>
                    <a:gridCol w="2049465">
                      <a:extLst>
                        <a:ext uri="{9D8B030D-6E8A-4147-A177-3AD203B41FA5}">
                          <a16:colId xmlns:a16="http://schemas.microsoft.com/office/drawing/2014/main" val="2419793140"/>
                        </a:ext>
                      </a:extLst>
                    </a:gridCol>
                    <a:gridCol w="3014662">
                      <a:extLst>
                        <a:ext uri="{9D8B030D-6E8A-4147-A177-3AD203B41FA5}">
                          <a16:colId xmlns:a16="http://schemas.microsoft.com/office/drawing/2014/main" val="2761119023"/>
                        </a:ext>
                      </a:extLst>
                    </a:gridCol>
                    <a:gridCol w="116840">
                      <a:extLst>
                        <a:ext uri="{9D8B030D-6E8A-4147-A177-3AD203B41FA5}">
                          <a16:colId xmlns:a16="http://schemas.microsoft.com/office/drawing/2014/main" val="3891570482"/>
                        </a:ext>
                      </a:extLst>
                    </a:gridCol>
                    <a:gridCol w="3039267">
                      <a:extLst>
                        <a:ext uri="{9D8B030D-6E8A-4147-A177-3AD203B41FA5}">
                          <a16:colId xmlns:a16="http://schemas.microsoft.com/office/drawing/2014/main" val="1788288122"/>
                        </a:ext>
                      </a:extLst>
                    </a:gridCol>
                  </a:tblGrid>
                  <a:tr h="342003">
                    <a:tc>
                      <a:txBody>
                        <a:bodyPr/>
                        <a:lstStyle/>
                        <a:p>
                          <a:r>
                            <a:rPr lang="es-CO" sz="1800" b="1" dirty="0">
                              <a:latin typeface="+mn-lt"/>
                              <a:ea typeface="Roboto" panose="02000000000000000000" pitchFamily="2" charset="0"/>
                            </a:rPr>
                            <a:t>Nombre</a:t>
                          </a:r>
                        </a:p>
                      </a:txBody>
                      <a:tcPr>
                        <a:solidFill>
                          <a:schemeClr val="bg1">
                            <a:lumMod val="95000"/>
                          </a:schemeClr>
                        </a:solidFill>
                      </a:tcPr>
                    </a:tc>
                    <a:tc gridSpan="3">
                      <a:txBody>
                        <a:bodyPr/>
                        <a:lstStyle/>
                        <a:p>
                          <a:pPr algn="ctr"/>
                          <a:r>
                            <a:rPr lang="es-CO" sz="1800" b="1" dirty="0">
                              <a:latin typeface="+mn-lt"/>
                              <a:ea typeface="Roboto" panose="02000000000000000000" pitchFamily="2" charset="0"/>
                            </a:rPr>
                            <a:t>Equivalencia</a:t>
                          </a:r>
                        </a:p>
                      </a:txBody>
                      <a:tcPr>
                        <a:solidFill>
                          <a:schemeClr val="bg1">
                            <a:lumMod val="95000"/>
                          </a:schemeClr>
                        </a:solidFill>
                      </a:tcPr>
                    </a:tc>
                    <a:tc hMerge="1">
                      <a:txBody>
                        <a:bodyPr/>
                        <a:lstStyle/>
                        <a:p>
                          <a:endParaRPr lang="es-CO" sz="1600" b="1"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1624526593"/>
                      </a:ext>
                    </a:extLst>
                  </a:tr>
                  <a:tr h="313503">
                    <a:tc>
                      <a:txBody>
                        <a:bodyPr/>
                        <a:lstStyle/>
                        <a:p>
                          <a:r>
                            <a:rPr lang="es-CO" sz="1600" b="1" dirty="0">
                              <a:latin typeface="+mn-lt"/>
                              <a:ea typeface="Roboto" panose="02000000000000000000" pitchFamily="2" charset="0"/>
                            </a:rPr>
                            <a:t>Idempotencia</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Roboto" panose="02000000000000000000" pitchFamily="2" charset="0"/>
                                  </a:rPr>
                                  <m:t>𝐴</m:t>
                                </m:r>
                              </m:oMath>
                            </m:oMathPara>
                          </a14:m>
                          <a:endParaRPr lang="es-CO" sz="1600" dirty="0">
                            <a:latin typeface="+mn-lt"/>
                            <a:ea typeface="Roboto" panose="02000000000000000000" pitchFamily="2" charset="0"/>
                          </a:endParaRPr>
                        </a:p>
                      </a:txBody>
                      <a:tcPr/>
                    </a:tc>
                    <a:tc gridSpan="2">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Roboto" panose="02000000000000000000" pitchFamily="2" charset="0"/>
                                  </a:rPr>
                                  <m:t>𝐴</m:t>
                                </m:r>
                              </m:oMath>
                            </m:oMathPara>
                          </a14:m>
                          <a:endParaRPr lang="es-CO" sz="16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154515760"/>
                      </a:ext>
                    </a:extLst>
                  </a:tr>
                  <a:tr h="313503">
                    <a:tc>
                      <a:txBody>
                        <a:bodyPr/>
                        <a:lstStyle/>
                        <a:p>
                          <a:r>
                            <a:rPr lang="es-CO" sz="1600" b="1" dirty="0">
                              <a:latin typeface="+mn-lt"/>
                              <a:ea typeface="Roboto" panose="02000000000000000000" pitchFamily="2" charset="0"/>
                            </a:rPr>
                            <a:t>Identidad</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⋅1=</m:t>
                                </m:r>
                                <m:r>
                                  <a:rPr lang="es-MX" sz="1600" b="0" i="1" smtClean="0">
                                    <a:latin typeface="+mn-lt"/>
                                    <a:ea typeface="Roboto" panose="02000000000000000000" pitchFamily="2" charset="0"/>
                                  </a:rPr>
                                  <m:t>𝐴</m:t>
                                </m:r>
                              </m:oMath>
                            </m:oMathPara>
                          </a14:m>
                          <a:endParaRPr lang="es-CO" sz="1600" dirty="0">
                            <a:latin typeface="+mn-lt"/>
                            <a:ea typeface="Roboto" panose="02000000000000000000" pitchFamily="2" charset="0"/>
                          </a:endParaRPr>
                        </a:p>
                      </a:txBody>
                      <a:tcPr/>
                    </a:tc>
                    <a:tc gridSpan="2">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+0=</m:t>
                                </m:r>
                                <m:r>
                                  <a:rPr lang="es-MX" sz="1600" b="0" i="1" smtClean="0">
                                    <a:latin typeface="+mn-lt"/>
                                    <a:ea typeface="Roboto" panose="02000000000000000000" pitchFamily="2" charset="0"/>
                                  </a:rPr>
                                  <m:t>𝐴</m:t>
                                </m:r>
                              </m:oMath>
                            </m:oMathPara>
                          </a14:m>
                          <a:endParaRPr lang="es-CO" sz="16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1913743916"/>
                      </a:ext>
                    </a:extLst>
                  </a:tr>
                  <a:tr h="313503">
                    <a:tc>
                      <a:txBody>
                        <a:bodyPr/>
                        <a:lstStyle/>
                        <a:p>
                          <a:r>
                            <a:rPr lang="es-CO" sz="1600" b="1" dirty="0">
                              <a:latin typeface="+mn-lt"/>
                              <a:ea typeface="Roboto" panose="02000000000000000000" pitchFamily="2" charset="0"/>
                            </a:rPr>
                            <a:t>Dominación</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⋅0=0</m:t>
                                </m:r>
                              </m:oMath>
                            </m:oMathPara>
                          </a14:m>
                          <a:endParaRPr lang="es-CO" sz="1600" dirty="0">
                            <a:latin typeface="+mn-lt"/>
                            <a:ea typeface="Roboto" panose="02000000000000000000" pitchFamily="2" charset="0"/>
                          </a:endParaRPr>
                        </a:p>
                      </a:txBody>
                      <a:tcPr/>
                    </a:tc>
                    <a:tc gridSpan="2">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+1=1</m:t>
                                </m:r>
                              </m:oMath>
                            </m:oMathPara>
                          </a14:m>
                          <a:endParaRPr lang="es-CO" sz="16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717401643"/>
                      </a:ext>
                    </a:extLst>
                  </a:tr>
                  <a:tr h="313503">
                    <a:tc>
                      <a:txBody>
                        <a:bodyPr/>
                        <a:lstStyle/>
                        <a:p>
                          <a:r>
                            <a:rPr lang="es-CO" sz="1600" b="1" dirty="0">
                              <a:latin typeface="+mn-lt"/>
                              <a:ea typeface="Roboto" panose="02000000000000000000" pitchFamily="2" charset="0"/>
                            </a:rPr>
                            <a:t>Conmutativa</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oMath>
                            </m:oMathPara>
                          </a14:m>
                          <a:endParaRPr lang="es-CO" sz="1600" dirty="0">
                            <a:latin typeface="+mn-lt"/>
                            <a:ea typeface="Roboto" panose="02000000000000000000" pitchFamily="2" charset="0"/>
                          </a:endParaRPr>
                        </a:p>
                      </a:txBody>
                      <a:tcPr/>
                    </a:tc>
                    <a:tc gridSpan="2">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oMath>
                            </m:oMathPara>
                          </a14:m>
                          <a:endParaRPr lang="es-CO" sz="16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2246818852"/>
                      </a:ext>
                    </a:extLst>
                  </a:tr>
                  <a:tr h="313503">
                    <a:tc>
                      <a:txBody>
                        <a:bodyPr/>
                        <a:lstStyle/>
                        <a:p>
                          <a:r>
                            <a:rPr lang="es-CO" sz="1600" b="1" dirty="0">
                              <a:latin typeface="+mn-lt"/>
                              <a:ea typeface="Roboto" panose="02000000000000000000" pitchFamily="2" charset="0"/>
                            </a:rPr>
                            <a:t>Asociativa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𝐶</m:t>
                                    </m:r>
                                  </m:e>
                                </m:d>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𝐶</m:t>
                                </m:r>
                              </m:oMath>
                            </m:oMathPara>
                          </a14:m>
                          <a:endParaRPr lang="es-CO" sz="1600" dirty="0">
                            <a:latin typeface="+mn-lt"/>
                            <a:ea typeface="Roboto" panose="02000000000000000000" pitchFamily="2" charset="0"/>
                          </a:endParaRP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𝐶</m:t>
                                    </m:r>
                                  </m:e>
                                </m:d>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𝐶</m:t>
                                </m:r>
                              </m:oMath>
                            </m:oMathPara>
                          </a14:m>
                          <a:endParaRPr lang="es-CO" sz="16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1992230363"/>
                      </a:ext>
                    </a:extLst>
                  </a:tr>
                  <a:tr h="313503">
                    <a:tc>
                      <a:txBody>
                        <a:bodyPr/>
                        <a:lstStyle/>
                        <a:p>
                          <a:r>
                            <a:rPr lang="es-CO" sz="1600" b="1" dirty="0">
                              <a:latin typeface="+mn-lt"/>
                              <a:ea typeface="Roboto" panose="02000000000000000000" pitchFamily="2" charset="0"/>
                            </a:rPr>
                            <a:t>Distributiva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𝐶</m:t>
                                    </m:r>
                                  </m:e>
                                </m:d>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𝐶</m:t>
                                </m:r>
                              </m:oMath>
                            </m:oMathPara>
                          </a14:m>
                          <a:endParaRPr lang="es-CO" sz="1600" dirty="0">
                            <a:latin typeface="+mn-lt"/>
                            <a:ea typeface="Roboto" panose="02000000000000000000" pitchFamily="2" charset="0"/>
                          </a:endParaRP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𝐶</m:t>
                                    </m:r>
                                  </m:e>
                                </m:d>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𝐶</m:t>
                                    </m:r>
                                  </m:e>
                                </m:d>
                              </m:oMath>
                            </m:oMathPara>
                          </a14:m>
                          <a:endParaRPr lang="es-CO" sz="16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2113060234"/>
                      </a:ext>
                    </a:extLst>
                  </a:tr>
                  <a:tr h="313503">
                    <a:tc>
                      <a:txBody>
                        <a:bodyPr/>
                        <a:lstStyle/>
                        <a:p>
                          <a:r>
                            <a:rPr lang="es-CO" sz="1600" b="1" dirty="0">
                              <a:latin typeface="+mn-lt"/>
                              <a:ea typeface="Roboto" panose="02000000000000000000" pitchFamily="2" charset="0"/>
                            </a:rPr>
                            <a:t>Complemento</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′=0</m:t>
                                </m:r>
                              </m:oMath>
                            </m:oMathPara>
                          </a14:m>
                          <a:endParaRPr lang="es-CO" sz="1600" dirty="0">
                            <a:latin typeface="+mn-lt"/>
                            <a:ea typeface="Roboto" panose="02000000000000000000" pitchFamily="2" charset="0"/>
                          </a:endParaRPr>
                        </a:p>
                      </a:txBody>
                      <a:tcPr/>
                    </a:tc>
                    <a:tc gridSpan="2">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′=1</m:t>
                                </m:r>
                              </m:oMath>
                            </m:oMathPara>
                          </a14:m>
                          <a:endParaRPr lang="es-CO" sz="16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1232652958"/>
                      </a:ext>
                    </a:extLst>
                  </a:tr>
                  <a:tr h="313503">
                    <a:tc>
                      <a:txBody>
                        <a:bodyPr/>
                        <a:lstStyle/>
                        <a:p>
                          <a:r>
                            <a:rPr lang="es-CO" sz="1600" b="1" dirty="0">
                              <a:latin typeface="+mn-lt"/>
                              <a:ea typeface="Roboto" panose="02000000000000000000" pitchFamily="2" charset="0"/>
                            </a:rPr>
                            <a:t>Doble negación</a:t>
                          </a:r>
                        </a:p>
                      </a:txBody>
                      <a:tcPr/>
                    </a:tc>
                    <a:tc gridSpan="3">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oMath>
                            </m:oMathPara>
                          </a14:m>
                          <a:endParaRPr lang="es-CO" sz="1600" b="1" dirty="0">
                            <a:latin typeface="+mn-lt"/>
                            <a:ea typeface="Roboto" panose="02000000000000000000" pitchFamily="2"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b="1"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770911309"/>
                      </a:ext>
                    </a:extLst>
                  </a:tr>
                  <a:tr h="313503">
                    <a:tc>
                      <a:txBody>
                        <a:bodyPr/>
                        <a:lstStyle/>
                        <a:p>
                          <a:r>
                            <a:rPr lang="es-CO" sz="1600" b="1" dirty="0">
                              <a:latin typeface="+mn-lt"/>
                              <a:ea typeface="Roboto" panose="02000000000000000000" pitchFamily="2" charset="0"/>
                            </a:rPr>
                            <a:t>Absorción</a:t>
                          </a: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oMath>
                            </m:oMathPara>
                          </a14:m>
                          <a:endParaRPr lang="es-CO" sz="1600" dirty="0">
                            <a:latin typeface="+mn-lt"/>
                            <a:ea typeface="Roboto" panose="02000000000000000000" pitchFamily="2" charset="0"/>
                          </a:endParaRPr>
                        </a:p>
                      </a:txBody>
                      <a:tcPr/>
                    </a:tc>
                    <a:tc hMerge="1">
                      <a:txBody>
                        <a:bodyPr/>
                        <a:lstStyle/>
                        <a:p>
                          <a:pPr algn="ctr"/>
                          <a:endParaRPr lang="es-CO" sz="1600" dirty="0">
                            <a:latin typeface="Roboto" panose="02000000000000000000" pitchFamily="2" charset="0"/>
                            <a:ea typeface="Roboto" panose="02000000000000000000"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3483938044"/>
                      </a:ext>
                    </a:extLst>
                  </a:tr>
                  <a:tr h="313503">
                    <a:tc>
                      <a:txBody>
                        <a:bodyPr/>
                        <a:lstStyle/>
                        <a:p>
                          <a:r>
                            <a:rPr lang="es-CO" sz="1600" b="1" dirty="0">
                              <a:latin typeface="+mn-lt"/>
                              <a:ea typeface="Roboto" panose="02000000000000000000" pitchFamily="2" charset="0"/>
                            </a:rPr>
                            <a:t>De Morgan</a:t>
                          </a: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p>
                                  <m:sSupPr>
                                    <m:ctrlPr>
                                      <a:rPr lang="es-MX" sz="1600" b="0" i="1" smtClean="0">
                                        <a:latin typeface="+mn-lt"/>
                                        <a:ea typeface="Cambria Math" panose="02040503050406030204" pitchFamily="18" charset="0"/>
                                      </a:rPr>
                                    </m:ctrlPr>
                                  </m:sSupPr>
                                  <m:e>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e>
                                  <m:sup>
                                    <m:r>
                                      <a:rPr lang="es-MX" sz="1600" b="0" i="1" smtClean="0">
                                        <a:latin typeface="+mn-lt"/>
                                        <a:ea typeface="Cambria Math" panose="02040503050406030204" pitchFamily="18" charset="0"/>
                                      </a:rPr>
                                      <m:t>′</m:t>
                                    </m:r>
                                  </m:sup>
                                </m:sSup>
                                <m:r>
                                  <a:rPr lang="es-MX" sz="1600" b="0" i="1" smtClean="0">
                                    <a:latin typeface="+mn-lt"/>
                                    <a:ea typeface="Cambria Math" panose="02040503050406030204" pitchFamily="18" charset="0"/>
                                  </a:rPr>
                                  <m:t>=</m:t>
                                </m:r>
                                <m:sSup>
                                  <m:sSupPr>
                                    <m:ctrlPr>
                                      <a:rPr lang="es-MX" sz="1600" b="0" i="1" smtClean="0">
                                        <a:latin typeface="+mn-lt"/>
                                        <a:ea typeface="Cambria Math" panose="02040503050406030204" pitchFamily="18" charset="0"/>
                                      </a:rPr>
                                    </m:ctrlPr>
                                  </m:sSupPr>
                                  <m:e>
                                    <m:r>
                                      <a:rPr lang="es-MX" sz="1600" b="0" i="1" smtClean="0">
                                        <a:latin typeface="+mn-lt"/>
                                        <a:ea typeface="Cambria Math" panose="02040503050406030204" pitchFamily="18" charset="0"/>
                                      </a:rPr>
                                      <m:t>𝐴</m:t>
                                    </m:r>
                                  </m:e>
                                  <m:sup>
                                    <m:r>
                                      <a:rPr lang="es-MX" sz="1600" b="0" i="1" smtClean="0">
                                        <a:latin typeface="+mn-lt"/>
                                        <a:ea typeface="Cambria Math" panose="02040503050406030204" pitchFamily="18" charset="0"/>
                                      </a:rPr>
                                      <m:t>′</m:t>
                                    </m:r>
                                  </m:sup>
                                </m:sSup>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oMath>
                            </m:oMathPara>
                          </a14:m>
                          <a:endParaRPr lang="es-CO" sz="1600" dirty="0">
                            <a:latin typeface="+mn-lt"/>
                            <a:ea typeface="Roboto" panose="02000000000000000000" pitchFamily="2" charset="0"/>
                          </a:endParaRPr>
                        </a:p>
                      </a:txBody>
                      <a:tcPr/>
                    </a:tc>
                    <a:tc hMerge="1">
                      <a:txBody>
                        <a:bodyPr/>
                        <a:lstStyle/>
                        <a:p>
                          <a:endParaRPr lang="es-CO"/>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p>
                                  <m:sSupPr>
                                    <m:ctrlPr>
                                      <a:rPr lang="es-MX" sz="1600" b="0" i="1" smtClean="0">
                                        <a:latin typeface="+mn-lt"/>
                                        <a:ea typeface="Cambria Math" panose="02040503050406030204" pitchFamily="18" charset="0"/>
                                      </a:rPr>
                                    </m:ctrlPr>
                                  </m:sSupPr>
                                  <m:e>
                                    <m:d>
                                      <m:dPr>
                                        <m:ctrlPr>
                                          <a:rPr lang="es-MX" sz="1600" b="0" i="1" smtClean="0">
                                            <a:latin typeface="+mn-lt"/>
                                            <a:ea typeface="Cambria Math" panose="02040503050406030204" pitchFamily="18" charset="0"/>
                                          </a:rPr>
                                        </m:ctrlPr>
                                      </m:dPr>
                                      <m:e>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e>
                                    </m:d>
                                  </m:e>
                                  <m:sup>
                                    <m:r>
                                      <a:rPr lang="es-MX" sz="1600" b="0" i="1" smtClean="0">
                                        <a:latin typeface="+mn-lt"/>
                                        <a:ea typeface="Cambria Math" panose="02040503050406030204" pitchFamily="18" charset="0"/>
                                      </a:rPr>
                                      <m:t>′</m:t>
                                    </m:r>
                                  </m:sup>
                                </m:sSup>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𝐴</m:t>
                                </m:r>
                                <m:r>
                                  <a:rPr lang="es-MX" sz="1600" b="0" i="1" smtClean="0">
                                    <a:latin typeface="+mn-lt"/>
                                    <a:ea typeface="Cambria Math" panose="02040503050406030204" pitchFamily="18" charset="0"/>
                                  </a:rPr>
                                  <m:t>′⋅</m:t>
                                </m:r>
                                <m:r>
                                  <a:rPr lang="es-MX" sz="1600" b="0" i="1" smtClean="0">
                                    <a:latin typeface="+mn-lt"/>
                                    <a:ea typeface="Cambria Math" panose="02040503050406030204" pitchFamily="18" charset="0"/>
                                  </a:rPr>
                                  <m:t>𝐵</m:t>
                                </m:r>
                                <m:r>
                                  <a:rPr lang="es-MX" sz="1600" b="0" i="1" smtClean="0">
                                    <a:latin typeface="+mn-lt"/>
                                    <a:ea typeface="Cambria Math" panose="02040503050406030204" pitchFamily="18" charset="0"/>
                                  </a:rPr>
                                  <m:t>′</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493544081"/>
                      </a:ext>
                    </a:extLst>
                  </a:tr>
                </a:tbl>
              </a:graphicData>
            </a:graphic>
          </p:graphicFrame>
        </mc:Choice>
        <mc:Fallback>
          <p:graphicFrame>
            <p:nvGraphicFramePr>
              <p:cNvPr id="6" name="Tabla 3">
                <a:extLst>
                  <a:ext uri="{FF2B5EF4-FFF2-40B4-BE49-F238E27FC236}">
                    <a16:creationId xmlns:a16="http://schemas.microsoft.com/office/drawing/2014/main" id="{24F5D65F-F107-474A-BE77-7AED35EE00BA}"/>
                  </a:ext>
                </a:extLst>
              </p:cNvPr>
              <p:cNvGraphicFramePr>
                <a:graphicFrameLocks noGrp="1"/>
              </p:cNvGraphicFramePr>
              <p:nvPr>
                <p:extLst>
                  <p:ext uri="{D42A27DB-BD31-4B8C-83A1-F6EECF244321}">
                    <p14:modId xmlns:p14="http://schemas.microsoft.com/office/powerpoint/2010/main" val="1648775163"/>
                  </p:ext>
                </p:extLst>
              </p:nvPr>
            </p:nvGraphicFramePr>
            <p:xfrm>
              <a:off x="2200857" y="2553426"/>
              <a:ext cx="8220234" cy="3737674"/>
            </p:xfrm>
            <a:graphic>
              <a:graphicData uri="http://schemas.openxmlformats.org/drawingml/2006/table">
                <a:tbl>
                  <a:tblPr firstRow="1" bandRow="1">
                    <a:tableStyleId>{AD6A3598-7CB8-4345-8D95-17CE05F158A0}</a:tableStyleId>
                  </a:tblPr>
                  <a:tblGrid>
                    <a:gridCol w="2049465">
                      <a:extLst>
                        <a:ext uri="{9D8B030D-6E8A-4147-A177-3AD203B41FA5}">
                          <a16:colId xmlns:a16="http://schemas.microsoft.com/office/drawing/2014/main" val="2419793140"/>
                        </a:ext>
                      </a:extLst>
                    </a:gridCol>
                    <a:gridCol w="3014662">
                      <a:extLst>
                        <a:ext uri="{9D8B030D-6E8A-4147-A177-3AD203B41FA5}">
                          <a16:colId xmlns:a16="http://schemas.microsoft.com/office/drawing/2014/main" val="2761119023"/>
                        </a:ext>
                      </a:extLst>
                    </a:gridCol>
                    <a:gridCol w="116840">
                      <a:extLst>
                        <a:ext uri="{9D8B030D-6E8A-4147-A177-3AD203B41FA5}">
                          <a16:colId xmlns:a16="http://schemas.microsoft.com/office/drawing/2014/main" val="3891570482"/>
                        </a:ext>
                      </a:extLst>
                    </a:gridCol>
                    <a:gridCol w="3039267">
                      <a:extLst>
                        <a:ext uri="{9D8B030D-6E8A-4147-A177-3AD203B41FA5}">
                          <a16:colId xmlns:a16="http://schemas.microsoft.com/office/drawing/2014/main" val="1788288122"/>
                        </a:ext>
                      </a:extLst>
                    </a:gridCol>
                  </a:tblGrid>
                  <a:tr h="365760">
                    <a:tc>
                      <a:txBody>
                        <a:bodyPr/>
                        <a:lstStyle/>
                        <a:p>
                          <a:r>
                            <a:rPr lang="es-CO" sz="1800" b="1" dirty="0">
                              <a:latin typeface="+mn-lt"/>
                              <a:ea typeface="Roboto" panose="02000000000000000000" pitchFamily="2" charset="0"/>
                            </a:rPr>
                            <a:t>Nombre</a:t>
                          </a:r>
                        </a:p>
                      </a:txBody>
                      <a:tcPr>
                        <a:solidFill>
                          <a:schemeClr val="bg1">
                            <a:lumMod val="95000"/>
                          </a:schemeClr>
                        </a:solidFill>
                      </a:tcPr>
                    </a:tc>
                    <a:tc gridSpan="3">
                      <a:txBody>
                        <a:bodyPr/>
                        <a:lstStyle/>
                        <a:p>
                          <a:pPr algn="ctr"/>
                          <a:r>
                            <a:rPr lang="es-CO" sz="1800" b="1" dirty="0">
                              <a:latin typeface="+mn-lt"/>
                              <a:ea typeface="Roboto" panose="02000000000000000000" pitchFamily="2" charset="0"/>
                            </a:rPr>
                            <a:t>Equivalencia</a:t>
                          </a:r>
                        </a:p>
                      </a:txBody>
                      <a:tcPr>
                        <a:solidFill>
                          <a:schemeClr val="bg1">
                            <a:lumMod val="95000"/>
                          </a:schemeClr>
                        </a:solidFill>
                      </a:tcPr>
                    </a:tc>
                    <a:tc hMerge="1">
                      <a:txBody>
                        <a:bodyPr/>
                        <a:lstStyle/>
                        <a:p>
                          <a:endParaRPr lang="es-CO" sz="1600" b="1"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1624526593"/>
                      </a:ext>
                    </a:extLst>
                  </a:tr>
                  <a:tr h="335280">
                    <a:tc>
                      <a:txBody>
                        <a:bodyPr/>
                        <a:lstStyle/>
                        <a:p>
                          <a:r>
                            <a:rPr lang="es-CO" sz="1600" b="1" dirty="0">
                              <a:latin typeface="+mn-lt"/>
                              <a:ea typeface="Roboto" panose="02000000000000000000" pitchFamily="2" charset="0"/>
                            </a:rPr>
                            <a:t>Idempotencia</a:t>
                          </a:r>
                        </a:p>
                      </a:txBody>
                      <a:tcPr/>
                    </a:tc>
                    <a:tc>
                      <a:txBody>
                        <a:bodyPr/>
                        <a:lstStyle/>
                        <a:p>
                          <a:endParaRPr lang="es-CO"/>
                        </a:p>
                      </a:txBody>
                      <a:tcPr>
                        <a:blipFill>
                          <a:blip r:embed="rId3"/>
                          <a:stretch>
                            <a:fillRect l="-68081" t="-118182" r="-105051" b="-925455"/>
                          </a:stretch>
                        </a:blipFill>
                      </a:tcPr>
                    </a:tc>
                    <a:tc gridSpan="2">
                      <a:txBody>
                        <a:bodyPr/>
                        <a:lstStyle/>
                        <a:p>
                          <a:endParaRPr lang="es-CO"/>
                        </a:p>
                      </a:txBody>
                      <a:tcPr>
                        <a:blipFill>
                          <a:blip r:embed="rId3"/>
                          <a:stretch>
                            <a:fillRect l="-160618" t="-118182" r="-386" b="-925455"/>
                          </a:stretch>
                        </a:blipFill>
                      </a:tcPr>
                    </a:tc>
                    <a:tc hMerge="1">
                      <a:txBody>
                        <a:bodyPr/>
                        <a:lstStyle/>
                        <a:p>
                          <a:endParaRPr lang="es-CO"/>
                        </a:p>
                      </a:txBody>
                      <a:tcPr/>
                    </a:tc>
                    <a:extLst>
                      <a:ext uri="{0D108BD9-81ED-4DB2-BD59-A6C34878D82A}">
                        <a16:rowId xmlns:a16="http://schemas.microsoft.com/office/drawing/2014/main" val="3154515760"/>
                      </a:ext>
                    </a:extLst>
                  </a:tr>
                  <a:tr h="335280">
                    <a:tc>
                      <a:txBody>
                        <a:bodyPr/>
                        <a:lstStyle/>
                        <a:p>
                          <a:r>
                            <a:rPr lang="es-CO" sz="1600" b="1" dirty="0">
                              <a:latin typeface="+mn-lt"/>
                              <a:ea typeface="Roboto" panose="02000000000000000000" pitchFamily="2" charset="0"/>
                            </a:rPr>
                            <a:t>Identidad</a:t>
                          </a:r>
                        </a:p>
                      </a:txBody>
                      <a:tcPr/>
                    </a:tc>
                    <a:tc>
                      <a:txBody>
                        <a:bodyPr/>
                        <a:lstStyle/>
                        <a:p>
                          <a:endParaRPr lang="es-CO"/>
                        </a:p>
                      </a:txBody>
                      <a:tcPr>
                        <a:blipFill>
                          <a:blip r:embed="rId3"/>
                          <a:stretch>
                            <a:fillRect l="-68081" t="-214286" r="-105051" b="-808929"/>
                          </a:stretch>
                        </a:blipFill>
                      </a:tcPr>
                    </a:tc>
                    <a:tc gridSpan="2">
                      <a:txBody>
                        <a:bodyPr/>
                        <a:lstStyle/>
                        <a:p>
                          <a:endParaRPr lang="es-CO"/>
                        </a:p>
                      </a:txBody>
                      <a:tcPr>
                        <a:blipFill>
                          <a:blip r:embed="rId3"/>
                          <a:stretch>
                            <a:fillRect l="-160618" t="-214286" r="-386" b="-808929"/>
                          </a:stretch>
                        </a:blipFill>
                      </a:tcPr>
                    </a:tc>
                    <a:tc hMerge="1">
                      <a:txBody>
                        <a:bodyPr/>
                        <a:lstStyle/>
                        <a:p>
                          <a:endParaRPr lang="es-CO"/>
                        </a:p>
                      </a:txBody>
                      <a:tcPr/>
                    </a:tc>
                    <a:extLst>
                      <a:ext uri="{0D108BD9-81ED-4DB2-BD59-A6C34878D82A}">
                        <a16:rowId xmlns:a16="http://schemas.microsoft.com/office/drawing/2014/main" val="1913743916"/>
                      </a:ext>
                    </a:extLst>
                  </a:tr>
                  <a:tr h="335280">
                    <a:tc>
                      <a:txBody>
                        <a:bodyPr/>
                        <a:lstStyle/>
                        <a:p>
                          <a:r>
                            <a:rPr lang="es-CO" sz="1600" b="1" dirty="0">
                              <a:latin typeface="+mn-lt"/>
                              <a:ea typeface="Roboto" panose="02000000000000000000" pitchFamily="2" charset="0"/>
                            </a:rPr>
                            <a:t>Dominación</a:t>
                          </a:r>
                        </a:p>
                      </a:txBody>
                      <a:tcPr/>
                    </a:tc>
                    <a:tc>
                      <a:txBody>
                        <a:bodyPr/>
                        <a:lstStyle/>
                        <a:p>
                          <a:endParaRPr lang="es-CO"/>
                        </a:p>
                      </a:txBody>
                      <a:tcPr>
                        <a:blipFill>
                          <a:blip r:embed="rId3"/>
                          <a:stretch>
                            <a:fillRect l="-68081" t="-320000" r="-105051" b="-723636"/>
                          </a:stretch>
                        </a:blipFill>
                      </a:tcPr>
                    </a:tc>
                    <a:tc gridSpan="2">
                      <a:txBody>
                        <a:bodyPr/>
                        <a:lstStyle/>
                        <a:p>
                          <a:endParaRPr lang="es-CO"/>
                        </a:p>
                      </a:txBody>
                      <a:tcPr>
                        <a:blipFill>
                          <a:blip r:embed="rId3"/>
                          <a:stretch>
                            <a:fillRect l="-160618" t="-320000" r="-386" b="-723636"/>
                          </a:stretch>
                        </a:blipFill>
                      </a:tcPr>
                    </a:tc>
                    <a:tc hMerge="1">
                      <a:txBody>
                        <a:bodyPr/>
                        <a:lstStyle/>
                        <a:p>
                          <a:endParaRPr lang="es-CO"/>
                        </a:p>
                      </a:txBody>
                      <a:tcPr/>
                    </a:tc>
                    <a:extLst>
                      <a:ext uri="{0D108BD9-81ED-4DB2-BD59-A6C34878D82A}">
                        <a16:rowId xmlns:a16="http://schemas.microsoft.com/office/drawing/2014/main" val="717401643"/>
                      </a:ext>
                    </a:extLst>
                  </a:tr>
                  <a:tr h="335280">
                    <a:tc>
                      <a:txBody>
                        <a:bodyPr/>
                        <a:lstStyle/>
                        <a:p>
                          <a:r>
                            <a:rPr lang="es-CO" sz="1600" b="1" dirty="0">
                              <a:latin typeface="+mn-lt"/>
                              <a:ea typeface="Roboto" panose="02000000000000000000" pitchFamily="2" charset="0"/>
                            </a:rPr>
                            <a:t>Conmutativa</a:t>
                          </a:r>
                        </a:p>
                      </a:txBody>
                      <a:tcPr/>
                    </a:tc>
                    <a:tc>
                      <a:txBody>
                        <a:bodyPr/>
                        <a:lstStyle/>
                        <a:p>
                          <a:endParaRPr lang="es-CO"/>
                        </a:p>
                      </a:txBody>
                      <a:tcPr>
                        <a:blipFill>
                          <a:blip r:embed="rId3"/>
                          <a:stretch>
                            <a:fillRect l="-68081" t="-420000" r="-105051" b="-623636"/>
                          </a:stretch>
                        </a:blipFill>
                      </a:tcPr>
                    </a:tc>
                    <a:tc gridSpan="2">
                      <a:txBody>
                        <a:bodyPr/>
                        <a:lstStyle/>
                        <a:p>
                          <a:endParaRPr lang="es-CO"/>
                        </a:p>
                      </a:txBody>
                      <a:tcPr>
                        <a:blipFill>
                          <a:blip r:embed="rId3"/>
                          <a:stretch>
                            <a:fillRect l="-160618" t="-420000" r="-386" b="-623636"/>
                          </a:stretch>
                        </a:blipFill>
                      </a:tcPr>
                    </a:tc>
                    <a:tc hMerge="1">
                      <a:txBody>
                        <a:bodyPr/>
                        <a:lstStyle/>
                        <a:p>
                          <a:endParaRPr lang="es-CO"/>
                        </a:p>
                      </a:txBody>
                      <a:tcPr/>
                    </a:tc>
                    <a:extLst>
                      <a:ext uri="{0D108BD9-81ED-4DB2-BD59-A6C34878D82A}">
                        <a16:rowId xmlns:a16="http://schemas.microsoft.com/office/drawing/2014/main" val="2246818852"/>
                      </a:ext>
                    </a:extLst>
                  </a:tr>
                  <a:tr h="335280">
                    <a:tc>
                      <a:txBody>
                        <a:bodyPr/>
                        <a:lstStyle/>
                        <a:p>
                          <a:r>
                            <a:rPr lang="es-CO" sz="1600" b="1" dirty="0">
                              <a:latin typeface="+mn-lt"/>
                              <a:ea typeface="Roboto" panose="02000000000000000000" pitchFamily="2" charset="0"/>
                            </a:rPr>
                            <a:t>Asociativa</a:t>
                          </a:r>
                        </a:p>
                      </a:txBody>
                      <a:tcPr/>
                    </a:tc>
                    <a:tc>
                      <a:txBody>
                        <a:bodyPr/>
                        <a:lstStyle/>
                        <a:p>
                          <a:endParaRPr lang="es-CO"/>
                        </a:p>
                      </a:txBody>
                      <a:tcPr>
                        <a:blipFill>
                          <a:blip r:embed="rId3"/>
                          <a:stretch>
                            <a:fillRect l="-68081" t="-520000" r="-105051" b="-523636"/>
                          </a:stretch>
                        </a:blipFill>
                      </a:tcPr>
                    </a:tc>
                    <a:tc gridSpan="2">
                      <a:txBody>
                        <a:bodyPr/>
                        <a:lstStyle/>
                        <a:p>
                          <a:endParaRPr lang="es-CO"/>
                        </a:p>
                      </a:txBody>
                      <a:tcPr>
                        <a:blipFill>
                          <a:blip r:embed="rId3"/>
                          <a:stretch>
                            <a:fillRect l="-160618" t="-520000" r="-386" b="-523636"/>
                          </a:stretch>
                        </a:blipFill>
                      </a:tcPr>
                    </a:tc>
                    <a:tc hMerge="1">
                      <a:txBody>
                        <a:bodyPr/>
                        <a:lstStyle/>
                        <a:p>
                          <a:endParaRPr lang="es-CO"/>
                        </a:p>
                      </a:txBody>
                      <a:tcPr/>
                    </a:tc>
                    <a:extLst>
                      <a:ext uri="{0D108BD9-81ED-4DB2-BD59-A6C34878D82A}">
                        <a16:rowId xmlns:a16="http://schemas.microsoft.com/office/drawing/2014/main" val="1992230363"/>
                      </a:ext>
                    </a:extLst>
                  </a:tr>
                  <a:tr h="335280">
                    <a:tc>
                      <a:txBody>
                        <a:bodyPr/>
                        <a:lstStyle/>
                        <a:p>
                          <a:r>
                            <a:rPr lang="es-CO" sz="1600" b="1" dirty="0">
                              <a:latin typeface="+mn-lt"/>
                              <a:ea typeface="Roboto" panose="02000000000000000000" pitchFamily="2" charset="0"/>
                            </a:rPr>
                            <a:t>Distributiva</a:t>
                          </a:r>
                        </a:p>
                      </a:txBody>
                      <a:tcPr/>
                    </a:tc>
                    <a:tc>
                      <a:txBody>
                        <a:bodyPr/>
                        <a:lstStyle/>
                        <a:p>
                          <a:endParaRPr lang="es-CO"/>
                        </a:p>
                      </a:txBody>
                      <a:tcPr>
                        <a:blipFill>
                          <a:blip r:embed="rId3"/>
                          <a:stretch>
                            <a:fillRect l="-68081" t="-620000" r="-105051" b="-423636"/>
                          </a:stretch>
                        </a:blipFill>
                      </a:tcPr>
                    </a:tc>
                    <a:tc gridSpan="2">
                      <a:txBody>
                        <a:bodyPr/>
                        <a:lstStyle/>
                        <a:p>
                          <a:endParaRPr lang="es-CO"/>
                        </a:p>
                      </a:txBody>
                      <a:tcPr>
                        <a:blipFill>
                          <a:blip r:embed="rId3"/>
                          <a:stretch>
                            <a:fillRect l="-160618" t="-620000" r="-386" b="-423636"/>
                          </a:stretch>
                        </a:blipFill>
                      </a:tcPr>
                    </a:tc>
                    <a:tc hMerge="1">
                      <a:txBody>
                        <a:bodyPr/>
                        <a:lstStyle/>
                        <a:p>
                          <a:endParaRPr lang="es-CO"/>
                        </a:p>
                      </a:txBody>
                      <a:tcPr/>
                    </a:tc>
                    <a:extLst>
                      <a:ext uri="{0D108BD9-81ED-4DB2-BD59-A6C34878D82A}">
                        <a16:rowId xmlns:a16="http://schemas.microsoft.com/office/drawing/2014/main" val="2113060234"/>
                      </a:ext>
                    </a:extLst>
                  </a:tr>
                  <a:tr h="335280">
                    <a:tc>
                      <a:txBody>
                        <a:bodyPr/>
                        <a:lstStyle/>
                        <a:p>
                          <a:r>
                            <a:rPr lang="es-CO" sz="1600" b="1" dirty="0">
                              <a:latin typeface="+mn-lt"/>
                              <a:ea typeface="Roboto" panose="02000000000000000000" pitchFamily="2" charset="0"/>
                            </a:rPr>
                            <a:t>Complemento</a:t>
                          </a:r>
                        </a:p>
                      </a:txBody>
                      <a:tcPr/>
                    </a:tc>
                    <a:tc>
                      <a:txBody>
                        <a:bodyPr/>
                        <a:lstStyle/>
                        <a:p>
                          <a:endParaRPr lang="es-CO"/>
                        </a:p>
                      </a:txBody>
                      <a:tcPr>
                        <a:blipFill>
                          <a:blip r:embed="rId3"/>
                          <a:stretch>
                            <a:fillRect l="-68081" t="-720000" r="-105051" b="-323636"/>
                          </a:stretch>
                        </a:blipFill>
                      </a:tcPr>
                    </a:tc>
                    <a:tc gridSpan="2">
                      <a:txBody>
                        <a:bodyPr/>
                        <a:lstStyle/>
                        <a:p>
                          <a:endParaRPr lang="es-CO"/>
                        </a:p>
                      </a:txBody>
                      <a:tcPr>
                        <a:blipFill>
                          <a:blip r:embed="rId3"/>
                          <a:stretch>
                            <a:fillRect l="-160618" t="-720000" r="-386" b="-323636"/>
                          </a:stretch>
                        </a:blipFill>
                      </a:tcPr>
                    </a:tc>
                    <a:tc hMerge="1">
                      <a:txBody>
                        <a:bodyPr/>
                        <a:lstStyle/>
                        <a:p>
                          <a:endParaRPr lang="es-CO"/>
                        </a:p>
                      </a:txBody>
                      <a:tcPr/>
                    </a:tc>
                    <a:extLst>
                      <a:ext uri="{0D108BD9-81ED-4DB2-BD59-A6C34878D82A}">
                        <a16:rowId xmlns:a16="http://schemas.microsoft.com/office/drawing/2014/main" val="1232652958"/>
                      </a:ext>
                    </a:extLst>
                  </a:tr>
                  <a:tr h="335280">
                    <a:tc>
                      <a:txBody>
                        <a:bodyPr/>
                        <a:lstStyle/>
                        <a:p>
                          <a:r>
                            <a:rPr lang="es-CO" sz="1600" b="1" dirty="0">
                              <a:latin typeface="+mn-lt"/>
                              <a:ea typeface="Roboto" panose="02000000000000000000" pitchFamily="2" charset="0"/>
                            </a:rPr>
                            <a:t>Doble negación</a:t>
                          </a:r>
                        </a:p>
                      </a:txBody>
                      <a:tcPr/>
                    </a:tc>
                    <a:tc gridSpan="3">
                      <a:txBody>
                        <a:bodyPr/>
                        <a:lstStyle/>
                        <a:p>
                          <a:endParaRPr lang="es-CO"/>
                        </a:p>
                      </a:txBody>
                      <a:tcPr>
                        <a:blipFill>
                          <a:blip r:embed="rId3"/>
                          <a:stretch>
                            <a:fillRect l="-33268" t="-805357" r="-197" b="-217857"/>
                          </a:stretch>
                        </a:blip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xmlns:a14="http://schemas.microsoft.com/office/drawing/2010/main">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b="1"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770911309"/>
                      </a:ext>
                    </a:extLst>
                  </a:tr>
                  <a:tr h="335280">
                    <a:tc>
                      <a:txBody>
                        <a:bodyPr/>
                        <a:lstStyle/>
                        <a:p>
                          <a:r>
                            <a:rPr lang="es-CO" sz="1600" b="1" dirty="0">
                              <a:latin typeface="+mn-lt"/>
                              <a:ea typeface="Roboto" panose="02000000000000000000" pitchFamily="2" charset="0"/>
                            </a:rPr>
                            <a:t>Absorción</a:t>
                          </a:r>
                        </a:p>
                      </a:txBody>
                      <a:tcPr/>
                    </a:tc>
                    <a:tc gridSpan="2">
                      <a:txBody>
                        <a:bodyPr/>
                        <a:lstStyle/>
                        <a:p>
                          <a:endParaRPr lang="es-CO"/>
                        </a:p>
                      </a:txBody>
                      <a:tcPr>
                        <a:blipFill>
                          <a:blip r:embed="rId3"/>
                          <a:stretch>
                            <a:fillRect l="-65564" t="-921818" r="-97471" b="-121818"/>
                          </a:stretch>
                        </a:blipFill>
                      </a:tcPr>
                    </a:tc>
                    <a:tc hMerge="1">
                      <a:txBody>
                        <a:bodyPr/>
                        <a:lstStyle/>
                        <a:p>
                          <a:pPr algn="ctr"/>
                          <a:endParaRPr lang="es-CO" sz="1600" dirty="0">
                            <a:latin typeface="Roboto" panose="02000000000000000000" pitchFamily="2" charset="0"/>
                            <a:ea typeface="Roboto" panose="02000000000000000000" pitchFamily="2" charset="0"/>
                          </a:endParaRPr>
                        </a:p>
                      </a:txBody>
                      <a:tcPr/>
                    </a:tc>
                    <a:tc>
                      <a:txBody>
                        <a:bodyPr/>
                        <a:lstStyle/>
                        <a:p>
                          <a:endParaRPr lang="es-CO"/>
                        </a:p>
                      </a:txBody>
                      <a:tcPr>
                        <a:blipFill>
                          <a:blip r:embed="rId3"/>
                          <a:stretch>
                            <a:fillRect l="-170541" t="-921818" r="-401" b="-121818"/>
                          </a:stretch>
                        </a:blipFill>
                      </a:tcPr>
                    </a:tc>
                    <a:extLst>
                      <a:ext uri="{0D108BD9-81ED-4DB2-BD59-A6C34878D82A}">
                        <a16:rowId xmlns:a16="http://schemas.microsoft.com/office/drawing/2014/main" val="3483938044"/>
                      </a:ext>
                    </a:extLst>
                  </a:tr>
                  <a:tr h="354394">
                    <a:tc>
                      <a:txBody>
                        <a:bodyPr/>
                        <a:lstStyle/>
                        <a:p>
                          <a:r>
                            <a:rPr lang="es-CO" sz="1600" b="1" dirty="0">
                              <a:latin typeface="+mn-lt"/>
                              <a:ea typeface="Roboto" panose="02000000000000000000" pitchFamily="2" charset="0"/>
                            </a:rPr>
                            <a:t>De Morgan</a:t>
                          </a:r>
                        </a:p>
                      </a:txBody>
                      <a:tcPr/>
                    </a:tc>
                    <a:tc gridSpan="2">
                      <a:txBody>
                        <a:bodyPr/>
                        <a:lstStyle/>
                        <a:p>
                          <a:endParaRPr lang="es-CO"/>
                        </a:p>
                      </a:txBody>
                      <a:tcPr>
                        <a:blipFill>
                          <a:blip r:embed="rId3"/>
                          <a:stretch>
                            <a:fillRect l="-65564" t="-968966" r="-97471" b="-15517"/>
                          </a:stretch>
                        </a:blipFill>
                      </a:tcPr>
                    </a:tc>
                    <a:tc hMerge="1">
                      <a:txBody>
                        <a:bodyPr/>
                        <a:lstStyle/>
                        <a:p>
                          <a:endParaRPr lang="es-CO"/>
                        </a:p>
                      </a:txBody>
                      <a:tcPr/>
                    </a:tc>
                    <a:tc>
                      <a:txBody>
                        <a:bodyPr/>
                        <a:lstStyle/>
                        <a:p>
                          <a:endParaRPr lang="es-CO"/>
                        </a:p>
                      </a:txBody>
                      <a:tcPr>
                        <a:blipFill>
                          <a:blip r:embed="rId3"/>
                          <a:stretch>
                            <a:fillRect l="-170541" t="-968966" r="-401" b="-15517"/>
                          </a:stretch>
                        </a:blipFill>
                      </a:tcPr>
                    </a:tc>
                    <a:extLst>
                      <a:ext uri="{0D108BD9-81ED-4DB2-BD59-A6C34878D82A}">
                        <a16:rowId xmlns:a16="http://schemas.microsoft.com/office/drawing/2014/main" val="493544081"/>
                      </a:ext>
                    </a:extLst>
                  </a:tr>
                </a:tbl>
              </a:graphicData>
            </a:graphic>
          </p:graphicFrame>
        </mc:Fallback>
      </mc:AlternateContent>
    </p:spTree>
    <p:extLst>
      <p:ext uri="{BB962C8B-B14F-4D97-AF65-F5344CB8AC3E}">
        <p14:creationId xmlns:p14="http://schemas.microsoft.com/office/powerpoint/2010/main" val="3255114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Identidades</a:t>
            </a:r>
            <a:endParaRPr dirty="0"/>
          </a:p>
        </p:txBody>
      </p:sp>
      <p:sp>
        <p:nvSpPr>
          <p:cNvPr id="20" name="CuadroTexto 19">
            <a:extLst>
              <a:ext uri="{FF2B5EF4-FFF2-40B4-BE49-F238E27FC236}">
                <a16:creationId xmlns:a16="http://schemas.microsoft.com/office/drawing/2014/main" id="{EC981F08-C206-4A60-8BF8-5D902A118C7A}"/>
              </a:ext>
            </a:extLst>
          </p:cNvPr>
          <p:cNvSpPr txBox="1"/>
          <p:nvPr/>
        </p:nvSpPr>
        <p:spPr>
          <a:xfrm>
            <a:off x="916650" y="798600"/>
            <a:ext cx="10587093" cy="492443"/>
          </a:xfrm>
          <a:prstGeom prst="rect">
            <a:avLst/>
          </a:prstGeom>
          <a:noFill/>
        </p:spPr>
        <p:txBody>
          <a:bodyPr wrap="square" rtlCol="0">
            <a:spAutoFit/>
          </a:bodyPr>
          <a:lstStyle/>
          <a:p>
            <a:r>
              <a:rPr lang="es-MX" sz="2600" b="1" dirty="0">
                <a:solidFill>
                  <a:schemeClr val="accent2"/>
                </a:solidFill>
                <a:ea typeface="Roboto" panose="02000000000000000000" pitchFamily="2" charset="0"/>
              </a:rPr>
              <a:t>Demostración por doble inclusión</a:t>
            </a:r>
          </a:p>
        </p:txBody>
      </p:sp>
      <mc:AlternateContent xmlns:mc="http://schemas.openxmlformats.org/markup-compatibility/2006">
        <mc:Choice xmlns:a14="http://schemas.microsoft.com/office/drawing/2010/main" Requires="a14">
          <p:sp>
            <p:nvSpPr>
              <p:cNvPr id="5" name="Google Shape;310;p34">
                <a:extLst>
                  <a:ext uri="{FF2B5EF4-FFF2-40B4-BE49-F238E27FC236}">
                    <a16:creationId xmlns:a16="http://schemas.microsoft.com/office/drawing/2014/main" id="{BBD38E2F-FE36-42C0-B6C0-29D97760C3BC}"/>
                  </a:ext>
                </a:extLst>
              </p:cNvPr>
              <p:cNvSpPr txBox="1">
                <a:spLocks/>
              </p:cNvSpPr>
              <p:nvPr/>
            </p:nvSpPr>
            <p:spPr>
              <a:xfrm>
                <a:off x="788827" y="1257428"/>
                <a:ext cx="11044291" cy="144530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latin typeface="+mn-lt"/>
                    <a:ea typeface="Roboto" panose="02000000000000000000" pitchFamily="2" charset="0"/>
                  </a:rPr>
                  <a:t>Ejemplo</a:t>
                </a:r>
                <a:r>
                  <a:rPr lang="es-MX" sz="2000" dirty="0">
                    <a:latin typeface="+mn-lt"/>
                    <a:ea typeface="Roboto" panose="02000000000000000000" pitchFamily="2" charset="0"/>
                  </a:rPr>
                  <a:t>: Aplicando las leyes fundamentales para el álgebra de conjuntos, demuestre que: </a:t>
                </a:r>
                <a:endParaRPr lang="es-MX" sz="2000" i="1" dirty="0">
                  <a:latin typeface="+mn-lt"/>
                  <a:ea typeface="Roboto" panose="02000000000000000000" pitchFamily="2" charset="0"/>
                </a:endParaRPr>
              </a:p>
              <a:p>
                <a:pPr marL="127000" indent="0">
                  <a:buNone/>
                </a:pPr>
                <a:endParaRPr lang="es-MX" sz="2000" i="1"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d>
                        <m:dPr>
                          <m:ctrlPr>
                            <a:rPr lang="es-MX" sz="2000" b="0" i="1" smtClean="0">
                              <a:latin typeface="+mn-lt"/>
                              <a:ea typeface="Roboto" panose="02000000000000000000" pitchFamily="2" charset="0"/>
                            </a:rPr>
                          </m:ctrlPr>
                        </m:dPr>
                        <m:e>
                          <m:r>
                            <a:rPr lang="es-MX" sz="2000" i="1">
                              <a:latin typeface="+mn-lt"/>
                              <a:ea typeface="Roboto" panose="02000000000000000000" pitchFamily="2" charset="0"/>
                            </a:rPr>
                            <m:t>𝐴</m:t>
                          </m:r>
                          <m:r>
                            <a:rPr lang="es-MX" sz="2000" b="0" i="1" smtClean="0">
                              <a:latin typeface="+mn-lt"/>
                              <a:ea typeface="Cambria Math" panose="02040503050406030204" pitchFamily="18" charset="0"/>
                            </a:rPr>
                            <m:t>+</m:t>
                          </m:r>
                          <m:d>
                            <m:dPr>
                              <m:ctrlPr>
                                <a:rPr lang="es-MX" sz="2000" i="1">
                                  <a:latin typeface="+mn-lt"/>
                                  <a:ea typeface="Cambria Math" panose="02040503050406030204" pitchFamily="18" charset="0"/>
                                </a:rPr>
                              </m:ctrlPr>
                            </m:dPr>
                            <m:e>
                              <m:r>
                                <a:rPr lang="es-MX" sz="2000" i="1">
                                  <a:latin typeface="+mn-lt"/>
                                  <a:ea typeface="Cambria Math" panose="02040503050406030204" pitchFamily="18" charset="0"/>
                                </a:rPr>
                                <m:t>𝐵</m:t>
                              </m:r>
                              <m:r>
                                <a:rPr lang="es-MX" sz="2000" i="1">
                                  <a:latin typeface="+mn-lt"/>
                                  <a:ea typeface="Cambria Math" panose="02040503050406030204" pitchFamily="18" charset="0"/>
                                </a:rPr>
                                <m:t>⋅</m:t>
                              </m:r>
                              <m:r>
                                <a:rPr lang="es-MX" sz="2000" i="1">
                                  <a:latin typeface="+mn-lt"/>
                                  <a:ea typeface="Cambria Math" panose="02040503050406030204" pitchFamily="18" charset="0"/>
                                </a:rPr>
                                <m:t>𝐶</m:t>
                              </m:r>
                            </m:e>
                          </m:d>
                        </m:e>
                      </m:d>
                      <m:r>
                        <a:rPr lang="es-MX" sz="2000" b="0" i="1" smtClean="0">
                          <a:latin typeface="+mn-lt"/>
                          <a:ea typeface="Cambria Math" panose="02040503050406030204" pitchFamily="18" charset="0"/>
                        </a:rPr>
                        <m:t>′</m:t>
                      </m:r>
                      <m:r>
                        <a:rPr lang="es-MX" sz="2000" i="1">
                          <a:latin typeface="+mn-lt"/>
                          <a:ea typeface="Cambria Math" panose="02040503050406030204" pitchFamily="18" charset="0"/>
                        </a:rPr>
                        <m:t>=</m:t>
                      </m:r>
                      <m:d>
                        <m:dPr>
                          <m:ctrlPr>
                            <a:rPr lang="es-MX" sz="2000" b="0" i="1" smtClean="0">
                              <a:latin typeface="+mn-lt"/>
                              <a:ea typeface="Cambria Math" panose="02040503050406030204" pitchFamily="18" charset="0"/>
                            </a:rPr>
                          </m:ctrlPr>
                        </m:dPr>
                        <m:e>
                          <m:r>
                            <a:rPr lang="es-MX" sz="2000" b="0" i="1" smtClean="0">
                              <a:latin typeface="+mn-lt"/>
                              <a:ea typeface="Roboto" panose="02000000000000000000" pitchFamily="2" charset="0"/>
                            </a:rPr>
                            <m:t>𝐶</m:t>
                          </m:r>
                          <m:r>
                            <a:rPr lang="es-MX" sz="2000" b="0" i="1" smtClean="0">
                              <a:latin typeface="+mn-lt"/>
                              <a:ea typeface="Roboto" panose="02000000000000000000" pitchFamily="2" charset="0"/>
                            </a:rPr>
                            <m:t>′+</m:t>
                          </m:r>
                          <m:r>
                            <a:rPr lang="es-MX" sz="2000" i="1">
                              <a:latin typeface="+mn-lt"/>
                              <a:ea typeface="Cambria Math" panose="02040503050406030204" pitchFamily="18" charset="0"/>
                            </a:rPr>
                            <m:t>𝐵</m:t>
                          </m:r>
                          <m:r>
                            <a:rPr lang="es-MX" sz="2000" b="0" i="1" smtClean="0">
                              <a:latin typeface="+mn-lt"/>
                              <a:ea typeface="Cambria Math" panose="02040503050406030204" pitchFamily="18" charset="0"/>
                            </a:rPr>
                            <m:t>′</m:t>
                          </m:r>
                        </m:e>
                      </m:d>
                      <m:r>
                        <a:rPr lang="es-MX" sz="2000" i="1">
                          <a:latin typeface="+mn-lt"/>
                          <a:ea typeface="Cambria Math" panose="02040503050406030204" pitchFamily="18" charset="0"/>
                        </a:rPr>
                        <m:t>⋅</m:t>
                      </m:r>
                      <m:r>
                        <a:rPr lang="es-MX" sz="2000" b="0" i="1" smtClean="0">
                          <a:latin typeface="+mn-lt"/>
                          <a:ea typeface="Cambria Math" panose="02040503050406030204" pitchFamily="18" charset="0"/>
                        </a:rPr>
                        <m:t>𝐴</m:t>
                      </m:r>
                      <m:r>
                        <a:rPr lang="es-MX" sz="2000" b="0" i="1" smtClean="0">
                          <a:latin typeface="+mn-lt"/>
                          <a:ea typeface="Cambria Math" panose="02040503050406030204" pitchFamily="18" charset="0"/>
                        </a:rPr>
                        <m:t>′</m:t>
                      </m:r>
                    </m:oMath>
                  </m:oMathPara>
                </a14:m>
                <a:endParaRPr lang="es-MX" sz="2000" dirty="0">
                  <a:latin typeface="+mn-lt"/>
                  <a:ea typeface="Roboto" panose="02000000000000000000" pitchFamily="2" charset="0"/>
                </a:endParaRPr>
              </a:p>
            </p:txBody>
          </p:sp>
        </mc:Choice>
        <mc:Fallback>
          <p:sp>
            <p:nvSpPr>
              <p:cNvPr id="5" name="Google Shape;310;p34">
                <a:extLst>
                  <a:ext uri="{FF2B5EF4-FFF2-40B4-BE49-F238E27FC236}">
                    <a16:creationId xmlns:a16="http://schemas.microsoft.com/office/drawing/2014/main" id="{BBD38E2F-FE36-42C0-B6C0-29D97760C3BC}"/>
                  </a:ext>
                </a:extLst>
              </p:cNvPr>
              <p:cNvSpPr txBox="1">
                <a:spLocks noRot="1" noChangeAspect="1" noMove="1" noResize="1" noEditPoints="1" noAdjustHandles="1" noChangeArrowheads="1" noChangeShapeType="1" noTextEdit="1"/>
              </p:cNvSpPr>
              <p:nvPr/>
            </p:nvSpPr>
            <p:spPr>
              <a:xfrm>
                <a:off x="788827" y="1257428"/>
                <a:ext cx="11044291" cy="1445302"/>
              </a:xfrm>
              <a:prstGeom prst="rect">
                <a:avLst/>
              </a:prstGeom>
              <a:blipFill>
                <a:blip r:embed="rId3"/>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7" name="Tabla 2">
                <a:extLst>
                  <a:ext uri="{FF2B5EF4-FFF2-40B4-BE49-F238E27FC236}">
                    <a16:creationId xmlns:a16="http://schemas.microsoft.com/office/drawing/2014/main" id="{3A1905AC-BF90-4405-B354-9E9CCD510688}"/>
                  </a:ext>
                </a:extLst>
              </p:cNvPr>
              <p:cNvGraphicFramePr>
                <a:graphicFrameLocks noGrp="1"/>
              </p:cNvGraphicFramePr>
              <p:nvPr>
                <p:extLst>
                  <p:ext uri="{D42A27DB-BD31-4B8C-83A1-F6EECF244321}">
                    <p14:modId xmlns:p14="http://schemas.microsoft.com/office/powerpoint/2010/main" val="2992804973"/>
                  </p:ext>
                </p:extLst>
              </p:nvPr>
            </p:nvGraphicFramePr>
            <p:xfrm>
              <a:off x="3082413" y="3067507"/>
              <a:ext cx="6138237" cy="2273300"/>
            </p:xfrm>
            <a:graphic>
              <a:graphicData uri="http://schemas.openxmlformats.org/drawingml/2006/table">
                <a:tbl>
                  <a:tblPr firstRow="1" bandRow="1">
                    <a:tableStyleId>{AD6A3598-7CB8-4345-8D95-17CE05F158A0}</a:tableStyleId>
                  </a:tblPr>
                  <a:tblGrid>
                    <a:gridCol w="518837">
                      <a:extLst>
                        <a:ext uri="{9D8B030D-6E8A-4147-A177-3AD203B41FA5}">
                          <a16:colId xmlns:a16="http://schemas.microsoft.com/office/drawing/2014/main" val="1610952478"/>
                        </a:ext>
                      </a:extLst>
                    </a:gridCol>
                    <a:gridCol w="2561941">
                      <a:extLst>
                        <a:ext uri="{9D8B030D-6E8A-4147-A177-3AD203B41FA5}">
                          <a16:colId xmlns:a16="http://schemas.microsoft.com/office/drawing/2014/main" val="2942974496"/>
                        </a:ext>
                      </a:extLst>
                    </a:gridCol>
                    <a:gridCol w="3057459">
                      <a:extLst>
                        <a:ext uri="{9D8B030D-6E8A-4147-A177-3AD203B41FA5}">
                          <a16:colId xmlns:a16="http://schemas.microsoft.com/office/drawing/2014/main" val="4281859008"/>
                        </a:ext>
                      </a:extLst>
                    </a:gridCol>
                  </a:tblGrid>
                  <a:tr h="188691">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Pasos</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274213">
                    <a:tc>
                      <a:txBody>
                        <a:bodyPr/>
                        <a:lstStyle/>
                        <a:p>
                          <a:pPr/>
                          <a14:m>
                            <m:oMathPara xmlns:m="http://schemas.openxmlformats.org/officeDocument/2006/math">
                              <m:oMathParaPr>
                                <m:jc m:val="centerGroup"/>
                              </m:oMathParaPr>
                              <m:oMath xmlns:m="http://schemas.openxmlformats.org/officeDocument/2006/math">
                                <m:r>
                                  <a:rPr lang="es-MX" sz="1800" b="0" i="1" smtClean="0">
                                    <a:latin typeface="+mn-lt"/>
                                    <a:ea typeface="Cambria Math" panose="02040503050406030204" pitchFamily="18" charset="0"/>
                                  </a:rPr>
                                  <m:t>1</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d>
                                  <m:dPr>
                                    <m:ctrlPr>
                                      <a:rPr lang="es-MX" sz="1800" b="0" i="1" smtClean="0">
                                        <a:latin typeface="+mn-lt"/>
                                        <a:ea typeface="Roboto" panose="02000000000000000000" pitchFamily="2" charset="0"/>
                                      </a:rPr>
                                    </m:ctrlPr>
                                  </m:dPr>
                                  <m:e>
                                    <m:r>
                                      <a:rPr lang="es-MX" sz="1800" i="1">
                                        <a:latin typeface="+mn-lt"/>
                                        <a:ea typeface="Roboto" panose="02000000000000000000" pitchFamily="2" charset="0"/>
                                      </a:rPr>
                                      <m:t>𝐴</m:t>
                                    </m:r>
                                    <m:r>
                                      <a:rPr lang="es-MX" sz="1800" b="0" i="1" smtClean="0">
                                        <a:latin typeface="+mn-lt"/>
                                        <a:ea typeface="Cambria Math" panose="02040503050406030204" pitchFamily="18" charset="0"/>
                                      </a:rPr>
                                      <m:t>+</m:t>
                                    </m:r>
                                    <m:d>
                                      <m:dPr>
                                        <m:ctrlPr>
                                          <a:rPr lang="es-MX" sz="1800" i="1">
                                            <a:latin typeface="+mn-lt"/>
                                            <a:ea typeface="Cambria Math" panose="02040503050406030204" pitchFamily="18" charset="0"/>
                                          </a:rPr>
                                        </m:ctrlPr>
                                      </m:dPr>
                                      <m:e>
                                        <m:r>
                                          <a:rPr lang="es-MX" sz="1800" i="1">
                                            <a:latin typeface="+mn-lt"/>
                                            <a:ea typeface="Cambria Math" panose="02040503050406030204" pitchFamily="18" charset="0"/>
                                          </a:rPr>
                                          <m:t>𝐵</m:t>
                                        </m:r>
                                        <m:r>
                                          <a:rPr lang="es-MX" sz="1800" i="1">
                                            <a:latin typeface="+mn-lt"/>
                                            <a:ea typeface="Cambria Math" panose="02040503050406030204" pitchFamily="18" charset="0"/>
                                          </a:rPr>
                                          <m:t>⋅</m:t>
                                        </m:r>
                                        <m:r>
                                          <a:rPr lang="es-MX" sz="1800" i="1">
                                            <a:latin typeface="+mn-lt"/>
                                            <a:ea typeface="Cambria Math" panose="02040503050406030204" pitchFamily="18" charset="0"/>
                                          </a:rPr>
                                          <m:t>𝐶</m:t>
                                        </m:r>
                                      </m:e>
                                    </m:d>
                                  </m:e>
                                </m:d>
                                <m:r>
                                  <a:rPr lang="es-MX" sz="1800" b="0" i="1" smtClean="0">
                                    <a:latin typeface="+mn-lt"/>
                                    <a:ea typeface="Cambria Math" panose="02040503050406030204" pitchFamily="18" charset="0"/>
                                  </a:rPr>
                                  <m:t>′</m:t>
                                </m:r>
                              </m:oMath>
                            </m:oMathPara>
                          </a14:m>
                          <a:endParaRPr lang="es-MX" sz="18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Premisa</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283036">
                    <a:tc>
                      <a:txBody>
                        <a:bodyPr/>
                        <a:lstStyle/>
                        <a:p>
                          <a:pPr/>
                          <a14:m>
                            <m:oMathPara xmlns:m="http://schemas.openxmlformats.org/officeDocument/2006/math">
                              <m:oMathParaPr>
                                <m:jc m:val="centerGroup"/>
                              </m:oMathParaPr>
                              <m:oMath xmlns:m="http://schemas.openxmlformats.org/officeDocument/2006/math">
                                <m:r>
                                  <a:rPr lang="es-MX" sz="1800" b="0" i="1" smtClean="0">
                                    <a:latin typeface="+mn-lt"/>
                                    <a:ea typeface="Cambria Math" panose="02040503050406030204" pitchFamily="18" charset="0"/>
                                  </a:rPr>
                                  <m:t>2</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800" i="1" smtClean="0">
                                    <a:latin typeface="+mn-lt"/>
                                    <a:ea typeface="Roboto" panose="02000000000000000000" pitchFamily="2" charset="0"/>
                                  </a:rPr>
                                  <m:t>𝐴</m:t>
                                </m:r>
                                <m:r>
                                  <a:rPr lang="es-MX" sz="1800" b="0" i="1" smtClean="0">
                                    <a:latin typeface="+mn-lt"/>
                                    <a:ea typeface="Cambria Math" panose="02040503050406030204" pitchFamily="18" charset="0"/>
                                  </a:rPr>
                                  <m:t>′</m:t>
                                </m:r>
                                <m:r>
                                  <a:rPr lang="es-MX" sz="1800" i="1" smtClean="0">
                                    <a:latin typeface="+mn-lt"/>
                                    <a:ea typeface="Cambria Math" panose="02040503050406030204" pitchFamily="18" charset="0"/>
                                  </a:rPr>
                                  <m:t>⋅</m:t>
                                </m:r>
                                <m:d>
                                  <m:dPr>
                                    <m:ctrlPr>
                                      <a:rPr lang="es-MX" sz="1800" i="1">
                                        <a:latin typeface="+mn-lt"/>
                                        <a:ea typeface="Cambria Math" panose="02040503050406030204" pitchFamily="18" charset="0"/>
                                      </a:rPr>
                                    </m:ctrlPr>
                                  </m:dPr>
                                  <m:e>
                                    <m:r>
                                      <a:rPr lang="es-MX" sz="1800" i="1">
                                        <a:latin typeface="+mn-lt"/>
                                        <a:ea typeface="Cambria Math" panose="02040503050406030204" pitchFamily="18" charset="0"/>
                                      </a:rPr>
                                      <m:t>𝐵</m:t>
                                    </m:r>
                                    <m:r>
                                      <a:rPr lang="es-MX" sz="1800" i="1" smtClean="0">
                                        <a:latin typeface="+mn-lt"/>
                                        <a:ea typeface="Cambria Math" panose="02040503050406030204" pitchFamily="18" charset="0"/>
                                      </a:rPr>
                                      <m:t>⋅</m:t>
                                    </m:r>
                                    <m:r>
                                      <a:rPr lang="es-MX" sz="1800" i="1">
                                        <a:latin typeface="+mn-lt"/>
                                        <a:ea typeface="Cambria Math" panose="02040503050406030204" pitchFamily="18" charset="0"/>
                                      </a:rPr>
                                      <m:t>𝐶</m:t>
                                    </m:r>
                                  </m:e>
                                </m:d>
                                <m:r>
                                  <a:rPr lang="es-MX" sz="1800" b="0" i="1" smtClean="0">
                                    <a:latin typeface="+mn-lt"/>
                                    <a:ea typeface="Cambria Math" panose="02040503050406030204" pitchFamily="18" charset="0"/>
                                  </a:rPr>
                                  <m:t>′</m:t>
                                </m:r>
                              </m:oMath>
                            </m:oMathPara>
                          </a14:m>
                          <a:endParaRPr lang="es-MX" sz="18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b="0" dirty="0">
                              <a:latin typeface="+mn-lt"/>
                              <a:ea typeface="Roboto" panose="02000000000000000000" pitchFamily="2" charset="0"/>
                            </a:rPr>
                            <a:t>Ley de Morgan en 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184406">
                    <a:tc>
                      <a:txBody>
                        <a:bodyPr/>
                        <a:lstStyle/>
                        <a:p>
                          <a:pPr/>
                          <a14:m>
                            <m:oMathPara xmlns:m="http://schemas.openxmlformats.org/officeDocument/2006/math">
                              <m:oMathParaPr>
                                <m:jc m:val="centerGroup"/>
                              </m:oMathParaPr>
                              <m:oMath xmlns:m="http://schemas.openxmlformats.org/officeDocument/2006/math">
                                <m:r>
                                  <a:rPr lang="es-MX" sz="1800" b="0" i="1" smtClean="0">
                                    <a:latin typeface="+mn-lt"/>
                                    <a:ea typeface="Cambria Math" panose="02040503050406030204" pitchFamily="18" charset="0"/>
                                  </a:rPr>
                                  <m:t>3</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800" i="1" smtClean="0">
                                    <a:latin typeface="+mn-lt"/>
                                    <a:ea typeface="Roboto" panose="02000000000000000000" pitchFamily="2" charset="0"/>
                                  </a:rPr>
                                  <m:t>𝐴</m:t>
                                </m:r>
                                <m:r>
                                  <a:rPr lang="es-MX" sz="1800" b="0" i="1" smtClean="0">
                                    <a:latin typeface="+mn-lt"/>
                                    <a:ea typeface="Cambria Math" panose="02040503050406030204" pitchFamily="18" charset="0"/>
                                  </a:rPr>
                                  <m:t>′</m:t>
                                </m:r>
                                <m:r>
                                  <a:rPr lang="es-MX" sz="1800" i="1" smtClean="0">
                                    <a:latin typeface="+mn-lt"/>
                                    <a:ea typeface="Cambria Math" panose="02040503050406030204" pitchFamily="18" charset="0"/>
                                  </a:rPr>
                                  <m:t>⋅</m:t>
                                </m:r>
                                <m:d>
                                  <m:dPr>
                                    <m:ctrlPr>
                                      <a:rPr lang="es-MX" sz="1800" i="1">
                                        <a:latin typeface="+mn-lt"/>
                                        <a:ea typeface="Cambria Math" panose="02040503050406030204" pitchFamily="18" charset="0"/>
                                      </a:rPr>
                                    </m:ctrlPr>
                                  </m:dPr>
                                  <m:e>
                                    <m:r>
                                      <a:rPr lang="es-MX" sz="1800" i="1">
                                        <a:latin typeface="+mn-lt"/>
                                        <a:ea typeface="Cambria Math" panose="02040503050406030204" pitchFamily="18" charset="0"/>
                                      </a:rPr>
                                      <m:t>𝐵</m:t>
                                    </m:r>
                                    <m:r>
                                      <a:rPr lang="es-MX" sz="1800" b="0" i="1" smtClean="0">
                                        <a:latin typeface="+mn-lt"/>
                                        <a:ea typeface="Cambria Math" panose="02040503050406030204" pitchFamily="18" charset="0"/>
                                      </a:rPr>
                                      <m:t>′+</m:t>
                                    </m:r>
                                    <m:r>
                                      <a:rPr lang="es-MX" sz="1800" i="1">
                                        <a:latin typeface="+mn-lt"/>
                                        <a:ea typeface="Cambria Math" panose="02040503050406030204" pitchFamily="18" charset="0"/>
                                      </a:rPr>
                                      <m:t>𝐶</m:t>
                                    </m:r>
                                    <m:r>
                                      <a:rPr lang="es-MX" sz="1800" b="0" i="1" smtClean="0">
                                        <a:latin typeface="+mn-lt"/>
                                        <a:ea typeface="Cambria Math" panose="02040503050406030204" pitchFamily="18" charset="0"/>
                                      </a:rPr>
                                      <m:t>′</m:t>
                                    </m:r>
                                  </m:e>
                                </m:d>
                              </m:oMath>
                            </m:oMathPara>
                          </a14:m>
                          <a:endParaRPr lang="es-MX" sz="18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b="0" dirty="0">
                              <a:latin typeface="+mn-lt"/>
                              <a:ea typeface="Roboto" panose="02000000000000000000" pitchFamily="2" charset="0"/>
                            </a:rPr>
                            <a:t>Ley de Morgan en 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184406">
                    <a:tc>
                      <a:txBody>
                        <a:bodyPr/>
                        <a:lstStyle/>
                        <a:p>
                          <a:pPr/>
                          <a14:m>
                            <m:oMathPara xmlns:m="http://schemas.openxmlformats.org/officeDocument/2006/math">
                              <m:oMathParaPr>
                                <m:jc m:val="centerGroup"/>
                              </m:oMathParaPr>
                              <m:oMath xmlns:m="http://schemas.openxmlformats.org/officeDocument/2006/math">
                                <m:r>
                                  <a:rPr lang="es-MX" sz="1800" b="0" i="1" smtClean="0">
                                    <a:latin typeface="+mn-lt"/>
                                    <a:ea typeface="Cambria Math" panose="02040503050406030204" pitchFamily="18" charset="0"/>
                                  </a:rPr>
                                  <m:t>4</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d>
                                  <m:dPr>
                                    <m:ctrlPr>
                                      <a:rPr lang="es-MX" sz="1800" i="1">
                                        <a:latin typeface="+mn-lt"/>
                                        <a:ea typeface="Cambria Math" panose="02040503050406030204" pitchFamily="18" charset="0"/>
                                      </a:rPr>
                                    </m:ctrlPr>
                                  </m:dPr>
                                  <m:e>
                                    <m:r>
                                      <a:rPr lang="es-MX" sz="1800" i="1">
                                        <a:latin typeface="+mn-lt"/>
                                        <a:ea typeface="Cambria Math" panose="02040503050406030204" pitchFamily="18" charset="0"/>
                                      </a:rPr>
                                      <m:t>𝐵</m:t>
                                    </m:r>
                                    <m:r>
                                      <a:rPr lang="es-MX" sz="1800" b="0" i="1" smtClean="0">
                                        <a:latin typeface="+mn-lt"/>
                                        <a:ea typeface="Cambria Math" panose="02040503050406030204" pitchFamily="18" charset="0"/>
                                      </a:rPr>
                                      <m:t>′+</m:t>
                                    </m:r>
                                    <m:r>
                                      <a:rPr lang="es-MX" sz="1800" i="1">
                                        <a:latin typeface="+mn-lt"/>
                                        <a:ea typeface="Cambria Math" panose="02040503050406030204" pitchFamily="18" charset="0"/>
                                      </a:rPr>
                                      <m:t>𝐶</m:t>
                                    </m:r>
                                    <m:r>
                                      <a:rPr lang="es-MX" sz="1800" b="0" i="1" smtClean="0">
                                        <a:latin typeface="+mn-lt"/>
                                        <a:ea typeface="Cambria Math" panose="02040503050406030204" pitchFamily="18" charset="0"/>
                                      </a:rPr>
                                      <m:t>′</m:t>
                                    </m:r>
                                  </m:e>
                                </m:d>
                                <m:r>
                                  <a:rPr lang="es-MX" sz="1800" i="1" smtClean="0">
                                    <a:latin typeface="+mn-lt"/>
                                    <a:ea typeface="Cambria Math" panose="02040503050406030204" pitchFamily="18" charset="0"/>
                                  </a:rPr>
                                  <m:t>⋅</m:t>
                                </m:r>
                                <m:r>
                                  <a:rPr lang="es-MX" sz="1800" i="1" smtClean="0">
                                    <a:latin typeface="+mn-lt"/>
                                    <a:ea typeface="Roboto" panose="02000000000000000000" pitchFamily="2" charset="0"/>
                                  </a:rPr>
                                  <m:t>𝐴</m:t>
                                </m:r>
                                <m:r>
                                  <a:rPr lang="es-MX" sz="1800" b="0" i="1" smtClean="0">
                                    <a:latin typeface="+mn-lt"/>
                                    <a:ea typeface="Cambria Math" panose="02040503050406030204" pitchFamily="18" charset="0"/>
                                  </a:rPr>
                                  <m:t>′</m:t>
                                </m:r>
                              </m:oMath>
                            </m:oMathPara>
                          </a14:m>
                          <a:endParaRPr lang="es-MX" sz="18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Ley conmutativa en 3</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184406">
                    <a:tc>
                      <a:txBody>
                        <a:bodyPr/>
                        <a:lstStyle/>
                        <a:p>
                          <a:pPr/>
                          <a14:m>
                            <m:oMathPara xmlns:m="http://schemas.openxmlformats.org/officeDocument/2006/math">
                              <m:oMathParaPr>
                                <m:jc m:val="centerGroup"/>
                              </m:oMathParaPr>
                              <m:oMath xmlns:m="http://schemas.openxmlformats.org/officeDocument/2006/math">
                                <m:r>
                                  <a:rPr lang="es-MX" sz="1800" b="0" i="1" smtClean="0">
                                    <a:latin typeface="+mn-lt"/>
                                    <a:ea typeface="Cambria Math" panose="02040503050406030204" pitchFamily="18" charset="0"/>
                                  </a:rPr>
                                  <m:t>5</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d>
                                  <m:dPr>
                                    <m:ctrlPr>
                                      <a:rPr lang="es-MX" sz="1800" i="1" smtClean="0">
                                        <a:latin typeface="+mn-lt"/>
                                        <a:ea typeface="Cambria Math" panose="02040503050406030204" pitchFamily="18" charset="0"/>
                                      </a:rPr>
                                    </m:ctrlPr>
                                  </m:dPr>
                                  <m:e>
                                    <m:sSup>
                                      <m:sSupPr>
                                        <m:ctrlPr>
                                          <a:rPr lang="es-MX" sz="1800" b="0" i="1" smtClean="0">
                                            <a:latin typeface="+mn-lt"/>
                                            <a:ea typeface="Cambria Math" panose="02040503050406030204" pitchFamily="18" charset="0"/>
                                          </a:rPr>
                                        </m:ctrlPr>
                                      </m:sSupPr>
                                      <m:e>
                                        <m:r>
                                          <a:rPr lang="es-MX" sz="1800" i="1" smtClean="0">
                                            <a:latin typeface="+mn-lt"/>
                                            <a:ea typeface="Cambria Math" panose="02040503050406030204" pitchFamily="18" charset="0"/>
                                          </a:rPr>
                                          <m:t>𝐶</m:t>
                                        </m:r>
                                      </m:e>
                                      <m:sup>
                                        <m:r>
                                          <a:rPr lang="es-MX" sz="1800" b="0" i="1" smtClean="0">
                                            <a:latin typeface="+mn-lt"/>
                                            <a:ea typeface="Cambria Math" panose="02040503050406030204" pitchFamily="18" charset="0"/>
                                          </a:rPr>
                                          <m:t>′</m:t>
                                        </m:r>
                                      </m:sup>
                                    </m:sSup>
                                    <m:r>
                                      <a:rPr lang="es-MX" sz="1800" b="0" i="1" smtClean="0">
                                        <a:latin typeface="+mn-lt"/>
                                        <a:ea typeface="Cambria Math" panose="02040503050406030204" pitchFamily="18" charset="0"/>
                                      </a:rPr>
                                      <m:t>+</m:t>
                                    </m:r>
                                    <m:r>
                                      <a:rPr lang="es-MX" sz="1800" i="1">
                                        <a:latin typeface="+mn-lt"/>
                                        <a:ea typeface="Cambria Math" panose="02040503050406030204" pitchFamily="18" charset="0"/>
                                      </a:rPr>
                                      <m:t>𝐵</m:t>
                                    </m:r>
                                    <m:r>
                                      <a:rPr lang="es-MX" sz="1800" b="0" i="1" smtClean="0">
                                        <a:latin typeface="+mn-lt"/>
                                        <a:ea typeface="Cambria Math" panose="02040503050406030204" pitchFamily="18" charset="0"/>
                                      </a:rPr>
                                      <m:t>′</m:t>
                                    </m:r>
                                  </m:e>
                                </m:d>
                                <m:r>
                                  <a:rPr lang="es-MX" sz="1800" i="1" smtClean="0">
                                    <a:latin typeface="+mn-lt"/>
                                    <a:ea typeface="Cambria Math" panose="02040503050406030204" pitchFamily="18" charset="0"/>
                                  </a:rPr>
                                  <m:t>⋅</m:t>
                                </m:r>
                                <m:r>
                                  <a:rPr lang="es-MX" sz="1800" i="1" smtClean="0">
                                    <a:latin typeface="+mn-lt"/>
                                    <a:ea typeface="Roboto" panose="02000000000000000000" pitchFamily="2" charset="0"/>
                                  </a:rPr>
                                  <m:t>𝐴</m:t>
                                </m:r>
                                <m:r>
                                  <a:rPr lang="es-MX" sz="1800" b="0" i="1" smtClean="0">
                                    <a:latin typeface="+mn-lt"/>
                                    <a:ea typeface="Cambria Math" panose="02040503050406030204" pitchFamily="18" charset="0"/>
                                  </a:rPr>
                                  <m:t>′</m:t>
                                </m:r>
                              </m:oMath>
                            </m:oMathPara>
                          </a14:m>
                          <a:endParaRPr lang="es-MX" sz="18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b="0" dirty="0">
                              <a:latin typeface="+mn-lt"/>
                              <a:ea typeface="Roboto" panose="02000000000000000000" pitchFamily="2" charset="0"/>
                            </a:rPr>
                            <a:t>Ley conmutativa en 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63555"/>
                      </a:ext>
                    </a:extLst>
                  </a:tr>
                </a:tbl>
              </a:graphicData>
            </a:graphic>
          </p:graphicFrame>
        </mc:Choice>
        <mc:Fallback>
          <p:graphicFrame>
            <p:nvGraphicFramePr>
              <p:cNvPr id="7" name="Tabla 2">
                <a:extLst>
                  <a:ext uri="{FF2B5EF4-FFF2-40B4-BE49-F238E27FC236}">
                    <a16:creationId xmlns:a16="http://schemas.microsoft.com/office/drawing/2014/main" id="{3A1905AC-BF90-4405-B354-9E9CCD510688}"/>
                  </a:ext>
                </a:extLst>
              </p:cNvPr>
              <p:cNvGraphicFramePr>
                <a:graphicFrameLocks noGrp="1"/>
              </p:cNvGraphicFramePr>
              <p:nvPr>
                <p:extLst>
                  <p:ext uri="{D42A27DB-BD31-4B8C-83A1-F6EECF244321}">
                    <p14:modId xmlns:p14="http://schemas.microsoft.com/office/powerpoint/2010/main" val="2992804973"/>
                  </p:ext>
                </p:extLst>
              </p:nvPr>
            </p:nvGraphicFramePr>
            <p:xfrm>
              <a:off x="3082413" y="3067507"/>
              <a:ext cx="6138237" cy="2273300"/>
            </p:xfrm>
            <a:graphic>
              <a:graphicData uri="http://schemas.openxmlformats.org/drawingml/2006/table">
                <a:tbl>
                  <a:tblPr firstRow="1" bandRow="1">
                    <a:tableStyleId>{AD6A3598-7CB8-4345-8D95-17CE05F158A0}</a:tableStyleId>
                  </a:tblPr>
                  <a:tblGrid>
                    <a:gridCol w="518837">
                      <a:extLst>
                        <a:ext uri="{9D8B030D-6E8A-4147-A177-3AD203B41FA5}">
                          <a16:colId xmlns:a16="http://schemas.microsoft.com/office/drawing/2014/main" val="1610952478"/>
                        </a:ext>
                      </a:extLst>
                    </a:gridCol>
                    <a:gridCol w="2561941">
                      <a:extLst>
                        <a:ext uri="{9D8B030D-6E8A-4147-A177-3AD203B41FA5}">
                          <a16:colId xmlns:a16="http://schemas.microsoft.com/office/drawing/2014/main" val="2942974496"/>
                        </a:ext>
                      </a:extLst>
                    </a:gridCol>
                    <a:gridCol w="3057459">
                      <a:extLst>
                        <a:ext uri="{9D8B030D-6E8A-4147-A177-3AD203B41FA5}">
                          <a16:colId xmlns:a16="http://schemas.microsoft.com/office/drawing/2014/main" val="4281859008"/>
                        </a:ext>
                      </a:extLst>
                    </a:gridCol>
                  </a:tblGrid>
                  <a:tr h="36576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Pasos</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401066">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98485" r="-1087059" b="-393939"/>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190" t="-98485" r="-119477" b="-393939"/>
                          </a:stretch>
                        </a:blipFill>
                      </a:tcPr>
                    </a:tc>
                    <a:tc>
                      <a:txBody>
                        <a:bodyPr/>
                        <a:lstStyle/>
                        <a:p>
                          <a:r>
                            <a:rPr lang="es-CO" sz="1800" dirty="0">
                              <a:latin typeface="+mn-lt"/>
                              <a:ea typeface="Roboto" panose="02000000000000000000" pitchFamily="2" charset="0"/>
                            </a:rPr>
                            <a:t>Premisa</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6576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218333" r="-1087059" b="-333333"/>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190" t="-218333" r="-119477" b="-333333"/>
                          </a:stretch>
                        </a:blipFill>
                      </a:tcPr>
                    </a:tc>
                    <a:tc>
                      <a:txBody>
                        <a:bodyPr/>
                        <a:lstStyle/>
                        <a:p>
                          <a:r>
                            <a:rPr lang="es-CO" sz="1800" b="0" dirty="0">
                              <a:latin typeface="+mn-lt"/>
                              <a:ea typeface="Roboto" panose="02000000000000000000" pitchFamily="2" charset="0"/>
                            </a:rPr>
                            <a:t>Ley de Morgan en 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6576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313115" r="-1087059" b="-227869"/>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190" t="-313115" r="-119477" b="-227869"/>
                          </a:stretch>
                        </a:blipFill>
                      </a:tcPr>
                    </a:tc>
                    <a:tc>
                      <a:txBody>
                        <a:bodyPr/>
                        <a:lstStyle/>
                        <a:p>
                          <a:r>
                            <a:rPr lang="es-CO" sz="1800" b="0" dirty="0">
                              <a:latin typeface="+mn-lt"/>
                              <a:ea typeface="Roboto" panose="02000000000000000000" pitchFamily="2" charset="0"/>
                            </a:rPr>
                            <a:t>Ley de Morgan en 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6576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420000" r="-1087059" b="-131667"/>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190" t="-420000" r="-119477" b="-131667"/>
                          </a:stretch>
                        </a:blipFill>
                      </a:tcPr>
                    </a:tc>
                    <a:tc>
                      <a:txBody>
                        <a:bodyPr/>
                        <a:lstStyle/>
                        <a:p>
                          <a:r>
                            <a:rPr lang="es-CO" sz="1800" dirty="0">
                              <a:latin typeface="+mn-lt"/>
                              <a:ea typeface="Roboto" panose="02000000000000000000" pitchFamily="2" charset="0"/>
                            </a:rPr>
                            <a:t>Ley conmutativa en 3</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409194">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465672" r="-1087059" b="-1791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190" t="-465672" r="-119477" b="-17910"/>
                          </a:stretch>
                        </a:blipFill>
                      </a:tcPr>
                    </a:tc>
                    <a:tc>
                      <a:txBody>
                        <a:bodyPr/>
                        <a:lstStyle/>
                        <a:p>
                          <a:r>
                            <a:rPr lang="es-CO" sz="1800" b="0" dirty="0">
                              <a:latin typeface="+mn-lt"/>
                              <a:ea typeface="Roboto" panose="02000000000000000000" pitchFamily="2" charset="0"/>
                            </a:rPr>
                            <a:t>Ley conmutativa en 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63555"/>
                      </a:ext>
                    </a:extLst>
                  </a:tr>
                </a:tbl>
              </a:graphicData>
            </a:graphic>
          </p:graphicFrame>
        </mc:Fallback>
      </mc:AlternateContent>
    </p:spTree>
    <p:extLst>
      <p:ext uri="{BB962C8B-B14F-4D97-AF65-F5344CB8AC3E}">
        <p14:creationId xmlns:p14="http://schemas.microsoft.com/office/powerpoint/2010/main" val="2465937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Identidades</a:t>
            </a:r>
            <a:endParaRPr dirty="0"/>
          </a:p>
        </p:txBody>
      </p:sp>
      <p:sp>
        <p:nvSpPr>
          <p:cNvPr id="20" name="CuadroTexto 19">
            <a:extLst>
              <a:ext uri="{FF2B5EF4-FFF2-40B4-BE49-F238E27FC236}">
                <a16:creationId xmlns:a16="http://schemas.microsoft.com/office/drawing/2014/main" id="{EC981F08-C206-4A60-8BF8-5D902A118C7A}"/>
              </a:ext>
            </a:extLst>
          </p:cNvPr>
          <p:cNvSpPr txBox="1"/>
          <p:nvPr/>
        </p:nvSpPr>
        <p:spPr>
          <a:xfrm>
            <a:off x="916650" y="798600"/>
            <a:ext cx="10587093" cy="492443"/>
          </a:xfrm>
          <a:prstGeom prst="rect">
            <a:avLst/>
          </a:prstGeom>
          <a:noFill/>
        </p:spPr>
        <p:txBody>
          <a:bodyPr wrap="square" rtlCol="0">
            <a:spAutoFit/>
          </a:bodyPr>
          <a:lstStyle/>
          <a:p>
            <a:r>
              <a:rPr lang="es-MX" sz="2600" b="1" dirty="0">
                <a:solidFill>
                  <a:schemeClr val="accent2"/>
                </a:solidFill>
                <a:ea typeface="Roboto" panose="02000000000000000000" pitchFamily="2" charset="0"/>
              </a:rPr>
              <a:t>Demostración por doble inclusión</a:t>
            </a:r>
          </a:p>
        </p:txBody>
      </p:sp>
      <mc:AlternateContent xmlns:mc="http://schemas.openxmlformats.org/markup-compatibility/2006">
        <mc:Choice xmlns:a14="http://schemas.microsoft.com/office/drawing/2010/main" Requires="a14">
          <p:sp>
            <p:nvSpPr>
              <p:cNvPr id="5" name="Google Shape;310;p34">
                <a:extLst>
                  <a:ext uri="{FF2B5EF4-FFF2-40B4-BE49-F238E27FC236}">
                    <a16:creationId xmlns:a16="http://schemas.microsoft.com/office/drawing/2014/main" id="{BBD38E2F-FE36-42C0-B6C0-29D97760C3BC}"/>
                  </a:ext>
                </a:extLst>
              </p:cNvPr>
              <p:cNvSpPr txBox="1">
                <a:spLocks/>
              </p:cNvSpPr>
              <p:nvPr/>
            </p:nvSpPr>
            <p:spPr>
              <a:xfrm>
                <a:off x="788827" y="1257428"/>
                <a:ext cx="11044291" cy="144530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latin typeface="+mn-lt"/>
                    <a:ea typeface="Roboto" panose="02000000000000000000" pitchFamily="2" charset="0"/>
                  </a:rPr>
                  <a:t>Ejemplo</a:t>
                </a:r>
                <a:r>
                  <a:rPr lang="es-MX" sz="2000" dirty="0">
                    <a:latin typeface="+mn-lt"/>
                    <a:ea typeface="Roboto" panose="02000000000000000000" pitchFamily="2" charset="0"/>
                  </a:rPr>
                  <a:t>: Aplicando las leyes fundamentales para el álgebra de conjuntos, simplifique: </a:t>
                </a:r>
                <a:endParaRPr lang="es-MX" sz="2000" i="1" dirty="0">
                  <a:latin typeface="+mn-lt"/>
                  <a:ea typeface="Roboto" panose="02000000000000000000" pitchFamily="2" charset="0"/>
                </a:endParaRPr>
              </a:p>
              <a:p>
                <a:pPr marL="127000" indent="0">
                  <a:buNone/>
                </a:pPr>
                <a:endParaRPr lang="es-MX" sz="2000" i="1"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000" i="1">
                          <a:latin typeface="+mn-lt"/>
                          <a:ea typeface="Roboto" panose="02000000000000000000" pitchFamily="2" charset="0"/>
                        </a:rPr>
                        <m:t>𝐴𝐵𝐶</m:t>
                      </m:r>
                      <m:r>
                        <a:rPr lang="es-MX" sz="2000" i="1">
                          <a:latin typeface="+mn-lt"/>
                          <a:ea typeface="Roboto" panose="02000000000000000000" pitchFamily="2" charset="0"/>
                        </a:rPr>
                        <m:t> + </m:t>
                      </m:r>
                      <m:r>
                        <a:rPr lang="es-MX" sz="2000" i="1">
                          <a:latin typeface="+mn-lt"/>
                          <a:ea typeface="Roboto" panose="02000000000000000000" pitchFamily="2" charset="0"/>
                        </a:rPr>
                        <m:t>𝐴𝐵𝐶</m:t>
                      </m:r>
                      <m:r>
                        <a:rPr lang="es-MX" sz="2000" b="0" i="1" smtClean="0">
                          <a:latin typeface="+mn-lt"/>
                          <a:ea typeface="Roboto" panose="02000000000000000000" pitchFamily="2" charset="0"/>
                        </a:rPr>
                        <m:t>′</m:t>
                      </m:r>
                      <m:r>
                        <a:rPr lang="es-MX" sz="2000" i="1">
                          <a:latin typeface="+mn-lt"/>
                          <a:ea typeface="Roboto" panose="02000000000000000000" pitchFamily="2" charset="0"/>
                        </a:rPr>
                        <m:t> + </m:t>
                      </m:r>
                      <m:r>
                        <a:rPr lang="es-MX" sz="2000" i="1">
                          <a:latin typeface="+mn-lt"/>
                          <a:ea typeface="Roboto" panose="02000000000000000000" pitchFamily="2" charset="0"/>
                        </a:rPr>
                        <m:t>𝐴𝐵</m:t>
                      </m:r>
                      <m:r>
                        <a:rPr lang="es-MX" sz="2000" i="1">
                          <a:latin typeface="+mn-lt"/>
                          <a:ea typeface="Roboto" panose="02000000000000000000" pitchFamily="2" charset="0"/>
                        </a:rPr>
                        <m:t>′</m:t>
                      </m:r>
                      <m:r>
                        <a:rPr lang="es-MX" sz="2000" i="1">
                          <a:latin typeface="+mn-lt"/>
                          <a:ea typeface="Roboto" panose="02000000000000000000" pitchFamily="2" charset="0"/>
                        </a:rPr>
                        <m:t>𝐶</m:t>
                      </m:r>
                      <m:r>
                        <a:rPr lang="es-MX" sz="2000" i="1">
                          <a:latin typeface="+mn-lt"/>
                          <a:ea typeface="Roboto" panose="02000000000000000000" pitchFamily="2" charset="0"/>
                        </a:rPr>
                        <m:t> + </m:t>
                      </m:r>
                      <m:r>
                        <a:rPr lang="es-MX" sz="2000" i="1">
                          <a:latin typeface="+mn-lt"/>
                          <a:ea typeface="Roboto" panose="02000000000000000000" pitchFamily="2" charset="0"/>
                        </a:rPr>
                        <m:t>𝐴𝐵</m:t>
                      </m:r>
                      <m:r>
                        <a:rPr lang="es-MX" sz="2000" i="1">
                          <a:latin typeface="+mn-lt"/>
                          <a:ea typeface="Roboto" panose="02000000000000000000" pitchFamily="2" charset="0"/>
                        </a:rPr>
                        <m:t>′</m:t>
                      </m:r>
                      <m:r>
                        <a:rPr lang="es-MX" sz="2000" i="1">
                          <a:latin typeface="+mn-lt"/>
                          <a:ea typeface="Roboto" panose="02000000000000000000" pitchFamily="2" charset="0"/>
                        </a:rPr>
                        <m:t>𝐶</m:t>
                      </m:r>
                      <m:r>
                        <a:rPr lang="es-MX" sz="2000" i="1">
                          <a:latin typeface="+mn-lt"/>
                          <a:ea typeface="Roboto" panose="02000000000000000000" pitchFamily="2" charset="0"/>
                        </a:rPr>
                        <m:t>′+ </m:t>
                      </m:r>
                      <m:r>
                        <a:rPr lang="es-MX" sz="2000" i="1">
                          <a:latin typeface="+mn-lt"/>
                          <a:ea typeface="Roboto" panose="02000000000000000000" pitchFamily="2" charset="0"/>
                        </a:rPr>
                        <m:t>𝐴</m:t>
                      </m:r>
                      <m:r>
                        <a:rPr lang="es-MX" sz="2000" i="1">
                          <a:latin typeface="+mn-lt"/>
                          <a:ea typeface="Roboto" panose="02000000000000000000" pitchFamily="2" charset="0"/>
                        </a:rPr>
                        <m:t>′</m:t>
                      </m:r>
                      <m:r>
                        <a:rPr lang="es-MX" sz="2000" i="1">
                          <a:latin typeface="+mn-lt"/>
                          <a:ea typeface="Roboto" panose="02000000000000000000" pitchFamily="2" charset="0"/>
                        </a:rPr>
                        <m:t>𝐵𝐶</m:t>
                      </m:r>
                      <m:r>
                        <a:rPr lang="es-MX" sz="2000" i="1">
                          <a:latin typeface="+mn-lt"/>
                          <a:ea typeface="Roboto" panose="02000000000000000000" pitchFamily="2" charset="0"/>
                        </a:rPr>
                        <m:t> + </m:t>
                      </m:r>
                      <m:r>
                        <a:rPr lang="es-MX" sz="2000" i="1">
                          <a:latin typeface="+mn-lt"/>
                          <a:ea typeface="Roboto" panose="02000000000000000000" pitchFamily="2" charset="0"/>
                        </a:rPr>
                        <m:t>𝐴</m:t>
                      </m:r>
                      <m:r>
                        <a:rPr lang="es-MX" sz="2000" i="1">
                          <a:latin typeface="+mn-lt"/>
                          <a:ea typeface="Roboto" panose="02000000000000000000" pitchFamily="2" charset="0"/>
                        </a:rPr>
                        <m:t>′</m:t>
                      </m:r>
                      <m:r>
                        <a:rPr lang="es-MX" sz="2000" i="1">
                          <a:latin typeface="+mn-lt"/>
                          <a:ea typeface="Roboto" panose="02000000000000000000" pitchFamily="2" charset="0"/>
                        </a:rPr>
                        <m:t>𝐵𝐶</m:t>
                      </m:r>
                      <m:r>
                        <a:rPr lang="es-MX" sz="2000" i="1">
                          <a:latin typeface="+mn-lt"/>
                          <a:ea typeface="Roboto" panose="02000000000000000000" pitchFamily="2" charset="0"/>
                        </a:rPr>
                        <m:t>′+ </m:t>
                      </m:r>
                      <m:r>
                        <a:rPr lang="es-MX" sz="2000" i="1">
                          <a:latin typeface="+mn-lt"/>
                          <a:ea typeface="Roboto" panose="02000000000000000000" pitchFamily="2" charset="0"/>
                        </a:rPr>
                        <m:t>𝐴</m:t>
                      </m:r>
                      <m:r>
                        <a:rPr lang="es-MX" sz="2000" i="1">
                          <a:latin typeface="+mn-lt"/>
                          <a:ea typeface="Roboto" panose="02000000000000000000" pitchFamily="2" charset="0"/>
                        </a:rPr>
                        <m:t>′</m:t>
                      </m:r>
                      <m:r>
                        <a:rPr lang="es-MX" sz="2000" i="1">
                          <a:latin typeface="+mn-lt"/>
                          <a:ea typeface="Roboto" panose="02000000000000000000" pitchFamily="2" charset="0"/>
                        </a:rPr>
                        <m:t>𝐵</m:t>
                      </m:r>
                      <m:r>
                        <a:rPr lang="es-MX" sz="2000" i="1">
                          <a:latin typeface="+mn-lt"/>
                          <a:ea typeface="Roboto" panose="02000000000000000000" pitchFamily="2" charset="0"/>
                        </a:rPr>
                        <m:t>′</m:t>
                      </m:r>
                      <m:r>
                        <a:rPr lang="es-MX" sz="2000" i="1">
                          <a:latin typeface="+mn-lt"/>
                          <a:ea typeface="Roboto" panose="02000000000000000000" pitchFamily="2" charset="0"/>
                        </a:rPr>
                        <m:t>𝐶</m:t>
                      </m:r>
                      <m:r>
                        <a:rPr lang="es-MX" sz="2000" i="1">
                          <a:latin typeface="+mn-lt"/>
                          <a:ea typeface="Roboto" panose="02000000000000000000" pitchFamily="2" charset="0"/>
                        </a:rPr>
                        <m:t> + </m:t>
                      </m:r>
                      <m:r>
                        <a:rPr lang="es-MX" sz="2000" i="1">
                          <a:latin typeface="+mn-lt"/>
                          <a:ea typeface="Roboto" panose="02000000000000000000" pitchFamily="2" charset="0"/>
                        </a:rPr>
                        <m:t>𝐴</m:t>
                      </m:r>
                      <m:r>
                        <a:rPr lang="es-MX" sz="2000" i="1">
                          <a:latin typeface="+mn-lt"/>
                          <a:ea typeface="Roboto" panose="02000000000000000000" pitchFamily="2" charset="0"/>
                        </a:rPr>
                        <m:t>′</m:t>
                      </m:r>
                      <m:r>
                        <a:rPr lang="es-MX" sz="2000" i="1">
                          <a:latin typeface="+mn-lt"/>
                          <a:ea typeface="Roboto" panose="02000000000000000000" pitchFamily="2" charset="0"/>
                        </a:rPr>
                        <m:t>𝐵</m:t>
                      </m:r>
                      <m:r>
                        <a:rPr lang="es-MX" sz="2000" i="1">
                          <a:latin typeface="+mn-lt"/>
                          <a:ea typeface="Roboto" panose="02000000000000000000" pitchFamily="2" charset="0"/>
                        </a:rPr>
                        <m:t>′</m:t>
                      </m:r>
                      <m:r>
                        <a:rPr lang="es-MX" sz="2000" i="1">
                          <a:latin typeface="+mn-lt"/>
                          <a:ea typeface="Roboto" panose="02000000000000000000" pitchFamily="2" charset="0"/>
                        </a:rPr>
                        <m:t>𝐶</m:t>
                      </m:r>
                      <m:r>
                        <a:rPr lang="es-MX" sz="2000" i="1">
                          <a:latin typeface="+mn-lt"/>
                          <a:ea typeface="Roboto" panose="02000000000000000000" pitchFamily="2" charset="0"/>
                        </a:rPr>
                        <m:t>′</m:t>
                      </m:r>
                    </m:oMath>
                  </m:oMathPara>
                </a14:m>
                <a:endParaRPr lang="es-MX" sz="2000" b="0" dirty="0">
                  <a:latin typeface="+mn-lt"/>
                  <a:ea typeface="Roboto" panose="02000000000000000000" pitchFamily="2" charset="0"/>
                </a:endParaRPr>
              </a:p>
            </p:txBody>
          </p:sp>
        </mc:Choice>
        <mc:Fallback>
          <p:sp>
            <p:nvSpPr>
              <p:cNvPr id="5" name="Google Shape;310;p34">
                <a:extLst>
                  <a:ext uri="{FF2B5EF4-FFF2-40B4-BE49-F238E27FC236}">
                    <a16:creationId xmlns:a16="http://schemas.microsoft.com/office/drawing/2014/main" id="{BBD38E2F-FE36-42C0-B6C0-29D97760C3BC}"/>
                  </a:ext>
                </a:extLst>
              </p:cNvPr>
              <p:cNvSpPr txBox="1">
                <a:spLocks noRot="1" noChangeAspect="1" noMove="1" noResize="1" noEditPoints="1" noAdjustHandles="1" noChangeArrowheads="1" noChangeShapeType="1" noTextEdit="1"/>
              </p:cNvSpPr>
              <p:nvPr/>
            </p:nvSpPr>
            <p:spPr>
              <a:xfrm>
                <a:off x="788827" y="1257428"/>
                <a:ext cx="11044291" cy="1445302"/>
              </a:xfrm>
              <a:prstGeom prst="rect">
                <a:avLst/>
              </a:prstGeom>
              <a:blipFill>
                <a:blip r:embed="rId3"/>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7" name="Tabla 2">
                <a:extLst>
                  <a:ext uri="{FF2B5EF4-FFF2-40B4-BE49-F238E27FC236}">
                    <a16:creationId xmlns:a16="http://schemas.microsoft.com/office/drawing/2014/main" id="{3A1905AC-BF90-4405-B354-9E9CCD510688}"/>
                  </a:ext>
                </a:extLst>
              </p:cNvPr>
              <p:cNvGraphicFramePr>
                <a:graphicFrameLocks noGrp="1"/>
              </p:cNvGraphicFramePr>
              <p:nvPr>
                <p:extLst>
                  <p:ext uri="{D42A27DB-BD31-4B8C-83A1-F6EECF244321}">
                    <p14:modId xmlns:p14="http://schemas.microsoft.com/office/powerpoint/2010/main" val="3206427214"/>
                  </p:ext>
                </p:extLst>
              </p:nvPr>
            </p:nvGraphicFramePr>
            <p:xfrm>
              <a:off x="1270920" y="2636683"/>
              <a:ext cx="9436101" cy="4125279"/>
            </p:xfrm>
            <a:graphic>
              <a:graphicData uri="http://schemas.openxmlformats.org/drawingml/2006/table">
                <a:tbl>
                  <a:tblPr firstRow="1" bandRow="1">
                    <a:tableStyleId>{AD6A3598-7CB8-4345-8D95-17CE05F158A0}</a:tableStyleId>
                  </a:tblPr>
                  <a:tblGrid>
                    <a:gridCol w="797590">
                      <a:extLst>
                        <a:ext uri="{9D8B030D-6E8A-4147-A177-3AD203B41FA5}">
                          <a16:colId xmlns:a16="http://schemas.microsoft.com/office/drawing/2014/main" val="1610952478"/>
                        </a:ext>
                      </a:extLst>
                    </a:gridCol>
                    <a:gridCol w="6441310">
                      <a:extLst>
                        <a:ext uri="{9D8B030D-6E8A-4147-A177-3AD203B41FA5}">
                          <a16:colId xmlns:a16="http://schemas.microsoft.com/office/drawing/2014/main" val="2942974496"/>
                        </a:ext>
                      </a:extLst>
                    </a:gridCol>
                    <a:gridCol w="2197201">
                      <a:extLst>
                        <a:ext uri="{9D8B030D-6E8A-4147-A177-3AD203B41FA5}">
                          <a16:colId xmlns:a16="http://schemas.microsoft.com/office/drawing/2014/main" val="4281859008"/>
                        </a:ext>
                      </a:extLst>
                    </a:gridCol>
                  </a:tblGrid>
                  <a:tr h="188691">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Pasos</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274213">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mn-lt"/>
                                    <a:ea typeface="Roboto" panose="02000000000000000000" pitchFamily="2" charset="0"/>
                                  </a:rPr>
                                  <m:t>𝐴𝐵𝐶</m:t>
                                </m:r>
                                <m:r>
                                  <a:rPr lang="es-MX" sz="1600" i="1" smtClean="0">
                                    <a:latin typeface="+mn-lt"/>
                                    <a:ea typeface="Roboto" panose="02000000000000000000" pitchFamily="2" charset="0"/>
                                  </a:rPr>
                                  <m:t> + </m:t>
                                </m:r>
                                <m:r>
                                  <a:rPr lang="es-MX" sz="1600" i="1" smtClean="0">
                                    <a:latin typeface="+mn-lt"/>
                                    <a:ea typeface="Roboto" panose="02000000000000000000" pitchFamily="2" charset="0"/>
                                  </a:rPr>
                                  <m:t>𝐴𝐵𝐶</m:t>
                                </m:r>
                                <m:r>
                                  <a:rPr lang="es-MX" sz="1600" b="0" i="1" smtClean="0">
                                    <a:latin typeface="+mn-lt"/>
                                    <a:ea typeface="Roboto" panose="02000000000000000000" pitchFamily="2" charset="0"/>
                                  </a:rPr>
                                  <m:t>′</m:t>
                                </m:r>
                                <m:r>
                                  <a:rPr lang="es-MX" sz="1600" i="1">
                                    <a:latin typeface="+mn-lt"/>
                                    <a:ea typeface="Roboto" panose="02000000000000000000" pitchFamily="2" charset="0"/>
                                  </a:rPr>
                                  <m:t> + </m:t>
                                </m:r>
                                <m:r>
                                  <a:rPr lang="es-MX" sz="1600" i="1">
                                    <a:latin typeface="+mn-lt"/>
                                    <a:ea typeface="Roboto" panose="02000000000000000000" pitchFamily="2" charset="0"/>
                                  </a:rPr>
                                  <m:t>𝐴𝐵</m:t>
                                </m:r>
                                <m:r>
                                  <a:rPr lang="es-MX" sz="1600" i="1">
                                    <a:latin typeface="+mn-lt"/>
                                    <a:ea typeface="Roboto" panose="02000000000000000000" pitchFamily="2" charset="0"/>
                                  </a:rPr>
                                  <m:t>′</m:t>
                                </m:r>
                                <m:r>
                                  <a:rPr lang="es-MX" sz="1600" i="1">
                                    <a:latin typeface="+mn-lt"/>
                                    <a:ea typeface="Roboto" panose="02000000000000000000" pitchFamily="2" charset="0"/>
                                  </a:rPr>
                                  <m:t>𝐶</m:t>
                                </m:r>
                                <m:r>
                                  <a:rPr lang="es-MX" sz="1600" i="1">
                                    <a:latin typeface="+mn-lt"/>
                                    <a:ea typeface="Roboto" panose="02000000000000000000" pitchFamily="2" charset="0"/>
                                  </a:rPr>
                                  <m:t> + </m:t>
                                </m:r>
                                <m:r>
                                  <a:rPr lang="es-MX" sz="1600" i="1">
                                    <a:latin typeface="+mn-lt"/>
                                    <a:ea typeface="Roboto" panose="02000000000000000000" pitchFamily="2" charset="0"/>
                                  </a:rPr>
                                  <m:t>𝐴𝐵</m:t>
                                </m:r>
                                <m:r>
                                  <a:rPr lang="es-MX" sz="1600" i="1">
                                    <a:latin typeface="+mn-lt"/>
                                    <a:ea typeface="Roboto" panose="02000000000000000000" pitchFamily="2" charset="0"/>
                                  </a:rPr>
                                  <m:t>′</m:t>
                                </m:r>
                                <m:r>
                                  <a:rPr lang="es-MX" sz="1600" i="1">
                                    <a:latin typeface="+mn-lt"/>
                                    <a:ea typeface="Roboto" panose="02000000000000000000" pitchFamily="2" charset="0"/>
                                  </a:rPr>
                                  <m:t>𝐶</m:t>
                                </m:r>
                                <m:r>
                                  <a:rPr lang="es-MX" sz="1600" i="1">
                                    <a:latin typeface="+mn-lt"/>
                                    <a:ea typeface="Roboto" panose="02000000000000000000" pitchFamily="2" charset="0"/>
                                  </a:rPr>
                                  <m:t>′+ </m:t>
                                </m:r>
                                <m:r>
                                  <a:rPr lang="es-MX" sz="1600" i="1">
                                    <a:latin typeface="+mn-lt"/>
                                    <a:ea typeface="Roboto" panose="02000000000000000000" pitchFamily="2" charset="0"/>
                                  </a:rPr>
                                  <m:t>𝐴</m:t>
                                </m:r>
                                <m:r>
                                  <a:rPr lang="es-MX" sz="1600" i="1">
                                    <a:latin typeface="+mn-lt"/>
                                    <a:ea typeface="Roboto" panose="02000000000000000000" pitchFamily="2" charset="0"/>
                                  </a:rPr>
                                  <m:t>′</m:t>
                                </m:r>
                                <m:r>
                                  <a:rPr lang="es-MX" sz="1600" i="1">
                                    <a:latin typeface="+mn-lt"/>
                                    <a:ea typeface="Roboto" panose="02000000000000000000" pitchFamily="2" charset="0"/>
                                  </a:rPr>
                                  <m:t>𝐵𝐶</m:t>
                                </m:r>
                                <m:r>
                                  <a:rPr lang="es-MX" sz="1600" i="1">
                                    <a:latin typeface="+mn-lt"/>
                                    <a:ea typeface="Roboto" panose="02000000000000000000" pitchFamily="2" charset="0"/>
                                  </a:rPr>
                                  <m:t> + </m:t>
                                </m:r>
                                <m:r>
                                  <a:rPr lang="es-MX" sz="1600" i="1">
                                    <a:latin typeface="+mn-lt"/>
                                    <a:ea typeface="Roboto" panose="02000000000000000000" pitchFamily="2" charset="0"/>
                                  </a:rPr>
                                  <m:t>𝐴</m:t>
                                </m:r>
                                <m:r>
                                  <a:rPr lang="es-MX" sz="1600" i="1">
                                    <a:latin typeface="+mn-lt"/>
                                    <a:ea typeface="Roboto" panose="02000000000000000000" pitchFamily="2" charset="0"/>
                                  </a:rPr>
                                  <m:t>′</m:t>
                                </m:r>
                                <m:r>
                                  <a:rPr lang="es-MX" sz="1600" i="1">
                                    <a:latin typeface="+mn-lt"/>
                                    <a:ea typeface="Roboto" panose="02000000000000000000" pitchFamily="2" charset="0"/>
                                  </a:rPr>
                                  <m:t>𝐵𝐶</m:t>
                                </m:r>
                                <m:r>
                                  <a:rPr lang="es-MX" sz="1600" i="1">
                                    <a:latin typeface="+mn-lt"/>
                                    <a:ea typeface="Roboto" panose="02000000000000000000" pitchFamily="2" charset="0"/>
                                  </a:rPr>
                                  <m:t>′+ </m:t>
                                </m:r>
                                <m:r>
                                  <a:rPr lang="es-MX" sz="1600" i="1">
                                    <a:latin typeface="+mn-lt"/>
                                    <a:ea typeface="Roboto" panose="02000000000000000000" pitchFamily="2" charset="0"/>
                                  </a:rPr>
                                  <m:t>𝐴</m:t>
                                </m:r>
                                <m:r>
                                  <a:rPr lang="es-MX" sz="1600" i="1">
                                    <a:latin typeface="+mn-lt"/>
                                    <a:ea typeface="Roboto" panose="02000000000000000000" pitchFamily="2" charset="0"/>
                                  </a:rPr>
                                  <m:t>′</m:t>
                                </m:r>
                                <m:r>
                                  <a:rPr lang="es-MX" sz="1600" i="1">
                                    <a:latin typeface="+mn-lt"/>
                                    <a:ea typeface="Roboto" panose="02000000000000000000" pitchFamily="2" charset="0"/>
                                  </a:rPr>
                                  <m:t>𝐵</m:t>
                                </m:r>
                                <m:r>
                                  <a:rPr lang="es-MX" sz="1600" i="1">
                                    <a:latin typeface="+mn-lt"/>
                                    <a:ea typeface="Roboto" panose="02000000000000000000" pitchFamily="2" charset="0"/>
                                  </a:rPr>
                                  <m:t>′</m:t>
                                </m:r>
                                <m:r>
                                  <a:rPr lang="es-MX" sz="1600" i="1">
                                    <a:latin typeface="+mn-lt"/>
                                    <a:ea typeface="Roboto" panose="02000000000000000000" pitchFamily="2" charset="0"/>
                                  </a:rPr>
                                  <m:t>𝐶</m:t>
                                </m:r>
                                <m:r>
                                  <a:rPr lang="es-MX" sz="1600" i="1">
                                    <a:latin typeface="+mn-lt"/>
                                    <a:ea typeface="Roboto" panose="02000000000000000000" pitchFamily="2" charset="0"/>
                                  </a:rPr>
                                  <m:t> + </m:t>
                                </m:r>
                                <m:r>
                                  <a:rPr lang="es-MX" sz="1600" i="1">
                                    <a:latin typeface="+mn-lt"/>
                                    <a:ea typeface="Roboto" panose="02000000000000000000" pitchFamily="2" charset="0"/>
                                  </a:rPr>
                                  <m:t>𝐴</m:t>
                                </m:r>
                                <m:r>
                                  <a:rPr lang="es-MX" sz="1600" i="1">
                                    <a:latin typeface="+mn-lt"/>
                                    <a:ea typeface="Roboto" panose="02000000000000000000" pitchFamily="2" charset="0"/>
                                  </a:rPr>
                                  <m:t>′</m:t>
                                </m:r>
                                <m:r>
                                  <a:rPr lang="es-MX" sz="1600" i="1">
                                    <a:latin typeface="+mn-lt"/>
                                    <a:ea typeface="Roboto" panose="02000000000000000000" pitchFamily="2" charset="0"/>
                                  </a:rPr>
                                  <m:t>𝐵</m:t>
                                </m:r>
                                <m:r>
                                  <a:rPr lang="es-MX" sz="1600" i="1">
                                    <a:latin typeface="+mn-lt"/>
                                    <a:ea typeface="Roboto" panose="02000000000000000000" pitchFamily="2" charset="0"/>
                                  </a:rPr>
                                  <m:t>′</m:t>
                                </m:r>
                                <m:r>
                                  <a:rPr lang="es-MX" sz="1600" i="1">
                                    <a:latin typeface="+mn-lt"/>
                                    <a:ea typeface="Roboto" panose="02000000000000000000" pitchFamily="2" charset="0"/>
                                  </a:rPr>
                                  <m:t>𝐶</m:t>
                                </m:r>
                                <m:r>
                                  <a:rPr lang="es-MX" sz="1600" i="1">
                                    <a:latin typeface="+mn-lt"/>
                                    <a:ea typeface="Roboto" panose="02000000000000000000" pitchFamily="2" charset="0"/>
                                  </a:rPr>
                                  <m:t>′</m:t>
                                </m:r>
                              </m:oMath>
                            </m:oMathPara>
                          </a14:m>
                          <a:endParaRPr lang="es-MX" sz="16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600" dirty="0">
                              <a:latin typeface="+mn-lt"/>
                              <a:ea typeface="Roboto" panose="02000000000000000000" pitchFamily="2" charset="0"/>
                            </a:rPr>
                            <a:t>Premisa</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283036">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2</m:t>
                                </m:r>
                              </m:oMath>
                            </m:oMathPara>
                          </a14:m>
                          <a:endParaRPr lang="es-CO" sz="16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d>
                                  <m:dPr>
                                    <m:ctrlPr>
                                      <a:rPr lang="es-MX" sz="1600" b="0" i="1" smtClean="0">
                                        <a:latin typeface="+mn-lt"/>
                                        <a:ea typeface="Roboto" panose="02000000000000000000" pitchFamily="2" charset="0"/>
                                      </a:rPr>
                                    </m:ctrlPr>
                                  </m:dPr>
                                  <m:e>
                                    <m:r>
                                      <a:rPr lang="es-MX" sz="1600" i="1" smtClean="0">
                                        <a:latin typeface="+mn-lt"/>
                                        <a:ea typeface="Roboto" panose="02000000000000000000" pitchFamily="2" charset="0"/>
                                      </a:rPr>
                                      <m:t>𝐴𝐵𝐶</m:t>
                                    </m:r>
                                    <m:r>
                                      <a:rPr lang="es-MX" sz="1600" i="1" smtClean="0">
                                        <a:latin typeface="+mn-lt"/>
                                        <a:ea typeface="Roboto" panose="02000000000000000000" pitchFamily="2" charset="0"/>
                                      </a:rPr>
                                      <m:t> + </m:t>
                                    </m:r>
                                    <m:r>
                                      <a:rPr lang="es-MX" sz="1600" i="1" smtClean="0">
                                        <a:latin typeface="+mn-lt"/>
                                        <a:ea typeface="Roboto" panose="02000000000000000000" pitchFamily="2" charset="0"/>
                                      </a:rPr>
                                      <m:t>𝐴𝐵</m:t>
                                    </m:r>
                                    <m:sSup>
                                      <m:sSupPr>
                                        <m:ctrlPr>
                                          <a:rPr lang="es-MX" sz="1600" b="0" i="1" smtClean="0">
                                            <a:latin typeface="+mn-lt"/>
                                            <a:ea typeface="Roboto" panose="02000000000000000000" pitchFamily="2" charset="0"/>
                                          </a:rPr>
                                        </m:ctrlPr>
                                      </m:sSupPr>
                                      <m:e>
                                        <m:r>
                                          <a:rPr lang="es-MX" sz="1600" i="1" smtClean="0">
                                            <a:latin typeface="+mn-lt"/>
                                            <a:ea typeface="Roboto" panose="02000000000000000000" pitchFamily="2" charset="0"/>
                                          </a:rPr>
                                          <m:t>𝐶</m:t>
                                        </m:r>
                                      </m:e>
                                      <m:sup>
                                        <m:r>
                                          <a:rPr lang="es-MX" sz="1600" b="0" i="1" smtClean="0">
                                            <a:latin typeface="+mn-lt"/>
                                            <a:ea typeface="Roboto" panose="02000000000000000000" pitchFamily="2" charset="0"/>
                                          </a:rPr>
                                          <m:t>′</m:t>
                                        </m:r>
                                      </m:sup>
                                    </m:sSup>
                                  </m:e>
                                </m:d>
                                <m:r>
                                  <a:rPr lang="es-MX" sz="1600" i="1">
                                    <a:latin typeface="+mn-lt"/>
                                    <a:ea typeface="Roboto" panose="02000000000000000000" pitchFamily="2" charset="0"/>
                                  </a:rPr>
                                  <m:t> +</m:t>
                                </m:r>
                                <m:d>
                                  <m:dPr>
                                    <m:ctrlPr>
                                      <a:rPr lang="es-MX" sz="1600" b="0" i="1" smtClean="0">
                                        <a:latin typeface="+mn-lt"/>
                                        <a:ea typeface="Roboto" panose="02000000000000000000" pitchFamily="2" charset="0"/>
                                      </a:rPr>
                                    </m:ctrlPr>
                                  </m:dPr>
                                  <m:e>
                                    <m:r>
                                      <a:rPr lang="es-MX" sz="1600" i="1">
                                        <a:latin typeface="+mn-lt"/>
                                        <a:ea typeface="Roboto" panose="02000000000000000000" pitchFamily="2" charset="0"/>
                                      </a:rPr>
                                      <m:t>𝐴</m:t>
                                    </m:r>
                                    <m:sSup>
                                      <m:sSupPr>
                                        <m:ctrlPr>
                                          <a:rPr lang="es-MX" sz="1600" i="1">
                                            <a:latin typeface="+mn-lt"/>
                                            <a:ea typeface="Roboto" panose="02000000000000000000" pitchFamily="2" charset="0"/>
                                          </a:rPr>
                                        </m:ctrlPr>
                                      </m:sSupPr>
                                      <m:e>
                                        <m:r>
                                          <a:rPr lang="es-MX" sz="1600" i="1">
                                            <a:latin typeface="+mn-lt"/>
                                            <a:ea typeface="Roboto" panose="02000000000000000000" pitchFamily="2" charset="0"/>
                                          </a:rPr>
                                          <m:t>𝐵</m:t>
                                        </m:r>
                                      </m:e>
                                      <m:sup>
                                        <m:r>
                                          <a:rPr lang="es-MX" sz="1600" i="1">
                                            <a:latin typeface="+mn-lt"/>
                                            <a:ea typeface="Roboto" panose="02000000000000000000" pitchFamily="2" charset="0"/>
                                          </a:rPr>
                                          <m:t>′</m:t>
                                        </m:r>
                                      </m:sup>
                                    </m:sSup>
                                    <m:r>
                                      <a:rPr lang="es-MX" sz="1600" i="1">
                                        <a:latin typeface="+mn-lt"/>
                                        <a:ea typeface="Roboto" panose="02000000000000000000" pitchFamily="2" charset="0"/>
                                      </a:rPr>
                                      <m:t>𝐶</m:t>
                                    </m:r>
                                    <m:r>
                                      <a:rPr lang="es-MX" sz="1600" i="1">
                                        <a:latin typeface="+mn-lt"/>
                                        <a:ea typeface="Roboto" panose="02000000000000000000" pitchFamily="2" charset="0"/>
                                      </a:rPr>
                                      <m:t> + </m:t>
                                    </m:r>
                                    <m:r>
                                      <a:rPr lang="es-MX" sz="1600" i="1">
                                        <a:latin typeface="+mn-lt"/>
                                        <a:ea typeface="Roboto" panose="02000000000000000000" pitchFamily="2" charset="0"/>
                                      </a:rPr>
                                      <m:t>𝐴</m:t>
                                    </m:r>
                                    <m:sSup>
                                      <m:sSupPr>
                                        <m:ctrlPr>
                                          <a:rPr lang="es-MX" sz="1600" i="1">
                                            <a:latin typeface="+mn-lt"/>
                                            <a:ea typeface="Roboto" panose="02000000000000000000" pitchFamily="2" charset="0"/>
                                          </a:rPr>
                                        </m:ctrlPr>
                                      </m:sSupPr>
                                      <m:e>
                                        <m:r>
                                          <a:rPr lang="es-MX" sz="1600" i="1">
                                            <a:latin typeface="+mn-lt"/>
                                            <a:ea typeface="Roboto" panose="02000000000000000000" pitchFamily="2" charset="0"/>
                                          </a:rPr>
                                          <m:t>𝐵</m:t>
                                        </m:r>
                                      </m:e>
                                      <m:sup>
                                        <m:r>
                                          <a:rPr lang="es-MX" sz="1600" i="1">
                                            <a:latin typeface="+mn-lt"/>
                                            <a:ea typeface="Roboto" panose="02000000000000000000" pitchFamily="2" charset="0"/>
                                          </a:rPr>
                                          <m:t>′</m:t>
                                        </m:r>
                                      </m:sup>
                                    </m:sSup>
                                    <m:sSup>
                                      <m:sSupPr>
                                        <m:ctrlPr>
                                          <a:rPr lang="es-MX" sz="1600" i="1">
                                            <a:latin typeface="+mn-lt"/>
                                            <a:ea typeface="Roboto" panose="02000000000000000000" pitchFamily="2" charset="0"/>
                                          </a:rPr>
                                        </m:ctrlPr>
                                      </m:sSupPr>
                                      <m:e>
                                        <m:r>
                                          <a:rPr lang="es-MX" sz="1600" i="1">
                                            <a:latin typeface="+mn-lt"/>
                                            <a:ea typeface="Roboto" panose="02000000000000000000" pitchFamily="2" charset="0"/>
                                          </a:rPr>
                                          <m:t>𝐶</m:t>
                                        </m:r>
                                      </m:e>
                                      <m:sup>
                                        <m:r>
                                          <a:rPr lang="es-MX" sz="1600" i="1">
                                            <a:latin typeface="+mn-lt"/>
                                            <a:ea typeface="Roboto" panose="02000000000000000000" pitchFamily="2" charset="0"/>
                                          </a:rPr>
                                          <m:t>′</m:t>
                                        </m:r>
                                      </m:sup>
                                    </m:sSup>
                                  </m:e>
                                </m:d>
                                <m:r>
                                  <a:rPr lang="es-MX" sz="1600" i="1">
                                    <a:latin typeface="+mn-lt"/>
                                    <a:ea typeface="Roboto" panose="02000000000000000000" pitchFamily="2" charset="0"/>
                                  </a:rPr>
                                  <m:t>+</m:t>
                                </m:r>
                                <m:d>
                                  <m:dPr>
                                    <m:ctrlPr>
                                      <a:rPr lang="es-MX" sz="1600" b="0" i="1" smtClean="0">
                                        <a:latin typeface="+mn-lt"/>
                                        <a:ea typeface="Roboto" panose="02000000000000000000" pitchFamily="2" charset="0"/>
                                      </a:rPr>
                                    </m:ctrlPr>
                                  </m:dPr>
                                  <m:e>
                                    <m:sSup>
                                      <m:sSupPr>
                                        <m:ctrlPr>
                                          <a:rPr lang="es-MX" sz="1600" i="1">
                                            <a:latin typeface="+mn-lt"/>
                                            <a:ea typeface="Roboto" panose="02000000000000000000" pitchFamily="2" charset="0"/>
                                          </a:rPr>
                                        </m:ctrlPr>
                                      </m:sSupPr>
                                      <m:e>
                                        <m:r>
                                          <a:rPr lang="es-MX" sz="1600" i="1">
                                            <a:latin typeface="+mn-lt"/>
                                            <a:ea typeface="Roboto" panose="02000000000000000000" pitchFamily="2" charset="0"/>
                                          </a:rPr>
                                          <m:t>𝐴</m:t>
                                        </m:r>
                                      </m:e>
                                      <m:sup>
                                        <m:r>
                                          <a:rPr lang="es-MX" sz="1600" i="1">
                                            <a:latin typeface="+mn-lt"/>
                                            <a:ea typeface="Roboto" panose="02000000000000000000" pitchFamily="2" charset="0"/>
                                          </a:rPr>
                                          <m:t>′</m:t>
                                        </m:r>
                                      </m:sup>
                                    </m:sSup>
                                    <m:r>
                                      <a:rPr lang="es-MX" sz="1600" i="1">
                                        <a:latin typeface="+mn-lt"/>
                                        <a:ea typeface="Roboto" panose="02000000000000000000" pitchFamily="2" charset="0"/>
                                      </a:rPr>
                                      <m:t>𝐵𝐶</m:t>
                                    </m:r>
                                    <m:r>
                                      <a:rPr lang="es-MX" sz="1600" i="1">
                                        <a:latin typeface="+mn-lt"/>
                                        <a:ea typeface="Roboto" panose="02000000000000000000" pitchFamily="2" charset="0"/>
                                      </a:rPr>
                                      <m:t> + </m:t>
                                    </m:r>
                                    <m:sSup>
                                      <m:sSupPr>
                                        <m:ctrlPr>
                                          <a:rPr lang="es-MX" sz="1600" i="1">
                                            <a:latin typeface="+mn-lt"/>
                                            <a:ea typeface="Roboto" panose="02000000000000000000" pitchFamily="2" charset="0"/>
                                          </a:rPr>
                                        </m:ctrlPr>
                                      </m:sSupPr>
                                      <m:e>
                                        <m:r>
                                          <a:rPr lang="es-MX" sz="1600" i="1">
                                            <a:latin typeface="+mn-lt"/>
                                            <a:ea typeface="Roboto" panose="02000000000000000000" pitchFamily="2" charset="0"/>
                                          </a:rPr>
                                          <m:t>𝐴</m:t>
                                        </m:r>
                                      </m:e>
                                      <m:sup>
                                        <m:r>
                                          <a:rPr lang="es-MX" sz="1600" i="1">
                                            <a:latin typeface="+mn-lt"/>
                                            <a:ea typeface="Roboto" panose="02000000000000000000" pitchFamily="2" charset="0"/>
                                          </a:rPr>
                                          <m:t>′</m:t>
                                        </m:r>
                                      </m:sup>
                                    </m:sSup>
                                    <m:r>
                                      <a:rPr lang="es-MX" sz="1600" i="1">
                                        <a:latin typeface="+mn-lt"/>
                                        <a:ea typeface="Roboto" panose="02000000000000000000" pitchFamily="2" charset="0"/>
                                      </a:rPr>
                                      <m:t>𝐵</m:t>
                                    </m:r>
                                    <m:sSup>
                                      <m:sSupPr>
                                        <m:ctrlPr>
                                          <a:rPr lang="es-MX" sz="1600" i="1">
                                            <a:latin typeface="+mn-lt"/>
                                            <a:ea typeface="Roboto" panose="02000000000000000000" pitchFamily="2" charset="0"/>
                                          </a:rPr>
                                        </m:ctrlPr>
                                      </m:sSupPr>
                                      <m:e>
                                        <m:r>
                                          <a:rPr lang="es-MX" sz="1600" i="1">
                                            <a:latin typeface="+mn-lt"/>
                                            <a:ea typeface="Roboto" panose="02000000000000000000" pitchFamily="2" charset="0"/>
                                          </a:rPr>
                                          <m:t>𝐶</m:t>
                                        </m:r>
                                      </m:e>
                                      <m:sup>
                                        <m:r>
                                          <a:rPr lang="es-MX" sz="1600" i="1">
                                            <a:latin typeface="+mn-lt"/>
                                            <a:ea typeface="Roboto" panose="02000000000000000000" pitchFamily="2" charset="0"/>
                                          </a:rPr>
                                          <m:t>′</m:t>
                                        </m:r>
                                      </m:sup>
                                    </m:sSup>
                                  </m:e>
                                </m:d>
                                <m:r>
                                  <a:rPr lang="es-MX" sz="1600" i="1">
                                    <a:latin typeface="+mn-lt"/>
                                    <a:ea typeface="Roboto" panose="02000000000000000000" pitchFamily="2" charset="0"/>
                                  </a:rPr>
                                  <m:t>+</m:t>
                                </m:r>
                                <m:d>
                                  <m:dPr>
                                    <m:ctrlPr>
                                      <a:rPr lang="es-MX" sz="1600" b="0" i="1" smtClean="0">
                                        <a:latin typeface="+mn-lt"/>
                                        <a:ea typeface="Roboto" panose="02000000000000000000" pitchFamily="2" charset="0"/>
                                      </a:rPr>
                                    </m:ctrlPr>
                                  </m:dPr>
                                  <m:e>
                                    <m:sSup>
                                      <m:sSupPr>
                                        <m:ctrlPr>
                                          <a:rPr lang="es-MX" sz="1600" i="1">
                                            <a:latin typeface="+mn-lt"/>
                                            <a:ea typeface="Roboto" panose="02000000000000000000" pitchFamily="2" charset="0"/>
                                          </a:rPr>
                                        </m:ctrlPr>
                                      </m:sSupPr>
                                      <m:e>
                                        <m:r>
                                          <a:rPr lang="es-MX" sz="1600" i="1">
                                            <a:latin typeface="+mn-lt"/>
                                            <a:ea typeface="Roboto" panose="02000000000000000000" pitchFamily="2" charset="0"/>
                                          </a:rPr>
                                          <m:t>𝐴</m:t>
                                        </m:r>
                                      </m:e>
                                      <m:sup>
                                        <m:r>
                                          <a:rPr lang="es-MX" sz="1600" i="1">
                                            <a:latin typeface="+mn-lt"/>
                                            <a:ea typeface="Roboto" panose="02000000000000000000" pitchFamily="2" charset="0"/>
                                          </a:rPr>
                                          <m:t>′</m:t>
                                        </m:r>
                                      </m:sup>
                                    </m:sSup>
                                    <m:sSup>
                                      <m:sSupPr>
                                        <m:ctrlPr>
                                          <a:rPr lang="es-MX" sz="1600" i="1">
                                            <a:latin typeface="+mn-lt"/>
                                            <a:ea typeface="Roboto" panose="02000000000000000000" pitchFamily="2" charset="0"/>
                                          </a:rPr>
                                        </m:ctrlPr>
                                      </m:sSupPr>
                                      <m:e>
                                        <m:r>
                                          <a:rPr lang="es-MX" sz="1600" i="1">
                                            <a:latin typeface="+mn-lt"/>
                                            <a:ea typeface="Roboto" panose="02000000000000000000" pitchFamily="2" charset="0"/>
                                          </a:rPr>
                                          <m:t>𝐵</m:t>
                                        </m:r>
                                      </m:e>
                                      <m:sup>
                                        <m:r>
                                          <a:rPr lang="es-MX" sz="1600" i="1">
                                            <a:latin typeface="+mn-lt"/>
                                            <a:ea typeface="Roboto" panose="02000000000000000000" pitchFamily="2" charset="0"/>
                                          </a:rPr>
                                          <m:t>′</m:t>
                                        </m:r>
                                      </m:sup>
                                    </m:sSup>
                                    <m:r>
                                      <a:rPr lang="es-MX" sz="1600" i="1">
                                        <a:latin typeface="+mn-lt"/>
                                        <a:ea typeface="Roboto" panose="02000000000000000000" pitchFamily="2" charset="0"/>
                                      </a:rPr>
                                      <m:t>𝐶</m:t>
                                    </m:r>
                                    <m:r>
                                      <a:rPr lang="es-MX" sz="1600" i="1">
                                        <a:latin typeface="+mn-lt"/>
                                        <a:ea typeface="Roboto" panose="02000000000000000000" pitchFamily="2" charset="0"/>
                                      </a:rPr>
                                      <m:t> + </m:t>
                                    </m:r>
                                    <m:sSup>
                                      <m:sSupPr>
                                        <m:ctrlPr>
                                          <a:rPr lang="es-MX" sz="1600" i="1">
                                            <a:latin typeface="+mn-lt"/>
                                            <a:ea typeface="Roboto" panose="02000000000000000000" pitchFamily="2" charset="0"/>
                                          </a:rPr>
                                        </m:ctrlPr>
                                      </m:sSupPr>
                                      <m:e>
                                        <m:r>
                                          <a:rPr lang="es-MX" sz="1600" i="1">
                                            <a:latin typeface="+mn-lt"/>
                                            <a:ea typeface="Roboto" panose="02000000000000000000" pitchFamily="2" charset="0"/>
                                          </a:rPr>
                                          <m:t>𝐴</m:t>
                                        </m:r>
                                      </m:e>
                                      <m:sup>
                                        <m:r>
                                          <a:rPr lang="es-MX" sz="1600" i="1">
                                            <a:latin typeface="+mn-lt"/>
                                            <a:ea typeface="Roboto" panose="02000000000000000000" pitchFamily="2" charset="0"/>
                                          </a:rPr>
                                          <m:t>′</m:t>
                                        </m:r>
                                      </m:sup>
                                    </m:sSup>
                                    <m:sSup>
                                      <m:sSupPr>
                                        <m:ctrlPr>
                                          <a:rPr lang="es-MX" sz="1600" i="1">
                                            <a:latin typeface="+mn-lt"/>
                                            <a:ea typeface="Roboto" panose="02000000000000000000" pitchFamily="2" charset="0"/>
                                          </a:rPr>
                                        </m:ctrlPr>
                                      </m:sSupPr>
                                      <m:e>
                                        <m:r>
                                          <a:rPr lang="es-MX" sz="1600" i="1">
                                            <a:latin typeface="+mn-lt"/>
                                            <a:ea typeface="Roboto" panose="02000000000000000000" pitchFamily="2" charset="0"/>
                                          </a:rPr>
                                          <m:t>𝐵</m:t>
                                        </m:r>
                                      </m:e>
                                      <m:sup>
                                        <m:r>
                                          <a:rPr lang="es-MX" sz="1600" i="1">
                                            <a:latin typeface="+mn-lt"/>
                                            <a:ea typeface="Roboto" panose="02000000000000000000" pitchFamily="2" charset="0"/>
                                          </a:rPr>
                                          <m:t>′</m:t>
                                        </m:r>
                                      </m:sup>
                                    </m:sSup>
                                    <m:sSup>
                                      <m:sSupPr>
                                        <m:ctrlPr>
                                          <a:rPr lang="es-MX" sz="1600" i="1">
                                            <a:latin typeface="+mn-lt"/>
                                            <a:ea typeface="Roboto" panose="02000000000000000000" pitchFamily="2" charset="0"/>
                                          </a:rPr>
                                        </m:ctrlPr>
                                      </m:sSupPr>
                                      <m:e>
                                        <m:r>
                                          <a:rPr lang="es-MX" sz="1600" i="1">
                                            <a:latin typeface="+mn-lt"/>
                                            <a:ea typeface="Roboto" panose="02000000000000000000" pitchFamily="2" charset="0"/>
                                          </a:rPr>
                                          <m:t>𝐶</m:t>
                                        </m:r>
                                      </m:e>
                                      <m:sup>
                                        <m:r>
                                          <a:rPr lang="es-MX" sz="1600" i="1">
                                            <a:latin typeface="+mn-lt"/>
                                            <a:ea typeface="Roboto" panose="02000000000000000000" pitchFamily="2" charset="0"/>
                                          </a:rPr>
                                          <m:t>′</m:t>
                                        </m:r>
                                      </m:sup>
                                    </m:sSup>
                                  </m:e>
                                </m:d>
                              </m:oMath>
                            </m:oMathPara>
                          </a14:m>
                          <a:endParaRPr lang="es-MX" sz="16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600" b="0" dirty="0">
                              <a:latin typeface="+mn-lt"/>
                              <a:ea typeface="Roboto" panose="02000000000000000000" pitchFamily="2" charset="0"/>
                            </a:rPr>
                            <a:t>Asociatividad en 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184406">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3</m:t>
                                </m:r>
                              </m:oMath>
                            </m:oMathPara>
                          </a14:m>
                          <a:endParaRPr lang="es-CO" sz="16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mn-lt"/>
                                    <a:ea typeface="Roboto" panose="02000000000000000000" pitchFamily="2" charset="0"/>
                                  </a:rPr>
                                  <m:t>𝐴𝐵</m:t>
                                </m:r>
                                <m:r>
                                  <a:rPr lang="es-MX" sz="1600" i="1" smtClean="0">
                                    <a:latin typeface="+mn-lt"/>
                                    <a:ea typeface="Cambria Math" panose="02040503050406030204" pitchFamily="18" charset="0"/>
                                  </a:rPr>
                                  <m:t>⋅</m:t>
                                </m:r>
                                <m:d>
                                  <m:dPr>
                                    <m:ctrlPr>
                                      <a:rPr lang="es-MX" sz="1600" b="0" i="1" smtClean="0">
                                        <a:latin typeface="+mn-lt"/>
                                        <a:ea typeface="Roboto" panose="02000000000000000000" pitchFamily="2" charset="0"/>
                                      </a:rPr>
                                    </m:ctrlPr>
                                  </m:dPr>
                                  <m:e>
                                    <m:r>
                                      <a:rPr lang="es-MX" sz="1600" i="1" smtClean="0">
                                        <a:latin typeface="+mn-lt"/>
                                        <a:ea typeface="Roboto" panose="02000000000000000000" pitchFamily="2" charset="0"/>
                                      </a:rPr>
                                      <m:t>𝐶</m:t>
                                    </m:r>
                                    <m:r>
                                      <a:rPr lang="es-MX" sz="1600" i="1" smtClean="0">
                                        <a:latin typeface="+mn-lt"/>
                                        <a:ea typeface="Roboto" panose="02000000000000000000" pitchFamily="2" charset="0"/>
                                      </a:rPr>
                                      <m:t> + </m:t>
                                    </m:r>
                                    <m:sSup>
                                      <m:sSupPr>
                                        <m:ctrlPr>
                                          <a:rPr lang="es-MX" sz="1600" b="0" i="1" smtClean="0">
                                            <a:latin typeface="+mn-lt"/>
                                            <a:ea typeface="Roboto" panose="02000000000000000000" pitchFamily="2" charset="0"/>
                                          </a:rPr>
                                        </m:ctrlPr>
                                      </m:sSupPr>
                                      <m:e>
                                        <m:r>
                                          <a:rPr lang="es-MX" sz="1600" i="1" smtClean="0">
                                            <a:latin typeface="+mn-lt"/>
                                            <a:ea typeface="Roboto" panose="02000000000000000000" pitchFamily="2" charset="0"/>
                                          </a:rPr>
                                          <m:t>𝐶</m:t>
                                        </m:r>
                                      </m:e>
                                      <m:sup>
                                        <m:r>
                                          <a:rPr lang="es-MX" sz="1600" b="0" i="1" smtClean="0">
                                            <a:latin typeface="+mn-lt"/>
                                            <a:ea typeface="Roboto" panose="02000000000000000000" pitchFamily="2" charset="0"/>
                                          </a:rPr>
                                          <m:t>′</m:t>
                                        </m:r>
                                      </m:sup>
                                    </m:sSup>
                                  </m:e>
                                </m:d>
                                <m:r>
                                  <a:rPr lang="es-MX" sz="1600" i="1">
                                    <a:latin typeface="+mn-lt"/>
                                    <a:ea typeface="Roboto" panose="02000000000000000000" pitchFamily="2" charset="0"/>
                                  </a:rPr>
                                  <m:t> +</m:t>
                                </m:r>
                                <m:r>
                                  <a:rPr lang="es-MX" sz="1600" i="1" smtClean="0">
                                    <a:latin typeface="+mn-lt"/>
                                    <a:ea typeface="Roboto" panose="02000000000000000000" pitchFamily="2" charset="0"/>
                                  </a:rPr>
                                  <m:t>𝐴𝐵</m:t>
                                </m:r>
                                <m:r>
                                  <a:rPr lang="es-MX" sz="1600" b="0" i="1" smtClean="0">
                                    <a:latin typeface="+mn-lt"/>
                                    <a:ea typeface="Roboto" panose="02000000000000000000" pitchFamily="2" charset="0"/>
                                  </a:rPr>
                                  <m:t>′</m:t>
                                </m:r>
                                <m:r>
                                  <a:rPr lang="es-MX" sz="1600" i="1" smtClean="0">
                                    <a:latin typeface="+mn-lt"/>
                                    <a:ea typeface="Cambria Math" panose="02040503050406030204" pitchFamily="18" charset="0"/>
                                  </a:rPr>
                                  <m:t>⋅</m:t>
                                </m:r>
                                <m:d>
                                  <m:dPr>
                                    <m:ctrlPr>
                                      <a:rPr lang="es-MX" sz="1600" b="0" i="1" smtClean="0">
                                        <a:latin typeface="+mn-lt"/>
                                        <a:ea typeface="Roboto" panose="02000000000000000000" pitchFamily="2" charset="0"/>
                                      </a:rPr>
                                    </m:ctrlPr>
                                  </m:dPr>
                                  <m:e>
                                    <m:r>
                                      <a:rPr lang="es-MX" sz="1600" i="1">
                                        <a:latin typeface="+mn-lt"/>
                                        <a:ea typeface="Roboto" panose="02000000000000000000" pitchFamily="2" charset="0"/>
                                      </a:rPr>
                                      <m:t>𝐶</m:t>
                                    </m:r>
                                    <m:r>
                                      <a:rPr lang="es-MX" sz="1600" i="1">
                                        <a:latin typeface="+mn-lt"/>
                                        <a:ea typeface="Roboto" panose="02000000000000000000" pitchFamily="2" charset="0"/>
                                      </a:rPr>
                                      <m:t> + </m:t>
                                    </m:r>
                                    <m:sSup>
                                      <m:sSupPr>
                                        <m:ctrlPr>
                                          <a:rPr lang="es-MX" sz="1600" i="1">
                                            <a:latin typeface="+mn-lt"/>
                                            <a:ea typeface="Roboto" panose="02000000000000000000" pitchFamily="2" charset="0"/>
                                          </a:rPr>
                                        </m:ctrlPr>
                                      </m:sSupPr>
                                      <m:e>
                                        <m:r>
                                          <a:rPr lang="es-MX" sz="1600" i="1">
                                            <a:latin typeface="+mn-lt"/>
                                            <a:ea typeface="Roboto" panose="02000000000000000000" pitchFamily="2" charset="0"/>
                                          </a:rPr>
                                          <m:t>𝐶</m:t>
                                        </m:r>
                                      </m:e>
                                      <m:sup>
                                        <m:r>
                                          <a:rPr lang="es-MX" sz="1600" i="1">
                                            <a:latin typeface="+mn-lt"/>
                                            <a:ea typeface="Roboto" panose="02000000000000000000" pitchFamily="2" charset="0"/>
                                          </a:rPr>
                                          <m:t>′</m:t>
                                        </m:r>
                                      </m:sup>
                                    </m:sSup>
                                  </m:e>
                                </m:d>
                                <m:r>
                                  <a:rPr lang="es-MX" sz="1600" i="1">
                                    <a:latin typeface="+mn-lt"/>
                                    <a:ea typeface="Roboto" panose="02000000000000000000" pitchFamily="2" charset="0"/>
                                  </a:rPr>
                                  <m:t>+</m:t>
                                </m:r>
                                <m:r>
                                  <a:rPr lang="es-MX" sz="1600" i="1" smtClean="0">
                                    <a:latin typeface="+mn-lt"/>
                                    <a:ea typeface="Roboto" panose="02000000000000000000" pitchFamily="2" charset="0"/>
                                  </a:rPr>
                                  <m:t>𝐴</m:t>
                                </m:r>
                                <m:r>
                                  <a:rPr lang="es-MX" sz="1600" b="0" i="1" smtClean="0">
                                    <a:latin typeface="+mn-lt"/>
                                    <a:ea typeface="Roboto" panose="02000000000000000000" pitchFamily="2" charset="0"/>
                                  </a:rPr>
                                  <m:t>′</m:t>
                                </m:r>
                                <m:r>
                                  <a:rPr lang="es-MX" sz="1600" i="1" smtClean="0">
                                    <a:latin typeface="+mn-lt"/>
                                    <a:ea typeface="Roboto" panose="02000000000000000000" pitchFamily="2" charset="0"/>
                                  </a:rPr>
                                  <m:t>𝐵</m:t>
                                </m:r>
                                <m:r>
                                  <a:rPr lang="es-MX" sz="1600" i="1" smtClean="0">
                                    <a:latin typeface="+mn-lt"/>
                                    <a:ea typeface="Cambria Math" panose="02040503050406030204" pitchFamily="18" charset="0"/>
                                  </a:rPr>
                                  <m:t>⋅</m:t>
                                </m:r>
                                <m:d>
                                  <m:dPr>
                                    <m:ctrlPr>
                                      <a:rPr lang="es-MX" sz="1600" b="0" i="1" smtClean="0">
                                        <a:latin typeface="+mn-lt"/>
                                        <a:ea typeface="Roboto" panose="02000000000000000000" pitchFamily="2" charset="0"/>
                                      </a:rPr>
                                    </m:ctrlPr>
                                  </m:dPr>
                                  <m:e>
                                    <m:r>
                                      <a:rPr lang="es-MX" sz="1600" i="1">
                                        <a:latin typeface="+mn-lt"/>
                                        <a:ea typeface="Roboto" panose="02000000000000000000" pitchFamily="2" charset="0"/>
                                      </a:rPr>
                                      <m:t>𝐶</m:t>
                                    </m:r>
                                    <m:r>
                                      <a:rPr lang="es-MX" sz="1600" i="1">
                                        <a:latin typeface="+mn-lt"/>
                                        <a:ea typeface="Roboto" panose="02000000000000000000" pitchFamily="2" charset="0"/>
                                      </a:rPr>
                                      <m:t> + </m:t>
                                    </m:r>
                                    <m:sSup>
                                      <m:sSupPr>
                                        <m:ctrlPr>
                                          <a:rPr lang="es-MX" sz="1600" i="1">
                                            <a:latin typeface="+mn-lt"/>
                                            <a:ea typeface="Roboto" panose="02000000000000000000" pitchFamily="2" charset="0"/>
                                          </a:rPr>
                                        </m:ctrlPr>
                                      </m:sSupPr>
                                      <m:e>
                                        <m:r>
                                          <a:rPr lang="es-MX" sz="1600" i="1">
                                            <a:latin typeface="+mn-lt"/>
                                            <a:ea typeface="Roboto" panose="02000000000000000000" pitchFamily="2" charset="0"/>
                                          </a:rPr>
                                          <m:t>𝐶</m:t>
                                        </m:r>
                                      </m:e>
                                      <m:sup>
                                        <m:r>
                                          <a:rPr lang="es-MX" sz="1600" i="1">
                                            <a:latin typeface="+mn-lt"/>
                                            <a:ea typeface="Roboto" panose="02000000000000000000" pitchFamily="2" charset="0"/>
                                          </a:rPr>
                                          <m:t>′</m:t>
                                        </m:r>
                                      </m:sup>
                                    </m:sSup>
                                  </m:e>
                                </m:d>
                                <m:r>
                                  <a:rPr lang="es-MX" sz="1600" i="1">
                                    <a:latin typeface="+mn-lt"/>
                                    <a:ea typeface="Roboto" panose="02000000000000000000" pitchFamily="2" charset="0"/>
                                  </a:rPr>
                                  <m:t>+</m:t>
                                </m:r>
                                <m:r>
                                  <a:rPr lang="es-MX" sz="1600" i="1" smtClean="0">
                                    <a:latin typeface="+mn-lt"/>
                                    <a:ea typeface="Roboto" panose="02000000000000000000" pitchFamily="2" charset="0"/>
                                  </a:rPr>
                                  <m:t>𝐴</m:t>
                                </m:r>
                                <m:r>
                                  <a:rPr lang="es-MX" sz="1600" b="0" i="1" smtClean="0">
                                    <a:latin typeface="+mn-lt"/>
                                    <a:ea typeface="Roboto" panose="02000000000000000000" pitchFamily="2" charset="0"/>
                                  </a:rPr>
                                  <m:t>′</m:t>
                                </m:r>
                                <m:r>
                                  <a:rPr lang="es-MX" sz="1600" i="1" smtClean="0">
                                    <a:latin typeface="+mn-lt"/>
                                    <a:ea typeface="Roboto" panose="02000000000000000000" pitchFamily="2" charset="0"/>
                                  </a:rPr>
                                  <m:t>𝐵</m:t>
                                </m:r>
                                <m:r>
                                  <a:rPr lang="es-MX" sz="1600" b="0" i="1" smtClean="0">
                                    <a:latin typeface="+mn-lt"/>
                                    <a:ea typeface="Roboto" panose="02000000000000000000" pitchFamily="2" charset="0"/>
                                  </a:rPr>
                                  <m:t>′</m:t>
                                </m:r>
                                <m:r>
                                  <a:rPr lang="es-MX" sz="1600" i="1" smtClean="0">
                                    <a:latin typeface="+mn-lt"/>
                                    <a:ea typeface="Cambria Math" panose="02040503050406030204" pitchFamily="18" charset="0"/>
                                  </a:rPr>
                                  <m:t>⋅</m:t>
                                </m:r>
                                <m:d>
                                  <m:dPr>
                                    <m:ctrlPr>
                                      <a:rPr lang="es-MX" sz="1600" b="0" i="1" smtClean="0">
                                        <a:latin typeface="+mn-lt"/>
                                        <a:ea typeface="Roboto" panose="02000000000000000000" pitchFamily="2" charset="0"/>
                                      </a:rPr>
                                    </m:ctrlPr>
                                  </m:dPr>
                                  <m:e>
                                    <m:r>
                                      <a:rPr lang="es-MX" sz="1600" i="1">
                                        <a:latin typeface="+mn-lt"/>
                                        <a:ea typeface="Roboto" panose="02000000000000000000" pitchFamily="2" charset="0"/>
                                      </a:rPr>
                                      <m:t>𝐶</m:t>
                                    </m:r>
                                    <m:r>
                                      <a:rPr lang="es-MX" sz="1600" i="1">
                                        <a:latin typeface="+mn-lt"/>
                                        <a:ea typeface="Roboto" panose="02000000000000000000" pitchFamily="2" charset="0"/>
                                      </a:rPr>
                                      <m:t> + </m:t>
                                    </m:r>
                                    <m:sSup>
                                      <m:sSupPr>
                                        <m:ctrlPr>
                                          <a:rPr lang="es-MX" sz="1600" i="1">
                                            <a:latin typeface="+mn-lt"/>
                                            <a:ea typeface="Roboto" panose="02000000000000000000" pitchFamily="2" charset="0"/>
                                          </a:rPr>
                                        </m:ctrlPr>
                                      </m:sSupPr>
                                      <m:e>
                                        <m:r>
                                          <a:rPr lang="es-MX" sz="1600" i="1">
                                            <a:latin typeface="+mn-lt"/>
                                            <a:ea typeface="Roboto" panose="02000000000000000000" pitchFamily="2" charset="0"/>
                                          </a:rPr>
                                          <m:t>𝐶</m:t>
                                        </m:r>
                                      </m:e>
                                      <m:sup>
                                        <m:r>
                                          <a:rPr lang="es-MX" sz="1600" i="1">
                                            <a:latin typeface="+mn-lt"/>
                                            <a:ea typeface="Roboto" panose="02000000000000000000" pitchFamily="2" charset="0"/>
                                          </a:rPr>
                                          <m:t>′</m:t>
                                        </m:r>
                                      </m:sup>
                                    </m:sSup>
                                  </m:e>
                                </m:d>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600" dirty="0">
                              <a:latin typeface="+mn-lt"/>
                              <a:ea typeface="Roboto" panose="02000000000000000000" pitchFamily="2" charset="0"/>
                            </a:rPr>
                            <a:t>Distributividad en 2</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184406">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4</m:t>
                                </m:r>
                              </m:oMath>
                            </m:oMathPara>
                          </a14:m>
                          <a:endParaRPr lang="es-CO" sz="16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mn-lt"/>
                                    <a:ea typeface="Roboto" panose="02000000000000000000" pitchFamily="2" charset="0"/>
                                  </a:rPr>
                                  <m:t>𝐴𝐵</m:t>
                                </m:r>
                                <m:r>
                                  <a:rPr lang="es-MX" sz="1600" i="1" smtClean="0">
                                    <a:latin typeface="+mn-lt"/>
                                    <a:ea typeface="Cambria Math" panose="02040503050406030204" pitchFamily="18" charset="0"/>
                                  </a:rPr>
                                  <m:t>⋅</m:t>
                                </m:r>
                                <m:d>
                                  <m:dPr>
                                    <m:ctrlPr>
                                      <a:rPr lang="es-MX" sz="1600" b="0" i="1" smtClean="0">
                                        <a:latin typeface="+mn-lt"/>
                                        <a:ea typeface="Roboto" panose="02000000000000000000" pitchFamily="2" charset="0"/>
                                      </a:rPr>
                                    </m:ctrlPr>
                                  </m:dPr>
                                  <m:e>
                                    <m:r>
                                      <a:rPr lang="es-MX" sz="1600" b="0" i="1" smtClean="0">
                                        <a:latin typeface="+mn-lt"/>
                                        <a:ea typeface="Roboto" panose="02000000000000000000" pitchFamily="2" charset="0"/>
                                      </a:rPr>
                                      <m:t>1</m:t>
                                    </m:r>
                                  </m:e>
                                </m:d>
                                <m:r>
                                  <a:rPr lang="es-MX" sz="1600" i="1">
                                    <a:latin typeface="+mn-lt"/>
                                    <a:ea typeface="Roboto" panose="02000000000000000000" pitchFamily="2" charset="0"/>
                                  </a:rPr>
                                  <m:t> +</m:t>
                                </m:r>
                                <m:r>
                                  <a:rPr lang="es-MX" sz="1600" i="1" smtClean="0">
                                    <a:latin typeface="+mn-lt"/>
                                    <a:ea typeface="Roboto" panose="02000000000000000000" pitchFamily="2" charset="0"/>
                                  </a:rPr>
                                  <m:t>𝐴𝐵</m:t>
                                </m:r>
                                <m:r>
                                  <a:rPr lang="es-MX" sz="1600" b="0" i="1" smtClean="0">
                                    <a:latin typeface="+mn-lt"/>
                                    <a:ea typeface="Roboto" panose="02000000000000000000" pitchFamily="2" charset="0"/>
                                  </a:rPr>
                                  <m:t>′</m:t>
                                </m:r>
                                <m:r>
                                  <a:rPr lang="es-MX" sz="1600" i="1" smtClean="0">
                                    <a:latin typeface="+mn-lt"/>
                                    <a:ea typeface="Cambria Math" panose="02040503050406030204" pitchFamily="18" charset="0"/>
                                  </a:rPr>
                                  <m:t>⋅</m:t>
                                </m:r>
                                <m:d>
                                  <m:dPr>
                                    <m:ctrlPr>
                                      <a:rPr lang="es-MX" sz="1600" b="0" i="1" smtClean="0">
                                        <a:latin typeface="+mn-lt"/>
                                        <a:ea typeface="Roboto" panose="02000000000000000000" pitchFamily="2" charset="0"/>
                                      </a:rPr>
                                    </m:ctrlPr>
                                  </m:dPr>
                                  <m:e>
                                    <m:r>
                                      <a:rPr lang="es-MX" sz="1600" b="0" i="1" smtClean="0">
                                        <a:latin typeface="+mn-lt"/>
                                        <a:ea typeface="Roboto" panose="02000000000000000000" pitchFamily="2" charset="0"/>
                                      </a:rPr>
                                      <m:t>1</m:t>
                                    </m:r>
                                  </m:e>
                                </m:d>
                                <m:r>
                                  <a:rPr lang="es-MX" sz="1600" i="1">
                                    <a:latin typeface="+mn-lt"/>
                                    <a:ea typeface="Roboto" panose="02000000000000000000" pitchFamily="2" charset="0"/>
                                  </a:rPr>
                                  <m:t>+</m:t>
                                </m:r>
                                <m:r>
                                  <a:rPr lang="es-MX" sz="1600" i="1" smtClean="0">
                                    <a:latin typeface="+mn-lt"/>
                                    <a:ea typeface="Roboto" panose="02000000000000000000" pitchFamily="2" charset="0"/>
                                  </a:rPr>
                                  <m:t>𝐴</m:t>
                                </m:r>
                                <m:r>
                                  <a:rPr lang="es-MX" sz="1600" b="0" i="1" smtClean="0">
                                    <a:latin typeface="+mn-lt"/>
                                    <a:ea typeface="Roboto" panose="02000000000000000000" pitchFamily="2" charset="0"/>
                                  </a:rPr>
                                  <m:t>′</m:t>
                                </m:r>
                                <m:r>
                                  <a:rPr lang="es-MX" sz="1600" i="1" smtClean="0">
                                    <a:latin typeface="+mn-lt"/>
                                    <a:ea typeface="Roboto" panose="02000000000000000000" pitchFamily="2" charset="0"/>
                                  </a:rPr>
                                  <m:t>𝐵</m:t>
                                </m:r>
                                <m:r>
                                  <a:rPr lang="es-MX" sz="1600" i="1" smtClean="0">
                                    <a:latin typeface="+mn-lt"/>
                                    <a:ea typeface="Cambria Math" panose="02040503050406030204" pitchFamily="18" charset="0"/>
                                  </a:rPr>
                                  <m:t>⋅</m:t>
                                </m:r>
                                <m:d>
                                  <m:dPr>
                                    <m:ctrlPr>
                                      <a:rPr lang="es-MX" sz="1600" b="0" i="1" smtClean="0">
                                        <a:latin typeface="+mn-lt"/>
                                        <a:ea typeface="Roboto" panose="02000000000000000000" pitchFamily="2" charset="0"/>
                                      </a:rPr>
                                    </m:ctrlPr>
                                  </m:dPr>
                                  <m:e>
                                    <m:r>
                                      <a:rPr lang="es-MX" sz="1600" b="0" i="1" smtClean="0">
                                        <a:latin typeface="+mn-lt"/>
                                        <a:ea typeface="Roboto" panose="02000000000000000000" pitchFamily="2" charset="0"/>
                                      </a:rPr>
                                      <m:t>1</m:t>
                                    </m:r>
                                  </m:e>
                                </m:d>
                                <m:r>
                                  <a:rPr lang="es-MX" sz="1600" i="1">
                                    <a:latin typeface="+mn-lt"/>
                                    <a:ea typeface="Roboto" panose="02000000000000000000" pitchFamily="2" charset="0"/>
                                  </a:rPr>
                                  <m:t>+</m:t>
                                </m:r>
                                <m:r>
                                  <a:rPr lang="es-MX" sz="1600" i="1" smtClean="0">
                                    <a:latin typeface="+mn-lt"/>
                                    <a:ea typeface="Roboto" panose="02000000000000000000" pitchFamily="2" charset="0"/>
                                  </a:rPr>
                                  <m:t>𝐴</m:t>
                                </m:r>
                                <m:r>
                                  <a:rPr lang="es-MX" sz="1600" b="0" i="1" smtClean="0">
                                    <a:latin typeface="+mn-lt"/>
                                    <a:ea typeface="Roboto" panose="02000000000000000000" pitchFamily="2" charset="0"/>
                                  </a:rPr>
                                  <m:t>′</m:t>
                                </m:r>
                                <m:r>
                                  <a:rPr lang="es-MX" sz="1600" i="1" smtClean="0">
                                    <a:latin typeface="+mn-lt"/>
                                    <a:ea typeface="Roboto" panose="02000000000000000000" pitchFamily="2" charset="0"/>
                                  </a:rPr>
                                  <m:t>𝐵</m:t>
                                </m:r>
                                <m:r>
                                  <a:rPr lang="es-MX" sz="1600" b="0" i="1" smtClean="0">
                                    <a:latin typeface="+mn-lt"/>
                                    <a:ea typeface="Roboto" panose="02000000000000000000" pitchFamily="2" charset="0"/>
                                  </a:rPr>
                                  <m:t>′</m:t>
                                </m:r>
                                <m:r>
                                  <a:rPr lang="es-MX" sz="1600" i="1" smtClean="0">
                                    <a:latin typeface="+mn-lt"/>
                                    <a:ea typeface="Cambria Math" panose="02040503050406030204" pitchFamily="18" charset="0"/>
                                  </a:rPr>
                                  <m:t>⋅</m:t>
                                </m:r>
                                <m:d>
                                  <m:dPr>
                                    <m:ctrlPr>
                                      <a:rPr lang="es-MX" sz="1600" b="0" i="1" smtClean="0">
                                        <a:latin typeface="+mn-lt"/>
                                        <a:ea typeface="Roboto" panose="02000000000000000000" pitchFamily="2" charset="0"/>
                                      </a:rPr>
                                    </m:ctrlPr>
                                  </m:dPr>
                                  <m:e>
                                    <m:r>
                                      <a:rPr lang="es-MX" sz="1600" b="0" i="1" smtClean="0">
                                        <a:latin typeface="+mn-lt"/>
                                        <a:ea typeface="Roboto" panose="02000000000000000000" pitchFamily="2" charset="0"/>
                                      </a:rPr>
                                      <m:t>1</m:t>
                                    </m:r>
                                  </m:e>
                                </m:d>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600" dirty="0">
                              <a:latin typeface="+mn-lt"/>
                              <a:ea typeface="Roboto" panose="02000000000000000000" pitchFamily="2" charset="0"/>
                            </a:rPr>
                            <a:t>Complemento en 3</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184406">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5</m:t>
                                </m:r>
                              </m:oMath>
                            </m:oMathPara>
                          </a14:m>
                          <a:endParaRPr lang="es-CO" sz="16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mn-lt"/>
                                    <a:ea typeface="Roboto" panose="02000000000000000000" pitchFamily="2" charset="0"/>
                                  </a:rPr>
                                  <m:t>𝐴𝐵</m:t>
                                </m:r>
                                <m:r>
                                  <a:rPr lang="es-MX" sz="1600" i="1">
                                    <a:latin typeface="+mn-lt"/>
                                    <a:ea typeface="Roboto" panose="02000000000000000000" pitchFamily="2" charset="0"/>
                                  </a:rPr>
                                  <m:t> +</m:t>
                                </m:r>
                                <m:r>
                                  <a:rPr lang="es-MX" sz="1600" i="1" smtClean="0">
                                    <a:latin typeface="+mn-lt"/>
                                    <a:ea typeface="Roboto" panose="02000000000000000000" pitchFamily="2" charset="0"/>
                                  </a:rPr>
                                  <m:t>𝐴𝐵</m:t>
                                </m:r>
                                <m:r>
                                  <a:rPr lang="es-MX" sz="1600" b="0" i="1" smtClean="0">
                                    <a:latin typeface="+mn-lt"/>
                                    <a:ea typeface="Roboto" panose="02000000000000000000" pitchFamily="2" charset="0"/>
                                  </a:rPr>
                                  <m:t>′</m:t>
                                </m:r>
                                <m:r>
                                  <a:rPr lang="es-MX" sz="1600" i="1">
                                    <a:latin typeface="+mn-lt"/>
                                    <a:ea typeface="Roboto" panose="02000000000000000000" pitchFamily="2" charset="0"/>
                                  </a:rPr>
                                  <m:t>+</m:t>
                                </m:r>
                                <m:r>
                                  <a:rPr lang="es-MX" sz="1600" i="1" smtClean="0">
                                    <a:latin typeface="+mn-lt"/>
                                    <a:ea typeface="Roboto" panose="02000000000000000000" pitchFamily="2" charset="0"/>
                                  </a:rPr>
                                  <m:t>𝐴</m:t>
                                </m:r>
                                <m:r>
                                  <a:rPr lang="es-MX" sz="1600" b="0" i="1" smtClean="0">
                                    <a:latin typeface="+mn-lt"/>
                                    <a:ea typeface="Roboto" panose="02000000000000000000" pitchFamily="2" charset="0"/>
                                  </a:rPr>
                                  <m:t>′</m:t>
                                </m:r>
                                <m:r>
                                  <a:rPr lang="es-MX" sz="1600" i="1" smtClean="0">
                                    <a:latin typeface="+mn-lt"/>
                                    <a:ea typeface="Roboto" panose="02000000000000000000" pitchFamily="2" charset="0"/>
                                  </a:rPr>
                                  <m:t>𝐵</m:t>
                                </m:r>
                                <m:r>
                                  <a:rPr lang="es-MX" sz="1600" i="1">
                                    <a:latin typeface="+mn-lt"/>
                                    <a:ea typeface="Roboto" panose="02000000000000000000" pitchFamily="2" charset="0"/>
                                  </a:rPr>
                                  <m:t>+</m:t>
                                </m:r>
                                <m:r>
                                  <a:rPr lang="es-MX" sz="1600" i="1" smtClean="0">
                                    <a:latin typeface="+mn-lt"/>
                                    <a:ea typeface="Roboto" panose="02000000000000000000" pitchFamily="2" charset="0"/>
                                  </a:rPr>
                                  <m:t>𝐴</m:t>
                                </m:r>
                                <m:r>
                                  <a:rPr lang="es-MX" sz="1600" b="0" i="1" smtClean="0">
                                    <a:latin typeface="+mn-lt"/>
                                    <a:ea typeface="Roboto" panose="02000000000000000000" pitchFamily="2" charset="0"/>
                                  </a:rPr>
                                  <m:t>′</m:t>
                                </m:r>
                                <m:r>
                                  <a:rPr lang="es-MX" sz="1600" i="1" smtClean="0">
                                    <a:latin typeface="+mn-lt"/>
                                    <a:ea typeface="Roboto" panose="02000000000000000000" pitchFamily="2" charset="0"/>
                                  </a:rPr>
                                  <m:t>𝐵</m:t>
                                </m:r>
                                <m:r>
                                  <a:rPr lang="es-MX" sz="1600" b="0" i="1" smtClean="0">
                                    <a:latin typeface="+mn-lt"/>
                                    <a:ea typeface="Roboto" panose="02000000000000000000" pitchFamily="2" charset="0"/>
                                  </a:rPr>
                                  <m:t>′</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600" b="0" dirty="0">
                              <a:latin typeface="+mn-lt"/>
                              <a:ea typeface="Roboto" panose="02000000000000000000" pitchFamily="2" charset="0"/>
                            </a:rPr>
                            <a:t>Identidad en 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63555"/>
                      </a:ext>
                    </a:extLst>
                  </a:tr>
                  <a:tr h="16982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6</m:t>
                                </m:r>
                              </m:oMath>
                            </m:oMathPara>
                          </a14:m>
                          <a:endParaRPr lang="es-CO" sz="16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d>
                                  <m:dPr>
                                    <m:ctrlPr>
                                      <a:rPr lang="es-MX" sz="1600" b="0" i="1" smtClean="0">
                                        <a:latin typeface="+mn-lt"/>
                                        <a:ea typeface="Roboto" panose="02000000000000000000" pitchFamily="2" charset="0"/>
                                      </a:rPr>
                                    </m:ctrlPr>
                                  </m:dPr>
                                  <m:e>
                                    <m:r>
                                      <a:rPr lang="es-MX" sz="1600" i="1" smtClean="0">
                                        <a:latin typeface="+mn-lt"/>
                                        <a:ea typeface="Roboto" panose="02000000000000000000" pitchFamily="2" charset="0"/>
                                      </a:rPr>
                                      <m:t>𝐴𝐵</m:t>
                                    </m:r>
                                    <m:r>
                                      <a:rPr lang="es-MX" sz="1600" i="1">
                                        <a:latin typeface="+mn-lt"/>
                                        <a:ea typeface="Roboto" panose="02000000000000000000" pitchFamily="2" charset="0"/>
                                      </a:rPr>
                                      <m:t> +</m:t>
                                    </m:r>
                                    <m:r>
                                      <a:rPr lang="es-MX" sz="1600" i="1" smtClean="0">
                                        <a:latin typeface="+mn-lt"/>
                                        <a:ea typeface="Roboto" panose="02000000000000000000" pitchFamily="2" charset="0"/>
                                      </a:rPr>
                                      <m:t>𝐴</m:t>
                                    </m:r>
                                    <m:sSup>
                                      <m:sSupPr>
                                        <m:ctrlPr>
                                          <a:rPr lang="es-MX" sz="1600" b="0" i="1" smtClean="0">
                                            <a:latin typeface="+mn-lt"/>
                                            <a:ea typeface="Roboto" panose="02000000000000000000" pitchFamily="2" charset="0"/>
                                          </a:rPr>
                                        </m:ctrlPr>
                                      </m:sSupPr>
                                      <m:e>
                                        <m:r>
                                          <a:rPr lang="es-MX" sz="1600" i="1" smtClean="0">
                                            <a:latin typeface="+mn-lt"/>
                                            <a:ea typeface="Roboto" panose="02000000000000000000" pitchFamily="2" charset="0"/>
                                          </a:rPr>
                                          <m:t>𝐵</m:t>
                                        </m:r>
                                      </m:e>
                                      <m:sup>
                                        <m:r>
                                          <a:rPr lang="es-MX" sz="1600" b="0" i="1" smtClean="0">
                                            <a:latin typeface="+mn-lt"/>
                                            <a:ea typeface="Roboto" panose="02000000000000000000" pitchFamily="2" charset="0"/>
                                          </a:rPr>
                                          <m:t>′</m:t>
                                        </m:r>
                                      </m:sup>
                                    </m:sSup>
                                  </m:e>
                                </m:d>
                                <m:r>
                                  <a:rPr lang="es-MX" sz="1600" i="1">
                                    <a:latin typeface="+mn-lt"/>
                                    <a:ea typeface="Roboto" panose="02000000000000000000" pitchFamily="2" charset="0"/>
                                  </a:rPr>
                                  <m:t>+</m:t>
                                </m:r>
                                <m:d>
                                  <m:dPr>
                                    <m:ctrlPr>
                                      <a:rPr lang="es-MX" sz="1600" b="0" i="1" smtClean="0">
                                        <a:latin typeface="+mn-lt"/>
                                        <a:ea typeface="Roboto" panose="02000000000000000000" pitchFamily="2" charset="0"/>
                                      </a:rPr>
                                    </m:ctrlPr>
                                  </m:dPr>
                                  <m:e>
                                    <m:sSup>
                                      <m:sSupPr>
                                        <m:ctrlPr>
                                          <a:rPr lang="es-MX" sz="1600" b="0" i="1" smtClean="0">
                                            <a:latin typeface="+mn-lt"/>
                                            <a:ea typeface="Roboto" panose="02000000000000000000" pitchFamily="2" charset="0"/>
                                          </a:rPr>
                                        </m:ctrlPr>
                                      </m:sSupPr>
                                      <m:e>
                                        <m:r>
                                          <a:rPr lang="es-MX" sz="1600" i="1" smtClean="0">
                                            <a:latin typeface="+mn-lt"/>
                                            <a:ea typeface="Roboto" panose="02000000000000000000" pitchFamily="2" charset="0"/>
                                          </a:rPr>
                                          <m:t>𝐴</m:t>
                                        </m:r>
                                      </m:e>
                                      <m:sup>
                                        <m:r>
                                          <a:rPr lang="es-MX" sz="1600" b="0" i="1" smtClean="0">
                                            <a:latin typeface="+mn-lt"/>
                                            <a:ea typeface="Roboto" panose="02000000000000000000" pitchFamily="2" charset="0"/>
                                          </a:rPr>
                                          <m:t>′</m:t>
                                        </m:r>
                                      </m:sup>
                                    </m:sSup>
                                    <m:r>
                                      <a:rPr lang="es-MX" sz="1600" i="1" smtClean="0">
                                        <a:latin typeface="+mn-lt"/>
                                        <a:ea typeface="Roboto" panose="02000000000000000000" pitchFamily="2" charset="0"/>
                                      </a:rPr>
                                      <m:t>𝐵</m:t>
                                    </m:r>
                                    <m:r>
                                      <a:rPr lang="es-MX" sz="1600" i="1">
                                        <a:latin typeface="+mn-lt"/>
                                        <a:ea typeface="Roboto" panose="02000000000000000000" pitchFamily="2" charset="0"/>
                                      </a:rPr>
                                      <m:t>+</m:t>
                                    </m:r>
                                    <m:sSup>
                                      <m:sSupPr>
                                        <m:ctrlPr>
                                          <a:rPr lang="es-MX" sz="1600" b="0" i="1" smtClean="0">
                                            <a:latin typeface="+mn-lt"/>
                                            <a:ea typeface="Roboto" panose="02000000000000000000" pitchFamily="2" charset="0"/>
                                          </a:rPr>
                                        </m:ctrlPr>
                                      </m:sSupPr>
                                      <m:e>
                                        <m:r>
                                          <a:rPr lang="es-MX" sz="1600" i="1" smtClean="0">
                                            <a:latin typeface="+mn-lt"/>
                                            <a:ea typeface="Roboto" panose="02000000000000000000" pitchFamily="2" charset="0"/>
                                          </a:rPr>
                                          <m:t>𝐴</m:t>
                                        </m:r>
                                      </m:e>
                                      <m:sup>
                                        <m:r>
                                          <a:rPr lang="es-MX" sz="1600" b="0" i="1" smtClean="0">
                                            <a:latin typeface="+mn-lt"/>
                                            <a:ea typeface="Roboto" panose="02000000000000000000" pitchFamily="2" charset="0"/>
                                          </a:rPr>
                                          <m:t>′</m:t>
                                        </m:r>
                                      </m:sup>
                                    </m:sSup>
                                    <m:sSup>
                                      <m:sSupPr>
                                        <m:ctrlPr>
                                          <a:rPr lang="es-MX" sz="1600" b="0" i="1" smtClean="0">
                                            <a:latin typeface="+mn-lt"/>
                                            <a:ea typeface="Roboto" panose="02000000000000000000" pitchFamily="2" charset="0"/>
                                          </a:rPr>
                                        </m:ctrlPr>
                                      </m:sSupPr>
                                      <m:e>
                                        <m:r>
                                          <a:rPr lang="es-MX" sz="1600" i="1" smtClean="0">
                                            <a:latin typeface="+mn-lt"/>
                                            <a:ea typeface="Roboto" panose="02000000000000000000" pitchFamily="2" charset="0"/>
                                          </a:rPr>
                                          <m:t>𝐵</m:t>
                                        </m:r>
                                      </m:e>
                                      <m:sup>
                                        <m:r>
                                          <a:rPr lang="es-MX" sz="1600" b="0" i="1" smtClean="0">
                                            <a:latin typeface="+mn-lt"/>
                                            <a:ea typeface="Roboto" panose="02000000000000000000" pitchFamily="2" charset="0"/>
                                          </a:rPr>
                                          <m:t>′</m:t>
                                        </m:r>
                                      </m:sup>
                                    </m:sSup>
                                  </m:e>
                                </m:d>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600" b="0" dirty="0">
                              <a:latin typeface="+mn-lt"/>
                              <a:ea typeface="Roboto" panose="02000000000000000000" pitchFamily="2" charset="0"/>
                            </a:rPr>
                            <a:t>Asociatividad en 5</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4150395"/>
                      </a:ext>
                    </a:extLst>
                  </a:tr>
                  <a:tr h="16982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7</m:t>
                                </m:r>
                              </m:oMath>
                            </m:oMathPara>
                          </a14:m>
                          <a:endParaRPr lang="es-CO" sz="16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mn-lt"/>
                                    <a:ea typeface="Roboto" panose="02000000000000000000" pitchFamily="2" charset="0"/>
                                  </a:rPr>
                                  <m:t>𝐴</m:t>
                                </m:r>
                                <m:r>
                                  <a:rPr lang="es-MX" sz="1600" i="1" smtClean="0">
                                    <a:latin typeface="+mn-lt"/>
                                    <a:ea typeface="Cambria Math" panose="02040503050406030204" pitchFamily="18" charset="0"/>
                                  </a:rPr>
                                  <m:t>⋅</m:t>
                                </m:r>
                                <m:d>
                                  <m:dPr>
                                    <m:ctrlPr>
                                      <a:rPr lang="es-MX" sz="1600" b="0" i="1" smtClean="0">
                                        <a:latin typeface="+mn-lt"/>
                                        <a:ea typeface="Roboto" panose="02000000000000000000" pitchFamily="2" charset="0"/>
                                      </a:rPr>
                                    </m:ctrlPr>
                                  </m:dPr>
                                  <m:e>
                                    <m:r>
                                      <a:rPr lang="es-MX" sz="1600" i="1" smtClean="0">
                                        <a:latin typeface="+mn-lt"/>
                                        <a:ea typeface="Roboto" panose="02000000000000000000" pitchFamily="2" charset="0"/>
                                      </a:rPr>
                                      <m:t>𝐵</m:t>
                                    </m:r>
                                    <m:r>
                                      <a:rPr lang="es-MX" sz="1600" i="1">
                                        <a:latin typeface="+mn-lt"/>
                                        <a:ea typeface="Roboto" panose="02000000000000000000" pitchFamily="2" charset="0"/>
                                      </a:rPr>
                                      <m:t> +</m:t>
                                    </m:r>
                                    <m:sSup>
                                      <m:sSupPr>
                                        <m:ctrlPr>
                                          <a:rPr lang="es-MX" sz="1600" b="0" i="1" smtClean="0">
                                            <a:latin typeface="+mn-lt"/>
                                            <a:ea typeface="Roboto" panose="02000000000000000000" pitchFamily="2" charset="0"/>
                                          </a:rPr>
                                        </m:ctrlPr>
                                      </m:sSupPr>
                                      <m:e>
                                        <m:r>
                                          <a:rPr lang="es-MX" sz="1600" i="1" smtClean="0">
                                            <a:latin typeface="+mn-lt"/>
                                            <a:ea typeface="Roboto" panose="02000000000000000000" pitchFamily="2" charset="0"/>
                                          </a:rPr>
                                          <m:t>𝐵</m:t>
                                        </m:r>
                                      </m:e>
                                      <m:sup>
                                        <m:r>
                                          <a:rPr lang="es-MX" sz="1600" b="0" i="1" smtClean="0">
                                            <a:latin typeface="+mn-lt"/>
                                            <a:ea typeface="Roboto" panose="02000000000000000000" pitchFamily="2" charset="0"/>
                                          </a:rPr>
                                          <m:t>′</m:t>
                                        </m:r>
                                      </m:sup>
                                    </m:sSup>
                                  </m:e>
                                </m:d>
                                <m:r>
                                  <a:rPr lang="es-MX" sz="1600" i="1">
                                    <a:latin typeface="+mn-lt"/>
                                    <a:ea typeface="Roboto" panose="02000000000000000000" pitchFamily="2" charset="0"/>
                                  </a:rPr>
                                  <m:t>+</m:t>
                                </m:r>
                                <m:r>
                                  <a:rPr lang="es-MX" sz="1600" i="1" smtClean="0">
                                    <a:latin typeface="+mn-lt"/>
                                    <a:ea typeface="Roboto" panose="02000000000000000000" pitchFamily="2" charset="0"/>
                                  </a:rPr>
                                  <m:t>𝐴</m:t>
                                </m:r>
                                <m:r>
                                  <a:rPr lang="es-MX" sz="1600" b="0" i="1" smtClean="0">
                                    <a:latin typeface="+mn-lt"/>
                                    <a:ea typeface="Roboto" panose="02000000000000000000" pitchFamily="2" charset="0"/>
                                  </a:rPr>
                                  <m:t>′</m:t>
                                </m:r>
                                <m:r>
                                  <a:rPr lang="es-MX" sz="1600" i="1" smtClean="0">
                                    <a:latin typeface="+mn-lt"/>
                                    <a:ea typeface="Cambria Math" panose="02040503050406030204" pitchFamily="18" charset="0"/>
                                  </a:rPr>
                                  <m:t>⋅</m:t>
                                </m:r>
                                <m:d>
                                  <m:dPr>
                                    <m:ctrlPr>
                                      <a:rPr lang="es-MX" sz="1600" b="0" i="1" smtClean="0">
                                        <a:latin typeface="+mn-lt"/>
                                        <a:ea typeface="Roboto" panose="02000000000000000000" pitchFamily="2" charset="0"/>
                                      </a:rPr>
                                    </m:ctrlPr>
                                  </m:dPr>
                                  <m:e>
                                    <m:r>
                                      <a:rPr lang="es-MX" sz="1600" i="1" smtClean="0">
                                        <a:latin typeface="+mn-lt"/>
                                        <a:ea typeface="Roboto" panose="02000000000000000000" pitchFamily="2" charset="0"/>
                                      </a:rPr>
                                      <m:t>𝐵</m:t>
                                    </m:r>
                                    <m:r>
                                      <a:rPr lang="es-MX" sz="1600" i="1">
                                        <a:latin typeface="+mn-lt"/>
                                        <a:ea typeface="Roboto" panose="02000000000000000000" pitchFamily="2" charset="0"/>
                                      </a:rPr>
                                      <m:t>+</m:t>
                                    </m:r>
                                    <m:sSup>
                                      <m:sSupPr>
                                        <m:ctrlPr>
                                          <a:rPr lang="es-MX" sz="1600" b="0" i="1" smtClean="0">
                                            <a:latin typeface="+mn-lt"/>
                                            <a:ea typeface="Roboto" panose="02000000000000000000" pitchFamily="2" charset="0"/>
                                          </a:rPr>
                                        </m:ctrlPr>
                                      </m:sSupPr>
                                      <m:e>
                                        <m:r>
                                          <a:rPr lang="es-MX" sz="1600" i="1" smtClean="0">
                                            <a:latin typeface="+mn-lt"/>
                                            <a:ea typeface="Roboto" panose="02000000000000000000" pitchFamily="2" charset="0"/>
                                          </a:rPr>
                                          <m:t>𝐵</m:t>
                                        </m:r>
                                      </m:e>
                                      <m:sup>
                                        <m:r>
                                          <a:rPr lang="es-MX" sz="1600" b="0" i="1" smtClean="0">
                                            <a:latin typeface="+mn-lt"/>
                                            <a:ea typeface="Roboto" panose="02000000000000000000" pitchFamily="2" charset="0"/>
                                          </a:rPr>
                                          <m:t>′</m:t>
                                        </m:r>
                                      </m:sup>
                                    </m:sSup>
                                  </m:e>
                                </m:d>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600" b="0" dirty="0">
                              <a:latin typeface="+mn-lt"/>
                              <a:ea typeface="Roboto" panose="02000000000000000000" pitchFamily="2" charset="0"/>
                            </a:rPr>
                            <a:t>Distributividad en 6</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479867"/>
                      </a:ext>
                    </a:extLst>
                  </a:tr>
                  <a:tr h="16982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8</m:t>
                                </m:r>
                              </m:oMath>
                            </m:oMathPara>
                          </a14:m>
                          <a:endParaRPr lang="es-CO" sz="16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mn-lt"/>
                                    <a:ea typeface="Roboto" panose="02000000000000000000" pitchFamily="2" charset="0"/>
                                  </a:rPr>
                                  <m:t>𝐴</m:t>
                                </m:r>
                                <m:r>
                                  <a:rPr lang="es-MX" sz="1600" i="1" smtClean="0">
                                    <a:latin typeface="+mn-lt"/>
                                    <a:ea typeface="Cambria Math" panose="02040503050406030204" pitchFamily="18" charset="0"/>
                                  </a:rPr>
                                  <m:t>⋅</m:t>
                                </m:r>
                                <m:d>
                                  <m:dPr>
                                    <m:ctrlPr>
                                      <a:rPr lang="es-MX" sz="1600" b="0" i="1" smtClean="0">
                                        <a:latin typeface="+mn-lt"/>
                                        <a:ea typeface="Roboto" panose="02000000000000000000" pitchFamily="2" charset="0"/>
                                      </a:rPr>
                                    </m:ctrlPr>
                                  </m:dPr>
                                  <m:e>
                                    <m:r>
                                      <a:rPr lang="es-MX" sz="1600" b="0" i="1" smtClean="0">
                                        <a:latin typeface="+mn-lt"/>
                                        <a:ea typeface="Roboto" panose="02000000000000000000" pitchFamily="2" charset="0"/>
                                      </a:rPr>
                                      <m:t>1</m:t>
                                    </m:r>
                                  </m:e>
                                </m:d>
                                <m:r>
                                  <a:rPr lang="es-MX" sz="1600" i="1">
                                    <a:latin typeface="+mn-lt"/>
                                    <a:ea typeface="Roboto" panose="02000000000000000000" pitchFamily="2" charset="0"/>
                                  </a:rPr>
                                  <m:t>+</m:t>
                                </m:r>
                                <m:r>
                                  <a:rPr lang="es-MX" sz="1600" i="1" smtClean="0">
                                    <a:latin typeface="+mn-lt"/>
                                    <a:ea typeface="Roboto" panose="02000000000000000000" pitchFamily="2" charset="0"/>
                                  </a:rPr>
                                  <m:t>𝐴</m:t>
                                </m:r>
                                <m:r>
                                  <a:rPr lang="es-MX" sz="1600" b="0" i="1" smtClean="0">
                                    <a:latin typeface="+mn-lt"/>
                                    <a:ea typeface="Roboto" panose="02000000000000000000" pitchFamily="2" charset="0"/>
                                  </a:rPr>
                                  <m:t>′</m:t>
                                </m:r>
                                <m:r>
                                  <a:rPr lang="es-MX" sz="1600" i="1" smtClean="0">
                                    <a:latin typeface="+mn-lt"/>
                                    <a:ea typeface="Cambria Math" panose="02040503050406030204" pitchFamily="18" charset="0"/>
                                  </a:rPr>
                                  <m:t>⋅</m:t>
                                </m:r>
                                <m:d>
                                  <m:dPr>
                                    <m:ctrlPr>
                                      <a:rPr lang="es-MX" sz="1600" b="0" i="1" smtClean="0">
                                        <a:latin typeface="+mn-lt"/>
                                        <a:ea typeface="Roboto" panose="02000000000000000000" pitchFamily="2" charset="0"/>
                                      </a:rPr>
                                    </m:ctrlPr>
                                  </m:dPr>
                                  <m:e>
                                    <m:r>
                                      <a:rPr lang="es-MX" sz="1600" b="0" i="1" smtClean="0">
                                        <a:latin typeface="+mn-lt"/>
                                        <a:ea typeface="Roboto" panose="02000000000000000000" pitchFamily="2" charset="0"/>
                                      </a:rPr>
                                      <m:t>1</m:t>
                                    </m:r>
                                  </m:e>
                                </m:d>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Complemento en 7</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8523908"/>
                      </a:ext>
                    </a:extLst>
                  </a:tr>
                  <a:tr h="16982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rPr>
                                  <m:t>9</m:t>
                                </m:r>
                              </m:oMath>
                            </m:oMathPara>
                          </a14:m>
                          <a:endParaRPr lang="es-CO" sz="16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mn-lt"/>
                                    <a:ea typeface="Roboto" panose="02000000000000000000" pitchFamily="2" charset="0"/>
                                  </a:rPr>
                                  <m:t>𝐴</m:t>
                                </m:r>
                                <m:r>
                                  <a:rPr lang="es-MX" sz="1600" i="1">
                                    <a:latin typeface="+mn-lt"/>
                                    <a:ea typeface="Roboto" panose="02000000000000000000" pitchFamily="2" charset="0"/>
                                  </a:rPr>
                                  <m:t>+</m:t>
                                </m:r>
                                <m:r>
                                  <a:rPr lang="es-MX" sz="1600" i="1" smtClean="0">
                                    <a:latin typeface="+mn-lt"/>
                                    <a:ea typeface="Roboto" panose="02000000000000000000" pitchFamily="2" charset="0"/>
                                  </a:rPr>
                                  <m:t>𝐴</m:t>
                                </m:r>
                                <m:r>
                                  <a:rPr lang="es-MX" sz="1600" b="0" i="1" smtClean="0">
                                    <a:latin typeface="+mn-lt"/>
                                    <a:ea typeface="Roboto" panose="02000000000000000000" pitchFamily="2" charset="0"/>
                                  </a:rPr>
                                  <m:t>′</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Identidad en 8</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9463925"/>
                      </a:ext>
                    </a:extLst>
                  </a:tr>
                  <a:tr h="16982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rPr>
                                  <m:t>10</m:t>
                                </m:r>
                              </m:oMath>
                            </m:oMathPara>
                          </a14:m>
                          <a:endParaRPr lang="es-CO" sz="16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mn-lt"/>
                                    <a:ea typeface="Roboto" panose="02000000000000000000" pitchFamily="2" charset="0"/>
                                  </a:rPr>
                                  <m:t>1</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Identidad en 9</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4210305"/>
                      </a:ext>
                    </a:extLst>
                  </a:tr>
                </a:tbl>
              </a:graphicData>
            </a:graphic>
          </p:graphicFrame>
        </mc:Choice>
        <mc:Fallback>
          <p:graphicFrame>
            <p:nvGraphicFramePr>
              <p:cNvPr id="7" name="Tabla 2">
                <a:extLst>
                  <a:ext uri="{FF2B5EF4-FFF2-40B4-BE49-F238E27FC236}">
                    <a16:creationId xmlns:a16="http://schemas.microsoft.com/office/drawing/2014/main" id="{3A1905AC-BF90-4405-B354-9E9CCD510688}"/>
                  </a:ext>
                </a:extLst>
              </p:cNvPr>
              <p:cNvGraphicFramePr>
                <a:graphicFrameLocks noGrp="1"/>
              </p:cNvGraphicFramePr>
              <p:nvPr>
                <p:extLst>
                  <p:ext uri="{D42A27DB-BD31-4B8C-83A1-F6EECF244321}">
                    <p14:modId xmlns:p14="http://schemas.microsoft.com/office/powerpoint/2010/main" val="3206427214"/>
                  </p:ext>
                </p:extLst>
              </p:nvPr>
            </p:nvGraphicFramePr>
            <p:xfrm>
              <a:off x="1270920" y="2636683"/>
              <a:ext cx="9436101" cy="4125279"/>
            </p:xfrm>
            <a:graphic>
              <a:graphicData uri="http://schemas.openxmlformats.org/drawingml/2006/table">
                <a:tbl>
                  <a:tblPr firstRow="1" bandRow="1">
                    <a:tableStyleId>{AD6A3598-7CB8-4345-8D95-17CE05F158A0}</a:tableStyleId>
                  </a:tblPr>
                  <a:tblGrid>
                    <a:gridCol w="797590">
                      <a:extLst>
                        <a:ext uri="{9D8B030D-6E8A-4147-A177-3AD203B41FA5}">
                          <a16:colId xmlns:a16="http://schemas.microsoft.com/office/drawing/2014/main" val="1610952478"/>
                        </a:ext>
                      </a:extLst>
                    </a:gridCol>
                    <a:gridCol w="6441310">
                      <a:extLst>
                        <a:ext uri="{9D8B030D-6E8A-4147-A177-3AD203B41FA5}">
                          <a16:colId xmlns:a16="http://schemas.microsoft.com/office/drawing/2014/main" val="2942974496"/>
                        </a:ext>
                      </a:extLst>
                    </a:gridCol>
                    <a:gridCol w="2197201">
                      <a:extLst>
                        <a:ext uri="{9D8B030D-6E8A-4147-A177-3AD203B41FA5}">
                          <a16:colId xmlns:a16="http://schemas.microsoft.com/office/drawing/2014/main" val="4281859008"/>
                        </a:ext>
                      </a:extLst>
                    </a:gridCol>
                  </a:tblGrid>
                  <a:tr h="33528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Pasos</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3528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03636" r="-1083206" b="-1054545"/>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2394" t="-103636" r="-34248" b="-1054545"/>
                          </a:stretch>
                        </a:blipFill>
                      </a:tcPr>
                    </a:tc>
                    <a:tc>
                      <a:txBody>
                        <a:bodyPr/>
                        <a:lstStyle/>
                        <a:p>
                          <a:r>
                            <a:rPr lang="es-CO" sz="1600" dirty="0">
                              <a:latin typeface="+mn-lt"/>
                              <a:ea typeface="Roboto" panose="02000000000000000000" pitchFamily="2" charset="0"/>
                            </a:rPr>
                            <a:t>Premisa</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656463">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03704" r="-1083206" b="-437037"/>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2394" t="-103704" r="-34248" b="-437037"/>
                          </a:stretch>
                        </a:blipFill>
                      </a:tcPr>
                    </a:tc>
                    <a:tc>
                      <a:txBody>
                        <a:bodyPr/>
                        <a:lstStyle/>
                        <a:p>
                          <a:r>
                            <a:rPr lang="es-CO" sz="1600" b="0" dirty="0">
                              <a:latin typeface="+mn-lt"/>
                              <a:ea typeface="Roboto" panose="02000000000000000000" pitchFamily="2" charset="0"/>
                            </a:rPr>
                            <a:t>Asociatividad en 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3952">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354839" r="-1083206" b="-66129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2394" t="-354839" r="-34248" b="-661290"/>
                          </a:stretch>
                        </a:blipFill>
                      </a:tcPr>
                    </a:tc>
                    <a:tc>
                      <a:txBody>
                        <a:bodyPr/>
                        <a:lstStyle/>
                        <a:p>
                          <a:r>
                            <a:rPr lang="es-CO" sz="1600" dirty="0">
                              <a:latin typeface="+mn-lt"/>
                              <a:ea typeface="Roboto" panose="02000000000000000000" pitchFamily="2" charset="0"/>
                            </a:rPr>
                            <a:t>Distributividad en 2</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3528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512727" r="-1083206" b="-645455"/>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2394" t="-512727" r="-34248" b="-645455"/>
                          </a:stretch>
                        </a:blipFill>
                      </a:tcPr>
                    </a:tc>
                    <a:tc>
                      <a:txBody>
                        <a:bodyPr/>
                        <a:lstStyle/>
                        <a:p>
                          <a:r>
                            <a:rPr lang="es-CO" sz="1600" dirty="0">
                              <a:latin typeface="+mn-lt"/>
                              <a:ea typeface="Roboto" panose="02000000000000000000" pitchFamily="2" charset="0"/>
                            </a:rPr>
                            <a:t>Complemento en 3</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3528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612727" r="-1083206" b="-545455"/>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2394" t="-612727" r="-34248" b="-545455"/>
                          </a:stretch>
                        </a:blipFill>
                      </a:tcPr>
                    </a:tc>
                    <a:tc>
                      <a:txBody>
                        <a:bodyPr/>
                        <a:lstStyle/>
                        <a:p>
                          <a:r>
                            <a:rPr lang="es-CO" sz="1600" b="0" dirty="0">
                              <a:latin typeface="+mn-lt"/>
                              <a:ea typeface="Roboto" panose="02000000000000000000" pitchFamily="2" charset="0"/>
                            </a:rPr>
                            <a:t>Identidad en 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63555"/>
                      </a:ext>
                    </a:extLst>
                  </a:tr>
                  <a:tr h="373952">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642623" r="-1083206" b="-391803"/>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2394" t="-642623" r="-34248" b="-391803"/>
                          </a:stretch>
                        </a:blipFill>
                      </a:tcPr>
                    </a:tc>
                    <a:tc>
                      <a:txBody>
                        <a:bodyPr/>
                        <a:lstStyle/>
                        <a:p>
                          <a:r>
                            <a:rPr lang="es-CO" sz="1600" b="0" dirty="0">
                              <a:latin typeface="+mn-lt"/>
                              <a:ea typeface="Roboto" panose="02000000000000000000" pitchFamily="2" charset="0"/>
                            </a:rPr>
                            <a:t>Asociatividad en 5</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4150395"/>
                      </a:ext>
                    </a:extLst>
                  </a:tr>
                  <a:tr h="373952">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730645" r="-1083206" b="-285484"/>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2394" t="-730645" r="-34248" b="-285484"/>
                          </a:stretch>
                        </a:blipFill>
                      </a:tcPr>
                    </a:tc>
                    <a:tc>
                      <a:txBody>
                        <a:bodyPr/>
                        <a:lstStyle/>
                        <a:p>
                          <a:r>
                            <a:rPr lang="es-CO" sz="1600" b="0" dirty="0">
                              <a:latin typeface="+mn-lt"/>
                              <a:ea typeface="Roboto" panose="02000000000000000000" pitchFamily="2" charset="0"/>
                            </a:rPr>
                            <a:t>Distributividad en 6</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479867"/>
                      </a:ext>
                    </a:extLst>
                  </a:tr>
                  <a:tr h="33528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936364" r="-1083206" b="-221818"/>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2394" t="-936364" r="-34248" b="-221818"/>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Complemento en 7</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8523908"/>
                      </a:ext>
                    </a:extLst>
                  </a:tr>
                  <a:tr h="33528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036364" r="-1083206" b="-121818"/>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2394" t="-1036364" r="-34248" b="-121818"/>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Identidad en 8</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9463925"/>
                      </a:ext>
                    </a:extLst>
                  </a:tr>
                  <a:tr h="33528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136364" r="-1083206" b="-21818"/>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2394" t="-1136364" r="-34248" b="-21818"/>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Identidad en 9</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4210305"/>
                      </a:ext>
                    </a:extLst>
                  </a:tr>
                </a:tbl>
              </a:graphicData>
            </a:graphic>
          </p:graphicFrame>
        </mc:Fallback>
      </mc:AlternateContent>
    </p:spTree>
    <p:extLst>
      <p:ext uri="{BB962C8B-B14F-4D97-AF65-F5344CB8AC3E}">
        <p14:creationId xmlns:p14="http://schemas.microsoft.com/office/powerpoint/2010/main" val="308430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Identidades</a:t>
            </a:r>
            <a:endParaRPr dirty="0"/>
          </a:p>
        </p:txBody>
      </p:sp>
      <p:sp>
        <p:nvSpPr>
          <p:cNvPr id="20" name="CuadroTexto 19">
            <a:extLst>
              <a:ext uri="{FF2B5EF4-FFF2-40B4-BE49-F238E27FC236}">
                <a16:creationId xmlns:a16="http://schemas.microsoft.com/office/drawing/2014/main" id="{EC981F08-C206-4A60-8BF8-5D902A118C7A}"/>
              </a:ext>
            </a:extLst>
          </p:cNvPr>
          <p:cNvSpPr txBox="1"/>
          <p:nvPr/>
        </p:nvSpPr>
        <p:spPr>
          <a:xfrm>
            <a:off x="688257" y="958786"/>
            <a:ext cx="10587093" cy="492443"/>
          </a:xfrm>
          <a:prstGeom prst="rect">
            <a:avLst/>
          </a:prstGeom>
          <a:noFill/>
        </p:spPr>
        <p:txBody>
          <a:bodyPr wrap="square" rtlCol="0">
            <a:spAutoFit/>
          </a:bodyPr>
          <a:lstStyle/>
          <a:p>
            <a:r>
              <a:rPr lang="es-MX" sz="2600" b="1" dirty="0">
                <a:solidFill>
                  <a:schemeClr val="accent2"/>
                </a:solidFill>
                <a:ea typeface="Roboto" panose="02000000000000000000" pitchFamily="2" charset="0"/>
              </a:rPr>
              <a:t>Demostración por tablas de pertenencia (Similar a tablas de verdad)</a:t>
            </a:r>
          </a:p>
        </p:txBody>
      </p:sp>
      <p:sp>
        <p:nvSpPr>
          <p:cNvPr id="5" name="Google Shape;310;p34">
            <a:extLst>
              <a:ext uri="{FF2B5EF4-FFF2-40B4-BE49-F238E27FC236}">
                <a16:creationId xmlns:a16="http://schemas.microsoft.com/office/drawing/2014/main" id="{BBD38E2F-FE36-42C0-B6C0-29D97760C3BC}"/>
              </a:ext>
            </a:extLst>
          </p:cNvPr>
          <p:cNvSpPr txBox="1">
            <a:spLocks/>
          </p:cNvSpPr>
          <p:nvPr/>
        </p:nvSpPr>
        <p:spPr>
          <a:xfrm>
            <a:off x="840658" y="1451229"/>
            <a:ext cx="10992463" cy="288479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a:buFont typeface="Arial" panose="020B0604020202020204" pitchFamily="34" charset="0"/>
              <a:buChar char="•"/>
            </a:pPr>
            <a:r>
              <a:rPr lang="es-MX" sz="2000" dirty="0">
                <a:latin typeface="+mn-lt"/>
                <a:ea typeface="Roboto" panose="02000000000000000000" pitchFamily="2" charset="0"/>
              </a:rPr>
              <a:t>Este método es útil para identidades que involucran un número pequeño de conjuntos. </a:t>
            </a:r>
          </a:p>
          <a:p>
            <a:pPr>
              <a:buFont typeface="Arial" panose="020B0604020202020204" pitchFamily="34" charset="0"/>
              <a:buChar char="•"/>
            </a:pPr>
            <a:r>
              <a:rPr lang="es-MX" sz="2000" dirty="0">
                <a:latin typeface="+mn-lt"/>
                <a:ea typeface="Roboto" panose="02000000000000000000" pitchFamily="2" charset="0"/>
              </a:rPr>
              <a:t>Se crea una tabla donde cada fila representa una posible combinación de pertenencia de un elemento a los conjuntos involucrados. </a:t>
            </a:r>
          </a:p>
          <a:p>
            <a:pPr>
              <a:buFont typeface="Arial" panose="020B0604020202020204" pitchFamily="34" charset="0"/>
              <a:buChar char="•"/>
            </a:pPr>
            <a:r>
              <a:rPr lang="es-MX" sz="2000" dirty="0">
                <a:latin typeface="+mn-lt"/>
                <a:ea typeface="Roboto" panose="02000000000000000000" pitchFamily="2" charset="0"/>
              </a:rPr>
              <a:t>Para cada conjunto base (por ejemplo, A, B, C), un elemento x puede pertenecer (1) o no pertenecer (0) a él. </a:t>
            </a:r>
          </a:p>
          <a:p>
            <a:pPr>
              <a:buFont typeface="Arial" panose="020B0604020202020204" pitchFamily="34" charset="0"/>
              <a:buChar char="•"/>
            </a:pPr>
            <a:r>
              <a:rPr lang="es-MX" sz="2000" dirty="0">
                <a:latin typeface="+mn-lt"/>
                <a:ea typeface="Roboto" panose="02000000000000000000" pitchFamily="2" charset="0"/>
              </a:rPr>
              <a:t>El procedimiento consisten en evaluar la pertenencia a cada lado de la identidad de tal modo que si las columnas resultantes para ambos lados de la igualdad son idénticas, la identidad es verdadera.</a:t>
            </a:r>
          </a:p>
        </p:txBody>
      </p:sp>
    </p:spTree>
    <p:extLst>
      <p:ext uri="{BB962C8B-B14F-4D97-AF65-F5344CB8AC3E}">
        <p14:creationId xmlns:p14="http://schemas.microsoft.com/office/powerpoint/2010/main" val="3033528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Identidades</a:t>
            </a:r>
            <a:endParaRPr dirty="0"/>
          </a:p>
        </p:txBody>
      </p:sp>
      <p:sp>
        <p:nvSpPr>
          <p:cNvPr id="20" name="CuadroTexto 19">
            <a:extLst>
              <a:ext uri="{FF2B5EF4-FFF2-40B4-BE49-F238E27FC236}">
                <a16:creationId xmlns:a16="http://schemas.microsoft.com/office/drawing/2014/main" id="{EC981F08-C206-4A60-8BF8-5D902A118C7A}"/>
              </a:ext>
            </a:extLst>
          </p:cNvPr>
          <p:cNvSpPr txBox="1"/>
          <p:nvPr/>
        </p:nvSpPr>
        <p:spPr>
          <a:xfrm>
            <a:off x="916650" y="844429"/>
            <a:ext cx="10587093" cy="492443"/>
          </a:xfrm>
          <a:prstGeom prst="rect">
            <a:avLst/>
          </a:prstGeom>
          <a:noFill/>
        </p:spPr>
        <p:txBody>
          <a:bodyPr wrap="square" rtlCol="0">
            <a:spAutoFit/>
          </a:bodyPr>
          <a:lstStyle/>
          <a:p>
            <a:r>
              <a:rPr lang="es-MX" sz="2600" b="1" dirty="0">
                <a:solidFill>
                  <a:schemeClr val="accent2"/>
                </a:solidFill>
                <a:ea typeface="Roboto" panose="02000000000000000000" pitchFamily="2" charset="0"/>
              </a:rPr>
              <a:t>Demostración por tablas de pertenencia (Similar a tablas de verdad)</a:t>
            </a:r>
          </a:p>
        </p:txBody>
      </p:sp>
      <mc:AlternateContent xmlns:mc="http://schemas.openxmlformats.org/markup-compatibility/2006">
        <mc:Choice xmlns:a14="http://schemas.microsoft.com/office/drawing/2010/main" Requires="a14">
          <p:sp>
            <p:nvSpPr>
              <p:cNvPr id="5" name="Google Shape;310;p34">
                <a:extLst>
                  <a:ext uri="{FF2B5EF4-FFF2-40B4-BE49-F238E27FC236}">
                    <a16:creationId xmlns:a16="http://schemas.microsoft.com/office/drawing/2014/main" id="{BBD38E2F-FE36-42C0-B6C0-29D97760C3BC}"/>
                  </a:ext>
                </a:extLst>
              </p:cNvPr>
              <p:cNvSpPr txBox="1">
                <a:spLocks/>
              </p:cNvSpPr>
              <p:nvPr/>
            </p:nvSpPr>
            <p:spPr>
              <a:xfrm>
                <a:off x="872406" y="1351624"/>
                <a:ext cx="11044291" cy="13424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latin typeface="+mn-lt"/>
                    <a:ea typeface="Roboto" panose="02000000000000000000" pitchFamily="2" charset="0"/>
                  </a:rPr>
                  <a:t>Ejemplo</a:t>
                </a:r>
                <a:r>
                  <a:rPr lang="es-MX" sz="2000" dirty="0">
                    <a:latin typeface="+mn-lt"/>
                    <a:ea typeface="Roboto" panose="02000000000000000000" pitchFamily="2" charset="0"/>
                  </a:rPr>
                  <a:t>: Use la tabla de pertenencia para demostrar que:</a:t>
                </a:r>
              </a:p>
              <a:p>
                <a:pPr marL="127000" indent="0">
                  <a:buNone/>
                </a:pPr>
                <a:endParaRPr lang="es-MX" sz="20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000" b="0" i="1" smtClean="0">
                          <a:latin typeface="+mn-lt"/>
                          <a:ea typeface="Roboto" panose="02000000000000000000" pitchFamily="2" charset="0"/>
                        </a:rPr>
                        <m:t>𝐴</m:t>
                      </m:r>
                      <m:r>
                        <a:rPr lang="es-MX" sz="2000" b="0" i="1" smtClean="0">
                          <a:latin typeface="+mn-lt"/>
                          <a:ea typeface="Cambria Math" panose="02040503050406030204" pitchFamily="18" charset="0"/>
                        </a:rPr>
                        <m:t>⋅</m:t>
                      </m:r>
                      <m:d>
                        <m:dPr>
                          <m:ctrlPr>
                            <a:rPr lang="es-MX" sz="2000" b="0" i="1" smtClean="0">
                              <a:latin typeface="+mn-lt"/>
                              <a:ea typeface="Cambria Math" panose="02040503050406030204" pitchFamily="18" charset="0"/>
                            </a:rPr>
                          </m:ctrlPr>
                        </m:dPr>
                        <m:e>
                          <m:r>
                            <a:rPr lang="es-MX" sz="2000" b="0" i="1" smtClean="0">
                              <a:latin typeface="+mn-lt"/>
                              <a:ea typeface="Cambria Math" panose="02040503050406030204" pitchFamily="18" charset="0"/>
                            </a:rPr>
                            <m:t>𝐵</m:t>
                          </m:r>
                          <m:r>
                            <a:rPr lang="es-MX" sz="2000" b="0" i="1" smtClean="0">
                              <a:latin typeface="+mn-lt"/>
                              <a:ea typeface="Cambria Math" panose="02040503050406030204" pitchFamily="18" charset="0"/>
                            </a:rPr>
                            <m:t>+</m:t>
                          </m:r>
                          <m:r>
                            <a:rPr lang="es-MX" sz="2000" b="0" i="1" smtClean="0">
                              <a:latin typeface="+mn-lt"/>
                              <a:ea typeface="Cambria Math" panose="02040503050406030204" pitchFamily="18" charset="0"/>
                            </a:rPr>
                            <m:t>𝐶</m:t>
                          </m:r>
                        </m:e>
                      </m:d>
                      <m:r>
                        <a:rPr lang="es-MX" sz="2000" b="0" i="1" smtClean="0">
                          <a:latin typeface="+mn-lt"/>
                          <a:ea typeface="Cambria Math" panose="02040503050406030204" pitchFamily="18" charset="0"/>
                        </a:rPr>
                        <m:t>=</m:t>
                      </m:r>
                      <m:r>
                        <a:rPr lang="es-MX" sz="2000" i="1">
                          <a:latin typeface="+mn-lt"/>
                          <a:ea typeface="Roboto" panose="02000000000000000000" pitchFamily="2" charset="0"/>
                        </a:rPr>
                        <m:t>𝐴</m:t>
                      </m:r>
                      <m:r>
                        <a:rPr lang="es-MX" sz="2000" i="1">
                          <a:latin typeface="+mn-lt"/>
                          <a:ea typeface="Cambria Math" panose="02040503050406030204" pitchFamily="18" charset="0"/>
                        </a:rPr>
                        <m:t>⋅</m:t>
                      </m:r>
                      <m:r>
                        <a:rPr lang="es-MX" sz="2000" i="1">
                          <a:latin typeface="+mn-lt"/>
                          <a:ea typeface="Cambria Math" panose="02040503050406030204" pitchFamily="18" charset="0"/>
                        </a:rPr>
                        <m:t>𝐵</m:t>
                      </m:r>
                      <m:r>
                        <a:rPr lang="es-MX" sz="2000" b="0" i="1" smtClean="0">
                          <a:latin typeface="+mn-lt"/>
                          <a:ea typeface="Cambria Math" panose="02040503050406030204" pitchFamily="18" charset="0"/>
                        </a:rPr>
                        <m:t>+</m:t>
                      </m:r>
                      <m:r>
                        <a:rPr lang="es-MX" sz="2000" i="1">
                          <a:latin typeface="+mn-lt"/>
                          <a:ea typeface="Roboto" panose="02000000000000000000" pitchFamily="2" charset="0"/>
                        </a:rPr>
                        <m:t>𝐴</m:t>
                      </m:r>
                      <m:r>
                        <a:rPr lang="es-MX" sz="2000" i="1">
                          <a:latin typeface="+mn-lt"/>
                          <a:ea typeface="Cambria Math" panose="02040503050406030204" pitchFamily="18" charset="0"/>
                        </a:rPr>
                        <m:t>⋅</m:t>
                      </m:r>
                      <m:r>
                        <a:rPr lang="es-MX" sz="2000" b="0" i="1" smtClean="0">
                          <a:latin typeface="+mn-lt"/>
                          <a:ea typeface="Cambria Math" panose="02040503050406030204" pitchFamily="18" charset="0"/>
                        </a:rPr>
                        <m:t>𝐶</m:t>
                      </m:r>
                    </m:oMath>
                  </m:oMathPara>
                </a14:m>
                <a:endParaRPr lang="es-MX" sz="2000" dirty="0">
                  <a:latin typeface="+mn-lt"/>
                  <a:ea typeface="Roboto" panose="02000000000000000000" pitchFamily="2" charset="0"/>
                </a:endParaRPr>
              </a:p>
            </p:txBody>
          </p:sp>
        </mc:Choice>
        <mc:Fallback>
          <p:sp>
            <p:nvSpPr>
              <p:cNvPr id="5" name="Google Shape;310;p34">
                <a:extLst>
                  <a:ext uri="{FF2B5EF4-FFF2-40B4-BE49-F238E27FC236}">
                    <a16:creationId xmlns:a16="http://schemas.microsoft.com/office/drawing/2014/main" id="{BBD38E2F-FE36-42C0-B6C0-29D97760C3BC}"/>
                  </a:ext>
                </a:extLst>
              </p:cNvPr>
              <p:cNvSpPr txBox="1">
                <a:spLocks noRot="1" noChangeAspect="1" noMove="1" noResize="1" noEditPoints="1" noAdjustHandles="1" noChangeArrowheads="1" noChangeShapeType="1" noTextEdit="1"/>
              </p:cNvSpPr>
              <p:nvPr/>
            </p:nvSpPr>
            <p:spPr>
              <a:xfrm>
                <a:off x="872406" y="1351624"/>
                <a:ext cx="11044291" cy="1342416"/>
              </a:xfrm>
              <a:prstGeom prst="rect">
                <a:avLst/>
              </a:prstGeom>
              <a:blipFill>
                <a:blip r:embed="rId3"/>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6" name="Tabla 4">
                <a:extLst>
                  <a:ext uri="{FF2B5EF4-FFF2-40B4-BE49-F238E27FC236}">
                    <a16:creationId xmlns:a16="http://schemas.microsoft.com/office/drawing/2014/main" id="{143335D5-0278-497C-B475-8967DC387FF0}"/>
                  </a:ext>
                </a:extLst>
              </p:cNvPr>
              <p:cNvGraphicFramePr>
                <a:graphicFrameLocks noGrp="1"/>
              </p:cNvGraphicFramePr>
              <p:nvPr>
                <p:extLst>
                  <p:ext uri="{D42A27DB-BD31-4B8C-83A1-F6EECF244321}">
                    <p14:modId xmlns:p14="http://schemas.microsoft.com/office/powerpoint/2010/main" val="1677788724"/>
                  </p:ext>
                </p:extLst>
              </p:nvPr>
            </p:nvGraphicFramePr>
            <p:xfrm>
              <a:off x="2832442" y="2955878"/>
              <a:ext cx="6755508" cy="3017520"/>
            </p:xfrm>
            <a:graphic>
              <a:graphicData uri="http://schemas.openxmlformats.org/drawingml/2006/table">
                <a:tbl>
                  <a:tblPr firstRow="1" bandRow="1">
                    <a:tableStyleId>{AD6A3598-7CB8-4345-8D95-17CE05F158A0}</a:tableStyleId>
                  </a:tblPr>
                  <a:tblGrid>
                    <a:gridCol w="442570">
                      <a:extLst>
                        <a:ext uri="{9D8B030D-6E8A-4147-A177-3AD203B41FA5}">
                          <a16:colId xmlns:a16="http://schemas.microsoft.com/office/drawing/2014/main" val="776375974"/>
                        </a:ext>
                      </a:extLst>
                    </a:gridCol>
                    <a:gridCol w="442570">
                      <a:extLst>
                        <a:ext uri="{9D8B030D-6E8A-4147-A177-3AD203B41FA5}">
                          <a16:colId xmlns:a16="http://schemas.microsoft.com/office/drawing/2014/main" val="384604534"/>
                        </a:ext>
                      </a:extLst>
                    </a:gridCol>
                    <a:gridCol w="442570">
                      <a:extLst>
                        <a:ext uri="{9D8B030D-6E8A-4147-A177-3AD203B41FA5}">
                          <a16:colId xmlns:a16="http://schemas.microsoft.com/office/drawing/2014/main" val="79869298"/>
                        </a:ext>
                      </a:extLst>
                    </a:gridCol>
                    <a:gridCol w="782790">
                      <a:extLst>
                        <a:ext uri="{9D8B030D-6E8A-4147-A177-3AD203B41FA5}">
                          <a16:colId xmlns:a16="http://schemas.microsoft.com/office/drawing/2014/main" val="1121803805"/>
                        </a:ext>
                      </a:extLst>
                    </a:gridCol>
                    <a:gridCol w="1444523">
                      <a:extLst>
                        <a:ext uri="{9D8B030D-6E8A-4147-A177-3AD203B41FA5}">
                          <a16:colId xmlns:a16="http://schemas.microsoft.com/office/drawing/2014/main" val="3636147316"/>
                        </a:ext>
                      </a:extLst>
                    </a:gridCol>
                    <a:gridCol w="678425">
                      <a:extLst>
                        <a:ext uri="{9D8B030D-6E8A-4147-A177-3AD203B41FA5}">
                          <a16:colId xmlns:a16="http://schemas.microsoft.com/office/drawing/2014/main" val="1883770935"/>
                        </a:ext>
                      </a:extLst>
                    </a:gridCol>
                    <a:gridCol w="678426">
                      <a:extLst>
                        <a:ext uri="{9D8B030D-6E8A-4147-A177-3AD203B41FA5}">
                          <a16:colId xmlns:a16="http://schemas.microsoft.com/office/drawing/2014/main" val="4031458888"/>
                        </a:ext>
                      </a:extLst>
                    </a:gridCol>
                    <a:gridCol w="1843634">
                      <a:extLst>
                        <a:ext uri="{9D8B030D-6E8A-4147-A177-3AD203B41FA5}">
                          <a16:colId xmlns:a16="http://schemas.microsoft.com/office/drawing/2014/main" val="3413420708"/>
                        </a:ext>
                      </a:extLst>
                    </a:gridCol>
                  </a:tblGrid>
                  <a:tr h="2861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mn-lt"/>
                                    <a:ea typeface="Cambria Math" panose="02040503050406030204" pitchFamily="18" charset="0"/>
                                  </a:rPr>
                                  <m:t>𝑨</m:t>
                                </m:r>
                              </m:oMath>
                            </m:oMathPara>
                          </a14:m>
                          <a:endParaRPr lang="es-CO" sz="1600" b="1" dirty="0">
                            <a:latin typeface="+mn-lt"/>
                            <a:ea typeface="Cambria Math" panose="02040503050406030204" pitchFamily="18" charset="0"/>
                          </a:endParaRPr>
                        </a:p>
                      </a:txBody>
                      <a:tcPr anchor="ct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1" i="1" smtClean="0">
                                    <a:latin typeface="+mn-lt"/>
                                    <a:ea typeface="Cambria Math" panose="02040503050406030204" pitchFamily="18" charset="0"/>
                                  </a:rPr>
                                  <m:t>𝑩</m:t>
                                </m:r>
                              </m:oMath>
                            </m:oMathPara>
                          </a14:m>
                          <a:endParaRPr lang="es-CO" sz="1600" b="1" dirty="0">
                            <a:latin typeface="+mn-lt"/>
                            <a:ea typeface="Cambria Math" panose="02040503050406030204" pitchFamily="18" charset="0"/>
                          </a:endParaRPr>
                        </a:p>
                      </a:txBody>
                      <a:tcPr anchor="ct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1" i="1" smtClean="0">
                                    <a:latin typeface="+mn-lt"/>
                                    <a:ea typeface="Cambria Math" panose="02040503050406030204" pitchFamily="18" charset="0"/>
                                  </a:rPr>
                                  <m:t>𝑪</m:t>
                                </m:r>
                              </m:oMath>
                            </m:oMathPara>
                          </a14:m>
                          <a:endParaRPr lang="es-CO" sz="1600" b="1" dirty="0">
                            <a:latin typeface="+mn-lt"/>
                            <a:ea typeface="Cambria Math" panose="02040503050406030204" pitchFamily="18" charset="0"/>
                          </a:endParaRP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mn-lt"/>
                                    <a:ea typeface="Cambria Math" panose="02040503050406030204" pitchFamily="18" charset="0"/>
                                  </a:rPr>
                                  <m:t>𝑩</m:t>
                                </m:r>
                                <m:r>
                                  <a:rPr lang="es-MX" sz="1600" b="1" i="1" smtClean="0">
                                    <a:latin typeface="+mn-lt"/>
                                    <a:ea typeface="Cambria Math" panose="02040503050406030204" pitchFamily="18" charset="0"/>
                                  </a:rPr>
                                  <m:t>+</m:t>
                                </m:r>
                                <m:r>
                                  <a:rPr lang="es-MX" sz="1600" b="1" i="1" smtClean="0">
                                    <a:latin typeface="+mn-lt"/>
                                    <a:ea typeface="Cambria Math" panose="02040503050406030204" pitchFamily="18" charset="0"/>
                                  </a:rPr>
                                  <m:t>𝑪</m:t>
                                </m:r>
                              </m:oMath>
                            </m:oMathPara>
                          </a14:m>
                          <a:endParaRPr lang="es-CO" sz="1600" b="1" dirty="0">
                            <a:latin typeface="+mn-lt"/>
                            <a:ea typeface="Cambria Math" panose="02040503050406030204" pitchFamily="18" charset="0"/>
                          </a:endParaRP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mn-lt"/>
                                    <a:ea typeface="Cambria Math" panose="02040503050406030204" pitchFamily="18" charset="0"/>
                                  </a:rPr>
                                  <m:t>𝑨</m:t>
                                </m:r>
                                <m:r>
                                  <a:rPr lang="es-MX" sz="1600" b="1" i="1" smtClean="0">
                                    <a:latin typeface="+mn-lt"/>
                                    <a:ea typeface="Cambria Math" panose="02040503050406030204" pitchFamily="18" charset="0"/>
                                  </a:rPr>
                                  <m:t>⋅</m:t>
                                </m:r>
                                <m:d>
                                  <m:dPr>
                                    <m:ctrlPr>
                                      <a:rPr lang="es-MX" sz="1600" b="1" i="1" smtClean="0">
                                        <a:latin typeface="+mn-lt"/>
                                        <a:ea typeface="Cambria Math" panose="02040503050406030204" pitchFamily="18" charset="0"/>
                                      </a:rPr>
                                    </m:ctrlPr>
                                  </m:dPr>
                                  <m:e>
                                    <m:r>
                                      <a:rPr lang="es-MX" sz="1600" b="1" i="1" smtClean="0">
                                        <a:latin typeface="+mn-lt"/>
                                        <a:ea typeface="Cambria Math" panose="02040503050406030204" pitchFamily="18" charset="0"/>
                                      </a:rPr>
                                      <m:t>𝑩</m:t>
                                    </m:r>
                                    <m:r>
                                      <a:rPr lang="es-MX" sz="1600" b="1" i="1" smtClean="0">
                                        <a:latin typeface="+mn-lt"/>
                                        <a:ea typeface="Cambria Math" panose="02040503050406030204" pitchFamily="18" charset="0"/>
                                      </a:rPr>
                                      <m:t>+</m:t>
                                    </m:r>
                                    <m:r>
                                      <a:rPr lang="es-MX" sz="1600" b="1" i="1" smtClean="0">
                                        <a:latin typeface="+mn-lt"/>
                                        <a:ea typeface="Cambria Math" panose="02040503050406030204" pitchFamily="18" charset="0"/>
                                      </a:rPr>
                                      <m:t>𝑪</m:t>
                                    </m:r>
                                  </m:e>
                                </m:d>
                              </m:oMath>
                            </m:oMathPara>
                          </a14:m>
                          <a:endParaRPr lang="es-CO" sz="1600" b="1" dirty="0">
                            <a:latin typeface="+mn-lt"/>
                            <a:ea typeface="Cambria Math" panose="02040503050406030204" pitchFamily="18" charset="0"/>
                          </a:endParaRPr>
                        </a:p>
                      </a:txBody>
                      <a:tcPr anchor="c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mn-lt"/>
                                    <a:ea typeface="Cambria Math" panose="02040503050406030204" pitchFamily="18" charset="0"/>
                                  </a:rPr>
                                  <m:t>𝑨</m:t>
                                </m:r>
                                <m:r>
                                  <a:rPr lang="es-MX" sz="1600" b="1" i="1" smtClean="0">
                                    <a:latin typeface="+mn-lt"/>
                                    <a:ea typeface="Cambria Math" panose="02040503050406030204" pitchFamily="18" charset="0"/>
                                  </a:rPr>
                                  <m:t>⋅</m:t>
                                </m:r>
                                <m:r>
                                  <a:rPr lang="es-MX" sz="1600" b="1" i="1" smtClean="0">
                                    <a:latin typeface="+mn-lt"/>
                                    <a:ea typeface="Cambria Math" panose="02040503050406030204" pitchFamily="18" charset="0"/>
                                  </a:rPr>
                                  <m:t>𝑩</m:t>
                                </m:r>
                              </m:oMath>
                            </m:oMathPara>
                          </a14:m>
                          <a:endParaRPr lang="es-MX" sz="1600" b="1" dirty="0">
                            <a:latin typeface="+mn-lt"/>
                            <a:ea typeface="Cambria Math" panose="02040503050406030204" pitchFamily="18" charset="0"/>
                          </a:endParaRP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mn-lt"/>
                                    <a:ea typeface="Cambria Math" panose="02040503050406030204" pitchFamily="18" charset="0"/>
                                  </a:rPr>
                                  <m:t>𝑨</m:t>
                                </m:r>
                                <m:r>
                                  <a:rPr lang="es-MX" sz="1600" b="1" i="1" smtClean="0">
                                    <a:latin typeface="+mn-lt"/>
                                    <a:ea typeface="Cambria Math" panose="02040503050406030204" pitchFamily="18" charset="0"/>
                                  </a:rPr>
                                  <m:t>⋅</m:t>
                                </m:r>
                                <m:r>
                                  <a:rPr lang="es-MX" sz="1600" b="1" i="1" smtClean="0">
                                    <a:latin typeface="+mn-lt"/>
                                    <a:ea typeface="Cambria Math" panose="02040503050406030204" pitchFamily="18" charset="0"/>
                                  </a:rPr>
                                  <m:t>𝑪</m:t>
                                </m:r>
                              </m:oMath>
                            </m:oMathPara>
                          </a14:m>
                          <a:endParaRPr lang="es-MX" sz="1600" b="1" dirty="0">
                            <a:latin typeface="+mn-lt"/>
                            <a:ea typeface="Cambria Math" panose="02040503050406030204" pitchFamily="18" charset="0"/>
                          </a:endParaRP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mn-lt"/>
                                    <a:ea typeface="Cambria Math" panose="02040503050406030204" pitchFamily="18" charset="0"/>
                                  </a:rPr>
                                  <m:t>𝑨</m:t>
                                </m:r>
                                <m:r>
                                  <a:rPr lang="es-MX" sz="1600" b="1" i="1" smtClean="0">
                                    <a:latin typeface="+mn-lt"/>
                                    <a:ea typeface="Cambria Math" panose="02040503050406030204" pitchFamily="18" charset="0"/>
                                  </a:rPr>
                                  <m:t>⋅</m:t>
                                </m:r>
                                <m:r>
                                  <a:rPr lang="es-MX" sz="1600" b="1" i="1" smtClean="0">
                                    <a:latin typeface="+mn-lt"/>
                                    <a:ea typeface="Cambria Math" panose="02040503050406030204" pitchFamily="18" charset="0"/>
                                  </a:rPr>
                                  <m:t>𝑩</m:t>
                                </m:r>
                                <m:r>
                                  <a:rPr lang="es-MX" sz="1600" b="1" i="1" smtClean="0">
                                    <a:latin typeface="+mn-lt"/>
                                    <a:ea typeface="Cambria Math" panose="02040503050406030204" pitchFamily="18" charset="0"/>
                                  </a:rPr>
                                  <m:t>+</m:t>
                                </m:r>
                                <m:r>
                                  <a:rPr lang="es-MX" sz="1600" b="1" i="1" smtClean="0">
                                    <a:latin typeface="+mn-lt"/>
                                    <a:ea typeface="Cambria Math" panose="02040503050406030204" pitchFamily="18" charset="0"/>
                                  </a:rPr>
                                  <m:t>𝑨</m:t>
                                </m:r>
                                <m:r>
                                  <a:rPr lang="es-MX" sz="1600" b="1" i="1" smtClean="0">
                                    <a:latin typeface="+mn-lt"/>
                                    <a:ea typeface="Cambria Math" panose="02040503050406030204" pitchFamily="18" charset="0"/>
                                  </a:rPr>
                                  <m:t>⋅</m:t>
                                </m:r>
                                <m:r>
                                  <a:rPr lang="es-MX" sz="1600" b="1" i="1" smtClean="0">
                                    <a:latin typeface="+mn-lt"/>
                                    <a:ea typeface="Cambria Math" panose="02040503050406030204" pitchFamily="18" charset="0"/>
                                  </a:rPr>
                                  <m:t>𝑪</m:t>
                                </m:r>
                              </m:oMath>
                            </m:oMathPara>
                          </a14:m>
                          <a:endParaRPr lang="es-MX" sz="1600" b="1" dirty="0">
                            <a:latin typeface="+mn-lt"/>
                            <a:ea typeface="Cambria Math" panose="02040503050406030204" pitchFamily="18" charset="0"/>
                          </a:endParaRPr>
                        </a:p>
                      </a:txBody>
                      <a:tcPr anchor="ctr">
                        <a:solidFill>
                          <a:schemeClr val="accent6">
                            <a:lumMod val="20000"/>
                            <a:lumOff val="80000"/>
                          </a:schemeClr>
                        </a:solidFill>
                      </a:tcPr>
                    </a:tc>
                    <a:extLst>
                      <a:ext uri="{0D108BD9-81ED-4DB2-BD59-A6C34878D82A}">
                        <a16:rowId xmlns:a16="http://schemas.microsoft.com/office/drawing/2014/main" val="113670299"/>
                      </a:ext>
                    </a:extLst>
                  </a:tr>
                  <a:tr h="31891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accent6">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accent6">
                            <a:lumMod val="20000"/>
                            <a:lumOff val="80000"/>
                          </a:schemeClr>
                        </a:solidFill>
                      </a:tcPr>
                    </a:tc>
                    <a:extLst>
                      <a:ext uri="{0D108BD9-81ED-4DB2-BD59-A6C34878D82A}">
                        <a16:rowId xmlns:a16="http://schemas.microsoft.com/office/drawing/2014/main" val="1805549228"/>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accent6">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accent6">
                            <a:lumMod val="20000"/>
                            <a:lumOff val="80000"/>
                          </a:schemeClr>
                        </a:solidFill>
                      </a:tcPr>
                    </a:tc>
                    <a:extLst>
                      <a:ext uri="{0D108BD9-81ED-4DB2-BD59-A6C34878D82A}">
                        <a16:rowId xmlns:a16="http://schemas.microsoft.com/office/drawing/2014/main" val="2353127006"/>
                      </a:ext>
                    </a:extLst>
                  </a:tr>
                  <a:tr h="2861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accent6">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accent6">
                            <a:lumMod val="20000"/>
                            <a:lumOff val="80000"/>
                          </a:schemeClr>
                        </a:solidFill>
                      </a:tcPr>
                    </a:tc>
                    <a:extLst>
                      <a:ext uri="{0D108BD9-81ED-4DB2-BD59-A6C34878D82A}">
                        <a16:rowId xmlns:a16="http://schemas.microsoft.com/office/drawing/2014/main" val="3651764017"/>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accent6">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accent6">
                            <a:lumMod val="20000"/>
                            <a:lumOff val="80000"/>
                          </a:schemeClr>
                        </a:solidFill>
                      </a:tcPr>
                    </a:tc>
                    <a:extLst>
                      <a:ext uri="{0D108BD9-81ED-4DB2-BD59-A6C34878D82A}">
                        <a16:rowId xmlns:a16="http://schemas.microsoft.com/office/drawing/2014/main" val="2841338906"/>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accent6">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accent6">
                            <a:lumMod val="20000"/>
                            <a:lumOff val="80000"/>
                          </a:schemeClr>
                        </a:solidFill>
                      </a:tcPr>
                    </a:tc>
                    <a:extLst>
                      <a:ext uri="{0D108BD9-81ED-4DB2-BD59-A6C34878D82A}">
                        <a16:rowId xmlns:a16="http://schemas.microsoft.com/office/drawing/2014/main" val="1632356540"/>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accent6">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accent6">
                            <a:lumMod val="20000"/>
                            <a:lumOff val="80000"/>
                          </a:schemeClr>
                        </a:solidFill>
                      </a:tcPr>
                    </a:tc>
                    <a:extLst>
                      <a:ext uri="{0D108BD9-81ED-4DB2-BD59-A6C34878D82A}">
                        <a16:rowId xmlns:a16="http://schemas.microsoft.com/office/drawing/2014/main" val="2671630554"/>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accent6">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0</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accent6">
                            <a:lumMod val="20000"/>
                            <a:lumOff val="80000"/>
                          </a:schemeClr>
                        </a:solidFill>
                      </a:tcPr>
                    </a:tc>
                    <a:extLst>
                      <a:ext uri="{0D108BD9-81ED-4DB2-BD59-A6C34878D82A}">
                        <a16:rowId xmlns:a16="http://schemas.microsoft.com/office/drawing/2014/main" val="117604333"/>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accent6">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mn-lt"/>
                                    <a:ea typeface="Cambria Math" panose="02040503050406030204" pitchFamily="18" charset="0"/>
                                  </a:rPr>
                                  <m:t>1</m:t>
                                </m:r>
                              </m:oMath>
                            </m:oMathPara>
                          </a14:m>
                          <a:endParaRPr lang="es-CO" sz="1600" dirty="0">
                            <a:latin typeface="+mn-lt"/>
                            <a:ea typeface="Cambria Math" panose="02040503050406030204" pitchFamily="18" charset="0"/>
                          </a:endParaRPr>
                        </a:p>
                      </a:txBody>
                      <a:tcPr>
                        <a:solidFill>
                          <a:schemeClr val="accent6">
                            <a:lumMod val="20000"/>
                            <a:lumOff val="80000"/>
                          </a:schemeClr>
                        </a:solidFill>
                      </a:tcPr>
                    </a:tc>
                    <a:extLst>
                      <a:ext uri="{0D108BD9-81ED-4DB2-BD59-A6C34878D82A}">
                        <a16:rowId xmlns:a16="http://schemas.microsoft.com/office/drawing/2014/main" val="768255264"/>
                      </a:ext>
                    </a:extLst>
                  </a:tr>
                </a:tbl>
              </a:graphicData>
            </a:graphic>
          </p:graphicFrame>
        </mc:Choice>
        <mc:Fallback>
          <p:graphicFrame>
            <p:nvGraphicFramePr>
              <p:cNvPr id="6" name="Tabla 4">
                <a:extLst>
                  <a:ext uri="{FF2B5EF4-FFF2-40B4-BE49-F238E27FC236}">
                    <a16:creationId xmlns:a16="http://schemas.microsoft.com/office/drawing/2014/main" id="{143335D5-0278-497C-B475-8967DC387FF0}"/>
                  </a:ext>
                </a:extLst>
              </p:cNvPr>
              <p:cNvGraphicFramePr>
                <a:graphicFrameLocks noGrp="1"/>
              </p:cNvGraphicFramePr>
              <p:nvPr>
                <p:extLst>
                  <p:ext uri="{D42A27DB-BD31-4B8C-83A1-F6EECF244321}">
                    <p14:modId xmlns:p14="http://schemas.microsoft.com/office/powerpoint/2010/main" val="1677788724"/>
                  </p:ext>
                </p:extLst>
              </p:nvPr>
            </p:nvGraphicFramePr>
            <p:xfrm>
              <a:off x="2832442" y="2955878"/>
              <a:ext cx="6755508" cy="3017520"/>
            </p:xfrm>
            <a:graphic>
              <a:graphicData uri="http://schemas.openxmlformats.org/drawingml/2006/table">
                <a:tbl>
                  <a:tblPr firstRow="1" bandRow="1">
                    <a:tableStyleId>{AD6A3598-7CB8-4345-8D95-17CE05F158A0}</a:tableStyleId>
                  </a:tblPr>
                  <a:tblGrid>
                    <a:gridCol w="442570">
                      <a:extLst>
                        <a:ext uri="{9D8B030D-6E8A-4147-A177-3AD203B41FA5}">
                          <a16:colId xmlns:a16="http://schemas.microsoft.com/office/drawing/2014/main" val="776375974"/>
                        </a:ext>
                      </a:extLst>
                    </a:gridCol>
                    <a:gridCol w="442570">
                      <a:extLst>
                        <a:ext uri="{9D8B030D-6E8A-4147-A177-3AD203B41FA5}">
                          <a16:colId xmlns:a16="http://schemas.microsoft.com/office/drawing/2014/main" val="384604534"/>
                        </a:ext>
                      </a:extLst>
                    </a:gridCol>
                    <a:gridCol w="442570">
                      <a:extLst>
                        <a:ext uri="{9D8B030D-6E8A-4147-A177-3AD203B41FA5}">
                          <a16:colId xmlns:a16="http://schemas.microsoft.com/office/drawing/2014/main" val="79869298"/>
                        </a:ext>
                      </a:extLst>
                    </a:gridCol>
                    <a:gridCol w="782790">
                      <a:extLst>
                        <a:ext uri="{9D8B030D-6E8A-4147-A177-3AD203B41FA5}">
                          <a16:colId xmlns:a16="http://schemas.microsoft.com/office/drawing/2014/main" val="1121803805"/>
                        </a:ext>
                      </a:extLst>
                    </a:gridCol>
                    <a:gridCol w="1444523">
                      <a:extLst>
                        <a:ext uri="{9D8B030D-6E8A-4147-A177-3AD203B41FA5}">
                          <a16:colId xmlns:a16="http://schemas.microsoft.com/office/drawing/2014/main" val="3636147316"/>
                        </a:ext>
                      </a:extLst>
                    </a:gridCol>
                    <a:gridCol w="678425">
                      <a:extLst>
                        <a:ext uri="{9D8B030D-6E8A-4147-A177-3AD203B41FA5}">
                          <a16:colId xmlns:a16="http://schemas.microsoft.com/office/drawing/2014/main" val="1883770935"/>
                        </a:ext>
                      </a:extLst>
                    </a:gridCol>
                    <a:gridCol w="678426">
                      <a:extLst>
                        <a:ext uri="{9D8B030D-6E8A-4147-A177-3AD203B41FA5}">
                          <a16:colId xmlns:a16="http://schemas.microsoft.com/office/drawing/2014/main" val="4031458888"/>
                        </a:ext>
                      </a:extLst>
                    </a:gridCol>
                    <a:gridCol w="1843634">
                      <a:extLst>
                        <a:ext uri="{9D8B030D-6E8A-4147-A177-3AD203B41FA5}">
                          <a16:colId xmlns:a16="http://schemas.microsoft.com/office/drawing/2014/main" val="3413420708"/>
                        </a:ext>
                      </a:extLst>
                    </a:gridCol>
                  </a:tblGrid>
                  <a:tr h="335280">
                    <a:tc>
                      <a:txBody>
                        <a:bodyPr/>
                        <a:lstStyle/>
                        <a:p>
                          <a:endParaRPr lang="es-CO"/>
                        </a:p>
                      </a:txBody>
                      <a:tcPr anchor="ctr">
                        <a:blipFill>
                          <a:blip r:embed="rId4"/>
                          <a:stretch>
                            <a:fillRect l="-1370" r="-1421918" b="-805455"/>
                          </a:stretch>
                        </a:blipFill>
                      </a:tcPr>
                    </a:tc>
                    <a:tc>
                      <a:txBody>
                        <a:bodyPr/>
                        <a:lstStyle/>
                        <a:p>
                          <a:endParaRPr lang="es-CO"/>
                        </a:p>
                      </a:txBody>
                      <a:tcPr anchor="ctr">
                        <a:blipFill>
                          <a:blip r:embed="rId4"/>
                          <a:stretch>
                            <a:fillRect l="-102778" r="-1341667" b="-805455"/>
                          </a:stretch>
                        </a:blipFill>
                      </a:tcPr>
                    </a:tc>
                    <a:tc>
                      <a:txBody>
                        <a:bodyPr/>
                        <a:lstStyle/>
                        <a:p>
                          <a:endParaRPr lang="es-CO"/>
                        </a:p>
                      </a:txBody>
                      <a:tcPr anchor="ctr">
                        <a:blipFill>
                          <a:blip r:embed="rId4"/>
                          <a:stretch>
                            <a:fillRect l="-200000" r="-1223288" b="-805455"/>
                          </a:stretch>
                        </a:blipFill>
                      </a:tcPr>
                    </a:tc>
                    <a:tc>
                      <a:txBody>
                        <a:bodyPr/>
                        <a:lstStyle/>
                        <a:p>
                          <a:endParaRPr lang="es-CO"/>
                        </a:p>
                      </a:txBody>
                      <a:tcPr anchor="ctr">
                        <a:blipFill>
                          <a:blip r:embed="rId4"/>
                          <a:stretch>
                            <a:fillRect l="-171094" r="-597656" b="-805455"/>
                          </a:stretch>
                        </a:blipFill>
                      </a:tcPr>
                    </a:tc>
                    <a:tc>
                      <a:txBody>
                        <a:bodyPr/>
                        <a:lstStyle/>
                        <a:p>
                          <a:endParaRPr lang="es-CO"/>
                        </a:p>
                      </a:txBody>
                      <a:tcPr anchor="ctr">
                        <a:blipFill>
                          <a:blip r:embed="rId4"/>
                          <a:stretch>
                            <a:fillRect l="-145798" r="-221429" b="-805455"/>
                          </a:stretch>
                        </a:blipFill>
                      </a:tcPr>
                    </a:tc>
                    <a:tc>
                      <a:txBody>
                        <a:bodyPr/>
                        <a:lstStyle/>
                        <a:p>
                          <a:endParaRPr lang="es-CO"/>
                        </a:p>
                      </a:txBody>
                      <a:tcPr anchor="ctr">
                        <a:blipFill>
                          <a:blip r:embed="rId4"/>
                          <a:stretch>
                            <a:fillRect l="-527027" r="-374775" b="-805455"/>
                          </a:stretch>
                        </a:blipFill>
                      </a:tcPr>
                    </a:tc>
                    <a:tc>
                      <a:txBody>
                        <a:bodyPr/>
                        <a:lstStyle/>
                        <a:p>
                          <a:endParaRPr lang="es-CO"/>
                        </a:p>
                      </a:txBody>
                      <a:tcPr anchor="ctr">
                        <a:blipFill>
                          <a:blip r:embed="rId4"/>
                          <a:stretch>
                            <a:fillRect l="-627027" r="-274775" b="-805455"/>
                          </a:stretch>
                        </a:blipFill>
                      </a:tcPr>
                    </a:tc>
                    <a:tc>
                      <a:txBody>
                        <a:bodyPr/>
                        <a:lstStyle/>
                        <a:p>
                          <a:endParaRPr lang="es-CO"/>
                        </a:p>
                      </a:txBody>
                      <a:tcPr anchor="ctr">
                        <a:blipFill>
                          <a:blip r:embed="rId4"/>
                          <a:stretch>
                            <a:fillRect l="-266337" r="-660" b="-805455"/>
                          </a:stretch>
                        </a:blipFill>
                      </a:tcPr>
                    </a:tc>
                    <a:extLst>
                      <a:ext uri="{0D108BD9-81ED-4DB2-BD59-A6C34878D82A}">
                        <a16:rowId xmlns:a16="http://schemas.microsoft.com/office/drawing/2014/main" val="113670299"/>
                      </a:ext>
                    </a:extLst>
                  </a:tr>
                  <a:tr h="335280">
                    <a:tc>
                      <a:txBody>
                        <a:bodyPr/>
                        <a:lstStyle/>
                        <a:p>
                          <a:endParaRPr lang="es-CO"/>
                        </a:p>
                      </a:txBody>
                      <a:tcPr>
                        <a:blipFill>
                          <a:blip r:embed="rId4"/>
                          <a:stretch>
                            <a:fillRect l="-1370" t="-100000" r="-1421918" b="-705455"/>
                          </a:stretch>
                        </a:blipFill>
                      </a:tcPr>
                    </a:tc>
                    <a:tc>
                      <a:txBody>
                        <a:bodyPr/>
                        <a:lstStyle/>
                        <a:p>
                          <a:endParaRPr lang="es-CO"/>
                        </a:p>
                      </a:txBody>
                      <a:tcPr>
                        <a:blipFill>
                          <a:blip r:embed="rId4"/>
                          <a:stretch>
                            <a:fillRect l="-102778" t="-100000" r="-1341667" b="-705455"/>
                          </a:stretch>
                        </a:blipFill>
                      </a:tcPr>
                    </a:tc>
                    <a:tc>
                      <a:txBody>
                        <a:bodyPr/>
                        <a:lstStyle/>
                        <a:p>
                          <a:endParaRPr lang="es-CO"/>
                        </a:p>
                      </a:txBody>
                      <a:tcPr>
                        <a:blipFill>
                          <a:blip r:embed="rId4"/>
                          <a:stretch>
                            <a:fillRect l="-200000" t="-100000" r="-1223288" b="-705455"/>
                          </a:stretch>
                        </a:blipFill>
                      </a:tcPr>
                    </a:tc>
                    <a:tc>
                      <a:txBody>
                        <a:bodyPr/>
                        <a:lstStyle/>
                        <a:p>
                          <a:endParaRPr lang="es-CO"/>
                        </a:p>
                      </a:txBody>
                      <a:tcPr>
                        <a:blipFill>
                          <a:blip r:embed="rId4"/>
                          <a:stretch>
                            <a:fillRect l="-171094" t="-100000" r="-597656" b="-705455"/>
                          </a:stretch>
                        </a:blipFill>
                      </a:tcPr>
                    </a:tc>
                    <a:tc>
                      <a:txBody>
                        <a:bodyPr/>
                        <a:lstStyle/>
                        <a:p>
                          <a:endParaRPr lang="es-CO"/>
                        </a:p>
                      </a:txBody>
                      <a:tcPr>
                        <a:blipFill>
                          <a:blip r:embed="rId4"/>
                          <a:stretch>
                            <a:fillRect l="-145798" t="-100000" r="-221429" b="-705455"/>
                          </a:stretch>
                        </a:blipFill>
                      </a:tcPr>
                    </a:tc>
                    <a:tc>
                      <a:txBody>
                        <a:bodyPr/>
                        <a:lstStyle/>
                        <a:p>
                          <a:endParaRPr lang="es-CO"/>
                        </a:p>
                      </a:txBody>
                      <a:tcPr>
                        <a:blipFill>
                          <a:blip r:embed="rId4"/>
                          <a:stretch>
                            <a:fillRect l="-527027" t="-100000" r="-374775" b="-705455"/>
                          </a:stretch>
                        </a:blipFill>
                      </a:tcPr>
                    </a:tc>
                    <a:tc>
                      <a:txBody>
                        <a:bodyPr/>
                        <a:lstStyle/>
                        <a:p>
                          <a:endParaRPr lang="es-CO"/>
                        </a:p>
                      </a:txBody>
                      <a:tcPr>
                        <a:blipFill>
                          <a:blip r:embed="rId4"/>
                          <a:stretch>
                            <a:fillRect l="-627027" t="-100000" r="-274775" b="-705455"/>
                          </a:stretch>
                        </a:blipFill>
                      </a:tcPr>
                    </a:tc>
                    <a:tc>
                      <a:txBody>
                        <a:bodyPr/>
                        <a:lstStyle/>
                        <a:p>
                          <a:endParaRPr lang="es-CO"/>
                        </a:p>
                      </a:txBody>
                      <a:tcPr>
                        <a:blipFill>
                          <a:blip r:embed="rId4"/>
                          <a:stretch>
                            <a:fillRect l="-266337" t="-100000" r="-660" b="-705455"/>
                          </a:stretch>
                        </a:blipFill>
                      </a:tcPr>
                    </a:tc>
                    <a:extLst>
                      <a:ext uri="{0D108BD9-81ED-4DB2-BD59-A6C34878D82A}">
                        <a16:rowId xmlns:a16="http://schemas.microsoft.com/office/drawing/2014/main" val="1805549228"/>
                      </a:ext>
                    </a:extLst>
                  </a:tr>
                  <a:tr h="335280">
                    <a:tc>
                      <a:txBody>
                        <a:bodyPr/>
                        <a:lstStyle/>
                        <a:p>
                          <a:endParaRPr lang="es-CO"/>
                        </a:p>
                      </a:txBody>
                      <a:tcPr>
                        <a:blipFill>
                          <a:blip r:embed="rId4"/>
                          <a:stretch>
                            <a:fillRect l="-1370" t="-200000" r="-1421918" b="-605455"/>
                          </a:stretch>
                        </a:blipFill>
                      </a:tcPr>
                    </a:tc>
                    <a:tc>
                      <a:txBody>
                        <a:bodyPr/>
                        <a:lstStyle/>
                        <a:p>
                          <a:endParaRPr lang="es-CO"/>
                        </a:p>
                      </a:txBody>
                      <a:tcPr>
                        <a:blipFill>
                          <a:blip r:embed="rId4"/>
                          <a:stretch>
                            <a:fillRect l="-102778" t="-200000" r="-1341667" b="-605455"/>
                          </a:stretch>
                        </a:blipFill>
                      </a:tcPr>
                    </a:tc>
                    <a:tc>
                      <a:txBody>
                        <a:bodyPr/>
                        <a:lstStyle/>
                        <a:p>
                          <a:endParaRPr lang="es-CO"/>
                        </a:p>
                      </a:txBody>
                      <a:tcPr>
                        <a:blipFill>
                          <a:blip r:embed="rId4"/>
                          <a:stretch>
                            <a:fillRect l="-200000" t="-200000" r="-1223288" b="-605455"/>
                          </a:stretch>
                        </a:blipFill>
                      </a:tcPr>
                    </a:tc>
                    <a:tc>
                      <a:txBody>
                        <a:bodyPr/>
                        <a:lstStyle/>
                        <a:p>
                          <a:endParaRPr lang="es-CO"/>
                        </a:p>
                      </a:txBody>
                      <a:tcPr>
                        <a:blipFill>
                          <a:blip r:embed="rId4"/>
                          <a:stretch>
                            <a:fillRect l="-171094" t="-200000" r="-597656" b="-605455"/>
                          </a:stretch>
                        </a:blipFill>
                      </a:tcPr>
                    </a:tc>
                    <a:tc>
                      <a:txBody>
                        <a:bodyPr/>
                        <a:lstStyle/>
                        <a:p>
                          <a:endParaRPr lang="es-CO"/>
                        </a:p>
                      </a:txBody>
                      <a:tcPr>
                        <a:blipFill>
                          <a:blip r:embed="rId4"/>
                          <a:stretch>
                            <a:fillRect l="-145798" t="-200000" r="-221429" b="-605455"/>
                          </a:stretch>
                        </a:blipFill>
                      </a:tcPr>
                    </a:tc>
                    <a:tc>
                      <a:txBody>
                        <a:bodyPr/>
                        <a:lstStyle/>
                        <a:p>
                          <a:endParaRPr lang="es-CO"/>
                        </a:p>
                      </a:txBody>
                      <a:tcPr>
                        <a:blipFill>
                          <a:blip r:embed="rId4"/>
                          <a:stretch>
                            <a:fillRect l="-527027" t="-200000" r="-374775" b="-605455"/>
                          </a:stretch>
                        </a:blipFill>
                      </a:tcPr>
                    </a:tc>
                    <a:tc>
                      <a:txBody>
                        <a:bodyPr/>
                        <a:lstStyle/>
                        <a:p>
                          <a:endParaRPr lang="es-CO"/>
                        </a:p>
                      </a:txBody>
                      <a:tcPr>
                        <a:blipFill>
                          <a:blip r:embed="rId4"/>
                          <a:stretch>
                            <a:fillRect l="-627027" t="-200000" r="-274775" b="-605455"/>
                          </a:stretch>
                        </a:blipFill>
                      </a:tcPr>
                    </a:tc>
                    <a:tc>
                      <a:txBody>
                        <a:bodyPr/>
                        <a:lstStyle/>
                        <a:p>
                          <a:endParaRPr lang="es-CO"/>
                        </a:p>
                      </a:txBody>
                      <a:tcPr>
                        <a:blipFill>
                          <a:blip r:embed="rId4"/>
                          <a:stretch>
                            <a:fillRect l="-266337" t="-200000" r="-660" b="-605455"/>
                          </a:stretch>
                        </a:blipFill>
                      </a:tcPr>
                    </a:tc>
                    <a:extLst>
                      <a:ext uri="{0D108BD9-81ED-4DB2-BD59-A6C34878D82A}">
                        <a16:rowId xmlns:a16="http://schemas.microsoft.com/office/drawing/2014/main" val="2353127006"/>
                      </a:ext>
                    </a:extLst>
                  </a:tr>
                  <a:tr h="335280">
                    <a:tc>
                      <a:txBody>
                        <a:bodyPr/>
                        <a:lstStyle/>
                        <a:p>
                          <a:endParaRPr lang="es-CO"/>
                        </a:p>
                      </a:txBody>
                      <a:tcPr>
                        <a:blipFill>
                          <a:blip r:embed="rId4"/>
                          <a:stretch>
                            <a:fillRect l="-1370" t="-300000" r="-1421918" b="-505455"/>
                          </a:stretch>
                        </a:blipFill>
                      </a:tcPr>
                    </a:tc>
                    <a:tc>
                      <a:txBody>
                        <a:bodyPr/>
                        <a:lstStyle/>
                        <a:p>
                          <a:endParaRPr lang="es-CO"/>
                        </a:p>
                      </a:txBody>
                      <a:tcPr>
                        <a:blipFill>
                          <a:blip r:embed="rId4"/>
                          <a:stretch>
                            <a:fillRect l="-102778" t="-300000" r="-1341667" b="-505455"/>
                          </a:stretch>
                        </a:blipFill>
                      </a:tcPr>
                    </a:tc>
                    <a:tc>
                      <a:txBody>
                        <a:bodyPr/>
                        <a:lstStyle/>
                        <a:p>
                          <a:endParaRPr lang="es-CO"/>
                        </a:p>
                      </a:txBody>
                      <a:tcPr>
                        <a:blipFill>
                          <a:blip r:embed="rId4"/>
                          <a:stretch>
                            <a:fillRect l="-200000" t="-300000" r="-1223288" b="-505455"/>
                          </a:stretch>
                        </a:blipFill>
                      </a:tcPr>
                    </a:tc>
                    <a:tc>
                      <a:txBody>
                        <a:bodyPr/>
                        <a:lstStyle/>
                        <a:p>
                          <a:endParaRPr lang="es-CO"/>
                        </a:p>
                      </a:txBody>
                      <a:tcPr>
                        <a:blipFill>
                          <a:blip r:embed="rId4"/>
                          <a:stretch>
                            <a:fillRect l="-171094" t="-300000" r="-597656" b="-505455"/>
                          </a:stretch>
                        </a:blipFill>
                      </a:tcPr>
                    </a:tc>
                    <a:tc>
                      <a:txBody>
                        <a:bodyPr/>
                        <a:lstStyle/>
                        <a:p>
                          <a:endParaRPr lang="es-CO"/>
                        </a:p>
                      </a:txBody>
                      <a:tcPr>
                        <a:blipFill>
                          <a:blip r:embed="rId4"/>
                          <a:stretch>
                            <a:fillRect l="-145798" t="-300000" r="-221429" b="-505455"/>
                          </a:stretch>
                        </a:blipFill>
                      </a:tcPr>
                    </a:tc>
                    <a:tc>
                      <a:txBody>
                        <a:bodyPr/>
                        <a:lstStyle/>
                        <a:p>
                          <a:endParaRPr lang="es-CO"/>
                        </a:p>
                      </a:txBody>
                      <a:tcPr>
                        <a:blipFill>
                          <a:blip r:embed="rId4"/>
                          <a:stretch>
                            <a:fillRect l="-527027" t="-300000" r="-374775" b="-505455"/>
                          </a:stretch>
                        </a:blipFill>
                      </a:tcPr>
                    </a:tc>
                    <a:tc>
                      <a:txBody>
                        <a:bodyPr/>
                        <a:lstStyle/>
                        <a:p>
                          <a:endParaRPr lang="es-CO"/>
                        </a:p>
                      </a:txBody>
                      <a:tcPr>
                        <a:blipFill>
                          <a:blip r:embed="rId4"/>
                          <a:stretch>
                            <a:fillRect l="-627027" t="-300000" r="-274775" b="-505455"/>
                          </a:stretch>
                        </a:blipFill>
                      </a:tcPr>
                    </a:tc>
                    <a:tc>
                      <a:txBody>
                        <a:bodyPr/>
                        <a:lstStyle/>
                        <a:p>
                          <a:endParaRPr lang="es-CO"/>
                        </a:p>
                      </a:txBody>
                      <a:tcPr>
                        <a:blipFill>
                          <a:blip r:embed="rId4"/>
                          <a:stretch>
                            <a:fillRect l="-266337" t="-300000" r="-660" b="-505455"/>
                          </a:stretch>
                        </a:blipFill>
                      </a:tcPr>
                    </a:tc>
                    <a:extLst>
                      <a:ext uri="{0D108BD9-81ED-4DB2-BD59-A6C34878D82A}">
                        <a16:rowId xmlns:a16="http://schemas.microsoft.com/office/drawing/2014/main" val="3651764017"/>
                      </a:ext>
                    </a:extLst>
                  </a:tr>
                  <a:tr h="335280">
                    <a:tc>
                      <a:txBody>
                        <a:bodyPr/>
                        <a:lstStyle/>
                        <a:p>
                          <a:endParaRPr lang="es-CO"/>
                        </a:p>
                      </a:txBody>
                      <a:tcPr>
                        <a:blipFill>
                          <a:blip r:embed="rId4"/>
                          <a:stretch>
                            <a:fillRect l="-1370" t="-392857" r="-1421918" b="-396429"/>
                          </a:stretch>
                        </a:blipFill>
                      </a:tcPr>
                    </a:tc>
                    <a:tc>
                      <a:txBody>
                        <a:bodyPr/>
                        <a:lstStyle/>
                        <a:p>
                          <a:endParaRPr lang="es-CO"/>
                        </a:p>
                      </a:txBody>
                      <a:tcPr>
                        <a:blipFill>
                          <a:blip r:embed="rId4"/>
                          <a:stretch>
                            <a:fillRect l="-102778" t="-392857" r="-1341667" b="-396429"/>
                          </a:stretch>
                        </a:blipFill>
                      </a:tcPr>
                    </a:tc>
                    <a:tc>
                      <a:txBody>
                        <a:bodyPr/>
                        <a:lstStyle/>
                        <a:p>
                          <a:endParaRPr lang="es-CO"/>
                        </a:p>
                      </a:txBody>
                      <a:tcPr>
                        <a:blipFill>
                          <a:blip r:embed="rId4"/>
                          <a:stretch>
                            <a:fillRect l="-200000" t="-392857" r="-1223288" b="-396429"/>
                          </a:stretch>
                        </a:blipFill>
                      </a:tcPr>
                    </a:tc>
                    <a:tc>
                      <a:txBody>
                        <a:bodyPr/>
                        <a:lstStyle/>
                        <a:p>
                          <a:endParaRPr lang="es-CO"/>
                        </a:p>
                      </a:txBody>
                      <a:tcPr>
                        <a:blipFill>
                          <a:blip r:embed="rId4"/>
                          <a:stretch>
                            <a:fillRect l="-171094" t="-392857" r="-597656" b="-396429"/>
                          </a:stretch>
                        </a:blipFill>
                      </a:tcPr>
                    </a:tc>
                    <a:tc>
                      <a:txBody>
                        <a:bodyPr/>
                        <a:lstStyle/>
                        <a:p>
                          <a:endParaRPr lang="es-CO"/>
                        </a:p>
                      </a:txBody>
                      <a:tcPr>
                        <a:blipFill>
                          <a:blip r:embed="rId4"/>
                          <a:stretch>
                            <a:fillRect l="-145798" t="-392857" r="-221429" b="-396429"/>
                          </a:stretch>
                        </a:blipFill>
                      </a:tcPr>
                    </a:tc>
                    <a:tc>
                      <a:txBody>
                        <a:bodyPr/>
                        <a:lstStyle/>
                        <a:p>
                          <a:endParaRPr lang="es-CO"/>
                        </a:p>
                      </a:txBody>
                      <a:tcPr>
                        <a:blipFill>
                          <a:blip r:embed="rId4"/>
                          <a:stretch>
                            <a:fillRect l="-527027" t="-392857" r="-374775" b="-396429"/>
                          </a:stretch>
                        </a:blipFill>
                      </a:tcPr>
                    </a:tc>
                    <a:tc>
                      <a:txBody>
                        <a:bodyPr/>
                        <a:lstStyle/>
                        <a:p>
                          <a:endParaRPr lang="es-CO"/>
                        </a:p>
                      </a:txBody>
                      <a:tcPr>
                        <a:blipFill>
                          <a:blip r:embed="rId4"/>
                          <a:stretch>
                            <a:fillRect l="-627027" t="-392857" r="-274775" b="-396429"/>
                          </a:stretch>
                        </a:blipFill>
                      </a:tcPr>
                    </a:tc>
                    <a:tc>
                      <a:txBody>
                        <a:bodyPr/>
                        <a:lstStyle/>
                        <a:p>
                          <a:endParaRPr lang="es-CO"/>
                        </a:p>
                      </a:txBody>
                      <a:tcPr>
                        <a:blipFill>
                          <a:blip r:embed="rId4"/>
                          <a:stretch>
                            <a:fillRect l="-266337" t="-392857" r="-660" b="-396429"/>
                          </a:stretch>
                        </a:blipFill>
                      </a:tcPr>
                    </a:tc>
                    <a:extLst>
                      <a:ext uri="{0D108BD9-81ED-4DB2-BD59-A6C34878D82A}">
                        <a16:rowId xmlns:a16="http://schemas.microsoft.com/office/drawing/2014/main" val="2841338906"/>
                      </a:ext>
                    </a:extLst>
                  </a:tr>
                  <a:tr h="335280">
                    <a:tc>
                      <a:txBody>
                        <a:bodyPr/>
                        <a:lstStyle/>
                        <a:p>
                          <a:endParaRPr lang="es-CO"/>
                        </a:p>
                      </a:txBody>
                      <a:tcPr>
                        <a:blipFill>
                          <a:blip r:embed="rId4"/>
                          <a:stretch>
                            <a:fillRect l="-1370" t="-501818" r="-1421918" b="-303636"/>
                          </a:stretch>
                        </a:blipFill>
                      </a:tcPr>
                    </a:tc>
                    <a:tc>
                      <a:txBody>
                        <a:bodyPr/>
                        <a:lstStyle/>
                        <a:p>
                          <a:endParaRPr lang="es-CO"/>
                        </a:p>
                      </a:txBody>
                      <a:tcPr>
                        <a:blipFill>
                          <a:blip r:embed="rId4"/>
                          <a:stretch>
                            <a:fillRect l="-102778" t="-501818" r="-1341667" b="-303636"/>
                          </a:stretch>
                        </a:blipFill>
                      </a:tcPr>
                    </a:tc>
                    <a:tc>
                      <a:txBody>
                        <a:bodyPr/>
                        <a:lstStyle/>
                        <a:p>
                          <a:endParaRPr lang="es-CO"/>
                        </a:p>
                      </a:txBody>
                      <a:tcPr>
                        <a:blipFill>
                          <a:blip r:embed="rId4"/>
                          <a:stretch>
                            <a:fillRect l="-200000" t="-501818" r="-1223288" b="-303636"/>
                          </a:stretch>
                        </a:blipFill>
                      </a:tcPr>
                    </a:tc>
                    <a:tc>
                      <a:txBody>
                        <a:bodyPr/>
                        <a:lstStyle/>
                        <a:p>
                          <a:endParaRPr lang="es-CO"/>
                        </a:p>
                      </a:txBody>
                      <a:tcPr>
                        <a:blipFill>
                          <a:blip r:embed="rId4"/>
                          <a:stretch>
                            <a:fillRect l="-171094" t="-501818" r="-597656" b="-303636"/>
                          </a:stretch>
                        </a:blipFill>
                      </a:tcPr>
                    </a:tc>
                    <a:tc>
                      <a:txBody>
                        <a:bodyPr/>
                        <a:lstStyle/>
                        <a:p>
                          <a:endParaRPr lang="es-CO"/>
                        </a:p>
                      </a:txBody>
                      <a:tcPr>
                        <a:blipFill>
                          <a:blip r:embed="rId4"/>
                          <a:stretch>
                            <a:fillRect l="-145798" t="-501818" r="-221429" b="-303636"/>
                          </a:stretch>
                        </a:blipFill>
                      </a:tcPr>
                    </a:tc>
                    <a:tc>
                      <a:txBody>
                        <a:bodyPr/>
                        <a:lstStyle/>
                        <a:p>
                          <a:endParaRPr lang="es-CO"/>
                        </a:p>
                      </a:txBody>
                      <a:tcPr>
                        <a:blipFill>
                          <a:blip r:embed="rId4"/>
                          <a:stretch>
                            <a:fillRect l="-527027" t="-501818" r="-374775" b="-303636"/>
                          </a:stretch>
                        </a:blipFill>
                      </a:tcPr>
                    </a:tc>
                    <a:tc>
                      <a:txBody>
                        <a:bodyPr/>
                        <a:lstStyle/>
                        <a:p>
                          <a:endParaRPr lang="es-CO"/>
                        </a:p>
                      </a:txBody>
                      <a:tcPr>
                        <a:blipFill>
                          <a:blip r:embed="rId4"/>
                          <a:stretch>
                            <a:fillRect l="-627027" t="-501818" r="-274775" b="-303636"/>
                          </a:stretch>
                        </a:blipFill>
                      </a:tcPr>
                    </a:tc>
                    <a:tc>
                      <a:txBody>
                        <a:bodyPr/>
                        <a:lstStyle/>
                        <a:p>
                          <a:endParaRPr lang="es-CO"/>
                        </a:p>
                      </a:txBody>
                      <a:tcPr>
                        <a:blipFill>
                          <a:blip r:embed="rId4"/>
                          <a:stretch>
                            <a:fillRect l="-266337" t="-501818" r="-660" b="-303636"/>
                          </a:stretch>
                        </a:blipFill>
                      </a:tcPr>
                    </a:tc>
                    <a:extLst>
                      <a:ext uri="{0D108BD9-81ED-4DB2-BD59-A6C34878D82A}">
                        <a16:rowId xmlns:a16="http://schemas.microsoft.com/office/drawing/2014/main" val="1632356540"/>
                      </a:ext>
                    </a:extLst>
                  </a:tr>
                  <a:tr h="335280">
                    <a:tc>
                      <a:txBody>
                        <a:bodyPr/>
                        <a:lstStyle/>
                        <a:p>
                          <a:endParaRPr lang="es-CO"/>
                        </a:p>
                      </a:txBody>
                      <a:tcPr>
                        <a:blipFill>
                          <a:blip r:embed="rId4"/>
                          <a:stretch>
                            <a:fillRect l="-1370" t="-601818" r="-1421918" b="-203636"/>
                          </a:stretch>
                        </a:blipFill>
                      </a:tcPr>
                    </a:tc>
                    <a:tc>
                      <a:txBody>
                        <a:bodyPr/>
                        <a:lstStyle/>
                        <a:p>
                          <a:endParaRPr lang="es-CO"/>
                        </a:p>
                      </a:txBody>
                      <a:tcPr>
                        <a:blipFill>
                          <a:blip r:embed="rId4"/>
                          <a:stretch>
                            <a:fillRect l="-102778" t="-601818" r="-1341667" b="-203636"/>
                          </a:stretch>
                        </a:blipFill>
                      </a:tcPr>
                    </a:tc>
                    <a:tc>
                      <a:txBody>
                        <a:bodyPr/>
                        <a:lstStyle/>
                        <a:p>
                          <a:endParaRPr lang="es-CO"/>
                        </a:p>
                      </a:txBody>
                      <a:tcPr>
                        <a:blipFill>
                          <a:blip r:embed="rId4"/>
                          <a:stretch>
                            <a:fillRect l="-200000" t="-601818" r="-1223288" b="-203636"/>
                          </a:stretch>
                        </a:blipFill>
                      </a:tcPr>
                    </a:tc>
                    <a:tc>
                      <a:txBody>
                        <a:bodyPr/>
                        <a:lstStyle/>
                        <a:p>
                          <a:endParaRPr lang="es-CO"/>
                        </a:p>
                      </a:txBody>
                      <a:tcPr>
                        <a:blipFill>
                          <a:blip r:embed="rId4"/>
                          <a:stretch>
                            <a:fillRect l="-171094" t="-601818" r="-597656" b="-203636"/>
                          </a:stretch>
                        </a:blipFill>
                      </a:tcPr>
                    </a:tc>
                    <a:tc>
                      <a:txBody>
                        <a:bodyPr/>
                        <a:lstStyle/>
                        <a:p>
                          <a:endParaRPr lang="es-CO"/>
                        </a:p>
                      </a:txBody>
                      <a:tcPr>
                        <a:blipFill>
                          <a:blip r:embed="rId4"/>
                          <a:stretch>
                            <a:fillRect l="-145798" t="-601818" r="-221429" b="-203636"/>
                          </a:stretch>
                        </a:blipFill>
                      </a:tcPr>
                    </a:tc>
                    <a:tc>
                      <a:txBody>
                        <a:bodyPr/>
                        <a:lstStyle/>
                        <a:p>
                          <a:endParaRPr lang="es-CO"/>
                        </a:p>
                      </a:txBody>
                      <a:tcPr>
                        <a:blipFill>
                          <a:blip r:embed="rId4"/>
                          <a:stretch>
                            <a:fillRect l="-527027" t="-601818" r="-374775" b="-203636"/>
                          </a:stretch>
                        </a:blipFill>
                      </a:tcPr>
                    </a:tc>
                    <a:tc>
                      <a:txBody>
                        <a:bodyPr/>
                        <a:lstStyle/>
                        <a:p>
                          <a:endParaRPr lang="es-CO"/>
                        </a:p>
                      </a:txBody>
                      <a:tcPr>
                        <a:blipFill>
                          <a:blip r:embed="rId4"/>
                          <a:stretch>
                            <a:fillRect l="-627027" t="-601818" r="-274775" b="-203636"/>
                          </a:stretch>
                        </a:blipFill>
                      </a:tcPr>
                    </a:tc>
                    <a:tc>
                      <a:txBody>
                        <a:bodyPr/>
                        <a:lstStyle/>
                        <a:p>
                          <a:endParaRPr lang="es-CO"/>
                        </a:p>
                      </a:txBody>
                      <a:tcPr>
                        <a:blipFill>
                          <a:blip r:embed="rId4"/>
                          <a:stretch>
                            <a:fillRect l="-266337" t="-601818" r="-660" b="-203636"/>
                          </a:stretch>
                        </a:blipFill>
                      </a:tcPr>
                    </a:tc>
                    <a:extLst>
                      <a:ext uri="{0D108BD9-81ED-4DB2-BD59-A6C34878D82A}">
                        <a16:rowId xmlns:a16="http://schemas.microsoft.com/office/drawing/2014/main" val="2671630554"/>
                      </a:ext>
                    </a:extLst>
                  </a:tr>
                  <a:tr h="335280">
                    <a:tc>
                      <a:txBody>
                        <a:bodyPr/>
                        <a:lstStyle/>
                        <a:p>
                          <a:endParaRPr lang="es-CO"/>
                        </a:p>
                      </a:txBody>
                      <a:tcPr>
                        <a:blipFill>
                          <a:blip r:embed="rId4"/>
                          <a:stretch>
                            <a:fillRect l="-1370" t="-701818" r="-1421918" b="-103636"/>
                          </a:stretch>
                        </a:blipFill>
                      </a:tcPr>
                    </a:tc>
                    <a:tc>
                      <a:txBody>
                        <a:bodyPr/>
                        <a:lstStyle/>
                        <a:p>
                          <a:endParaRPr lang="es-CO"/>
                        </a:p>
                      </a:txBody>
                      <a:tcPr>
                        <a:blipFill>
                          <a:blip r:embed="rId4"/>
                          <a:stretch>
                            <a:fillRect l="-102778" t="-701818" r="-1341667" b="-103636"/>
                          </a:stretch>
                        </a:blipFill>
                      </a:tcPr>
                    </a:tc>
                    <a:tc>
                      <a:txBody>
                        <a:bodyPr/>
                        <a:lstStyle/>
                        <a:p>
                          <a:endParaRPr lang="es-CO"/>
                        </a:p>
                      </a:txBody>
                      <a:tcPr>
                        <a:blipFill>
                          <a:blip r:embed="rId4"/>
                          <a:stretch>
                            <a:fillRect l="-200000" t="-701818" r="-1223288" b="-103636"/>
                          </a:stretch>
                        </a:blipFill>
                      </a:tcPr>
                    </a:tc>
                    <a:tc>
                      <a:txBody>
                        <a:bodyPr/>
                        <a:lstStyle/>
                        <a:p>
                          <a:endParaRPr lang="es-CO"/>
                        </a:p>
                      </a:txBody>
                      <a:tcPr>
                        <a:blipFill>
                          <a:blip r:embed="rId4"/>
                          <a:stretch>
                            <a:fillRect l="-171094" t="-701818" r="-597656" b="-103636"/>
                          </a:stretch>
                        </a:blipFill>
                      </a:tcPr>
                    </a:tc>
                    <a:tc>
                      <a:txBody>
                        <a:bodyPr/>
                        <a:lstStyle/>
                        <a:p>
                          <a:endParaRPr lang="es-CO"/>
                        </a:p>
                      </a:txBody>
                      <a:tcPr>
                        <a:blipFill>
                          <a:blip r:embed="rId4"/>
                          <a:stretch>
                            <a:fillRect l="-145798" t="-701818" r="-221429" b="-103636"/>
                          </a:stretch>
                        </a:blipFill>
                      </a:tcPr>
                    </a:tc>
                    <a:tc>
                      <a:txBody>
                        <a:bodyPr/>
                        <a:lstStyle/>
                        <a:p>
                          <a:endParaRPr lang="es-CO"/>
                        </a:p>
                      </a:txBody>
                      <a:tcPr>
                        <a:blipFill>
                          <a:blip r:embed="rId4"/>
                          <a:stretch>
                            <a:fillRect l="-527027" t="-701818" r="-374775" b="-103636"/>
                          </a:stretch>
                        </a:blipFill>
                      </a:tcPr>
                    </a:tc>
                    <a:tc>
                      <a:txBody>
                        <a:bodyPr/>
                        <a:lstStyle/>
                        <a:p>
                          <a:endParaRPr lang="es-CO"/>
                        </a:p>
                      </a:txBody>
                      <a:tcPr>
                        <a:blipFill>
                          <a:blip r:embed="rId4"/>
                          <a:stretch>
                            <a:fillRect l="-627027" t="-701818" r="-274775" b="-103636"/>
                          </a:stretch>
                        </a:blipFill>
                      </a:tcPr>
                    </a:tc>
                    <a:tc>
                      <a:txBody>
                        <a:bodyPr/>
                        <a:lstStyle/>
                        <a:p>
                          <a:endParaRPr lang="es-CO"/>
                        </a:p>
                      </a:txBody>
                      <a:tcPr>
                        <a:blipFill>
                          <a:blip r:embed="rId4"/>
                          <a:stretch>
                            <a:fillRect l="-266337" t="-701818" r="-660" b="-103636"/>
                          </a:stretch>
                        </a:blipFill>
                      </a:tcPr>
                    </a:tc>
                    <a:extLst>
                      <a:ext uri="{0D108BD9-81ED-4DB2-BD59-A6C34878D82A}">
                        <a16:rowId xmlns:a16="http://schemas.microsoft.com/office/drawing/2014/main" val="117604333"/>
                      </a:ext>
                    </a:extLst>
                  </a:tr>
                  <a:tr h="335280">
                    <a:tc>
                      <a:txBody>
                        <a:bodyPr/>
                        <a:lstStyle/>
                        <a:p>
                          <a:endParaRPr lang="es-CO"/>
                        </a:p>
                      </a:txBody>
                      <a:tcPr>
                        <a:blipFill>
                          <a:blip r:embed="rId4"/>
                          <a:stretch>
                            <a:fillRect l="-1370" t="-801818" r="-1421918" b="-3636"/>
                          </a:stretch>
                        </a:blipFill>
                      </a:tcPr>
                    </a:tc>
                    <a:tc>
                      <a:txBody>
                        <a:bodyPr/>
                        <a:lstStyle/>
                        <a:p>
                          <a:endParaRPr lang="es-CO"/>
                        </a:p>
                      </a:txBody>
                      <a:tcPr>
                        <a:blipFill>
                          <a:blip r:embed="rId4"/>
                          <a:stretch>
                            <a:fillRect l="-102778" t="-801818" r="-1341667" b="-3636"/>
                          </a:stretch>
                        </a:blipFill>
                      </a:tcPr>
                    </a:tc>
                    <a:tc>
                      <a:txBody>
                        <a:bodyPr/>
                        <a:lstStyle/>
                        <a:p>
                          <a:endParaRPr lang="es-CO"/>
                        </a:p>
                      </a:txBody>
                      <a:tcPr>
                        <a:blipFill>
                          <a:blip r:embed="rId4"/>
                          <a:stretch>
                            <a:fillRect l="-200000" t="-801818" r="-1223288" b="-3636"/>
                          </a:stretch>
                        </a:blipFill>
                      </a:tcPr>
                    </a:tc>
                    <a:tc>
                      <a:txBody>
                        <a:bodyPr/>
                        <a:lstStyle/>
                        <a:p>
                          <a:endParaRPr lang="es-CO"/>
                        </a:p>
                      </a:txBody>
                      <a:tcPr>
                        <a:blipFill>
                          <a:blip r:embed="rId4"/>
                          <a:stretch>
                            <a:fillRect l="-171094" t="-801818" r="-597656" b="-3636"/>
                          </a:stretch>
                        </a:blipFill>
                      </a:tcPr>
                    </a:tc>
                    <a:tc>
                      <a:txBody>
                        <a:bodyPr/>
                        <a:lstStyle/>
                        <a:p>
                          <a:endParaRPr lang="es-CO"/>
                        </a:p>
                      </a:txBody>
                      <a:tcPr>
                        <a:blipFill>
                          <a:blip r:embed="rId4"/>
                          <a:stretch>
                            <a:fillRect l="-145798" t="-801818" r="-221429" b="-3636"/>
                          </a:stretch>
                        </a:blipFill>
                      </a:tcPr>
                    </a:tc>
                    <a:tc>
                      <a:txBody>
                        <a:bodyPr/>
                        <a:lstStyle/>
                        <a:p>
                          <a:endParaRPr lang="es-CO"/>
                        </a:p>
                      </a:txBody>
                      <a:tcPr>
                        <a:blipFill>
                          <a:blip r:embed="rId4"/>
                          <a:stretch>
                            <a:fillRect l="-527027" t="-801818" r="-374775" b="-3636"/>
                          </a:stretch>
                        </a:blipFill>
                      </a:tcPr>
                    </a:tc>
                    <a:tc>
                      <a:txBody>
                        <a:bodyPr/>
                        <a:lstStyle/>
                        <a:p>
                          <a:endParaRPr lang="es-CO"/>
                        </a:p>
                      </a:txBody>
                      <a:tcPr>
                        <a:blipFill>
                          <a:blip r:embed="rId4"/>
                          <a:stretch>
                            <a:fillRect l="-627027" t="-801818" r="-274775" b="-3636"/>
                          </a:stretch>
                        </a:blipFill>
                      </a:tcPr>
                    </a:tc>
                    <a:tc>
                      <a:txBody>
                        <a:bodyPr/>
                        <a:lstStyle/>
                        <a:p>
                          <a:endParaRPr lang="es-CO"/>
                        </a:p>
                      </a:txBody>
                      <a:tcPr>
                        <a:blipFill>
                          <a:blip r:embed="rId4"/>
                          <a:stretch>
                            <a:fillRect l="-266337" t="-801818" r="-660" b="-3636"/>
                          </a:stretch>
                        </a:blipFill>
                      </a:tcPr>
                    </a:tc>
                    <a:extLst>
                      <a:ext uri="{0D108BD9-81ED-4DB2-BD59-A6C34878D82A}">
                        <a16:rowId xmlns:a16="http://schemas.microsoft.com/office/drawing/2014/main" val="768255264"/>
                      </a:ext>
                    </a:extLst>
                  </a:tr>
                </a:tbl>
              </a:graphicData>
            </a:graphic>
          </p:graphicFrame>
        </mc:Fallback>
      </mc:AlternateContent>
    </p:spTree>
    <p:extLst>
      <p:ext uri="{BB962C8B-B14F-4D97-AF65-F5344CB8AC3E}">
        <p14:creationId xmlns:p14="http://schemas.microsoft.com/office/powerpoint/2010/main" val="3393214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Ejemplos</a:t>
            </a:r>
            <a:endParaRPr lang="es-MX" dirty="0">
              <a:solidFill>
                <a:schemeClr val="accent2"/>
              </a:solidFill>
              <a:latin typeface="+mn-lt"/>
            </a:endParaRPr>
          </a:p>
          <a:p>
            <a:pPr indent="0">
              <a:buFont typeface="Roboto"/>
              <a:buNone/>
            </a:pPr>
            <a:endParaRPr lang="es-MX" sz="2400" dirty="0">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916650" y="1311008"/>
                <a:ext cx="11000047" cy="545095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a:pPr>
                <a:r>
                  <a:rPr lang="es-MX" sz="2000" dirty="0">
                    <a:latin typeface="+mn-lt"/>
                    <a:ea typeface="Roboto" panose="02000000000000000000" pitchFamily="2" charset="0"/>
                  </a:rPr>
                  <a:t>Represente cada uno de los siguientes conjuntos por el método que usted elija.</a:t>
                </a:r>
              </a:p>
              <a:p>
                <a:pPr lvl="1"/>
                <a:r>
                  <a:rPr lang="es-MX" sz="2000" dirty="0">
                    <a:latin typeface="+mn-lt"/>
                    <a:ea typeface="Roboto" panose="02000000000000000000" pitchFamily="2" charset="0"/>
                  </a:rPr>
                  <a:t>Conjunto de todos los cuadrados que también son círculos.</a:t>
                </a:r>
              </a:p>
              <a:p>
                <a:pPr lvl="1"/>
                <a:r>
                  <a:rPr lang="es-MX" sz="2000" dirty="0">
                    <a:latin typeface="+mn-lt"/>
                    <a:ea typeface="Roboto" panose="02000000000000000000" pitchFamily="2" charset="0"/>
                  </a:rPr>
                  <a:t>Conjunto de todos los equipos de futbol de la liga profesional colombiana.</a:t>
                </a:r>
              </a:p>
              <a:p>
                <a:pPr marL="584200" indent="-457200">
                  <a:buFont typeface="+mj-lt"/>
                  <a:buAutoNum type="arabicPeriod"/>
                </a:pPr>
                <a:r>
                  <a:rPr lang="es-MX" sz="2000" dirty="0">
                    <a:latin typeface="+mn-lt"/>
                    <a:ea typeface="Roboto" panose="02000000000000000000" pitchFamily="2" charset="0"/>
                  </a:rPr>
                  <a:t>Dados los siguientes conjuntos, determine la cardinalidad</a:t>
                </a:r>
              </a:p>
              <a:p>
                <a:pPr lvl="1"/>
                <a14:m>
                  <m:oMath xmlns:m="http://schemas.openxmlformats.org/officeDocument/2006/math">
                    <m:r>
                      <a:rPr lang="es-MX" sz="2000" i="1">
                        <a:latin typeface="+mn-lt"/>
                        <a:ea typeface="Roboto" panose="02000000000000000000" pitchFamily="2" charset="0"/>
                      </a:rPr>
                      <m:t>𝑃</m:t>
                    </m:r>
                    <m:r>
                      <a:rPr lang="es-MX" sz="2000" i="1">
                        <a:latin typeface="+mn-lt"/>
                        <a:ea typeface="Roboto" panose="02000000000000000000" pitchFamily="2" charset="0"/>
                      </a:rPr>
                      <m:t>=</m:t>
                    </m:r>
                    <m:d>
                      <m:dPr>
                        <m:begChr m:val="{"/>
                        <m:endChr m:val="}"/>
                        <m:ctrlPr>
                          <a:rPr lang="es-MX" sz="2000" i="1">
                            <a:latin typeface="+mn-lt"/>
                            <a:ea typeface="Roboto" panose="02000000000000000000" pitchFamily="2" charset="0"/>
                          </a:rPr>
                        </m:ctrlPr>
                      </m:dPr>
                      <m:e>
                        <m:r>
                          <m:rPr>
                            <m:sty m:val="p"/>
                          </m:rPr>
                          <a:rPr lang="es-MX" sz="2000" i="0">
                            <a:latin typeface="+mn-lt"/>
                            <a:ea typeface="Roboto" panose="02000000000000000000" pitchFamily="2" charset="0"/>
                          </a:rPr>
                          <m:t>Snuzzle</m:t>
                        </m:r>
                        <m:r>
                          <a:rPr lang="es-MX" sz="2000" i="0">
                            <a:latin typeface="+mn-lt"/>
                            <a:ea typeface="Roboto" panose="02000000000000000000" pitchFamily="2" charset="0"/>
                          </a:rPr>
                          <m:t>, </m:t>
                        </m:r>
                        <m:r>
                          <m:rPr>
                            <m:sty m:val="p"/>
                          </m:rPr>
                          <a:rPr lang="es-MX" sz="2000" i="0">
                            <a:latin typeface="+mn-lt"/>
                            <a:ea typeface="Roboto" panose="02000000000000000000" pitchFamily="2" charset="0"/>
                          </a:rPr>
                          <m:t>Butterscotch</m:t>
                        </m:r>
                        <m:r>
                          <a:rPr lang="es-MX" sz="2000" i="0">
                            <a:latin typeface="+mn-lt"/>
                            <a:ea typeface="Roboto" panose="02000000000000000000" pitchFamily="2" charset="0"/>
                          </a:rPr>
                          <m:t>, </m:t>
                        </m:r>
                        <m:r>
                          <m:rPr>
                            <m:sty m:val="p"/>
                          </m:rPr>
                          <a:rPr lang="es-MX" sz="2000" i="0">
                            <a:latin typeface="+mn-lt"/>
                            <a:ea typeface="Roboto" panose="02000000000000000000" pitchFamily="2" charset="0"/>
                          </a:rPr>
                          <m:t>Blue</m:t>
                        </m:r>
                        <m:r>
                          <a:rPr lang="es-MX" sz="2000" i="0">
                            <a:latin typeface="+mn-lt"/>
                            <a:ea typeface="Roboto" panose="02000000000000000000" pitchFamily="2" charset="0"/>
                          </a:rPr>
                          <m:t> </m:t>
                        </m:r>
                        <m:r>
                          <m:rPr>
                            <m:sty m:val="p"/>
                          </m:rPr>
                          <a:rPr lang="es-MX" sz="2000" i="0">
                            <a:latin typeface="+mn-lt"/>
                            <a:ea typeface="Roboto" panose="02000000000000000000" pitchFamily="2" charset="0"/>
                          </a:rPr>
                          <m:t>Belle</m:t>
                        </m:r>
                        <m:r>
                          <a:rPr lang="es-MX" sz="2000" i="0">
                            <a:latin typeface="+mn-lt"/>
                            <a:ea typeface="Roboto" panose="02000000000000000000" pitchFamily="2" charset="0"/>
                          </a:rPr>
                          <m:t>, </m:t>
                        </m:r>
                        <m:r>
                          <m:rPr>
                            <m:sty m:val="p"/>
                          </m:rPr>
                          <a:rPr lang="es-MX" sz="2000" i="0">
                            <a:latin typeface="+mn-lt"/>
                            <a:ea typeface="Roboto" panose="02000000000000000000" pitchFamily="2" charset="0"/>
                          </a:rPr>
                          <m:t>Minty</m:t>
                        </m:r>
                        <m:r>
                          <a:rPr lang="es-MX" sz="2000" i="0">
                            <a:latin typeface="+mn-lt"/>
                            <a:ea typeface="Roboto" panose="02000000000000000000" pitchFamily="2" charset="0"/>
                          </a:rPr>
                          <m:t>, </m:t>
                        </m:r>
                        <m:r>
                          <m:rPr>
                            <m:sty m:val="p"/>
                          </m:rPr>
                          <a:rPr lang="es-MX" sz="2000" i="0">
                            <a:latin typeface="+mn-lt"/>
                            <a:ea typeface="Roboto" panose="02000000000000000000" pitchFamily="2" charset="0"/>
                          </a:rPr>
                          <m:t>Blossom</m:t>
                        </m:r>
                        <m:r>
                          <a:rPr lang="es-MX" sz="2000" i="0">
                            <a:latin typeface="+mn-lt"/>
                            <a:ea typeface="Roboto" panose="02000000000000000000" pitchFamily="2" charset="0"/>
                          </a:rPr>
                          <m:t>, </m:t>
                        </m:r>
                        <m:r>
                          <m:rPr>
                            <m:sty m:val="p"/>
                          </m:rPr>
                          <a:rPr lang="es-MX" sz="2000" i="0">
                            <a:latin typeface="+mn-lt"/>
                            <a:ea typeface="Roboto" panose="02000000000000000000" pitchFamily="2" charset="0"/>
                          </a:rPr>
                          <m:t>Cotton</m:t>
                        </m:r>
                        <m:r>
                          <a:rPr lang="es-MX" sz="2000" i="0">
                            <a:latin typeface="+mn-lt"/>
                            <a:ea typeface="Roboto" panose="02000000000000000000" pitchFamily="2" charset="0"/>
                          </a:rPr>
                          <m:t> </m:t>
                        </m:r>
                        <m:r>
                          <m:rPr>
                            <m:sty m:val="p"/>
                          </m:rPr>
                          <a:rPr lang="es-MX" sz="2000" i="0">
                            <a:latin typeface="+mn-lt"/>
                            <a:ea typeface="Roboto" panose="02000000000000000000" pitchFamily="2" charset="0"/>
                          </a:rPr>
                          <m:t>Candy</m:t>
                        </m:r>
                      </m:e>
                    </m:d>
                  </m:oMath>
                </a14:m>
                <a:endParaRPr lang="es-MX" sz="2000" dirty="0">
                  <a:latin typeface="+mn-lt"/>
                  <a:ea typeface="Roboto" panose="02000000000000000000" pitchFamily="2" charset="0"/>
                </a:endParaRPr>
              </a:p>
              <a:p>
                <a:pPr lvl="1"/>
                <a14:m>
                  <m:oMath xmlns:m="http://schemas.openxmlformats.org/officeDocument/2006/math">
                    <m:r>
                      <a:rPr lang="es-MX" sz="2000" i="1">
                        <a:latin typeface="+mn-lt"/>
                        <a:ea typeface="Roboto" panose="02000000000000000000" pitchFamily="2" charset="0"/>
                      </a:rPr>
                      <m:t>𝐹</m:t>
                    </m:r>
                    <m:r>
                      <a:rPr lang="es-MX" sz="2000" i="1">
                        <a:latin typeface="+mn-lt"/>
                        <a:ea typeface="Roboto" panose="02000000000000000000" pitchFamily="2" charset="0"/>
                      </a:rPr>
                      <m:t>=</m:t>
                    </m:r>
                    <m:d>
                      <m:dPr>
                        <m:begChr m:val="{"/>
                        <m:endChr m:val="}"/>
                        <m:ctrlPr>
                          <a:rPr lang="es-MX" sz="2000" b="0" i="1" smtClean="0">
                            <a:latin typeface="+mn-lt"/>
                            <a:ea typeface="Roboto" panose="02000000000000000000" pitchFamily="2" charset="0"/>
                          </a:rPr>
                        </m:ctrlPr>
                      </m:dPr>
                      <m:e>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1</m:t>
                            </m:r>
                          </m:num>
                          <m:den>
                            <m:r>
                              <a:rPr lang="es-MX" sz="2000" i="1">
                                <a:latin typeface="+mn-lt"/>
                                <a:ea typeface="Roboto" panose="02000000000000000000" pitchFamily="2" charset="0"/>
                              </a:rPr>
                              <m:t>9</m:t>
                            </m:r>
                          </m:den>
                        </m:f>
                        <m:r>
                          <a:rPr lang="es-MX" sz="2000" i="1">
                            <a:latin typeface="+mn-lt"/>
                            <a:ea typeface="Roboto" panose="02000000000000000000" pitchFamily="2" charset="0"/>
                          </a:rPr>
                          <m:t>,</m:t>
                        </m:r>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2</m:t>
                            </m:r>
                          </m:num>
                          <m:den>
                            <m:r>
                              <a:rPr lang="es-MX" sz="2000" i="1">
                                <a:latin typeface="+mn-lt"/>
                                <a:ea typeface="Roboto" panose="02000000000000000000" pitchFamily="2" charset="0"/>
                              </a:rPr>
                              <m:t>9</m:t>
                            </m:r>
                          </m:den>
                        </m:f>
                        <m:r>
                          <a:rPr lang="es-MX" sz="2000" i="1">
                            <a:latin typeface="+mn-lt"/>
                            <a:ea typeface="Roboto" panose="02000000000000000000" pitchFamily="2" charset="0"/>
                          </a:rPr>
                          <m:t>,</m:t>
                        </m:r>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3</m:t>
                            </m:r>
                          </m:num>
                          <m:den>
                            <m:r>
                              <a:rPr lang="es-MX" sz="2000" i="1">
                                <a:latin typeface="+mn-lt"/>
                                <a:ea typeface="Roboto" panose="02000000000000000000" pitchFamily="2" charset="0"/>
                              </a:rPr>
                              <m:t>9</m:t>
                            </m:r>
                          </m:den>
                        </m:f>
                        <m:r>
                          <a:rPr lang="es-MX" sz="2000" i="1">
                            <a:latin typeface="+mn-lt"/>
                            <a:ea typeface="Roboto" panose="02000000000000000000" pitchFamily="2" charset="0"/>
                          </a:rPr>
                          <m:t>,</m:t>
                        </m:r>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4</m:t>
                            </m:r>
                          </m:num>
                          <m:den>
                            <m:r>
                              <a:rPr lang="es-MX" sz="2000" i="1">
                                <a:latin typeface="+mn-lt"/>
                                <a:ea typeface="Roboto" panose="02000000000000000000" pitchFamily="2" charset="0"/>
                              </a:rPr>
                              <m:t>9</m:t>
                            </m:r>
                          </m:den>
                        </m:f>
                        <m:r>
                          <a:rPr lang="es-MX" sz="2000" i="1">
                            <a:latin typeface="+mn-lt"/>
                            <a:ea typeface="Roboto" panose="02000000000000000000" pitchFamily="2" charset="0"/>
                          </a:rPr>
                          <m:t>,</m:t>
                        </m:r>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5</m:t>
                            </m:r>
                          </m:num>
                          <m:den>
                            <m:r>
                              <a:rPr lang="es-MX" sz="2000" i="1">
                                <a:latin typeface="+mn-lt"/>
                                <a:ea typeface="Roboto" panose="02000000000000000000" pitchFamily="2" charset="0"/>
                              </a:rPr>
                              <m:t>9</m:t>
                            </m:r>
                          </m:den>
                        </m:f>
                        <m:r>
                          <a:rPr lang="es-MX" sz="2000" i="1">
                            <a:latin typeface="+mn-lt"/>
                            <a:ea typeface="Roboto" panose="02000000000000000000" pitchFamily="2" charset="0"/>
                          </a:rPr>
                          <m:t>,</m:t>
                        </m:r>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6</m:t>
                            </m:r>
                          </m:num>
                          <m:den>
                            <m:r>
                              <a:rPr lang="es-MX" sz="2000" i="1">
                                <a:latin typeface="+mn-lt"/>
                                <a:ea typeface="Roboto" panose="02000000000000000000" pitchFamily="2" charset="0"/>
                              </a:rPr>
                              <m:t>9</m:t>
                            </m:r>
                          </m:den>
                        </m:f>
                        <m:r>
                          <a:rPr lang="es-MX" sz="2000" i="1">
                            <a:latin typeface="+mn-lt"/>
                            <a:ea typeface="Roboto" panose="02000000000000000000" pitchFamily="2" charset="0"/>
                          </a:rPr>
                          <m:t>,</m:t>
                        </m:r>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7</m:t>
                            </m:r>
                          </m:num>
                          <m:den>
                            <m:r>
                              <a:rPr lang="es-MX" sz="2000" i="1">
                                <a:latin typeface="+mn-lt"/>
                                <a:ea typeface="Roboto" panose="02000000000000000000" pitchFamily="2" charset="0"/>
                              </a:rPr>
                              <m:t>9</m:t>
                            </m:r>
                          </m:den>
                        </m:f>
                        <m:r>
                          <a:rPr lang="es-MX" sz="2000" i="1">
                            <a:latin typeface="+mn-lt"/>
                            <a:ea typeface="Roboto" panose="02000000000000000000" pitchFamily="2" charset="0"/>
                          </a:rPr>
                          <m:t>,</m:t>
                        </m:r>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8</m:t>
                            </m:r>
                          </m:num>
                          <m:den>
                            <m:r>
                              <a:rPr lang="es-MX" sz="2000" i="1">
                                <a:latin typeface="+mn-lt"/>
                                <a:ea typeface="Roboto" panose="02000000000000000000" pitchFamily="2" charset="0"/>
                              </a:rPr>
                              <m:t>9</m:t>
                            </m:r>
                          </m:den>
                        </m:f>
                        <m:r>
                          <a:rPr lang="es-MX" sz="2000" i="1">
                            <a:latin typeface="+mn-lt"/>
                            <a:ea typeface="Roboto" panose="02000000000000000000" pitchFamily="2" charset="0"/>
                          </a:rPr>
                          <m:t>,</m:t>
                        </m:r>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9</m:t>
                            </m:r>
                          </m:num>
                          <m:den>
                            <m:r>
                              <a:rPr lang="es-MX" sz="2000" i="1">
                                <a:latin typeface="+mn-lt"/>
                                <a:ea typeface="Roboto" panose="02000000000000000000" pitchFamily="2" charset="0"/>
                              </a:rPr>
                              <m:t>9</m:t>
                            </m:r>
                          </m:den>
                        </m:f>
                      </m:e>
                    </m:d>
                  </m:oMath>
                </a14:m>
                <a:endParaRPr lang="es-MX" sz="2000" dirty="0">
                  <a:latin typeface="+mn-lt"/>
                  <a:ea typeface="Roboto" panose="02000000000000000000" pitchFamily="2" charset="0"/>
                </a:endParaRPr>
              </a:p>
              <a:p>
                <a:pPr lvl="1"/>
                <a14:m>
                  <m:oMath xmlns:m="http://schemas.openxmlformats.org/officeDocument/2006/math">
                    <m:r>
                      <a:rPr lang="es-MX" sz="2000" b="0" i="1" smtClean="0">
                        <a:latin typeface="+mn-lt"/>
                        <a:ea typeface="Roboto" panose="02000000000000000000" pitchFamily="2" charset="0"/>
                      </a:rPr>
                      <m:t>𝐶</m:t>
                    </m:r>
                    <m:r>
                      <a:rPr lang="es-MX" sz="2000" b="0" i="1" smtClean="0">
                        <a:latin typeface="+mn-lt"/>
                        <a:ea typeface="Roboto" panose="02000000000000000000" pitchFamily="2" charset="0"/>
                      </a:rPr>
                      <m:t>=</m:t>
                    </m:r>
                    <m:d>
                      <m:dPr>
                        <m:begChr m:val="{"/>
                        <m:endChr m:val="}"/>
                        <m:ctrlPr>
                          <a:rPr lang="es-MX" sz="2000" b="0" i="1" smtClean="0">
                            <a:latin typeface="+mn-lt"/>
                            <a:ea typeface="Roboto" panose="02000000000000000000" pitchFamily="2" charset="0"/>
                          </a:rPr>
                        </m:ctrlPr>
                      </m:dPr>
                      <m:e>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𝑛</m:t>
                            </m:r>
                          </m:e>
                          <m:sup>
                            <m:r>
                              <a:rPr lang="es-MX" sz="2000" b="0" i="1" smtClean="0">
                                <a:latin typeface="+mn-lt"/>
                                <a:ea typeface="Roboto" panose="02000000000000000000" pitchFamily="2" charset="0"/>
                              </a:rPr>
                              <m:t>3</m:t>
                            </m:r>
                          </m:sup>
                        </m:sSup>
                      </m:e>
                      <m:e>
                        <m:r>
                          <a:rPr lang="es-MX" sz="2000" b="0" i="1" smtClean="0">
                            <a:latin typeface="+mn-lt"/>
                            <a:ea typeface="Roboto" panose="02000000000000000000" pitchFamily="2" charset="0"/>
                          </a:rPr>
                          <m:t>𝑛</m:t>
                        </m:r>
                        <m:r>
                          <a:rPr lang="es-MX" sz="2000" b="0" i="1" smtClean="0">
                            <a:latin typeface="+mn-lt"/>
                            <a:ea typeface="Roboto" panose="02000000000000000000" pitchFamily="2" charset="0"/>
                          </a:rPr>
                          <m:t> </m:t>
                        </m:r>
                        <m:r>
                          <m:rPr>
                            <m:sty m:val="p"/>
                          </m:rPr>
                          <a:rPr lang="es-MX" sz="2000" b="0" i="0" smtClean="0">
                            <a:latin typeface="+mn-lt"/>
                            <a:ea typeface="Roboto" panose="02000000000000000000" pitchFamily="2" charset="0"/>
                          </a:rPr>
                          <m:t>es</m:t>
                        </m:r>
                        <m:r>
                          <a:rPr lang="es-MX" sz="2000" b="0" i="0" smtClean="0">
                            <a:latin typeface="+mn-lt"/>
                            <a:ea typeface="Roboto" panose="02000000000000000000" pitchFamily="2" charset="0"/>
                          </a:rPr>
                          <m:t> </m:t>
                        </m:r>
                        <m:r>
                          <m:rPr>
                            <m:sty m:val="p"/>
                          </m:rPr>
                          <a:rPr lang="es-MX" sz="2000" b="0" i="0" smtClean="0">
                            <a:latin typeface="+mn-lt"/>
                            <a:ea typeface="Roboto" panose="02000000000000000000" pitchFamily="2" charset="0"/>
                          </a:rPr>
                          <m:t>un</m:t>
                        </m:r>
                        <m:r>
                          <a:rPr lang="es-MX" sz="2000" b="0" i="0" smtClean="0">
                            <a:latin typeface="+mn-lt"/>
                            <a:ea typeface="Roboto" panose="02000000000000000000" pitchFamily="2" charset="0"/>
                          </a:rPr>
                          <m:t> </m:t>
                        </m:r>
                        <m:r>
                          <m:rPr>
                            <m:sty m:val="p"/>
                          </m:rPr>
                          <a:rPr lang="es-MX" sz="2000" b="0" i="0" smtClean="0">
                            <a:latin typeface="+mn-lt"/>
                            <a:ea typeface="Roboto" panose="02000000000000000000" pitchFamily="2" charset="0"/>
                          </a:rPr>
                          <m:t>miemtro</m:t>
                        </m:r>
                        <m:r>
                          <a:rPr lang="es-MX" sz="2000" b="0" i="0" smtClean="0">
                            <a:latin typeface="+mn-lt"/>
                            <a:ea typeface="Roboto" panose="02000000000000000000" pitchFamily="2" charset="0"/>
                          </a:rPr>
                          <m:t> </m:t>
                        </m:r>
                        <m:r>
                          <m:rPr>
                            <m:sty m:val="p"/>
                          </m:rPr>
                          <a:rPr lang="es-MX" sz="2000" b="0" i="0" smtClean="0">
                            <a:latin typeface="+mn-lt"/>
                            <a:ea typeface="Roboto" panose="02000000000000000000" pitchFamily="2" charset="0"/>
                          </a:rPr>
                          <m:t>de</m:t>
                        </m:r>
                        <m:r>
                          <a:rPr lang="es-MX" sz="2000" b="0" i="1" smtClean="0">
                            <a:latin typeface="+mn-lt"/>
                            <a:ea typeface="Roboto" panose="02000000000000000000" pitchFamily="2" charset="0"/>
                          </a:rPr>
                          <m:t> </m:t>
                        </m:r>
                        <m:r>
                          <a:rPr lang="es-MX" sz="2000" b="0" i="1" smtClean="0">
                            <a:latin typeface="+mn-lt"/>
                            <a:ea typeface="Cambria Math" panose="02040503050406030204" pitchFamily="18" charset="0"/>
                          </a:rPr>
                          <m:t>ℕ</m:t>
                        </m:r>
                      </m:e>
                    </m:d>
                  </m:oMath>
                </a14:m>
                <a:endParaRPr lang="es-MX" sz="1600" dirty="0">
                  <a:latin typeface="+mn-lt"/>
                  <a:ea typeface="Roboto" panose="02000000000000000000" pitchFamily="2" charset="0"/>
                </a:endParaRPr>
              </a:p>
              <a:p>
                <a:pPr marL="584200" indent="-457200">
                  <a:buFont typeface="+mj-lt"/>
                  <a:buAutoNum type="arabicPeriod"/>
                </a:pPr>
                <a:r>
                  <a:rPr lang="es-MX" sz="2000" dirty="0">
                    <a:latin typeface="+mn-lt"/>
                    <a:ea typeface="Roboto" panose="02000000000000000000" pitchFamily="2" charset="0"/>
                  </a:rPr>
                  <a:t>Para los siguientes conjuntos, obtenga le numero total de subconjuntos que se puede formar:</a:t>
                </a:r>
              </a:p>
              <a:p>
                <a:pPr lvl="1"/>
                <a14:m>
                  <m:oMath xmlns:m="http://schemas.openxmlformats.org/officeDocument/2006/math">
                    <m:r>
                      <a:rPr lang="es-MX" sz="2000" i="1">
                        <a:latin typeface="+mn-lt"/>
                        <a:ea typeface="Roboto" panose="02000000000000000000" pitchFamily="2" charset="0"/>
                      </a:rPr>
                      <m:t>𝐶</m:t>
                    </m:r>
                    <m:r>
                      <a:rPr lang="es-MX" sz="2000" i="1">
                        <a:latin typeface="+mn-lt"/>
                        <a:ea typeface="Roboto" panose="02000000000000000000" pitchFamily="2" charset="0"/>
                      </a:rPr>
                      <m:t>=</m:t>
                    </m:r>
                    <m:d>
                      <m:dPr>
                        <m:begChr m:val="{"/>
                        <m:endChr m:val="}"/>
                        <m:ctrlPr>
                          <a:rPr lang="es-MX" sz="2000" i="1">
                            <a:latin typeface="+mn-lt"/>
                            <a:ea typeface="Roboto" panose="02000000000000000000" pitchFamily="2" charset="0"/>
                          </a:rPr>
                        </m:ctrlPr>
                      </m:dPr>
                      <m:e>
                        <m:r>
                          <m:rPr>
                            <m:sty m:val="p"/>
                          </m:rPr>
                          <a:rPr lang="es-MX" sz="2000" i="0">
                            <a:latin typeface="+mn-lt"/>
                            <a:ea typeface="Roboto" panose="02000000000000000000" pitchFamily="2" charset="0"/>
                          </a:rPr>
                          <m:t>Adele</m:t>
                        </m:r>
                        <m:r>
                          <a:rPr lang="es-MX" sz="2000" i="0">
                            <a:latin typeface="+mn-lt"/>
                            <a:ea typeface="Roboto" panose="02000000000000000000" pitchFamily="2" charset="0"/>
                          </a:rPr>
                          <m:t>, </m:t>
                        </m:r>
                        <m:r>
                          <m:rPr>
                            <m:sty m:val="p"/>
                          </m:rPr>
                          <a:rPr lang="es-MX" sz="2000" i="0">
                            <a:latin typeface="+mn-lt"/>
                            <a:ea typeface="Roboto" panose="02000000000000000000" pitchFamily="2" charset="0"/>
                          </a:rPr>
                          <m:t>Beyonce</m:t>
                        </m:r>
                        <m:r>
                          <a:rPr lang="es-MX" sz="2000" i="0">
                            <a:latin typeface="+mn-lt"/>
                            <a:ea typeface="Roboto" panose="02000000000000000000" pitchFamily="2" charset="0"/>
                          </a:rPr>
                          <m:t>, </m:t>
                        </m:r>
                        <m:r>
                          <m:rPr>
                            <m:sty m:val="p"/>
                          </m:rPr>
                          <a:rPr lang="es-MX" sz="2000" i="0">
                            <a:latin typeface="+mn-lt"/>
                            <a:ea typeface="Roboto" panose="02000000000000000000" pitchFamily="2" charset="0"/>
                          </a:rPr>
                          <m:t>Cher</m:t>
                        </m:r>
                        <m:r>
                          <a:rPr lang="es-MX" sz="2000" i="0">
                            <a:latin typeface="+mn-lt"/>
                            <a:ea typeface="Roboto" panose="02000000000000000000" pitchFamily="2" charset="0"/>
                          </a:rPr>
                          <m:t>, </m:t>
                        </m:r>
                        <m:r>
                          <m:rPr>
                            <m:sty m:val="p"/>
                          </m:rPr>
                          <a:rPr lang="es-MX" sz="2000" i="0">
                            <a:latin typeface="+mn-lt"/>
                            <a:ea typeface="Roboto" panose="02000000000000000000" pitchFamily="2" charset="0"/>
                          </a:rPr>
                          <m:t>Madonna</m:t>
                        </m:r>
                        <m:r>
                          <a:rPr lang="es-MX" sz="2000" i="0">
                            <a:latin typeface="+mn-lt"/>
                            <a:ea typeface="Roboto" panose="02000000000000000000" pitchFamily="2" charset="0"/>
                          </a:rPr>
                          <m:t>, </m:t>
                        </m:r>
                        <m:r>
                          <m:rPr>
                            <m:sty m:val="p"/>
                          </m:rPr>
                          <a:rPr lang="es-MX" sz="2000" i="0">
                            <a:latin typeface="+mn-lt"/>
                            <a:ea typeface="Roboto" panose="02000000000000000000" pitchFamily="2" charset="0"/>
                          </a:rPr>
                          <m:t>Shakira</m:t>
                        </m:r>
                      </m:e>
                    </m:d>
                  </m:oMath>
                </a14:m>
                <a:endParaRPr lang="es-MX" sz="2000" dirty="0">
                  <a:latin typeface="+mn-lt"/>
                  <a:ea typeface="Roboto" panose="02000000000000000000" pitchFamily="2" charset="0"/>
                </a:endParaRPr>
              </a:p>
              <a:p>
                <a:pPr lvl="1"/>
                <a14:m>
                  <m:oMath xmlns:m="http://schemas.openxmlformats.org/officeDocument/2006/math">
                    <m:r>
                      <a:rPr lang="es-MX" sz="2000" b="0" i="1" smtClean="0">
                        <a:latin typeface="+mn-lt"/>
                        <a:ea typeface="Roboto" panose="02000000000000000000" pitchFamily="2" charset="0"/>
                      </a:rPr>
                      <m:t>𝐴</m:t>
                    </m:r>
                    <m:r>
                      <a:rPr lang="es-MX" sz="2000" i="1" smtClean="0">
                        <a:latin typeface="+mn-lt"/>
                        <a:ea typeface="Roboto" panose="02000000000000000000" pitchFamily="2" charset="0"/>
                      </a:rPr>
                      <m:t>=</m:t>
                    </m:r>
                    <m:d>
                      <m:dPr>
                        <m:begChr m:val="{"/>
                        <m:endChr m:val="}"/>
                        <m:ctrlPr>
                          <a:rPr lang="es-MX" sz="2000" i="1">
                            <a:latin typeface="+mn-lt"/>
                            <a:ea typeface="Roboto" panose="02000000000000000000" pitchFamily="2" charset="0"/>
                          </a:rPr>
                        </m:ctrlPr>
                      </m:dPr>
                      <m:e>
                        <m:r>
                          <a:rPr lang="es-MX" sz="2000" b="0" i="0" smtClean="0">
                            <a:latin typeface="+mn-lt"/>
                            <a:ea typeface="Roboto" panose="02000000000000000000" pitchFamily="2" charset="0"/>
                          </a:rPr>
                          <m:t>3</m:t>
                        </m:r>
                      </m:e>
                    </m:d>
                  </m:oMath>
                </a14:m>
                <a:endParaRPr lang="es-MX" sz="3200" dirty="0">
                  <a:latin typeface="+mn-lt"/>
                  <a:ea typeface="Roboto" panose="02000000000000000000" pitchFamily="2" charset="0"/>
                </a:endParaRPr>
              </a:p>
              <a:p>
                <a:pPr marL="641350" indent="-514350">
                  <a:buFont typeface="+mj-lt"/>
                  <a:buAutoNum type="arabicPeriod"/>
                </a:pPr>
                <a:r>
                  <a:rPr lang="es-MX" sz="2000" dirty="0">
                    <a:latin typeface="+mn-lt"/>
                    <a:ea typeface="Roboto" panose="02000000000000000000" pitchFamily="2" charset="0"/>
                  </a:rPr>
                  <a:t>Dibuje un diagrama de Venn que represente las siguientes relaciones:</a:t>
                </a:r>
              </a:p>
              <a:p>
                <a:pPr lvl="1"/>
                <a:r>
                  <a:rPr lang="es-MX" sz="2000" dirty="0">
                    <a:latin typeface="+mn-lt"/>
                    <a:ea typeface="Roboto" panose="02000000000000000000" pitchFamily="2" charset="0"/>
                  </a:rPr>
                  <a:t>Todas las bicicletas y todos los carros tienen ruedas, pero ninguna bicicleta es un carro.</a:t>
                </a:r>
              </a:p>
              <a:p>
                <a:pPr lvl="1"/>
                <a:r>
                  <a:rPr lang="es-MX" sz="2000" dirty="0">
                    <a:latin typeface="+mn-lt"/>
                    <a:ea typeface="Roboto" panose="02000000000000000000" pitchFamily="2" charset="0"/>
                  </a:rPr>
                  <a:t>Todas las mujeres son personas</a:t>
                </a: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916650" y="1311008"/>
                <a:ext cx="11000047" cy="5450954"/>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2943017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Ejemplos</a:t>
            </a:r>
            <a:endParaRPr lang="es-MX" dirty="0">
              <a:solidFill>
                <a:schemeClr val="accent2"/>
              </a:solidFill>
              <a:latin typeface="+mn-lt"/>
            </a:endParaRPr>
          </a:p>
          <a:p>
            <a:pPr indent="0">
              <a:buFont typeface="Roboto"/>
              <a:buNone/>
            </a:pPr>
            <a:endParaRPr lang="es-MX" sz="2400" dirty="0">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916650" y="1311008"/>
                <a:ext cx="11000047" cy="476692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startAt="5"/>
                </a:pPr>
                <a:r>
                  <a:rPr lang="es-MX" sz="2000" dirty="0">
                    <a:latin typeface="+mn-lt"/>
                    <a:ea typeface="Roboto" panose="02000000000000000000" pitchFamily="2" charset="0"/>
                  </a:rPr>
                  <a:t>Dibuje el diagrama de Venn donde se muestre claramente la relación entre los siguientes conjuntos.</a:t>
                </a:r>
              </a:p>
              <a:p>
                <a:pPr lvl="1"/>
                <a14:m>
                  <m:oMath xmlns:m="http://schemas.openxmlformats.org/officeDocument/2006/math">
                    <m:r>
                      <a:rPr lang="es-MX" sz="2000" b="0" i="1" smtClean="0">
                        <a:latin typeface="+mn-lt"/>
                        <a:ea typeface="Roboto" panose="02000000000000000000" pitchFamily="2" charset="0"/>
                      </a:rPr>
                      <m:t>𝑈</m:t>
                    </m:r>
                    <m:r>
                      <a:rPr lang="es-MX" sz="2000" i="1" smtClean="0">
                        <a:latin typeface="+mn-lt"/>
                        <a:ea typeface="Roboto" panose="02000000000000000000" pitchFamily="2" charset="0"/>
                      </a:rPr>
                      <m:t>=</m:t>
                    </m:r>
                    <m:d>
                      <m:dPr>
                        <m:begChr m:val="{"/>
                        <m:endChr m:val="}"/>
                        <m:ctrlPr>
                          <a:rPr lang="es-MX" sz="2000" b="0" i="1" smtClean="0">
                            <a:latin typeface="+mn-lt"/>
                            <a:ea typeface="Roboto" panose="02000000000000000000" pitchFamily="2" charset="0"/>
                          </a:rPr>
                        </m:ctrlPr>
                      </m:dPr>
                      <m:e>
                        <m:r>
                          <a:rPr lang="es-MX" sz="2000" i="1">
                            <a:latin typeface="+mn-lt"/>
                            <a:ea typeface="Roboto" panose="02000000000000000000" pitchFamily="2" charset="0"/>
                          </a:rPr>
                          <m:t>0,1,2,3,4,5,6,7,8,9</m:t>
                        </m:r>
                      </m:e>
                    </m:d>
                  </m:oMath>
                </a14:m>
                <a:endParaRPr lang="es-MX" sz="2000" i="1" dirty="0">
                  <a:latin typeface="+mn-lt"/>
                  <a:ea typeface="Roboto" panose="02000000000000000000" pitchFamily="2" charset="0"/>
                </a:endParaRPr>
              </a:p>
              <a:p>
                <a:pPr lvl="1"/>
                <a14:m>
                  <m:oMath xmlns:m="http://schemas.openxmlformats.org/officeDocument/2006/math">
                    <m:r>
                      <a:rPr lang="es-MX" sz="2000" b="0" i="1" smtClean="0">
                        <a:latin typeface="+mn-lt"/>
                        <a:ea typeface="Roboto" panose="02000000000000000000" pitchFamily="2" charset="0"/>
                      </a:rPr>
                      <m:t>𝐴</m:t>
                    </m:r>
                    <m:r>
                      <a:rPr lang="es-MX" sz="2000" i="1">
                        <a:latin typeface="+mn-lt"/>
                        <a:ea typeface="Roboto" panose="02000000000000000000" pitchFamily="2" charset="0"/>
                      </a:rPr>
                      <m:t>=</m:t>
                    </m:r>
                    <m:d>
                      <m:dPr>
                        <m:begChr m:val="{"/>
                        <m:endChr m:val="}"/>
                        <m:ctrlPr>
                          <a:rPr lang="es-MX" sz="2000" i="1">
                            <a:latin typeface="+mn-lt"/>
                            <a:ea typeface="Roboto" panose="02000000000000000000" pitchFamily="2" charset="0"/>
                          </a:rPr>
                        </m:ctrlPr>
                      </m:dPr>
                      <m:e>
                        <m:r>
                          <a:rPr lang="es-MX" sz="2000" i="1">
                            <a:latin typeface="+mn-lt"/>
                            <a:ea typeface="Roboto" panose="02000000000000000000" pitchFamily="2" charset="0"/>
                          </a:rPr>
                          <m:t>2,3,5,7</m:t>
                        </m:r>
                      </m:e>
                    </m:d>
                    <m:r>
                      <a:rPr lang="es-MX" sz="2000" i="1">
                        <a:latin typeface="+mn-lt"/>
                        <a:ea typeface="Roboto" panose="02000000000000000000" pitchFamily="2" charset="0"/>
                      </a:rPr>
                      <m:t> </m:t>
                    </m:r>
                  </m:oMath>
                </a14:m>
                <a:endParaRPr lang="es-MX" sz="2000" dirty="0">
                  <a:latin typeface="+mn-lt"/>
                  <a:ea typeface="Roboto" panose="02000000000000000000" pitchFamily="2" charset="0"/>
                </a:endParaRPr>
              </a:p>
              <a:p>
                <a:pPr lvl="1"/>
                <a14:m>
                  <m:oMath xmlns:m="http://schemas.openxmlformats.org/officeDocument/2006/math">
                    <m:r>
                      <a:rPr lang="es-MX" sz="2000" b="0" i="1" smtClean="0">
                        <a:latin typeface="+mn-lt"/>
                        <a:ea typeface="Roboto" panose="02000000000000000000" pitchFamily="2" charset="0"/>
                      </a:rPr>
                      <m:t>𝐴</m:t>
                    </m:r>
                    <m:r>
                      <a:rPr lang="es-MX" sz="2000" b="0" i="1" smtClean="0">
                        <a:latin typeface="+mn-lt"/>
                        <a:ea typeface="Roboto" panose="02000000000000000000" pitchFamily="2" charset="0"/>
                      </a:rPr>
                      <m:t>′=</m:t>
                    </m:r>
                    <m:d>
                      <m:dPr>
                        <m:begChr m:val="{"/>
                        <m:endChr m:val="}"/>
                        <m:ctrlPr>
                          <a:rPr lang="es-MX" sz="2000" i="1">
                            <a:latin typeface="+mn-lt"/>
                            <a:ea typeface="Roboto" panose="02000000000000000000" pitchFamily="2" charset="0"/>
                          </a:rPr>
                        </m:ctrlPr>
                      </m:dPr>
                      <m:e>
                        <m:r>
                          <a:rPr lang="es-MX" sz="2000" i="1">
                            <a:latin typeface="+mn-lt"/>
                            <a:ea typeface="Roboto" panose="02000000000000000000" pitchFamily="2" charset="0"/>
                          </a:rPr>
                          <m:t>0,1,4,6,8,9</m:t>
                        </m:r>
                      </m:e>
                    </m:d>
                    <m:r>
                      <a:rPr lang="es-MX" sz="2000" i="1">
                        <a:latin typeface="+mn-lt"/>
                        <a:ea typeface="Roboto" panose="02000000000000000000" pitchFamily="2" charset="0"/>
                      </a:rPr>
                      <m:t> </m:t>
                    </m:r>
                  </m:oMath>
                </a14:m>
                <a:endParaRPr lang="es-MX" sz="2000" dirty="0">
                  <a:latin typeface="+mn-lt"/>
                  <a:ea typeface="Roboto" panose="02000000000000000000" pitchFamily="2" charset="0"/>
                </a:endParaRPr>
              </a:p>
              <a:p>
                <a:pPr marL="584200" indent="-457200">
                  <a:buFont typeface="+mj-lt"/>
                  <a:buAutoNum type="arabicPeriod" startAt="6"/>
                </a:pPr>
                <a:r>
                  <a:rPr lang="es-MX" sz="2000" dirty="0">
                    <a:latin typeface="+mn-lt"/>
                    <a:ea typeface="Roboto" panose="02000000000000000000" pitchFamily="2" charset="0"/>
                  </a:rPr>
                  <a:t>Para los siguientes ejercicios, use el diagrama de Venn para determinar </a:t>
                </a:r>
                <a14:m>
                  <m:oMath xmlns:m="http://schemas.openxmlformats.org/officeDocument/2006/math">
                    <m:r>
                      <a:rPr lang="es-MX" sz="2000" b="0" i="1" smtClean="0">
                        <a:latin typeface="+mn-lt"/>
                        <a:ea typeface="Roboto" panose="02000000000000000000" pitchFamily="2" charset="0"/>
                      </a:rPr>
                      <m:t>𝐴</m:t>
                    </m:r>
                  </m:oMath>
                </a14:m>
                <a:r>
                  <a:rPr lang="es-MX" sz="2000" dirty="0">
                    <a:latin typeface="+mn-lt"/>
                    <a:ea typeface="Roboto" panose="02000000000000000000" pitchFamily="2" charset="0"/>
                  </a:rPr>
                  <a:t>, </a:t>
                </a:r>
                <a14:m>
                  <m:oMath xmlns:m="http://schemas.openxmlformats.org/officeDocument/2006/math">
                    <m:r>
                      <a:rPr lang="es-MX" sz="2000" i="1">
                        <a:latin typeface="+mn-lt"/>
                        <a:ea typeface="Roboto" panose="02000000000000000000" pitchFamily="2" charset="0"/>
                      </a:rPr>
                      <m:t>𝐴</m:t>
                    </m:r>
                    <m:r>
                      <a:rPr lang="es-MX" sz="2000" i="1">
                        <a:latin typeface="+mn-lt"/>
                        <a:ea typeface="Roboto" panose="02000000000000000000" pitchFamily="2" charset="0"/>
                      </a:rPr>
                      <m:t>′</m:t>
                    </m:r>
                  </m:oMath>
                </a14:m>
                <a:r>
                  <a:rPr lang="es-MX" sz="2000" dirty="0">
                    <a:latin typeface="+mn-lt"/>
                    <a:ea typeface="Roboto" panose="02000000000000000000" pitchFamily="2" charset="0"/>
                  </a:rPr>
                  <a:t> y </a:t>
                </a:r>
                <a14:m>
                  <m:oMath xmlns:m="http://schemas.openxmlformats.org/officeDocument/2006/math">
                    <m:r>
                      <a:rPr lang="es-MX" sz="2000" b="0" i="1" smtClean="0">
                        <a:latin typeface="+mn-lt"/>
                        <a:ea typeface="Roboto" panose="02000000000000000000" pitchFamily="2" charset="0"/>
                      </a:rPr>
                      <m:t>𝑈</m:t>
                    </m:r>
                  </m:oMath>
                </a14:m>
                <a:endParaRPr lang="es-MX" sz="2000" dirty="0">
                  <a:latin typeface="+mn-lt"/>
                  <a:ea typeface="Roboto" panose="02000000000000000000" pitchFamily="2" charset="0"/>
                </a:endParaRPr>
              </a:p>
              <a:p>
                <a:pPr marL="584200" indent="-457200">
                  <a:buFont typeface="+mj-lt"/>
                  <a:buAutoNum type="arabicPeriod" startAt="6"/>
                </a:pPr>
                <a:endParaRPr lang="es-MX" sz="2400" dirty="0">
                  <a:latin typeface="+mn-lt"/>
                  <a:ea typeface="Roboto" panose="02000000000000000000" pitchFamily="2" charset="0"/>
                </a:endParaRP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916650" y="1311008"/>
                <a:ext cx="11000047" cy="4766925"/>
              </a:xfrm>
              <a:prstGeom prst="rect">
                <a:avLst/>
              </a:prstGeom>
              <a:blipFill>
                <a:blip r:embed="rId3"/>
                <a:stretch>
                  <a:fillRect/>
                </a:stretch>
              </a:blipFill>
              <a:ln>
                <a:noFill/>
              </a:ln>
            </p:spPr>
            <p:txBody>
              <a:bodyPr/>
              <a:lstStyle/>
              <a:p>
                <a:r>
                  <a:rPr lang="es-CO">
                    <a:noFill/>
                  </a:rPr>
                  <a:t> </a:t>
                </a:r>
              </a:p>
            </p:txBody>
          </p:sp>
        </mc:Fallback>
      </mc:AlternateContent>
      <p:pic>
        <p:nvPicPr>
          <p:cNvPr id="1026" name="Picture 2" descr="A single-set Venn diagram is labeled 'A equals (2, 3, 4, 9).' Outside the Venn diagram, the union of the Venn diagram is marked 'U equals (0, 1, 2, 3, 4, 5, 6, 7, 8, 9).'">
            <a:extLst>
              <a:ext uri="{FF2B5EF4-FFF2-40B4-BE49-F238E27FC236}">
                <a16:creationId xmlns:a16="http://schemas.microsoft.com/office/drawing/2014/main" id="{AE5B8368-9425-4477-B41B-F2E118A10B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6854" y="3694470"/>
            <a:ext cx="3997265" cy="26321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single-set Venn diagram is labeled A equals (n, e, t). Outside the Venn diagram, the union of the Venn diagram is marked 'U equals (l, i, s, t, e, n).'">
            <a:extLst>
              <a:ext uri="{FF2B5EF4-FFF2-40B4-BE49-F238E27FC236}">
                <a16:creationId xmlns:a16="http://schemas.microsoft.com/office/drawing/2014/main" id="{362A0ED1-56F1-493F-8E23-A722B66F33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23913" y="3696068"/>
            <a:ext cx="3997265" cy="2642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53032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Ejemplos</a:t>
            </a:r>
            <a:endParaRPr lang="es-MX" dirty="0">
              <a:solidFill>
                <a:schemeClr val="accent2"/>
              </a:solidFill>
              <a:latin typeface="+mn-lt"/>
            </a:endParaRPr>
          </a:p>
          <a:p>
            <a:pPr indent="0">
              <a:buFont typeface="Roboto"/>
              <a:buNone/>
            </a:pPr>
            <a:endParaRPr lang="es-MX" sz="2400" dirty="0">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916650" y="1311008"/>
                <a:ext cx="11000047" cy="517828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startAt="7"/>
                </a:pPr>
                <a:r>
                  <a:rPr lang="es-MX" sz="2000" dirty="0">
                    <a:latin typeface="+mn-lt"/>
                    <a:ea typeface="Roboto" panose="02000000000000000000" pitchFamily="2" charset="0"/>
                  </a:rPr>
                  <a:t>Teniendo en cuenta el siguiente diagrama de Venn encuentre:</a:t>
                </a:r>
              </a:p>
              <a:p>
                <a:pPr lvl="1"/>
                <a14:m>
                  <m:oMath xmlns:m="http://schemas.openxmlformats.org/officeDocument/2006/math">
                    <m:r>
                      <a:rPr lang="es-MX" sz="2000" b="0" i="1" dirty="0" smtClean="0">
                        <a:latin typeface="+mn-lt"/>
                        <a:ea typeface="Roboto" panose="02000000000000000000" pitchFamily="2" charset="0"/>
                      </a:rPr>
                      <m:t>𝐴</m:t>
                    </m:r>
                    <m:r>
                      <a:rPr lang="es-MX" sz="2000" b="0" i="1" dirty="0" smtClean="0">
                        <a:latin typeface="+mn-lt"/>
                        <a:ea typeface="Cambria Math" panose="02040503050406030204" pitchFamily="18" charset="0"/>
                      </a:rPr>
                      <m:t>∩</m:t>
                    </m:r>
                    <m:r>
                      <a:rPr lang="es-MX" sz="2000" b="0" i="1" dirty="0" smtClean="0">
                        <a:latin typeface="+mn-lt"/>
                        <a:ea typeface="Cambria Math" panose="02040503050406030204" pitchFamily="18" charset="0"/>
                      </a:rPr>
                      <m:t>𝐵</m:t>
                    </m:r>
                  </m:oMath>
                </a14:m>
                <a:endParaRPr lang="es-MX" sz="2000" b="0" dirty="0">
                  <a:latin typeface="+mn-lt"/>
                  <a:ea typeface="Cambria Math" panose="02040503050406030204" pitchFamily="18" charset="0"/>
                </a:endParaRPr>
              </a:p>
              <a:p>
                <a:pPr lvl="1"/>
                <a14:m>
                  <m:oMath xmlns:m="http://schemas.openxmlformats.org/officeDocument/2006/math">
                    <m:r>
                      <a:rPr lang="es-MX" sz="2000" b="0" i="1" dirty="0" smtClean="0">
                        <a:latin typeface="+mn-lt"/>
                        <a:ea typeface="Roboto" panose="02000000000000000000" pitchFamily="2" charset="0"/>
                      </a:rPr>
                      <m:t>𝐴</m:t>
                    </m:r>
                    <m:r>
                      <a:rPr lang="es-MX" sz="2000" b="0" i="1" dirty="0" smtClean="0">
                        <a:latin typeface="+mn-lt"/>
                        <a:ea typeface="Cambria Math" panose="02040503050406030204" pitchFamily="18" charset="0"/>
                      </a:rPr>
                      <m:t>∪</m:t>
                    </m:r>
                    <m:r>
                      <a:rPr lang="es-MX" sz="2000" b="0" i="1" dirty="0" smtClean="0">
                        <a:latin typeface="+mn-lt"/>
                        <a:ea typeface="Cambria Math" panose="02040503050406030204" pitchFamily="18" charset="0"/>
                      </a:rPr>
                      <m:t>𝐵</m:t>
                    </m:r>
                  </m:oMath>
                </a14:m>
                <a:endParaRPr lang="es-MX" sz="2000" b="0" dirty="0">
                  <a:latin typeface="+mn-lt"/>
                  <a:ea typeface="Cambria Math" panose="02040503050406030204" pitchFamily="18" charset="0"/>
                </a:endParaRPr>
              </a:p>
              <a:p>
                <a:pPr lvl="1"/>
                <a14:m>
                  <m:oMath xmlns:m="http://schemas.openxmlformats.org/officeDocument/2006/math">
                    <m:r>
                      <a:rPr lang="es-MX" sz="2000" b="0" i="1" dirty="0" smtClean="0">
                        <a:latin typeface="+mn-lt"/>
                        <a:ea typeface="Roboto" panose="02000000000000000000" pitchFamily="2" charset="0"/>
                      </a:rPr>
                      <m:t>𝐴</m:t>
                    </m:r>
                    <m:r>
                      <a:rPr lang="es-MX" sz="2000" b="0" i="1" dirty="0" smtClean="0">
                        <a:latin typeface="+mn-lt"/>
                        <a:ea typeface="Cambria Math" panose="02040503050406030204" pitchFamily="18" charset="0"/>
                      </a:rPr>
                      <m:t>∪</m:t>
                    </m:r>
                    <m:r>
                      <a:rPr lang="es-MX" sz="2000" b="0" i="1" dirty="0" smtClean="0">
                        <a:latin typeface="+mn-lt"/>
                        <a:ea typeface="Cambria Math" panose="02040503050406030204" pitchFamily="18" charset="0"/>
                      </a:rPr>
                      <m:t>𝐵</m:t>
                    </m:r>
                    <m:r>
                      <a:rPr lang="es-MX" sz="2000" b="0" i="1" dirty="0" smtClean="0">
                        <a:latin typeface="+mn-lt"/>
                        <a:ea typeface="Cambria Math" panose="02040503050406030204" pitchFamily="18" charset="0"/>
                      </a:rPr>
                      <m:t>′</m:t>
                    </m:r>
                  </m:oMath>
                </a14:m>
                <a:endParaRPr lang="es-MX" sz="2000" b="0" dirty="0">
                  <a:latin typeface="+mn-lt"/>
                  <a:ea typeface="Cambria Math" panose="02040503050406030204" pitchFamily="18" charset="0"/>
                </a:endParaRPr>
              </a:p>
              <a:p>
                <a:pPr lvl="1"/>
                <a14:m>
                  <m:oMath xmlns:m="http://schemas.openxmlformats.org/officeDocument/2006/math">
                    <m:r>
                      <a:rPr lang="es-MX" sz="2000" b="0" i="1" dirty="0" smtClean="0">
                        <a:latin typeface="+mn-lt"/>
                        <a:ea typeface="Roboto" panose="02000000000000000000" pitchFamily="2" charset="0"/>
                      </a:rPr>
                      <m:t>𝑛</m:t>
                    </m:r>
                    <m:d>
                      <m:dPr>
                        <m:ctrlPr>
                          <a:rPr lang="es-MX" sz="2000" b="0" i="1" dirty="0" smtClean="0">
                            <a:latin typeface="+mn-lt"/>
                            <a:ea typeface="Roboto" panose="02000000000000000000" pitchFamily="2" charset="0"/>
                          </a:rPr>
                        </m:ctrlPr>
                      </m:dPr>
                      <m:e>
                        <m:r>
                          <a:rPr lang="es-MX" sz="2000" b="0" i="1" dirty="0" smtClean="0">
                            <a:latin typeface="+mn-lt"/>
                            <a:ea typeface="Roboto" panose="02000000000000000000" pitchFamily="2" charset="0"/>
                          </a:rPr>
                          <m:t>𝐴</m:t>
                        </m:r>
                        <m:r>
                          <a:rPr lang="es-MX" sz="2000" b="0" i="1" dirty="0" smtClean="0">
                            <a:latin typeface="+mn-lt"/>
                            <a:ea typeface="Cambria Math" panose="02040503050406030204" pitchFamily="18" charset="0"/>
                          </a:rPr>
                          <m:t>∪</m:t>
                        </m:r>
                        <m:sSup>
                          <m:sSupPr>
                            <m:ctrlPr>
                              <a:rPr lang="es-MX" sz="2000" b="0" i="1" dirty="0" smtClean="0">
                                <a:latin typeface="+mn-lt"/>
                                <a:ea typeface="Cambria Math" panose="02040503050406030204" pitchFamily="18" charset="0"/>
                              </a:rPr>
                            </m:ctrlPr>
                          </m:sSupPr>
                          <m:e>
                            <m:r>
                              <a:rPr lang="es-MX" sz="2000" b="0" i="1" dirty="0" smtClean="0">
                                <a:latin typeface="+mn-lt"/>
                                <a:ea typeface="Cambria Math" panose="02040503050406030204" pitchFamily="18" charset="0"/>
                              </a:rPr>
                              <m:t>𝐵</m:t>
                            </m:r>
                          </m:e>
                          <m:sup>
                            <m:r>
                              <a:rPr lang="es-MX" sz="2000" b="0" i="1" dirty="0" smtClean="0">
                                <a:latin typeface="+mn-lt"/>
                                <a:ea typeface="Cambria Math" panose="02040503050406030204" pitchFamily="18" charset="0"/>
                              </a:rPr>
                              <m:t>′</m:t>
                            </m:r>
                          </m:sup>
                        </m:sSup>
                      </m:e>
                    </m:d>
                  </m:oMath>
                </a14:m>
                <a:endParaRPr lang="es-MX" sz="2000" b="0" dirty="0">
                  <a:latin typeface="+mn-lt"/>
                  <a:ea typeface="Cambria Math" panose="02040503050406030204" pitchFamily="18" charset="0"/>
                </a:endParaRPr>
              </a:p>
              <a:p>
                <a:pPr lvl="1"/>
                <a14:m>
                  <m:oMath xmlns:m="http://schemas.openxmlformats.org/officeDocument/2006/math">
                    <m:r>
                      <a:rPr lang="es-MX" sz="2000" b="0" i="1" dirty="0" smtClean="0">
                        <a:latin typeface="+mn-lt"/>
                        <a:ea typeface="Roboto" panose="02000000000000000000" pitchFamily="2" charset="0"/>
                      </a:rPr>
                      <m:t>(</m:t>
                    </m:r>
                    <m:r>
                      <a:rPr lang="es-MX" sz="2000" b="0" i="1" dirty="0" smtClean="0">
                        <a:latin typeface="+mn-lt"/>
                        <a:ea typeface="Roboto" panose="02000000000000000000" pitchFamily="2" charset="0"/>
                      </a:rPr>
                      <m:t>𝐴</m:t>
                    </m:r>
                    <m:r>
                      <a:rPr lang="es-MX" sz="2000" b="0" i="1" dirty="0" smtClean="0">
                        <a:latin typeface="+mn-lt"/>
                        <a:ea typeface="Cambria Math" panose="02040503050406030204" pitchFamily="18" charset="0"/>
                      </a:rPr>
                      <m:t>∪</m:t>
                    </m:r>
                    <m:r>
                      <a:rPr lang="es-MX" sz="2000" b="0" i="1" dirty="0" smtClean="0">
                        <a:latin typeface="+mn-lt"/>
                        <a:ea typeface="Cambria Math" panose="02040503050406030204" pitchFamily="18" charset="0"/>
                      </a:rPr>
                      <m:t>𝐵</m:t>
                    </m:r>
                    <m:r>
                      <a:rPr lang="es-MX" sz="2000" b="0" i="1" dirty="0" smtClean="0">
                        <a:latin typeface="+mn-lt"/>
                        <a:ea typeface="Cambria Math" panose="02040503050406030204" pitchFamily="18" charset="0"/>
                      </a:rPr>
                      <m:t>)′</m:t>
                    </m:r>
                  </m:oMath>
                </a14:m>
                <a:endParaRPr lang="es-MX" sz="2000" b="0" dirty="0">
                  <a:latin typeface="+mn-lt"/>
                  <a:ea typeface="Cambria Math" panose="02040503050406030204" pitchFamily="18" charset="0"/>
                </a:endParaRPr>
              </a:p>
              <a:p>
                <a:pPr lvl="1"/>
                <a14:m>
                  <m:oMath xmlns:m="http://schemas.openxmlformats.org/officeDocument/2006/math">
                    <m:r>
                      <a:rPr lang="es-MX" sz="2000" b="0" i="1" dirty="0" smtClean="0">
                        <a:latin typeface="+mn-lt"/>
                        <a:ea typeface="Roboto" panose="02000000000000000000" pitchFamily="2" charset="0"/>
                      </a:rPr>
                      <m:t>(</m:t>
                    </m:r>
                    <m:r>
                      <a:rPr lang="es-MX" sz="2000" b="0" i="1" dirty="0" smtClean="0">
                        <a:latin typeface="+mn-lt"/>
                        <a:ea typeface="Roboto" panose="02000000000000000000" pitchFamily="2" charset="0"/>
                      </a:rPr>
                      <m:t>𝐴</m:t>
                    </m:r>
                    <m:r>
                      <a:rPr lang="es-MX" sz="2000" b="0" i="1" dirty="0" smtClean="0">
                        <a:latin typeface="+mn-lt"/>
                        <a:ea typeface="Cambria Math" panose="02040503050406030204" pitchFamily="18" charset="0"/>
                      </a:rPr>
                      <m:t>∩</m:t>
                    </m:r>
                    <m:r>
                      <a:rPr lang="es-MX" sz="2000" b="0" i="1" dirty="0" smtClean="0">
                        <a:latin typeface="+mn-lt"/>
                        <a:ea typeface="Cambria Math" panose="02040503050406030204" pitchFamily="18" charset="0"/>
                      </a:rPr>
                      <m:t>𝐵</m:t>
                    </m:r>
                    <m:r>
                      <a:rPr lang="es-MX" sz="2000" b="0" i="1" dirty="0" smtClean="0">
                        <a:latin typeface="+mn-lt"/>
                        <a:ea typeface="Cambria Math" panose="02040503050406030204" pitchFamily="18" charset="0"/>
                      </a:rPr>
                      <m:t>)′</m:t>
                    </m:r>
                  </m:oMath>
                </a14:m>
                <a:endParaRPr lang="es-MX" sz="2000" b="0" dirty="0">
                  <a:latin typeface="+mn-lt"/>
                  <a:ea typeface="Cambria Math" panose="02040503050406030204" pitchFamily="18" charset="0"/>
                </a:endParaRPr>
              </a:p>
              <a:p>
                <a:pPr lvl="1"/>
                <a14:m>
                  <m:oMath xmlns:m="http://schemas.openxmlformats.org/officeDocument/2006/math">
                    <m:d>
                      <m:dPr>
                        <m:begChr m:val="|"/>
                        <m:endChr m:val="|"/>
                        <m:ctrlPr>
                          <a:rPr lang="es-MX" sz="2000" b="0" i="1" dirty="0" smtClean="0">
                            <a:latin typeface="+mn-lt"/>
                            <a:ea typeface="Roboto" panose="02000000000000000000" pitchFamily="2" charset="0"/>
                          </a:rPr>
                        </m:ctrlPr>
                      </m:dPr>
                      <m:e>
                        <m:r>
                          <a:rPr lang="es-MX" sz="2000" i="1" dirty="0">
                            <a:latin typeface="+mn-lt"/>
                            <a:ea typeface="Roboto" panose="02000000000000000000" pitchFamily="2" charset="0"/>
                          </a:rPr>
                          <m:t>(</m:t>
                        </m:r>
                        <m:r>
                          <a:rPr lang="es-MX" sz="2000" i="1" dirty="0">
                            <a:latin typeface="+mn-lt"/>
                            <a:ea typeface="Roboto" panose="02000000000000000000" pitchFamily="2" charset="0"/>
                          </a:rPr>
                          <m:t>𝐴</m:t>
                        </m:r>
                        <m:r>
                          <a:rPr lang="es-MX" sz="2000" i="1" dirty="0">
                            <a:latin typeface="+mn-lt"/>
                            <a:ea typeface="Cambria Math" panose="02040503050406030204" pitchFamily="18" charset="0"/>
                          </a:rPr>
                          <m:t>′∩</m:t>
                        </m:r>
                        <m:r>
                          <a:rPr lang="es-MX" sz="2000" i="1" dirty="0">
                            <a:latin typeface="+mn-lt"/>
                            <a:ea typeface="Cambria Math" panose="02040503050406030204" pitchFamily="18" charset="0"/>
                          </a:rPr>
                          <m:t>𝐵</m:t>
                        </m:r>
                        <m:r>
                          <a:rPr lang="es-MX" sz="2000" i="1" dirty="0">
                            <a:latin typeface="+mn-lt"/>
                            <a:ea typeface="Cambria Math" panose="02040503050406030204" pitchFamily="18" charset="0"/>
                          </a:rPr>
                          <m:t>)′</m:t>
                        </m:r>
                        <m:r>
                          <m:rPr>
                            <m:nor/>
                          </m:rPr>
                          <a:rPr lang="es-MX" sz="2000" dirty="0">
                            <a:latin typeface="+mn-lt"/>
                            <a:ea typeface="Cambria Math" panose="02040503050406030204" pitchFamily="18" charset="0"/>
                          </a:rPr>
                          <m:t> </m:t>
                        </m:r>
                      </m:e>
                    </m:d>
                  </m:oMath>
                </a14:m>
                <a:endParaRPr lang="es-MX" sz="2000" b="0" i="1" dirty="0">
                  <a:latin typeface="+mn-lt"/>
                  <a:ea typeface="Roboto" panose="02000000000000000000" pitchFamily="2" charset="0"/>
                </a:endParaRPr>
              </a:p>
              <a:p>
                <a:pPr lvl="1"/>
                <a14:m>
                  <m:oMath xmlns:m="http://schemas.openxmlformats.org/officeDocument/2006/math">
                    <m:r>
                      <a:rPr lang="es-MX" sz="2000" i="1" dirty="0" smtClean="0">
                        <a:latin typeface="+mn-lt"/>
                        <a:ea typeface="Roboto" panose="02000000000000000000" pitchFamily="2" charset="0"/>
                      </a:rPr>
                      <m:t>(</m:t>
                    </m:r>
                    <m:r>
                      <a:rPr lang="es-MX" sz="2000" i="1" dirty="0" smtClean="0">
                        <a:latin typeface="+mn-lt"/>
                        <a:ea typeface="Roboto" panose="02000000000000000000" pitchFamily="2" charset="0"/>
                      </a:rPr>
                      <m:t>𝐴</m:t>
                    </m:r>
                    <m:r>
                      <a:rPr lang="es-MX" sz="2000" i="1" dirty="0">
                        <a:latin typeface="+mn-lt"/>
                        <a:ea typeface="Cambria Math" panose="02040503050406030204" pitchFamily="18" charset="0"/>
                      </a:rPr>
                      <m:t>′∪</m:t>
                    </m:r>
                    <m:r>
                      <a:rPr lang="es-MX" sz="2000" b="0" i="1" dirty="0" smtClean="0">
                        <a:latin typeface="+mn-lt"/>
                        <a:ea typeface="Cambria Math" panose="02040503050406030204" pitchFamily="18" charset="0"/>
                      </a:rPr>
                      <m:t>𝐵</m:t>
                    </m:r>
                    <m:r>
                      <a:rPr lang="es-MX" sz="2000" b="0" i="1" dirty="0" smtClean="0">
                        <a:latin typeface="+mn-lt"/>
                        <a:ea typeface="Cambria Math" panose="02040503050406030204" pitchFamily="18" charset="0"/>
                      </a:rPr>
                      <m:t>′)′</m:t>
                    </m:r>
                  </m:oMath>
                </a14:m>
                <a:endParaRPr lang="es-MX" sz="2000" b="0" dirty="0">
                  <a:latin typeface="+mn-lt"/>
                  <a:ea typeface="Cambria Math" panose="02040503050406030204" pitchFamily="18" charset="0"/>
                </a:endParaRPr>
              </a:p>
              <a:p>
                <a:pPr lvl="1"/>
                <a:endParaRPr lang="es-MX" sz="2000" b="0" dirty="0">
                  <a:latin typeface="+mn-lt"/>
                  <a:ea typeface="Cambria Math" panose="02040503050406030204" pitchFamily="18" charset="0"/>
                </a:endParaRPr>
              </a:p>
              <a:p>
                <a:pPr lvl="1"/>
                <a:endParaRPr lang="es-MX" sz="2000" b="0" dirty="0">
                  <a:latin typeface="+mn-lt"/>
                  <a:ea typeface="Cambria Math" panose="02040503050406030204" pitchFamily="18" charset="0"/>
                </a:endParaRPr>
              </a:p>
              <a:p>
                <a:pPr lvl="1"/>
                <a:endParaRPr lang="es-MX" sz="2000" b="0" dirty="0">
                  <a:latin typeface="+mn-lt"/>
                  <a:ea typeface="Cambria Math" panose="02040503050406030204" pitchFamily="18" charset="0"/>
                </a:endParaRPr>
              </a:p>
              <a:p>
                <a:pPr lvl="1"/>
                <a:endParaRPr lang="es-MX" sz="2000" dirty="0">
                  <a:latin typeface="+mn-lt"/>
                  <a:ea typeface="Roboto" panose="02000000000000000000" pitchFamily="2" charset="0"/>
                </a:endParaRPr>
              </a:p>
              <a:p>
                <a:pPr lvl="1"/>
                <a:endParaRPr lang="es-MX" sz="2400" dirty="0">
                  <a:latin typeface="+mn-lt"/>
                  <a:ea typeface="Roboto" panose="02000000000000000000" pitchFamily="2" charset="0"/>
                </a:endParaRP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916650" y="1311008"/>
                <a:ext cx="11000047" cy="5178282"/>
              </a:xfrm>
              <a:prstGeom prst="rect">
                <a:avLst/>
              </a:prstGeom>
              <a:blipFill>
                <a:blip r:embed="rId3"/>
                <a:stretch>
                  <a:fillRect/>
                </a:stretch>
              </a:blipFill>
              <a:ln>
                <a:noFill/>
              </a:ln>
            </p:spPr>
            <p:txBody>
              <a:bodyPr/>
              <a:lstStyle/>
              <a:p>
                <a:r>
                  <a:rPr lang="es-CO">
                    <a:noFill/>
                  </a:rPr>
                  <a:t> </a:t>
                </a:r>
              </a:p>
            </p:txBody>
          </p:sp>
        </mc:Fallback>
      </mc:AlternateContent>
      <p:pic>
        <p:nvPicPr>
          <p:cNvPr id="2052" name="Picture 4" descr="A two-set Venn diagram intersecting one another is given. The first set is labeled A while the second set is labeled B. Set A shows 1, 9. Set B shows 2. The intersection of the sets shows 3, 5, 7. Outside the sets, 0, 4, 6 are given. Outside the Venn diagram, it is marked 'U equals (0, 1, 2, 3, 4, 5, 6, 7, 8, 9).'">
            <a:extLst>
              <a:ext uri="{FF2B5EF4-FFF2-40B4-BE49-F238E27FC236}">
                <a16:creationId xmlns:a16="http://schemas.microsoft.com/office/drawing/2014/main" id="{3C66A236-0A76-4BDE-8AAC-2E0AADF0D6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231012"/>
            <a:ext cx="4657725" cy="3105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9704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Ejemplos</a:t>
            </a:r>
            <a:endParaRPr lang="es-MX" dirty="0">
              <a:solidFill>
                <a:schemeClr val="accent2"/>
              </a:solidFill>
              <a:latin typeface="+mn-lt"/>
            </a:endParaRPr>
          </a:p>
          <a:p>
            <a:pPr indent="0">
              <a:buFont typeface="Roboto"/>
              <a:buNone/>
            </a:pPr>
            <a:endParaRPr lang="es-MX" sz="2400" dirty="0">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916650" y="1311008"/>
                <a:ext cx="11000047" cy="517828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startAt="8"/>
                </a:pPr>
                <a:r>
                  <a:rPr lang="es-MX" sz="2000" dirty="0">
                    <a:latin typeface="+mn-lt"/>
                    <a:ea typeface="Roboto" panose="02000000000000000000" pitchFamily="2" charset="0"/>
                  </a:rPr>
                  <a:t>El siguiente diagrama de Venn esta dibujado de acuerdo a la cardinalidad de cada uno de los conjuntos. Teniendo en cuenta esta información, y sustentando mediante la aplicación de las identidades básicas de cardinalidad determine a partir de este:</a:t>
                </a:r>
              </a:p>
              <a:p>
                <a:pPr lvl="1"/>
                <a14:m>
                  <m:oMath xmlns:m="http://schemas.openxmlformats.org/officeDocument/2006/math">
                    <m:d>
                      <m:dPr>
                        <m:begChr m:val="|"/>
                        <m:endChr m:val="|"/>
                        <m:ctrlPr>
                          <a:rPr lang="es-MX" sz="2000" b="0" i="1" dirty="0" smtClean="0">
                            <a:latin typeface="+mn-lt"/>
                            <a:ea typeface="Roboto" panose="02000000000000000000" pitchFamily="2" charset="0"/>
                          </a:rPr>
                        </m:ctrlPr>
                      </m:dPr>
                      <m:e>
                        <m:r>
                          <a:rPr lang="es-MX" sz="2000" b="0" i="1" dirty="0" smtClean="0">
                            <a:latin typeface="+mn-lt"/>
                            <a:ea typeface="Roboto" panose="02000000000000000000" pitchFamily="2" charset="0"/>
                          </a:rPr>
                          <m:t>𝐴</m:t>
                        </m:r>
                      </m:e>
                    </m:d>
                  </m:oMath>
                </a14:m>
                <a:endParaRPr lang="es-MX" sz="2000" b="0" dirty="0">
                  <a:latin typeface="+mn-lt"/>
                  <a:ea typeface="Cambria Math" panose="02040503050406030204" pitchFamily="18" charset="0"/>
                </a:endParaRPr>
              </a:p>
              <a:p>
                <a:pPr lvl="1"/>
                <a14:m>
                  <m:oMath xmlns:m="http://schemas.openxmlformats.org/officeDocument/2006/math">
                    <m:d>
                      <m:dPr>
                        <m:begChr m:val="|"/>
                        <m:endChr m:val="|"/>
                        <m:ctrlPr>
                          <a:rPr lang="es-MX" sz="2000" b="0" i="1" dirty="0" smtClean="0">
                            <a:latin typeface="+mn-lt"/>
                            <a:ea typeface="Roboto" panose="02000000000000000000" pitchFamily="2" charset="0"/>
                          </a:rPr>
                        </m:ctrlPr>
                      </m:dPr>
                      <m:e>
                        <m:r>
                          <a:rPr lang="es-MX" sz="2000" b="0" i="1" dirty="0" smtClean="0">
                            <a:latin typeface="+mn-lt"/>
                            <a:ea typeface="Roboto" panose="02000000000000000000" pitchFamily="2" charset="0"/>
                          </a:rPr>
                          <m:t>𝐵</m:t>
                        </m:r>
                      </m:e>
                    </m:d>
                  </m:oMath>
                </a14:m>
                <a:endParaRPr lang="es-MX" sz="2000" b="0" i="1" dirty="0">
                  <a:latin typeface="+mn-lt"/>
                  <a:ea typeface="Roboto" panose="02000000000000000000" pitchFamily="2" charset="0"/>
                </a:endParaRPr>
              </a:p>
              <a:p>
                <a:pPr lvl="1"/>
                <a14:m>
                  <m:oMath xmlns:m="http://schemas.openxmlformats.org/officeDocument/2006/math">
                    <m:d>
                      <m:dPr>
                        <m:begChr m:val="|"/>
                        <m:endChr m:val="|"/>
                        <m:ctrlPr>
                          <a:rPr lang="es-MX" sz="2000" i="1" dirty="0">
                            <a:latin typeface="+mn-lt"/>
                            <a:ea typeface="Roboto" panose="02000000000000000000" pitchFamily="2" charset="0"/>
                          </a:rPr>
                        </m:ctrlPr>
                      </m:dPr>
                      <m:e>
                        <m:r>
                          <a:rPr lang="es-MX" sz="2000" b="0" i="1" dirty="0" smtClean="0">
                            <a:latin typeface="+mn-lt"/>
                            <a:ea typeface="Roboto" panose="02000000000000000000" pitchFamily="2" charset="0"/>
                          </a:rPr>
                          <m:t>𝐴</m:t>
                        </m:r>
                        <m:r>
                          <a:rPr lang="es-MX" sz="2000" b="0" i="1" dirty="0" smtClean="0">
                            <a:latin typeface="+mn-lt"/>
                            <a:ea typeface="Cambria Math" panose="02040503050406030204" pitchFamily="18" charset="0"/>
                          </a:rPr>
                          <m:t>⋅</m:t>
                        </m:r>
                        <m:r>
                          <a:rPr lang="es-MX" sz="2000" i="1" dirty="0">
                            <a:latin typeface="+mn-lt"/>
                            <a:ea typeface="Roboto" panose="02000000000000000000" pitchFamily="2" charset="0"/>
                          </a:rPr>
                          <m:t>𝐵</m:t>
                        </m:r>
                      </m:e>
                    </m:d>
                  </m:oMath>
                </a14:m>
                <a:endParaRPr lang="es-MX" sz="2000" i="1" dirty="0">
                  <a:latin typeface="+mn-lt"/>
                  <a:ea typeface="Roboto" panose="02000000000000000000" pitchFamily="2" charset="0"/>
                </a:endParaRPr>
              </a:p>
              <a:p>
                <a:pPr lvl="1"/>
                <a14:m>
                  <m:oMath xmlns:m="http://schemas.openxmlformats.org/officeDocument/2006/math">
                    <m:d>
                      <m:dPr>
                        <m:begChr m:val="|"/>
                        <m:endChr m:val="|"/>
                        <m:ctrlPr>
                          <a:rPr lang="es-MX" sz="2000" i="1" dirty="0">
                            <a:latin typeface="+mn-lt"/>
                            <a:ea typeface="Roboto" panose="02000000000000000000" pitchFamily="2" charset="0"/>
                          </a:rPr>
                        </m:ctrlPr>
                      </m:dPr>
                      <m:e>
                        <m:r>
                          <a:rPr lang="es-MX" sz="2000" i="1" dirty="0">
                            <a:latin typeface="+mn-lt"/>
                            <a:ea typeface="Roboto" panose="02000000000000000000" pitchFamily="2" charset="0"/>
                          </a:rPr>
                          <m:t>𝐴</m:t>
                        </m:r>
                        <m:r>
                          <a:rPr lang="es-MX" sz="2000" b="0" i="1" dirty="0" smtClean="0">
                            <a:latin typeface="+mn-lt"/>
                            <a:ea typeface="Cambria Math" panose="02040503050406030204" pitchFamily="18" charset="0"/>
                          </a:rPr>
                          <m:t>+</m:t>
                        </m:r>
                        <m:r>
                          <a:rPr lang="es-MX" sz="2000" i="1" dirty="0">
                            <a:latin typeface="+mn-lt"/>
                            <a:ea typeface="Roboto" panose="02000000000000000000" pitchFamily="2" charset="0"/>
                          </a:rPr>
                          <m:t>𝐵</m:t>
                        </m:r>
                      </m:e>
                    </m:d>
                  </m:oMath>
                </a14:m>
                <a:endParaRPr lang="es-MX" sz="2000" i="1" dirty="0">
                  <a:latin typeface="+mn-lt"/>
                  <a:ea typeface="Roboto" panose="02000000000000000000" pitchFamily="2" charset="0"/>
                </a:endParaRPr>
              </a:p>
              <a:p>
                <a:pPr lvl="1"/>
                <a14:m>
                  <m:oMath xmlns:m="http://schemas.openxmlformats.org/officeDocument/2006/math">
                    <m:d>
                      <m:dPr>
                        <m:begChr m:val="|"/>
                        <m:endChr m:val="|"/>
                        <m:ctrlPr>
                          <a:rPr lang="es-MX" sz="2000" i="1" dirty="0">
                            <a:latin typeface="+mn-lt"/>
                            <a:ea typeface="Roboto" panose="02000000000000000000" pitchFamily="2" charset="0"/>
                          </a:rPr>
                        </m:ctrlPr>
                      </m:dPr>
                      <m:e>
                        <m:r>
                          <a:rPr lang="es-MX" sz="2000" b="0" i="1" dirty="0" smtClean="0">
                            <a:latin typeface="+mn-lt"/>
                            <a:ea typeface="Roboto" panose="02000000000000000000" pitchFamily="2" charset="0"/>
                          </a:rPr>
                          <m:t>𝑈</m:t>
                        </m:r>
                      </m:e>
                    </m:d>
                  </m:oMath>
                </a14:m>
                <a:endParaRPr lang="es-MX" sz="2000" i="1" dirty="0">
                  <a:latin typeface="+mn-lt"/>
                  <a:ea typeface="Roboto" panose="02000000000000000000" pitchFamily="2" charset="0"/>
                </a:endParaRPr>
              </a:p>
              <a:p>
                <a:pPr lvl="1"/>
                <a14:m>
                  <m:oMath xmlns:m="http://schemas.openxmlformats.org/officeDocument/2006/math">
                    <m:d>
                      <m:dPr>
                        <m:begChr m:val="|"/>
                        <m:endChr m:val="|"/>
                        <m:ctrlPr>
                          <a:rPr lang="es-MX" sz="2000" i="1" dirty="0">
                            <a:latin typeface="+mn-lt"/>
                            <a:ea typeface="Roboto" panose="02000000000000000000" pitchFamily="2" charset="0"/>
                          </a:rPr>
                        </m:ctrlPr>
                      </m:dPr>
                      <m:e>
                        <m:d>
                          <m:dPr>
                            <m:ctrlPr>
                              <a:rPr lang="es-MX" sz="2000" b="0" i="1" dirty="0" smtClean="0">
                                <a:latin typeface="+mn-lt"/>
                                <a:ea typeface="Roboto" panose="02000000000000000000" pitchFamily="2" charset="0"/>
                              </a:rPr>
                            </m:ctrlPr>
                          </m:dPr>
                          <m:e>
                            <m:r>
                              <a:rPr lang="es-MX" sz="2000" b="0" i="1" dirty="0" smtClean="0">
                                <a:latin typeface="+mn-lt"/>
                                <a:ea typeface="Roboto" panose="02000000000000000000" pitchFamily="2" charset="0"/>
                              </a:rPr>
                              <m:t>𝐴</m:t>
                            </m:r>
                            <m:r>
                              <a:rPr lang="es-MX" sz="2000" b="0" i="1" dirty="0" smtClean="0">
                                <a:latin typeface="+mn-lt"/>
                                <a:ea typeface="Roboto" panose="02000000000000000000" pitchFamily="2" charset="0"/>
                              </a:rPr>
                              <m:t>+</m:t>
                            </m:r>
                            <m:r>
                              <a:rPr lang="es-MX" sz="2000" b="0" i="1" dirty="0" smtClean="0">
                                <a:latin typeface="+mn-lt"/>
                                <a:ea typeface="Roboto" panose="02000000000000000000" pitchFamily="2" charset="0"/>
                              </a:rPr>
                              <m:t>𝐵</m:t>
                            </m:r>
                          </m:e>
                        </m:d>
                        <m:r>
                          <a:rPr lang="es-MX" sz="2000" b="0" i="1" dirty="0" smtClean="0">
                            <a:latin typeface="+mn-lt"/>
                            <a:ea typeface="Roboto" panose="02000000000000000000" pitchFamily="2" charset="0"/>
                          </a:rPr>
                          <m:t>′</m:t>
                        </m:r>
                      </m:e>
                    </m:d>
                  </m:oMath>
                </a14:m>
                <a:endParaRPr lang="es-MX" sz="2000" i="1" dirty="0">
                  <a:latin typeface="+mn-lt"/>
                  <a:ea typeface="Roboto" panose="02000000000000000000" pitchFamily="2" charset="0"/>
                </a:endParaRPr>
              </a:p>
              <a:p>
                <a:pPr lvl="1"/>
                <a14:m>
                  <m:oMath xmlns:m="http://schemas.openxmlformats.org/officeDocument/2006/math">
                    <m:d>
                      <m:dPr>
                        <m:begChr m:val="|"/>
                        <m:endChr m:val="|"/>
                        <m:ctrlPr>
                          <a:rPr lang="es-MX" sz="2000" b="0" i="1" dirty="0" smtClean="0">
                            <a:latin typeface="+mn-lt"/>
                            <a:ea typeface="Roboto" panose="02000000000000000000" pitchFamily="2" charset="0"/>
                          </a:rPr>
                        </m:ctrlPr>
                      </m:dPr>
                      <m:e>
                        <m:r>
                          <a:rPr lang="es-MX" sz="2000" i="1" dirty="0">
                            <a:latin typeface="+mn-lt"/>
                            <a:ea typeface="Roboto" panose="02000000000000000000" pitchFamily="2" charset="0"/>
                          </a:rPr>
                          <m:t>𝐴</m:t>
                        </m:r>
                        <m:r>
                          <a:rPr lang="es-MX" sz="2000" i="1" dirty="0">
                            <a:latin typeface="+mn-lt"/>
                            <a:ea typeface="Cambria Math" panose="02040503050406030204" pitchFamily="18" charset="0"/>
                          </a:rPr>
                          <m:t>′</m:t>
                        </m:r>
                        <m:r>
                          <m:rPr>
                            <m:nor/>
                          </m:rPr>
                          <a:rPr lang="es-MX" sz="2000" dirty="0">
                            <a:latin typeface="+mn-lt"/>
                            <a:ea typeface="Cambria Math" panose="02040503050406030204" pitchFamily="18" charset="0"/>
                          </a:rPr>
                          <m:t> </m:t>
                        </m:r>
                      </m:e>
                    </m:d>
                  </m:oMath>
                </a14:m>
                <a:endParaRPr lang="es-MX" sz="2000" b="0" i="1" dirty="0">
                  <a:latin typeface="+mn-lt"/>
                  <a:ea typeface="Roboto" panose="02000000000000000000" pitchFamily="2" charset="0"/>
                </a:endParaRPr>
              </a:p>
              <a:p>
                <a:pPr lvl="1"/>
                <a14:m>
                  <m:oMath xmlns:m="http://schemas.openxmlformats.org/officeDocument/2006/math">
                    <m:d>
                      <m:dPr>
                        <m:begChr m:val="|"/>
                        <m:endChr m:val="|"/>
                        <m:ctrlPr>
                          <a:rPr lang="es-MX" sz="2000" i="1" dirty="0">
                            <a:latin typeface="+mn-lt"/>
                            <a:ea typeface="Roboto" panose="02000000000000000000" pitchFamily="2" charset="0"/>
                          </a:rPr>
                        </m:ctrlPr>
                      </m:dPr>
                      <m:e>
                        <m:r>
                          <a:rPr lang="es-MX" sz="2000" i="1" dirty="0">
                            <a:latin typeface="+mn-lt"/>
                            <a:ea typeface="Roboto" panose="02000000000000000000" pitchFamily="2" charset="0"/>
                          </a:rPr>
                          <m:t>𝐴</m:t>
                        </m:r>
                        <m:r>
                          <a:rPr lang="es-MX" sz="2000" i="1" dirty="0">
                            <a:latin typeface="+mn-lt"/>
                            <a:ea typeface="Cambria Math" panose="02040503050406030204" pitchFamily="18" charset="0"/>
                          </a:rPr>
                          <m:t>⋅′</m:t>
                        </m:r>
                        <m:r>
                          <m:rPr>
                            <m:nor/>
                          </m:rPr>
                          <a:rPr lang="es-MX" sz="2000" dirty="0">
                            <a:latin typeface="+mn-lt"/>
                            <a:ea typeface="Cambria Math" panose="02040503050406030204" pitchFamily="18" charset="0"/>
                          </a:rPr>
                          <m:t> </m:t>
                        </m:r>
                      </m:e>
                    </m:d>
                  </m:oMath>
                </a14:m>
                <a:endParaRPr lang="es-MX" sz="2000" b="0" dirty="0">
                  <a:latin typeface="+mn-lt"/>
                  <a:ea typeface="Cambria Math" panose="02040503050406030204" pitchFamily="18" charset="0"/>
                </a:endParaRPr>
              </a:p>
              <a:p>
                <a:pPr lvl="1"/>
                <a:endParaRPr lang="es-MX" sz="2000" b="0" dirty="0">
                  <a:latin typeface="+mn-lt"/>
                  <a:ea typeface="Cambria Math" panose="02040503050406030204" pitchFamily="18" charset="0"/>
                </a:endParaRPr>
              </a:p>
              <a:p>
                <a:pPr lvl="1"/>
                <a:endParaRPr lang="es-MX" sz="2000" b="0" dirty="0">
                  <a:latin typeface="+mn-lt"/>
                  <a:ea typeface="Cambria Math" panose="02040503050406030204" pitchFamily="18" charset="0"/>
                </a:endParaRPr>
              </a:p>
              <a:p>
                <a:pPr lvl="1"/>
                <a:endParaRPr lang="es-MX" sz="2000" dirty="0">
                  <a:latin typeface="+mn-lt"/>
                  <a:ea typeface="Roboto" panose="02000000000000000000" pitchFamily="2" charset="0"/>
                </a:endParaRPr>
              </a:p>
              <a:p>
                <a:pPr lvl="1"/>
                <a:endParaRPr lang="es-MX" sz="2400" dirty="0">
                  <a:latin typeface="+mn-lt"/>
                  <a:ea typeface="Roboto" panose="02000000000000000000" pitchFamily="2" charset="0"/>
                </a:endParaRP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916650" y="1311008"/>
                <a:ext cx="11000047" cy="5178282"/>
              </a:xfrm>
              <a:prstGeom prst="rect">
                <a:avLst/>
              </a:prstGeom>
              <a:blipFill>
                <a:blip r:embed="rId3"/>
                <a:stretch>
                  <a:fillRect/>
                </a:stretch>
              </a:blipFill>
              <a:ln>
                <a:noFill/>
              </a:ln>
            </p:spPr>
            <p:txBody>
              <a:bodyPr/>
              <a:lstStyle/>
              <a:p>
                <a:r>
                  <a:rPr lang="es-CO">
                    <a:noFill/>
                  </a:rPr>
                  <a:t> </a:t>
                </a:r>
              </a:p>
            </p:txBody>
          </p:sp>
        </mc:Fallback>
      </mc:AlternateContent>
      <p:pic>
        <p:nvPicPr>
          <p:cNvPr id="3074" name="Picture 2" descr="A two-set Venn diagram intersecting one another is given. The first set is labeled A while the second set is labeled B.  Set A shows 7. Set B shows 5. The intersection of the sets shows 5. Outside the Venn diagram, it is marked U. ">
            <a:extLst>
              <a:ext uri="{FF2B5EF4-FFF2-40B4-BE49-F238E27FC236}">
                <a16:creationId xmlns:a16="http://schemas.microsoft.com/office/drawing/2014/main" id="{991DE23E-FB5E-4C04-B3BE-AD4F5D59F7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53982" y="3010883"/>
            <a:ext cx="4048125" cy="3067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627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rPr>
              <a:t>Ejemplos</a:t>
            </a:r>
            <a:endParaRPr lang="es-MX" dirty="0">
              <a:solidFill>
                <a:schemeClr val="accent2"/>
              </a:solidFill>
            </a:endParaRPr>
          </a:p>
          <a:p>
            <a:pPr indent="0">
              <a:buFont typeface="Roboto"/>
              <a:buNone/>
            </a:pPr>
            <a:endParaRPr lang="es-MX" sz="2400" dirty="0"/>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916650" y="1311008"/>
            <a:ext cx="5941350" cy="534293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startAt="9"/>
            </a:pPr>
            <a:r>
              <a:rPr lang="es-MX" sz="2000" dirty="0">
                <a:latin typeface="+mn-lt"/>
                <a:ea typeface="Roboto" panose="02000000000000000000" pitchFamily="2" charset="0"/>
              </a:rPr>
              <a:t>Utilice el diagrama de Venn a continuación, que muestra los tipos de sangre de 100 personas que donaron sangre en una clínica local, para responder las siguientes preguntas:</a:t>
            </a:r>
          </a:p>
          <a:p>
            <a:pPr lvl="1"/>
            <a:r>
              <a:rPr lang="es-MX" sz="2000" b="0" dirty="0">
                <a:latin typeface="+mn-lt"/>
                <a:ea typeface="Cambria Math" panose="02040503050406030204" pitchFamily="18" charset="0"/>
              </a:rPr>
              <a:t>¿Cuántas personas con factor sanguíneo A donaron sangre?</a:t>
            </a:r>
          </a:p>
          <a:p>
            <a:pPr lvl="1"/>
            <a:r>
              <a:rPr lang="es-MX" sz="2000" b="0" dirty="0">
                <a:latin typeface="+mn-lt"/>
                <a:ea typeface="Cambria Math" panose="02040503050406030204" pitchFamily="18" charset="0"/>
              </a:rPr>
              <a:t>Julio tiene el tipo sanguíneo B+. Si necesita una cirugía que requiera una transfusión de sangre, puede aceptar sangre de cualquier persona que no tenga el factor sanguíneo A. ¿Cuántas personas donaron sangre que Julio puede aceptar?</a:t>
            </a:r>
          </a:p>
          <a:p>
            <a:pPr lvl="1"/>
            <a:r>
              <a:rPr lang="es-MX" sz="2000" b="0" dirty="0">
                <a:latin typeface="+mn-lt"/>
                <a:ea typeface="Cambria Math" panose="02040503050406030204" pitchFamily="18" charset="0"/>
              </a:rPr>
              <a:t>¿Cuántas personas que donaron sangre no tienen el factor sanguíneo Rh+?</a:t>
            </a:r>
          </a:p>
          <a:p>
            <a:pPr lvl="1"/>
            <a:r>
              <a:rPr lang="es-MX" sz="2000" b="0" dirty="0">
                <a:latin typeface="+mn-lt"/>
                <a:ea typeface="Cambria Math" panose="02040503050406030204" pitchFamily="18" charset="0"/>
              </a:rPr>
              <a:t>¿Cuántas personas tenían sangre tipo A y tipo B?</a:t>
            </a:r>
            <a:endParaRPr lang="es-MX" sz="2400" dirty="0">
              <a:latin typeface="+mn-lt"/>
              <a:ea typeface="Roboto" panose="02000000000000000000" pitchFamily="2" charset="0"/>
            </a:endParaRPr>
          </a:p>
        </p:txBody>
      </p:sp>
      <p:pic>
        <p:nvPicPr>
          <p:cNvPr id="4098" name="Picture 2" descr="A three-set Venn diagram A, B, and Rh plus overlapping one another is given. Set A shows A dash equals 6. Set B shows B dash equals 2. Set Rh plus shows O plus dash equals 37. The intersection of sets A and B shows AB dash equals 1. The intersection of sets B and Rh plus shows B plus equals 8. The intersection of sets A and Rh plus shows A plus equals 36. The intersection of all three sets shows AB plus equals 3. Outside the set, 'O dash equals 7' is given. Outside the Venn diagram, it is marked 'U equals Blood types of 100 people.' ">
            <a:extLst>
              <a:ext uri="{FF2B5EF4-FFF2-40B4-BE49-F238E27FC236}">
                <a16:creationId xmlns:a16="http://schemas.microsoft.com/office/drawing/2014/main" id="{1B1904D6-CD0E-4766-A451-65FA312EAF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5237" y="1393332"/>
            <a:ext cx="4796473" cy="5178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33078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822715"/>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Ejemplos</a:t>
            </a:r>
            <a:endParaRPr lang="es-MX" dirty="0">
              <a:solidFill>
                <a:schemeClr val="accent2"/>
              </a:solidFill>
              <a:latin typeface="+mn-lt"/>
            </a:endParaRPr>
          </a:p>
          <a:p>
            <a:pPr indent="0">
              <a:buFont typeface="Roboto"/>
              <a:buNone/>
            </a:pPr>
            <a:endParaRPr lang="es-MX" sz="2400" dirty="0">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916650" y="1458491"/>
                <a:ext cx="10896808" cy="461944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startAt="10"/>
                </a:pPr>
                <a:r>
                  <a:rPr lang="es-MX" sz="2000" dirty="0">
                    <a:latin typeface="+mn-lt"/>
                    <a:ea typeface="Roboto" panose="02000000000000000000" pitchFamily="2" charset="0"/>
                  </a:rPr>
                  <a:t>Dados los siguientes conjuntos:</a:t>
                </a:r>
              </a:p>
              <a:p>
                <a:pPr lvl="1"/>
                <a14:m>
                  <m:oMath xmlns:m="http://schemas.openxmlformats.org/officeDocument/2006/math">
                    <m:r>
                      <a:rPr lang="es-MX" sz="2000" b="0" i="1" smtClean="0">
                        <a:latin typeface="+mn-lt"/>
                        <a:ea typeface="Roboto" panose="02000000000000000000" pitchFamily="2" charset="0"/>
                      </a:rPr>
                      <m:t>𝑈</m:t>
                    </m:r>
                    <m:r>
                      <a:rPr lang="es-MX" sz="2000" b="0" i="1" smtClean="0">
                        <a:latin typeface="+mn-lt"/>
                        <a:ea typeface="Roboto" panose="02000000000000000000" pitchFamily="2" charset="0"/>
                      </a:rPr>
                      <m:t>=</m:t>
                    </m:r>
                    <m:d>
                      <m:dPr>
                        <m:begChr m:val="{"/>
                        <m:endChr m:val="}"/>
                        <m:ctrlPr>
                          <a:rPr lang="en-US" sz="2000" i="1">
                            <a:latin typeface="+mn-lt"/>
                            <a:ea typeface="Roboto" panose="02000000000000000000" pitchFamily="2" charset="0"/>
                          </a:rPr>
                        </m:ctrlPr>
                      </m:dPr>
                      <m:e>
                        <m:r>
                          <m:rPr>
                            <m:sty m:val="p"/>
                          </m:rPr>
                          <a:rPr lang="en-US" sz="2000" i="0">
                            <a:latin typeface="+mn-lt"/>
                            <a:ea typeface="Roboto" panose="02000000000000000000" pitchFamily="2" charset="0"/>
                          </a:rPr>
                          <m:t>red</m:t>
                        </m:r>
                        <m:r>
                          <a:rPr lang="en-US" sz="2000" i="0">
                            <a:latin typeface="+mn-lt"/>
                            <a:ea typeface="Roboto" panose="02000000000000000000" pitchFamily="2" charset="0"/>
                          </a:rPr>
                          <m:t>,</m:t>
                        </m:r>
                        <m:r>
                          <m:rPr>
                            <m:sty m:val="p"/>
                          </m:rPr>
                          <a:rPr lang="en-US" sz="2000" i="0">
                            <a:latin typeface="+mn-lt"/>
                            <a:ea typeface="Roboto" panose="02000000000000000000" pitchFamily="2" charset="0"/>
                          </a:rPr>
                          <m:t>orange</m:t>
                        </m:r>
                        <m:r>
                          <a:rPr lang="en-US" sz="2000" i="0">
                            <a:latin typeface="+mn-lt"/>
                            <a:ea typeface="Roboto" panose="02000000000000000000" pitchFamily="2" charset="0"/>
                          </a:rPr>
                          <m:t>,</m:t>
                        </m:r>
                        <m:r>
                          <m:rPr>
                            <m:sty m:val="p"/>
                          </m:rPr>
                          <a:rPr lang="en-US" sz="2000" i="0">
                            <a:latin typeface="+mn-lt"/>
                            <a:ea typeface="Roboto" panose="02000000000000000000" pitchFamily="2" charset="0"/>
                          </a:rPr>
                          <m:t>yellow</m:t>
                        </m:r>
                        <m:r>
                          <a:rPr lang="en-US" sz="2000" i="0">
                            <a:latin typeface="+mn-lt"/>
                            <a:ea typeface="Roboto" panose="02000000000000000000" pitchFamily="2" charset="0"/>
                          </a:rPr>
                          <m:t>,</m:t>
                        </m:r>
                        <m:r>
                          <m:rPr>
                            <m:sty m:val="p"/>
                          </m:rPr>
                          <a:rPr lang="en-US" sz="2000" i="0">
                            <a:latin typeface="+mn-lt"/>
                            <a:ea typeface="Roboto" panose="02000000000000000000" pitchFamily="2" charset="0"/>
                          </a:rPr>
                          <m:t>green</m:t>
                        </m:r>
                        <m:r>
                          <a:rPr lang="en-US" sz="2000" i="0">
                            <a:latin typeface="+mn-lt"/>
                            <a:ea typeface="Roboto" panose="02000000000000000000" pitchFamily="2" charset="0"/>
                          </a:rPr>
                          <m:t>,</m:t>
                        </m:r>
                        <m:r>
                          <m:rPr>
                            <m:sty m:val="p"/>
                          </m:rPr>
                          <a:rPr lang="en-US" sz="2000" i="0">
                            <a:latin typeface="+mn-lt"/>
                            <a:ea typeface="Roboto" panose="02000000000000000000" pitchFamily="2" charset="0"/>
                          </a:rPr>
                          <m:t>blue</m:t>
                        </m:r>
                        <m:r>
                          <a:rPr lang="en-US" sz="2000" i="0">
                            <a:latin typeface="+mn-lt"/>
                            <a:ea typeface="Roboto" panose="02000000000000000000" pitchFamily="2" charset="0"/>
                          </a:rPr>
                          <m:t>,</m:t>
                        </m:r>
                        <m:r>
                          <m:rPr>
                            <m:sty m:val="p"/>
                          </m:rPr>
                          <a:rPr lang="en-US" sz="2000" i="0">
                            <a:latin typeface="+mn-lt"/>
                            <a:ea typeface="Roboto" panose="02000000000000000000" pitchFamily="2" charset="0"/>
                          </a:rPr>
                          <m:t>indigo</m:t>
                        </m:r>
                        <m:r>
                          <a:rPr lang="en-US" sz="2000" i="0">
                            <a:latin typeface="+mn-lt"/>
                            <a:ea typeface="Roboto" panose="02000000000000000000" pitchFamily="2" charset="0"/>
                          </a:rPr>
                          <m:t>,</m:t>
                        </m:r>
                        <m:r>
                          <m:rPr>
                            <m:sty m:val="p"/>
                          </m:rPr>
                          <a:rPr lang="en-US" sz="2000" i="0">
                            <a:latin typeface="+mn-lt"/>
                            <a:ea typeface="Roboto" panose="02000000000000000000" pitchFamily="2" charset="0"/>
                          </a:rPr>
                          <m:t>violet</m:t>
                        </m:r>
                      </m:e>
                    </m:d>
                  </m:oMath>
                </a14:m>
                <a:endParaRPr lang="es-MX" sz="2000" dirty="0">
                  <a:latin typeface="+mn-lt"/>
                  <a:ea typeface="Roboto" panose="02000000000000000000" pitchFamily="2" charset="0"/>
                </a:endParaRPr>
              </a:p>
              <a:p>
                <a:pPr lvl="1"/>
                <a14:m>
                  <m:oMath xmlns:m="http://schemas.openxmlformats.org/officeDocument/2006/math">
                    <m:r>
                      <a:rPr lang="es-MX" sz="2000" b="0" i="1" smtClean="0">
                        <a:latin typeface="+mn-lt"/>
                        <a:ea typeface="Roboto" panose="02000000000000000000" pitchFamily="2" charset="0"/>
                      </a:rPr>
                      <m:t>𝐴</m:t>
                    </m:r>
                    <m:r>
                      <a:rPr lang="es-MX" sz="2000" b="0" i="1" smtClean="0">
                        <a:latin typeface="+mn-lt"/>
                        <a:ea typeface="Roboto" panose="02000000000000000000" pitchFamily="2" charset="0"/>
                      </a:rPr>
                      <m:t>=</m:t>
                    </m:r>
                    <m:d>
                      <m:dPr>
                        <m:begChr m:val="{"/>
                        <m:endChr m:val="}"/>
                        <m:ctrlPr>
                          <a:rPr lang="en-US" sz="2000" i="1">
                            <a:latin typeface="+mn-lt"/>
                            <a:ea typeface="Roboto" panose="02000000000000000000" pitchFamily="2" charset="0"/>
                          </a:rPr>
                        </m:ctrlPr>
                      </m:dPr>
                      <m:e>
                        <m:r>
                          <m:rPr>
                            <m:sty m:val="p"/>
                          </m:rPr>
                          <a:rPr lang="en-US" sz="2000">
                            <a:latin typeface="+mn-lt"/>
                            <a:ea typeface="Roboto" panose="02000000000000000000" pitchFamily="2" charset="0"/>
                          </a:rPr>
                          <m:t>red</m:t>
                        </m:r>
                        <m:r>
                          <a:rPr lang="en-US" sz="2000">
                            <a:latin typeface="+mn-lt"/>
                            <a:ea typeface="Roboto" panose="02000000000000000000" pitchFamily="2" charset="0"/>
                          </a:rPr>
                          <m:t>,</m:t>
                        </m:r>
                        <m:r>
                          <m:rPr>
                            <m:sty m:val="p"/>
                          </m:rPr>
                          <a:rPr lang="en-US" sz="2000">
                            <a:latin typeface="+mn-lt"/>
                            <a:ea typeface="Roboto" panose="02000000000000000000" pitchFamily="2" charset="0"/>
                          </a:rPr>
                          <m:t>yellow</m:t>
                        </m:r>
                        <m:r>
                          <a:rPr lang="en-US" sz="2000">
                            <a:latin typeface="+mn-lt"/>
                            <a:ea typeface="Roboto" panose="02000000000000000000" pitchFamily="2" charset="0"/>
                          </a:rPr>
                          <m:t>,</m:t>
                        </m:r>
                        <m:r>
                          <m:rPr>
                            <m:sty m:val="p"/>
                          </m:rPr>
                          <a:rPr lang="en-US" sz="2000">
                            <a:latin typeface="+mn-lt"/>
                            <a:ea typeface="Roboto" panose="02000000000000000000" pitchFamily="2" charset="0"/>
                          </a:rPr>
                          <m:t>blue</m:t>
                        </m:r>
                      </m:e>
                    </m:d>
                  </m:oMath>
                </a14:m>
                <a:endParaRPr lang="es-MX" sz="2000" dirty="0">
                  <a:latin typeface="+mn-lt"/>
                  <a:ea typeface="Roboto" panose="02000000000000000000" pitchFamily="2" charset="0"/>
                </a:endParaRPr>
              </a:p>
              <a:p>
                <a:pPr lvl="1"/>
                <a14:m>
                  <m:oMath xmlns:m="http://schemas.openxmlformats.org/officeDocument/2006/math">
                    <m:r>
                      <a:rPr lang="es-MX" sz="2000" b="0" i="1" smtClean="0">
                        <a:latin typeface="+mn-lt"/>
                        <a:ea typeface="Roboto" panose="02000000000000000000" pitchFamily="2" charset="0"/>
                      </a:rPr>
                      <m:t>𝐵</m:t>
                    </m:r>
                    <m:r>
                      <a:rPr lang="es-MX" sz="2000" b="0" i="1" smtClean="0">
                        <a:latin typeface="+mn-lt"/>
                        <a:ea typeface="Roboto" panose="02000000000000000000" pitchFamily="2" charset="0"/>
                      </a:rPr>
                      <m:t>=</m:t>
                    </m:r>
                    <m:d>
                      <m:dPr>
                        <m:begChr m:val="{"/>
                        <m:endChr m:val="}"/>
                        <m:ctrlPr>
                          <a:rPr lang="en-US" sz="2000" i="1">
                            <a:latin typeface="+mn-lt"/>
                            <a:ea typeface="Roboto" panose="02000000000000000000" pitchFamily="2" charset="0"/>
                          </a:rPr>
                        </m:ctrlPr>
                      </m:dPr>
                      <m:e>
                        <m:r>
                          <m:rPr>
                            <m:sty m:val="p"/>
                          </m:rPr>
                          <a:rPr lang="en-US" sz="2000">
                            <a:latin typeface="+mn-lt"/>
                            <a:ea typeface="Roboto" panose="02000000000000000000" pitchFamily="2" charset="0"/>
                          </a:rPr>
                          <m:t>orange</m:t>
                        </m:r>
                        <m:r>
                          <a:rPr lang="en-US" sz="2000">
                            <a:latin typeface="+mn-lt"/>
                            <a:ea typeface="Roboto" panose="02000000000000000000" pitchFamily="2" charset="0"/>
                          </a:rPr>
                          <m:t>,</m:t>
                        </m:r>
                        <m:r>
                          <m:rPr>
                            <m:sty m:val="p"/>
                          </m:rPr>
                          <a:rPr lang="en-US" sz="2000">
                            <a:latin typeface="+mn-lt"/>
                            <a:ea typeface="Roboto" panose="02000000000000000000" pitchFamily="2" charset="0"/>
                          </a:rPr>
                          <m:t>green</m:t>
                        </m:r>
                        <m:r>
                          <a:rPr lang="en-US" sz="2000">
                            <a:latin typeface="+mn-lt"/>
                            <a:ea typeface="Roboto" panose="02000000000000000000" pitchFamily="2" charset="0"/>
                          </a:rPr>
                          <m:t>,</m:t>
                        </m:r>
                        <m:r>
                          <m:rPr>
                            <m:sty m:val="p"/>
                          </m:rPr>
                          <a:rPr lang="en-US" sz="2000">
                            <a:latin typeface="+mn-lt"/>
                            <a:ea typeface="Roboto" panose="02000000000000000000" pitchFamily="2" charset="0"/>
                          </a:rPr>
                          <m:t>violet</m:t>
                        </m:r>
                      </m:e>
                    </m:d>
                  </m:oMath>
                </a14:m>
                <a:endParaRPr lang="es-MX" sz="2000" dirty="0">
                  <a:latin typeface="+mn-lt"/>
                  <a:ea typeface="Roboto" panose="02000000000000000000" pitchFamily="2" charset="0"/>
                </a:endParaRPr>
              </a:p>
              <a:p>
                <a:pPr lvl="1"/>
                <a14:m>
                  <m:oMath xmlns:m="http://schemas.openxmlformats.org/officeDocument/2006/math">
                    <m:r>
                      <a:rPr lang="es-MX" sz="2000" b="0" i="1" smtClean="0">
                        <a:latin typeface="+mn-lt"/>
                        <a:ea typeface="Roboto" panose="02000000000000000000" pitchFamily="2" charset="0"/>
                      </a:rPr>
                      <m:t>𝐶</m:t>
                    </m:r>
                    <m:r>
                      <a:rPr lang="es-MX" sz="2000" b="0" i="1" smtClean="0">
                        <a:latin typeface="+mn-lt"/>
                        <a:ea typeface="Roboto" panose="02000000000000000000" pitchFamily="2" charset="0"/>
                      </a:rPr>
                      <m:t>=</m:t>
                    </m:r>
                    <m:d>
                      <m:dPr>
                        <m:begChr m:val="{"/>
                        <m:endChr m:val="}"/>
                        <m:ctrlPr>
                          <a:rPr lang="en-US" sz="2000" i="1">
                            <a:latin typeface="+mn-lt"/>
                            <a:ea typeface="Roboto" panose="02000000000000000000" pitchFamily="2" charset="0"/>
                          </a:rPr>
                        </m:ctrlPr>
                      </m:dPr>
                      <m:e>
                        <m:r>
                          <m:rPr>
                            <m:sty m:val="p"/>
                          </m:rPr>
                          <a:rPr lang="en-US" sz="2000">
                            <a:latin typeface="+mn-lt"/>
                            <a:ea typeface="Roboto" panose="02000000000000000000" pitchFamily="2" charset="0"/>
                          </a:rPr>
                          <m:t>red</m:t>
                        </m:r>
                        <m:r>
                          <a:rPr lang="en-US" sz="2000">
                            <a:latin typeface="+mn-lt"/>
                            <a:ea typeface="Roboto" panose="02000000000000000000" pitchFamily="2" charset="0"/>
                          </a:rPr>
                          <m:t>, </m:t>
                        </m:r>
                        <m:r>
                          <m:rPr>
                            <m:sty m:val="p"/>
                          </m:rPr>
                          <a:rPr lang="en-US" sz="2000">
                            <a:latin typeface="+mn-lt"/>
                            <a:ea typeface="Roboto" panose="02000000000000000000" pitchFamily="2" charset="0"/>
                          </a:rPr>
                          <m:t>green</m:t>
                        </m:r>
                        <m:r>
                          <a:rPr lang="en-US" sz="2000">
                            <a:latin typeface="+mn-lt"/>
                            <a:ea typeface="Roboto" panose="02000000000000000000" pitchFamily="2" charset="0"/>
                          </a:rPr>
                          <m:t>, </m:t>
                        </m:r>
                        <m:r>
                          <m:rPr>
                            <m:sty m:val="p"/>
                          </m:rPr>
                          <a:rPr lang="en-US" sz="2000">
                            <a:latin typeface="+mn-lt"/>
                            <a:ea typeface="Roboto" panose="02000000000000000000" pitchFamily="2" charset="0"/>
                          </a:rPr>
                          <m:t>indigo</m:t>
                        </m:r>
                      </m:e>
                    </m:d>
                  </m:oMath>
                </a14:m>
                <a:endParaRPr lang="es-MX" sz="2000" dirty="0">
                  <a:latin typeface="+mn-lt"/>
                  <a:ea typeface="Roboto" panose="02000000000000000000" pitchFamily="2" charset="0"/>
                </a:endParaRPr>
              </a:p>
              <a:p>
                <a:pPr lvl="1"/>
                <a:endParaRPr lang="es-MX" sz="1600" dirty="0">
                  <a:latin typeface="+mn-lt"/>
                  <a:ea typeface="Roboto" panose="02000000000000000000" pitchFamily="2" charset="0"/>
                </a:endParaRPr>
              </a:p>
              <a:p>
                <a:pPr marL="584200" lvl="1" indent="0">
                  <a:buNone/>
                </a:pPr>
                <a:r>
                  <a:rPr lang="es-MX" sz="2000" dirty="0">
                    <a:latin typeface="+mn-lt"/>
                    <a:ea typeface="Roboto" panose="02000000000000000000" pitchFamily="2" charset="0"/>
                  </a:rPr>
                  <a:t>Realice las operaciones con conjuntos indicadas a continuación:</a:t>
                </a:r>
              </a:p>
              <a:p>
                <a:pPr lvl="1"/>
                <a14:m>
                  <m:oMath xmlns:m="http://schemas.openxmlformats.org/officeDocument/2006/math">
                    <m:r>
                      <a:rPr lang="es-MX" sz="2000" b="0" i="1" smtClean="0">
                        <a:latin typeface="+mn-lt"/>
                        <a:ea typeface="Roboto" panose="02000000000000000000" pitchFamily="2" charset="0"/>
                      </a:rPr>
                      <m:t>𝐴</m:t>
                    </m:r>
                    <m:r>
                      <a:rPr lang="es-MX" sz="2000" b="0" i="1" smtClean="0">
                        <a:latin typeface="+mn-lt"/>
                        <a:ea typeface="Roboto" panose="02000000000000000000" pitchFamily="2" charset="0"/>
                      </a:rPr>
                      <m:t>+</m:t>
                    </m:r>
                    <m:r>
                      <a:rPr lang="es-MX" sz="2000" b="0" i="1" smtClean="0">
                        <a:latin typeface="+mn-lt"/>
                        <a:ea typeface="Roboto" panose="02000000000000000000" pitchFamily="2" charset="0"/>
                      </a:rPr>
                      <m:t>𝐵</m:t>
                    </m:r>
                    <m:r>
                      <a:rPr lang="es-MX" sz="2000" b="0" i="1" smtClean="0">
                        <a:latin typeface="+mn-lt"/>
                        <a:ea typeface="Roboto" panose="02000000000000000000" pitchFamily="2" charset="0"/>
                      </a:rPr>
                      <m:t>+</m:t>
                    </m:r>
                    <m:r>
                      <a:rPr lang="es-MX" sz="2000" b="0" i="1" smtClean="0">
                        <a:latin typeface="+mn-lt"/>
                        <a:ea typeface="Roboto" panose="02000000000000000000" pitchFamily="2" charset="0"/>
                      </a:rPr>
                      <m:t>𝐶</m:t>
                    </m:r>
                  </m:oMath>
                </a14:m>
                <a:endParaRPr lang="es-MX" sz="2000" b="0" dirty="0">
                  <a:latin typeface="+mn-lt"/>
                  <a:ea typeface="Roboto" panose="02000000000000000000" pitchFamily="2" charset="0"/>
                </a:endParaRPr>
              </a:p>
              <a:p>
                <a:pPr lvl="1"/>
                <a14:m>
                  <m:oMath xmlns:m="http://schemas.openxmlformats.org/officeDocument/2006/math">
                    <m:r>
                      <a:rPr lang="es-MX" sz="2000" i="1">
                        <a:latin typeface="+mn-lt"/>
                        <a:ea typeface="Roboto" panose="02000000000000000000" pitchFamily="2" charset="0"/>
                      </a:rPr>
                      <m:t>𝐴𝐶</m:t>
                    </m:r>
                    <m:r>
                      <a:rPr lang="es-MX" sz="2000" i="1">
                        <a:latin typeface="+mn-lt"/>
                        <a:ea typeface="Roboto" panose="02000000000000000000" pitchFamily="2" charset="0"/>
                      </a:rPr>
                      <m:t>+</m:t>
                    </m:r>
                    <m:r>
                      <a:rPr lang="es-MX" sz="2000" i="1">
                        <a:latin typeface="+mn-lt"/>
                        <a:ea typeface="Roboto" panose="02000000000000000000" pitchFamily="2" charset="0"/>
                      </a:rPr>
                      <m:t>𝐵</m:t>
                    </m:r>
                  </m:oMath>
                </a14:m>
                <a:endParaRPr lang="es-MX" sz="2000" b="0" dirty="0">
                  <a:latin typeface="+mn-lt"/>
                  <a:ea typeface="Roboto" panose="02000000000000000000" pitchFamily="2" charset="0"/>
                </a:endParaRPr>
              </a:p>
              <a:p>
                <a:pPr lvl="1"/>
                <a14:m>
                  <m:oMath xmlns:m="http://schemas.openxmlformats.org/officeDocument/2006/math">
                    <m:r>
                      <a:rPr lang="es-MX" sz="2000" b="0" i="1" smtClean="0">
                        <a:latin typeface="+mn-lt"/>
                        <a:ea typeface="Roboto" panose="02000000000000000000" pitchFamily="2" charset="0"/>
                      </a:rPr>
                      <m:t>𝑈</m:t>
                    </m:r>
                    <m:r>
                      <a:rPr lang="es-MX" sz="2000" b="0" i="1" smtClean="0">
                        <a:latin typeface="+mn-lt"/>
                        <a:ea typeface="Roboto" panose="02000000000000000000" pitchFamily="2" charset="0"/>
                      </a:rPr>
                      <m:t>(</m:t>
                    </m:r>
                    <m:r>
                      <a:rPr lang="es-MX" sz="2000" b="0" i="1" smtClean="0">
                        <a:latin typeface="+mn-lt"/>
                        <a:ea typeface="Roboto" panose="02000000000000000000" pitchFamily="2" charset="0"/>
                      </a:rPr>
                      <m:t>𝐵</m:t>
                    </m:r>
                    <m:r>
                      <a:rPr lang="es-MX" sz="2000" i="1" smtClean="0">
                        <a:latin typeface="+mn-lt"/>
                        <a:ea typeface="Roboto" panose="02000000000000000000" pitchFamily="2" charset="0"/>
                      </a:rPr>
                      <m:t>+</m:t>
                    </m:r>
                    <m:r>
                      <a:rPr lang="es-MX" sz="2000" b="0" i="1" smtClean="0">
                        <a:latin typeface="+mn-lt"/>
                        <a:ea typeface="Roboto" panose="02000000000000000000" pitchFamily="2" charset="0"/>
                      </a:rPr>
                      <m:t>𝐶</m:t>
                    </m:r>
                    <m:r>
                      <a:rPr lang="es-MX" sz="2000" b="0" i="1" smtClean="0">
                        <a:latin typeface="+mn-lt"/>
                        <a:ea typeface="Roboto" panose="02000000000000000000" pitchFamily="2" charset="0"/>
                      </a:rPr>
                      <m:t>)</m:t>
                    </m:r>
                  </m:oMath>
                </a14:m>
                <a:endParaRPr lang="es-MX" sz="2000" b="0" dirty="0">
                  <a:latin typeface="+mn-lt"/>
                  <a:ea typeface="Roboto" panose="02000000000000000000" pitchFamily="2" charset="0"/>
                </a:endParaRPr>
              </a:p>
              <a:p>
                <a:pPr lvl="1"/>
                <a14:m>
                  <m:oMath xmlns:m="http://schemas.openxmlformats.org/officeDocument/2006/math">
                    <m:r>
                      <a:rPr lang="es-MX" sz="2000" i="1" smtClean="0">
                        <a:latin typeface="+mn-lt"/>
                        <a:ea typeface="Roboto" panose="02000000000000000000" pitchFamily="2" charset="0"/>
                      </a:rPr>
                      <m:t>𝐵</m:t>
                    </m:r>
                    <m:r>
                      <a:rPr lang="es-MX" sz="2000" b="0" i="1" smtClean="0">
                        <a:latin typeface="+mn-lt"/>
                        <a:ea typeface="Roboto" panose="02000000000000000000" pitchFamily="2" charset="0"/>
                      </a:rPr>
                      <m:t>𝐴𝑈</m:t>
                    </m:r>
                  </m:oMath>
                </a14:m>
                <a:endParaRPr lang="es-MX" sz="2000" b="0" dirty="0">
                  <a:latin typeface="+mn-lt"/>
                  <a:ea typeface="Roboto" panose="02000000000000000000" pitchFamily="2" charset="0"/>
                </a:endParaRPr>
              </a:p>
              <a:p>
                <a:pPr lvl="1"/>
                <a14:m>
                  <m:oMath xmlns:m="http://schemas.openxmlformats.org/officeDocument/2006/math">
                    <m:r>
                      <a:rPr lang="es-MX" sz="2000" b="0" i="1" smtClean="0">
                        <a:latin typeface="+mn-lt"/>
                        <a:ea typeface="Roboto" panose="02000000000000000000" pitchFamily="2" charset="0"/>
                      </a:rPr>
                      <m:t>𝐴</m:t>
                    </m:r>
                    <m:sSup>
                      <m:sSupPr>
                        <m:ctrlPr>
                          <a:rPr lang="es-MX" sz="2000" b="0" i="1" smtClean="0">
                            <a:latin typeface="+mn-lt"/>
                            <a:ea typeface="Roboto" panose="02000000000000000000" pitchFamily="2" charset="0"/>
                          </a:rPr>
                        </m:ctrlPr>
                      </m:sSupPr>
                      <m:e>
                        <m:d>
                          <m:dPr>
                            <m:ctrlPr>
                              <a:rPr lang="es-MX" sz="2000" b="0" i="1" smtClean="0">
                                <a:latin typeface="+mn-lt"/>
                                <a:ea typeface="Roboto" panose="02000000000000000000" pitchFamily="2" charset="0"/>
                              </a:rPr>
                            </m:ctrlPr>
                          </m:dPr>
                          <m:e>
                            <m:r>
                              <a:rPr lang="es-MX" sz="2000" b="0" i="1" smtClean="0">
                                <a:latin typeface="+mn-lt"/>
                                <a:ea typeface="Roboto" panose="02000000000000000000" pitchFamily="2" charset="0"/>
                              </a:rPr>
                              <m:t>𝐵𝐶</m:t>
                            </m:r>
                          </m:e>
                        </m:d>
                      </m:e>
                      <m:sup>
                        <m:r>
                          <a:rPr lang="es-MX" sz="2000" b="0" i="1" smtClean="0">
                            <a:latin typeface="+mn-lt"/>
                            <a:ea typeface="Roboto" panose="02000000000000000000" pitchFamily="2" charset="0"/>
                          </a:rPr>
                          <m:t>′</m:t>
                        </m:r>
                      </m:sup>
                    </m:sSup>
                  </m:oMath>
                </a14:m>
                <a:endParaRPr lang="es-MX" sz="2000" b="0" dirty="0">
                  <a:latin typeface="+mn-lt"/>
                  <a:ea typeface="Roboto" panose="02000000000000000000" pitchFamily="2" charset="0"/>
                </a:endParaRPr>
              </a:p>
              <a:p>
                <a:pPr lvl="1"/>
                <a14:m>
                  <m:oMath xmlns:m="http://schemas.openxmlformats.org/officeDocument/2006/math">
                    <m:r>
                      <a:rPr lang="es-MX" sz="2000" b="0" i="1" smtClean="0">
                        <a:latin typeface="+mn-lt"/>
                        <a:ea typeface="Roboto" panose="02000000000000000000" pitchFamily="2" charset="0"/>
                      </a:rPr>
                      <m:t>𝐴</m:t>
                    </m:r>
                    <m:r>
                      <a:rPr lang="es-MX" sz="2000" b="0" i="1" smtClean="0">
                        <a:latin typeface="+mn-lt"/>
                        <a:ea typeface="Roboto" panose="02000000000000000000" pitchFamily="2" charset="0"/>
                      </a:rPr>
                      <m:t>′</m:t>
                    </m:r>
                    <m:d>
                      <m:dPr>
                        <m:ctrlPr>
                          <a:rPr lang="es-MX" sz="2000" b="0" i="1" smtClean="0">
                            <a:latin typeface="+mn-lt"/>
                            <a:ea typeface="Roboto" panose="02000000000000000000" pitchFamily="2" charset="0"/>
                          </a:rPr>
                        </m:ctrlPr>
                      </m:dPr>
                      <m:e>
                        <m:r>
                          <a:rPr lang="es-MX" sz="2000" b="0" i="1" smtClean="0">
                            <a:latin typeface="+mn-lt"/>
                            <a:ea typeface="Roboto" panose="02000000000000000000" pitchFamily="2" charset="0"/>
                          </a:rPr>
                          <m:t>𝐵</m:t>
                        </m:r>
                        <m:r>
                          <a:rPr lang="es-MX" sz="2000" b="0" i="1" smtClean="0">
                            <a:latin typeface="+mn-lt"/>
                            <a:ea typeface="Roboto" panose="02000000000000000000" pitchFamily="2" charset="0"/>
                          </a:rPr>
                          <m:t>+</m:t>
                        </m:r>
                        <m:r>
                          <a:rPr lang="es-MX" sz="2000" b="0" i="1" smtClean="0">
                            <a:latin typeface="+mn-lt"/>
                            <a:ea typeface="Roboto" panose="02000000000000000000" pitchFamily="2" charset="0"/>
                          </a:rPr>
                          <m:t>𝐶</m:t>
                        </m:r>
                      </m:e>
                    </m:d>
                  </m:oMath>
                </a14:m>
                <a:endParaRPr lang="es-MX" sz="2000" b="0" dirty="0">
                  <a:latin typeface="+mn-lt"/>
                  <a:ea typeface="Roboto" panose="02000000000000000000" pitchFamily="2" charset="0"/>
                </a:endParaRP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916650" y="1458491"/>
                <a:ext cx="10896808" cy="4619441"/>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0118580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927550"/>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Ejemplos</a:t>
            </a:r>
            <a:endParaRPr lang="es-MX" dirty="0">
              <a:solidFill>
                <a:schemeClr val="accent2"/>
              </a:solidFill>
              <a:latin typeface="+mn-lt"/>
            </a:endParaRPr>
          </a:p>
          <a:p>
            <a:pPr indent="0">
              <a:buFont typeface="Roboto"/>
              <a:buNone/>
            </a:pPr>
            <a:endParaRPr lang="es-MX" sz="2400" dirty="0">
              <a:latin typeface="+mn-lt"/>
            </a:endParaRPr>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916650" y="1576479"/>
            <a:ext cx="10896808" cy="113722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startAt="11"/>
            </a:pPr>
            <a:r>
              <a:rPr lang="es-MX" sz="2000" dirty="0">
                <a:latin typeface="+mn-lt"/>
                <a:ea typeface="Roboto" panose="02000000000000000000" pitchFamily="2" charset="0"/>
              </a:rPr>
              <a:t>Al menos el 45% de los estudiantes NO aprueban matemáticas Discretas y el 15% de los estudiantes NO aprueban lógica 1. ¿Cuál es el porcentaje máximo de estudiantes que aprueban ambas asignaturas?</a:t>
            </a:r>
            <a:endParaRPr lang="es-MX" sz="2000" b="0" dirty="0">
              <a:latin typeface="+mn-lt"/>
              <a:ea typeface="Roboto" panose="02000000000000000000" pitchFamily="2" charset="0"/>
            </a:endParaRPr>
          </a:p>
        </p:txBody>
      </p:sp>
    </p:spTree>
    <p:extLst>
      <p:ext uri="{BB962C8B-B14F-4D97-AF65-F5344CB8AC3E}">
        <p14:creationId xmlns:p14="http://schemas.microsoft.com/office/powerpoint/2010/main" val="31785354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Solución – Ejemplo 1</a:t>
            </a:r>
            <a:endParaRPr lang="es-MX" dirty="0">
              <a:solidFill>
                <a:schemeClr val="accent2"/>
              </a:solidFill>
              <a:latin typeface="+mn-lt"/>
            </a:endParaRPr>
          </a:p>
          <a:p>
            <a:pPr indent="0">
              <a:buFont typeface="Roboto"/>
              <a:buNone/>
            </a:pPr>
            <a:endParaRPr lang="es-MX" sz="2400" dirty="0">
              <a:latin typeface="+mn-lt"/>
            </a:endParaRPr>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916650" y="1311007"/>
            <a:ext cx="11000047" cy="138794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Represente cada uno de los siguientes conjuntos por el método que usted elija.</a:t>
            </a:r>
          </a:p>
          <a:p>
            <a:r>
              <a:rPr lang="es-MX" sz="2000" dirty="0">
                <a:latin typeface="+mn-lt"/>
                <a:ea typeface="Roboto" panose="02000000000000000000" pitchFamily="2" charset="0"/>
              </a:rPr>
              <a:t>Conjunto de todos los cuadrados que también son círculos.</a:t>
            </a:r>
          </a:p>
          <a:p>
            <a:r>
              <a:rPr lang="es-MX" sz="2000" dirty="0">
                <a:latin typeface="+mn-lt"/>
                <a:ea typeface="Roboto" panose="02000000000000000000" pitchFamily="2" charset="0"/>
              </a:rPr>
              <a:t>Conjunto de todos los equipos de futbol de la liga profesional colombiana.</a:t>
            </a:r>
          </a:p>
        </p:txBody>
      </p:sp>
    </p:spTree>
    <p:extLst>
      <p:ext uri="{BB962C8B-B14F-4D97-AF65-F5344CB8AC3E}">
        <p14:creationId xmlns:p14="http://schemas.microsoft.com/office/powerpoint/2010/main" val="3287588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Solución – Ejemplo 2</a:t>
            </a:r>
            <a:endParaRPr lang="es-MX" dirty="0">
              <a:solidFill>
                <a:schemeClr val="accent2"/>
              </a:solidFill>
              <a:latin typeface="+mn-lt"/>
            </a:endParaRPr>
          </a:p>
          <a:p>
            <a:pPr indent="0">
              <a:buFont typeface="Roboto"/>
              <a:buNone/>
            </a:pPr>
            <a:endParaRPr lang="es-MX" sz="2400" dirty="0">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916650" y="1311009"/>
                <a:ext cx="11000047" cy="193363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Dados los siguientes conjuntos, determine la cardinalidad</a:t>
                </a:r>
              </a:p>
              <a:p>
                <a14:m>
                  <m:oMath xmlns:m="http://schemas.openxmlformats.org/officeDocument/2006/math">
                    <m:r>
                      <a:rPr lang="es-MX" sz="2000" i="1">
                        <a:latin typeface="+mn-lt"/>
                        <a:ea typeface="Roboto" panose="02000000000000000000" pitchFamily="2" charset="0"/>
                      </a:rPr>
                      <m:t>𝑃</m:t>
                    </m:r>
                    <m:r>
                      <a:rPr lang="es-MX" sz="2000" i="1">
                        <a:latin typeface="+mn-lt"/>
                        <a:ea typeface="Roboto" panose="02000000000000000000" pitchFamily="2" charset="0"/>
                      </a:rPr>
                      <m:t>=</m:t>
                    </m:r>
                    <m:d>
                      <m:dPr>
                        <m:begChr m:val="{"/>
                        <m:endChr m:val="}"/>
                        <m:ctrlPr>
                          <a:rPr lang="es-MX" sz="2000" i="1">
                            <a:latin typeface="+mn-lt"/>
                            <a:ea typeface="Roboto" panose="02000000000000000000" pitchFamily="2" charset="0"/>
                          </a:rPr>
                        </m:ctrlPr>
                      </m:dPr>
                      <m:e>
                        <m:r>
                          <m:rPr>
                            <m:sty m:val="p"/>
                          </m:rPr>
                          <a:rPr lang="es-MX" sz="2000" i="0">
                            <a:latin typeface="+mn-lt"/>
                            <a:ea typeface="Roboto" panose="02000000000000000000" pitchFamily="2" charset="0"/>
                          </a:rPr>
                          <m:t>Snuzzle</m:t>
                        </m:r>
                        <m:r>
                          <a:rPr lang="es-MX" sz="2000" i="0">
                            <a:latin typeface="+mn-lt"/>
                            <a:ea typeface="Roboto" panose="02000000000000000000" pitchFamily="2" charset="0"/>
                          </a:rPr>
                          <m:t>, </m:t>
                        </m:r>
                        <m:r>
                          <m:rPr>
                            <m:sty m:val="p"/>
                          </m:rPr>
                          <a:rPr lang="es-MX" sz="2000" i="0">
                            <a:latin typeface="+mn-lt"/>
                            <a:ea typeface="Roboto" panose="02000000000000000000" pitchFamily="2" charset="0"/>
                          </a:rPr>
                          <m:t>Butterscotch</m:t>
                        </m:r>
                        <m:r>
                          <a:rPr lang="es-MX" sz="2000" i="0">
                            <a:latin typeface="+mn-lt"/>
                            <a:ea typeface="Roboto" panose="02000000000000000000" pitchFamily="2" charset="0"/>
                          </a:rPr>
                          <m:t>, </m:t>
                        </m:r>
                        <m:r>
                          <m:rPr>
                            <m:sty m:val="p"/>
                          </m:rPr>
                          <a:rPr lang="es-MX" sz="2000" i="0">
                            <a:latin typeface="+mn-lt"/>
                            <a:ea typeface="Roboto" panose="02000000000000000000" pitchFamily="2" charset="0"/>
                          </a:rPr>
                          <m:t>Blue</m:t>
                        </m:r>
                        <m:r>
                          <a:rPr lang="es-MX" sz="2000" i="0">
                            <a:latin typeface="+mn-lt"/>
                            <a:ea typeface="Roboto" panose="02000000000000000000" pitchFamily="2" charset="0"/>
                          </a:rPr>
                          <m:t> </m:t>
                        </m:r>
                        <m:r>
                          <m:rPr>
                            <m:sty m:val="p"/>
                          </m:rPr>
                          <a:rPr lang="es-MX" sz="2000" i="0">
                            <a:latin typeface="+mn-lt"/>
                            <a:ea typeface="Roboto" panose="02000000000000000000" pitchFamily="2" charset="0"/>
                          </a:rPr>
                          <m:t>Belle</m:t>
                        </m:r>
                        <m:r>
                          <a:rPr lang="es-MX" sz="2000" i="0">
                            <a:latin typeface="+mn-lt"/>
                            <a:ea typeface="Roboto" panose="02000000000000000000" pitchFamily="2" charset="0"/>
                          </a:rPr>
                          <m:t>, </m:t>
                        </m:r>
                        <m:r>
                          <m:rPr>
                            <m:sty m:val="p"/>
                          </m:rPr>
                          <a:rPr lang="es-MX" sz="2000" i="0">
                            <a:latin typeface="+mn-lt"/>
                            <a:ea typeface="Roboto" panose="02000000000000000000" pitchFamily="2" charset="0"/>
                          </a:rPr>
                          <m:t>Minty</m:t>
                        </m:r>
                        <m:r>
                          <a:rPr lang="es-MX" sz="2000" i="0">
                            <a:latin typeface="+mn-lt"/>
                            <a:ea typeface="Roboto" panose="02000000000000000000" pitchFamily="2" charset="0"/>
                          </a:rPr>
                          <m:t>, </m:t>
                        </m:r>
                        <m:r>
                          <m:rPr>
                            <m:sty m:val="p"/>
                          </m:rPr>
                          <a:rPr lang="es-MX" sz="2000" i="0">
                            <a:latin typeface="+mn-lt"/>
                            <a:ea typeface="Roboto" panose="02000000000000000000" pitchFamily="2" charset="0"/>
                          </a:rPr>
                          <m:t>Blossom</m:t>
                        </m:r>
                        <m:r>
                          <a:rPr lang="es-MX" sz="2000" i="0">
                            <a:latin typeface="+mn-lt"/>
                            <a:ea typeface="Roboto" panose="02000000000000000000" pitchFamily="2" charset="0"/>
                          </a:rPr>
                          <m:t>, </m:t>
                        </m:r>
                        <m:r>
                          <m:rPr>
                            <m:sty m:val="p"/>
                          </m:rPr>
                          <a:rPr lang="es-MX" sz="2000" i="0">
                            <a:latin typeface="+mn-lt"/>
                            <a:ea typeface="Roboto" panose="02000000000000000000" pitchFamily="2" charset="0"/>
                          </a:rPr>
                          <m:t>Cotton</m:t>
                        </m:r>
                        <m:r>
                          <a:rPr lang="es-MX" sz="2000" i="0">
                            <a:latin typeface="+mn-lt"/>
                            <a:ea typeface="Roboto" panose="02000000000000000000" pitchFamily="2" charset="0"/>
                          </a:rPr>
                          <m:t> </m:t>
                        </m:r>
                        <m:r>
                          <m:rPr>
                            <m:sty m:val="p"/>
                          </m:rPr>
                          <a:rPr lang="es-MX" sz="2000" i="0">
                            <a:latin typeface="+mn-lt"/>
                            <a:ea typeface="Roboto" panose="02000000000000000000" pitchFamily="2" charset="0"/>
                          </a:rPr>
                          <m:t>Candy</m:t>
                        </m:r>
                      </m:e>
                    </m:d>
                  </m:oMath>
                </a14:m>
                <a:endParaRPr lang="es-MX" sz="2000" b="0" i="1" dirty="0">
                  <a:latin typeface="+mn-lt"/>
                  <a:ea typeface="Roboto" panose="02000000000000000000" pitchFamily="2" charset="0"/>
                </a:endParaRPr>
              </a:p>
              <a:p>
                <a14:m>
                  <m:oMath xmlns:m="http://schemas.openxmlformats.org/officeDocument/2006/math">
                    <m:r>
                      <a:rPr lang="es-MX" sz="2000" i="1">
                        <a:latin typeface="+mn-lt"/>
                        <a:ea typeface="Roboto" panose="02000000000000000000" pitchFamily="2" charset="0"/>
                      </a:rPr>
                      <m:t>𝐹</m:t>
                    </m:r>
                    <m:r>
                      <a:rPr lang="es-MX" sz="2000" i="1">
                        <a:latin typeface="+mn-lt"/>
                        <a:ea typeface="Roboto" panose="02000000000000000000" pitchFamily="2" charset="0"/>
                      </a:rPr>
                      <m:t>=</m:t>
                    </m:r>
                    <m:d>
                      <m:dPr>
                        <m:begChr m:val="{"/>
                        <m:endChr m:val="}"/>
                        <m:ctrlPr>
                          <a:rPr lang="es-MX" sz="2000" b="0" i="1" smtClean="0">
                            <a:latin typeface="+mn-lt"/>
                            <a:ea typeface="Roboto" panose="02000000000000000000" pitchFamily="2" charset="0"/>
                          </a:rPr>
                        </m:ctrlPr>
                      </m:dPr>
                      <m:e>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1</m:t>
                            </m:r>
                          </m:num>
                          <m:den>
                            <m:r>
                              <a:rPr lang="es-MX" sz="2000" i="1">
                                <a:latin typeface="+mn-lt"/>
                                <a:ea typeface="Roboto" panose="02000000000000000000" pitchFamily="2" charset="0"/>
                              </a:rPr>
                              <m:t>9</m:t>
                            </m:r>
                          </m:den>
                        </m:f>
                        <m:r>
                          <a:rPr lang="es-MX" sz="2000" i="1">
                            <a:latin typeface="+mn-lt"/>
                            <a:ea typeface="Roboto" panose="02000000000000000000" pitchFamily="2" charset="0"/>
                          </a:rPr>
                          <m:t>,</m:t>
                        </m:r>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2</m:t>
                            </m:r>
                          </m:num>
                          <m:den>
                            <m:r>
                              <a:rPr lang="es-MX" sz="2000" i="1">
                                <a:latin typeface="+mn-lt"/>
                                <a:ea typeface="Roboto" panose="02000000000000000000" pitchFamily="2" charset="0"/>
                              </a:rPr>
                              <m:t>9</m:t>
                            </m:r>
                          </m:den>
                        </m:f>
                        <m:r>
                          <a:rPr lang="es-MX" sz="2000" i="1">
                            <a:latin typeface="+mn-lt"/>
                            <a:ea typeface="Roboto" panose="02000000000000000000" pitchFamily="2" charset="0"/>
                          </a:rPr>
                          <m:t>,</m:t>
                        </m:r>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3</m:t>
                            </m:r>
                          </m:num>
                          <m:den>
                            <m:r>
                              <a:rPr lang="es-MX" sz="2000" i="1">
                                <a:latin typeface="+mn-lt"/>
                                <a:ea typeface="Roboto" panose="02000000000000000000" pitchFamily="2" charset="0"/>
                              </a:rPr>
                              <m:t>9</m:t>
                            </m:r>
                          </m:den>
                        </m:f>
                        <m:r>
                          <a:rPr lang="es-MX" sz="2000" i="1">
                            <a:latin typeface="+mn-lt"/>
                            <a:ea typeface="Roboto" panose="02000000000000000000" pitchFamily="2" charset="0"/>
                          </a:rPr>
                          <m:t>,</m:t>
                        </m:r>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4</m:t>
                            </m:r>
                          </m:num>
                          <m:den>
                            <m:r>
                              <a:rPr lang="es-MX" sz="2000" i="1">
                                <a:latin typeface="+mn-lt"/>
                                <a:ea typeface="Roboto" panose="02000000000000000000" pitchFamily="2" charset="0"/>
                              </a:rPr>
                              <m:t>9</m:t>
                            </m:r>
                          </m:den>
                        </m:f>
                        <m:r>
                          <a:rPr lang="es-MX" sz="2000" i="1">
                            <a:latin typeface="+mn-lt"/>
                            <a:ea typeface="Roboto" panose="02000000000000000000" pitchFamily="2" charset="0"/>
                          </a:rPr>
                          <m:t>,</m:t>
                        </m:r>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5</m:t>
                            </m:r>
                          </m:num>
                          <m:den>
                            <m:r>
                              <a:rPr lang="es-MX" sz="2000" i="1">
                                <a:latin typeface="+mn-lt"/>
                                <a:ea typeface="Roboto" panose="02000000000000000000" pitchFamily="2" charset="0"/>
                              </a:rPr>
                              <m:t>9</m:t>
                            </m:r>
                          </m:den>
                        </m:f>
                        <m:r>
                          <a:rPr lang="es-MX" sz="2000" i="1">
                            <a:latin typeface="+mn-lt"/>
                            <a:ea typeface="Roboto" panose="02000000000000000000" pitchFamily="2" charset="0"/>
                          </a:rPr>
                          <m:t>,</m:t>
                        </m:r>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6</m:t>
                            </m:r>
                          </m:num>
                          <m:den>
                            <m:r>
                              <a:rPr lang="es-MX" sz="2000" i="1">
                                <a:latin typeface="+mn-lt"/>
                                <a:ea typeface="Roboto" panose="02000000000000000000" pitchFamily="2" charset="0"/>
                              </a:rPr>
                              <m:t>9</m:t>
                            </m:r>
                          </m:den>
                        </m:f>
                        <m:r>
                          <a:rPr lang="es-MX" sz="2000" i="1">
                            <a:latin typeface="+mn-lt"/>
                            <a:ea typeface="Roboto" panose="02000000000000000000" pitchFamily="2" charset="0"/>
                          </a:rPr>
                          <m:t>,</m:t>
                        </m:r>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7</m:t>
                            </m:r>
                          </m:num>
                          <m:den>
                            <m:r>
                              <a:rPr lang="es-MX" sz="2000" i="1">
                                <a:latin typeface="+mn-lt"/>
                                <a:ea typeface="Roboto" panose="02000000000000000000" pitchFamily="2" charset="0"/>
                              </a:rPr>
                              <m:t>9</m:t>
                            </m:r>
                          </m:den>
                        </m:f>
                        <m:r>
                          <a:rPr lang="es-MX" sz="2000" i="1">
                            <a:latin typeface="+mn-lt"/>
                            <a:ea typeface="Roboto" panose="02000000000000000000" pitchFamily="2" charset="0"/>
                          </a:rPr>
                          <m:t>,</m:t>
                        </m:r>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8</m:t>
                            </m:r>
                          </m:num>
                          <m:den>
                            <m:r>
                              <a:rPr lang="es-MX" sz="2000" i="1">
                                <a:latin typeface="+mn-lt"/>
                                <a:ea typeface="Roboto" panose="02000000000000000000" pitchFamily="2" charset="0"/>
                              </a:rPr>
                              <m:t>9</m:t>
                            </m:r>
                          </m:den>
                        </m:f>
                        <m:r>
                          <a:rPr lang="es-MX" sz="2000" i="1">
                            <a:latin typeface="+mn-lt"/>
                            <a:ea typeface="Roboto" panose="02000000000000000000" pitchFamily="2" charset="0"/>
                          </a:rPr>
                          <m:t>,</m:t>
                        </m:r>
                        <m:f>
                          <m:fPr>
                            <m:ctrlPr>
                              <a:rPr lang="es-MX" sz="2000" b="0" i="1" smtClean="0">
                                <a:latin typeface="+mn-lt"/>
                                <a:ea typeface="Roboto" panose="02000000000000000000" pitchFamily="2" charset="0"/>
                              </a:rPr>
                            </m:ctrlPr>
                          </m:fPr>
                          <m:num>
                            <m:r>
                              <a:rPr lang="es-MX" sz="2000" i="1">
                                <a:latin typeface="+mn-lt"/>
                                <a:ea typeface="Roboto" panose="02000000000000000000" pitchFamily="2" charset="0"/>
                              </a:rPr>
                              <m:t>9</m:t>
                            </m:r>
                          </m:num>
                          <m:den>
                            <m:r>
                              <a:rPr lang="es-MX" sz="2000" i="1">
                                <a:latin typeface="+mn-lt"/>
                                <a:ea typeface="Roboto" panose="02000000000000000000" pitchFamily="2" charset="0"/>
                              </a:rPr>
                              <m:t>9</m:t>
                            </m:r>
                          </m:den>
                        </m:f>
                      </m:e>
                    </m:d>
                  </m:oMath>
                </a14:m>
                <a:endParaRPr lang="es-MX" sz="2000" i="1" dirty="0">
                  <a:latin typeface="+mn-lt"/>
                  <a:ea typeface="Roboto" panose="02000000000000000000" pitchFamily="2" charset="0"/>
                </a:endParaRPr>
              </a:p>
              <a:p>
                <a14:m>
                  <m:oMath xmlns:m="http://schemas.openxmlformats.org/officeDocument/2006/math">
                    <m:r>
                      <a:rPr lang="es-MX" sz="2000" b="0" i="1" smtClean="0">
                        <a:latin typeface="+mn-lt"/>
                        <a:ea typeface="Roboto" panose="02000000000000000000" pitchFamily="2" charset="0"/>
                      </a:rPr>
                      <m:t>𝐶</m:t>
                    </m:r>
                    <m:r>
                      <a:rPr lang="es-MX" sz="2000" b="0" i="1" smtClean="0">
                        <a:latin typeface="+mn-lt"/>
                        <a:ea typeface="Roboto" panose="02000000000000000000" pitchFamily="2" charset="0"/>
                      </a:rPr>
                      <m:t>=</m:t>
                    </m:r>
                    <m:d>
                      <m:dPr>
                        <m:begChr m:val="{"/>
                        <m:endChr m:val="}"/>
                        <m:ctrlPr>
                          <a:rPr lang="es-MX" sz="2000" b="0" i="1" smtClean="0">
                            <a:latin typeface="+mn-lt"/>
                            <a:ea typeface="Roboto" panose="02000000000000000000" pitchFamily="2" charset="0"/>
                          </a:rPr>
                        </m:ctrlPr>
                      </m:dPr>
                      <m:e>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𝑛</m:t>
                            </m:r>
                          </m:e>
                          <m:sup>
                            <m:r>
                              <a:rPr lang="es-MX" sz="2000" b="0" i="1" smtClean="0">
                                <a:latin typeface="+mn-lt"/>
                                <a:ea typeface="Roboto" panose="02000000000000000000" pitchFamily="2" charset="0"/>
                              </a:rPr>
                              <m:t>3</m:t>
                            </m:r>
                          </m:sup>
                        </m:sSup>
                      </m:e>
                      <m:e>
                        <m:r>
                          <a:rPr lang="es-MX" sz="2000" b="0" i="1" smtClean="0">
                            <a:latin typeface="+mn-lt"/>
                            <a:ea typeface="Roboto" panose="02000000000000000000" pitchFamily="2" charset="0"/>
                          </a:rPr>
                          <m:t>𝑛</m:t>
                        </m:r>
                        <m:r>
                          <a:rPr lang="es-MX" sz="2000" b="0" i="1" smtClean="0">
                            <a:latin typeface="+mn-lt"/>
                            <a:ea typeface="Roboto" panose="02000000000000000000" pitchFamily="2" charset="0"/>
                          </a:rPr>
                          <m:t> </m:t>
                        </m:r>
                        <m:r>
                          <m:rPr>
                            <m:sty m:val="p"/>
                          </m:rPr>
                          <a:rPr lang="es-MX" sz="2000" b="0" i="0" smtClean="0">
                            <a:latin typeface="+mn-lt"/>
                            <a:ea typeface="Roboto" panose="02000000000000000000" pitchFamily="2" charset="0"/>
                          </a:rPr>
                          <m:t>es</m:t>
                        </m:r>
                        <m:r>
                          <a:rPr lang="es-MX" sz="2000" b="0" i="0" smtClean="0">
                            <a:latin typeface="+mn-lt"/>
                            <a:ea typeface="Roboto" panose="02000000000000000000" pitchFamily="2" charset="0"/>
                          </a:rPr>
                          <m:t> </m:t>
                        </m:r>
                        <m:r>
                          <m:rPr>
                            <m:sty m:val="p"/>
                          </m:rPr>
                          <a:rPr lang="es-MX" sz="2000" b="0" i="0" smtClean="0">
                            <a:latin typeface="+mn-lt"/>
                            <a:ea typeface="Roboto" panose="02000000000000000000" pitchFamily="2" charset="0"/>
                          </a:rPr>
                          <m:t>un</m:t>
                        </m:r>
                        <m:r>
                          <a:rPr lang="es-MX" sz="2000" b="0" i="0" smtClean="0">
                            <a:latin typeface="+mn-lt"/>
                            <a:ea typeface="Roboto" panose="02000000000000000000" pitchFamily="2" charset="0"/>
                          </a:rPr>
                          <m:t> </m:t>
                        </m:r>
                        <m:r>
                          <m:rPr>
                            <m:sty m:val="p"/>
                          </m:rPr>
                          <a:rPr lang="es-MX" sz="2000" b="0" i="0" smtClean="0">
                            <a:latin typeface="+mn-lt"/>
                            <a:ea typeface="Roboto" panose="02000000000000000000" pitchFamily="2" charset="0"/>
                          </a:rPr>
                          <m:t>miemtro</m:t>
                        </m:r>
                        <m:r>
                          <a:rPr lang="es-MX" sz="2000" b="0" i="0" smtClean="0">
                            <a:latin typeface="+mn-lt"/>
                            <a:ea typeface="Roboto" panose="02000000000000000000" pitchFamily="2" charset="0"/>
                          </a:rPr>
                          <m:t> </m:t>
                        </m:r>
                        <m:r>
                          <m:rPr>
                            <m:sty m:val="p"/>
                          </m:rPr>
                          <a:rPr lang="es-MX" sz="2000" b="0" i="0" smtClean="0">
                            <a:latin typeface="+mn-lt"/>
                            <a:ea typeface="Roboto" panose="02000000000000000000" pitchFamily="2" charset="0"/>
                          </a:rPr>
                          <m:t>de</m:t>
                        </m:r>
                        <m:r>
                          <a:rPr lang="es-MX" sz="2000" b="0" i="1" smtClean="0">
                            <a:latin typeface="+mn-lt"/>
                            <a:ea typeface="Roboto" panose="02000000000000000000" pitchFamily="2" charset="0"/>
                          </a:rPr>
                          <m:t> </m:t>
                        </m:r>
                        <m:r>
                          <a:rPr lang="es-MX" sz="2000" b="0" i="1" smtClean="0">
                            <a:latin typeface="+mn-lt"/>
                            <a:ea typeface="Cambria Math" panose="02040503050406030204" pitchFamily="18" charset="0"/>
                          </a:rPr>
                          <m:t>ℕ</m:t>
                        </m:r>
                      </m:e>
                    </m:d>
                    <m:r>
                      <a:rPr lang="es-MX" sz="2000" b="0" i="1" smtClean="0">
                        <a:latin typeface="+mn-lt"/>
                        <a:ea typeface="Roboto" panose="02000000000000000000" pitchFamily="2" charset="0"/>
                      </a:rPr>
                      <m:t>=</m:t>
                    </m:r>
                    <m:d>
                      <m:dPr>
                        <m:begChr m:val="{"/>
                        <m:endChr m:val="}"/>
                        <m:ctrlPr>
                          <a:rPr lang="es-MX" sz="2000" b="0" i="1" smtClean="0">
                            <a:latin typeface="+mn-lt"/>
                            <a:ea typeface="Roboto" panose="02000000000000000000" pitchFamily="2" charset="0"/>
                          </a:rPr>
                        </m:ctrlPr>
                      </m:dPr>
                      <m:e>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0</m:t>
                            </m:r>
                          </m:e>
                          <m:sup>
                            <m:r>
                              <a:rPr lang="es-MX" sz="2000" b="0" i="1" smtClean="0">
                                <a:latin typeface="+mn-lt"/>
                                <a:ea typeface="Roboto" panose="02000000000000000000" pitchFamily="2" charset="0"/>
                              </a:rPr>
                              <m:t>3</m:t>
                            </m:r>
                          </m:sup>
                        </m:sSup>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1</m:t>
                            </m:r>
                          </m:e>
                          <m:sup>
                            <m:r>
                              <a:rPr lang="es-MX" sz="2000" b="0" i="1" smtClean="0">
                                <a:latin typeface="+mn-lt"/>
                                <a:ea typeface="Roboto" panose="02000000000000000000" pitchFamily="2" charset="0"/>
                              </a:rPr>
                              <m:t>3</m:t>
                            </m:r>
                          </m:sup>
                        </m:sSup>
                        <m:r>
                          <a:rPr lang="es-MX" sz="2000" b="0" i="1" smtClean="0">
                            <a:latin typeface="+mn-lt"/>
                            <a:ea typeface="Roboto" panose="02000000000000000000" pitchFamily="2" charset="0"/>
                          </a:rPr>
                          <m:t>,</m:t>
                        </m:r>
                        <m:sSup>
                          <m:sSupPr>
                            <m:ctrlPr>
                              <a:rPr lang="es-MX" sz="2000" i="1">
                                <a:latin typeface="+mn-lt"/>
                                <a:ea typeface="Roboto" panose="02000000000000000000" pitchFamily="2" charset="0"/>
                              </a:rPr>
                            </m:ctrlPr>
                          </m:sSupPr>
                          <m:e>
                            <m:r>
                              <a:rPr lang="es-MX" sz="2000" b="0" i="1" smtClean="0">
                                <a:latin typeface="+mn-lt"/>
                                <a:ea typeface="Roboto" panose="02000000000000000000" pitchFamily="2" charset="0"/>
                              </a:rPr>
                              <m:t>2</m:t>
                            </m:r>
                          </m:e>
                          <m:sup>
                            <m:r>
                              <a:rPr lang="es-MX" sz="2000" i="1">
                                <a:latin typeface="+mn-lt"/>
                                <a:ea typeface="Roboto" panose="02000000000000000000" pitchFamily="2" charset="0"/>
                              </a:rPr>
                              <m:t>3</m:t>
                            </m:r>
                          </m:sup>
                        </m:sSup>
                        <m:r>
                          <a:rPr lang="es-MX" sz="2000" b="0" i="1" smtClean="0">
                            <a:latin typeface="+mn-lt"/>
                            <a:ea typeface="Roboto" panose="02000000000000000000" pitchFamily="2" charset="0"/>
                          </a:rPr>
                          <m:t>,</m:t>
                        </m:r>
                        <m:sSup>
                          <m:sSupPr>
                            <m:ctrlPr>
                              <a:rPr lang="es-MX" sz="2000" i="1">
                                <a:latin typeface="+mn-lt"/>
                                <a:ea typeface="Roboto" panose="02000000000000000000" pitchFamily="2" charset="0"/>
                              </a:rPr>
                            </m:ctrlPr>
                          </m:sSupPr>
                          <m:e>
                            <m:r>
                              <a:rPr lang="es-MX" sz="2000" b="0" i="1" smtClean="0">
                                <a:latin typeface="+mn-lt"/>
                                <a:ea typeface="Roboto" panose="02000000000000000000" pitchFamily="2" charset="0"/>
                              </a:rPr>
                              <m:t>3</m:t>
                            </m:r>
                          </m:e>
                          <m:sup>
                            <m:r>
                              <a:rPr lang="es-MX" sz="2000" i="1">
                                <a:latin typeface="+mn-lt"/>
                                <a:ea typeface="Roboto" panose="02000000000000000000" pitchFamily="2" charset="0"/>
                              </a:rPr>
                              <m:t>3</m:t>
                            </m:r>
                          </m:sup>
                        </m:sSup>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4</m:t>
                            </m:r>
                          </m:e>
                          <m:sup>
                            <m:r>
                              <a:rPr lang="es-MX" sz="2000" b="0" i="1" smtClean="0">
                                <a:latin typeface="+mn-lt"/>
                                <a:ea typeface="Roboto" panose="02000000000000000000" pitchFamily="2" charset="0"/>
                              </a:rPr>
                              <m:t>3</m:t>
                            </m:r>
                          </m:sup>
                        </m:sSup>
                        <m:r>
                          <a:rPr lang="es-MX" sz="2000" b="0" i="1" smtClean="0">
                            <a:latin typeface="+mn-lt"/>
                            <a:ea typeface="Roboto" panose="02000000000000000000" pitchFamily="2" charset="0"/>
                          </a:rPr>
                          <m:t>,…</m:t>
                        </m:r>
                      </m:e>
                    </m:d>
                    <m:r>
                      <a:rPr lang="es-MX" sz="2000" b="0" i="1" smtClean="0">
                        <a:latin typeface="+mn-lt"/>
                        <a:ea typeface="Roboto" panose="02000000000000000000" pitchFamily="2" charset="0"/>
                      </a:rPr>
                      <m:t>=</m:t>
                    </m:r>
                    <m:d>
                      <m:dPr>
                        <m:begChr m:val="{"/>
                        <m:endChr m:val="}"/>
                        <m:ctrlPr>
                          <a:rPr lang="es-MX" sz="1600" i="1">
                            <a:latin typeface="+mn-lt"/>
                            <a:ea typeface="Roboto" panose="02000000000000000000" pitchFamily="2" charset="0"/>
                          </a:rPr>
                        </m:ctrlPr>
                      </m:dPr>
                      <m:e>
                        <m:r>
                          <a:rPr lang="es-MX" sz="1600" b="0" i="1" smtClean="0">
                            <a:latin typeface="+mn-lt"/>
                            <a:ea typeface="Roboto" panose="02000000000000000000" pitchFamily="2" charset="0"/>
                          </a:rPr>
                          <m:t>0</m:t>
                        </m:r>
                        <m:r>
                          <a:rPr lang="es-MX" sz="1600" i="1">
                            <a:latin typeface="+mn-lt"/>
                            <a:ea typeface="Roboto" panose="02000000000000000000" pitchFamily="2" charset="0"/>
                          </a:rPr>
                          <m:t>,</m:t>
                        </m:r>
                        <m:r>
                          <a:rPr lang="es-MX" sz="1600" b="0" i="1" smtClean="0">
                            <a:latin typeface="+mn-lt"/>
                            <a:ea typeface="Roboto" panose="02000000000000000000" pitchFamily="2" charset="0"/>
                          </a:rPr>
                          <m:t>1</m:t>
                        </m:r>
                        <m:r>
                          <a:rPr lang="es-MX" sz="1600" i="1">
                            <a:latin typeface="+mn-lt"/>
                            <a:ea typeface="Roboto" panose="02000000000000000000" pitchFamily="2" charset="0"/>
                          </a:rPr>
                          <m:t>,</m:t>
                        </m:r>
                        <m:r>
                          <a:rPr lang="es-MX" sz="1600" b="0" i="1" smtClean="0">
                            <a:latin typeface="+mn-lt"/>
                            <a:ea typeface="Roboto" panose="02000000000000000000" pitchFamily="2" charset="0"/>
                          </a:rPr>
                          <m:t>8</m:t>
                        </m:r>
                        <m:r>
                          <a:rPr lang="es-MX" sz="1600" i="1">
                            <a:latin typeface="+mn-lt"/>
                            <a:ea typeface="Roboto" panose="02000000000000000000" pitchFamily="2" charset="0"/>
                          </a:rPr>
                          <m:t>,</m:t>
                        </m:r>
                        <m:r>
                          <a:rPr lang="es-MX" sz="1600" b="0" i="1" smtClean="0">
                            <a:latin typeface="+mn-lt"/>
                            <a:ea typeface="Roboto" panose="02000000000000000000" pitchFamily="2" charset="0"/>
                          </a:rPr>
                          <m:t>27</m:t>
                        </m:r>
                        <m:r>
                          <a:rPr lang="es-MX" sz="1600" i="1">
                            <a:latin typeface="+mn-lt"/>
                            <a:ea typeface="Roboto" panose="02000000000000000000" pitchFamily="2" charset="0"/>
                          </a:rPr>
                          <m:t>,</m:t>
                        </m:r>
                        <m:r>
                          <a:rPr lang="es-MX" sz="1600" b="0" i="1" smtClean="0">
                            <a:latin typeface="+mn-lt"/>
                            <a:ea typeface="Roboto" panose="02000000000000000000" pitchFamily="2" charset="0"/>
                          </a:rPr>
                          <m:t>256,</m:t>
                        </m:r>
                        <m:r>
                          <a:rPr lang="es-MX" sz="1600" i="1">
                            <a:latin typeface="+mn-lt"/>
                            <a:ea typeface="Roboto" panose="02000000000000000000" pitchFamily="2" charset="0"/>
                          </a:rPr>
                          <m:t>…</m:t>
                        </m:r>
                      </m:e>
                    </m:d>
                  </m:oMath>
                </a14:m>
                <a:endParaRPr lang="es-MX" sz="1600" dirty="0">
                  <a:latin typeface="+mn-lt"/>
                  <a:ea typeface="Roboto" panose="02000000000000000000" pitchFamily="2" charset="0"/>
                </a:endParaRP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916650" y="1311009"/>
                <a:ext cx="11000047" cy="1933636"/>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23313319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Solución – Ejemplo 3</a:t>
            </a:r>
            <a:endParaRPr lang="es-MX" dirty="0">
              <a:solidFill>
                <a:schemeClr val="accent2"/>
              </a:solidFill>
              <a:latin typeface="+mn-lt"/>
            </a:endParaRPr>
          </a:p>
          <a:p>
            <a:pPr indent="0">
              <a:buFont typeface="Roboto"/>
              <a:buNone/>
            </a:pPr>
            <a:endParaRPr lang="es-MX" sz="2400" dirty="0">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916650" y="1311008"/>
                <a:ext cx="11000047" cy="150593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Para los siguientes conjuntos, obtenga le numero total de subconjuntos que se puede formar:</a:t>
                </a:r>
              </a:p>
              <a:p>
                <a14:m>
                  <m:oMath xmlns:m="http://schemas.openxmlformats.org/officeDocument/2006/math">
                    <m:r>
                      <a:rPr lang="es-MX" sz="2000" i="1">
                        <a:latin typeface="+mn-lt"/>
                        <a:ea typeface="Roboto" panose="02000000000000000000" pitchFamily="2" charset="0"/>
                      </a:rPr>
                      <m:t>𝐶</m:t>
                    </m:r>
                    <m:r>
                      <a:rPr lang="es-MX" sz="2000" i="1">
                        <a:latin typeface="+mn-lt"/>
                        <a:ea typeface="Roboto" panose="02000000000000000000" pitchFamily="2" charset="0"/>
                      </a:rPr>
                      <m:t>=</m:t>
                    </m:r>
                    <m:d>
                      <m:dPr>
                        <m:begChr m:val="{"/>
                        <m:endChr m:val="}"/>
                        <m:ctrlPr>
                          <a:rPr lang="es-MX" sz="2000" i="1">
                            <a:latin typeface="+mn-lt"/>
                            <a:ea typeface="Roboto" panose="02000000000000000000" pitchFamily="2" charset="0"/>
                          </a:rPr>
                        </m:ctrlPr>
                      </m:dPr>
                      <m:e>
                        <m:r>
                          <m:rPr>
                            <m:sty m:val="p"/>
                          </m:rPr>
                          <a:rPr lang="es-MX" sz="2000" i="0">
                            <a:latin typeface="+mn-lt"/>
                            <a:ea typeface="Roboto" panose="02000000000000000000" pitchFamily="2" charset="0"/>
                          </a:rPr>
                          <m:t>Adele</m:t>
                        </m:r>
                        <m:r>
                          <a:rPr lang="es-MX" sz="2000" i="0">
                            <a:latin typeface="+mn-lt"/>
                            <a:ea typeface="Roboto" panose="02000000000000000000" pitchFamily="2" charset="0"/>
                          </a:rPr>
                          <m:t>, </m:t>
                        </m:r>
                        <m:r>
                          <m:rPr>
                            <m:sty m:val="p"/>
                          </m:rPr>
                          <a:rPr lang="es-MX" sz="2000" i="0">
                            <a:latin typeface="+mn-lt"/>
                            <a:ea typeface="Roboto" panose="02000000000000000000" pitchFamily="2" charset="0"/>
                          </a:rPr>
                          <m:t>Beyonce</m:t>
                        </m:r>
                        <m:r>
                          <a:rPr lang="es-MX" sz="2000" i="0">
                            <a:latin typeface="+mn-lt"/>
                            <a:ea typeface="Roboto" panose="02000000000000000000" pitchFamily="2" charset="0"/>
                          </a:rPr>
                          <m:t>, </m:t>
                        </m:r>
                        <m:r>
                          <m:rPr>
                            <m:sty m:val="p"/>
                          </m:rPr>
                          <a:rPr lang="es-MX" sz="2000" i="0">
                            <a:latin typeface="+mn-lt"/>
                            <a:ea typeface="Roboto" panose="02000000000000000000" pitchFamily="2" charset="0"/>
                          </a:rPr>
                          <m:t>Cher</m:t>
                        </m:r>
                        <m:r>
                          <a:rPr lang="es-MX" sz="2000" i="0">
                            <a:latin typeface="+mn-lt"/>
                            <a:ea typeface="Roboto" panose="02000000000000000000" pitchFamily="2" charset="0"/>
                          </a:rPr>
                          <m:t>, </m:t>
                        </m:r>
                        <m:r>
                          <m:rPr>
                            <m:sty m:val="p"/>
                          </m:rPr>
                          <a:rPr lang="es-MX" sz="2000" i="0">
                            <a:latin typeface="+mn-lt"/>
                            <a:ea typeface="Roboto" panose="02000000000000000000" pitchFamily="2" charset="0"/>
                          </a:rPr>
                          <m:t>Madonna</m:t>
                        </m:r>
                        <m:r>
                          <a:rPr lang="es-MX" sz="2000" i="0">
                            <a:latin typeface="+mn-lt"/>
                            <a:ea typeface="Roboto" panose="02000000000000000000" pitchFamily="2" charset="0"/>
                          </a:rPr>
                          <m:t>, </m:t>
                        </m:r>
                        <m:r>
                          <m:rPr>
                            <m:sty m:val="p"/>
                          </m:rPr>
                          <a:rPr lang="es-MX" sz="2000" i="0">
                            <a:latin typeface="+mn-lt"/>
                            <a:ea typeface="Roboto" panose="02000000000000000000" pitchFamily="2" charset="0"/>
                          </a:rPr>
                          <m:t>Shakira</m:t>
                        </m:r>
                      </m:e>
                    </m:d>
                  </m:oMath>
                </a14:m>
                <a:endParaRPr lang="es-MX" sz="2000" dirty="0">
                  <a:latin typeface="+mn-lt"/>
                  <a:ea typeface="Roboto" panose="02000000000000000000" pitchFamily="2" charset="0"/>
                </a:endParaRPr>
              </a:p>
              <a:p>
                <a14:m>
                  <m:oMath xmlns:m="http://schemas.openxmlformats.org/officeDocument/2006/math">
                    <m:r>
                      <a:rPr lang="es-MX" sz="2000" b="0" i="1" smtClean="0">
                        <a:latin typeface="+mn-lt"/>
                        <a:ea typeface="Roboto" panose="02000000000000000000" pitchFamily="2" charset="0"/>
                      </a:rPr>
                      <m:t>𝐴</m:t>
                    </m:r>
                    <m:r>
                      <a:rPr lang="es-MX" sz="2000" i="1" smtClean="0">
                        <a:latin typeface="+mn-lt"/>
                        <a:ea typeface="Roboto" panose="02000000000000000000" pitchFamily="2" charset="0"/>
                      </a:rPr>
                      <m:t>=</m:t>
                    </m:r>
                    <m:d>
                      <m:dPr>
                        <m:begChr m:val="{"/>
                        <m:endChr m:val="}"/>
                        <m:ctrlPr>
                          <a:rPr lang="es-MX" sz="2000" i="1">
                            <a:latin typeface="+mn-lt"/>
                            <a:ea typeface="Roboto" panose="02000000000000000000" pitchFamily="2" charset="0"/>
                          </a:rPr>
                        </m:ctrlPr>
                      </m:dPr>
                      <m:e>
                        <m:r>
                          <a:rPr lang="es-MX" sz="2000" b="0" i="0" smtClean="0">
                            <a:latin typeface="+mn-lt"/>
                            <a:ea typeface="Roboto" panose="02000000000000000000" pitchFamily="2" charset="0"/>
                          </a:rPr>
                          <m:t>3</m:t>
                        </m:r>
                      </m:e>
                    </m:d>
                  </m:oMath>
                </a14:m>
                <a:endParaRPr lang="es-MX" sz="3200" dirty="0">
                  <a:latin typeface="+mn-lt"/>
                  <a:ea typeface="Roboto" panose="02000000000000000000" pitchFamily="2" charset="0"/>
                </a:endParaRP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916650" y="1311008"/>
                <a:ext cx="11000047" cy="1505934"/>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7646162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Solución – Ejemplo 4</a:t>
            </a:r>
            <a:endParaRPr lang="es-MX" dirty="0">
              <a:solidFill>
                <a:schemeClr val="accent2"/>
              </a:solidFill>
              <a:latin typeface="+mn-lt"/>
            </a:endParaRPr>
          </a:p>
          <a:p>
            <a:pPr indent="0">
              <a:buFont typeface="Roboto"/>
              <a:buNone/>
            </a:pPr>
            <a:endParaRPr lang="es-MX" sz="2400" dirty="0">
              <a:latin typeface="+mn-lt"/>
            </a:endParaRPr>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841700" y="1311008"/>
            <a:ext cx="11000047" cy="124046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Dibuje un diagrama de Venn que represente las siguientes relaciones:</a:t>
            </a:r>
          </a:p>
          <a:p>
            <a:r>
              <a:rPr lang="es-MX" sz="2000" dirty="0">
                <a:latin typeface="+mn-lt"/>
                <a:ea typeface="Roboto" panose="02000000000000000000" pitchFamily="2" charset="0"/>
              </a:rPr>
              <a:t>Todas las bicicletas y todos los carros tienen ruedas, pero ninguna bicicleta es un carro.</a:t>
            </a:r>
          </a:p>
          <a:p>
            <a:r>
              <a:rPr lang="es-MX" sz="2000" dirty="0">
                <a:latin typeface="+mn-lt"/>
                <a:ea typeface="Roboto" panose="02000000000000000000" pitchFamily="2" charset="0"/>
              </a:rPr>
              <a:t>Todas las mujeres son personas</a:t>
            </a:r>
          </a:p>
        </p:txBody>
      </p:sp>
    </p:spTree>
    <p:extLst>
      <p:ext uri="{BB962C8B-B14F-4D97-AF65-F5344CB8AC3E}">
        <p14:creationId xmlns:p14="http://schemas.microsoft.com/office/powerpoint/2010/main" val="3966904543"/>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Ejemplos</a:t>
            </a:r>
            <a:endParaRPr dirty="0"/>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Solución – Ejemplo 4</a:t>
            </a:r>
            <a:endParaRPr lang="es-MX" dirty="0">
              <a:solidFill>
                <a:schemeClr val="accent2"/>
              </a:solidFill>
              <a:latin typeface="+mn-lt"/>
            </a:endParaRPr>
          </a:p>
          <a:p>
            <a:pPr indent="0">
              <a:buFont typeface="Roboto"/>
              <a:buNone/>
            </a:pPr>
            <a:endParaRPr lang="es-MX" sz="2400" dirty="0">
              <a:latin typeface="+mn-lt"/>
            </a:endParaRPr>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841700" y="1311008"/>
            <a:ext cx="11000047" cy="124046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Dibuje un diagrama de Venn que represente las siguientes relaciones:</a:t>
            </a:r>
          </a:p>
          <a:p>
            <a:r>
              <a:rPr lang="es-MX" sz="2000" dirty="0">
                <a:latin typeface="+mn-lt"/>
                <a:ea typeface="Roboto" panose="02000000000000000000" pitchFamily="2" charset="0"/>
              </a:rPr>
              <a:t>Todas las bicicletas y todos los carros tienen ruedas, pero ninguna bicicleta es un carro.</a:t>
            </a:r>
          </a:p>
          <a:p>
            <a:r>
              <a:rPr lang="es-MX" sz="2000" dirty="0">
                <a:latin typeface="+mn-lt"/>
                <a:ea typeface="Roboto" panose="02000000000000000000" pitchFamily="2" charset="0"/>
              </a:rPr>
              <a:t>Todas las mujeres son personas</a:t>
            </a:r>
          </a:p>
        </p:txBody>
      </p:sp>
    </p:spTree>
    <p:extLst>
      <p:ext uri="{BB962C8B-B14F-4D97-AF65-F5344CB8AC3E}">
        <p14:creationId xmlns:p14="http://schemas.microsoft.com/office/powerpoint/2010/main" val="19457774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Solución – Ejemplo 5</a:t>
            </a:r>
            <a:endParaRPr lang="es-MX" dirty="0">
              <a:solidFill>
                <a:schemeClr val="accent2"/>
              </a:solidFill>
              <a:latin typeface="+mn-lt"/>
            </a:endParaRPr>
          </a:p>
          <a:p>
            <a:pPr indent="0">
              <a:buFont typeface="Roboto"/>
              <a:buNone/>
            </a:pPr>
            <a:endParaRPr lang="es-MX" sz="2400" dirty="0">
              <a:latin typeface="+mn-lt"/>
            </a:endParaRPr>
          </a:p>
        </p:txBody>
      </p:sp>
      <mc:AlternateContent xmlns:mc="http://schemas.openxmlformats.org/markup-compatibility/2006">
        <mc:Choice xmlns:a14="http://schemas.microsoft.com/office/drawing/2010/main" Requires="a14">
          <p:sp>
            <p:nvSpPr>
              <p:cNvPr id="9" name="Google Shape;310;p34">
                <a:extLst>
                  <a:ext uri="{FF2B5EF4-FFF2-40B4-BE49-F238E27FC236}">
                    <a16:creationId xmlns:a16="http://schemas.microsoft.com/office/drawing/2014/main" id="{1762F361-F5C1-4979-8094-9A384235D077}"/>
                  </a:ext>
                </a:extLst>
              </p:cNvPr>
              <p:cNvSpPr txBox="1">
                <a:spLocks/>
              </p:cNvSpPr>
              <p:nvPr/>
            </p:nvSpPr>
            <p:spPr>
              <a:xfrm>
                <a:off x="916650" y="1311009"/>
                <a:ext cx="11000047" cy="194185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Dibuje el diagrama de Venn donde se muestre claramente la relación entre los siguientes conjuntos.</a:t>
                </a:r>
              </a:p>
              <a:p>
                <a14:m>
                  <m:oMath xmlns:m="http://schemas.openxmlformats.org/officeDocument/2006/math">
                    <m:r>
                      <a:rPr lang="es-MX" sz="2000" b="0" i="1" smtClean="0">
                        <a:latin typeface="+mn-lt"/>
                        <a:ea typeface="Roboto" panose="02000000000000000000" pitchFamily="2" charset="0"/>
                      </a:rPr>
                      <m:t>𝑈</m:t>
                    </m:r>
                    <m:r>
                      <a:rPr lang="es-MX" sz="2000" i="1" smtClean="0">
                        <a:latin typeface="+mn-lt"/>
                        <a:ea typeface="Roboto" panose="02000000000000000000" pitchFamily="2" charset="0"/>
                      </a:rPr>
                      <m:t>=</m:t>
                    </m:r>
                    <m:d>
                      <m:dPr>
                        <m:begChr m:val="{"/>
                        <m:endChr m:val="}"/>
                        <m:ctrlPr>
                          <a:rPr lang="es-MX" sz="2000" b="0" i="1" smtClean="0">
                            <a:latin typeface="+mn-lt"/>
                            <a:ea typeface="Roboto" panose="02000000000000000000" pitchFamily="2" charset="0"/>
                          </a:rPr>
                        </m:ctrlPr>
                      </m:dPr>
                      <m:e>
                        <m:r>
                          <a:rPr lang="es-MX" sz="2000" i="1">
                            <a:latin typeface="+mn-lt"/>
                            <a:ea typeface="Roboto" panose="02000000000000000000" pitchFamily="2" charset="0"/>
                          </a:rPr>
                          <m:t>0,1,2,3,4,5,6,7,8,9</m:t>
                        </m:r>
                      </m:e>
                    </m:d>
                  </m:oMath>
                </a14:m>
                <a:endParaRPr lang="es-MX" sz="2000" i="1" dirty="0">
                  <a:latin typeface="+mn-lt"/>
                  <a:ea typeface="Roboto" panose="02000000000000000000" pitchFamily="2" charset="0"/>
                </a:endParaRPr>
              </a:p>
              <a:p>
                <a14:m>
                  <m:oMath xmlns:m="http://schemas.openxmlformats.org/officeDocument/2006/math">
                    <m:r>
                      <a:rPr lang="es-MX" sz="2000" b="0" i="1" smtClean="0">
                        <a:latin typeface="+mn-lt"/>
                        <a:ea typeface="Roboto" panose="02000000000000000000" pitchFamily="2" charset="0"/>
                      </a:rPr>
                      <m:t>𝐴</m:t>
                    </m:r>
                    <m:r>
                      <a:rPr lang="es-MX" sz="2000" i="1">
                        <a:latin typeface="+mn-lt"/>
                        <a:ea typeface="Roboto" panose="02000000000000000000" pitchFamily="2" charset="0"/>
                      </a:rPr>
                      <m:t>=</m:t>
                    </m:r>
                    <m:d>
                      <m:dPr>
                        <m:begChr m:val="{"/>
                        <m:endChr m:val="}"/>
                        <m:ctrlPr>
                          <a:rPr lang="es-MX" sz="2000" i="1">
                            <a:latin typeface="+mn-lt"/>
                            <a:ea typeface="Roboto" panose="02000000000000000000" pitchFamily="2" charset="0"/>
                          </a:rPr>
                        </m:ctrlPr>
                      </m:dPr>
                      <m:e>
                        <m:r>
                          <a:rPr lang="es-MX" sz="2000" i="1">
                            <a:latin typeface="+mn-lt"/>
                            <a:ea typeface="Roboto" panose="02000000000000000000" pitchFamily="2" charset="0"/>
                          </a:rPr>
                          <m:t>2,3,5,7</m:t>
                        </m:r>
                      </m:e>
                    </m:d>
                    <m:r>
                      <a:rPr lang="es-MX" sz="2000" i="1">
                        <a:latin typeface="+mn-lt"/>
                        <a:ea typeface="Roboto" panose="02000000000000000000" pitchFamily="2" charset="0"/>
                      </a:rPr>
                      <m:t> </m:t>
                    </m:r>
                  </m:oMath>
                </a14:m>
                <a:endParaRPr lang="es-MX" sz="2000" dirty="0">
                  <a:latin typeface="+mn-lt"/>
                  <a:ea typeface="Roboto" panose="02000000000000000000" pitchFamily="2" charset="0"/>
                </a:endParaRPr>
              </a:p>
              <a:p>
                <a14:m>
                  <m:oMath xmlns:m="http://schemas.openxmlformats.org/officeDocument/2006/math">
                    <m:r>
                      <a:rPr lang="es-MX" sz="2000" b="0" i="1" smtClean="0">
                        <a:latin typeface="+mn-lt"/>
                        <a:ea typeface="Roboto" panose="02000000000000000000" pitchFamily="2" charset="0"/>
                      </a:rPr>
                      <m:t>𝐴</m:t>
                    </m:r>
                    <m:r>
                      <a:rPr lang="es-MX" sz="2000" b="0" i="1" smtClean="0">
                        <a:latin typeface="+mn-lt"/>
                        <a:ea typeface="Roboto" panose="02000000000000000000" pitchFamily="2" charset="0"/>
                      </a:rPr>
                      <m:t>′=</m:t>
                    </m:r>
                    <m:d>
                      <m:dPr>
                        <m:begChr m:val="{"/>
                        <m:endChr m:val="}"/>
                        <m:ctrlPr>
                          <a:rPr lang="es-MX" sz="2000" i="1">
                            <a:latin typeface="+mn-lt"/>
                            <a:ea typeface="Roboto" panose="02000000000000000000" pitchFamily="2" charset="0"/>
                          </a:rPr>
                        </m:ctrlPr>
                      </m:dPr>
                      <m:e>
                        <m:r>
                          <a:rPr lang="es-MX" sz="2000" i="1">
                            <a:latin typeface="+mn-lt"/>
                            <a:ea typeface="Roboto" panose="02000000000000000000" pitchFamily="2" charset="0"/>
                          </a:rPr>
                          <m:t>0,1,4,6,8,9</m:t>
                        </m:r>
                      </m:e>
                    </m:d>
                    <m:r>
                      <a:rPr lang="es-MX" sz="2000" i="1">
                        <a:latin typeface="+mn-lt"/>
                        <a:ea typeface="Roboto" panose="02000000000000000000" pitchFamily="2" charset="0"/>
                      </a:rPr>
                      <m:t> </m:t>
                    </m:r>
                  </m:oMath>
                </a14:m>
                <a:endParaRPr lang="es-MX" sz="2000" dirty="0">
                  <a:latin typeface="+mn-lt"/>
                  <a:ea typeface="Roboto" panose="02000000000000000000" pitchFamily="2" charset="0"/>
                </a:endParaRPr>
              </a:p>
              <a:p>
                <a:pPr marL="127000" indent="0">
                  <a:buNone/>
                </a:pPr>
                <a:endParaRPr lang="es-MX" sz="2400" dirty="0">
                  <a:latin typeface="+mn-lt"/>
                  <a:ea typeface="Roboto" panose="02000000000000000000" pitchFamily="2" charset="0"/>
                </a:endParaRPr>
              </a:p>
            </p:txBody>
          </p:sp>
        </mc:Choice>
        <mc:Fallback>
          <p:sp>
            <p:nvSpPr>
              <p:cNvPr id="9" name="Google Shape;310;p34">
                <a:extLst>
                  <a:ext uri="{FF2B5EF4-FFF2-40B4-BE49-F238E27FC236}">
                    <a16:creationId xmlns:a16="http://schemas.microsoft.com/office/drawing/2014/main" id="{1762F361-F5C1-4979-8094-9A384235D077}"/>
                  </a:ext>
                </a:extLst>
              </p:cNvPr>
              <p:cNvSpPr txBox="1">
                <a:spLocks noRot="1" noChangeAspect="1" noMove="1" noResize="1" noEditPoints="1" noAdjustHandles="1" noChangeArrowheads="1" noChangeShapeType="1" noTextEdit="1"/>
              </p:cNvSpPr>
              <p:nvPr/>
            </p:nvSpPr>
            <p:spPr>
              <a:xfrm>
                <a:off x="916650" y="1311009"/>
                <a:ext cx="11000047" cy="1941858"/>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321526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Solución – Ejemplo 6</a:t>
            </a:r>
            <a:endParaRPr lang="es-MX" dirty="0">
              <a:solidFill>
                <a:schemeClr val="accent2"/>
              </a:solidFill>
              <a:latin typeface="+mn-lt"/>
            </a:endParaRPr>
          </a:p>
          <a:p>
            <a:pPr indent="0">
              <a:buFont typeface="Roboto"/>
              <a:buNone/>
            </a:pPr>
            <a:endParaRPr lang="es-MX" sz="2400" dirty="0">
              <a:latin typeface="+mn-lt"/>
            </a:endParaRPr>
          </a:p>
        </p:txBody>
      </p:sp>
      <mc:AlternateContent xmlns:mc="http://schemas.openxmlformats.org/markup-compatibility/2006">
        <mc:Choice xmlns:a14="http://schemas.microsoft.com/office/drawing/2010/main" Requires="a14">
          <p:sp>
            <p:nvSpPr>
              <p:cNvPr id="9" name="Google Shape;310;p34">
                <a:extLst>
                  <a:ext uri="{FF2B5EF4-FFF2-40B4-BE49-F238E27FC236}">
                    <a16:creationId xmlns:a16="http://schemas.microsoft.com/office/drawing/2014/main" id="{1762F361-F5C1-4979-8094-9A384235D077}"/>
                  </a:ext>
                </a:extLst>
              </p:cNvPr>
              <p:cNvSpPr txBox="1">
                <a:spLocks/>
              </p:cNvSpPr>
              <p:nvPr/>
            </p:nvSpPr>
            <p:spPr>
              <a:xfrm>
                <a:off x="792823" y="1227541"/>
                <a:ext cx="11000047"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Para los siguientes ejercicios, use el diagrama de Venn para determinar </a:t>
                </a:r>
                <a14:m>
                  <m:oMath xmlns:m="http://schemas.openxmlformats.org/officeDocument/2006/math">
                    <m:r>
                      <a:rPr lang="es-MX" sz="2000" i="1">
                        <a:latin typeface="+mn-lt"/>
                        <a:ea typeface="Roboto" panose="02000000000000000000" pitchFamily="2" charset="0"/>
                      </a:rPr>
                      <m:t>𝐴</m:t>
                    </m:r>
                  </m:oMath>
                </a14:m>
                <a:r>
                  <a:rPr lang="es-MX" sz="2000" dirty="0">
                    <a:latin typeface="+mn-lt"/>
                    <a:ea typeface="Roboto" panose="02000000000000000000" pitchFamily="2" charset="0"/>
                  </a:rPr>
                  <a:t>, </a:t>
                </a:r>
                <a14:m>
                  <m:oMath xmlns:m="http://schemas.openxmlformats.org/officeDocument/2006/math">
                    <m:r>
                      <a:rPr lang="es-MX" sz="2000" i="1">
                        <a:latin typeface="+mn-lt"/>
                        <a:ea typeface="Roboto" panose="02000000000000000000" pitchFamily="2" charset="0"/>
                      </a:rPr>
                      <m:t>𝐴</m:t>
                    </m:r>
                    <m:r>
                      <a:rPr lang="es-MX" sz="2000" i="1">
                        <a:latin typeface="+mn-lt"/>
                        <a:ea typeface="Roboto" panose="02000000000000000000" pitchFamily="2" charset="0"/>
                      </a:rPr>
                      <m:t>′</m:t>
                    </m:r>
                  </m:oMath>
                </a14:m>
                <a:r>
                  <a:rPr lang="es-MX" sz="2000" dirty="0">
                    <a:latin typeface="+mn-lt"/>
                    <a:ea typeface="Roboto" panose="02000000000000000000" pitchFamily="2" charset="0"/>
                  </a:rPr>
                  <a:t> y </a:t>
                </a:r>
                <a14:m>
                  <m:oMath xmlns:m="http://schemas.openxmlformats.org/officeDocument/2006/math">
                    <m:r>
                      <a:rPr lang="es-MX" sz="2000" i="1">
                        <a:latin typeface="+mn-lt"/>
                        <a:ea typeface="Roboto" panose="02000000000000000000" pitchFamily="2" charset="0"/>
                      </a:rPr>
                      <m:t>𝑈</m:t>
                    </m:r>
                  </m:oMath>
                </a14:m>
                <a:endParaRPr lang="es-MX" sz="2000" dirty="0">
                  <a:latin typeface="+mn-lt"/>
                  <a:ea typeface="Roboto" panose="02000000000000000000" pitchFamily="2" charset="0"/>
                </a:endParaRPr>
              </a:p>
              <a:p>
                <a:pPr marL="584200" indent="-457200">
                  <a:buFont typeface="+mj-lt"/>
                  <a:buAutoNum type="arabicPeriod" startAt="6"/>
                </a:pPr>
                <a:endParaRPr lang="es-MX" sz="2400" dirty="0">
                  <a:latin typeface="+mn-lt"/>
                  <a:ea typeface="Roboto" panose="02000000000000000000" pitchFamily="2" charset="0"/>
                </a:endParaRPr>
              </a:p>
            </p:txBody>
          </p:sp>
        </mc:Choice>
        <mc:Fallback>
          <p:sp>
            <p:nvSpPr>
              <p:cNvPr id="9" name="Google Shape;310;p34">
                <a:extLst>
                  <a:ext uri="{FF2B5EF4-FFF2-40B4-BE49-F238E27FC236}">
                    <a16:creationId xmlns:a16="http://schemas.microsoft.com/office/drawing/2014/main" id="{1762F361-F5C1-4979-8094-9A384235D077}"/>
                  </a:ext>
                </a:extLst>
              </p:cNvPr>
              <p:cNvSpPr txBox="1">
                <a:spLocks noRot="1" noChangeAspect="1" noMove="1" noResize="1" noEditPoints="1" noAdjustHandles="1" noChangeArrowheads="1" noChangeShapeType="1" noTextEdit="1"/>
              </p:cNvSpPr>
              <p:nvPr/>
            </p:nvSpPr>
            <p:spPr>
              <a:xfrm>
                <a:off x="792823" y="1227541"/>
                <a:ext cx="11000047" cy="530942"/>
              </a:xfrm>
              <a:prstGeom prst="rect">
                <a:avLst/>
              </a:prstGeom>
              <a:blipFill>
                <a:blip r:embed="rId3"/>
                <a:stretch>
                  <a:fillRect b="-13793"/>
                </a:stretch>
              </a:blipFill>
              <a:ln>
                <a:noFill/>
              </a:ln>
            </p:spPr>
            <p:txBody>
              <a:bodyPr/>
              <a:lstStyle/>
              <a:p>
                <a:r>
                  <a:rPr lang="es-CO">
                    <a:noFill/>
                  </a:rPr>
                  <a:t> </a:t>
                </a:r>
              </a:p>
            </p:txBody>
          </p:sp>
        </mc:Fallback>
      </mc:AlternateContent>
      <p:sp>
        <p:nvSpPr>
          <p:cNvPr id="5" name="Google Shape;310;p34">
            <a:extLst>
              <a:ext uri="{FF2B5EF4-FFF2-40B4-BE49-F238E27FC236}">
                <a16:creationId xmlns:a16="http://schemas.microsoft.com/office/drawing/2014/main" id="{35B3E8DA-BFB5-48D9-9D13-5402A8CBC7E3}"/>
              </a:ext>
            </a:extLst>
          </p:cNvPr>
          <p:cNvSpPr txBox="1">
            <a:spLocks/>
          </p:cNvSpPr>
          <p:nvPr/>
        </p:nvSpPr>
        <p:spPr>
          <a:xfrm>
            <a:off x="916650" y="1675015"/>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latin typeface="+mn-lt"/>
                <a:ea typeface="Roboto" panose="02000000000000000000" pitchFamily="2" charset="0"/>
              </a:rPr>
              <a:t>Solución</a:t>
            </a:r>
            <a:r>
              <a:rPr lang="es-MX" sz="2000" dirty="0">
                <a:latin typeface="+mn-lt"/>
                <a:ea typeface="Roboto" panose="02000000000000000000" pitchFamily="2" charset="0"/>
              </a:rPr>
              <a:t>: Para cada caso tenemos:</a:t>
            </a:r>
          </a:p>
          <a:p>
            <a:pPr marL="127000" indent="0">
              <a:buNone/>
            </a:pPr>
            <a:endParaRPr lang="es-MX" sz="2000" i="1" dirty="0">
              <a:latin typeface="+mn-lt"/>
              <a:ea typeface="Roboto" panose="02000000000000000000" pitchFamily="2" charset="0"/>
            </a:endParaRPr>
          </a:p>
        </p:txBody>
      </p:sp>
      <p:pic>
        <p:nvPicPr>
          <p:cNvPr id="6" name="Picture 2" descr="A single-set Venn diagram is labeled 'A equals (2, 3, 4, 9).' Outside the Venn diagram, the union of the Venn diagram is marked 'U equals (0, 1, 2, 3, 4, 5, 6, 7, 8, 9).'">
            <a:extLst>
              <a:ext uri="{FF2B5EF4-FFF2-40B4-BE49-F238E27FC236}">
                <a16:creationId xmlns:a16="http://schemas.microsoft.com/office/drawing/2014/main" id="{149A7B2D-6CA8-4B1A-8F31-9FFA34C219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5794" y="2749108"/>
            <a:ext cx="3997265" cy="263214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A single-set Venn diagram is labeled A equals (n, e, t). Outside the Venn diagram, the union of the Venn diagram is marked 'U equals (l, i, s, t, e, n).'">
            <a:extLst>
              <a:ext uri="{FF2B5EF4-FFF2-40B4-BE49-F238E27FC236}">
                <a16:creationId xmlns:a16="http://schemas.microsoft.com/office/drawing/2014/main" id="{137C05BE-A80D-4ACB-A35C-CF2FE429BD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21353" y="2749108"/>
            <a:ext cx="3997265" cy="2642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1005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Solución – Ejemplo 7</a:t>
            </a:r>
            <a:endParaRPr lang="es-MX" dirty="0">
              <a:solidFill>
                <a:schemeClr val="accent2"/>
              </a:solidFill>
              <a:latin typeface="+mn-lt"/>
            </a:endParaRPr>
          </a:p>
          <a:p>
            <a:pPr indent="0">
              <a:buFont typeface="Roboto"/>
              <a:buNone/>
            </a:pPr>
            <a:endParaRPr lang="es-MX" sz="2400" dirty="0">
              <a:latin typeface="+mn-lt"/>
            </a:endParaRPr>
          </a:p>
        </p:txBody>
      </p:sp>
      <mc:AlternateContent xmlns:mc="http://schemas.openxmlformats.org/markup-compatibility/2006">
        <mc:Choice xmlns:a14="http://schemas.microsoft.com/office/drawing/2010/main" Requires="a14">
          <p:sp>
            <p:nvSpPr>
              <p:cNvPr id="9" name="Google Shape;310;p34">
                <a:extLst>
                  <a:ext uri="{FF2B5EF4-FFF2-40B4-BE49-F238E27FC236}">
                    <a16:creationId xmlns:a16="http://schemas.microsoft.com/office/drawing/2014/main" id="{1762F361-F5C1-4979-8094-9A384235D077}"/>
                  </a:ext>
                </a:extLst>
              </p:cNvPr>
              <p:cNvSpPr txBox="1">
                <a:spLocks/>
              </p:cNvSpPr>
              <p:nvPr/>
            </p:nvSpPr>
            <p:spPr>
              <a:xfrm>
                <a:off x="792823" y="1227540"/>
                <a:ext cx="11000047" cy="32764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Teniendo en cuenta el siguiente diagrama de Venn encuentre:</a:t>
                </a:r>
              </a:p>
              <a:p>
                <a14:m>
                  <m:oMath xmlns:m="http://schemas.openxmlformats.org/officeDocument/2006/math">
                    <m:r>
                      <a:rPr lang="es-MX" sz="2000" i="1" dirty="0">
                        <a:latin typeface="+mn-lt"/>
                        <a:ea typeface="Roboto" panose="02000000000000000000" pitchFamily="2" charset="0"/>
                      </a:rPr>
                      <m:t>𝐴</m:t>
                    </m:r>
                    <m:r>
                      <a:rPr lang="es-MX" sz="2000" i="1" dirty="0">
                        <a:latin typeface="+mn-lt"/>
                        <a:ea typeface="Cambria Math" panose="02040503050406030204" pitchFamily="18" charset="0"/>
                      </a:rPr>
                      <m:t>∩</m:t>
                    </m:r>
                    <m:r>
                      <a:rPr lang="es-MX" sz="2000" i="1" dirty="0">
                        <a:latin typeface="+mn-lt"/>
                        <a:ea typeface="Cambria Math" panose="02040503050406030204" pitchFamily="18" charset="0"/>
                      </a:rPr>
                      <m:t>𝐵</m:t>
                    </m:r>
                  </m:oMath>
                </a14:m>
                <a:endParaRPr lang="es-MX" sz="2000" dirty="0">
                  <a:latin typeface="+mn-lt"/>
                  <a:ea typeface="Cambria Math" panose="02040503050406030204" pitchFamily="18" charset="0"/>
                </a:endParaRPr>
              </a:p>
              <a:p>
                <a14:m>
                  <m:oMath xmlns:m="http://schemas.openxmlformats.org/officeDocument/2006/math">
                    <m:r>
                      <a:rPr lang="es-MX" sz="2000" i="1" dirty="0">
                        <a:latin typeface="+mn-lt"/>
                        <a:ea typeface="Roboto" panose="02000000000000000000" pitchFamily="2" charset="0"/>
                      </a:rPr>
                      <m:t>𝐴</m:t>
                    </m:r>
                    <m:r>
                      <a:rPr lang="es-MX" sz="2000" i="1" dirty="0">
                        <a:latin typeface="+mn-lt"/>
                        <a:ea typeface="Cambria Math" panose="02040503050406030204" pitchFamily="18" charset="0"/>
                      </a:rPr>
                      <m:t>∪</m:t>
                    </m:r>
                    <m:r>
                      <a:rPr lang="es-MX" sz="2000" i="1" dirty="0">
                        <a:latin typeface="+mn-lt"/>
                        <a:ea typeface="Cambria Math" panose="02040503050406030204" pitchFamily="18" charset="0"/>
                      </a:rPr>
                      <m:t>𝐵</m:t>
                    </m:r>
                  </m:oMath>
                </a14:m>
                <a:endParaRPr lang="es-MX" sz="2000" dirty="0">
                  <a:latin typeface="+mn-lt"/>
                  <a:ea typeface="Cambria Math" panose="02040503050406030204" pitchFamily="18" charset="0"/>
                </a:endParaRPr>
              </a:p>
              <a:p>
                <a14:m>
                  <m:oMath xmlns:m="http://schemas.openxmlformats.org/officeDocument/2006/math">
                    <m:r>
                      <a:rPr lang="es-MX" sz="2000" i="1" dirty="0">
                        <a:latin typeface="+mn-lt"/>
                        <a:ea typeface="Roboto" panose="02000000000000000000" pitchFamily="2" charset="0"/>
                      </a:rPr>
                      <m:t>𝐴</m:t>
                    </m:r>
                    <m:r>
                      <a:rPr lang="es-MX" sz="2000" i="1" dirty="0">
                        <a:latin typeface="+mn-lt"/>
                        <a:ea typeface="Cambria Math" panose="02040503050406030204" pitchFamily="18" charset="0"/>
                      </a:rPr>
                      <m:t>∪</m:t>
                    </m:r>
                    <m:r>
                      <a:rPr lang="es-MX" sz="2000" i="1" dirty="0">
                        <a:latin typeface="+mn-lt"/>
                        <a:ea typeface="Cambria Math" panose="02040503050406030204" pitchFamily="18" charset="0"/>
                      </a:rPr>
                      <m:t>𝐵</m:t>
                    </m:r>
                    <m:r>
                      <a:rPr lang="es-MX" sz="2000" i="1" dirty="0">
                        <a:latin typeface="+mn-lt"/>
                        <a:ea typeface="Cambria Math" panose="02040503050406030204" pitchFamily="18" charset="0"/>
                      </a:rPr>
                      <m:t>′</m:t>
                    </m:r>
                  </m:oMath>
                </a14:m>
                <a:endParaRPr lang="es-MX" sz="2000" dirty="0">
                  <a:latin typeface="+mn-lt"/>
                  <a:ea typeface="Cambria Math" panose="02040503050406030204" pitchFamily="18" charset="0"/>
                </a:endParaRPr>
              </a:p>
              <a:p>
                <a14:m>
                  <m:oMath xmlns:m="http://schemas.openxmlformats.org/officeDocument/2006/math">
                    <m:r>
                      <a:rPr lang="es-MX" sz="2000" i="1" dirty="0">
                        <a:latin typeface="+mn-lt"/>
                        <a:ea typeface="Roboto" panose="02000000000000000000" pitchFamily="2" charset="0"/>
                      </a:rPr>
                      <m:t>𝑛</m:t>
                    </m:r>
                    <m:d>
                      <m:dPr>
                        <m:ctrlPr>
                          <a:rPr lang="es-MX" sz="2000" i="1" dirty="0">
                            <a:latin typeface="+mn-lt"/>
                            <a:ea typeface="Roboto" panose="02000000000000000000" pitchFamily="2" charset="0"/>
                          </a:rPr>
                        </m:ctrlPr>
                      </m:dPr>
                      <m:e>
                        <m:r>
                          <a:rPr lang="es-MX" sz="2000" i="1" dirty="0">
                            <a:latin typeface="+mn-lt"/>
                            <a:ea typeface="Roboto" panose="02000000000000000000" pitchFamily="2" charset="0"/>
                          </a:rPr>
                          <m:t>𝐴</m:t>
                        </m:r>
                        <m:r>
                          <a:rPr lang="es-MX" sz="2000" i="1" dirty="0">
                            <a:latin typeface="+mn-lt"/>
                            <a:ea typeface="Cambria Math" panose="02040503050406030204" pitchFamily="18" charset="0"/>
                          </a:rPr>
                          <m:t>∪</m:t>
                        </m:r>
                        <m:sSup>
                          <m:sSupPr>
                            <m:ctrlPr>
                              <a:rPr lang="es-MX" sz="2000" i="1" dirty="0">
                                <a:latin typeface="+mn-lt"/>
                                <a:ea typeface="Cambria Math" panose="02040503050406030204" pitchFamily="18" charset="0"/>
                              </a:rPr>
                            </m:ctrlPr>
                          </m:sSupPr>
                          <m:e>
                            <m:r>
                              <a:rPr lang="es-MX" sz="2000" i="1" dirty="0">
                                <a:latin typeface="+mn-lt"/>
                                <a:ea typeface="Cambria Math" panose="02040503050406030204" pitchFamily="18" charset="0"/>
                              </a:rPr>
                              <m:t>𝐵</m:t>
                            </m:r>
                          </m:e>
                          <m:sup>
                            <m:r>
                              <a:rPr lang="es-MX" sz="2000" i="1" dirty="0">
                                <a:latin typeface="+mn-lt"/>
                                <a:ea typeface="Cambria Math" panose="02040503050406030204" pitchFamily="18" charset="0"/>
                              </a:rPr>
                              <m:t>′</m:t>
                            </m:r>
                          </m:sup>
                        </m:sSup>
                      </m:e>
                    </m:d>
                  </m:oMath>
                </a14:m>
                <a:endParaRPr lang="es-MX" sz="2000" dirty="0">
                  <a:latin typeface="+mn-lt"/>
                  <a:ea typeface="Cambria Math" panose="02040503050406030204" pitchFamily="18" charset="0"/>
                </a:endParaRPr>
              </a:p>
              <a:p>
                <a14:m>
                  <m:oMath xmlns:m="http://schemas.openxmlformats.org/officeDocument/2006/math">
                    <m:r>
                      <a:rPr lang="es-MX" sz="2000" i="1" dirty="0">
                        <a:latin typeface="+mn-lt"/>
                        <a:ea typeface="Roboto" panose="02000000000000000000" pitchFamily="2" charset="0"/>
                      </a:rPr>
                      <m:t>(</m:t>
                    </m:r>
                    <m:r>
                      <a:rPr lang="es-MX" sz="2000" i="1" dirty="0">
                        <a:latin typeface="+mn-lt"/>
                        <a:ea typeface="Roboto" panose="02000000000000000000" pitchFamily="2" charset="0"/>
                      </a:rPr>
                      <m:t>𝐴</m:t>
                    </m:r>
                    <m:r>
                      <a:rPr lang="es-MX" sz="2000" i="1" dirty="0">
                        <a:latin typeface="+mn-lt"/>
                        <a:ea typeface="Cambria Math" panose="02040503050406030204" pitchFamily="18" charset="0"/>
                      </a:rPr>
                      <m:t>∪</m:t>
                    </m:r>
                    <m:r>
                      <a:rPr lang="es-MX" sz="2000" i="1" dirty="0">
                        <a:latin typeface="+mn-lt"/>
                        <a:ea typeface="Cambria Math" panose="02040503050406030204" pitchFamily="18" charset="0"/>
                      </a:rPr>
                      <m:t>𝐵</m:t>
                    </m:r>
                    <m:r>
                      <a:rPr lang="es-MX" sz="2000" i="1" dirty="0">
                        <a:latin typeface="+mn-lt"/>
                        <a:ea typeface="Cambria Math" panose="02040503050406030204" pitchFamily="18" charset="0"/>
                      </a:rPr>
                      <m:t>)′</m:t>
                    </m:r>
                  </m:oMath>
                </a14:m>
                <a:endParaRPr lang="es-MX" sz="2000" dirty="0">
                  <a:latin typeface="+mn-lt"/>
                  <a:ea typeface="Cambria Math" panose="02040503050406030204" pitchFamily="18" charset="0"/>
                </a:endParaRPr>
              </a:p>
              <a:p>
                <a14:m>
                  <m:oMath xmlns:m="http://schemas.openxmlformats.org/officeDocument/2006/math">
                    <m:r>
                      <a:rPr lang="es-MX" sz="2000" i="1" dirty="0">
                        <a:latin typeface="+mn-lt"/>
                        <a:ea typeface="Roboto" panose="02000000000000000000" pitchFamily="2" charset="0"/>
                      </a:rPr>
                      <m:t>(</m:t>
                    </m:r>
                    <m:r>
                      <a:rPr lang="es-MX" sz="2000" i="1" dirty="0">
                        <a:latin typeface="+mn-lt"/>
                        <a:ea typeface="Roboto" panose="02000000000000000000" pitchFamily="2" charset="0"/>
                      </a:rPr>
                      <m:t>𝐴</m:t>
                    </m:r>
                    <m:r>
                      <a:rPr lang="es-MX" sz="2000" i="1" dirty="0">
                        <a:latin typeface="+mn-lt"/>
                        <a:ea typeface="Cambria Math" panose="02040503050406030204" pitchFamily="18" charset="0"/>
                      </a:rPr>
                      <m:t>∩</m:t>
                    </m:r>
                    <m:r>
                      <a:rPr lang="es-MX" sz="2000" i="1" dirty="0">
                        <a:latin typeface="+mn-lt"/>
                        <a:ea typeface="Cambria Math" panose="02040503050406030204" pitchFamily="18" charset="0"/>
                      </a:rPr>
                      <m:t>𝐵</m:t>
                    </m:r>
                    <m:r>
                      <a:rPr lang="es-MX" sz="2000" i="1" dirty="0">
                        <a:latin typeface="+mn-lt"/>
                        <a:ea typeface="Cambria Math" panose="02040503050406030204" pitchFamily="18" charset="0"/>
                      </a:rPr>
                      <m:t>)′</m:t>
                    </m:r>
                  </m:oMath>
                </a14:m>
                <a:endParaRPr lang="es-MX" sz="2000" dirty="0">
                  <a:latin typeface="+mn-lt"/>
                  <a:ea typeface="Cambria Math" panose="02040503050406030204" pitchFamily="18" charset="0"/>
                </a:endParaRPr>
              </a:p>
              <a:p>
                <a14:m>
                  <m:oMath xmlns:m="http://schemas.openxmlformats.org/officeDocument/2006/math">
                    <m:d>
                      <m:dPr>
                        <m:begChr m:val="|"/>
                        <m:endChr m:val="|"/>
                        <m:ctrlPr>
                          <a:rPr lang="es-MX" sz="2000" i="1" dirty="0">
                            <a:latin typeface="+mn-lt"/>
                            <a:ea typeface="Roboto" panose="02000000000000000000" pitchFamily="2" charset="0"/>
                          </a:rPr>
                        </m:ctrlPr>
                      </m:dPr>
                      <m:e>
                        <m:r>
                          <a:rPr lang="es-MX" sz="2000" i="1" dirty="0">
                            <a:latin typeface="+mn-lt"/>
                            <a:ea typeface="Roboto" panose="02000000000000000000" pitchFamily="2" charset="0"/>
                          </a:rPr>
                          <m:t>(</m:t>
                        </m:r>
                        <m:r>
                          <a:rPr lang="es-MX" sz="2000" i="1" dirty="0">
                            <a:latin typeface="+mn-lt"/>
                            <a:ea typeface="Roboto" panose="02000000000000000000" pitchFamily="2" charset="0"/>
                          </a:rPr>
                          <m:t>𝐴</m:t>
                        </m:r>
                        <m:r>
                          <a:rPr lang="es-MX" sz="2000" i="1" dirty="0">
                            <a:latin typeface="+mn-lt"/>
                            <a:ea typeface="Cambria Math" panose="02040503050406030204" pitchFamily="18" charset="0"/>
                          </a:rPr>
                          <m:t>′∩</m:t>
                        </m:r>
                        <m:r>
                          <a:rPr lang="es-MX" sz="2000" i="1" dirty="0">
                            <a:latin typeface="+mn-lt"/>
                            <a:ea typeface="Cambria Math" panose="02040503050406030204" pitchFamily="18" charset="0"/>
                          </a:rPr>
                          <m:t>𝐵</m:t>
                        </m:r>
                        <m:r>
                          <a:rPr lang="es-MX" sz="2000" i="1" dirty="0">
                            <a:latin typeface="+mn-lt"/>
                            <a:ea typeface="Cambria Math" panose="02040503050406030204" pitchFamily="18" charset="0"/>
                          </a:rPr>
                          <m:t>)′</m:t>
                        </m:r>
                        <m:r>
                          <m:rPr>
                            <m:nor/>
                          </m:rPr>
                          <a:rPr lang="es-MX" sz="2000" dirty="0">
                            <a:latin typeface="+mn-lt"/>
                            <a:ea typeface="Cambria Math" panose="02040503050406030204" pitchFamily="18" charset="0"/>
                          </a:rPr>
                          <m:t> </m:t>
                        </m:r>
                      </m:e>
                    </m:d>
                  </m:oMath>
                </a14:m>
                <a:endParaRPr lang="es-MX" sz="2000" i="1" dirty="0">
                  <a:latin typeface="+mn-lt"/>
                  <a:ea typeface="Roboto" panose="02000000000000000000" pitchFamily="2" charset="0"/>
                </a:endParaRPr>
              </a:p>
              <a:p>
                <a14:m>
                  <m:oMath xmlns:m="http://schemas.openxmlformats.org/officeDocument/2006/math">
                    <m:r>
                      <a:rPr lang="es-MX" sz="2000" i="1" dirty="0">
                        <a:latin typeface="+mn-lt"/>
                        <a:ea typeface="Roboto" panose="02000000000000000000" pitchFamily="2" charset="0"/>
                      </a:rPr>
                      <m:t>(</m:t>
                    </m:r>
                    <m:r>
                      <a:rPr lang="es-MX" sz="2000" i="1" dirty="0">
                        <a:latin typeface="+mn-lt"/>
                        <a:ea typeface="Roboto" panose="02000000000000000000" pitchFamily="2" charset="0"/>
                      </a:rPr>
                      <m:t>𝐴</m:t>
                    </m:r>
                    <m:r>
                      <a:rPr lang="es-MX" sz="2000" i="1" dirty="0">
                        <a:latin typeface="+mn-lt"/>
                        <a:ea typeface="Cambria Math" panose="02040503050406030204" pitchFamily="18" charset="0"/>
                      </a:rPr>
                      <m:t>′∪</m:t>
                    </m:r>
                    <m:r>
                      <a:rPr lang="es-MX" sz="2000" i="1" dirty="0">
                        <a:latin typeface="+mn-lt"/>
                        <a:ea typeface="Cambria Math" panose="02040503050406030204" pitchFamily="18" charset="0"/>
                      </a:rPr>
                      <m:t>𝐵</m:t>
                    </m:r>
                    <m:r>
                      <a:rPr lang="es-MX" sz="2000" i="1" dirty="0">
                        <a:latin typeface="+mn-lt"/>
                        <a:ea typeface="Cambria Math" panose="02040503050406030204" pitchFamily="18" charset="0"/>
                      </a:rPr>
                      <m:t>′)′</m:t>
                    </m:r>
                  </m:oMath>
                </a14:m>
                <a:endParaRPr lang="es-MX" sz="2000" dirty="0">
                  <a:latin typeface="+mn-lt"/>
                  <a:ea typeface="Cambria Math" panose="02040503050406030204" pitchFamily="18" charset="0"/>
                </a:endParaRPr>
              </a:p>
              <a:p>
                <a:pPr marL="584200" indent="-457200">
                  <a:buFont typeface="+mj-lt"/>
                  <a:buAutoNum type="arabicPeriod" startAt="6"/>
                </a:pPr>
                <a:endParaRPr lang="es-MX" sz="2400" dirty="0">
                  <a:latin typeface="+mn-lt"/>
                  <a:ea typeface="Roboto" panose="02000000000000000000" pitchFamily="2" charset="0"/>
                </a:endParaRPr>
              </a:p>
            </p:txBody>
          </p:sp>
        </mc:Choice>
        <mc:Fallback>
          <p:sp>
            <p:nvSpPr>
              <p:cNvPr id="9" name="Google Shape;310;p34">
                <a:extLst>
                  <a:ext uri="{FF2B5EF4-FFF2-40B4-BE49-F238E27FC236}">
                    <a16:creationId xmlns:a16="http://schemas.microsoft.com/office/drawing/2014/main" id="{1762F361-F5C1-4979-8094-9A384235D077}"/>
                  </a:ext>
                </a:extLst>
              </p:cNvPr>
              <p:cNvSpPr txBox="1">
                <a:spLocks noRot="1" noChangeAspect="1" noMove="1" noResize="1" noEditPoints="1" noAdjustHandles="1" noChangeArrowheads="1" noChangeShapeType="1" noTextEdit="1"/>
              </p:cNvSpPr>
              <p:nvPr/>
            </p:nvSpPr>
            <p:spPr>
              <a:xfrm>
                <a:off x="792823" y="1227540"/>
                <a:ext cx="11000047" cy="3276431"/>
              </a:xfrm>
              <a:prstGeom prst="rect">
                <a:avLst/>
              </a:prstGeom>
              <a:blipFill>
                <a:blip r:embed="rId3"/>
                <a:stretch>
                  <a:fillRect b="-16357"/>
                </a:stretch>
              </a:blipFill>
              <a:ln>
                <a:noFill/>
              </a:ln>
            </p:spPr>
            <p:txBody>
              <a:bodyPr/>
              <a:lstStyle/>
              <a:p>
                <a:r>
                  <a:rPr lang="es-CO">
                    <a:noFill/>
                  </a:rPr>
                  <a:t> </a:t>
                </a:r>
              </a:p>
            </p:txBody>
          </p:sp>
        </mc:Fallback>
      </mc:AlternateContent>
      <p:pic>
        <p:nvPicPr>
          <p:cNvPr id="11" name="Picture 4" descr="A two-set Venn diagram intersecting one another is given. The first set is labeled A while the second set is labeled B. Set A shows 1, 9. Set B shows 2. The intersection of the sets shows 3, 5, 7. Outside the sets, 0, 4, 6 are given. Outside the Venn diagram, it is marked 'U equals (0, 1, 2, 3, 4, 5, 6, 7, 8, 9).'">
            <a:extLst>
              <a:ext uri="{FF2B5EF4-FFF2-40B4-BE49-F238E27FC236}">
                <a16:creationId xmlns:a16="http://schemas.microsoft.com/office/drawing/2014/main" id="{CEEC68BC-3CCF-469C-8DC4-DC90FDDF85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1787" y="2525310"/>
            <a:ext cx="4657725" cy="3105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23756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Solución – Ejemplo 8</a:t>
            </a:r>
            <a:endParaRPr lang="es-MX" dirty="0">
              <a:solidFill>
                <a:schemeClr val="accent2"/>
              </a:solidFill>
              <a:latin typeface="+mn-lt"/>
            </a:endParaRPr>
          </a:p>
          <a:p>
            <a:pPr indent="0">
              <a:buFont typeface="Roboto"/>
              <a:buNone/>
            </a:pPr>
            <a:endParaRPr lang="es-MX" sz="2400" dirty="0">
              <a:latin typeface="+mn-lt"/>
            </a:endParaRPr>
          </a:p>
        </p:txBody>
      </p:sp>
      <mc:AlternateContent xmlns:mc="http://schemas.openxmlformats.org/markup-compatibility/2006">
        <mc:Choice xmlns:a14="http://schemas.microsoft.com/office/drawing/2010/main" Requires="a14">
          <p:sp>
            <p:nvSpPr>
              <p:cNvPr id="6" name="Google Shape;310;p34">
                <a:extLst>
                  <a:ext uri="{FF2B5EF4-FFF2-40B4-BE49-F238E27FC236}">
                    <a16:creationId xmlns:a16="http://schemas.microsoft.com/office/drawing/2014/main" id="{288A6B7E-28E5-4804-B868-74927C5F271A}"/>
                  </a:ext>
                </a:extLst>
              </p:cNvPr>
              <p:cNvSpPr txBox="1">
                <a:spLocks/>
              </p:cNvSpPr>
              <p:nvPr/>
            </p:nvSpPr>
            <p:spPr>
              <a:xfrm>
                <a:off x="916650" y="1311009"/>
                <a:ext cx="10625775" cy="459511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El siguiente diagrama de Venn esta dibujado de acuerdo a la cardinalidad de cada uno de los conjuntos. Teniendo en cuenta esta información, y sustentando mediante la aplicación de las identidades básicas de cardinalidad determine a partir de este:</a:t>
                </a:r>
              </a:p>
              <a:p>
                <a14:m>
                  <m:oMath xmlns:m="http://schemas.openxmlformats.org/officeDocument/2006/math">
                    <m:d>
                      <m:dPr>
                        <m:begChr m:val="|"/>
                        <m:endChr m:val="|"/>
                        <m:ctrlPr>
                          <a:rPr lang="es-MX" sz="2000" b="0" i="1" dirty="0" smtClean="0">
                            <a:latin typeface="+mn-lt"/>
                            <a:ea typeface="Roboto" panose="02000000000000000000" pitchFamily="2" charset="0"/>
                          </a:rPr>
                        </m:ctrlPr>
                      </m:dPr>
                      <m:e>
                        <m:r>
                          <a:rPr lang="es-MX" sz="2000" b="0" i="1" dirty="0" smtClean="0">
                            <a:latin typeface="+mn-lt"/>
                            <a:ea typeface="Roboto" panose="02000000000000000000" pitchFamily="2" charset="0"/>
                          </a:rPr>
                          <m:t>𝐴</m:t>
                        </m:r>
                      </m:e>
                    </m:d>
                    <m:r>
                      <a:rPr lang="es-MX" sz="2000" b="0" i="1" dirty="0" smtClean="0">
                        <a:latin typeface="+mn-lt"/>
                        <a:ea typeface="Roboto" panose="02000000000000000000" pitchFamily="2" charset="0"/>
                      </a:rPr>
                      <m:t>=</m:t>
                    </m:r>
                    <m:r>
                      <a:rPr lang="es-MX" sz="2000" b="0" i="1" dirty="0" smtClean="0">
                        <a:latin typeface="+mn-lt"/>
                        <a:ea typeface="Roboto" panose="02000000000000000000" pitchFamily="2" charset="0"/>
                      </a:rPr>
                      <m:t>𝑛</m:t>
                    </m:r>
                    <m:d>
                      <m:dPr>
                        <m:ctrlPr>
                          <a:rPr lang="es-MX" sz="2000" b="0" i="1" dirty="0" smtClean="0">
                            <a:latin typeface="+mn-lt"/>
                            <a:ea typeface="Roboto" panose="02000000000000000000" pitchFamily="2" charset="0"/>
                          </a:rPr>
                        </m:ctrlPr>
                      </m:dPr>
                      <m:e>
                        <m:r>
                          <a:rPr lang="es-MX" sz="2000" b="0" i="1" dirty="0" smtClean="0">
                            <a:latin typeface="+mn-lt"/>
                            <a:ea typeface="Roboto" panose="02000000000000000000" pitchFamily="2" charset="0"/>
                          </a:rPr>
                          <m:t>𝐴</m:t>
                        </m:r>
                      </m:e>
                    </m:d>
                    <m:r>
                      <a:rPr lang="es-MX" sz="2000" b="0" i="1" dirty="0" smtClean="0">
                        <a:latin typeface="+mn-lt"/>
                        <a:ea typeface="Roboto" panose="02000000000000000000" pitchFamily="2" charset="0"/>
                      </a:rPr>
                      <m:t>=</m:t>
                    </m:r>
                  </m:oMath>
                </a14:m>
                <a:endParaRPr lang="es-MX" sz="2000" b="0" dirty="0">
                  <a:latin typeface="+mn-lt"/>
                  <a:ea typeface="Cambria Math" panose="02040503050406030204" pitchFamily="18" charset="0"/>
                </a:endParaRPr>
              </a:p>
              <a:p>
                <a14:m>
                  <m:oMath xmlns:m="http://schemas.openxmlformats.org/officeDocument/2006/math">
                    <m:d>
                      <m:dPr>
                        <m:begChr m:val="|"/>
                        <m:endChr m:val="|"/>
                        <m:ctrlPr>
                          <a:rPr lang="es-MX" sz="2000" b="0" i="1" dirty="0" smtClean="0">
                            <a:latin typeface="+mn-lt"/>
                            <a:ea typeface="Roboto" panose="02000000000000000000" pitchFamily="2" charset="0"/>
                          </a:rPr>
                        </m:ctrlPr>
                      </m:dPr>
                      <m:e>
                        <m:r>
                          <a:rPr lang="es-MX" sz="2000" b="0" i="1" dirty="0" smtClean="0">
                            <a:latin typeface="+mn-lt"/>
                            <a:ea typeface="Roboto" panose="02000000000000000000" pitchFamily="2" charset="0"/>
                          </a:rPr>
                          <m:t>𝐵</m:t>
                        </m:r>
                      </m:e>
                    </m:d>
                    <m:r>
                      <a:rPr lang="es-MX" sz="2000" i="1" dirty="0">
                        <a:latin typeface="+mn-lt"/>
                        <a:ea typeface="Roboto" panose="02000000000000000000" pitchFamily="2" charset="0"/>
                      </a:rPr>
                      <m:t>=</m:t>
                    </m:r>
                    <m:r>
                      <a:rPr lang="es-MX" sz="2000" i="1" dirty="0">
                        <a:latin typeface="+mn-lt"/>
                        <a:ea typeface="Roboto" panose="02000000000000000000" pitchFamily="2" charset="0"/>
                      </a:rPr>
                      <m:t>𝑛</m:t>
                    </m:r>
                    <m:d>
                      <m:dPr>
                        <m:ctrlPr>
                          <a:rPr lang="es-MX" sz="2000" i="1" dirty="0">
                            <a:latin typeface="+mn-lt"/>
                            <a:ea typeface="Roboto" panose="02000000000000000000" pitchFamily="2" charset="0"/>
                          </a:rPr>
                        </m:ctrlPr>
                      </m:dPr>
                      <m:e>
                        <m:r>
                          <a:rPr lang="es-MX" sz="2000" b="0" i="1" dirty="0" smtClean="0">
                            <a:latin typeface="+mn-lt"/>
                            <a:ea typeface="Roboto" panose="02000000000000000000" pitchFamily="2" charset="0"/>
                          </a:rPr>
                          <m:t>𝐵</m:t>
                        </m:r>
                      </m:e>
                    </m:d>
                    <m:r>
                      <a:rPr lang="es-MX" sz="2000" i="1" dirty="0">
                        <a:latin typeface="+mn-lt"/>
                        <a:ea typeface="Roboto" panose="02000000000000000000" pitchFamily="2" charset="0"/>
                      </a:rPr>
                      <m:t>=</m:t>
                    </m:r>
                  </m:oMath>
                </a14:m>
                <a:endParaRPr lang="es-MX" sz="2000" i="1" dirty="0">
                  <a:latin typeface="+mn-lt"/>
                  <a:ea typeface="Roboto" panose="02000000000000000000" pitchFamily="2" charset="0"/>
                </a:endParaRPr>
              </a:p>
              <a:p>
                <a14:m>
                  <m:oMath xmlns:m="http://schemas.openxmlformats.org/officeDocument/2006/math">
                    <m:d>
                      <m:dPr>
                        <m:begChr m:val="|"/>
                        <m:endChr m:val="|"/>
                        <m:ctrlPr>
                          <a:rPr lang="es-MX" sz="2000" i="1" dirty="0">
                            <a:latin typeface="+mn-lt"/>
                            <a:ea typeface="Roboto" panose="02000000000000000000" pitchFamily="2" charset="0"/>
                          </a:rPr>
                        </m:ctrlPr>
                      </m:dPr>
                      <m:e>
                        <m:r>
                          <a:rPr lang="es-MX" sz="2000" b="0" i="1" dirty="0" smtClean="0">
                            <a:latin typeface="+mn-lt"/>
                            <a:ea typeface="Roboto" panose="02000000000000000000" pitchFamily="2" charset="0"/>
                          </a:rPr>
                          <m:t>𝐴</m:t>
                        </m:r>
                        <m:r>
                          <a:rPr lang="es-MX" sz="2000" b="0" i="1" dirty="0" smtClean="0">
                            <a:latin typeface="+mn-lt"/>
                            <a:ea typeface="Cambria Math" panose="02040503050406030204" pitchFamily="18" charset="0"/>
                          </a:rPr>
                          <m:t>⋅</m:t>
                        </m:r>
                        <m:r>
                          <a:rPr lang="es-MX" sz="2000" i="1" dirty="0">
                            <a:latin typeface="+mn-lt"/>
                            <a:ea typeface="Roboto" panose="02000000000000000000" pitchFamily="2" charset="0"/>
                          </a:rPr>
                          <m:t>𝐵</m:t>
                        </m:r>
                      </m:e>
                    </m:d>
                    <m:r>
                      <a:rPr lang="es-MX" sz="2000" b="0" i="1" dirty="0" smtClean="0">
                        <a:latin typeface="+mn-lt"/>
                        <a:ea typeface="Roboto" panose="02000000000000000000" pitchFamily="2" charset="0"/>
                      </a:rPr>
                      <m:t>=</m:t>
                    </m:r>
                  </m:oMath>
                </a14:m>
                <a:endParaRPr lang="es-MX" sz="2000" i="1" dirty="0">
                  <a:latin typeface="+mn-lt"/>
                  <a:ea typeface="Roboto" panose="02000000000000000000" pitchFamily="2" charset="0"/>
                </a:endParaRPr>
              </a:p>
              <a:p>
                <a14:m>
                  <m:oMath xmlns:m="http://schemas.openxmlformats.org/officeDocument/2006/math">
                    <m:d>
                      <m:dPr>
                        <m:begChr m:val="|"/>
                        <m:endChr m:val="|"/>
                        <m:ctrlPr>
                          <a:rPr lang="es-MX" sz="2000" i="1" dirty="0">
                            <a:latin typeface="+mn-lt"/>
                            <a:ea typeface="Roboto" panose="02000000000000000000" pitchFamily="2" charset="0"/>
                          </a:rPr>
                        </m:ctrlPr>
                      </m:dPr>
                      <m:e>
                        <m:r>
                          <a:rPr lang="es-MX" sz="2000" i="1" dirty="0">
                            <a:latin typeface="+mn-lt"/>
                            <a:ea typeface="Roboto" panose="02000000000000000000" pitchFamily="2" charset="0"/>
                          </a:rPr>
                          <m:t>𝐴</m:t>
                        </m:r>
                        <m:r>
                          <a:rPr lang="es-MX" sz="2000" b="0" i="1" dirty="0" smtClean="0">
                            <a:latin typeface="+mn-lt"/>
                            <a:ea typeface="Cambria Math" panose="02040503050406030204" pitchFamily="18" charset="0"/>
                          </a:rPr>
                          <m:t>+</m:t>
                        </m:r>
                        <m:r>
                          <a:rPr lang="es-MX" sz="2000" i="1" dirty="0">
                            <a:latin typeface="+mn-lt"/>
                            <a:ea typeface="Roboto" panose="02000000000000000000" pitchFamily="2" charset="0"/>
                          </a:rPr>
                          <m:t>𝐵</m:t>
                        </m:r>
                      </m:e>
                    </m:d>
                    <m:r>
                      <a:rPr lang="es-MX" sz="2000" b="0" i="1" dirty="0" smtClean="0">
                        <a:latin typeface="+mn-lt"/>
                        <a:ea typeface="Roboto" panose="02000000000000000000" pitchFamily="2" charset="0"/>
                      </a:rPr>
                      <m:t>=</m:t>
                    </m:r>
                  </m:oMath>
                </a14:m>
                <a:endParaRPr lang="es-MX" sz="2000" i="1" dirty="0">
                  <a:latin typeface="+mn-lt"/>
                  <a:ea typeface="Roboto" panose="02000000000000000000" pitchFamily="2" charset="0"/>
                </a:endParaRPr>
              </a:p>
              <a:p>
                <a14:m>
                  <m:oMath xmlns:m="http://schemas.openxmlformats.org/officeDocument/2006/math">
                    <m:d>
                      <m:dPr>
                        <m:begChr m:val="|"/>
                        <m:endChr m:val="|"/>
                        <m:ctrlPr>
                          <a:rPr lang="es-MX" sz="2000" i="1" dirty="0">
                            <a:latin typeface="+mn-lt"/>
                            <a:ea typeface="Roboto" panose="02000000000000000000" pitchFamily="2" charset="0"/>
                          </a:rPr>
                        </m:ctrlPr>
                      </m:dPr>
                      <m:e>
                        <m:r>
                          <a:rPr lang="es-MX" sz="2000" b="0" i="1" dirty="0" smtClean="0">
                            <a:latin typeface="+mn-lt"/>
                            <a:ea typeface="Roboto" panose="02000000000000000000" pitchFamily="2" charset="0"/>
                          </a:rPr>
                          <m:t>𝑈</m:t>
                        </m:r>
                      </m:e>
                    </m:d>
                    <m:r>
                      <a:rPr lang="es-MX" sz="2000" b="0" i="1" dirty="0" smtClean="0">
                        <a:latin typeface="+mn-lt"/>
                        <a:ea typeface="Roboto" panose="02000000000000000000" pitchFamily="2" charset="0"/>
                      </a:rPr>
                      <m:t>=</m:t>
                    </m:r>
                  </m:oMath>
                </a14:m>
                <a:endParaRPr lang="es-MX" sz="2000" i="1" dirty="0">
                  <a:latin typeface="+mn-lt"/>
                  <a:ea typeface="Roboto" panose="02000000000000000000" pitchFamily="2" charset="0"/>
                </a:endParaRPr>
              </a:p>
              <a:p>
                <a14:m>
                  <m:oMath xmlns:m="http://schemas.openxmlformats.org/officeDocument/2006/math">
                    <m:d>
                      <m:dPr>
                        <m:begChr m:val="|"/>
                        <m:endChr m:val="|"/>
                        <m:ctrlPr>
                          <a:rPr lang="es-MX" sz="2000" i="1" dirty="0">
                            <a:latin typeface="+mn-lt"/>
                            <a:ea typeface="Roboto" panose="02000000000000000000" pitchFamily="2" charset="0"/>
                          </a:rPr>
                        </m:ctrlPr>
                      </m:dPr>
                      <m:e>
                        <m:d>
                          <m:dPr>
                            <m:ctrlPr>
                              <a:rPr lang="es-MX" sz="2000" b="0" i="1" dirty="0" smtClean="0">
                                <a:latin typeface="+mn-lt"/>
                                <a:ea typeface="Roboto" panose="02000000000000000000" pitchFamily="2" charset="0"/>
                              </a:rPr>
                            </m:ctrlPr>
                          </m:dPr>
                          <m:e>
                            <m:r>
                              <a:rPr lang="es-MX" sz="2000" b="0" i="1" dirty="0" smtClean="0">
                                <a:latin typeface="+mn-lt"/>
                                <a:ea typeface="Roboto" panose="02000000000000000000" pitchFamily="2" charset="0"/>
                              </a:rPr>
                              <m:t>𝐴</m:t>
                            </m:r>
                            <m:r>
                              <a:rPr lang="es-MX" sz="2000" b="0" i="1" dirty="0" smtClean="0">
                                <a:latin typeface="+mn-lt"/>
                                <a:ea typeface="Roboto" panose="02000000000000000000" pitchFamily="2" charset="0"/>
                              </a:rPr>
                              <m:t>+</m:t>
                            </m:r>
                            <m:r>
                              <a:rPr lang="es-MX" sz="2000" b="0" i="1" dirty="0" smtClean="0">
                                <a:latin typeface="+mn-lt"/>
                                <a:ea typeface="Roboto" panose="02000000000000000000" pitchFamily="2" charset="0"/>
                              </a:rPr>
                              <m:t>𝐵</m:t>
                            </m:r>
                          </m:e>
                        </m:d>
                        <m:r>
                          <a:rPr lang="es-MX" sz="2000" b="0" i="1" dirty="0" smtClean="0">
                            <a:latin typeface="+mn-lt"/>
                            <a:ea typeface="Roboto" panose="02000000000000000000" pitchFamily="2" charset="0"/>
                          </a:rPr>
                          <m:t>′</m:t>
                        </m:r>
                      </m:e>
                    </m:d>
                    <m:r>
                      <a:rPr lang="es-MX" sz="2000" b="0" i="1" dirty="0" smtClean="0">
                        <a:latin typeface="+mn-lt"/>
                        <a:ea typeface="Roboto" panose="02000000000000000000" pitchFamily="2" charset="0"/>
                      </a:rPr>
                      <m:t>=</m:t>
                    </m:r>
                  </m:oMath>
                </a14:m>
                <a:endParaRPr lang="es-MX" sz="2000" b="0" i="1" dirty="0">
                  <a:latin typeface="+mn-lt"/>
                  <a:ea typeface="Roboto" panose="02000000000000000000" pitchFamily="2" charset="0"/>
                </a:endParaRPr>
              </a:p>
              <a:p>
                <a14:m>
                  <m:oMath xmlns:m="http://schemas.openxmlformats.org/officeDocument/2006/math">
                    <m:d>
                      <m:dPr>
                        <m:begChr m:val="|"/>
                        <m:endChr m:val="|"/>
                        <m:ctrlPr>
                          <a:rPr lang="es-MX" sz="2000" b="0" i="1" dirty="0" smtClean="0">
                            <a:latin typeface="+mn-lt"/>
                            <a:ea typeface="Roboto" panose="02000000000000000000" pitchFamily="2" charset="0"/>
                          </a:rPr>
                        </m:ctrlPr>
                      </m:dPr>
                      <m:e>
                        <m:r>
                          <a:rPr lang="es-MX" sz="2000" i="1" dirty="0">
                            <a:latin typeface="+mn-lt"/>
                            <a:ea typeface="Roboto" panose="02000000000000000000" pitchFamily="2" charset="0"/>
                          </a:rPr>
                          <m:t>𝐴</m:t>
                        </m:r>
                        <m:r>
                          <a:rPr lang="es-MX" sz="2000" i="1" dirty="0">
                            <a:latin typeface="+mn-lt"/>
                            <a:ea typeface="Cambria Math" panose="02040503050406030204" pitchFamily="18" charset="0"/>
                          </a:rPr>
                          <m:t>′</m:t>
                        </m:r>
                        <m:r>
                          <m:rPr>
                            <m:nor/>
                          </m:rPr>
                          <a:rPr lang="es-MX" sz="2000" dirty="0">
                            <a:latin typeface="+mn-lt"/>
                            <a:ea typeface="Cambria Math" panose="02040503050406030204" pitchFamily="18" charset="0"/>
                          </a:rPr>
                          <m:t> </m:t>
                        </m:r>
                      </m:e>
                    </m:d>
                    <m:r>
                      <a:rPr lang="es-MX" sz="2000" b="0" i="1" dirty="0" smtClean="0">
                        <a:latin typeface="+mn-lt"/>
                        <a:ea typeface="Roboto" panose="02000000000000000000" pitchFamily="2" charset="0"/>
                      </a:rPr>
                      <m:t>=</m:t>
                    </m:r>
                    <m:d>
                      <m:dPr>
                        <m:begChr m:val="|"/>
                        <m:endChr m:val="|"/>
                        <m:ctrlPr>
                          <a:rPr lang="es-MX" sz="2000" i="1" dirty="0">
                            <a:latin typeface="+mn-lt"/>
                            <a:ea typeface="Roboto" panose="02000000000000000000" pitchFamily="2" charset="0"/>
                          </a:rPr>
                        </m:ctrlPr>
                      </m:dPr>
                      <m:e>
                        <m:r>
                          <a:rPr lang="es-MX" sz="2000" i="1" dirty="0">
                            <a:latin typeface="+mn-lt"/>
                            <a:ea typeface="Roboto" panose="02000000000000000000" pitchFamily="2" charset="0"/>
                          </a:rPr>
                          <m:t>𝑈</m:t>
                        </m:r>
                      </m:e>
                    </m:d>
                    <m:r>
                      <a:rPr lang="es-MX" sz="2000" i="1" dirty="0">
                        <a:latin typeface="+mn-lt"/>
                        <a:ea typeface="Roboto" panose="02000000000000000000" pitchFamily="2" charset="0"/>
                      </a:rPr>
                      <m:t>−</m:t>
                    </m:r>
                    <m:d>
                      <m:dPr>
                        <m:begChr m:val="|"/>
                        <m:endChr m:val="|"/>
                        <m:ctrlPr>
                          <a:rPr lang="es-MX" sz="2000" b="0" i="1" dirty="0" smtClean="0">
                            <a:latin typeface="+mn-lt"/>
                            <a:ea typeface="Roboto" panose="02000000000000000000" pitchFamily="2" charset="0"/>
                          </a:rPr>
                        </m:ctrlPr>
                      </m:dPr>
                      <m:e>
                        <m:r>
                          <a:rPr lang="es-MX" sz="2000" b="0" i="1" dirty="0" smtClean="0">
                            <a:latin typeface="+mn-lt"/>
                            <a:ea typeface="Roboto" panose="02000000000000000000" pitchFamily="2" charset="0"/>
                          </a:rPr>
                          <m:t>𝐴</m:t>
                        </m:r>
                      </m:e>
                    </m:d>
                    <m:r>
                      <a:rPr lang="es-MX" sz="2000" b="0" i="1" dirty="0" smtClean="0">
                        <a:latin typeface="+mn-lt"/>
                        <a:ea typeface="Roboto" panose="02000000000000000000" pitchFamily="2" charset="0"/>
                      </a:rPr>
                      <m:t>=</m:t>
                    </m:r>
                  </m:oMath>
                </a14:m>
                <a:endParaRPr lang="es-MX" sz="2000" b="0" i="1" dirty="0">
                  <a:latin typeface="+mn-lt"/>
                  <a:ea typeface="Roboto" panose="02000000000000000000" pitchFamily="2" charset="0"/>
                </a:endParaRPr>
              </a:p>
              <a:p>
                <a14:m>
                  <m:oMath xmlns:m="http://schemas.openxmlformats.org/officeDocument/2006/math">
                    <m:d>
                      <m:dPr>
                        <m:begChr m:val="|"/>
                        <m:endChr m:val="|"/>
                        <m:ctrlPr>
                          <a:rPr lang="es-MX" sz="1800" i="1" dirty="0">
                            <a:latin typeface="+mn-lt"/>
                            <a:ea typeface="Roboto" panose="02000000000000000000" pitchFamily="2" charset="0"/>
                          </a:rPr>
                        </m:ctrlPr>
                      </m:dPr>
                      <m:e>
                        <m:r>
                          <a:rPr lang="es-MX" sz="1800" i="1" dirty="0">
                            <a:latin typeface="+mn-lt"/>
                            <a:ea typeface="Roboto" panose="02000000000000000000" pitchFamily="2" charset="0"/>
                          </a:rPr>
                          <m:t>𝐴</m:t>
                        </m:r>
                        <m:r>
                          <a:rPr lang="es-MX" sz="1800" i="1" dirty="0">
                            <a:latin typeface="+mn-lt"/>
                            <a:ea typeface="Cambria Math" panose="02040503050406030204" pitchFamily="18" charset="0"/>
                          </a:rPr>
                          <m:t>⋅</m:t>
                        </m:r>
                        <m:r>
                          <a:rPr lang="es-MX" sz="1800" b="0" i="1" dirty="0" smtClean="0">
                            <a:latin typeface="+mn-lt"/>
                            <a:ea typeface="Cambria Math" panose="02040503050406030204" pitchFamily="18" charset="0"/>
                          </a:rPr>
                          <m:t>𝐵</m:t>
                        </m:r>
                        <m:r>
                          <a:rPr lang="es-MX" sz="1800" i="1" dirty="0">
                            <a:latin typeface="+mn-lt"/>
                            <a:ea typeface="Cambria Math" panose="02040503050406030204" pitchFamily="18" charset="0"/>
                          </a:rPr>
                          <m:t>′</m:t>
                        </m:r>
                        <m:r>
                          <m:rPr>
                            <m:nor/>
                          </m:rPr>
                          <a:rPr lang="es-MX" sz="1800" dirty="0">
                            <a:latin typeface="+mn-lt"/>
                            <a:ea typeface="Cambria Math" panose="02040503050406030204" pitchFamily="18" charset="0"/>
                          </a:rPr>
                          <m:t> </m:t>
                        </m:r>
                      </m:e>
                    </m:d>
                    <m:r>
                      <a:rPr lang="es-MX" sz="1800" b="0" i="1" dirty="0" smtClean="0">
                        <a:latin typeface="+mn-lt"/>
                        <a:ea typeface="Cambria Math" panose="02040503050406030204" pitchFamily="18" charset="0"/>
                      </a:rPr>
                      <m:t>=</m:t>
                    </m:r>
                  </m:oMath>
                </a14:m>
                <a:endParaRPr lang="es-MX" sz="1800" b="0" dirty="0">
                  <a:latin typeface="+mn-lt"/>
                  <a:ea typeface="Cambria Math" panose="02040503050406030204" pitchFamily="18" charset="0"/>
                </a:endParaRPr>
              </a:p>
              <a:p>
                <a:pPr lvl="1"/>
                <a:endParaRPr lang="es-MX" sz="2000" b="0" dirty="0">
                  <a:latin typeface="+mn-lt"/>
                  <a:ea typeface="Cambria Math" panose="02040503050406030204" pitchFamily="18" charset="0"/>
                </a:endParaRPr>
              </a:p>
              <a:p>
                <a:pPr lvl="1"/>
                <a:endParaRPr lang="es-MX" sz="2000" b="0" dirty="0">
                  <a:latin typeface="+mn-lt"/>
                  <a:ea typeface="Cambria Math" panose="02040503050406030204" pitchFamily="18" charset="0"/>
                </a:endParaRPr>
              </a:p>
              <a:p>
                <a:pPr lvl="1"/>
                <a:endParaRPr lang="es-MX" sz="2000" dirty="0">
                  <a:latin typeface="+mn-lt"/>
                  <a:ea typeface="Roboto" panose="02000000000000000000" pitchFamily="2" charset="0"/>
                </a:endParaRPr>
              </a:p>
              <a:p>
                <a:pPr lvl="1"/>
                <a:endParaRPr lang="es-MX" sz="2400" dirty="0">
                  <a:latin typeface="+mn-lt"/>
                  <a:ea typeface="Roboto" panose="02000000000000000000" pitchFamily="2" charset="0"/>
                </a:endParaRPr>
              </a:p>
            </p:txBody>
          </p:sp>
        </mc:Choice>
        <mc:Fallback>
          <p:sp>
            <p:nvSpPr>
              <p:cNvPr id="6" name="Google Shape;310;p34">
                <a:extLst>
                  <a:ext uri="{FF2B5EF4-FFF2-40B4-BE49-F238E27FC236}">
                    <a16:creationId xmlns:a16="http://schemas.microsoft.com/office/drawing/2014/main" id="{288A6B7E-28E5-4804-B868-74927C5F271A}"/>
                  </a:ext>
                </a:extLst>
              </p:cNvPr>
              <p:cNvSpPr txBox="1">
                <a:spLocks noRot="1" noChangeAspect="1" noMove="1" noResize="1" noEditPoints="1" noAdjustHandles="1" noChangeArrowheads="1" noChangeShapeType="1" noTextEdit="1"/>
              </p:cNvSpPr>
              <p:nvPr/>
            </p:nvSpPr>
            <p:spPr>
              <a:xfrm>
                <a:off x="916650" y="1311009"/>
                <a:ext cx="10625775" cy="4595117"/>
              </a:xfrm>
              <a:prstGeom prst="rect">
                <a:avLst/>
              </a:prstGeom>
              <a:blipFill>
                <a:blip r:embed="rId3"/>
                <a:stretch>
                  <a:fillRect/>
                </a:stretch>
              </a:blipFill>
              <a:ln>
                <a:noFill/>
              </a:ln>
            </p:spPr>
            <p:txBody>
              <a:bodyPr/>
              <a:lstStyle/>
              <a:p>
                <a:r>
                  <a:rPr lang="es-CO">
                    <a:noFill/>
                  </a:rPr>
                  <a:t> </a:t>
                </a:r>
              </a:p>
            </p:txBody>
          </p:sp>
        </mc:Fallback>
      </mc:AlternateContent>
      <p:pic>
        <p:nvPicPr>
          <p:cNvPr id="7" name="Picture 2" descr="A two-set Venn diagram intersecting one another is given. The first set is labeled A while the second set is labeled B.  Set A shows 7. Set B shows 5. The intersection of the sets shows 5. Outside the Venn diagram, it is marked U. ">
            <a:extLst>
              <a:ext uri="{FF2B5EF4-FFF2-40B4-BE49-F238E27FC236}">
                <a16:creationId xmlns:a16="http://schemas.microsoft.com/office/drawing/2014/main" id="{C0EF612F-22E3-465B-8A22-21FC283F44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97529" y="2489224"/>
            <a:ext cx="3105138" cy="2352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7507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Solución – Ejemplo 9</a:t>
            </a:r>
            <a:endParaRPr lang="es-MX" dirty="0">
              <a:solidFill>
                <a:schemeClr val="accent2"/>
              </a:solidFill>
              <a:latin typeface="+mn-lt"/>
            </a:endParaRPr>
          </a:p>
          <a:p>
            <a:pPr indent="0">
              <a:buFont typeface="Roboto"/>
              <a:buNone/>
            </a:pPr>
            <a:endParaRPr lang="es-MX" sz="2400" dirty="0">
              <a:latin typeface="+mn-lt"/>
            </a:endParaRPr>
          </a:p>
        </p:txBody>
      </p:sp>
      <p:pic>
        <p:nvPicPr>
          <p:cNvPr id="8" name="Picture 2" descr="A three-set Venn diagram A, B, and Rh plus overlapping one another is given. Set A shows A dash equals 6. Set B shows B dash equals 2. Set Rh plus shows O plus dash equals 37. The intersection of sets A and B shows AB dash equals 1. The intersection of sets B and Rh plus shows B plus equals 8. The intersection of sets A and Rh plus shows A plus equals 36. The intersection of all three sets shows AB plus equals 3. Outside the set, 'O dash equals 7' is given. Outside the Venn diagram, it is marked 'U equals Blood types of 100 people.' ">
            <a:extLst>
              <a:ext uri="{FF2B5EF4-FFF2-40B4-BE49-F238E27FC236}">
                <a16:creationId xmlns:a16="http://schemas.microsoft.com/office/drawing/2014/main" id="{6EB04CAB-F302-46E9-85EE-D32628079E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5237" y="1393332"/>
            <a:ext cx="4796473" cy="5178282"/>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310;p34">
            <a:extLst>
              <a:ext uri="{FF2B5EF4-FFF2-40B4-BE49-F238E27FC236}">
                <a16:creationId xmlns:a16="http://schemas.microsoft.com/office/drawing/2014/main" id="{02CFD9C0-C463-4594-B444-A5C36A62C397}"/>
              </a:ext>
            </a:extLst>
          </p:cNvPr>
          <p:cNvSpPr txBox="1">
            <a:spLocks/>
          </p:cNvSpPr>
          <p:nvPr/>
        </p:nvSpPr>
        <p:spPr>
          <a:xfrm>
            <a:off x="916650" y="1311008"/>
            <a:ext cx="5941350" cy="534293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Utilice el diagrama de Venn a continuación, que muestra los tipos de sangre de 100 personas que donaron sangre en una clínica local, para responder las siguientes preguntas:</a:t>
            </a:r>
          </a:p>
          <a:p>
            <a:r>
              <a:rPr lang="es-MX" sz="2000" b="0" dirty="0">
                <a:latin typeface="+mn-lt"/>
                <a:ea typeface="Cambria Math" panose="02040503050406030204" pitchFamily="18" charset="0"/>
              </a:rPr>
              <a:t>¿Cuántas personas con factor sanguíneo A donaron sangre?</a:t>
            </a:r>
          </a:p>
          <a:p>
            <a:r>
              <a:rPr lang="es-MX" sz="2000" b="0" dirty="0">
                <a:latin typeface="+mn-lt"/>
                <a:ea typeface="Cambria Math" panose="02040503050406030204" pitchFamily="18" charset="0"/>
              </a:rPr>
              <a:t>Julio tiene el tipo sanguíneo B+. Si necesita una cirugía que requiera una transfusión de sangre, puede aceptar sangre de cualquier persona que no tenga el factor sanguíneo A. ¿Cuántas personas donaron sangre que Julio puede aceptar?</a:t>
            </a:r>
          </a:p>
          <a:p>
            <a:r>
              <a:rPr lang="es-MX" sz="2000" b="0" dirty="0">
                <a:latin typeface="+mn-lt"/>
                <a:ea typeface="Cambria Math" panose="02040503050406030204" pitchFamily="18" charset="0"/>
              </a:rPr>
              <a:t>¿Cuántas personas que donaron sangre no tienen el factor sanguíneo Rh+?</a:t>
            </a:r>
          </a:p>
          <a:p>
            <a:r>
              <a:rPr lang="es-MX" sz="2000" b="0" dirty="0">
                <a:latin typeface="+mn-lt"/>
                <a:ea typeface="Cambria Math" panose="02040503050406030204" pitchFamily="18" charset="0"/>
              </a:rPr>
              <a:t>¿Cuántas personas tenían sangre tipo A y tipo B?</a:t>
            </a:r>
            <a:endParaRPr lang="es-MX" sz="2400" dirty="0">
              <a:latin typeface="+mn-lt"/>
              <a:ea typeface="Roboto" panose="02000000000000000000" pitchFamily="2" charset="0"/>
            </a:endParaRPr>
          </a:p>
        </p:txBody>
      </p:sp>
    </p:spTree>
    <p:extLst>
      <p:ext uri="{BB962C8B-B14F-4D97-AF65-F5344CB8AC3E}">
        <p14:creationId xmlns:p14="http://schemas.microsoft.com/office/powerpoint/2010/main" val="17570054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Solución – Ejemplo 9</a:t>
            </a:r>
            <a:endParaRPr lang="es-MX" dirty="0">
              <a:solidFill>
                <a:schemeClr val="accent2"/>
              </a:solidFill>
              <a:latin typeface="+mn-lt"/>
            </a:endParaRPr>
          </a:p>
          <a:p>
            <a:pPr indent="0">
              <a:buFont typeface="Roboto"/>
              <a:buNone/>
            </a:pPr>
            <a:endParaRPr lang="es-MX" sz="2400" dirty="0">
              <a:latin typeface="+mn-lt"/>
            </a:endParaRPr>
          </a:p>
        </p:txBody>
      </p:sp>
      <p:pic>
        <p:nvPicPr>
          <p:cNvPr id="8" name="Picture 2" descr="A three-set Venn diagram A, B, and Rh plus overlapping one another is given. Set A shows A dash equals 6. Set B shows B dash equals 2. Set Rh plus shows O plus dash equals 37. The intersection of sets A and B shows AB dash equals 1. The intersection of sets B and Rh plus shows B plus equals 8. The intersection of sets A and Rh plus shows A plus equals 36. The intersection of all three sets shows AB plus equals 3. Outside the set, 'O dash equals 7' is given. Outside the Venn diagram, it is marked 'U equals Blood types of 100 people.' ">
            <a:extLst>
              <a:ext uri="{FF2B5EF4-FFF2-40B4-BE49-F238E27FC236}">
                <a16:creationId xmlns:a16="http://schemas.microsoft.com/office/drawing/2014/main" id="{6EB04CAB-F302-46E9-85EE-D32628079E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4747" y="1789804"/>
            <a:ext cx="3971953" cy="4288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85691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Solución – Ejemplo 9</a:t>
            </a:r>
            <a:endParaRPr lang="es-MX" dirty="0">
              <a:solidFill>
                <a:schemeClr val="accent2"/>
              </a:solidFill>
              <a:latin typeface="+mn-lt"/>
            </a:endParaRPr>
          </a:p>
          <a:p>
            <a:pPr indent="0">
              <a:buFont typeface="Roboto"/>
              <a:buNone/>
            </a:pPr>
            <a:endParaRPr lang="es-MX" sz="2400" dirty="0">
              <a:latin typeface="+mn-lt"/>
            </a:endParaRPr>
          </a:p>
        </p:txBody>
      </p:sp>
      <p:pic>
        <p:nvPicPr>
          <p:cNvPr id="8" name="Picture 2" descr="A three-set Venn diagram A, B, and Rh plus overlapping one another is given. Set A shows A dash equals 6. Set B shows B dash equals 2. Set Rh plus shows O plus dash equals 37. The intersection of sets A and B shows AB dash equals 1. The intersection of sets B and Rh plus shows B plus equals 8. The intersection of sets A and Rh plus shows A plus equals 36. The intersection of all three sets shows AB plus equals 3. Outside the set, 'O dash equals 7' is given. Outside the Venn diagram, it is marked 'U equals Blood types of 100 people.' ">
            <a:extLst>
              <a:ext uri="{FF2B5EF4-FFF2-40B4-BE49-F238E27FC236}">
                <a16:creationId xmlns:a16="http://schemas.microsoft.com/office/drawing/2014/main" id="{6EB04CAB-F302-46E9-85EE-D32628079E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4747" y="1789804"/>
            <a:ext cx="3971953" cy="4288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05065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Solución – Ejemplo 9</a:t>
            </a:r>
            <a:endParaRPr lang="es-MX" dirty="0">
              <a:solidFill>
                <a:schemeClr val="accent2"/>
              </a:solidFill>
              <a:latin typeface="+mn-lt"/>
            </a:endParaRPr>
          </a:p>
          <a:p>
            <a:pPr indent="0">
              <a:buFont typeface="Roboto"/>
              <a:buNone/>
            </a:pPr>
            <a:endParaRPr lang="es-MX" sz="2400" dirty="0">
              <a:latin typeface="+mn-lt"/>
            </a:endParaRPr>
          </a:p>
        </p:txBody>
      </p:sp>
      <p:pic>
        <p:nvPicPr>
          <p:cNvPr id="8" name="Picture 2" descr="A three-set Venn diagram A, B, and Rh plus overlapping one another is given. Set A shows A dash equals 6. Set B shows B dash equals 2. Set Rh plus shows O plus dash equals 37. The intersection of sets A and B shows AB dash equals 1. The intersection of sets B and Rh plus shows B plus equals 8. The intersection of sets A and Rh plus shows A plus equals 36. The intersection of all three sets shows AB plus equals 3. Outside the set, 'O dash equals 7' is given. Outside the Venn diagram, it is marked 'U equals Blood types of 100 people.' ">
            <a:extLst>
              <a:ext uri="{FF2B5EF4-FFF2-40B4-BE49-F238E27FC236}">
                <a16:creationId xmlns:a16="http://schemas.microsoft.com/office/drawing/2014/main" id="{6EB04CAB-F302-46E9-85EE-D32628079E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4786" y="1729567"/>
            <a:ext cx="3971953" cy="4288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84577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Solución – Ejemplo 9</a:t>
            </a:r>
            <a:endParaRPr lang="es-MX" dirty="0">
              <a:solidFill>
                <a:schemeClr val="accent2"/>
              </a:solidFill>
              <a:latin typeface="+mn-lt"/>
            </a:endParaRPr>
          </a:p>
          <a:p>
            <a:pPr indent="0">
              <a:buFont typeface="Roboto"/>
              <a:buNone/>
            </a:pPr>
            <a:endParaRPr lang="es-MX" sz="2400" dirty="0">
              <a:latin typeface="+mn-lt"/>
            </a:endParaRPr>
          </a:p>
        </p:txBody>
      </p:sp>
      <p:pic>
        <p:nvPicPr>
          <p:cNvPr id="8" name="Picture 2" descr="A three-set Venn diagram A, B, and Rh plus overlapping one another is given. Set A shows A dash equals 6. Set B shows B dash equals 2. Set Rh plus shows O plus dash equals 37. The intersection of sets A and B shows AB dash equals 1. The intersection of sets B and Rh plus shows B plus equals 8. The intersection of sets A and Rh plus shows A plus equals 36. The intersection of all three sets shows AB plus equals 3. Outside the set, 'O dash equals 7' is given. Outside the Venn diagram, it is marked 'U equals Blood types of 100 people.' ">
            <a:extLst>
              <a:ext uri="{FF2B5EF4-FFF2-40B4-BE49-F238E27FC236}">
                <a16:creationId xmlns:a16="http://schemas.microsoft.com/office/drawing/2014/main" id="{6EB04CAB-F302-46E9-85EE-D32628079E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4747" y="1789804"/>
            <a:ext cx="3971953" cy="4288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91118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Solución – Ejemplo 9</a:t>
            </a:r>
            <a:endParaRPr lang="es-MX" dirty="0">
              <a:solidFill>
                <a:schemeClr val="accent2"/>
              </a:solidFill>
              <a:latin typeface="+mn-lt"/>
            </a:endParaRPr>
          </a:p>
          <a:p>
            <a:pPr indent="0">
              <a:buFont typeface="Roboto"/>
              <a:buNone/>
            </a:pPr>
            <a:endParaRPr lang="es-MX" sz="2400" dirty="0">
              <a:latin typeface="+mn-lt"/>
            </a:endParaRPr>
          </a:p>
        </p:txBody>
      </p:sp>
      <p:pic>
        <p:nvPicPr>
          <p:cNvPr id="8" name="Picture 2" descr="A three-set Venn diagram A, B, and Rh plus overlapping one another is given. Set A shows A dash equals 6. Set B shows B dash equals 2. Set Rh plus shows O plus dash equals 37. The intersection of sets A and B shows AB dash equals 1. The intersection of sets B and Rh plus shows B plus equals 8. The intersection of sets A and Rh plus shows A plus equals 36. The intersection of all three sets shows AB plus equals 3. Outside the set, 'O dash equals 7' is given. Outside the Venn diagram, it is marked 'U equals Blood types of 100 people.' ">
            <a:extLst>
              <a:ext uri="{FF2B5EF4-FFF2-40B4-BE49-F238E27FC236}">
                <a16:creationId xmlns:a16="http://schemas.microsoft.com/office/drawing/2014/main" id="{6EB04CAB-F302-46E9-85EE-D32628079E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4747" y="1789804"/>
            <a:ext cx="3971953" cy="4288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10247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916650" y="780067"/>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Solución – Ejemplo 10</a:t>
            </a:r>
            <a:endParaRPr lang="es-MX" dirty="0">
              <a:solidFill>
                <a:schemeClr val="accent2"/>
              </a:solidFill>
              <a:latin typeface="+mn-lt"/>
            </a:endParaRPr>
          </a:p>
          <a:p>
            <a:pPr indent="0">
              <a:buFont typeface="Roboto"/>
              <a:buNone/>
            </a:pPr>
            <a:endParaRPr lang="es-MX" sz="2400" dirty="0">
              <a:latin typeface="+mn-lt"/>
            </a:endParaRPr>
          </a:p>
        </p:txBody>
      </p:sp>
      <mc:AlternateContent xmlns:mc="http://schemas.openxmlformats.org/markup-compatibility/2006">
        <mc:Choice xmlns:a14="http://schemas.microsoft.com/office/drawing/2010/main" Requires="a14">
          <p:sp>
            <p:nvSpPr>
              <p:cNvPr id="8" name="Google Shape;310;p34">
                <a:extLst>
                  <a:ext uri="{FF2B5EF4-FFF2-40B4-BE49-F238E27FC236}">
                    <a16:creationId xmlns:a16="http://schemas.microsoft.com/office/drawing/2014/main" id="{C243C83E-2A21-48C1-8AC8-760A3F3A196F}"/>
                  </a:ext>
                </a:extLst>
              </p:cNvPr>
              <p:cNvSpPr txBox="1">
                <a:spLocks/>
              </p:cNvSpPr>
              <p:nvPr/>
            </p:nvSpPr>
            <p:spPr>
              <a:xfrm>
                <a:off x="916650" y="1311009"/>
                <a:ext cx="10896808" cy="530347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Dados los siguientes conjuntos:</a:t>
                </a:r>
              </a:p>
              <a:p>
                <a14:m>
                  <m:oMath xmlns:m="http://schemas.openxmlformats.org/officeDocument/2006/math">
                    <m:r>
                      <a:rPr lang="es-MX" sz="2000" b="0" i="1" smtClean="0">
                        <a:latin typeface="+mn-lt"/>
                        <a:ea typeface="Roboto" panose="02000000000000000000" pitchFamily="2" charset="0"/>
                      </a:rPr>
                      <m:t>𝑈</m:t>
                    </m:r>
                    <m:r>
                      <a:rPr lang="es-MX" sz="2000" b="0" i="1" smtClean="0">
                        <a:latin typeface="+mn-lt"/>
                        <a:ea typeface="Roboto" panose="02000000000000000000" pitchFamily="2" charset="0"/>
                      </a:rPr>
                      <m:t>=</m:t>
                    </m:r>
                    <m:d>
                      <m:dPr>
                        <m:begChr m:val="{"/>
                        <m:endChr m:val="}"/>
                        <m:ctrlPr>
                          <a:rPr lang="en-US" sz="2000" i="1">
                            <a:latin typeface="+mn-lt"/>
                            <a:ea typeface="Roboto" panose="02000000000000000000" pitchFamily="2" charset="0"/>
                          </a:rPr>
                        </m:ctrlPr>
                      </m:dPr>
                      <m:e>
                        <m:r>
                          <m:rPr>
                            <m:sty m:val="p"/>
                          </m:rPr>
                          <a:rPr lang="en-US" sz="2000" i="0">
                            <a:latin typeface="+mn-lt"/>
                            <a:ea typeface="Roboto" panose="02000000000000000000" pitchFamily="2" charset="0"/>
                          </a:rPr>
                          <m:t>red</m:t>
                        </m:r>
                        <m:r>
                          <a:rPr lang="en-US" sz="2000" i="0">
                            <a:latin typeface="+mn-lt"/>
                            <a:ea typeface="Roboto" panose="02000000000000000000" pitchFamily="2" charset="0"/>
                          </a:rPr>
                          <m:t>,</m:t>
                        </m:r>
                        <m:r>
                          <m:rPr>
                            <m:sty m:val="p"/>
                          </m:rPr>
                          <a:rPr lang="en-US" sz="2000" i="0">
                            <a:latin typeface="+mn-lt"/>
                            <a:ea typeface="Roboto" panose="02000000000000000000" pitchFamily="2" charset="0"/>
                          </a:rPr>
                          <m:t>orange</m:t>
                        </m:r>
                        <m:r>
                          <a:rPr lang="en-US" sz="2000" i="0">
                            <a:latin typeface="+mn-lt"/>
                            <a:ea typeface="Roboto" panose="02000000000000000000" pitchFamily="2" charset="0"/>
                          </a:rPr>
                          <m:t>,</m:t>
                        </m:r>
                        <m:r>
                          <m:rPr>
                            <m:sty m:val="p"/>
                          </m:rPr>
                          <a:rPr lang="en-US" sz="2000" i="0">
                            <a:latin typeface="+mn-lt"/>
                            <a:ea typeface="Roboto" panose="02000000000000000000" pitchFamily="2" charset="0"/>
                          </a:rPr>
                          <m:t>yellow</m:t>
                        </m:r>
                        <m:r>
                          <a:rPr lang="en-US" sz="2000" i="0">
                            <a:latin typeface="+mn-lt"/>
                            <a:ea typeface="Roboto" panose="02000000000000000000" pitchFamily="2" charset="0"/>
                          </a:rPr>
                          <m:t>,</m:t>
                        </m:r>
                        <m:r>
                          <m:rPr>
                            <m:sty m:val="p"/>
                          </m:rPr>
                          <a:rPr lang="en-US" sz="2000" i="0">
                            <a:latin typeface="+mn-lt"/>
                            <a:ea typeface="Roboto" panose="02000000000000000000" pitchFamily="2" charset="0"/>
                          </a:rPr>
                          <m:t>green</m:t>
                        </m:r>
                        <m:r>
                          <a:rPr lang="en-US" sz="2000" i="0">
                            <a:latin typeface="+mn-lt"/>
                            <a:ea typeface="Roboto" panose="02000000000000000000" pitchFamily="2" charset="0"/>
                          </a:rPr>
                          <m:t>,</m:t>
                        </m:r>
                        <m:r>
                          <m:rPr>
                            <m:sty m:val="p"/>
                          </m:rPr>
                          <a:rPr lang="en-US" sz="2000" i="0">
                            <a:latin typeface="+mn-lt"/>
                            <a:ea typeface="Roboto" panose="02000000000000000000" pitchFamily="2" charset="0"/>
                          </a:rPr>
                          <m:t>blue</m:t>
                        </m:r>
                        <m:r>
                          <a:rPr lang="en-US" sz="2000" i="0">
                            <a:latin typeface="+mn-lt"/>
                            <a:ea typeface="Roboto" panose="02000000000000000000" pitchFamily="2" charset="0"/>
                          </a:rPr>
                          <m:t>,</m:t>
                        </m:r>
                        <m:r>
                          <m:rPr>
                            <m:sty m:val="p"/>
                          </m:rPr>
                          <a:rPr lang="en-US" sz="2000" i="0">
                            <a:latin typeface="+mn-lt"/>
                            <a:ea typeface="Roboto" panose="02000000000000000000" pitchFamily="2" charset="0"/>
                          </a:rPr>
                          <m:t>indigo</m:t>
                        </m:r>
                        <m:r>
                          <a:rPr lang="en-US" sz="2000" i="0">
                            <a:latin typeface="+mn-lt"/>
                            <a:ea typeface="Roboto" panose="02000000000000000000" pitchFamily="2" charset="0"/>
                          </a:rPr>
                          <m:t>,</m:t>
                        </m:r>
                        <m:r>
                          <m:rPr>
                            <m:sty m:val="p"/>
                          </m:rPr>
                          <a:rPr lang="en-US" sz="2000" i="0">
                            <a:latin typeface="+mn-lt"/>
                            <a:ea typeface="Roboto" panose="02000000000000000000" pitchFamily="2" charset="0"/>
                          </a:rPr>
                          <m:t>violet</m:t>
                        </m:r>
                      </m:e>
                    </m:d>
                  </m:oMath>
                </a14:m>
                <a:endParaRPr lang="es-MX" sz="2000" dirty="0">
                  <a:latin typeface="+mn-lt"/>
                  <a:ea typeface="Roboto" panose="02000000000000000000" pitchFamily="2" charset="0"/>
                </a:endParaRPr>
              </a:p>
              <a:p>
                <a14:m>
                  <m:oMath xmlns:m="http://schemas.openxmlformats.org/officeDocument/2006/math">
                    <m:r>
                      <a:rPr lang="es-MX" sz="2000" b="0" i="1" smtClean="0">
                        <a:latin typeface="+mn-lt"/>
                        <a:ea typeface="Roboto" panose="02000000000000000000" pitchFamily="2" charset="0"/>
                      </a:rPr>
                      <m:t>𝐴</m:t>
                    </m:r>
                    <m:r>
                      <a:rPr lang="es-MX" sz="2000" b="0" i="1" smtClean="0">
                        <a:latin typeface="+mn-lt"/>
                        <a:ea typeface="Roboto" panose="02000000000000000000" pitchFamily="2" charset="0"/>
                      </a:rPr>
                      <m:t>=</m:t>
                    </m:r>
                    <m:d>
                      <m:dPr>
                        <m:begChr m:val="{"/>
                        <m:endChr m:val="}"/>
                        <m:ctrlPr>
                          <a:rPr lang="en-US" sz="2000" i="1">
                            <a:latin typeface="+mn-lt"/>
                            <a:ea typeface="Roboto" panose="02000000000000000000" pitchFamily="2" charset="0"/>
                          </a:rPr>
                        </m:ctrlPr>
                      </m:dPr>
                      <m:e>
                        <m:r>
                          <m:rPr>
                            <m:sty m:val="p"/>
                          </m:rPr>
                          <a:rPr lang="en-US" sz="2000">
                            <a:latin typeface="+mn-lt"/>
                            <a:ea typeface="Roboto" panose="02000000000000000000" pitchFamily="2" charset="0"/>
                          </a:rPr>
                          <m:t>red</m:t>
                        </m:r>
                        <m:r>
                          <a:rPr lang="en-US" sz="2000">
                            <a:latin typeface="+mn-lt"/>
                            <a:ea typeface="Roboto" panose="02000000000000000000" pitchFamily="2" charset="0"/>
                          </a:rPr>
                          <m:t>,</m:t>
                        </m:r>
                        <m:r>
                          <m:rPr>
                            <m:sty m:val="p"/>
                          </m:rPr>
                          <a:rPr lang="en-US" sz="2000">
                            <a:latin typeface="+mn-lt"/>
                            <a:ea typeface="Roboto" panose="02000000000000000000" pitchFamily="2" charset="0"/>
                          </a:rPr>
                          <m:t>yellow</m:t>
                        </m:r>
                        <m:r>
                          <a:rPr lang="en-US" sz="2000">
                            <a:latin typeface="+mn-lt"/>
                            <a:ea typeface="Roboto" panose="02000000000000000000" pitchFamily="2" charset="0"/>
                          </a:rPr>
                          <m:t>,</m:t>
                        </m:r>
                        <m:r>
                          <m:rPr>
                            <m:sty m:val="p"/>
                          </m:rPr>
                          <a:rPr lang="en-US" sz="2000">
                            <a:latin typeface="+mn-lt"/>
                            <a:ea typeface="Roboto" panose="02000000000000000000" pitchFamily="2" charset="0"/>
                          </a:rPr>
                          <m:t>blue</m:t>
                        </m:r>
                      </m:e>
                    </m:d>
                  </m:oMath>
                </a14:m>
                <a:endParaRPr lang="es-MX" sz="2000" dirty="0">
                  <a:latin typeface="+mn-lt"/>
                  <a:ea typeface="Roboto" panose="02000000000000000000" pitchFamily="2" charset="0"/>
                </a:endParaRPr>
              </a:p>
              <a:p>
                <a14:m>
                  <m:oMath xmlns:m="http://schemas.openxmlformats.org/officeDocument/2006/math">
                    <m:r>
                      <a:rPr lang="es-MX" sz="2000" b="0" i="1" smtClean="0">
                        <a:latin typeface="+mn-lt"/>
                        <a:ea typeface="Roboto" panose="02000000000000000000" pitchFamily="2" charset="0"/>
                      </a:rPr>
                      <m:t>𝐵</m:t>
                    </m:r>
                    <m:r>
                      <a:rPr lang="es-MX" sz="2000" b="0" i="1" smtClean="0">
                        <a:latin typeface="+mn-lt"/>
                        <a:ea typeface="Roboto" panose="02000000000000000000" pitchFamily="2" charset="0"/>
                      </a:rPr>
                      <m:t>=</m:t>
                    </m:r>
                    <m:d>
                      <m:dPr>
                        <m:begChr m:val="{"/>
                        <m:endChr m:val="}"/>
                        <m:ctrlPr>
                          <a:rPr lang="en-US" sz="2000" i="1">
                            <a:latin typeface="+mn-lt"/>
                            <a:ea typeface="Roboto" panose="02000000000000000000" pitchFamily="2" charset="0"/>
                          </a:rPr>
                        </m:ctrlPr>
                      </m:dPr>
                      <m:e>
                        <m:r>
                          <m:rPr>
                            <m:sty m:val="p"/>
                          </m:rPr>
                          <a:rPr lang="en-US" sz="2000">
                            <a:latin typeface="+mn-lt"/>
                            <a:ea typeface="Roboto" panose="02000000000000000000" pitchFamily="2" charset="0"/>
                          </a:rPr>
                          <m:t>orange</m:t>
                        </m:r>
                        <m:r>
                          <a:rPr lang="en-US" sz="2000">
                            <a:latin typeface="+mn-lt"/>
                            <a:ea typeface="Roboto" panose="02000000000000000000" pitchFamily="2" charset="0"/>
                          </a:rPr>
                          <m:t>,</m:t>
                        </m:r>
                        <m:r>
                          <m:rPr>
                            <m:sty m:val="p"/>
                          </m:rPr>
                          <a:rPr lang="en-US" sz="2000">
                            <a:latin typeface="+mn-lt"/>
                            <a:ea typeface="Roboto" panose="02000000000000000000" pitchFamily="2" charset="0"/>
                          </a:rPr>
                          <m:t>green</m:t>
                        </m:r>
                        <m:r>
                          <a:rPr lang="en-US" sz="2000">
                            <a:latin typeface="+mn-lt"/>
                            <a:ea typeface="Roboto" panose="02000000000000000000" pitchFamily="2" charset="0"/>
                          </a:rPr>
                          <m:t>,</m:t>
                        </m:r>
                        <m:r>
                          <m:rPr>
                            <m:sty m:val="p"/>
                          </m:rPr>
                          <a:rPr lang="en-US" sz="2000">
                            <a:latin typeface="+mn-lt"/>
                            <a:ea typeface="Roboto" panose="02000000000000000000" pitchFamily="2" charset="0"/>
                          </a:rPr>
                          <m:t>violet</m:t>
                        </m:r>
                      </m:e>
                    </m:d>
                  </m:oMath>
                </a14:m>
                <a:endParaRPr lang="es-MX" sz="2000" dirty="0">
                  <a:latin typeface="+mn-lt"/>
                  <a:ea typeface="Roboto" panose="02000000000000000000" pitchFamily="2" charset="0"/>
                </a:endParaRPr>
              </a:p>
              <a:p>
                <a14:m>
                  <m:oMath xmlns:m="http://schemas.openxmlformats.org/officeDocument/2006/math">
                    <m:r>
                      <a:rPr lang="es-MX" sz="2000" b="0" i="1" smtClean="0">
                        <a:latin typeface="+mn-lt"/>
                        <a:ea typeface="Roboto" panose="02000000000000000000" pitchFamily="2" charset="0"/>
                      </a:rPr>
                      <m:t>𝐶</m:t>
                    </m:r>
                    <m:r>
                      <a:rPr lang="es-MX" sz="2000" b="0" i="1" smtClean="0">
                        <a:latin typeface="+mn-lt"/>
                        <a:ea typeface="Roboto" panose="02000000000000000000" pitchFamily="2" charset="0"/>
                      </a:rPr>
                      <m:t>=</m:t>
                    </m:r>
                    <m:d>
                      <m:dPr>
                        <m:begChr m:val="{"/>
                        <m:endChr m:val="}"/>
                        <m:ctrlPr>
                          <a:rPr lang="en-US" sz="2000" i="1">
                            <a:latin typeface="+mn-lt"/>
                            <a:ea typeface="Roboto" panose="02000000000000000000" pitchFamily="2" charset="0"/>
                          </a:rPr>
                        </m:ctrlPr>
                      </m:dPr>
                      <m:e>
                        <m:r>
                          <m:rPr>
                            <m:sty m:val="p"/>
                          </m:rPr>
                          <a:rPr lang="en-US" sz="2000">
                            <a:latin typeface="+mn-lt"/>
                            <a:ea typeface="Roboto" panose="02000000000000000000" pitchFamily="2" charset="0"/>
                          </a:rPr>
                          <m:t>red</m:t>
                        </m:r>
                        <m:r>
                          <a:rPr lang="en-US" sz="2000">
                            <a:latin typeface="+mn-lt"/>
                            <a:ea typeface="Roboto" panose="02000000000000000000" pitchFamily="2" charset="0"/>
                          </a:rPr>
                          <m:t>, </m:t>
                        </m:r>
                        <m:r>
                          <m:rPr>
                            <m:sty m:val="p"/>
                          </m:rPr>
                          <a:rPr lang="en-US" sz="2000">
                            <a:latin typeface="+mn-lt"/>
                            <a:ea typeface="Roboto" panose="02000000000000000000" pitchFamily="2" charset="0"/>
                          </a:rPr>
                          <m:t>green</m:t>
                        </m:r>
                        <m:r>
                          <a:rPr lang="en-US" sz="2000">
                            <a:latin typeface="+mn-lt"/>
                            <a:ea typeface="Roboto" panose="02000000000000000000" pitchFamily="2" charset="0"/>
                          </a:rPr>
                          <m:t>, </m:t>
                        </m:r>
                        <m:r>
                          <m:rPr>
                            <m:sty m:val="p"/>
                          </m:rPr>
                          <a:rPr lang="en-US" sz="2000">
                            <a:latin typeface="+mn-lt"/>
                            <a:ea typeface="Roboto" panose="02000000000000000000" pitchFamily="2" charset="0"/>
                          </a:rPr>
                          <m:t>indigo</m:t>
                        </m:r>
                      </m:e>
                    </m:d>
                  </m:oMath>
                </a14:m>
                <a:endParaRPr lang="es-MX" sz="2000" dirty="0">
                  <a:latin typeface="+mn-lt"/>
                  <a:ea typeface="Roboto" panose="02000000000000000000" pitchFamily="2" charset="0"/>
                </a:endParaRPr>
              </a:p>
              <a:p>
                <a:pPr marL="127000" indent="0">
                  <a:buNone/>
                </a:pPr>
                <a:r>
                  <a:rPr lang="es-MX" sz="2000" dirty="0">
                    <a:latin typeface="+mn-lt"/>
                    <a:ea typeface="Roboto" panose="02000000000000000000" pitchFamily="2" charset="0"/>
                  </a:rPr>
                  <a:t>Realice las operaciones con conjuntos indicadas a continuación:</a:t>
                </a:r>
              </a:p>
              <a:p>
                <a14:m>
                  <m:oMath xmlns:m="http://schemas.openxmlformats.org/officeDocument/2006/math">
                    <m:r>
                      <a:rPr lang="es-MX" sz="1800" b="0" i="1" smtClean="0">
                        <a:latin typeface="+mn-lt"/>
                        <a:ea typeface="Roboto" panose="02000000000000000000" pitchFamily="2" charset="0"/>
                      </a:rPr>
                      <m:t>𝐴</m:t>
                    </m:r>
                    <m:r>
                      <a:rPr lang="es-MX" sz="1800" b="0" i="1" smtClean="0">
                        <a:latin typeface="+mn-lt"/>
                        <a:ea typeface="Roboto" panose="02000000000000000000" pitchFamily="2" charset="0"/>
                      </a:rPr>
                      <m:t>+</m:t>
                    </m:r>
                    <m:r>
                      <a:rPr lang="es-MX" sz="1800" b="0" i="1" smtClean="0">
                        <a:latin typeface="+mn-lt"/>
                        <a:ea typeface="Roboto" panose="02000000000000000000" pitchFamily="2" charset="0"/>
                      </a:rPr>
                      <m:t>𝐵</m:t>
                    </m:r>
                    <m:r>
                      <a:rPr lang="es-MX" sz="1800" b="0" i="1" smtClean="0">
                        <a:latin typeface="+mn-lt"/>
                        <a:ea typeface="Roboto" panose="02000000000000000000" pitchFamily="2" charset="0"/>
                      </a:rPr>
                      <m:t>+</m:t>
                    </m:r>
                    <m:r>
                      <a:rPr lang="es-MX" sz="1800" b="0" i="1" smtClean="0">
                        <a:latin typeface="+mn-lt"/>
                        <a:ea typeface="Roboto" panose="02000000000000000000" pitchFamily="2" charset="0"/>
                      </a:rPr>
                      <m:t>𝐶</m:t>
                    </m:r>
                    <m:r>
                      <a:rPr lang="es-MX" sz="1800" b="0" i="1" smtClean="0">
                        <a:latin typeface="+mn-lt"/>
                        <a:ea typeface="Roboto" panose="02000000000000000000" pitchFamily="2" charset="0"/>
                      </a:rPr>
                      <m:t>=</m:t>
                    </m:r>
                  </m:oMath>
                </a14:m>
                <a:endParaRPr lang="es-MX" sz="1800" b="0" i="1" dirty="0">
                  <a:latin typeface="+mn-lt"/>
                  <a:ea typeface="Roboto" panose="02000000000000000000" pitchFamily="2" charset="0"/>
                </a:endParaRPr>
              </a:p>
              <a:p>
                <a14:m>
                  <m:oMath xmlns:m="http://schemas.openxmlformats.org/officeDocument/2006/math">
                    <m:r>
                      <a:rPr lang="es-MX" sz="1800" i="1">
                        <a:latin typeface="+mn-lt"/>
                        <a:ea typeface="Roboto" panose="02000000000000000000" pitchFamily="2" charset="0"/>
                      </a:rPr>
                      <m:t>𝐴𝐶</m:t>
                    </m:r>
                    <m:r>
                      <a:rPr lang="es-MX" sz="1800" i="1">
                        <a:latin typeface="+mn-lt"/>
                        <a:ea typeface="Roboto" panose="02000000000000000000" pitchFamily="2" charset="0"/>
                      </a:rPr>
                      <m:t>+</m:t>
                    </m:r>
                    <m:r>
                      <a:rPr lang="es-MX" sz="1800" i="1">
                        <a:latin typeface="+mn-lt"/>
                        <a:ea typeface="Roboto" panose="02000000000000000000" pitchFamily="2" charset="0"/>
                      </a:rPr>
                      <m:t>𝐵</m:t>
                    </m:r>
                    <m:r>
                      <a:rPr lang="es-MX" sz="1800" b="0" i="1" smtClean="0">
                        <a:latin typeface="+mn-lt"/>
                        <a:ea typeface="Roboto" panose="02000000000000000000" pitchFamily="2" charset="0"/>
                      </a:rPr>
                      <m:t>=</m:t>
                    </m:r>
                  </m:oMath>
                </a14:m>
                <a:endParaRPr lang="es-MX" sz="1800" b="0" i="1" dirty="0">
                  <a:latin typeface="+mn-lt"/>
                  <a:ea typeface="Roboto" panose="02000000000000000000" pitchFamily="2" charset="0"/>
                </a:endParaRPr>
              </a:p>
              <a:p>
                <a14:m>
                  <m:oMath xmlns:m="http://schemas.openxmlformats.org/officeDocument/2006/math">
                    <m:r>
                      <a:rPr lang="es-MX" sz="1800" b="0" i="1" smtClean="0">
                        <a:latin typeface="+mn-lt"/>
                        <a:ea typeface="Roboto" panose="02000000000000000000" pitchFamily="2" charset="0"/>
                      </a:rPr>
                      <m:t>𝑈</m:t>
                    </m:r>
                    <m:d>
                      <m:dPr>
                        <m:ctrlPr>
                          <a:rPr lang="es-MX" sz="1800" b="0" i="1" smtClean="0">
                            <a:latin typeface="+mn-lt"/>
                            <a:ea typeface="Roboto" panose="02000000000000000000" pitchFamily="2" charset="0"/>
                          </a:rPr>
                        </m:ctrlPr>
                      </m:dPr>
                      <m:e>
                        <m:r>
                          <a:rPr lang="es-MX" sz="1800" b="0" i="1" smtClean="0">
                            <a:latin typeface="+mn-lt"/>
                            <a:ea typeface="Roboto" panose="02000000000000000000" pitchFamily="2" charset="0"/>
                          </a:rPr>
                          <m:t>𝐵</m:t>
                        </m:r>
                        <m:r>
                          <a:rPr lang="es-MX" sz="1800" i="1" smtClean="0">
                            <a:latin typeface="+mn-lt"/>
                            <a:ea typeface="Roboto" panose="02000000000000000000" pitchFamily="2" charset="0"/>
                          </a:rPr>
                          <m:t>+</m:t>
                        </m:r>
                        <m:r>
                          <a:rPr lang="es-MX" sz="1800" b="0" i="1" smtClean="0">
                            <a:latin typeface="+mn-lt"/>
                            <a:ea typeface="Roboto" panose="02000000000000000000" pitchFamily="2" charset="0"/>
                          </a:rPr>
                          <m:t>𝐶</m:t>
                        </m:r>
                      </m:e>
                    </m:d>
                    <m:r>
                      <a:rPr lang="es-MX" sz="1800" i="1">
                        <a:latin typeface="+mn-lt"/>
                        <a:ea typeface="Roboto" panose="02000000000000000000" pitchFamily="2" charset="0"/>
                      </a:rPr>
                      <m:t>=</m:t>
                    </m:r>
                  </m:oMath>
                </a14:m>
                <a:endParaRPr lang="es-MX" sz="1800" i="1" dirty="0">
                  <a:latin typeface="+mn-lt"/>
                  <a:ea typeface="Roboto" panose="02000000000000000000" pitchFamily="2" charset="0"/>
                </a:endParaRPr>
              </a:p>
              <a:p>
                <a14:m>
                  <m:oMath xmlns:m="http://schemas.openxmlformats.org/officeDocument/2006/math">
                    <m:r>
                      <a:rPr lang="es-MX" sz="1800" i="1" smtClean="0">
                        <a:latin typeface="+mn-lt"/>
                        <a:ea typeface="Roboto" panose="02000000000000000000" pitchFamily="2" charset="0"/>
                      </a:rPr>
                      <m:t>𝐵</m:t>
                    </m:r>
                    <m:r>
                      <a:rPr lang="es-MX" sz="1800" b="0" i="1" smtClean="0">
                        <a:latin typeface="+mn-lt"/>
                        <a:ea typeface="Roboto" panose="02000000000000000000" pitchFamily="2" charset="0"/>
                      </a:rPr>
                      <m:t>𝐴𝑈</m:t>
                    </m:r>
                    <m:r>
                      <a:rPr lang="es-MX" sz="1800" b="0" i="1" smtClean="0">
                        <a:latin typeface="+mn-lt"/>
                        <a:ea typeface="Roboto" panose="02000000000000000000" pitchFamily="2" charset="0"/>
                      </a:rPr>
                      <m:t>=</m:t>
                    </m:r>
                  </m:oMath>
                </a14:m>
                <a:endParaRPr lang="es-MX" sz="1800" b="0" dirty="0">
                  <a:latin typeface="+mn-lt"/>
                  <a:ea typeface="Roboto" panose="02000000000000000000" pitchFamily="2" charset="0"/>
                </a:endParaRPr>
              </a:p>
              <a:p>
                <a14:m>
                  <m:oMath xmlns:m="http://schemas.openxmlformats.org/officeDocument/2006/math">
                    <m:r>
                      <a:rPr lang="es-MX" sz="1800" b="0" i="1" smtClean="0">
                        <a:latin typeface="+mn-lt"/>
                        <a:ea typeface="Roboto" panose="02000000000000000000" pitchFamily="2" charset="0"/>
                      </a:rPr>
                      <m:t>𝐴</m:t>
                    </m:r>
                    <m:sSup>
                      <m:sSupPr>
                        <m:ctrlPr>
                          <a:rPr lang="es-MX" sz="1800" b="0" i="1" smtClean="0">
                            <a:latin typeface="+mn-lt"/>
                            <a:ea typeface="Roboto" panose="02000000000000000000" pitchFamily="2" charset="0"/>
                          </a:rPr>
                        </m:ctrlPr>
                      </m:sSupPr>
                      <m:e>
                        <m:d>
                          <m:dPr>
                            <m:ctrlPr>
                              <a:rPr lang="es-MX" sz="1800" b="0" i="1" smtClean="0">
                                <a:latin typeface="+mn-lt"/>
                                <a:ea typeface="Roboto" panose="02000000000000000000" pitchFamily="2" charset="0"/>
                              </a:rPr>
                            </m:ctrlPr>
                          </m:dPr>
                          <m:e>
                            <m:r>
                              <a:rPr lang="es-MX" sz="1800" b="0" i="1" smtClean="0">
                                <a:latin typeface="+mn-lt"/>
                                <a:ea typeface="Roboto" panose="02000000000000000000" pitchFamily="2" charset="0"/>
                              </a:rPr>
                              <m:t>𝐵𝐶</m:t>
                            </m:r>
                          </m:e>
                        </m:d>
                      </m:e>
                      <m:sup>
                        <m:r>
                          <a:rPr lang="es-MX" sz="1800" b="0" i="1" smtClean="0">
                            <a:latin typeface="+mn-lt"/>
                            <a:ea typeface="Roboto" panose="02000000000000000000" pitchFamily="2" charset="0"/>
                          </a:rPr>
                          <m:t>′</m:t>
                        </m:r>
                      </m:sup>
                    </m:sSup>
                    <m:r>
                      <a:rPr lang="es-MX" sz="1800" b="0" i="1" smtClean="0">
                        <a:latin typeface="+mn-lt"/>
                        <a:ea typeface="Roboto" panose="02000000000000000000" pitchFamily="2" charset="0"/>
                      </a:rPr>
                      <m:t>=</m:t>
                    </m:r>
                  </m:oMath>
                </a14:m>
                <a:endParaRPr lang="es-MX" sz="1800" b="0" dirty="0">
                  <a:latin typeface="+mn-lt"/>
                  <a:ea typeface="Roboto" panose="02000000000000000000" pitchFamily="2" charset="0"/>
                </a:endParaRPr>
              </a:p>
              <a:p>
                <a14:m>
                  <m:oMath xmlns:m="http://schemas.openxmlformats.org/officeDocument/2006/math">
                    <m:sSup>
                      <m:sSupPr>
                        <m:ctrlPr>
                          <a:rPr lang="es-MX" sz="1800" b="0" i="1" smtClean="0">
                            <a:latin typeface="+mn-lt"/>
                            <a:ea typeface="Roboto" panose="02000000000000000000" pitchFamily="2" charset="0"/>
                          </a:rPr>
                        </m:ctrlPr>
                      </m:sSupPr>
                      <m:e>
                        <m:r>
                          <a:rPr lang="es-MX" sz="1800" b="0" i="1" smtClean="0">
                            <a:latin typeface="+mn-lt"/>
                            <a:ea typeface="Roboto" panose="02000000000000000000" pitchFamily="2" charset="0"/>
                          </a:rPr>
                          <m:t>𝐴</m:t>
                        </m:r>
                      </m:e>
                      <m:sup>
                        <m:r>
                          <a:rPr lang="es-MX" sz="1800" b="0" i="1" smtClean="0">
                            <a:latin typeface="+mn-lt"/>
                            <a:ea typeface="Roboto" panose="02000000000000000000" pitchFamily="2" charset="0"/>
                          </a:rPr>
                          <m:t>′</m:t>
                        </m:r>
                      </m:sup>
                    </m:sSup>
                    <m:d>
                      <m:dPr>
                        <m:ctrlPr>
                          <a:rPr lang="es-MX" sz="1800" i="1">
                            <a:latin typeface="+mn-lt"/>
                            <a:ea typeface="Roboto" panose="02000000000000000000" pitchFamily="2" charset="0"/>
                          </a:rPr>
                        </m:ctrlPr>
                      </m:dPr>
                      <m:e>
                        <m:r>
                          <a:rPr lang="es-MX" sz="1800" i="1">
                            <a:latin typeface="+mn-lt"/>
                            <a:ea typeface="Roboto" panose="02000000000000000000" pitchFamily="2" charset="0"/>
                          </a:rPr>
                          <m:t>𝐵</m:t>
                        </m:r>
                        <m:r>
                          <a:rPr lang="es-MX" sz="1800" i="1">
                            <a:latin typeface="+mn-lt"/>
                            <a:ea typeface="Roboto" panose="02000000000000000000" pitchFamily="2" charset="0"/>
                          </a:rPr>
                          <m:t>+</m:t>
                        </m:r>
                        <m:r>
                          <a:rPr lang="es-MX" sz="1800" i="1">
                            <a:latin typeface="+mn-lt"/>
                            <a:ea typeface="Roboto" panose="02000000000000000000" pitchFamily="2" charset="0"/>
                          </a:rPr>
                          <m:t>𝐶</m:t>
                        </m:r>
                      </m:e>
                    </m:d>
                    <m:r>
                      <a:rPr lang="es-MX" sz="1800" b="0" i="1" smtClean="0">
                        <a:latin typeface="+mn-lt"/>
                        <a:ea typeface="Roboto" panose="02000000000000000000" pitchFamily="2" charset="0"/>
                      </a:rPr>
                      <m:t>=</m:t>
                    </m:r>
                  </m:oMath>
                </a14:m>
                <a:endParaRPr lang="es-MX" sz="1800" i="1" dirty="0">
                  <a:latin typeface="+mn-lt"/>
                  <a:ea typeface="Roboto" panose="02000000000000000000" pitchFamily="2" charset="0"/>
                </a:endParaRPr>
              </a:p>
            </p:txBody>
          </p:sp>
        </mc:Choice>
        <mc:Fallback>
          <p:sp>
            <p:nvSpPr>
              <p:cNvPr id="8" name="Google Shape;310;p34">
                <a:extLst>
                  <a:ext uri="{FF2B5EF4-FFF2-40B4-BE49-F238E27FC236}">
                    <a16:creationId xmlns:a16="http://schemas.microsoft.com/office/drawing/2014/main" id="{C243C83E-2A21-48C1-8AC8-760A3F3A196F}"/>
                  </a:ext>
                </a:extLst>
              </p:cNvPr>
              <p:cNvSpPr txBox="1">
                <a:spLocks noRot="1" noChangeAspect="1" noMove="1" noResize="1" noEditPoints="1" noAdjustHandles="1" noChangeArrowheads="1" noChangeShapeType="1" noTextEdit="1"/>
              </p:cNvSpPr>
              <p:nvPr/>
            </p:nvSpPr>
            <p:spPr>
              <a:xfrm>
                <a:off x="916650" y="1311009"/>
                <a:ext cx="10896808" cy="5303471"/>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349257652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27864</TotalTime>
  <Words>3843</Words>
  <Application>Microsoft Office PowerPoint</Application>
  <PresentationFormat>Panorámica</PresentationFormat>
  <Paragraphs>726</Paragraphs>
  <Slides>44</Slides>
  <Notes>44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44</vt:i4>
      </vt:variant>
    </vt:vector>
  </HeadingPairs>
  <TitlesOfParts>
    <vt:vector size="51" baseType="lpstr">
      <vt:lpstr>Arial</vt:lpstr>
      <vt:lpstr>Calibri</vt:lpstr>
      <vt:lpstr>Calibri Light</vt:lpstr>
      <vt:lpstr>Roboto</vt:lpstr>
      <vt:lpstr>Cambria Math</vt:lpstr>
      <vt:lpstr>Roboto Slab</vt:lpstr>
      <vt:lpstr>Tema de Office</vt:lpstr>
      <vt:lpstr> Matemáticas Discretas I</vt:lpstr>
      <vt:lpstr>Operaciones entre conjuntos</vt:lpstr>
      <vt:lpstr>Operaciones entre conjuntos</vt:lpstr>
      <vt:lpstr>Operaciones entre conjuntos</vt:lpstr>
      <vt:lpstr>Operaciones entre conjuntos</vt:lpstr>
      <vt:lpstr>Operaciones entre conjuntos</vt:lpstr>
      <vt:lpstr>Operaciones entre conjuntos</vt:lpstr>
      <vt:lpstr>Operaciones entre conjuntos</vt:lpstr>
      <vt:lpstr>Operaciones entre conjuntos</vt:lpstr>
      <vt:lpstr>Operaciones entre conjuntos</vt:lpstr>
      <vt:lpstr>Operaciones entre conjuntos</vt:lpstr>
      <vt:lpstr>Identidades</vt:lpstr>
      <vt:lpstr>Identidades</vt:lpstr>
      <vt:lpstr>Identidades</vt:lpstr>
      <vt:lpstr>Identidades</vt:lpstr>
      <vt:lpstr>Identidades</vt:lpstr>
      <vt:lpstr>Identidades</vt:lpstr>
      <vt:lpstr>Identidades</vt:lpstr>
      <vt:lpstr>Identidades</vt:lpstr>
      <vt:lpstr>Identidades</vt:lpstr>
      <vt:lpstr>Identidades</vt:lpstr>
      <vt:lpstr>Ejemplos</vt:lpstr>
      <vt:lpstr>Ejemplos</vt:lpstr>
      <vt:lpstr>Ejemplos</vt:lpstr>
      <vt:lpstr>Ejemplos</vt:lpstr>
      <vt:lpstr>Ejemplos</vt:lpstr>
      <vt:lpstr>Ejemplos</vt:lpstr>
      <vt:lpstr>Ejemplos</vt:lpstr>
      <vt:lpstr>Ejemplos</vt:lpstr>
      <vt:lpstr>Ejemplos</vt:lpstr>
      <vt:lpstr>Ejemplos</vt:lpstr>
      <vt:lpstr>Ejemplos</vt:lpstr>
      <vt:lpstr>Ejemplos</vt:lpstr>
      <vt:lpstr>Ejemplos</vt:lpstr>
      <vt:lpstr>Ejemplos</vt:lpstr>
      <vt:lpstr>Ejemplos</vt:lpstr>
      <vt:lpstr>Ejemplos</vt:lpstr>
      <vt:lpstr>Ejemplos</vt:lpstr>
      <vt:lpstr>Ejemplos</vt:lpstr>
      <vt:lpstr>Ejemplos</vt:lpstr>
      <vt:lpstr>Ejemplos</vt:lpstr>
      <vt:lpstr>Ejemplos</vt:lpstr>
      <vt:lpstr>Ejemplos</vt:lpstr>
      <vt:lpstr>Ejemplos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Matemáticas Discretas I</dc:title>
  <dc:creator>Usuario</dc:creator>
  <cp:lastModifiedBy>HENRY ALBERTO ARCILA RAMIREZ</cp:lastModifiedBy>
  <cp:revision>343</cp:revision>
  <dcterms:modified xsi:type="dcterms:W3CDTF">2026-04-30T11:11:18Z</dcterms:modified>
</cp:coreProperties>
</file>