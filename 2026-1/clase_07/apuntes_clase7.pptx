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33"/>
  </p:notesMasterIdLst>
  <p:sldIdLst>
    <p:sldId id="256" r:id="rId2"/>
    <p:sldId id="372" r:id="rId3"/>
    <p:sldId id="402" r:id="rId4"/>
    <p:sldId id="309" r:id="rId5"/>
    <p:sldId id="265" r:id="rId6"/>
    <p:sldId id="392" r:id="rId7"/>
    <p:sldId id="410" r:id="rId8"/>
    <p:sldId id="412" r:id="rId9"/>
    <p:sldId id="393" r:id="rId10"/>
    <p:sldId id="396" r:id="rId11"/>
    <p:sldId id="411" r:id="rId12"/>
    <p:sldId id="417" r:id="rId13"/>
    <p:sldId id="414" r:id="rId14"/>
    <p:sldId id="415" r:id="rId15"/>
    <p:sldId id="443" r:id="rId16"/>
    <p:sldId id="468" r:id="rId17"/>
    <p:sldId id="469" r:id="rId18"/>
    <p:sldId id="397" r:id="rId19"/>
    <p:sldId id="318" r:id="rId20"/>
    <p:sldId id="317" r:id="rId21"/>
    <p:sldId id="437" r:id="rId22"/>
    <p:sldId id="438" r:id="rId23"/>
    <p:sldId id="470" r:id="rId24"/>
    <p:sldId id="445" r:id="rId25"/>
    <p:sldId id="446" r:id="rId26"/>
    <p:sldId id="447" r:id="rId27"/>
    <p:sldId id="471" r:id="rId28"/>
    <p:sldId id="472" r:id="rId29"/>
    <p:sldId id="473" r:id="rId30"/>
    <p:sldId id="474" r:id="rId31"/>
    <p:sldId id="475" r:id="rId32"/>
  </p:sldIdLst>
  <p:sldSz cx="12192000" cy="6858000"/>
  <p:notesSz cx="6858000" cy="9144000"/>
  <p:embeddedFontLst>
    <p:embeddedFont>
      <p:font typeface="Calibri" panose="020F0502020204030204" pitchFamily="34" charset="0"/>
      <p:regular r:id="rId34"/>
      <p:bold r:id="rId35"/>
      <p:italic r:id="rId36"/>
      <p:boldItalic r:id="rId37"/>
    </p:embeddedFont>
    <p:embeddedFont>
      <p:font typeface="Calibri Light" panose="020F0302020204030204" pitchFamily="34" charset="0"/>
      <p:regular r:id="rId38"/>
      <p:italic r:id="rId39"/>
    </p:embeddedFont>
    <p:embeddedFont>
      <p:font typeface="Cambria Math" panose="02040503050406030204" pitchFamily="18" charset="0"/>
      <p:regular r:id="rId40"/>
    </p:embeddedFont>
    <p:embeddedFont>
      <p:font typeface="Roboto" panose="02000000000000000000" pitchFamily="2" charset="0"/>
      <p:regular r:id="rId41"/>
      <p:bold r:id="rId42"/>
      <p:italic r:id="rId43"/>
      <p:boldItalic r:id="rId44"/>
    </p:embeddedFont>
    <p:embeddedFont>
      <p:font typeface="Roboto Slab" panose="020B0604020202020204" charset="0"/>
      <p:regular r:id="rId45"/>
      <p:bold r:id="rId46"/>
    </p:embeddedFont>
  </p:embeddedFont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6A3598-7CB8-4345-8D95-17CE05F158A0}">
  <a:tblStyle styleId="{AD6A3598-7CB8-4345-8D95-17CE05F158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4" autoAdjust="0"/>
    <p:restoredTop sz="94291" autoAdjust="0"/>
  </p:normalViewPr>
  <p:slideViewPr>
    <p:cSldViewPr snapToGrid="0">
      <p:cViewPr varScale="1">
        <p:scale>
          <a:sx n="65" d="100"/>
          <a:sy n="65" d="100"/>
        </p:scale>
        <p:origin x="77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358aba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358aba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8364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8457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830747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536583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912630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628401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0525013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5584977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227121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378314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676136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647963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384543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408508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83565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5296210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865259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0672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8603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10521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13172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6435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51563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23820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36297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52088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98249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5931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B46A9-6B94-4E57-901A-34ADDC28501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B8713B8-166E-42C4-9C13-6D07F74965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D9E11454-4A4F-451B-9B0C-A0D76F90B3B2}"/>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0C86FDB2-9D03-42EA-82D2-58129C12275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0D32B32-46BF-42E7-9862-705E4D30182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368247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FD11C-FE04-4257-93FD-BD0C4F2A898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34639A8-6347-4F21-BD31-07ABF51FADB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0315CC3-FA41-4B96-AFBA-5FEFF8E2742C}"/>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578E30B8-4DA7-4DFC-8981-621CB53375E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3B398CF-1C30-4883-B971-9E7E35FBD3C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4864007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BBEB54-339D-4543-93D0-CE00B4A28D9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1570E71-E9D7-44DB-9D66-C879C007E3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A2B7787-1A08-4DCB-9CF1-288F08D98B1D}"/>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0554A04D-F2F8-4ED0-9BE5-66139412C28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74CAF95-269B-41B6-99E1-3A46E45508D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520245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549081-9FAC-4A27-86EB-95CABB65530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A9E52FE-0F7E-4C89-A436-A7C149AFD24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690E8AA7-D612-430D-A718-8962FF66AB3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08D91B47-F6E4-4E99-9FD2-73061B4D72FB}"/>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F838E287-AEFC-4A28-988C-094E568185B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C5DEA95-F408-4E75-9305-01648393E0F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449675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ABAB89-017E-4489-A248-DD8396A3C58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8E21048-0BA7-48B9-9F07-677CB5D589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CF129B3-BDE4-45AA-BE80-5272A3B27A6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6D2B9542-4E93-4ACE-923B-85C87A32ED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8C6B525-72BC-4AA8-ABBF-ED7CB6EC7FE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20E2A59D-4779-4C07-817A-1F74659411F6}"/>
              </a:ext>
            </a:extLst>
          </p:cNvPr>
          <p:cNvSpPr>
            <a:spLocks noGrp="1"/>
          </p:cNvSpPr>
          <p:nvPr>
            <p:ph type="dt" sz="half" idx="10"/>
          </p:nvPr>
        </p:nvSpPr>
        <p:spPr/>
        <p:txBody>
          <a:bodyPr/>
          <a:lstStyle/>
          <a:p>
            <a:endParaRPr lang="es-CO"/>
          </a:p>
        </p:txBody>
      </p:sp>
      <p:sp>
        <p:nvSpPr>
          <p:cNvPr id="8" name="Marcador de pie de página 7">
            <a:extLst>
              <a:ext uri="{FF2B5EF4-FFF2-40B4-BE49-F238E27FC236}">
                <a16:creationId xmlns:a16="http://schemas.microsoft.com/office/drawing/2014/main" id="{0EB38D0E-7C19-4E2C-8502-AFD0DA55BE1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FD58342-1CC3-4CDF-AE1A-1651CC82058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54165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700361-348B-4EC3-9DCC-AD66FE49A9B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95EE0556-7F17-4268-AA30-4EC05F80F69A}"/>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E395C6DE-CEF5-49CE-81B7-C65322997E17}"/>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655AEFA-E6DC-4C3A-8E1E-E39A28C6A7C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716497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C37ADD3-7F20-4483-968E-4108C3CA76D1}"/>
              </a:ext>
            </a:extLst>
          </p:cNvPr>
          <p:cNvSpPr>
            <a:spLocks noGrp="1"/>
          </p:cNvSpPr>
          <p:nvPr>
            <p:ph type="dt" sz="half" idx="10"/>
          </p:nvPr>
        </p:nvSpPr>
        <p:spPr/>
        <p:txBody>
          <a:bodyPr/>
          <a:lstStyle/>
          <a:p>
            <a:endParaRPr lang="es-CO"/>
          </a:p>
        </p:txBody>
      </p:sp>
      <p:sp>
        <p:nvSpPr>
          <p:cNvPr id="3" name="Marcador de pie de página 2">
            <a:extLst>
              <a:ext uri="{FF2B5EF4-FFF2-40B4-BE49-F238E27FC236}">
                <a16:creationId xmlns:a16="http://schemas.microsoft.com/office/drawing/2014/main" id="{9201F1DD-DE85-45C2-A23B-9BE9909BABD4}"/>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532D5FD-CCBA-4D60-9F72-70B0547A8BA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789737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4CE757-1699-4D74-A9CE-BC11906BA49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7BAFAE8-50F1-4F41-8879-791C7FCE8D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07202F51-F14B-4489-A4C7-383A179B68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2260C3-3136-4C10-AB81-407E441FFCEC}"/>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6C72D528-0B37-4C52-B6B5-CE752A47E75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C99B042-F173-40F6-9BE4-748DE491568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030117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30899-EB14-4931-AFD7-CA7C7C87043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8C363F96-CA65-4B93-84A2-35550AE1A4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CE13531A-CAD8-4510-9808-CDFA87E498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DEEB4E5-C594-4DCA-8C77-ED040C36AEEE}"/>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CE18B9AF-96D0-40AA-90D9-AB4F8807DD5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E6E528F-B752-4F55-B742-D52488E4F7B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51135982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008B7C-4FC2-430A-8B47-6308316C724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0E5587E6-FE1B-41A0-8583-4992D5D9E25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B6681C7-894A-417A-9D36-CF0C86DA85FB}"/>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39B5DF52-4FA8-41A7-A4B1-94BCAE5A27B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8B11FD7-B7C9-4B85-847E-1E0AEF5516F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828032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CAD3F36-B7B0-4CA0-AD27-EEC0B50843A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009A267-D2C1-4055-BCC1-2DA58E4D0D5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5B720D23-2ADC-47B6-9197-3076755E97B2}"/>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36037D04-49C7-4B61-8B04-0FBD74F8EE3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6F3DAA9-8F18-4A47-A50F-95903658A69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638841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UdeA-Nueva 1 1 1">
  <p:cSld name="UdeA-Nueva 1 1 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664549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UdeA-Nueva 1 1">
  <p:cSld name="UdeA-Nueva 1 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281296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UdeA-Nueva 1">
  <p:cSld name="UdeA-Nueva 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198033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765D063-C8A6-4186-B9DF-AA2978A328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C777A55-EDB8-46EB-BBF2-C26066229D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09FE075-C225-4A47-BCE6-A76B6CE18E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a:extLst>
              <a:ext uri="{FF2B5EF4-FFF2-40B4-BE49-F238E27FC236}">
                <a16:creationId xmlns:a16="http://schemas.microsoft.com/office/drawing/2014/main" id="{8EFAA2FE-B7ED-4C88-9A71-07E2192A23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ED9B8E08-B7B7-49BB-854F-D09408E9F2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59075001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6.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51.png"/><Relationship Id="rId4" Type="http://schemas.openxmlformats.org/officeDocument/2006/relationships/image" Target="../media/image140.png"/></Relationships>
</file>

<file path=ppt/slides/_rels/slide1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150.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8.png"/><Relationship Id="rId9"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10.png"/><Relationship Id="rId5" Type="http://schemas.openxmlformats.org/officeDocument/2006/relationships/image" Target="../media/image400.png"/><Relationship Id="rId4" Type="http://schemas.openxmlformats.org/officeDocument/2006/relationships/image" Target="../media/image390.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53.pn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ctrTitle"/>
          </p:nvPr>
        </p:nvSpPr>
        <p:spPr>
          <a:xfrm>
            <a:off x="408724" y="2964875"/>
            <a:ext cx="10873791" cy="9222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chemeClr val="lt1"/>
              </a:buClr>
              <a:buSzPts val="2800"/>
              <a:buFont typeface="Roboto Slab"/>
              <a:buNone/>
            </a:pPr>
            <a:r>
              <a:rPr lang="es-ES" b="1" dirty="0"/>
              <a:t>Matemáticas Discretas I</a:t>
            </a:r>
            <a:endParaRPr sz="3200" dirty="0"/>
          </a:p>
        </p:txBody>
      </p:sp>
      <p:sp>
        <p:nvSpPr>
          <p:cNvPr id="140" name="Google Shape;140;p17"/>
          <p:cNvSpPr txBox="1">
            <a:spLocks noGrp="1"/>
          </p:cNvSpPr>
          <p:nvPr>
            <p:ph type="subTitle" idx="1"/>
          </p:nvPr>
        </p:nvSpPr>
        <p:spPr>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sz="4000" b="1" dirty="0"/>
              <a:t>Clase 07</a:t>
            </a:r>
          </a:p>
          <a:p>
            <a:pPr marL="0" lvl="0" indent="0" algn="ctr" rtl="0">
              <a:spcBef>
                <a:spcPts val="1000"/>
              </a:spcBef>
              <a:spcAft>
                <a:spcPts val="0"/>
              </a:spcAft>
              <a:buNone/>
            </a:pPr>
            <a:r>
              <a:rPr lang="es-ES" dirty="0">
                <a:latin typeface="Roboto"/>
                <a:ea typeface="Roboto"/>
                <a:cs typeface="Roboto"/>
                <a:sym typeface="Roboto"/>
              </a:rPr>
              <a:t>05/03/2026</a:t>
            </a:r>
          </a:p>
          <a:p>
            <a:pPr marL="0" lvl="0" indent="0" algn="ctr" rtl="0">
              <a:spcBef>
                <a:spcPts val="1000"/>
              </a:spcBef>
              <a:spcAft>
                <a:spcPts val="0"/>
              </a:spcAft>
              <a:buNone/>
            </a:pPr>
            <a:endParaRPr dirty="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latin typeface="+mj-lt"/>
              </a:rPr>
              <a:t>Repaso clase anterior</a:t>
            </a:r>
          </a:p>
        </p:txBody>
      </p:sp>
      <p:sp>
        <p:nvSpPr>
          <p:cNvPr id="19" name="CuadroTexto 18">
            <a:extLst>
              <a:ext uri="{FF2B5EF4-FFF2-40B4-BE49-F238E27FC236}">
                <a16:creationId xmlns:a16="http://schemas.microsoft.com/office/drawing/2014/main" id="{B265F3B2-A256-4C17-BA39-917174208C08}"/>
              </a:ext>
            </a:extLst>
          </p:cNvPr>
          <p:cNvSpPr txBox="1"/>
          <p:nvPr/>
        </p:nvSpPr>
        <p:spPr>
          <a:xfrm>
            <a:off x="769167" y="936115"/>
            <a:ext cx="3267423"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Tablas de verdad</a:t>
            </a:r>
          </a:p>
        </p:txBody>
      </p:sp>
      <mc:AlternateContent xmlns:mc="http://schemas.openxmlformats.org/markup-compatibility/2006" xmlns:a14="http://schemas.microsoft.com/office/drawing/2010/main">
        <mc:Choice Requires="a14">
          <p:graphicFrame>
            <p:nvGraphicFramePr>
              <p:cNvPr id="5" name="Tabla 4">
                <a:extLst>
                  <a:ext uri="{FF2B5EF4-FFF2-40B4-BE49-F238E27FC236}">
                    <a16:creationId xmlns:a16="http://schemas.microsoft.com/office/drawing/2014/main" id="{E978B171-4FC4-41C8-AFE8-D368D596E852}"/>
                  </a:ext>
                </a:extLst>
              </p:cNvPr>
              <p:cNvGraphicFramePr>
                <a:graphicFrameLocks noGrp="1"/>
              </p:cNvGraphicFramePr>
              <p:nvPr>
                <p:extLst>
                  <p:ext uri="{D42A27DB-BD31-4B8C-83A1-F6EECF244321}">
                    <p14:modId xmlns:p14="http://schemas.microsoft.com/office/powerpoint/2010/main" val="2101368677"/>
                  </p:ext>
                </p:extLst>
              </p:nvPr>
            </p:nvGraphicFramePr>
            <p:xfrm>
              <a:off x="2132255" y="1723485"/>
              <a:ext cx="1135628" cy="1188720"/>
            </p:xfrm>
            <a:graphic>
              <a:graphicData uri="http://schemas.openxmlformats.org/drawingml/2006/table">
                <a:tbl>
                  <a:tblPr firstRow="1" bandRow="1">
                    <a:tableStyleId>{AD6A3598-7CB8-4345-8D95-17CE05F158A0}</a:tableStyleId>
                  </a:tblPr>
                  <a:tblGrid>
                    <a:gridCol w="567814">
                      <a:extLst>
                        <a:ext uri="{9D8B030D-6E8A-4147-A177-3AD203B41FA5}">
                          <a16:colId xmlns:a16="http://schemas.microsoft.com/office/drawing/2014/main" val="384604534"/>
                        </a:ext>
                      </a:extLst>
                    </a:gridCol>
                    <a:gridCol w="567814">
                      <a:extLst>
                        <a:ext uri="{9D8B030D-6E8A-4147-A177-3AD203B41FA5}">
                          <a16:colId xmlns:a16="http://schemas.microsoft.com/office/drawing/2014/main" val="79869298"/>
                        </a:ext>
                      </a:extLst>
                    </a:gridCol>
                  </a:tblGrid>
                  <a:tr h="352522">
                    <a:tc>
                      <a:txBody>
                        <a:bodyPr/>
                        <a:lstStyle/>
                        <a:p>
                          <a:pPr algn="ct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m:t>
                                </m:r>
                                <m:r>
                                  <a:rPr lang="es-MX" sz="2000" b="1" i="1" smtClean="0">
                                    <a:latin typeface="Cambria Math" panose="02040503050406030204" pitchFamily="18" charset="0"/>
                                    <a:ea typeface="Roboto" panose="02000000000000000000" pitchFamily="2" charset="0"/>
                                  </a:rPr>
                                  <m:t>𝒑</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extLst>
                      <a:ext uri="{0D108BD9-81ED-4DB2-BD59-A6C34878D82A}">
                        <a16:rowId xmlns:a16="http://schemas.microsoft.com/office/drawing/2014/main" val="113670299"/>
                      </a:ext>
                    </a:extLst>
                  </a:tr>
                  <a:tr h="35252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805549228"/>
                      </a:ext>
                    </a:extLst>
                  </a:tr>
                  <a:tr h="352522">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353127006"/>
                      </a:ext>
                    </a:extLst>
                  </a:tr>
                </a:tbl>
              </a:graphicData>
            </a:graphic>
          </p:graphicFrame>
        </mc:Choice>
        <mc:Fallback xmlns="">
          <p:graphicFrame>
            <p:nvGraphicFramePr>
              <p:cNvPr id="5" name="Tabla 4">
                <a:extLst>
                  <a:ext uri="{FF2B5EF4-FFF2-40B4-BE49-F238E27FC236}">
                    <a16:creationId xmlns:a16="http://schemas.microsoft.com/office/drawing/2014/main" id="{E978B171-4FC4-41C8-AFE8-D368D596E852}"/>
                  </a:ext>
                </a:extLst>
              </p:cNvPr>
              <p:cNvGraphicFramePr>
                <a:graphicFrameLocks noGrp="1"/>
              </p:cNvGraphicFramePr>
              <p:nvPr>
                <p:extLst>
                  <p:ext uri="{D42A27DB-BD31-4B8C-83A1-F6EECF244321}">
                    <p14:modId xmlns:p14="http://schemas.microsoft.com/office/powerpoint/2010/main" val="2101368677"/>
                  </p:ext>
                </p:extLst>
              </p:nvPr>
            </p:nvGraphicFramePr>
            <p:xfrm>
              <a:off x="2132255" y="1723485"/>
              <a:ext cx="1135628" cy="1188720"/>
            </p:xfrm>
            <a:graphic>
              <a:graphicData uri="http://schemas.openxmlformats.org/drawingml/2006/table">
                <a:tbl>
                  <a:tblPr firstRow="1" bandRow="1">
                    <a:tableStyleId>{AD6A3598-7CB8-4345-8D95-17CE05F158A0}</a:tableStyleId>
                  </a:tblPr>
                  <a:tblGrid>
                    <a:gridCol w="567814">
                      <a:extLst>
                        <a:ext uri="{9D8B030D-6E8A-4147-A177-3AD203B41FA5}">
                          <a16:colId xmlns:a16="http://schemas.microsoft.com/office/drawing/2014/main" val="384604534"/>
                        </a:ext>
                      </a:extLst>
                    </a:gridCol>
                    <a:gridCol w="567814">
                      <a:extLst>
                        <a:ext uri="{9D8B030D-6E8A-4147-A177-3AD203B41FA5}">
                          <a16:colId xmlns:a16="http://schemas.microsoft.com/office/drawing/2014/main" val="79869298"/>
                        </a:ext>
                      </a:extLst>
                    </a:gridCol>
                  </a:tblGrid>
                  <a:tr h="396240">
                    <a:tc>
                      <a:txBody>
                        <a:bodyPr/>
                        <a:lstStyle/>
                        <a:p>
                          <a:endParaRPr lang="es-CO"/>
                        </a:p>
                      </a:txBody>
                      <a:tcPr>
                        <a:blipFill>
                          <a:blip r:embed="rId3"/>
                          <a:stretch>
                            <a:fillRect l="-1064" t="-1538" r="-101064" b="-204615"/>
                          </a:stretch>
                        </a:blipFill>
                      </a:tcPr>
                    </a:tc>
                    <a:tc>
                      <a:txBody>
                        <a:bodyPr/>
                        <a:lstStyle/>
                        <a:p>
                          <a:endParaRPr lang="es-CO"/>
                        </a:p>
                      </a:txBody>
                      <a:tcPr>
                        <a:blipFill>
                          <a:blip r:embed="rId3"/>
                          <a:stretch>
                            <a:fillRect l="-101064" t="-1538" r="-1064" b="-204615"/>
                          </a:stretch>
                        </a:blipFill>
                      </a:tcPr>
                    </a:tc>
                    <a:extLst>
                      <a:ext uri="{0D108BD9-81ED-4DB2-BD59-A6C34878D82A}">
                        <a16:rowId xmlns:a16="http://schemas.microsoft.com/office/drawing/2014/main" val="113670299"/>
                      </a:ext>
                    </a:extLst>
                  </a:tr>
                  <a:tr h="396240">
                    <a:tc>
                      <a:txBody>
                        <a:bodyPr/>
                        <a:lstStyle/>
                        <a:p>
                          <a:endParaRPr lang="es-CO"/>
                        </a:p>
                      </a:txBody>
                      <a:tcPr>
                        <a:blipFill>
                          <a:blip r:embed="rId3"/>
                          <a:stretch>
                            <a:fillRect l="-1064" t="-100000" r="-101064" b="-101515"/>
                          </a:stretch>
                        </a:blipFill>
                      </a:tcPr>
                    </a:tc>
                    <a:tc>
                      <a:txBody>
                        <a:bodyPr/>
                        <a:lstStyle/>
                        <a:p>
                          <a:endParaRPr lang="es-CO"/>
                        </a:p>
                      </a:txBody>
                      <a:tcPr>
                        <a:blipFill>
                          <a:blip r:embed="rId3"/>
                          <a:stretch>
                            <a:fillRect l="-101064" t="-100000" r="-1064" b="-1015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3"/>
                          <a:stretch>
                            <a:fillRect l="-1064" t="-203077" r="-101064" b="-3077"/>
                          </a:stretch>
                        </a:blipFill>
                      </a:tcPr>
                    </a:tc>
                    <a:tc>
                      <a:txBody>
                        <a:bodyPr/>
                        <a:lstStyle/>
                        <a:p>
                          <a:endParaRPr lang="es-CO"/>
                        </a:p>
                      </a:txBody>
                      <a:tcPr>
                        <a:blipFill>
                          <a:blip r:embed="rId3"/>
                          <a:stretch>
                            <a:fillRect l="-101064" t="-203077" r="-1064" b="-3077"/>
                          </a:stretch>
                        </a:blipFill>
                      </a:tcPr>
                    </a:tc>
                    <a:extLst>
                      <a:ext uri="{0D108BD9-81ED-4DB2-BD59-A6C34878D82A}">
                        <a16:rowId xmlns:a16="http://schemas.microsoft.com/office/drawing/2014/main" val="235312700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a 4">
                <a:extLst>
                  <a:ext uri="{FF2B5EF4-FFF2-40B4-BE49-F238E27FC236}">
                    <a16:creationId xmlns:a16="http://schemas.microsoft.com/office/drawing/2014/main" id="{D34D94B4-2DFA-4D64-803B-968A7536FFC3}"/>
                  </a:ext>
                </a:extLst>
              </p:cNvPr>
              <p:cNvGraphicFramePr>
                <a:graphicFrameLocks noGrp="1"/>
              </p:cNvGraphicFramePr>
              <p:nvPr>
                <p:extLst>
                  <p:ext uri="{D42A27DB-BD31-4B8C-83A1-F6EECF244321}">
                    <p14:modId xmlns:p14="http://schemas.microsoft.com/office/powerpoint/2010/main" val="3819281107"/>
                  </p:ext>
                </p:extLst>
              </p:nvPr>
            </p:nvGraphicFramePr>
            <p:xfrm>
              <a:off x="4184072" y="1306749"/>
              <a:ext cx="6261577" cy="1981200"/>
            </p:xfrm>
            <a:graphic>
              <a:graphicData uri="http://schemas.openxmlformats.org/drawingml/2006/table">
                <a:tbl>
                  <a:tblPr firstRow="1" bandRow="1">
                    <a:tableStyleId>{AD6A3598-7CB8-4345-8D95-17CE05F158A0}</a:tableStyleId>
                  </a:tblPr>
                  <a:tblGrid>
                    <a:gridCol w="544786">
                      <a:extLst>
                        <a:ext uri="{9D8B030D-6E8A-4147-A177-3AD203B41FA5}">
                          <a16:colId xmlns:a16="http://schemas.microsoft.com/office/drawing/2014/main" val="776375974"/>
                        </a:ext>
                      </a:extLst>
                    </a:gridCol>
                    <a:gridCol w="544786">
                      <a:extLst>
                        <a:ext uri="{9D8B030D-6E8A-4147-A177-3AD203B41FA5}">
                          <a16:colId xmlns:a16="http://schemas.microsoft.com/office/drawing/2014/main" val="384604534"/>
                        </a:ext>
                      </a:extLst>
                    </a:gridCol>
                    <a:gridCol w="1034401">
                      <a:extLst>
                        <a:ext uri="{9D8B030D-6E8A-4147-A177-3AD203B41FA5}">
                          <a16:colId xmlns:a16="http://schemas.microsoft.com/office/drawing/2014/main" val="79869298"/>
                        </a:ext>
                      </a:extLst>
                    </a:gridCol>
                    <a:gridCol w="1034401">
                      <a:extLst>
                        <a:ext uri="{9D8B030D-6E8A-4147-A177-3AD203B41FA5}">
                          <a16:colId xmlns:a16="http://schemas.microsoft.com/office/drawing/2014/main" val="3347906918"/>
                        </a:ext>
                      </a:extLst>
                    </a:gridCol>
                    <a:gridCol w="1034401">
                      <a:extLst>
                        <a:ext uri="{9D8B030D-6E8A-4147-A177-3AD203B41FA5}">
                          <a16:colId xmlns:a16="http://schemas.microsoft.com/office/drawing/2014/main" val="912474650"/>
                        </a:ext>
                      </a:extLst>
                    </a:gridCol>
                    <a:gridCol w="1034401">
                      <a:extLst>
                        <a:ext uri="{9D8B030D-6E8A-4147-A177-3AD203B41FA5}">
                          <a16:colId xmlns:a16="http://schemas.microsoft.com/office/drawing/2014/main" val="4025530010"/>
                        </a:ext>
                      </a:extLst>
                    </a:gridCol>
                    <a:gridCol w="1034401">
                      <a:extLst>
                        <a:ext uri="{9D8B030D-6E8A-4147-A177-3AD203B41FA5}">
                          <a16:colId xmlns:a16="http://schemas.microsoft.com/office/drawing/2014/main" val="2172254775"/>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𝒒</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𝒒</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𝒒</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𝒒</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𝒒</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𝒒</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extLst>
                      <a:ext uri="{0D108BD9-81ED-4DB2-BD59-A6C34878D82A}">
                        <a16:rowId xmlns:a16="http://schemas.microsoft.com/office/drawing/2014/main" val="113670299"/>
                      </a:ext>
                    </a:extLst>
                  </a:tr>
                  <a:tr h="3348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805549228"/>
                      </a:ext>
                    </a:extLst>
                  </a:tr>
                  <a:tr h="334807">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353127006"/>
                      </a:ext>
                    </a:extLst>
                  </a:tr>
                  <a:tr h="3348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184868107"/>
                      </a:ext>
                    </a:extLst>
                  </a:tr>
                  <a:tr h="3348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889136403"/>
                      </a:ext>
                    </a:extLst>
                  </a:tr>
                </a:tbl>
              </a:graphicData>
            </a:graphic>
          </p:graphicFrame>
        </mc:Choice>
        <mc:Fallback xmlns="">
          <p:graphicFrame>
            <p:nvGraphicFramePr>
              <p:cNvPr id="6" name="Tabla 4">
                <a:extLst>
                  <a:ext uri="{FF2B5EF4-FFF2-40B4-BE49-F238E27FC236}">
                    <a16:creationId xmlns:a16="http://schemas.microsoft.com/office/drawing/2014/main" id="{D34D94B4-2DFA-4D64-803B-968A7536FFC3}"/>
                  </a:ext>
                </a:extLst>
              </p:cNvPr>
              <p:cNvGraphicFramePr>
                <a:graphicFrameLocks noGrp="1"/>
              </p:cNvGraphicFramePr>
              <p:nvPr>
                <p:extLst>
                  <p:ext uri="{D42A27DB-BD31-4B8C-83A1-F6EECF244321}">
                    <p14:modId xmlns:p14="http://schemas.microsoft.com/office/powerpoint/2010/main" val="3819281107"/>
                  </p:ext>
                </p:extLst>
              </p:nvPr>
            </p:nvGraphicFramePr>
            <p:xfrm>
              <a:off x="4184072" y="1306749"/>
              <a:ext cx="6261577" cy="1981200"/>
            </p:xfrm>
            <a:graphic>
              <a:graphicData uri="http://schemas.openxmlformats.org/drawingml/2006/table">
                <a:tbl>
                  <a:tblPr firstRow="1" bandRow="1">
                    <a:tableStyleId>{AD6A3598-7CB8-4345-8D95-17CE05F158A0}</a:tableStyleId>
                  </a:tblPr>
                  <a:tblGrid>
                    <a:gridCol w="544786">
                      <a:extLst>
                        <a:ext uri="{9D8B030D-6E8A-4147-A177-3AD203B41FA5}">
                          <a16:colId xmlns:a16="http://schemas.microsoft.com/office/drawing/2014/main" val="776375974"/>
                        </a:ext>
                      </a:extLst>
                    </a:gridCol>
                    <a:gridCol w="544786">
                      <a:extLst>
                        <a:ext uri="{9D8B030D-6E8A-4147-A177-3AD203B41FA5}">
                          <a16:colId xmlns:a16="http://schemas.microsoft.com/office/drawing/2014/main" val="384604534"/>
                        </a:ext>
                      </a:extLst>
                    </a:gridCol>
                    <a:gridCol w="1034401">
                      <a:extLst>
                        <a:ext uri="{9D8B030D-6E8A-4147-A177-3AD203B41FA5}">
                          <a16:colId xmlns:a16="http://schemas.microsoft.com/office/drawing/2014/main" val="79869298"/>
                        </a:ext>
                      </a:extLst>
                    </a:gridCol>
                    <a:gridCol w="1034401">
                      <a:extLst>
                        <a:ext uri="{9D8B030D-6E8A-4147-A177-3AD203B41FA5}">
                          <a16:colId xmlns:a16="http://schemas.microsoft.com/office/drawing/2014/main" val="3347906918"/>
                        </a:ext>
                      </a:extLst>
                    </a:gridCol>
                    <a:gridCol w="1034401">
                      <a:extLst>
                        <a:ext uri="{9D8B030D-6E8A-4147-A177-3AD203B41FA5}">
                          <a16:colId xmlns:a16="http://schemas.microsoft.com/office/drawing/2014/main" val="912474650"/>
                        </a:ext>
                      </a:extLst>
                    </a:gridCol>
                    <a:gridCol w="1034401">
                      <a:extLst>
                        <a:ext uri="{9D8B030D-6E8A-4147-A177-3AD203B41FA5}">
                          <a16:colId xmlns:a16="http://schemas.microsoft.com/office/drawing/2014/main" val="4025530010"/>
                        </a:ext>
                      </a:extLst>
                    </a:gridCol>
                    <a:gridCol w="1034401">
                      <a:extLst>
                        <a:ext uri="{9D8B030D-6E8A-4147-A177-3AD203B41FA5}">
                          <a16:colId xmlns:a16="http://schemas.microsoft.com/office/drawing/2014/main" val="2172254775"/>
                        </a:ext>
                      </a:extLst>
                    </a:gridCol>
                  </a:tblGrid>
                  <a:tr h="396240">
                    <a:tc>
                      <a:txBody>
                        <a:bodyPr/>
                        <a:lstStyle/>
                        <a:p>
                          <a:endParaRPr lang="es-CO"/>
                        </a:p>
                      </a:txBody>
                      <a:tcPr>
                        <a:blipFill>
                          <a:blip r:embed="rId4"/>
                          <a:stretch>
                            <a:fillRect l="-1124" t="-1538" r="-1057303" b="-403077"/>
                          </a:stretch>
                        </a:blipFill>
                      </a:tcPr>
                    </a:tc>
                    <a:tc>
                      <a:txBody>
                        <a:bodyPr/>
                        <a:lstStyle/>
                        <a:p>
                          <a:endParaRPr lang="es-CO"/>
                        </a:p>
                      </a:txBody>
                      <a:tcPr>
                        <a:blipFill>
                          <a:blip r:embed="rId4"/>
                          <a:stretch>
                            <a:fillRect l="-100000" t="-1538" r="-945556" b="-403077"/>
                          </a:stretch>
                        </a:blipFill>
                      </a:tcPr>
                    </a:tc>
                    <a:tc>
                      <a:txBody>
                        <a:bodyPr/>
                        <a:lstStyle/>
                        <a:p>
                          <a:endParaRPr lang="es-CO"/>
                        </a:p>
                      </a:txBody>
                      <a:tcPr>
                        <a:blipFill>
                          <a:blip r:embed="rId4"/>
                          <a:stretch>
                            <a:fillRect l="-105882" t="-1538" r="-400588" b="-403077"/>
                          </a:stretch>
                        </a:blipFill>
                      </a:tcPr>
                    </a:tc>
                    <a:tc>
                      <a:txBody>
                        <a:bodyPr/>
                        <a:lstStyle/>
                        <a:p>
                          <a:endParaRPr lang="es-CO"/>
                        </a:p>
                      </a:txBody>
                      <a:tcPr>
                        <a:blipFill>
                          <a:blip r:embed="rId4"/>
                          <a:stretch>
                            <a:fillRect l="-205882" t="-1538" r="-300588" b="-403077"/>
                          </a:stretch>
                        </a:blipFill>
                      </a:tcPr>
                    </a:tc>
                    <a:tc>
                      <a:txBody>
                        <a:bodyPr/>
                        <a:lstStyle/>
                        <a:p>
                          <a:endParaRPr lang="es-CO"/>
                        </a:p>
                      </a:txBody>
                      <a:tcPr>
                        <a:blipFill>
                          <a:blip r:embed="rId4"/>
                          <a:stretch>
                            <a:fillRect l="-307692" t="-1538" r="-202367" b="-403077"/>
                          </a:stretch>
                        </a:blipFill>
                      </a:tcPr>
                    </a:tc>
                    <a:tc>
                      <a:txBody>
                        <a:bodyPr/>
                        <a:lstStyle/>
                        <a:p>
                          <a:endParaRPr lang="es-CO"/>
                        </a:p>
                      </a:txBody>
                      <a:tcPr>
                        <a:blipFill>
                          <a:blip r:embed="rId4"/>
                          <a:stretch>
                            <a:fillRect l="-405294" t="-1538" r="-101176" b="-403077"/>
                          </a:stretch>
                        </a:blipFill>
                      </a:tcPr>
                    </a:tc>
                    <a:tc>
                      <a:txBody>
                        <a:bodyPr/>
                        <a:lstStyle/>
                        <a:p>
                          <a:endParaRPr lang="es-CO"/>
                        </a:p>
                      </a:txBody>
                      <a:tcPr>
                        <a:blipFill>
                          <a:blip r:embed="rId4"/>
                          <a:stretch>
                            <a:fillRect l="-505294" t="-1538" r="-1176" b="-403077"/>
                          </a:stretch>
                        </a:blipFill>
                      </a:tcPr>
                    </a:tc>
                    <a:extLst>
                      <a:ext uri="{0D108BD9-81ED-4DB2-BD59-A6C34878D82A}">
                        <a16:rowId xmlns:a16="http://schemas.microsoft.com/office/drawing/2014/main" val="113670299"/>
                      </a:ext>
                    </a:extLst>
                  </a:tr>
                  <a:tr h="396240">
                    <a:tc>
                      <a:txBody>
                        <a:bodyPr/>
                        <a:lstStyle/>
                        <a:p>
                          <a:endParaRPr lang="es-CO"/>
                        </a:p>
                      </a:txBody>
                      <a:tcPr>
                        <a:blipFill>
                          <a:blip r:embed="rId4"/>
                          <a:stretch>
                            <a:fillRect l="-1124" t="-101538" r="-1057303" b="-303077"/>
                          </a:stretch>
                        </a:blipFill>
                      </a:tcPr>
                    </a:tc>
                    <a:tc>
                      <a:txBody>
                        <a:bodyPr/>
                        <a:lstStyle/>
                        <a:p>
                          <a:endParaRPr lang="es-CO"/>
                        </a:p>
                      </a:txBody>
                      <a:tcPr>
                        <a:blipFill>
                          <a:blip r:embed="rId4"/>
                          <a:stretch>
                            <a:fillRect l="-100000" t="-101538" r="-945556" b="-303077"/>
                          </a:stretch>
                        </a:blipFill>
                      </a:tcPr>
                    </a:tc>
                    <a:tc>
                      <a:txBody>
                        <a:bodyPr/>
                        <a:lstStyle/>
                        <a:p>
                          <a:endParaRPr lang="es-CO"/>
                        </a:p>
                      </a:txBody>
                      <a:tcPr>
                        <a:blipFill>
                          <a:blip r:embed="rId4"/>
                          <a:stretch>
                            <a:fillRect l="-105882" t="-101538" r="-400588" b="-303077"/>
                          </a:stretch>
                        </a:blipFill>
                      </a:tcPr>
                    </a:tc>
                    <a:tc>
                      <a:txBody>
                        <a:bodyPr/>
                        <a:lstStyle/>
                        <a:p>
                          <a:endParaRPr lang="es-CO"/>
                        </a:p>
                      </a:txBody>
                      <a:tcPr>
                        <a:blipFill>
                          <a:blip r:embed="rId4"/>
                          <a:stretch>
                            <a:fillRect l="-205882" t="-101538" r="-300588" b="-303077"/>
                          </a:stretch>
                        </a:blipFill>
                      </a:tcPr>
                    </a:tc>
                    <a:tc>
                      <a:txBody>
                        <a:bodyPr/>
                        <a:lstStyle/>
                        <a:p>
                          <a:endParaRPr lang="es-CO"/>
                        </a:p>
                      </a:txBody>
                      <a:tcPr>
                        <a:blipFill>
                          <a:blip r:embed="rId4"/>
                          <a:stretch>
                            <a:fillRect l="-307692" t="-101538" r="-202367" b="-303077"/>
                          </a:stretch>
                        </a:blipFill>
                      </a:tcPr>
                    </a:tc>
                    <a:tc>
                      <a:txBody>
                        <a:bodyPr/>
                        <a:lstStyle/>
                        <a:p>
                          <a:endParaRPr lang="es-CO"/>
                        </a:p>
                      </a:txBody>
                      <a:tcPr>
                        <a:blipFill>
                          <a:blip r:embed="rId4"/>
                          <a:stretch>
                            <a:fillRect l="-405294" t="-101538" r="-101176" b="-303077"/>
                          </a:stretch>
                        </a:blipFill>
                      </a:tcPr>
                    </a:tc>
                    <a:tc>
                      <a:txBody>
                        <a:bodyPr/>
                        <a:lstStyle/>
                        <a:p>
                          <a:endParaRPr lang="es-CO"/>
                        </a:p>
                      </a:txBody>
                      <a:tcPr>
                        <a:blipFill>
                          <a:blip r:embed="rId4"/>
                          <a:stretch>
                            <a:fillRect l="-505294" t="-101538" r="-1176" b="-303077"/>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4"/>
                          <a:stretch>
                            <a:fillRect l="-1124" t="-198485" r="-1057303" b="-198485"/>
                          </a:stretch>
                        </a:blipFill>
                      </a:tcPr>
                    </a:tc>
                    <a:tc>
                      <a:txBody>
                        <a:bodyPr/>
                        <a:lstStyle/>
                        <a:p>
                          <a:endParaRPr lang="es-CO"/>
                        </a:p>
                      </a:txBody>
                      <a:tcPr>
                        <a:blipFill>
                          <a:blip r:embed="rId4"/>
                          <a:stretch>
                            <a:fillRect l="-100000" t="-198485" r="-945556" b="-198485"/>
                          </a:stretch>
                        </a:blipFill>
                      </a:tcPr>
                    </a:tc>
                    <a:tc>
                      <a:txBody>
                        <a:bodyPr/>
                        <a:lstStyle/>
                        <a:p>
                          <a:endParaRPr lang="es-CO"/>
                        </a:p>
                      </a:txBody>
                      <a:tcPr>
                        <a:blipFill>
                          <a:blip r:embed="rId4"/>
                          <a:stretch>
                            <a:fillRect l="-105882" t="-198485" r="-400588" b="-198485"/>
                          </a:stretch>
                        </a:blipFill>
                      </a:tcPr>
                    </a:tc>
                    <a:tc>
                      <a:txBody>
                        <a:bodyPr/>
                        <a:lstStyle/>
                        <a:p>
                          <a:endParaRPr lang="es-CO"/>
                        </a:p>
                      </a:txBody>
                      <a:tcPr>
                        <a:blipFill>
                          <a:blip r:embed="rId4"/>
                          <a:stretch>
                            <a:fillRect l="-205882" t="-198485" r="-300588" b="-198485"/>
                          </a:stretch>
                        </a:blipFill>
                      </a:tcPr>
                    </a:tc>
                    <a:tc>
                      <a:txBody>
                        <a:bodyPr/>
                        <a:lstStyle/>
                        <a:p>
                          <a:endParaRPr lang="es-CO"/>
                        </a:p>
                      </a:txBody>
                      <a:tcPr>
                        <a:blipFill>
                          <a:blip r:embed="rId4"/>
                          <a:stretch>
                            <a:fillRect l="-307692" t="-198485" r="-202367" b="-198485"/>
                          </a:stretch>
                        </a:blipFill>
                      </a:tcPr>
                    </a:tc>
                    <a:tc>
                      <a:txBody>
                        <a:bodyPr/>
                        <a:lstStyle/>
                        <a:p>
                          <a:endParaRPr lang="es-CO"/>
                        </a:p>
                      </a:txBody>
                      <a:tcPr>
                        <a:blipFill>
                          <a:blip r:embed="rId4"/>
                          <a:stretch>
                            <a:fillRect l="-405294" t="-198485" r="-101176" b="-198485"/>
                          </a:stretch>
                        </a:blipFill>
                      </a:tcPr>
                    </a:tc>
                    <a:tc>
                      <a:txBody>
                        <a:bodyPr/>
                        <a:lstStyle/>
                        <a:p>
                          <a:endParaRPr lang="es-CO"/>
                        </a:p>
                      </a:txBody>
                      <a:tcPr>
                        <a:blipFill>
                          <a:blip r:embed="rId4"/>
                          <a:stretch>
                            <a:fillRect l="-505294" t="-198485" r="-1176" b="-198485"/>
                          </a:stretch>
                        </a:blipFill>
                      </a:tcPr>
                    </a:tc>
                    <a:extLst>
                      <a:ext uri="{0D108BD9-81ED-4DB2-BD59-A6C34878D82A}">
                        <a16:rowId xmlns:a16="http://schemas.microsoft.com/office/drawing/2014/main" val="2353127006"/>
                      </a:ext>
                    </a:extLst>
                  </a:tr>
                  <a:tr h="396240">
                    <a:tc>
                      <a:txBody>
                        <a:bodyPr/>
                        <a:lstStyle/>
                        <a:p>
                          <a:endParaRPr lang="es-CO"/>
                        </a:p>
                      </a:txBody>
                      <a:tcPr>
                        <a:blipFill>
                          <a:blip r:embed="rId4"/>
                          <a:stretch>
                            <a:fillRect l="-1124" t="-303077" r="-1057303" b="-101538"/>
                          </a:stretch>
                        </a:blipFill>
                      </a:tcPr>
                    </a:tc>
                    <a:tc>
                      <a:txBody>
                        <a:bodyPr/>
                        <a:lstStyle/>
                        <a:p>
                          <a:endParaRPr lang="es-CO"/>
                        </a:p>
                      </a:txBody>
                      <a:tcPr>
                        <a:blipFill>
                          <a:blip r:embed="rId4"/>
                          <a:stretch>
                            <a:fillRect l="-100000" t="-303077" r="-945556" b="-101538"/>
                          </a:stretch>
                        </a:blipFill>
                      </a:tcPr>
                    </a:tc>
                    <a:tc>
                      <a:txBody>
                        <a:bodyPr/>
                        <a:lstStyle/>
                        <a:p>
                          <a:endParaRPr lang="es-CO"/>
                        </a:p>
                      </a:txBody>
                      <a:tcPr>
                        <a:blipFill>
                          <a:blip r:embed="rId4"/>
                          <a:stretch>
                            <a:fillRect l="-105882" t="-303077" r="-400588" b="-101538"/>
                          </a:stretch>
                        </a:blipFill>
                      </a:tcPr>
                    </a:tc>
                    <a:tc>
                      <a:txBody>
                        <a:bodyPr/>
                        <a:lstStyle/>
                        <a:p>
                          <a:endParaRPr lang="es-CO"/>
                        </a:p>
                      </a:txBody>
                      <a:tcPr>
                        <a:blipFill>
                          <a:blip r:embed="rId4"/>
                          <a:stretch>
                            <a:fillRect l="-205882" t="-303077" r="-300588" b="-101538"/>
                          </a:stretch>
                        </a:blipFill>
                      </a:tcPr>
                    </a:tc>
                    <a:tc>
                      <a:txBody>
                        <a:bodyPr/>
                        <a:lstStyle/>
                        <a:p>
                          <a:endParaRPr lang="es-CO"/>
                        </a:p>
                      </a:txBody>
                      <a:tcPr>
                        <a:blipFill>
                          <a:blip r:embed="rId4"/>
                          <a:stretch>
                            <a:fillRect l="-307692" t="-303077" r="-202367" b="-101538"/>
                          </a:stretch>
                        </a:blipFill>
                      </a:tcPr>
                    </a:tc>
                    <a:tc>
                      <a:txBody>
                        <a:bodyPr/>
                        <a:lstStyle/>
                        <a:p>
                          <a:endParaRPr lang="es-CO"/>
                        </a:p>
                      </a:txBody>
                      <a:tcPr>
                        <a:blipFill>
                          <a:blip r:embed="rId4"/>
                          <a:stretch>
                            <a:fillRect l="-405294" t="-303077" r="-101176" b="-101538"/>
                          </a:stretch>
                        </a:blipFill>
                      </a:tcPr>
                    </a:tc>
                    <a:tc>
                      <a:txBody>
                        <a:bodyPr/>
                        <a:lstStyle/>
                        <a:p>
                          <a:endParaRPr lang="es-CO"/>
                        </a:p>
                      </a:txBody>
                      <a:tcPr>
                        <a:blipFill>
                          <a:blip r:embed="rId4"/>
                          <a:stretch>
                            <a:fillRect l="-505294" t="-303077" r="-1176" b="-101538"/>
                          </a:stretch>
                        </a:blipFill>
                      </a:tcPr>
                    </a:tc>
                    <a:extLst>
                      <a:ext uri="{0D108BD9-81ED-4DB2-BD59-A6C34878D82A}">
                        <a16:rowId xmlns:a16="http://schemas.microsoft.com/office/drawing/2014/main" val="4184868107"/>
                      </a:ext>
                    </a:extLst>
                  </a:tr>
                  <a:tr h="396240">
                    <a:tc>
                      <a:txBody>
                        <a:bodyPr/>
                        <a:lstStyle/>
                        <a:p>
                          <a:endParaRPr lang="es-CO"/>
                        </a:p>
                      </a:txBody>
                      <a:tcPr>
                        <a:blipFill>
                          <a:blip r:embed="rId4"/>
                          <a:stretch>
                            <a:fillRect l="-1124" t="-403077" r="-1057303" b="-1538"/>
                          </a:stretch>
                        </a:blipFill>
                      </a:tcPr>
                    </a:tc>
                    <a:tc>
                      <a:txBody>
                        <a:bodyPr/>
                        <a:lstStyle/>
                        <a:p>
                          <a:endParaRPr lang="es-CO"/>
                        </a:p>
                      </a:txBody>
                      <a:tcPr>
                        <a:blipFill>
                          <a:blip r:embed="rId4"/>
                          <a:stretch>
                            <a:fillRect l="-100000" t="-403077" r="-945556" b="-1538"/>
                          </a:stretch>
                        </a:blipFill>
                      </a:tcPr>
                    </a:tc>
                    <a:tc>
                      <a:txBody>
                        <a:bodyPr/>
                        <a:lstStyle/>
                        <a:p>
                          <a:endParaRPr lang="es-CO"/>
                        </a:p>
                      </a:txBody>
                      <a:tcPr>
                        <a:blipFill>
                          <a:blip r:embed="rId4"/>
                          <a:stretch>
                            <a:fillRect l="-105882" t="-403077" r="-400588" b="-1538"/>
                          </a:stretch>
                        </a:blipFill>
                      </a:tcPr>
                    </a:tc>
                    <a:tc>
                      <a:txBody>
                        <a:bodyPr/>
                        <a:lstStyle/>
                        <a:p>
                          <a:endParaRPr lang="es-CO"/>
                        </a:p>
                      </a:txBody>
                      <a:tcPr>
                        <a:blipFill>
                          <a:blip r:embed="rId4"/>
                          <a:stretch>
                            <a:fillRect l="-205882" t="-403077" r="-300588" b="-1538"/>
                          </a:stretch>
                        </a:blipFill>
                      </a:tcPr>
                    </a:tc>
                    <a:tc>
                      <a:txBody>
                        <a:bodyPr/>
                        <a:lstStyle/>
                        <a:p>
                          <a:endParaRPr lang="es-CO"/>
                        </a:p>
                      </a:txBody>
                      <a:tcPr>
                        <a:blipFill>
                          <a:blip r:embed="rId4"/>
                          <a:stretch>
                            <a:fillRect l="-307692" t="-403077" r="-202367" b="-1538"/>
                          </a:stretch>
                        </a:blipFill>
                      </a:tcPr>
                    </a:tc>
                    <a:tc>
                      <a:txBody>
                        <a:bodyPr/>
                        <a:lstStyle/>
                        <a:p>
                          <a:endParaRPr lang="es-CO"/>
                        </a:p>
                      </a:txBody>
                      <a:tcPr>
                        <a:blipFill>
                          <a:blip r:embed="rId4"/>
                          <a:stretch>
                            <a:fillRect l="-405294" t="-403077" r="-101176" b="-1538"/>
                          </a:stretch>
                        </a:blipFill>
                      </a:tcPr>
                    </a:tc>
                    <a:tc>
                      <a:txBody>
                        <a:bodyPr/>
                        <a:lstStyle/>
                        <a:p>
                          <a:endParaRPr lang="es-CO"/>
                        </a:p>
                      </a:txBody>
                      <a:tcPr>
                        <a:blipFill>
                          <a:blip r:embed="rId4"/>
                          <a:stretch>
                            <a:fillRect l="-505294" t="-403077" r="-1176" b="-1538"/>
                          </a:stretch>
                        </a:blipFill>
                      </a:tcPr>
                    </a:tc>
                    <a:extLst>
                      <a:ext uri="{0D108BD9-81ED-4DB2-BD59-A6C34878D82A}">
                        <a16:rowId xmlns:a16="http://schemas.microsoft.com/office/drawing/2014/main" val="8891364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a 2">
                <a:extLst>
                  <a:ext uri="{FF2B5EF4-FFF2-40B4-BE49-F238E27FC236}">
                    <a16:creationId xmlns:a16="http://schemas.microsoft.com/office/drawing/2014/main" id="{9E84B761-24BE-4D49-B136-64B8BC2CE9C1}"/>
                  </a:ext>
                </a:extLst>
              </p:cNvPr>
              <p:cNvGraphicFramePr>
                <a:graphicFrameLocks noGrp="1"/>
              </p:cNvGraphicFramePr>
              <p:nvPr>
                <p:extLst>
                  <p:ext uri="{D42A27DB-BD31-4B8C-83A1-F6EECF244321}">
                    <p14:modId xmlns:p14="http://schemas.microsoft.com/office/powerpoint/2010/main" val="918325357"/>
                  </p:ext>
                </p:extLst>
              </p:nvPr>
            </p:nvGraphicFramePr>
            <p:xfrm>
              <a:off x="1772598" y="4111200"/>
              <a:ext cx="8646804" cy="2377440"/>
            </p:xfrm>
            <a:graphic>
              <a:graphicData uri="http://schemas.openxmlformats.org/drawingml/2006/table">
                <a:tbl>
                  <a:tblPr firstRow="1" bandRow="1">
                    <a:tableStyleId>{AD6A3598-7CB8-4345-8D95-17CE05F158A0}</a:tableStyleId>
                  </a:tblPr>
                  <a:tblGrid>
                    <a:gridCol w="1794054">
                      <a:extLst>
                        <a:ext uri="{9D8B030D-6E8A-4147-A177-3AD203B41FA5}">
                          <a16:colId xmlns:a16="http://schemas.microsoft.com/office/drawing/2014/main" val="2912375319"/>
                        </a:ext>
                      </a:extLst>
                    </a:gridCol>
                    <a:gridCol w="1794054">
                      <a:extLst>
                        <a:ext uri="{9D8B030D-6E8A-4147-A177-3AD203B41FA5}">
                          <a16:colId xmlns:a16="http://schemas.microsoft.com/office/drawing/2014/main" val="2830172176"/>
                        </a:ext>
                      </a:extLst>
                    </a:gridCol>
                    <a:gridCol w="5058696">
                      <a:extLst>
                        <a:ext uri="{9D8B030D-6E8A-4147-A177-3AD203B41FA5}">
                          <a16:colId xmlns:a16="http://schemas.microsoft.com/office/drawing/2014/main" val="761044912"/>
                        </a:ext>
                      </a:extLst>
                    </a:gridCol>
                  </a:tblGrid>
                  <a:tr h="366920">
                    <a:tc>
                      <a:txBody>
                        <a:bodyPr/>
                        <a:lstStyle/>
                        <a:p>
                          <a:pPr algn="ctr"/>
                          <a:r>
                            <a:rPr lang="es-CO" sz="2000" b="1" dirty="0">
                              <a:latin typeface="Roboto" panose="02000000000000000000" pitchFamily="2" charset="0"/>
                              <a:ea typeface="Roboto" panose="02000000000000000000" pitchFamily="2" charset="0"/>
                            </a:rPr>
                            <a:t>Prioridad</a:t>
                          </a:r>
                        </a:p>
                      </a:txBody>
                      <a:tcPr>
                        <a:solidFill>
                          <a:schemeClr val="bg1">
                            <a:lumMod val="95000"/>
                          </a:schemeClr>
                        </a:solidFill>
                      </a:tcPr>
                    </a:tc>
                    <a:tc>
                      <a:txBody>
                        <a:bodyPr/>
                        <a:lstStyle/>
                        <a:p>
                          <a:pPr algn="ctr"/>
                          <a:r>
                            <a:rPr lang="es-CO" sz="2000" b="1" dirty="0">
                              <a:latin typeface="Roboto" panose="02000000000000000000" pitchFamily="2" charset="0"/>
                              <a:ea typeface="Roboto" panose="02000000000000000000" pitchFamily="2" charset="0"/>
                            </a:rPr>
                            <a:t>Operador</a:t>
                          </a:r>
                        </a:p>
                      </a:txBody>
                      <a:tcPr>
                        <a:solidFill>
                          <a:schemeClr val="bg1">
                            <a:lumMod val="95000"/>
                          </a:schemeClr>
                        </a:solidFill>
                      </a:tcPr>
                    </a:tc>
                    <a:tc>
                      <a:txBody>
                        <a:bodyPr/>
                        <a:lstStyle/>
                        <a:p>
                          <a:pPr algn="ctr"/>
                          <a:r>
                            <a:rPr lang="es-CO" sz="2000" b="1" dirty="0">
                              <a:latin typeface="Roboto" panose="02000000000000000000" pitchFamily="2" charset="0"/>
                              <a:ea typeface="Roboto" panose="02000000000000000000" pitchFamily="2" charset="0"/>
                            </a:rPr>
                            <a:t>Asociatividad</a:t>
                          </a:r>
                        </a:p>
                      </a:txBody>
                      <a:tcPr>
                        <a:solidFill>
                          <a:schemeClr val="bg1">
                            <a:lumMod val="95000"/>
                          </a:schemeClr>
                        </a:solidFill>
                      </a:tcPr>
                    </a:tc>
                    <a:extLst>
                      <a:ext uri="{0D108BD9-81ED-4DB2-BD59-A6C34878D82A}">
                        <a16:rowId xmlns:a16="http://schemas.microsoft.com/office/drawing/2014/main" val="884271441"/>
                      </a:ext>
                    </a:extLst>
                  </a:tr>
                  <a:tr h="366920">
                    <a:tc>
                      <a:txBody>
                        <a:bodyPr/>
                        <a:lstStyle/>
                        <a:p>
                          <a:r>
                            <a:rPr lang="es-CO" sz="2000" dirty="0">
                              <a:latin typeface="Roboto" panose="02000000000000000000" pitchFamily="2" charset="0"/>
                              <a:ea typeface="Roboto" panose="02000000000000000000" pitchFamily="2" charset="0"/>
                            </a:rPr>
                            <a:t>1</a:t>
                          </a:r>
                        </a:p>
                      </a:txBody>
                      <a:tcPr/>
                    </a:tc>
                    <a:tc>
                      <a:txBody>
                        <a:bodyPr/>
                        <a:lstStyle/>
                        <a:p>
                          <a:pPr/>
                          <a14:m>
                            <m:oMathPara xmlns:m="http://schemas.openxmlformats.org/officeDocument/2006/math">
                              <m:oMathParaPr>
                                <m:jc m:val="centerGroup"/>
                              </m:oMathParaPr>
                              <m:oMath xmlns:m="http://schemas.openxmlformats.org/officeDocument/2006/math">
                                <m:d>
                                  <m:dPr>
                                    <m:ctrlPr>
                                      <a:rPr lang="es-MX" sz="2000" b="0" i="1" smtClean="0">
                                        <a:latin typeface="Cambria Math" panose="02040503050406030204" pitchFamily="18" charset="0"/>
                                        <a:ea typeface="Roboto" panose="02000000000000000000" pitchFamily="2" charset="0"/>
                                      </a:rPr>
                                    </m:ctrlPr>
                                  </m:dPr>
                                  <m:e/>
                                </m:d>
                              </m:oMath>
                            </m:oMathPara>
                          </a14:m>
                          <a:endParaRPr lang="es-CO" sz="2000" dirty="0">
                            <a:latin typeface="Roboto" panose="02000000000000000000" pitchFamily="2" charset="0"/>
                            <a:ea typeface="Roboto" panose="02000000000000000000" pitchFamily="2" charset="0"/>
                          </a:endParaRPr>
                        </a:p>
                      </a:txBody>
                      <a:tcPr/>
                    </a:tc>
                    <a:tc rowSpan="5">
                      <a:txBody>
                        <a:bodyPr/>
                        <a:lstStyle/>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Cuando se tienen varios operadores con la misma prioridad, la evaluación se hace de izquierda a derecha.</a:t>
                          </a:r>
                        </a:p>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Cuando hay paréntesis anidados se evalúan primero los mas internos.</a:t>
                          </a: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762419328"/>
                      </a:ext>
                    </a:extLst>
                  </a:tr>
                  <a:tr h="366920">
                    <a:tc>
                      <a:txBody>
                        <a:bodyPr/>
                        <a:lstStyle/>
                        <a:p>
                          <a:r>
                            <a:rPr lang="es-CO" sz="2000" dirty="0">
                              <a:latin typeface="Roboto" panose="02000000000000000000" pitchFamily="2" charset="0"/>
                              <a:ea typeface="Roboto" panose="02000000000000000000" pitchFamily="2" charset="0"/>
                            </a:rPr>
                            <a:t>2</a:t>
                          </a: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oMath>
                            </m:oMathPara>
                          </a14:m>
                          <a:endParaRPr lang="es-CO" sz="2000" dirty="0">
                            <a:latin typeface="Roboto" panose="02000000000000000000" pitchFamily="2" charset="0"/>
                            <a:ea typeface="Roboto" panose="02000000000000000000" pitchFamily="2" charset="0"/>
                          </a:endParaRPr>
                        </a:p>
                      </a:txBody>
                      <a:tcPr/>
                    </a:tc>
                    <a:tc vMerge="1">
                      <a:txBody>
                        <a:bodyPr/>
                        <a:lstStyle/>
                        <a:p>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62588756"/>
                      </a:ext>
                    </a:extLst>
                  </a:tr>
                  <a:tr h="366920">
                    <a:tc>
                      <a:txBody>
                        <a:bodyPr/>
                        <a:lstStyle/>
                        <a:p>
                          <a:r>
                            <a:rPr lang="es-CO" sz="2000" dirty="0">
                              <a:latin typeface="Roboto" panose="02000000000000000000" pitchFamily="2" charset="0"/>
                              <a:ea typeface="Roboto" panose="02000000000000000000" pitchFamily="2" charset="0"/>
                            </a:rPr>
                            <a:t>3</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Roboto" panose="02000000000000000000" pitchFamily="2" charset="0"/>
                            <a:ea typeface="Roboto" panose="02000000000000000000" pitchFamily="2" charset="0"/>
                          </a:endParaRPr>
                        </a:p>
                      </a:txBody>
                      <a:tcPr/>
                    </a:tc>
                    <a:tc v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027133619"/>
                      </a:ext>
                    </a:extLst>
                  </a:tr>
                  <a:tr h="366920">
                    <a:tc>
                      <a:txBody>
                        <a:bodyPr/>
                        <a:lstStyle/>
                        <a:p>
                          <a:r>
                            <a:rPr lang="es-CO" sz="2000" dirty="0">
                              <a:latin typeface="Roboto" panose="02000000000000000000" pitchFamily="2" charset="0"/>
                              <a:ea typeface="Roboto" panose="02000000000000000000" pitchFamily="2" charset="0"/>
                            </a:rPr>
                            <a:t>4</a:t>
                          </a:r>
                        </a:p>
                      </a:txBody>
                      <a:tcPr/>
                    </a:tc>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Roboto" panose="02000000000000000000" pitchFamily="2" charset="0"/>
                            <a:ea typeface="Roboto" panose="02000000000000000000" pitchFamily="2" charset="0"/>
                          </a:endParaRPr>
                        </a:p>
                      </a:txBody>
                      <a:tcPr/>
                    </a:tc>
                    <a:tc vMerge="1">
                      <a:txBody>
                        <a:bodyPr/>
                        <a:lstStyle/>
                        <a:p>
                          <a:pPr algn="ct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63104284"/>
                      </a:ext>
                    </a:extLst>
                  </a:tr>
                  <a:tr h="366920">
                    <a:tc>
                      <a:txBody>
                        <a:bodyPr/>
                        <a:lstStyle/>
                        <a:p>
                          <a:r>
                            <a:rPr lang="es-CO" sz="2000" dirty="0">
                              <a:latin typeface="Roboto" panose="02000000000000000000" pitchFamily="2" charset="0"/>
                              <a:ea typeface="Roboto" panose="02000000000000000000" pitchFamily="2" charset="0"/>
                            </a:rPr>
                            <a:t>5</a:t>
                          </a:r>
                        </a:p>
                      </a:txBody>
                      <a:tcPr/>
                    </a:tc>
                    <a:tc>
                      <a:txBody>
                        <a:bodyPr/>
                        <a:lstStyle/>
                        <a:p>
                          <a:pPr algn="ctr"/>
                          <a14:m>
                            <m:oMath xmlns:m="http://schemas.openxmlformats.org/officeDocument/2006/math">
                              <m:r>
                                <a:rPr lang="es-MX" sz="2000" b="0" i="1" smtClean="0">
                                  <a:latin typeface="Cambria Math" panose="02040503050406030204" pitchFamily="18" charset="0"/>
                                  <a:ea typeface="Cambria Math" panose="02040503050406030204" pitchFamily="18" charset="0"/>
                                </a:rPr>
                                <m:t>→</m:t>
                              </m:r>
                            </m:oMath>
                          </a14:m>
                          <a:r>
                            <a:rPr lang="es-CO" sz="2000" dirty="0">
                              <a:latin typeface="Roboto" panose="02000000000000000000" pitchFamily="2" charset="0"/>
                              <a:ea typeface="Roboto" panose="02000000000000000000" pitchFamily="2" charset="0"/>
                            </a:rPr>
                            <a:t>  /  </a:t>
                          </a:r>
                          <a14:m>
                            <m:oMath xmlns:m="http://schemas.openxmlformats.org/officeDocument/2006/math">
                              <m:r>
                                <a:rPr lang="es-MX" sz="2000" b="0" i="1" smtClean="0">
                                  <a:latin typeface="Cambria Math" panose="02040503050406030204" pitchFamily="18" charset="0"/>
                                  <a:ea typeface="Cambria Math" panose="02040503050406030204" pitchFamily="18" charset="0"/>
                                </a:rPr>
                                <m:t>↔</m:t>
                              </m:r>
                            </m:oMath>
                          </a14:m>
                          <a:endParaRPr lang="es-CO" sz="2000" dirty="0">
                            <a:latin typeface="Roboto" panose="02000000000000000000" pitchFamily="2" charset="0"/>
                            <a:ea typeface="Roboto" panose="02000000000000000000" pitchFamily="2" charset="0"/>
                          </a:endParaRPr>
                        </a:p>
                      </a:txBody>
                      <a:tcPr/>
                    </a:tc>
                    <a:tc vMerge="1">
                      <a:txBody>
                        <a:bodyPr/>
                        <a:lstStyle/>
                        <a:p>
                          <a:pPr algn="ct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650495079"/>
                      </a:ext>
                    </a:extLst>
                  </a:tr>
                </a:tbl>
              </a:graphicData>
            </a:graphic>
          </p:graphicFrame>
        </mc:Choice>
        <mc:Fallback xmlns="">
          <p:graphicFrame>
            <p:nvGraphicFramePr>
              <p:cNvPr id="7" name="Tabla 2">
                <a:extLst>
                  <a:ext uri="{FF2B5EF4-FFF2-40B4-BE49-F238E27FC236}">
                    <a16:creationId xmlns:a16="http://schemas.microsoft.com/office/drawing/2014/main" id="{9E84B761-24BE-4D49-B136-64B8BC2CE9C1}"/>
                  </a:ext>
                </a:extLst>
              </p:cNvPr>
              <p:cNvGraphicFramePr>
                <a:graphicFrameLocks noGrp="1"/>
              </p:cNvGraphicFramePr>
              <p:nvPr>
                <p:extLst>
                  <p:ext uri="{D42A27DB-BD31-4B8C-83A1-F6EECF244321}">
                    <p14:modId xmlns:p14="http://schemas.microsoft.com/office/powerpoint/2010/main" val="918325357"/>
                  </p:ext>
                </p:extLst>
              </p:nvPr>
            </p:nvGraphicFramePr>
            <p:xfrm>
              <a:off x="1772598" y="4111200"/>
              <a:ext cx="8646804" cy="2377440"/>
            </p:xfrm>
            <a:graphic>
              <a:graphicData uri="http://schemas.openxmlformats.org/drawingml/2006/table">
                <a:tbl>
                  <a:tblPr firstRow="1" bandRow="1">
                    <a:tableStyleId>{AD6A3598-7CB8-4345-8D95-17CE05F158A0}</a:tableStyleId>
                  </a:tblPr>
                  <a:tblGrid>
                    <a:gridCol w="1794054">
                      <a:extLst>
                        <a:ext uri="{9D8B030D-6E8A-4147-A177-3AD203B41FA5}">
                          <a16:colId xmlns:a16="http://schemas.microsoft.com/office/drawing/2014/main" val="2912375319"/>
                        </a:ext>
                      </a:extLst>
                    </a:gridCol>
                    <a:gridCol w="1794054">
                      <a:extLst>
                        <a:ext uri="{9D8B030D-6E8A-4147-A177-3AD203B41FA5}">
                          <a16:colId xmlns:a16="http://schemas.microsoft.com/office/drawing/2014/main" val="2830172176"/>
                        </a:ext>
                      </a:extLst>
                    </a:gridCol>
                    <a:gridCol w="5058696">
                      <a:extLst>
                        <a:ext uri="{9D8B030D-6E8A-4147-A177-3AD203B41FA5}">
                          <a16:colId xmlns:a16="http://schemas.microsoft.com/office/drawing/2014/main" val="761044912"/>
                        </a:ext>
                      </a:extLst>
                    </a:gridCol>
                  </a:tblGrid>
                  <a:tr h="396240">
                    <a:tc>
                      <a:txBody>
                        <a:bodyPr/>
                        <a:lstStyle/>
                        <a:p>
                          <a:pPr algn="ctr"/>
                          <a:r>
                            <a:rPr lang="es-CO" sz="2000" b="1" dirty="0">
                              <a:latin typeface="Roboto" panose="02000000000000000000" pitchFamily="2" charset="0"/>
                              <a:ea typeface="Roboto" panose="02000000000000000000" pitchFamily="2" charset="0"/>
                            </a:rPr>
                            <a:t>Prioridad</a:t>
                          </a:r>
                        </a:p>
                      </a:txBody>
                      <a:tcPr>
                        <a:solidFill>
                          <a:schemeClr val="bg1">
                            <a:lumMod val="95000"/>
                          </a:schemeClr>
                        </a:solidFill>
                      </a:tcPr>
                    </a:tc>
                    <a:tc>
                      <a:txBody>
                        <a:bodyPr/>
                        <a:lstStyle/>
                        <a:p>
                          <a:pPr algn="ctr"/>
                          <a:r>
                            <a:rPr lang="es-CO" sz="2000" b="1" dirty="0">
                              <a:latin typeface="Roboto" panose="02000000000000000000" pitchFamily="2" charset="0"/>
                              <a:ea typeface="Roboto" panose="02000000000000000000" pitchFamily="2" charset="0"/>
                            </a:rPr>
                            <a:t>Operador</a:t>
                          </a:r>
                        </a:p>
                      </a:txBody>
                      <a:tcPr>
                        <a:solidFill>
                          <a:schemeClr val="bg1">
                            <a:lumMod val="95000"/>
                          </a:schemeClr>
                        </a:solidFill>
                      </a:tcPr>
                    </a:tc>
                    <a:tc>
                      <a:txBody>
                        <a:bodyPr/>
                        <a:lstStyle/>
                        <a:p>
                          <a:pPr algn="ctr"/>
                          <a:r>
                            <a:rPr lang="es-CO" sz="2000" b="1" dirty="0">
                              <a:latin typeface="Roboto" panose="02000000000000000000" pitchFamily="2" charset="0"/>
                              <a:ea typeface="Roboto" panose="02000000000000000000" pitchFamily="2" charset="0"/>
                            </a:rPr>
                            <a:t>Asociatividad</a:t>
                          </a:r>
                        </a:p>
                      </a:txBody>
                      <a:tcPr>
                        <a:solidFill>
                          <a:schemeClr val="bg1">
                            <a:lumMod val="95000"/>
                          </a:schemeClr>
                        </a:solidFill>
                      </a:tcPr>
                    </a:tc>
                    <a:extLst>
                      <a:ext uri="{0D108BD9-81ED-4DB2-BD59-A6C34878D82A}">
                        <a16:rowId xmlns:a16="http://schemas.microsoft.com/office/drawing/2014/main" val="884271441"/>
                      </a:ext>
                    </a:extLst>
                  </a:tr>
                  <a:tr h="396240">
                    <a:tc>
                      <a:txBody>
                        <a:bodyPr/>
                        <a:lstStyle/>
                        <a:p>
                          <a:r>
                            <a:rPr lang="es-CO" sz="2000" dirty="0">
                              <a:latin typeface="Roboto" panose="02000000000000000000" pitchFamily="2" charset="0"/>
                              <a:ea typeface="Roboto" panose="02000000000000000000" pitchFamily="2" charset="0"/>
                            </a:rPr>
                            <a:t>1</a:t>
                          </a:r>
                        </a:p>
                      </a:txBody>
                      <a:tcPr/>
                    </a:tc>
                    <a:tc>
                      <a:txBody>
                        <a:bodyPr/>
                        <a:lstStyle/>
                        <a:p>
                          <a:endParaRPr lang="es-CO"/>
                        </a:p>
                      </a:txBody>
                      <a:tcPr>
                        <a:blipFill>
                          <a:blip r:embed="rId5"/>
                          <a:stretch>
                            <a:fillRect l="-100340" t="-106154" r="-282993" b="-429231"/>
                          </a:stretch>
                        </a:blipFill>
                      </a:tcPr>
                    </a:tc>
                    <a:tc rowSpan="5">
                      <a:txBody>
                        <a:bodyPr/>
                        <a:lstStyle/>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Cuando se tienen varios operadores con la misma prioridad, la evaluación se hace de izquierda a derecha.</a:t>
                          </a:r>
                        </a:p>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Cuando hay paréntesis anidados se evalúan primero los mas internos.</a:t>
                          </a: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762419328"/>
                      </a:ext>
                    </a:extLst>
                  </a:tr>
                  <a:tr h="396240">
                    <a:tc>
                      <a:txBody>
                        <a:bodyPr/>
                        <a:lstStyle/>
                        <a:p>
                          <a:r>
                            <a:rPr lang="es-CO" sz="2000" dirty="0">
                              <a:latin typeface="Roboto" panose="02000000000000000000" pitchFamily="2" charset="0"/>
                              <a:ea typeface="Roboto" panose="02000000000000000000" pitchFamily="2" charset="0"/>
                            </a:rPr>
                            <a:t>2</a:t>
                          </a:r>
                        </a:p>
                      </a:txBody>
                      <a:tcPr/>
                    </a:tc>
                    <a:tc>
                      <a:txBody>
                        <a:bodyPr/>
                        <a:lstStyle/>
                        <a:p>
                          <a:endParaRPr lang="es-CO"/>
                        </a:p>
                      </a:txBody>
                      <a:tcPr>
                        <a:blipFill>
                          <a:blip r:embed="rId5"/>
                          <a:stretch>
                            <a:fillRect l="-100340" t="-203030" r="-282993" b="-322727"/>
                          </a:stretch>
                        </a:blipFill>
                      </a:tcPr>
                    </a:tc>
                    <a:tc vMerge="1">
                      <a:txBody>
                        <a:bodyPr/>
                        <a:lstStyle/>
                        <a:p>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62588756"/>
                      </a:ext>
                    </a:extLst>
                  </a:tr>
                  <a:tr h="396240">
                    <a:tc>
                      <a:txBody>
                        <a:bodyPr/>
                        <a:lstStyle/>
                        <a:p>
                          <a:r>
                            <a:rPr lang="es-CO" sz="2000" dirty="0">
                              <a:latin typeface="Roboto" panose="02000000000000000000" pitchFamily="2" charset="0"/>
                              <a:ea typeface="Roboto" panose="02000000000000000000" pitchFamily="2" charset="0"/>
                            </a:rPr>
                            <a:t>3</a:t>
                          </a:r>
                        </a:p>
                      </a:txBody>
                      <a:tcPr/>
                    </a:tc>
                    <a:tc>
                      <a:txBody>
                        <a:bodyPr/>
                        <a:lstStyle/>
                        <a:p>
                          <a:endParaRPr lang="es-CO"/>
                        </a:p>
                      </a:txBody>
                      <a:tcPr>
                        <a:blipFill>
                          <a:blip r:embed="rId5"/>
                          <a:stretch>
                            <a:fillRect l="-100340" t="-307692" r="-282993" b="-227692"/>
                          </a:stretch>
                        </a:blipFill>
                      </a:tcPr>
                    </a:tc>
                    <a:tc v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027133619"/>
                      </a:ext>
                    </a:extLst>
                  </a:tr>
                  <a:tr h="396240">
                    <a:tc>
                      <a:txBody>
                        <a:bodyPr/>
                        <a:lstStyle/>
                        <a:p>
                          <a:r>
                            <a:rPr lang="es-CO" sz="2000" dirty="0">
                              <a:latin typeface="Roboto" panose="02000000000000000000" pitchFamily="2" charset="0"/>
                              <a:ea typeface="Roboto" panose="02000000000000000000" pitchFamily="2" charset="0"/>
                            </a:rPr>
                            <a:t>4</a:t>
                          </a:r>
                        </a:p>
                      </a:txBody>
                      <a:tcPr/>
                    </a:tc>
                    <a:tc>
                      <a:txBody>
                        <a:bodyPr/>
                        <a:lstStyle/>
                        <a:p>
                          <a:endParaRPr lang="es-CO"/>
                        </a:p>
                      </a:txBody>
                      <a:tcPr>
                        <a:blipFill>
                          <a:blip r:embed="rId5"/>
                          <a:stretch>
                            <a:fillRect l="-100340" t="-407692" r="-282993" b="-127692"/>
                          </a:stretch>
                        </a:blipFill>
                      </a:tcPr>
                    </a:tc>
                    <a:tc vMerge="1">
                      <a:txBody>
                        <a:bodyPr/>
                        <a:lstStyle/>
                        <a:p>
                          <a:pPr algn="ct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63104284"/>
                      </a:ext>
                    </a:extLst>
                  </a:tr>
                  <a:tr h="396240">
                    <a:tc>
                      <a:txBody>
                        <a:bodyPr/>
                        <a:lstStyle/>
                        <a:p>
                          <a:r>
                            <a:rPr lang="es-CO" sz="2000" dirty="0">
                              <a:latin typeface="Roboto" panose="02000000000000000000" pitchFamily="2" charset="0"/>
                              <a:ea typeface="Roboto" panose="02000000000000000000" pitchFamily="2" charset="0"/>
                            </a:rPr>
                            <a:t>5</a:t>
                          </a:r>
                        </a:p>
                      </a:txBody>
                      <a:tcPr/>
                    </a:tc>
                    <a:tc>
                      <a:txBody>
                        <a:bodyPr/>
                        <a:lstStyle/>
                        <a:p>
                          <a:endParaRPr lang="es-CO"/>
                        </a:p>
                      </a:txBody>
                      <a:tcPr>
                        <a:blipFill>
                          <a:blip r:embed="rId5"/>
                          <a:stretch>
                            <a:fillRect l="-100340" t="-507692" r="-282993" b="-27692"/>
                          </a:stretch>
                        </a:blipFill>
                      </a:tcPr>
                    </a:tc>
                    <a:tc vMerge="1">
                      <a:txBody>
                        <a:bodyPr/>
                        <a:lstStyle/>
                        <a:p>
                          <a:pPr algn="ct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650495079"/>
                      </a:ext>
                    </a:extLst>
                  </a:tr>
                </a:tbl>
              </a:graphicData>
            </a:graphic>
          </p:graphicFrame>
        </mc:Fallback>
      </mc:AlternateContent>
      <p:sp>
        <p:nvSpPr>
          <p:cNvPr id="8" name="CuadroTexto 7">
            <a:extLst>
              <a:ext uri="{FF2B5EF4-FFF2-40B4-BE49-F238E27FC236}">
                <a16:creationId xmlns:a16="http://schemas.microsoft.com/office/drawing/2014/main" id="{8579163D-AC79-4B98-B83C-8F6B7F68F8F6}"/>
              </a:ext>
            </a:extLst>
          </p:cNvPr>
          <p:cNvSpPr txBox="1"/>
          <p:nvPr/>
        </p:nvSpPr>
        <p:spPr>
          <a:xfrm>
            <a:off x="769166" y="3429000"/>
            <a:ext cx="3267423"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Reglas de prioridad</a:t>
            </a:r>
          </a:p>
        </p:txBody>
      </p:sp>
    </p:spTree>
    <p:extLst>
      <p:ext uri="{BB962C8B-B14F-4D97-AF65-F5344CB8AC3E}">
        <p14:creationId xmlns:p14="http://schemas.microsoft.com/office/powerpoint/2010/main" val="3117404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573854" y="96038"/>
            <a:ext cx="8304000" cy="949500"/>
          </a:xfrm>
        </p:spPr>
        <p:txBody>
          <a:bodyPr/>
          <a:lstStyle/>
          <a:p>
            <a:r>
              <a:rPr lang="es-CO" dirty="0">
                <a:latin typeface="+mj-lt"/>
              </a:rPr>
              <a:t>Repaso clase anterior</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573854" y="1045538"/>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Equivalencias lógicas</a:t>
            </a:r>
          </a:p>
        </p:txBody>
      </p: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B2AE7C7F-720A-4B7B-9E19-4BEC8AA5AF5F}"/>
                  </a:ext>
                </a:extLst>
              </p:cNvPr>
              <p:cNvSpPr txBox="1"/>
              <p:nvPr/>
            </p:nvSpPr>
            <p:spPr>
              <a:xfrm>
                <a:off x="1550124" y="4711819"/>
                <a:ext cx="730072" cy="8911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s-MX" sz="1600" b="1" i="1" smtClean="0">
                              <a:latin typeface="Cambria Math" panose="02040503050406030204" pitchFamily="18" charset="0"/>
                              <a:ea typeface="Cambria Math" panose="02040503050406030204" pitchFamily="18" charset="0"/>
                            </a:rPr>
                          </m:ctrlPr>
                        </m:mPr>
                        <m:mr>
                          <m:e>
                            <m:eqArr>
                              <m:eqArrPr>
                                <m:ctrlPr>
                                  <a:rPr lang="es-MX" sz="1600" b="1" i="1">
                                    <a:latin typeface="Cambria Math" panose="02040503050406030204" pitchFamily="18" charset="0"/>
                                  </a:rPr>
                                </m:ctrlPr>
                              </m:eqArrPr>
                              <m:e>
                                <m:r>
                                  <a:rPr lang="es-MX" sz="1600" b="1" i="1">
                                    <a:latin typeface="Cambria Math" panose="02040503050406030204" pitchFamily="18" charset="0"/>
                                  </a:rPr>
                                  <m:t>𝑨</m:t>
                                </m:r>
                                <m:r>
                                  <a:rPr lang="es-MX" sz="1600" b="1" i="1" smtClean="0">
                                    <a:latin typeface="Cambria Math" panose="02040503050406030204" pitchFamily="18" charset="0"/>
                                  </a:rPr>
                                  <m:t> </m:t>
                                </m:r>
                                <m:r>
                                  <a:rPr lang="es-MX" sz="1600" b="1" i="1">
                                    <a:latin typeface="Cambria Math" panose="02040503050406030204" pitchFamily="18" charset="0"/>
                                    <a:ea typeface="Cambria Math" panose="02040503050406030204" pitchFamily="18" charset="0"/>
                                  </a:rPr>
                                  <m:t>≡</m:t>
                                </m:r>
                                <m:sSub>
                                  <m:sSubPr>
                                    <m:ctrlPr>
                                      <a:rPr lang="es-MX" sz="1600" b="1" i="1" smtClean="0">
                                        <a:solidFill>
                                          <a:schemeClr val="bg1">
                                            <a:lumMod val="50000"/>
                                          </a:schemeClr>
                                        </a:solidFill>
                                        <a:latin typeface="Cambria Math" panose="02040503050406030204" pitchFamily="18" charset="0"/>
                                        <a:ea typeface="Cambria Math" panose="02040503050406030204" pitchFamily="18" charset="0"/>
                                      </a:rPr>
                                    </m:ctrlPr>
                                  </m:sSubPr>
                                  <m:e>
                                    <m:r>
                                      <a:rPr lang="es-MX" sz="1600" b="1" i="1">
                                        <a:solidFill>
                                          <a:schemeClr val="bg1">
                                            <a:lumMod val="50000"/>
                                          </a:schemeClr>
                                        </a:solidFill>
                                        <a:latin typeface="Cambria Math" panose="02040503050406030204" pitchFamily="18" charset="0"/>
                                        <a:ea typeface="Cambria Math" panose="02040503050406030204" pitchFamily="18" charset="0"/>
                                      </a:rPr>
                                      <m:t>𝑨</m:t>
                                    </m:r>
                                  </m:e>
                                  <m:sub>
                                    <m:r>
                                      <a:rPr lang="es-MX" sz="1600" b="1" i="1">
                                        <a:solidFill>
                                          <a:schemeClr val="bg1">
                                            <a:lumMod val="50000"/>
                                          </a:schemeClr>
                                        </a:solidFill>
                                        <a:latin typeface="Cambria Math" panose="02040503050406030204" pitchFamily="18" charset="0"/>
                                        <a:ea typeface="Cambria Math" panose="02040503050406030204" pitchFamily="18" charset="0"/>
                                      </a:rPr>
                                      <m:t>𝟏</m:t>
                                    </m:r>
                                  </m:sub>
                                </m:sSub>
                              </m:e>
                              <m:e>
                                <m:r>
                                  <a:rPr lang="es-MX" sz="1600" b="1" i="1" smtClean="0">
                                    <a:latin typeface="Cambria Math" panose="02040503050406030204" pitchFamily="18" charset="0"/>
                                  </a:rPr>
                                  <m:t>     </m:t>
                                </m:r>
                                <m:r>
                                  <a:rPr lang="es-MX" sz="1600" b="1" i="1">
                                    <a:latin typeface="Cambria Math" panose="02040503050406030204" pitchFamily="18" charset="0"/>
                                    <a:ea typeface="Cambria Math" panose="02040503050406030204" pitchFamily="18" charset="0"/>
                                  </a:rPr>
                                  <m:t>≡</m:t>
                                </m:r>
                                <m:sSub>
                                  <m:sSubPr>
                                    <m:ctrlPr>
                                      <a:rPr lang="es-MX" sz="1600" b="1" i="1" smtClean="0">
                                        <a:solidFill>
                                          <a:schemeClr val="bg1">
                                            <a:lumMod val="50000"/>
                                          </a:schemeClr>
                                        </a:solidFill>
                                        <a:latin typeface="Cambria Math" panose="02040503050406030204" pitchFamily="18" charset="0"/>
                                        <a:ea typeface="Cambria Math" panose="02040503050406030204" pitchFamily="18" charset="0"/>
                                      </a:rPr>
                                    </m:ctrlPr>
                                  </m:sSubPr>
                                  <m:e>
                                    <m:r>
                                      <a:rPr lang="es-MX" sz="1600" b="1" i="1">
                                        <a:solidFill>
                                          <a:schemeClr val="bg1">
                                            <a:lumMod val="50000"/>
                                          </a:schemeClr>
                                        </a:solidFill>
                                        <a:latin typeface="Cambria Math" panose="02040503050406030204" pitchFamily="18" charset="0"/>
                                        <a:ea typeface="Cambria Math" panose="02040503050406030204" pitchFamily="18" charset="0"/>
                                      </a:rPr>
                                      <m:t>𝑨</m:t>
                                    </m:r>
                                  </m:e>
                                  <m:sub>
                                    <m:r>
                                      <a:rPr lang="es-MX" sz="1600" b="1" i="1">
                                        <a:solidFill>
                                          <a:schemeClr val="bg1">
                                            <a:lumMod val="50000"/>
                                          </a:schemeClr>
                                        </a:solidFill>
                                        <a:latin typeface="Cambria Math" panose="02040503050406030204" pitchFamily="18" charset="0"/>
                                        <a:ea typeface="Cambria Math" panose="02040503050406030204" pitchFamily="18" charset="0"/>
                                      </a:rPr>
                                      <m:t>𝟏</m:t>
                                    </m:r>
                                  </m:sub>
                                </m:sSub>
                              </m:e>
                            </m:eqArr>
                          </m:e>
                        </m:mr>
                        <m:mr>
                          <m:e>
                            <m:r>
                              <a:rPr lang="es-MX" sz="1600" b="1" i="1" smtClean="0">
                                <a:solidFill>
                                  <a:schemeClr val="bg1">
                                    <a:lumMod val="50000"/>
                                  </a:schemeClr>
                                </a:solidFill>
                                <a:latin typeface="Cambria Math" panose="02040503050406030204" pitchFamily="18" charset="0"/>
                                <a:ea typeface="Cambria Math" panose="02040503050406030204" pitchFamily="18" charset="0"/>
                              </a:rPr>
                              <m:t>⋮</m:t>
                            </m:r>
                          </m:e>
                        </m:mr>
                        <m:mr>
                          <m:e>
                            <m:r>
                              <a:rPr lang="es-MX" sz="1600" b="1" i="1" smtClean="0">
                                <a:solidFill>
                                  <a:schemeClr val="bg1">
                                    <a:lumMod val="50000"/>
                                  </a:schemeClr>
                                </a:solidFill>
                                <a:latin typeface="Cambria Math" panose="02040503050406030204" pitchFamily="18" charset="0"/>
                                <a:ea typeface="Cambria Math" panose="02040503050406030204" pitchFamily="18" charset="0"/>
                              </a:rPr>
                              <m:t>   </m:t>
                            </m:r>
                            <m:r>
                              <a:rPr lang="es-MX" sz="1600" b="1" i="1">
                                <a:latin typeface="Cambria Math" panose="02040503050406030204" pitchFamily="18" charset="0"/>
                                <a:ea typeface="Cambria Math" panose="02040503050406030204" pitchFamily="18" charset="0"/>
                              </a:rPr>
                              <m:t>≡</m:t>
                            </m:r>
                            <m:r>
                              <a:rPr lang="es-MX" sz="1600" b="1" i="1">
                                <a:latin typeface="Cambria Math" panose="02040503050406030204" pitchFamily="18" charset="0"/>
                                <a:ea typeface="Cambria Math" panose="02040503050406030204" pitchFamily="18" charset="0"/>
                              </a:rPr>
                              <m:t>𝑩</m:t>
                            </m:r>
                          </m:e>
                        </m:mr>
                      </m:m>
                    </m:oMath>
                  </m:oMathPara>
                </a14:m>
                <a:endParaRPr lang="es-CO" sz="1600" dirty="0"/>
              </a:p>
            </p:txBody>
          </p:sp>
        </mc:Choice>
        <mc:Fallback>
          <p:sp>
            <p:nvSpPr>
              <p:cNvPr id="17" name="CuadroTexto 16">
                <a:extLst>
                  <a:ext uri="{FF2B5EF4-FFF2-40B4-BE49-F238E27FC236}">
                    <a16:creationId xmlns:a16="http://schemas.microsoft.com/office/drawing/2014/main" id="{B2AE7C7F-720A-4B7B-9E19-4BEC8AA5AF5F}"/>
                  </a:ext>
                </a:extLst>
              </p:cNvPr>
              <p:cNvSpPr txBox="1">
                <a:spLocks noRot="1" noChangeAspect="1" noMove="1" noResize="1" noEditPoints="1" noAdjustHandles="1" noChangeArrowheads="1" noChangeShapeType="1" noTextEdit="1"/>
              </p:cNvSpPr>
              <p:nvPr/>
            </p:nvSpPr>
            <p:spPr>
              <a:xfrm>
                <a:off x="1550124" y="4711819"/>
                <a:ext cx="730072" cy="891141"/>
              </a:xfrm>
              <a:prstGeom prst="rect">
                <a:avLst/>
              </a:prstGeom>
              <a:blipFill>
                <a:blip r:embed="rId3"/>
                <a:stretch>
                  <a:fillRect/>
                </a:stretch>
              </a:blipFill>
            </p:spPr>
            <p:txBody>
              <a:bodyPr/>
              <a:lstStyle/>
              <a:p>
                <a:r>
                  <a:rPr lang="es-CO">
                    <a:noFill/>
                  </a:rPr>
                  <a:t> </a:t>
                </a:r>
              </a:p>
            </p:txBody>
          </p:sp>
        </mc:Fallback>
      </mc:AlternateContent>
      <p:sp>
        <p:nvSpPr>
          <p:cNvPr id="18" name="CuadroTexto 17">
            <a:extLst>
              <a:ext uri="{FF2B5EF4-FFF2-40B4-BE49-F238E27FC236}">
                <a16:creationId xmlns:a16="http://schemas.microsoft.com/office/drawing/2014/main" id="{7075DC26-43EB-48D3-B1DF-367538A6AC44}"/>
              </a:ext>
            </a:extLst>
          </p:cNvPr>
          <p:cNvSpPr txBox="1"/>
          <p:nvPr/>
        </p:nvSpPr>
        <p:spPr>
          <a:xfrm>
            <a:off x="558826" y="3643730"/>
            <a:ext cx="2918664" cy="830997"/>
          </a:xfrm>
          <a:prstGeom prst="rect">
            <a:avLst/>
          </a:prstGeom>
          <a:noFill/>
        </p:spPr>
        <p:txBody>
          <a:bodyPr wrap="square">
            <a:spAutoFit/>
          </a:bodyPr>
          <a:lstStyle/>
          <a:p>
            <a:r>
              <a:rPr lang="es-MX" sz="2400" b="1" dirty="0">
                <a:solidFill>
                  <a:schemeClr val="accent2"/>
                </a:solidFill>
                <a:ea typeface="Roboto" panose="02000000000000000000" pitchFamily="2" charset="0"/>
              </a:rPr>
              <a:t>Construcción de equivalencias lógicas</a:t>
            </a:r>
            <a:endParaRPr lang="es-CO" sz="2400" b="1" dirty="0">
              <a:solidFill>
                <a:schemeClr val="accent2"/>
              </a:solidFill>
            </a:endParaRPr>
          </a:p>
        </p:txBody>
      </p:sp>
      <p:sp>
        <p:nvSpPr>
          <p:cNvPr id="19" name="CuadroTexto 18">
            <a:extLst>
              <a:ext uri="{FF2B5EF4-FFF2-40B4-BE49-F238E27FC236}">
                <a16:creationId xmlns:a16="http://schemas.microsoft.com/office/drawing/2014/main" id="{C8137D60-1D77-4A06-87FE-EFA5D72FA8A8}"/>
              </a:ext>
            </a:extLst>
          </p:cNvPr>
          <p:cNvSpPr txBox="1"/>
          <p:nvPr/>
        </p:nvSpPr>
        <p:spPr>
          <a:xfrm>
            <a:off x="573854" y="1700610"/>
            <a:ext cx="2727094" cy="461665"/>
          </a:xfrm>
          <a:prstGeom prst="rect">
            <a:avLst/>
          </a:prstGeom>
          <a:noFill/>
        </p:spPr>
        <p:txBody>
          <a:bodyPr wrap="square">
            <a:spAutoFit/>
          </a:bodyPr>
          <a:lstStyle/>
          <a:p>
            <a:r>
              <a:rPr lang="es-MX" sz="2400" b="1" dirty="0">
                <a:solidFill>
                  <a:schemeClr val="accent2"/>
                </a:solidFill>
                <a:ea typeface="Roboto" panose="02000000000000000000" pitchFamily="2" charset="0"/>
              </a:rPr>
              <a:t>Equivalencia lógica</a:t>
            </a:r>
            <a:endParaRPr lang="es-CO" sz="2400" b="1" dirty="0">
              <a:solidFill>
                <a:schemeClr val="accent2"/>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040C416C-830C-48D2-B138-A448E2A9E9C5}"/>
                  </a:ext>
                </a:extLst>
              </p:cNvPr>
              <p:cNvSpPr txBox="1"/>
              <p:nvPr/>
            </p:nvSpPr>
            <p:spPr>
              <a:xfrm>
                <a:off x="1082902" y="2222956"/>
                <a:ext cx="2394588" cy="1077218"/>
              </a:xfrm>
              <a:prstGeom prst="rect">
                <a:avLst/>
              </a:prstGeom>
              <a:noFill/>
            </p:spPr>
            <p:txBody>
              <a:bodyPr wrap="square">
                <a:spAutoFit/>
              </a:bodyPr>
              <a:lstStyle/>
              <a:p>
                <a:r>
                  <a:rPr lang="es-MX" sz="1600" dirty="0">
                    <a:latin typeface="Roboto" panose="02000000000000000000" pitchFamily="2" charset="0"/>
                    <a:ea typeface="Roboto" panose="02000000000000000000" pitchFamily="2" charset="0"/>
                  </a:rPr>
                  <a:t>Dos proposiciones compuestas </a:t>
                </a:r>
                <a14:m>
                  <m:oMath xmlns:m="http://schemas.openxmlformats.org/officeDocument/2006/math">
                    <m:r>
                      <a:rPr lang="es-MX" sz="1600" b="1" i="1">
                        <a:latin typeface="Cambria Math" panose="02040503050406030204" pitchFamily="18" charset="0"/>
                        <a:ea typeface="Roboto" panose="02000000000000000000" pitchFamily="2" charset="0"/>
                      </a:rPr>
                      <m:t>𝒑</m:t>
                    </m:r>
                  </m:oMath>
                </a14:m>
                <a:r>
                  <a:rPr lang="es-MX" sz="1600" dirty="0">
                    <a:latin typeface="Roboto" panose="02000000000000000000" pitchFamily="2" charset="0"/>
                    <a:ea typeface="Roboto" panose="02000000000000000000" pitchFamily="2" charset="0"/>
                  </a:rPr>
                  <a:t> y </a:t>
                </a:r>
                <a14:m>
                  <m:oMath xmlns:m="http://schemas.openxmlformats.org/officeDocument/2006/math">
                    <m:r>
                      <a:rPr lang="es-MX" sz="1600" b="1" i="1">
                        <a:latin typeface="Cambria Math" panose="02040503050406030204" pitchFamily="18" charset="0"/>
                        <a:ea typeface="Roboto" panose="02000000000000000000" pitchFamily="2" charset="0"/>
                      </a:rPr>
                      <m:t>𝒒</m:t>
                    </m:r>
                  </m:oMath>
                </a14:m>
                <a:r>
                  <a:rPr lang="es-MX" sz="1600" dirty="0">
                    <a:latin typeface="Roboto" panose="02000000000000000000" pitchFamily="2" charset="0"/>
                    <a:ea typeface="Roboto" panose="02000000000000000000" pitchFamily="2" charset="0"/>
                  </a:rPr>
                  <a:t> son equivalentes si </a:t>
                </a:r>
                <a14:m>
                  <m:oMath xmlns:m="http://schemas.openxmlformats.org/officeDocument/2006/math">
                    <m:r>
                      <a:rPr lang="es-MX" sz="1600" b="1" i="1" smtClean="0">
                        <a:latin typeface="Cambria Math" panose="02040503050406030204" pitchFamily="18" charset="0"/>
                        <a:ea typeface="Roboto" panose="02000000000000000000" pitchFamily="2" charset="0"/>
                      </a:rPr>
                      <m:t>𝒑</m:t>
                    </m:r>
                    <m:r>
                      <a:rPr lang="es-MX" sz="1600" b="1"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𝒒</m:t>
                    </m:r>
                  </m:oMath>
                </a14:m>
                <a:r>
                  <a:rPr lang="es-MX" sz="1600" dirty="0">
                    <a:latin typeface="Roboto" panose="02000000000000000000" pitchFamily="2" charset="0"/>
                    <a:ea typeface="Roboto" panose="02000000000000000000" pitchFamily="2" charset="0"/>
                  </a:rPr>
                  <a:t> es una tautología.</a:t>
                </a:r>
                <a:endParaRPr lang="es-CO" sz="1600" dirty="0"/>
              </a:p>
            </p:txBody>
          </p:sp>
        </mc:Choice>
        <mc:Fallback xmlns="">
          <p:sp>
            <p:nvSpPr>
              <p:cNvPr id="20" name="CuadroTexto 19">
                <a:extLst>
                  <a:ext uri="{FF2B5EF4-FFF2-40B4-BE49-F238E27FC236}">
                    <a16:creationId xmlns:a16="http://schemas.microsoft.com/office/drawing/2014/main" id="{040C416C-830C-48D2-B138-A448E2A9E9C5}"/>
                  </a:ext>
                </a:extLst>
              </p:cNvPr>
              <p:cNvSpPr txBox="1">
                <a:spLocks noRot="1" noChangeAspect="1" noMove="1" noResize="1" noEditPoints="1" noAdjustHandles="1" noChangeArrowheads="1" noChangeShapeType="1" noTextEdit="1"/>
              </p:cNvSpPr>
              <p:nvPr/>
            </p:nvSpPr>
            <p:spPr>
              <a:xfrm>
                <a:off x="1082902" y="2222956"/>
                <a:ext cx="2394588" cy="1077218"/>
              </a:xfrm>
              <a:prstGeom prst="rect">
                <a:avLst/>
              </a:prstGeom>
              <a:blipFill>
                <a:blip r:embed="rId5"/>
                <a:stretch>
                  <a:fillRect l="-1531" t="-1705" b="-6818"/>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11" name="Tabla 3">
                <a:extLst>
                  <a:ext uri="{FF2B5EF4-FFF2-40B4-BE49-F238E27FC236}">
                    <a16:creationId xmlns:a16="http://schemas.microsoft.com/office/drawing/2014/main" id="{41FCC5A7-D025-45C2-9EF8-E71369C29865}"/>
                  </a:ext>
                </a:extLst>
              </p:cNvPr>
              <p:cNvGraphicFramePr>
                <a:graphicFrameLocks noGrp="1"/>
              </p:cNvGraphicFramePr>
              <p:nvPr>
                <p:extLst>
                  <p:ext uri="{D42A27DB-BD31-4B8C-83A1-F6EECF244321}">
                    <p14:modId xmlns:p14="http://schemas.microsoft.com/office/powerpoint/2010/main" val="3636634331"/>
                  </p:ext>
                </p:extLst>
              </p:nvPr>
            </p:nvGraphicFramePr>
            <p:xfrm>
              <a:off x="3877187" y="1736052"/>
              <a:ext cx="8127999" cy="4297680"/>
            </p:xfrm>
            <a:graphic>
              <a:graphicData uri="http://schemas.openxmlformats.org/drawingml/2006/table">
                <a:tbl>
                  <a:tblPr firstRow="1" bandRow="1">
                    <a:tableStyleId>{AD6A3598-7CB8-4345-8D95-17CE05F158A0}</a:tableStyleId>
                  </a:tblPr>
                  <a:tblGrid>
                    <a:gridCol w="2049465">
                      <a:extLst>
                        <a:ext uri="{9D8B030D-6E8A-4147-A177-3AD203B41FA5}">
                          <a16:colId xmlns:a16="http://schemas.microsoft.com/office/drawing/2014/main" val="2419793140"/>
                        </a:ext>
                      </a:extLst>
                    </a:gridCol>
                    <a:gridCol w="3014662">
                      <a:extLst>
                        <a:ext uri="{9D8B030D-6E8A-4147-A177-3AD203B41FA5}">
                          <a16:colId xmlns:a16="http://schemas.microsoft.com/office/drawing/2014/main" val="2761119023"/>
                        </a:ext>
                      </a:extLst>
                    </a:gridCol>
                    <a:gridCol w="3063872">
                      <a:extLst>
                        <a:ext uri="{9D8B030D-6E8A-4147-A177-3AD203B41FA5}">
                          <a16:colId xmlns:a16="http://schemas.microsoft.com/office/drawing/2014/main" val="3891570482"/>
                        </a:ext>
                      </a:extLst>
                    </a:gridCol>
                  </a:tblGrid>
                  <a:tr h="213585">
                    <a:tc>
                      <a:txBody>
                        <a:bodyPr/>
                        <a:lstStyle/>
                        <a:p>
                          <a:r>
                            <a:rPr lang="es-CO" sz="1600" b="1" dirty="0">
                              <a:latin typeface="Roboto" panose="02000000000000000000" pitchFamily="2" charset="0"/>
                              <a:ea typeface="Roboto" panose="02000000000000000000" pitchFamily="2" charset="0"/>
                            </a:rPr>
                            <a:t>Nombre</a:t>
                          </a:r>
                        </a:p>
                      </a:txBody>
                      <a:tcPr/>
                    </a:tc>
                    <a:tc gridSpan="2">
                      <a:txBody>
                        <a:bodyPr/>
                        <a:lstStyle/>
                        <a:p>
                          <a:pPr algn="ctr"/>
                          <a:r>
                            <a:rPr lang="es-CO" sz="1600" b="1" dirty="0">
                              <a:latin typeface="Roboto" panose="02000000000000000000" pitchFamily="2" charset="0"/>
                              <a:ea typeface="Roboto" panose="02000000000000000000" pitchFamily="2" charset="0"/>
                            </a:rPr>
                            <a:t>Equivalencia lógica</a:t>
                          </a:r>
                        </a:p>
                      </a:txBody>
                      <a:tcPr/>
                    </a:tc>
                    <a:tc hMerge="1">
                      <a:txBody>
                        <a:bodyPr/>
                        <a:lstStyle/>
                        <a:p>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624526593"/>
                      </a:ext>
                    </a:extLst>
                  </a:tr>
                  <a:tr h="213585">
                    <a:tc>
                      <a:txBody>
                        <a:bodyPr/>
                        <a:lstStyle/>
                        <a:p>
                          <a:r>
                            <a:rPr lang="es-CO" sz="1400" b="1" dirty="0">
                              <a:latin typeface="Roboto" panose="02000000000000000000" pitchFamily="2" charset="0"/>
                              <a:ea typeface="Roboto" panose="02000000000000000000" pitchFamily="2" charset="0"/>
                            </a:rPr>
                            <a:t>Conmutatividad</a:t>
                          </a: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213585">
                    <a:tc>
                      <a:txBody>
                        <a:bodyPr/>
                        <a:lstStyle/>
                        <a:p>
                          <a:r>
                            <a:rPr lang="es-CO" sz="1400" b="1" dirty="0">
                              <a:latin typeface="Roboto" panose="02000000000000000000" pitchFamily="2" charset="0"/>
                              <a:ea typeface="Roboto" panose="02000000000000000000" pitchFamily="2" charset="0"/>
                            </a:rPr>
                            <a:t>Asociatividad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213585">
                    <a:tc>
                      <a:txBody>
                        <a:bodyPr/>
                        <a:lstStyle/>
                        <a:p>
                          <a:r>
                            <a:rPr lang="es-CO" sz="1400" b="1" dirty="0">
                              <a:latin typeface="Roboto" panose="02000000000000000000" pitchFamily="2" charset="0"/>
                              <a:ea typeface="Roboto" panose="02000000000000000000" pitchFamily="2" charset="0"/>
                            </a:rPr>
                            <a:t>Distributividad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213585">
                    <a:tc>
                      <a:txBody>
                        <a:bodyPr/>
                        <a:lstStyle/>
                        <a:p>
                          <a:r>
                            <a:rPr lang="es-CO" sz="1400" b="1" dirty="0">
                              <a:latin typeface="Roboto" panose="02000000000000000000" pitchFamily="2" charset="0"/>
                              <a:ea typeface="Roboto" panose="02000000000000000000" pitchFamily="2" charset="0"/>
                            </a:rPr>
                            <a:t>Idempotencia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213585">
                    <a:tc>
                      <a:txBody>
                        <a:bodyPr/>
                        <a:lstStyle/>
                        <a:p>
                          <a:r>
                            <a:rPr lang="es-CO" sz="1400" b="1" dirty="0">
                              <a:latin typeface="Roboto" panose="02000000000000000000" pitchFamily="2" charset="0"/>
                              <a:ea typeface="Roboto" panose="02000000000000000000" pitchFamily="2" charset="0"/>
                            </a:rPr>
                            <a:t>Doble negación</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88149062"/>
                      </a:ext>
                    </a:extLst>
                  </a:tr>
                  <a:tr h="213585">
                    <a:tc>
                      <a:txBody>
                        <a:bodyPr/>
                        <a:lstStyle/>
                        <a:p>
                          <a:r>
                            <a:rPr lang="es-CO" sz="1400" b="1" dirty="0">
                              <a:latin typeface="Roboto" panose="02000000000000000000" pitchFamily="2" charset="0"/>
                              <a:ea typeface="Roboto" panose="02000000000000000000" pitchFamily="2" charset="0"/>
                            </a:rPr>
                            <a:t>Leyes de Morgan</a:t>
                          </a: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228517">
                    <a:tc>
                      <a:txBody>
                        <a:bodyPr/>
                        <a:lstStyle/>
                        <a:p>
                          <a:r>
                            <a:rPr lang="es-CO" sz="1400" b="1" dirty="0">
                              <a:latin typeface="Roboto" panose="02000000000000000000" pitchFamily="2" charset="0"/>
                              <a:ea typeface="Roboto" panose="02000000000000000000" pitchFamily="2" charset="0"/>
                            </a:rPr>
                            <a:t>Identidad</a:t>
                          </a: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213585">
                    <a:tc>
                      <a:txBody>
                        <a:bodyPr/>
                        <a:lstStyle/>
                        <a:p>
                          <a:r>
                            <a:rPr lang="es-CO" sz="1400" b="1" dirty="0">
                              <a:latin typeface="Roboto" panose="02000000000000000000" pitchFamily="2" charset="0"/>
                              <a:ea typeface="Roboto" panose="02000000000000000000" pitchFamily="2" charset="0"/>
                            </a:rPr>
                            <a:t>Dominación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213585">
                    <a:tc>
                      <a:txBody>
                        <a:bodyPr/>
                        <a:lstStyle/>
                        <a:p>
                          <a:r>
                            <a:rPr lang="es-CO" sz="1400" b="1" dirty="0">
                              <a:latin typeface="Roboto" panose="02000000000000000000" pitchFamily="2" charset="0"/>
                              <a:ea typeface="Roboto" panose="02000000000000000000" pitchFamily="2" charset="0"/>
                            </a:rPr>
                            <a:t>Absorción</a:t>
                          </a: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213585">
                    <a:tc>
                      <a:txBody>
                        <a:bodyPr/>
                        <a:lstStyle/>
                        <a:p>
                          <a:r>
                            <a:rPr lang="es-CO" sz="1400" b="1" dirty="0">
                              <a:latin typeface="Roboto" panose="02000000000000000000" pitchFamily="2" charset="0"/>
                              <a:ea typeface="Roboto" panose="02000000000000000000" pitchFamily="2" charset="0"/>
                            </a:rPr>
                            <a:t>Complemento</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oMath>
                            </m:oMathPara>
                          </a14:m>
                          <a:endParaRPr lang="es-CO" sz="140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oMath>
                            </m:oMathPara>
                          </a14:m>
                          <a:endParaRPr lang="es-CO" sz="14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213585">
                    <a:tc>
                      <a:txBody>
                        <a:bodyPr/>
                        <a:lstStyle/>
                        <a:p>
                          <a:r>
                            <a:rPr lang="es-CO" sz="1400" b="1" dirty="0">
                              <a:latin typeface="Roboto" panose="02000000000000000000" pitchFamily="2" charset="0"/>
                              <a:ea typeface="Roboto" panose="02000000000000000000" pitchFamily="2" charset="0"/>
                            </a:rPr>
                            <a:t>Implicación</a:t>
                          </a:r>
                        </a:p>
                      </a:txBody>
                      <a:tcPr/>
                    </a:tc>
                    <a:tc gridSpan="2">
                      <a:txBody>
                        <a:bodyPr/>
                        <a:lstStyle/>
                        <a:p>
                          <a:pPr algn="ct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oMath>
                            </m:oMathPara>
                          </a14:m>
                          <a:endParaRPr lang="es-CO" sz="1400" dirty="0">
                            <a:latin typeface="Roboto" panose="02000000000000000000" pitchFamily="2" charset="0"/>
                            <a:ea typeface="Roboto" panose="02000000000000000000" pitchFamily="2" charset="0"/>
                          </a:endParaRPr>
                        </a:p>
                      </a:txBody>
                      <a:tcPr/>
                    </a:tc>
                    <a:tc hMerge="1">
                      <a:txBody>
                        <a:bodyPr/>
                        <a:lstStyle/>
                        <a:p>
                          <a:pPr algn="ctr"/>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483938044"/>
                      </a:ext>
                    </a:extLst>
                  </a:tr>
                  <a:tr h="213585">
                    <a:tc>
                      <a:txBody>
                        <a:bodyPr/>
                        <a:lstStyle/>
                        <a:p>
                          <a:r>
                            <a:rPr lang="es-CO" sz="1400" b="1" dirty="0">
                              <a:latin typeface="Roboto" panose="02000000000000000000" pitchFamily="2" charset="0"/>
                              <a:ea typeface="Roboto" panose="02000000000000000000" pitchFamily="2" charset="0"/>
                            </a:rPr>
                            <a:t>Contrarrecíproco</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255506134"/>
                      </a:ext>
                    </a:extLst>
                  </a:tr>
                  <a:tr h="213585">
                    <a:tc>
                      <a:txBody>
                        <a:bodyPr/>
                        <a:lstStyle/>
                        <a:p>
                          <a:r>
                            <a:rPr lang="es-CO" sz="1400" b="1" dirty="0">
                              <a:latin typeface="Roboto" panose="02000000000000000000" pitchFamily="2" charset="0"/>
                              <a:ea typeface="Roboto" panose="02000000000000000000" pitchFamily="2" charset="0"/>
                            </a:rPr>
                            <a:t>Equivalencia</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e>
                                </m:d>
                              </m:oMath>
                            </m:oMathPara>
                          </a14:m>
                          <a:endParaRPr lang="es-CO" sz="1400" dirty="0">
                            <a:latin typeface="Roboto" panose="02000000000000000000" pitchFamily="2" charset="0"/>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0457137"/>
                      </a:ext>
                    </a:extLst>
                  </a:tr>
                </a:tbl>
              </a:graphicData>
            </a:graphic>
          </p:graphicFrame>
        </mc:Choice>
        <mc:Fallback>
          <p:graphicFrame>
            <p:nvGraphicFramePr>
              <p:cNvPr id="11" name="Tabla 3">
                <a:extLst>
                  <a:ext uri="{FF2B5EF4-FFF2-40B4-BE49-F238E27FC236}">
                    <a16:creationId xmlns:a16="http://schemas.microsoft.com/office/drawing/2014/main" id="{41FCC5A7-D025-45C2-9EF8-E71369C29865}"/>
                  </a:ext>
                </a:extLst>
              </p:cNvPr>
              <p:cNvGraphicFramePr>
                <a:graphicFrameLocks noGrp="1"/>
              </p:cNvGraphicFramePr>
              <p:nvPr>
                <p:extLst>
                  <p:ext uri="{D42A27DB-BD31-4B8C-83A1-F6EECF244321}">
                    <p14:modId xmlns:p14="http://schemas.microsoft.com/office/powerpoint/2010/main" val="3636634331"/>
                  </p:ext>
                </p:extLst>
              </p:nvPr>
            </p:nvGraphicFramePr>
            <p:xfrm>
              <a:off x="3877187" y="1736052"/>
              <a:ext cx="8127999" cy="4297680"/>
            </p:xfrm>
            <a:graphic>
              <a:graphicData uri="http://schemas.openxmlformats.org/drawingml/2006/table">
                <a:tbl>
                  <a:tblPr firstRow="1" bandRow="1">
                    <a:tableStyleId>{AD6A3598-7CB8-4345-8D95-17CE05F158A0}</a:tableStyleId>
                  </a:tblPr>
                  <a:tblGrid>
                    <a:gridCol w="2049465">
                      <a:extLst>
                        <a:ext uri="{9D8B030D-6E8A-4147-A177-3AD203B41FA5}">
                          <a16:colId xmlns:a16="http://schemas.microsoft.com/office/drawing/2014/main" val="2419793140"/>
                        </a:ext>
                      </a:extLst>
                    </a:gridCol>
                    <a:gridCol w="3014662">
                      <a:extLst>
                        <a:ext uri="{9D8B030D-6E8A-4147-A177-3AD203B41FA5}">
                          <a16:colId xmlns:a16="http://schemas.microsoft.com/office/drawing/2014/main" val="2761119023"/>
                        </a:ext>
                      </a:extLst>
                    </a:gridCol>
                    <a:gridCol w="3063872">
                      <a:extLst>
                        <a:ext uri="{9D8B030D-6E8A-4147-A177-3AD203B41FA5}">
                          <a16:colId xmlns:a16="http://schemas.microsoft.com/office/drawing/2014/main" val="3891570482"/>
                        </a:ext>
                      </a:extLst>
                    </a:gridCol>
                  </a:tblGrid>
                  <a:tr h="335280">
                    <a:tc>
                      <a:txBody>
                        <a:bodyPr/>
                        <a:lstStyle/>
                        <a:p>
                          <a:r>
                            <a:rPr lang="es-CO" sz="1600" b="1" dirty="0">
                              <a:latin typeface="Roboto" panose="02000000000000000000" pitchFamily="2" charset="0"/>
                              <a:ea typeface="Roboto" panose="02000000000000000000" pitchFamily="2" charset="0"/>
                            </a:rPr>
                            <a:t>Nombre</a:t>
                          </a:r>
                        </a:p>
                      </a:txBody>
                      <a:tcPr/>
                    </a:tc>
                    <a:tc gridSpan="2">
                      <a:txBody>
                        <a:bodyPr/>
                        <a:lstStyle/>
                        <a:p>
                          <a:pPr algn="ctr"/>
                          <a:r>
                            <a:rPr lang="es-CO" sz="1600" b="1" dirty="0">
                              <a:latin typeface="Roboto" panose="02000000000000000000" pitchFamily="2" charset="0"/>
                              <a:ea typeface="Roboto" panose="02000000000000000000" pitchFamily="2" charset="0"/>
                            </a:rPr>
                            <a:t>Equivalencia lógica</a:t>
                          </a:r>
                        </a:p>
                      </a:txBody>
                      <a:tcPr/>
                    </a:tc>
                    <a:tc hMerge="1">
                      <a:txBody>
                        <a:bodyPr/>
                        <a:lstStyle/>
                        <a:p>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624526593"/>
                      </a:ext>
                    </a:extLst>
                  </a:tr>
                  <a:tr h="304800">
                    <a:tc>
                      <a:txBody>
                        <a:bodyPr/>
                        <a:lstStyle/>
                        <a:p>
                          <a:r>
                            <a:rPr lang="es-CO" sz="1400" b="1" dirty="0">
                              <a:latin typeface="Roboto" panose="02000000000000000000" pitchFamily="2" charset="0"/>
                              <a:ea typeface="Roboto" panose="02000000000000000000" pitchFamily="2" charset="0"/>
                            </a:rPr>
                            <a:t>Conmutatividad</a:t>
                          </a:r>
                        </a:p>
                      </a:txBody>
                      <a:tcPr/>
                    </a:tc>
                    <a:tc>
                      <a:txBody>
                        <a:bodyPr/>
                        <a:lstStyle/>
                        <a:p>
                          <a:endParaRPr lang="es-CO"/>
                        </a:p>
                      </a:txBody>
                      <a:tcPr>
                        <a:blipFill>
                          <a:blip r:embed="rId6"/>
                          <a:stretch>
                            <a:fillRect l="-68081" t="-114000" r="-101818" b="-1222000"/>
                          </a:stretch>
                        </a:blipFill>
                      </a:tcPr>
                    </a:tc>
                    <a:tc>
                      <a:txBody>
                        <a:bodyPr/>
                        <a:lstStyle/>
                        <a:p>
                          <a:endParaRPr lang="es-CO"/>
                        </a:p>
                      </a:txBody>
                      <a:tcPr>
                        <a:blipFill>
                          <a:blip r:embed="rId6"/>
                          <a:stretch>
                            <a:fillRect l="-165408" t="-114000" r="-199" b="-1222000"/>
                          </a:stretch>
                        </a:blipFill>
                      </a:tcPr>
                    </a:tc>
                    <a:extLst>
                      <a:ext uri="{0D108BD9-81ED-4DB2-BD59-A6C34878D82A}">
                        <a16:rowId xmlns:a16="http://schemas.microsoft.com/office/drawing/2014/main" val="3154515760"/>
                      </a:ext>
                    </a:extLst>
                  </a:tr>
                  <a:tr h="304800">
                    <a:tc>
                      <a:txBody>
                        <a:bodyPr/>
                        <a:lstStyle/>
                        <a:p>
                          <a:r>
                            <a:rPr lang="es-CO" sz="1400" b="1" dirty="0">
                              <a:latin typeface="Roboto" panose="02000000000000000000" pitchFamily="2" charset="0"/>
                              <a:ea typeface="Roboto" panose="02000000000000000000" pitchFamily="2" charset="0"/>
                            </a:rPr>
                            <a:t>Asociatividad</a:t>
                          </a:r>
                        </a:p>
                      </a:txBody>
                      <a:tcPr/>
                    </a:tc>
                    <a:tc>
                      <a:txBody>
                        <a:bodyPr/>
                        <a:lstStyle/>
                        <a:p>
                          <a:endParaRPr lang="es-CO"/>
                        </a:p>
                      </a:txBody>
                      <a:tcPr>
                        <a:blipFill>
                          <a:blip r:embed="rId6"/>
                          <a:stretch>
                            <a:fillRect l="-68081" t="-214000" r="-101818" b="-1122000"/>
                          </a:stretch>
                        </a:blipFill>
                      </a:tcPr>
                    </a:tc>
                    <a:tc>
                      <a:txBody>
                        <a:bodyPr/>
                        <a:lstStyle/>
                        <a:p>
                          <a:endParaRPr lang="es-CO"/>
                        </a:p>
                      </a:txBody>
                      <a:tcPr>
                        <a:blipFill>
                          <a:blip r:embed="rId6"/>
                          <a:stretch>
                            <a:fillRect l="-165408" t="-214000" r="-199" b="-1122000"/>
                          </a:stretch>
                        </a:blipFill>
                      </a:tcPr>
                    </a:tc>
                    <a:extLst>
                      <a:ext uri="{0D108BD9-81ED-4DB2-BD59-A6C34878D82A}">
                        <a16:rowId xmlns:a16="http://schemas.microsoft.com/office/drawing/2014/main" val="1913743916"/>
                      </a:ext>
                    </a:extLst>
                  </a:tr>
                  <a:tr h="304800">
                    <a:tc>
                      <a:txBody>
                        <a:bodyPr/>
                        <a:lstStyle/>
                        <a:p>
                          <a:r>
                            <a:rPr lang="es-CO" sz="1400" b="1" dirty="0">
                              <a:latin typeface="Roboto" panose="02000000000000000000" pitchFamily="2" charset="0"/>
                              <a:ea typeface="Roboto" panose="02000000000000000000" pitchFamily="2" charset="0"/>
                            </a:rPr>
                            <a:t>Distributividad</a:t>
                          </a:r>
                        </a:p>
                      </a:txBody>
                      <a:tcPr/>
                    </a:tc>
                    <a:tc>
                      <a:txBody>
                        <a:bodyPr/>
                        <a:lstStyle/>
                        <a:p>
                          <a:endParaRPr lang="es-CO"/>
                        </a:p>
                      </a:txBody>
                      <a:tcPr>
                        <a:blipFill>
                          <a:blip r:embed="rId6"/>
                          <a:stretch>
                            <a:fillRect l="-68081" t="-314000" r="-101818" b="-1022000"/>
                          </a:stretch>
                        </a:blipFill>
                      </a:tcPr>
                    </a:tc>
                    <a:tc>
                      <a:txBody>
                        <a:bodyPr/>
                        <a:lstStyle/>
                        <a:p>
                          <a:endParaRPr lang="es-CO"/>
                        </a:p>
                      </a:txBody>
                      <a:tcPr>
                        <a:blipFill>
                          <a:blip r:embed="rId6"/>
                          <a:stretch>
                            <a:fillRect l="-165408" t="-314000" r="-199" b="-1022000"/>
                          </a:stretch>
                        </a:blipFill>
                      </a:tcPr>
                    </a:tc>
                    <a:extLst>
                      <a:ext uri="{0D108BD9-81ED-4DB2-BD59-A6C34878D82A}">
                        <a16:rowId xmlns:a16="http://schemas.microsoft.com/office/drawing/2014/main" val="717401643"/>
                      </a:ext>
                    </a:extLst>
                  </a:tr>
                  <a:tr h="304800">
                    <a:tc>
                      <a:txBody>
                        <a:bodyPr/>
                        <a:lstStyle/>
                        <a:p>
                          <a:r>
                            <a:rPr lang="es-CO" sz="1400" b="1" dirty="0">
                              <a:latin typeface="Roboto" panose="02000000000000000000" pitchFamily="2" charset="0"/>
                              <a:ea typeface="Roboto" panose="02000000000000000000" pitchFamily="2" charset="0"/>
                            </a:rPr>
                            <a:t>Idempotencia</a:t>
                          </a:r>
                        </a:p>
                      </a:txBody>
                      <a:tcPr/>
                    </a:tc>
                    <a:tc>
                      <a:txBody>
                        <a:bodyPr/>
                        <a:lstStyle/>
                        <a:p>
                          <a:endParaRPr lang="es-CO"/>
                        </a:p>
                      </a:txBody>
                      <a:tcPr>
                        <a:blipFill>
                          <a:blip r:embed="rId6"/>
                          <a:stretch>
                            <a:fillRect l="-68081" t="-414000" r="-101818" b="-922000"/>
                          </a:stretch>
                        </a:blipFill>
                      </a:tcPr>
                    </a:tc>
                    <a:tc>
                      <a:txBody>
                        <a:bodyPr/>
                        <a:lstStyle/>
                        <a:p>
                          <a:endParaRPr lang="es-CO"/>
                        </a:p>
                      </a:txBody>
                      <a:tcPr>
                        <a:blipFill>
                          <a:blip r:embed="rId6"/>
                          <a:stretch>
                            <a:fillRect l="-165408" t="-414000" r="-199" b="-922000"/>
                          </a:stretch>
                        </a:blipFill>
                      </a:tcPr>
                    </a:tc>
                    <a:extLst>
                      <a:ext uri="{0D108BD9-81ED-4DB2-BD59-A6C34878D82A}">
                        <a16:rowId xmlns:a16="http://schemas.microsoft.com/office/drawing/2014/main" val="2246818852"/>
                      </a:ext>
                    </a:extLst>
                  </a:tr>
                  <a:tr h="304800">
                    <a:tc>
                      <a:txBody>
                        <a:bodyPr/>
                        <a:lstStyle/>
                        <a:p>
                          <a:r>
                            <a:rPr lang="es-CO" sz="1400" b="1" dirty="0">
                              <a:latin typeface="Roboto" panose="02000000000000000000" pitchFamily="2" charset="0"/>
                              <a:ea typeface="Roboto" panose="02000000000000000000" pitchFamily="2" charset="0"/>
                            </a:rPr>
                            <a:t>Doble negación</a:t>
                          </a:r>
                        </a:p>
                      </a:txBody>
                      <a:tcPr/>
                    </a:tc>
                    <a:tc gridSpan="2">
                      <a:txBody>
                        <a:bodyPr/>
                        <a:lstStyle/>
                        <a:p>
                          <a:endParaRPr lang="es-CO"/>
                        </a:p>
                      </a:txBody>
                      <a:tcPr>
                        <a:blipFill>
                          <a:blip r:embed="rId6"/>
                          <a:stretch>
                            <a:fillRect l="-33768" t="-514000" r="-100" b="-822000"/>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88149062"/>
                      </a:ext>
                    </a:extLst>
                  </a:tr>
                  <a:tr h="304800">
                    <a:tc>
                      <a:txBody>
                        <a:bodyPr/>
                        <a:lstStyle/>
                        <a:p>
                          <a:r>
                            <a:rPr lang="es-CO" sz="1400" b="1" dirty="0">
                              <a:latin typeface="Roboto" panose="02000000000000000000" pitchFamily="2" charset="0"/>
                              <a:ea typeface="Roboto" panose="02000000000000000000" pitchFamily="2" charset="0"/>
                            </a:rPr>
                            <a:t>Leyes de Morgan</a:t>
                          </a:r>
                        </a:p>
                      </a:txBody>
                      <a:tcPr/>
                    </a:tc>
                    <a:tc>
                      <a:txBody>
                        <a:bodyPr/>
                        <a:lstStyle/>
                        <a:p>
                          <a:endParaRPr lang="es-CO"/>
                        </a:p>
                      </a:txBody>
                      <a:tcPr>
                        <a:blipFill>
                          <a:blip r:embed="rId6"/>
                          <a:stretch>
                            <a:fillRect l="-68081" t="-601961" r="-101818" b="-705882"/>
                          </a:stretch>
                        </a:blipFill>
                      </a:tcPr>
                    </a:tc>
                    <a:tc>
                      <a:txBody>
                        <a:bodyPr/>
                        <a:lstStyle/>
                        <a:p>
                          <a:endParaRPr lang="es-CO"/>
                        </a:p>
                      </a:txBody>
                      <a:tcPr>
                        <a:blipFill>
                          <a:blip r:embed="rId6"/>
                          <a:stretch>
                            <a:fillRect l="-165408" t="-601961" r="-199" b="-705882"/>
                          </a:stretch>
                        </a:blipFill>
                      </a:tcPr>
                    </a:tc>
                    <a:extLst>
                      <a:ext uri="{0D108BD9-81ED-4DB2-BD59-A6C34878D82A}">
                        <a16:rowId xmlns:a16="http://schemas.microsoft.com/office/drawing/2014/main" val="2113060234"/>
                      </a:ext>
                    </a:extLst>
                  </a:tr>
                  <a:tr h="304800">
                    <a:tc>
                      <a:txBody>
                        <a:bodyPr/>
                        <a:lstStyle/>
                        <a:p>
                          <a:r>
                            <a:rPr lang="es-CO" sz="1400" b="1" dirty="0">
                              <a:latin typeface="Roboto" panose="02000000000000000000" pitchFamily="2" charset="0"/>
                              <a:ea typeface="Roboto" panose="02000000000000000000" pitchFamily="2" charset="0"/>
                            </a:rPr>
                            <a:t>Identidad</a:t>
                          </a:r>
                        </a:p>
                      </a:txBody>
                      <a:tcPr/>
                    </a:tc>
                    <a:tc>
                      <a:txBody>
                        <a:bodyPr/>
                        <a:lstStyle/>
                        <a:p>
                          <a:endParaRPr lang="es-CO"/>
                        </a:p>
                      </a:txBody>
                      <a:tcPr>
                        <a:blipFill>
                          <a:blip r:embed="rId6"/>
                          <a:stretch>
                            <a:fillRect l="-68081" t="-716000" r="-101818" b="-620000"/>
                          </a:stretch>
                        </a:blipFill>
                      </a:tcPr>
                    </a:tc>
                    <a:tc>
                      <a:txBody>
                        <a:bodyPr/>
                        <a:lstStyle/>
                        <a:p>
                          <a:endParaRPr lang="es-CO"/>
                        </a:p>
                      </a:txBody>
                      <a:tcPr>
                        <a:blipFill>
                          <a:blip r:embed="rId6"/>
                          <a:stretch>
                            <a:fillRect l="-165408" t="-716000" r="-199" b="-620000"/>
                          </a:stretch>
                        </a:blipFill>
                      </a:tcPr>
                    </a:tc>
                    <a:extLst>
                      <a:ext uri="{0D108BD9-81ED-4DB2-BD59-A6C34878D82A}">
                        <a16:rowId xmlns:a16="http://schemas.microsoft.com/office/drawing/2014/main" val="2494965197"/>
                      </a:ext>
                    </a:extLst>
                  </a:tr>
                  <a:tr h="304800">
                    <a:tc>
                      <a:txBody>
                        <a:bodyPr/>
                        <a:lstStyle/>
                        <a:p>
                          <a:r>
                            <a:rPr lang="es-CO" sz="1400" b="1" dirty="0">
                              <a:latin typeface="Roboto" panose="02000000000000000000" pitchFamily="2" charset="0"/>
                              <a:ea typeface="Roboto" panose="02000000000000000000" pitchFamily="2" charset="0"/>
                            </a:rPr>
                            <a:t>Dominación</a:t>
                          </a:r>
                        </a:p>
                      </a:txBody>
                      <a:tcPr/>
                    </a:tc>
                    <a:tc>
                      <a:txBody>
                        <a:bodyPr/>
                        <a:lstStyle/>
                        <a:p>
                          <a:endParaRPr lang="es-CO"/>
                        </a:p>
                      </a:txBody>
                      <a:tcPr>
                        <a:blipFill>
                          <a:blip r:embed="rId6"/>
                          <a:stretch>
                            <a:fillRect l="-68081" t="-816000" r="-101818" b="-520000"/>
                          </a:stretch>
                        </a:blipFill>
                      </a:tcPr>
                    </a:tc>
                    <a:tc>
                      <a:txBody>
                        <a:bodyPr/>
                        <a:lstStyle/>
                        <a:p>
                          <a:endParaRPr lang="es-CO"/>
                        </a:p>
                      </a:txBody>
                      <a:tcPr>
                        <a:blipFill>
                          <a:blip r:embed="rId6"/>
                          <a:stretch>
                            <a:fillRect l="-165408" t="-816000" r="-199" b="-520000"/>
                          </a:stretch>
                        </a:blipFill>
                      </a:tcPr>
                    </a:tc>
                    <a:extLst>
                      <a:ext uri="{0D108BD9-81ED-4DB2-BD59-A6C34878D82A}">
                        <a16:rowId xmlns:a16="http://schemas.microsoft.com/office/drawing/2014/main" val="707485840"/>
                      </a:ext>
                    </a:extLst>
                  </a:tr>
                  <a:tr h="304800">
                    <a:tc>
                      <a:txBody>
                        <a:bodyPr/>
                        <a:lstStyle/>
                        <a:p>
                          <a:r>
                            <a:rPr lang="es-CO" sz="1400" b="1" dirty="0">
                              <a:latin typeface="Roboto" panose="02000000000000000000" pitchFamily="2" charset="0"/>
                              <a:ea typeface="Roboto" panose="02000000000000000000" pitchFamily="2" charset="0"/>
                            </a:rPr>
                            <a:t>Absorción</a:t>
                          </a:r>
                        </a:p>
                      </a:txBody>
                      <a:tcPr/>
                    </a:tc>
                    <a:tc>
                      <a:txBody>
                        <a:bodyPr/>
                        <a:lstStyle/>
                        <a:p>
                          <a:endParaRPr lang="es-CO"/>
                        </a:p>
                      </a:txBody>
                      <a:tcPr>
                        <a:blipFill>
                          <a:blip r:embed="rId6"/>
                          <a:stretch>
                            <a:fillRect l="-68081" t="-916000" r="-101818" b="-420000"/>
                          </a:stretch>
                        </a:blipFill>
                      </a:tcPr>
                    </a:tc>
                    <a:tc>
                      <a:txBody>
                        <a:bodyPr/>
                        <a:lstStyle/>
                        <a:p>
                          <a:endParaRPr lang="es-CO"/>
                        </a:p>
                      </a:txBody>
                      <a:tcPr>
                        <a:blipFill>
                          <a:blip r:embed="rId6"/>
                          <a:stretch>
                            <a:fillRect l="-165408" t="-916000" r="-199" b="-420000"/>
                          </a:stretch>
                        </a:blipFill>
                      </a:tcPr>
                    </a:tc>
                    <a:extLst>
                      <a:ext uri="{0D108BD9-81ED-4DB2-BD59-A6C34878D82A}">
                        <a16:rowId xmlns:a16="http://schemas.microsoft.com/office/drawing/2014/main" val="1232652958"/>
                      </a:ext>
                    </a:extLst>
                  </a:tr>
                  <a:tr h="304800">
                    <a:tc>
                      <a:txBody>
                        <a:bodyPr/>
                        <a:lstStyle/>
                        <a:p>
                          <a:r>
                            <a:rPr lang="es-CO" sz="1400" b="1" dirty="0">
                              <a:latin typeface="Roboto" panose="02000000000000000000" pitchFamily="2" charset="0"/>
                              <a:ea typeface="Roboto" panose="02000000000000000000" pitchFamily="2" charset="0"/>
                            </a:rPr>
                            <a:t>Complemento</a:t>
                          </a:r>
                        </a:p>
                      </a:txBody>
                      <a:tcPr/>
                    </a:tc>
                    <a:tc>
                      <a:txBody>
                        <a:bodyPr/>
                        <a:lstStyle/>
                        <a:p>
                          <a:endParaRPr lang="es-CO"/>
                        </a:p>
                      </a:txBody>
                      <a:tcPr>
                        <a:blipFill>
                          <a:blip r:embed="rId6"/>
                          <a:stretch>
                            <a:fillRect l="-68081" t="-1016000" r="-101818" b="-320000"/>
                          </a:stretch>
                        </a:blipFill>
                      </a:tcPr>
                    </a:tc>
                    <a:tc>
                      <a:txBody>
                        <a:bodyPr/>
                        <a:lstStyle/>
                        <a:p>
                          <a:endParaRPr lang="es-CO"/>
                        </a:p>
                      </a:txBody>
                      <a:tcPr>
                        <a:blipFill>
                          <a:blip r:embed="rId6"/>
                          <a:stretch>
                            <a:fillRect l="-165408" t="-1016000" r="-199" b="-320000"/>
                          </a:stretch>
                        </a:blipFill>
                      </a:tcPr>
                    </a:tc>
                    <a:extLst>
                      <a:ext uri="{0D108BD9-81ED-4DB2-BD59-A6C34878D82A}">
                        <a16:rowId xmlns:a16="http://schemas.microsoft.com/office/drawing/2014/main" val="3770911309"/>
                      </a:ext>
                    </a:extLst>
                  </a:tr>
                  <a:tr h="304800">
                    <a:tc>
                      <a:txBody>
                        <a:bodyPr/>
                        <a:lstStyle/>
                        <a:p>
                          <a:r>
                            <a:rPr lang="es-CO" sz="1400" b="1" dirty="0">
                              <a:latin typeface="Roboto" panose="02000000000000000000" pitchFamily="2" charset="0"/>
                              <a:ea typeface="Roboto" panose="02000000000000000000" pitchFamily="2" charset="0"/>
                            </a:rPr>
                            <a:t>Implicación</a:t>
                          </a:r>
                        </a:p>
                      </a:txBody>
                      <a:tcPr/>
                    </a:tc>
                    <a:tc gridSpan="2">
                      <a:txBody>
                        <a:bodyPr/>
                        <a:lstStyle/>
                        <a:p>
                          <a:endParaRPr lang="es-CO"/>
                        </a:p>
                      </a:txBody>
                      <a:tcPr>
                        <a:blipFill>
                          <a:blip r:embed="rId6"/>
                          <a:stretch>
                            <a:fillRect l="-33768" t="-1116000" r="-100" b="-220000"/>
                          </a:stretch>
                        </a:blipFill>
                      </a:tcPr>
                    </a:tc>
                    <a:tc hMerge="1">
                      <a:txBody>
                        <a:bodyPr/>
                        <a:lstStyle/>
                        <a:p>
                          <a:pPr algn="ctr"/>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483938044"/>
                      </a:ext>
                    </a:extLst>
                  </a:tr>
                  <a:tr h="304800">
                    <a:tc>
                      <a:txBody>
                        <a:bodyPr/>
                        <a:lstStyle/>
                        <a:p>
                          <a:r>
                            <a:rPr lang="es-CO" sz="1400" b="1" dirty="0">
                              <a:latin typeface="Roboto" panose="02000000000000000000" pitchFamily="2" charset="0"/>
                              <a:ea typeface="Roboto" panose="02000000000000000000" pitchFamily="2" charset="0"/>
                            </a:rPr>
                            <a:t>Contrarrecíproco</a:t>
                          </a:r>
                        </a:p>
                      </a:txBody>
                      <a:tcPr/>
                    </a:tc>
                    <a:tc gridSpan="2">
                      <a:txBody>
                        <a:bodyPr/>
                        <a:lstStyle/>
                        <a:p>
                          <a:endParaRPr lang="es-CO"/>
                        </a:p>
                      </a:txBody>
                      <a:tcPr>
                        <a:blipFill>
                          <a:blip r:embed="rId6"/>
                          <a:stretch>
                            <a:fillRect l="-33768" t="-1216000" r="-100" b="-120000"/>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255506134"/>
                      </a:ext>
                    </a:extLst>
                  </a:tr>
                  <a:tr h="304800">
                    <a:tc>
                      <a:txBody>
                        <a:bodyPr/>
                        <a:lstStyle/>
                        <a:p>
                          <a:r>
                            <a:rPr lang="es-CO" sz="1400" b="1" dirty="0">
                              <a:latin typeface="Roboto" panose="02000000000000000000" pitchFamily="2" charset="0"/>
                              <a:ea typeface="Roboto" panose="02000000000000000000" pitchFamily="2" charset="0"/>
                            </a:rPr>
                            <a:t>Equivalencia</a:t>
                          </a:r>
                        </a:p>
                      </a:txBody>
                      <a:tcPr/>
                    </a:tc>
                    <a:tc gridSpan="2">
                      <a:txBody>
                        <a:bodyPr/>
                        <a:lstStyle/>
                        <a:p>
                          <a:endParaRPr lang="es-CO"/>
                        </a:p>
                      </a:txBody>
                      <a:tcPr>
                        <a:blipFill>
                          <a:blip r:embed="rId6"/>
                          <a:stretch>
                            <a:fillRect l="-33768" t="-1316000" r="-100" b="-20000"/>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0457137"/>
                      </a:ext>
                    </a:extLst>
                  </a:tr>
                </a:tbl>
              </a:graphicData>
            </a:graphic>
          </p:graphicFrame>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864F56FE-0BE7-405D-B6CA-A04D156CCE92}"/>
                  </a:ext>
                </a:extLst>
              </p:cNvPr>
              <p:cNvSpPr txBox="1"/>
              <p:nvPr/>
            </p:nvSpPr>
            <p:spPr>
              <a:xfrm>
                <a:off x="1577250" y="5812462"/>
                <a:ext cx="599715" cy="246221"/>
              </a:xfrm>
              <a:prstGeom prst="rect">
                <a:avLst/>
              </a:prstGeom>
              <a:solidFill>
                <a:schemeClr val="accent6">
                  <a:lumMod val="20000"/>
                  <a:lumOff val="8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rPr>
                        <m:t>𝑨</m:t>
                      </m:r>
                      <m:r>
                        <a:rPr lang="es-MX" sz="1600" b="1"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𝑩</m:t>
                      </m:r>
                    </m:oMath>
                  </m:oMathPara>
                </a14:m>
                <a:endParaRPr lang="es-CO" sz="1600" dirty="0"/>
              </a:p>
            </p:txBody>
          </p:sp>
        </mc:Choice>
        <mc:Fallback>
          <p:sp>
            <p:nvSpPr>
              <p:cNvPr id="9" name="CuadroTexto 8">
                <a:extLst>
                  <a:ext uri="{FF2B5EF4-FFF2-40B4-BE49-F238E27FC236}">
                    <a16:creationId xmlns:a16="http://schemas.microsoft.com/office/drawing/2014/main" id="{864F56FE-0BE7-405D-B6CA-A04D156CCE92}"/>
                  </a:ext>
                </a:extLst>
              </p:cNvPr>
              <p:cNvSpPr txBox="1">
                <a:spLocks noRot="1" noChangeAspect="1" noMove="1" noResize="1" noEditPoints="1" noAdjustHandles="1" noChangeArrowheads="1" noChangeShapeType="1" noTextEdit="1"/>
              </p:cNvSpPr>
              <p:nvPr/>
            </p:nvSpPr>
            <p:spPr>
              <a:xfrm>
                <a:off x="1577250" y="5812462"/>
                <a:ext cx="599715" cy="246221"/>
              </a:xfrm>
              <a:prstGeom prst="rect">
                <a:avLst/>
              </a:prstGeom>
              <a:blipFill>
                <a:blip r:embed="rId7"/>
                <a:stretch>
                  <a:fillRect l="-8163" r="-7143" b="-4878"/>
                </a:stretch>
              </a:blipFill>
            </p:spPr>
            <p:txBody>
              <a:bodyPr/>
              <a:lstStyle/>
              <a:p>
                <a:r>
                  <a:rPr lang="es-CO">
                    <a:noFill/>
                  </a:rPr>
                  <a:t> </a:t>
                </a:r>
              </a:p>
            </p:txBody>
          </p:sp>
        </mc:Fallback>
      </mc:AlternateContent>
    </p:spTree>
    <p:extLst>
      <p:ext uri="{BB962C8B-B14F-4D97-AF65-F5344CB8AC3E}">
        <p14:creationId xmlns:p14="http://schemas.microsoft.com/office/powerpoint/2010/main" val="1802750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226581"/>
            <a:ext cx="10993581" cy="1015664"/>
          </a:xfrm>
        </p:spPr>
        <p:txBody>
          <a:bodyPr/>
          <a:lstStyle/>
          <a:p>
            <a:r>
              <a:rPr lang="es-CO" dirty="0"/>
              <a:t>Demostraciones</a:t>
            </a:r>
          </a:p>
        </p:txBody>
      </p:sp>
      <p:sp>
        <p:nvSpPr>
          <p:cNvPr id="8" name="CuadroTexto 7">
            <a:extLst>
              <a:ext uri="{FF2B5EF4-FFF2-40B4-BE49-F238E27FC236}">
                <a16:creationId xmlns:a16="http://schemas.microsoft.com/office/drawing/2014/main" id="{4AA62499-0A79-4DB4-96F0-1187366C5807}"/>
              </a:ext>
            </a:extLst>
          </p:cNvPr>
          <p:cNvSpPr txBox="1"/>
          <p:nvPr/>
        </p:nvSpPr>
        <p:spPr>
          <a:xfrm>
            <a:off x="360218" y="1122130"/>
            <a:ext cx="11305310" cy="1015663"/>
          </a:xfrm>
          <a:prstGeom prst="rect">
            <a:avLst/>
          </a:prstGeom>
          <a:noFill/>
        </p:spPr>
        <p:txBody>
          <a:bodyPr wrap="square" rtlCol="0">
            <a:spAutoFit/>
          </a:bodyPr>
          <a:lstStyle/>
          <a:p>
            <a:pPr marL="457200" indent="-457200">
              <a:buFont typeface="Arial" panose="020B0604020202020204" pitchFamily="34" charset="0"/>
              <a:buChar char="•"/>
            </a:pPr>
            <a:r>
              <a:rPr lang="es-MX" sz="2000" dirty="0">
                <a:ea typeface="Roboto" panose="02000000000000000000" pitchFamily="2" charset="0"/>
              </a:rPr>
              <a:t>Para nuestro caso, las cosas no cambian demasiado con respecto a lo que ya sabemos. Solo cambia el dominio y las reglas de ese dominio.</a:t>
            </a:r>
          </a:p>
          <a:p>
            <a:pPr marL="457200" indent="-457200">
              <a:buFont typeface="Arial" panose="020B0604020202020204" pitchFamily="34" charset="0"/>
              <a:buChar char="•"/>
            </a:pPr>
            <a:r>
              <a:rPr lang="es-MX" sz="2000" dirty="0">
                <a:ea typeface="Roboto" panose="02000000000000000000" pitchFamily="2" charset="0"/>
              </a:rPr>
              <a:t>Identidades lógicas (Viene a ser el equivalente a nuestra carta magna)</a:t>
            </a:r>
          </a:p>
        </p:txBody>
      </p:sp>
      <p:sp>
        <p:nvSpPr>
          <p:cNvPr id="3" name="CuadroTexto 2">
            <a:extLst>
              <a:ext uri="{FF2B5EF4-FFF2-40B4-BE49-F238E27FC236}">
                <a16:creationId xmlns:a16="http://schemas.microsoft.com/office/drawing/2014/main" id="{BDDBE47A-9E26-4855-BFEC-780A96F342D5}"/>
              </a:ext>
            </a:extLst>
          </p:cNvPr>
          <p:cNvSpPr txBox="1"/>
          <p:nvPr/>
        </p:nvSpPr>
        <p:spPr>
          <a:xfrm>
            <a:off x="5053442" y="3990213"/>
            <a:ext cx="2535382" cy="523220"/>
          </a:xfrm>
          <a:prstGeom prst="rect">
            <a:avLst/>
          </a:prstGeom>
          <a:solidFill>
            <a:schemeClr val="accent6">
              <a:lumMod val="40000"/>
              <a:lumOff val="60000"/>
            </a:schemeClr>
          </a:solidFill>
        </p:spPr>
        <p:txBody>
          <a:bodyPr wrap="square" rtlCol="0">
            <a:spAutoFit/>
          </a:bodyPr>
          <a:lstStyle/>
          <a:p>
            <a:pPr algn="ctr"/>
            <a:r>
              <a:rPr lang="es-CO" sz="2800" b="1" dirty="0"/>
              <a:t>Demostración</a:t>
            </a:r>
          </a:p>
        </p:txBody>
      </p:sp>
      <p:sp>
        <p:nvSpPr>
          <p:cNvPr id="9" name="CuadroTexto 8">
            <a:extLst>
              <a:ext uri="{FF2B5EF4-FFF2-40B4-BE49-F238E27FC236}">
                <a16:creationId xmlns:a16="http://schemas.microsoft.com/office/drawing/2014/main" id="{2C0D18EE-C7E7-4E68-AB4F-6DDC19F3C333}"/>
              </a:ext>
            </a:extLst>
          </p:cNvPr>
          <p:cNvSpPr txBox="1"/>
          <p:nvPr/>
        </p:nvSpPr>
        <p:spPr>
          <a:xfrm>
            <a:off x="8998527" y="3089852"/>
            <a:ext cx="2355272" cy="369332"/>
          </a:xfrm>
          <a:prstGeom prst="rect">
            <a:avLst/>
          </a:prstGeom>
          <a:solidFill>
            <a:schemeClr val="accent1">
              <a:lumMod val="20000"/>
              <a:lumOff val="80000"/>
            </a:schemeClr>
          </a:solidFill>
        </p:spPr>
        <p:txBody>
          <a:bodyPr wrap="square" rtlCol="0">
            <a:spAutoFit/>
          </a:bodyPr>
          <a:lstStyle/>
          <a:p>
            <a:pPr algn="ctr"/>
            <a:r>
              <a:rPr lang="es-CO" b="1" dirty="0"/>
              <a:t>Enfoque Axiomático</a:t>
            </a:r>
          </a:p>
        </p:txBody>
      </p:sp>
      <p:sp>
        <p:nvSpPr>
          <p:cNvPr id="10" name="CuadroTexto 9">
            <a:extLst>
              <a:ext uri="{FF2B5EF4-FFF2-40B4-BE49-F238E27FC236}">
                <a16:creationId xmlns:a16="http://schemas.microsoft.com/office/drawing/2014/main" id="{D56286FF-C217-4120-B681-AAAC4E7D2540}"/>
              </a:ext>
            </a:extLst>
          </p:cNvPr>
          <p:cNvSpPr txBox="1"/>
          <p:nvPr/>
        </p:nvSpPr>
        <p:spPr>
          <a:xfrm>
            <a:off x="8998527" y="4989032"/>
            <a:ext cx="2355272" cy="646331"/>
          </a:xfrm>
          <a:prstGeom prst="rect">
            <a:avLst/>
          </a:prstGeom>
          <a:solidFill>
            <a:schemeClr val="accent1">
              <a:lumMod val="20000"/>
              <a:lumOff val="80000"/>
            </a:schemeClr>
          </a:solidFill>
        </p:spPr>
        <p:txBody>
          <a:bodyPr wrap="square" rtlCol="0">
            <a:spAutoFit/>
          </a:bodyPr>
          <a:lstStyle/>
          <a:p>
            <a:pPr algn="ctr"/>
            <a:r>
              <a:rPr lang="es-CO" b="1" dirty="0"/>
              <a:t>Enfoque Basado en modelos</a:t>
            </a:r>
          </a:p>
        </p:txBody>
      </p:sp>
      <p:sp>
        <p:nvSpPr>
          <p:cNvPr id="11" name="CuadroTexto 10">
            <a:extLst>
              <a:ext uri="{FF2B5EF4-FFF2-40B4-BE49-F238E27FC236}">
                <a16:creationId xmlns:a16="http://schemas.microsoft.com/office/drawing/2014/main" id="{C79E6209-1BA3-4576-8282-10C6B8E96120}"/>
              </a:ext>
            </a:extLst>
          </p:cNvPr>
          <p:cNvSpPr txBox="1"/>
          <p:nvPr/>
        </p:nvSpPr>
        <p:spPr>
          <a:xfrm>
            <a:off x="1724889" y="3028890"/>
            <a:ext cx="1901534" cy="400110"/>
          </a:xfrm>
          <a:prstGeom prst="rect">
            <a:avLst/>
          </a:prstGeom>
          <a:solidFill>
            <a:schemeClr val="accent4">
              <a:lumMod val="20000"/>
              <a:lumOff val="80000"/>
            </a:schemeClr>
          </a:solidFill>
        </p:spPr>
        <p:txBody>
          <a:bodyPr wrap="square" rtlCol="0">
            <a:spAutoFit/>
          </a:bodyPr>
          <a:lstStyle/>
          <a:p>
            <a:pPr algn="ctr"/>
            <a:r>
              <a:rPr lang="es-CO" sz="2000" b="1" dirty="0"/>
              <a:t>Equivalencia</a:t>
            </a:r>
          </a:p>
        </p:txBody>
      </p:sp>
      <p:sp>
        <p:nvSpPr>
          <p:cNvPr id="12" name="CuadroTexto 11">
            <a:extLst>
              <a:ext uri="{FF2B5EF4-FFF2-40B4-BE49-F238E27FC236}">
                <a16:creationId xmlns:a16="http://schemas.microsoft.com/office/drawing/2014/main" id="{D0650F18-5FD9-4A15-8269-5651D3AB4F84}"/>
              </a:ext>
            </a:extLst>
          </p:cNvPr>
          <p:cNvSpPr txBox="1"/>
          <p:nvPr/>
        </p:nvSpPr>
        <p:spPr>
          <a:xfrm>
            <a:off x="1724888" y="5119724"/>
            <a:ext cx="1901535" cy="400110"/>
          </a:xfrm>
          <a:prstGeom prst="rect">
            <a:avLst/>
          </a:prstGeom>
          <a:solidFill>
            <a:schemeClr val="accent4">
              <a:lumMod val="20000"/>
              <a:lumOff val="80000"/>
            </a:schemeClr>
          </a:solidFill>
        </p:spPr>
        <p:txBody>
          <a:bodyPr wrap="square" rtlCol="0">
            <a:spAutoFit/>
          </a:bodyPr>
          <a:lstStyle/>
          <a:p>
            <a:pPr algn="ctr"/>
            <a:r>
              <a:rPr lang="es-CO" sz="2000" b="1" dirty="0"/>
              <a:t>Validez</a:t>
            </a:r>
          </a:p>
        </p:txBody>
      </p:sp>
      <p:cxnSp>
        <p:nvCxnSpPr>
          <p:cNvPr id="6" name="Conector: angular 5">
            <a:extLst>
              <a:ext uri="{FF2B5EF4-FFF2-40B4-BE49-F238E27FC236}">
                <a16:creationId xmlns:a16="http://schemas.microsoft.com/office/drawing/2014/main" id="{2CADB8DB-1EB0-4945-856A-F4E8E6AA4664}"/>
              </a:ext>
            </a:extLst>
          </p:cNvPr>
          <p:cNvCxnSpPr>
            <a:cxnSpLocks/>
            <a:stCxn id="3" idx="1"/>
            <a:endCxn id="12" idx="3"/>
          </p:cNvCxnSpPr>
          <p:nvPr/>
        </p:nvCxnSpPr>
        <p:spPr>
          <a:xfrm rot="10800000" flipV="1">
            <a:off x="3626424" y="4251823"/>
            <a:ext cx="1427019" cy="1067956"/>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angular 14">
            <a:extLst>
              <a:ext uri="{FF2B5EF4-FFF2-40B4-BE49-F238E27FC236}">
                <a16:creationId xmlns:a16="http://schemas.microsoft.com/office/drawing/2014/main" id="{2D4294A9-A916-441B-895B-92E69ABAAFC0}"/>
              </a:ext>
            </a:extLst>
          </p:cNvPr>
          <p:cNvCxnSpPr>
            <a:cxnSpLocks/>
            <a:stCxn id="3" idx="1"/>
            <a:endCxn id="11" idx="3"/>
          </p:cNvCxnSpPr>
          <p:nvPr/>
        </p:nvCxnSpPr>
        <p:spPr>
          <a:xfrm rot="10800000">
            <a:off x="3626424" y="3228945"/>
            <a:ext cx="1427019" cy="1022878"/>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angular 21">
            <a:extLst>
              <a:ext uri="{FF2B5EF4-FFF2-40B4-BE49-F238E27FC236}">
                <a16:creationId xmlns:a16="http://schemas.microsoft.com/office/drawing/2014/main" id="{E1E755EF-B95B-4F08-B265-1F1747DD8DD4}"/>
              </a:ext>
            </a:extLst>
          </p:cNvPr>
          <p:cNvCxnSpPr>
            <a:cxnSpLocks/>
            <a:stCxn id="3" idx="3"/>
            <a:endCxn id="9" idx="1"/>
          </p:cNvCxnSpPr>
          <p:nvPr/>
        </p:nvCxnSpPr>
        <p:spPr>
          <a:xfrm flipV="1">
            <a:off x="7588824" y="3274518"/>
            <a:ext cx="1409703" cy="977305"/>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r 24">
            <a:extLst>
              <a:ext uri="{FF2B5EF4-FFF2-40B4-BE49-F238E27FC236}">
                <a16:creationId xmlns:a16="http://schemas.microsoft.com/office/drawing/2014/main" id="{14E11DA7-C269-4A21-B228-5311BE906572}"/>
              </a:ext>
            </a:extLst>
          </p:cNvPr>
          <p:cNvCxnSpPr>
            <a:cxnSpLocks/>
            <a:stCxn id="3" idx="3"/>
            <a:endCxn id="10" idx="1"/>
          </p:cNvCxnSpPr>
          <p:nvPr/>
        </p:nvCxnSpPr>
        <p:spPr>
          <a:xfrm>
            <a:off x="7588824" y="4251823"/>
            <a:ext cx="1409703" cy="1060375"/>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D43B1F2-E879-471E-87F0-782FC0ECA421}"/>
              </a:ext>
            </a:extLst>
          </p:cNvPr>
          <p:cNvSpPr txBox="1"/>
          <p:nvPr/>
        </p:nvSpPr>
        <p:spPr>
          <a:xfrm>
            <a:off x="9752335" y="3559325"/>
            <a:ext cx="1601464" cy="276999"/>
          </a:xfrm>
          <a:prstGeom prst="rect">
            <a:avLst/>
          </a:prstGeom>
          <a:noFill/>
        </p:spPr>
        <p:txBody>
          <a:bodyPr wrap="none" lIns="0" tIns="0" rIns="0" bIns="0" rtlCol="0">
            <a:spAutoFit/>
          </a:bodyPr>
          <a:lstStyle/>
          <a:p>
            <a:r>
              <a:rPr lang="es-CO" dirty="0"/>
              <a:t>Tablas de verdad</a:t>
            </a:r>
          </a:p>
        </p:txBody>
      </p:sp>
      <p:sp>
        <p:nvSpPr>
          <p:cNvPr id="34" name="CuadroTexto 33">
            <a:extLst>
              <a:ext uri="{FF2B5EF4-FFF2-40B4-BE49-F238E27FC236}">
                <a16:creationId xmlns:a16="http://schemas.microsoft.com/office/drawing/2014/main" id="{2CC61D66-EB50-4F13-BC33-AB41E5DC09AF}"/>
              </a:ext>
            </a:extLst>
          </p:cNvPr>
          <p:cNvSpPr txBox="1"/>
          <p:nvPr/>
        </p:nvSpPr>
        <p:spPr>
          <a:xfrm>
            <a:off x="9421475" y="5766054"/>
            <a:ext cx="1932324" cy="276999"/>
          </a:xfrm>
          <a:prstGeom prst="rect">
            <a:avLst/>
          </a:prstGeom>
          <a:noFill/>
        </p:spPr>
        <p:txBody>
          <a:bodyPr wrap="none" lIns="0" tIns="0" rIns="0" bIns="0" rtlCol="0">
            <a:spAutoFit/>
          </a:bodyPr>
          <a:lstStyle/>
          <a:p>
            <a:r>
              <a:rPr lang="es-CO" dirty="0"/>
              <a:t>Tabla de identidades</a:t>
            </a:r>
          </a:p>
        </p:txBody>
      </p:sp>
      <p:sp>
        <p:nvSpPr>
          <p:cNvPr id="37" name="Explosión: 14 puntos 36">
            <a:extLst>
              <a:ext uri="{FF2B5EF4-FFF2-40B4-BE49-F238E27FC236}">
                <a16:creationId xmlns:a16="http://schemas.microsoft.com/office/drawing/2014/main" id="{9BB0D624-A274-4030-B154-B48D4C2B9244}"/>
              </a:ext>
            </a:extLst>
          </p:cNvPr>
          <p:cNvSpPr/>
          <p:nvPr/>
        </p:nvSpPr>
        <p:spPr>
          <a:xfrm>
            <a:off x="297868" y="4713486"/>
            <a:ext cx="1281541" cy="1191067"/>
          </a:xfrm>
          <a:prstGeom prst="irregularSeal2">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b="1" dirty="0">
                <a:solidFill>
                  <a:srgbClr val="FF0000"/>
                </a:solidFill>
              </a:rPr>
              <a:t>Esta clase</a:t>
            </a:r>
          </a:p>
        </p:txBody>
      </p:sp>
    </p:spTree>
    <p:extLst>
      <p:ext uri="{BB962C8B-B14F-4D97-AF65-F5344CB8AC3E}">
        <p14:creationId xmlns:p14="http://schemas.microsoft.com/office/powerpoint/2010/main" val="11062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471948" y="211537"/>
            <a:ext cx="10515600" cy="1325563"/>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Validación de argumentos</a:t>
            </a:r>
            <a:endParaRPr dirty="0"/>
          </a:p>
        </p:txBody>
      </p:sp>
      <p:sp>
        <p:nvSpPr>
          <p:cNvPr id="8" name="Google Shape;310;p34">
            <a:extLst>
              <a:ext uri="{FF2B5EF4-FFF2-40B4-BE49-F238E27FC236}">
                <a16:creationId xmlns:a16="http://schemas.microsoft.com/office/drawing/2014/main" id="{1CEC3261-5DE9-4F87-9327-23EF737056D6}"/>
              </a:ext>
            </a:extLst>
          </p:cNvPr>
          <p:cNvSpPr txBox="1">
            <a:spLocks/>
          </p:cNvSpPr>
          <p:nvPr/>
        </p:nvSpPr>
        <p:spPr>
          <a:xfrm>
            <a:off x="471948" y="1160724"/>
            <a:ext cx="11326761" cy="479608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200" b="1" dirty="0">
                <a:solidFill>
                  <a:srgbClr val="7030A0"/>
                </a:solidFill>
              </a:rPr>
              <a:t>Cuestiones importantes en Matemáticas (y prácticamente para cualquier cosa) </a:t>
            </a:r>
          </a:p>
          <a:p>
            <a:pPr indent="-457200">
              <a:buFont typeface="+mj-lt"/>
              <a:buAutoNum type="arabicPeriod"/>
            </a:pPr>
            <a:r>
              <a:rPr lang="es-MX" sz="2000" dirty="0"/>
              <a:t>¿Cuándo un argumento Matemático es correcto?</a:t>
            </a:r>
          </a:p>
          <a:p>
            <a:pPr indent="-457200">
              <a:buFont typeface="+mj-lt"/>
              <a:buAutoNum type="arabicPeriod"/>
            </a:pPr>
            <a:endParaRPr lang="es-MX" sz="2000" dirty="0"/>
          </a:p>
          <a:p>
            <a:pPr indent="-457200">
              <a:buFont typeface="+mj-lt"/>
              <a:buAutoNum type="arabicPeriod"/>
            </a:pPr>
            <a:endParaRPr lang="es-MX" sz="2000" dirty="0"/>
          </a:p>
          <a:p>
            <a:pPr indent="-457200">
              <a:buFont typeface="+mj-lt"/>
              <a:buAutoNum type="arabicPeriod"/>
            </a:pPr>
            <a:endParaRPr lang="es-MX" sz="2000" dirty="0"/>
          </a:p>
          <a:p>
            <a:pPr indent="-457200">
              <a:buFont typeface="+mj-lt"/>
              <a:buAutoNum type="arabicPeriod"/>
            </a:pPr>
            <a:endParaRPr lang="es-MX" sz="2000" dirty="0"/>
          </a:p>
          <a:p>
            <a:pPr indent="-457200">
              <a:buFont typeface="+mj-lt"/>
              <a:buAutoNum type="arabicPeriod"/>
            </a:pPr>
            <a:endParaRPr lang="es-MX" sz="2000" dirty="0"/>
          </a:p>
          <a:p>
            <a:pPr indent="-457200">
              <a:buFont typeface="+mj-lt"/>
              <a:buAutoNum type="arabicPeriod"/>
            </a:pPr>
            <a:endParaRPr lang="es-MX" sz="2000" dirty="0"/>
          </a:p>
          <a:p>
            <a:pPr indent="-457200">
              <a:buFont typeface="+mj-lt"/>
              <a:buAutoNum type="arabicPeriod"/>
            </a:pPr>
            <a:r>
              <a:rPr lang="es-MX" sz="2000" dirty="0"/>
              <a:t>¿Qué métodos se emplean para construir argumentos matemáticos?</a:t>
            </a:r>
          </a:p>
          <a:p>
            <a:pPr lvl="1" indent="-457200"/>
            <a:r>
              <a:rPr lang="es-MX" sz="1600" b="1" dirty="0"/>
              <a:t>Enfoque basado en modelos</a:t>
            </a:r>
          </a:p>
          <a:p>
            <a:pPr lvl="1" indent="-457200"/>
            <a:r>
              <a:rPr lang="es-MX" sz="1600" b="1" dirty="0"/>
              <a:t>Enfoque axiomático</a:t>
            </a:r>
          </a:p>
        </p:txBody>
      </p:sp>
      <p:grpSp>
        <p:nvGrpSpPr>
          <p:cNvPr id="7" name="Grupo 6">
            <a:extLst>
              <a:ext uri="{FF2B5EF4-FFF2-40B4-BE49-F238E27FC236}">
                <a16:creationId xmlns:a16="http://schemas.microsoft.com/office/drawing/2014/main" id="{31CE42EC-0F39-471E-9634-E4AEBD5AB968}"/>
              </a:ext>
            </a:extLst>
          </p:cNvPr>
          <p:cNvGrpSpPr/>
          <p:nvPr/>
        </p:nvGrpSpPr>
        <p:grpSpPr>
          <a:xfrm>
            <a:off x="1952912" y="2399936"/>
            <a:ext cx="2500043" cy="1753455"/>
            <a:chOff x="2005781" y="2255454"/>
            <a:chExt cx="2500043" cy="1753455"/>
          </a:xfrm>
        </p:grpSpPr>
        <p:sp>
          <p:nvSpPr>
            <p:cNvPr id="2" name="CuadroTexto 1">
              <a:extLst>
                <a:ext uri="{FF2B5EF4-FFF2-40B4-BE49-F238E27FC236}">
                  <a16:creationId xmlns:a16="http://schemas.microsoft.com/office/drawing/2014/main" id="{AC99C66F-3381-49BE-A492-C30ADCBD39AA}"/>
                </a:ext>
              </a:extLst>
            </p:cNvPr>
            <p:cNvSpPr txBox="1"/>
            <p:nvPr/>
          </p:nvSpPr>
          <p:spPr>
            <a:xfrm>
              <a:off x="2005781" y="2255454"/>
              <a:ext cx="2500043" cy="400110"/>
            </a:xfrm>
            <a:prstGeom prst="rect">
              <a:avLst/>
            </a:prstGeom>
            <a:noFill/>
          </p:spPr>
          <p:txBody>
            <a:bodyPr wrap="none" rtlCol="0">
              <a:spAutoFit/>
            </a:bodyPr>
            <a:lstStyle/>
            <a:p>
              <a:r>
                <a:rPr lang="es-CO" sz="2000" b="1" dirty="0"/>
                <a:t>Expresión condicional</a:t>
              </a:r>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A0E2761D-5CDE-4F7F-9B88-59EFA7251B51}"/>
                    </a:ext>
                  </a:extLst>
                </p:cNvPr>
                <p:cNvSpPr txBox="1"/>
                <p:nvPr/>
              </p:nvSpPr>
              <p:spPr>
                <a:xfrm>
                  <a:off x="2705550" y="2655564"/>
                  <a:ext cx="1371337" cy="55399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s-MX" sz="3600" b="0" i="1" smtClean="0">
                            <a:latin typeface="Cambria Math" panose="02040503050406030204" pitchFamily="18" charset="0"/>
                          </a:rPr>
                          <m:t>𝑃</m:t>
                        </m:r>
                        <m:r>
                          <a:rPr lang="es-MX" sz="3600" b="0" i="1" smtClean="0">
                            <a:latin typeface="Cambria Math" panose="02040503050406030204" pitchFamily="18" charset="0"/>
                          </a:rPr>
                          <m:t>→</m:t>
                        </m:r>
                        <m:r>
                          <a:rPr lang="es-MX" sz="3600" b="0" i="1" smtClean="0">
                            <a:latin typeface="Cambria Math" panose="02040503050406030204" pitchFamily="18" charset="0"/>
                          </a:rPr>
                          <m:t>𝑄</m:t>
                        </m:r>
                      </m:oMath>
                    </m:oMathPara>
                  </a14:m>
                  <a:endParaRPr lang="es-CO" sz="3600" dirty="0"/>
                </a:p>
              </p:txBody>
            </p:sp>
          </mc:Choice>
          <mc:Fallback>
            <p:sp>
              <p:nvSpPr>
                <p:cNvPr id="3" name="CuadroTexto 2">
                  <a:extLst>
                    <a:ext uri="{FF2B5EF4-FFF2-40B4-BE49-F238E27FC236}">
                      <a16:creationId xmlns:a16="http://schemas.microsoft.com/office/drawing/2014/main" id="{A0E2761D-5CDE-4F7F-9B88-59EFA7251B51}"/>
                    </a:ext>
                  </a:extLst>
                </p:cNvPr>
                <p:cNvSpPr txBox="1">
                  <a:spLocks noRot="1" noChangeAspect="1" noMove="1" noResize="1" noEditPoints="1" noAdjustHandles="1" noChangeArrowheads="1" noChangeShapeType="1" noTextEdit="1"/>
                </p:cNvSpPr>
                <p:nvPr/>
              </p:nvSpPr>
              <p:spPr>
                <a:xfrm>
                  <a:off x="2705550" y="2655564"/>
                  <a:ext cx="1371337" cy="553998"/>
                </a:xfrm>
                <a:prstGeom prst="rect">
                  <a:avLst/>
                </a:prstGeom>
                <a:blipFill>
                  <a:blip r:embed="rId3"/>
                  <a:stretch>
                    <a:fillRect/>
                  </a:stretch>
                </a:blipFill>
              </p:spPr>
              <p:txBody>
                <a:bodyPr/>
                <a:lstStyle/>
                <a:p>
                  <a:r>
                    <a:rPr lang="es-CO">
                      <a:noFill/>
                    </a:rPr>
                    <a:t> </a:t>
                  </a:r>
                </a:p>
              </p:txBody>
            </p:sp>
          </mc:Fallback>
        </mc:AlternateContent>
        <p:sp>
          <p:nvSpPr>
            <p:cNvPr id="4" name="Cerrar llave 3">
              <a:extLst>
                <a:ext uri="{FF2B5EF4-FFF2-40B4-BE49-F238E27FC236}">
                  <a16:creationId xmlns:a16="http://schemas.microsoft.com/office/drawing/2014/main" id="{CC6A9A7D-C048-41D9-A651-2FCE89E4BEFA}"/>
                </a:ext>
              </a:extLst>
            </p:cNvPr>
            <p:cNvSpPr/>
            <p:nvPr/>
          </p:nvSpPr>
          <p:spPr>
            <a:xfrm rot="5400000">
              <a:off x="2815299" y="3070084"/>
              <a:ext cx="81117" cy="294825"/>
            </a:xfrm>
            <a:prstGeom prst="rightBrace">
              <a:avLst>
                <a:gd name="adj1" fmla="val 45151"/>
                <a:gd name="adj2" fmla="val 50000"/>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solidFill>
                  <a:schemeClr val="accent2"/>
                </a:solidFill>
              </a:endParaRPr>
            </a:p>
          </p:txBody>
        </p:sp>
        <p:sp>
          <p:nvSpPr>
            <p:cNvPr id="10" name="Cerrar llave 9">
              <a:extLst>
                <a:ext uri="{FF2B5EF4-FFF2-40B4-BE49-F238E27FC236}">
                  <a16:creationId xmlns:a16="http://schemas.microsoft.com/office/drawing/2014/main" id="{70E2AAEF-04EB-489F-A11C-2191F533EB49}"/>
                </a:ext>
              </a:extLst>
            </p:cNvPr>
            <p:cNvSpPr/>
            <p:nvPr/>
          </p:nvSpPr>
          <p:spPr>
            <a:xfrm rot="5400000">
              <a:off x="3806997" y="3062149"/>
              <a:ext cx="81117" cy="294825"/>
            </a:xfrm>
            <a:prstGeom prst="rightBrace">
              <a:avLst>
                <a:gd name="adj1" fmla="val 45151"/>
                <a:gd name="adj2" fmla="val 50000"/>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solidFill>
                  <a:schemeClr val="accent2"/>
                </a:solidFill>
              </a:endParaRPr>
            </a:p>
          </p:txBody>
        </p:sp>
        <p:sp>
          <p:nvSpPr>
            <p:cNvPr id="5" name="CuadroTexto 4">
              <a:extLst>
                <a:ext uri="{FF2B5EF4-FFF2-40B4-BE49-F238E27FC236}">
                  <a16:creationId xmlns:a16="http://schemas.microsoft.com/office/drawing/2014/main" id="{BFE8DE45-FCDF-433E-9105-1E5702A0615D}"/>
                </a:ext>
              </a:extLst>
            </p:cNvPr>
            <p:cNvSpPr txBox="1"/>
            <p:nvPr/>
          </p:nvSpPr>
          <p:spPr>
            <a:xfrm>
              <a:off x="2356233" y="3351141"/>
              <a:ext cx="999248" cy="646331"/>
            </a:xfrm>
            <a:prstGeom prst="rect">
              <a:avLst/>
            </a:prstGeom>
            <a:noFill/>
          </p:spPr>
          <p:txBody>
            <a:bodyPr wrap="none" rtlCol="0">
              <a:spAutoFit/>
            </a:bodyPr>
            <a:lstStyle/>
            <a:p>
              <a:pPr algn="ctr"/>
              <a:r>
                <a:rPr lang="es-CO" sz="1200" dirty="0">
                  <a:solidFill>
                    <a:schemeClr val="accent2"/>
                  </a:solidFill>
                </a:rPr>
                <a:t>Premisa</a:t>
              </a:r>
            </a:p>
            <a:p>
              <a:pPr algn="ctr"/>
              <a:r>
                <a:rPr lang="es-CO" sz="1200" dirty="0">
                  <a:solidFill>
                    <a:schemeClr val="accent2"/>
                  </a:solidFill>
                </a:rPr>
                <a:t>Hipótesis</a:t>
              </a:r>
            </a:p>
            <a:p>
              <a:pPr algn="ctr"/>
              <a:r>
                <a:rPr lang="es-CO" sz="1200" dirty="0">
                  <a:solidFill>
                    <a:schemeClr val="accent2"/>
                  </a:solidFill>
                </a:rPr>
                <a:t>Antecedente</a:t>
              </a:r>
            </a:p>
          </p:txBody>
        </p:sp>
        <p:sp>
          <p:nvSpPr>
            <p:cNvPr id="12" name="CuadroTexto 11">
              <a:extLst>
                <a:ext uri="{FF2B5EF4-FFF2-40B4-BE49-F238E27FC236}">
                  <a16:creationId xmlns:a16="http://schemas.microsoft.com/office/drawing/2014/main" id="{A9A26026-C90D-4964-AEDF-CAD8796B285C}"/>
                </a:ext>
              </a:extLst>
            </p:cNvPr>
            <p:cNvSpPr txBox="1"/>
            <p:nvPr/>
          </p:nvSpPr>
          <p:spPr>
            <a:xfrm>
              <a:off x="3350400" y="3362578"/>
              <a:ext cx="994311" cy="646331"/>
            </a:xfrm>
            <a:prstGeom prst="rect">
              <a:avLst/>
            </a:prstGeom>
            <a:noFill/>
          </p:spPr>
          <p:txBody>
            <a:bodyPr wrap="none" rtlCol="0">
              <a:spAutoFit/>
            </a:bodyPr>
            <a:lstStyle/>
            <a:p>
              <a:pPr algn="ctr"/>
              <a:r>
                <a:rPr lang="es-CO" sz="1200" dirty="0">
                  <a:solidFill>
                    <a:schemeClr val="accent2"/>
                  </a:solidFill>
                </a:rPr>
                <a:t>Conclusión</a:t>
              </a:r>
            </a:p>
            <a:p>
              <a:pPr algn="ctr"/>
              <a:r>
                <a:rPr lang="es-CO" sz="1200" dirty="0">
                  <a:solidFill>
                    <a:schemeClr val="accent2"/>
                  </a:solidFill>
                </a:rPr>
                <a:t>Tesos</a:t>
              </a:r>
            </a:p>
            <a:p>
              <a:pPr algn="ctr"/>
              <a:r>
                <a:rPr lang="es-CO" sz="1200" dirty="0">
                  <a:solidFill>
                    <a:schemeClr val="accent2"/>
                  </a:solidFill>
                </a:rPr>
                <a:t>Consecuente</a:t>
              </a:r>
            </a:p>
          </p:txBody>
        </p:sp>
      </p:grpSp>
      <mc:AlternateContent xmlns:mc="http://schemas.openxmlformats.org/markup-compatibility/2006">
        <mc:Choice xmlns:a14="http://schemas.microsoft.com/office/drawing/2010/main" Requires="a14">
          <p:graphicFrame>
            <p:nvGraphicFramePr>
              <p:cNvPr id="6" name="Tabla 5">
                <a:extLst>
                  <a:ext uri="{FF2B5EF4-FFF2-40B4-BE49-F238E27FC236}">
                    <a16:creationId xmlns:a16="http://schemas.microsoft.com/office/drawing/2014/main" id="{5DD2C4E1-D0CD-4887-801D-5FFCFC02DFF3}"/>
                  </a:ext>
                </a:extLst>
              </p:cNvPr>
              <p:cNvGraphicFramePr>
                <a:graphicFrameLocks noGrp="1"/>
              </p:cNvGraphicFramePr>
              <p:nvPr>
                <p:extLst>
                  <p:ext uri="{D42A27DB-BD31-4B8C-83A1-F6EECF244321}">
                    <p14:modId xmlns:p14="http://schemas.microsoft.com/office/powerpoint/2010/main" val="3529909230"/>
                  </p:ext>
                </p:extLst>
              </p:nvPr>
            </p:nvGraphicFramePr>
            <p:xfrm>
              <a:off x="5813824" y="2399936"/>
              <a:ext cx="2123973" cy="1828800"/>
            </p:xfrm>
            <a:graphic>
              <a:graphicData uri="http://schemas.openxmlformats.org/drawingml/2006/table">
                <a:tbl>
                  <a:tblPr firstRow="1" bandRow="1">
                    <a:tableStyleId>{AD6A3598-7CB8-4345-8D95-17CE05F158A0}</a:tableStyleId>
                  </a:tblPr>
                  <a:tblGrid>
                    <a:gridCol w="544786">
                      <a:extLst>
                        <a:ext uri="{9D8B030D-6E8A-4147-A177-3AD203B41FA5}">
                          <a16:colId xmlns:a16="http://schemas.microsoft.com/office/drawing/2014/main" val="490870258"/>
                        </a:ext>
                      </a:extLst>
                    </a:gridCol>
                    <a:gridCol w="544786">
                      <a:extLst>
                        <a:ext uri="{9D8B030D-6E8A-4147-A177-3AD203B41FA5}">
                          <a16:colId xmlns:a16="http://schemas.microsoft.com/office/drawing/2014/main" val="1397687665"/>
                        </a:ext>
                      </a:extLst>
                    </a:gridCol>
                    <a:gridCol w="1034401">
                      <a:extLst>
                        <a:ext uri="{9D8B030D-6E8A-4147-A177-3AD203B41FA5}">
                          <a16:colId xmlns:a16="http://schemas.microsoft.com/office/drawing/2014/main" val="3269965761"/>
                        </a:ext>
                      </a:extLst>
                    </a:gridCol>
                  </a:tblGrid>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1" i="1" smtClean="0">
                                    <a:latin typeface="Cambria Math" panose="02040503050406030204" pitchFamily="18" charset="0"/>
                                    <a:ea typeface="Roboto" panose="02000000000000000000" pitchFamily="2" charset="0"/>
                                  </a:rPr>
                                  <m:t>𝒑</m:t>
                                </m:r>
                              </m:oMath>
                            </m:oMathPara>
                          </a14:m>
                          <a:endParaRPr lang="es-CO" sz="18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1800" b="1" i="1" smtClean="0">
                                    <a:latin typeface="Cambria Math" panose="02040503050406030204" pitchFamily="18" charset="0"/>
                                    <a:ea typeface="Roboto" panose="02000000000000000000" pitchFamily="2" charset="0"/>
                                  </a:rPr>
                                  <m:t>𝒒</m:t>
                                </m:r>
                              </m:oMath>
                            </m:oMathPara>
                          </a14:m>
                          <a:endParaRPr lang="es-CO" sz="18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1800" b="1" i="1" smtClean="0">
                                    <a:latin typeface="Cambria Math" panose="02040503050406030204" pitchFamily="18" charset="0"/>
                                    <a:ea typeface="Roboto" panose="02000000000000000000" pitchFamily="2" charset="0"/>
                                  </a:rPr>
                                  <m:t>𝒑</m:t>
                                </m:r>
                                <m:r>
                                  <a:rPr lang="es-MX" sz="1800" b="1" i="1" smtClean="0">
                                    <a:latin typeface="Cambria Math" panose="02040503050406030204" pitchFamily="18" charset="0"/>
                                    <a:ea typeface="Cambria Math" panose="02040503050406030204" pitchFamily="18" charset="0"/>
                                  </a:rPr>
                                  <m:t>→</m:t>
                                </m:r>
                                <m:r>
                                  <a:rPr lang="es-MX" sz="1800" b="1" i="1" smtClean="0">
                                    <a:latin typeface="Cambria Math" panose="02040503050406030204" pitchFamily="18" charset="0"/>
                                    <a:ea typeface="Cambria Math" panose="02040503050406030204" pitchFamily="18" charset="0"/>
                                  </a:rPr>
                                  <m:t>𝒒</m:t>
                                </m:r>
                              </m:oMath>
                            </m:oMathPara>
                          </a14:m>
                          <a:endParaRPr lang="es-CO" sz="1800" b="1" dirty="0">
                            <a:latin typeface="Roboto" panose="02000000000000000000" pitchFamily="2" charset="0"/>
                            <a:ea typeface="Roboto" panose="02000000000000000000" pitchFamily="2" charset="0"/>
                          </a:endParaRPr>
                        </a:p>
                      </a:txBody>
                      <a:tcPr>
                        <a:solidFill>
                          <a:schemeClr val="bg1">
                            <a:lumMod val="95000"/>
                          </a:schemeClr>
                        </a:solidFill>
                      </a:tcPr>
                    </a:tc>
                    <a:extLst>
                      <a:ext uri="{0D108BD9-81ED-4DB2-BD59-A6C34878D82A}">
                        <a16:rowId xmlns:a16="http://schemas.microsoft.com/office/drawing/2014/main" val="1656120320"/>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𝐹</m:t>
                                </m:r>
                              </m:oMath>
                            </m:oMathPara>
                          </a14:m>
                          <a:endParaRPr lang="es-CO" sz="18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𝐹</m:t>
                                </m:r>
                              </m:oMath>
                            </m:oMathPara>
                          </a14:m>
                          <a:endParaRPr lang="es-CO" sz="18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384399998"/>
                      </a:ext>
                    </a:extLst>
                  </a:tr>
                  <a:tr h="214002">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𝐹</m:t>
                                </m:r>
                              </m:oMath>
                            </m:oMathPara>
                          </a14:m>
                          <a:endParaRPr lang="es-CO" sz="18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𝑉</m:t>
                                </m:r>
                              </m:oMath>
                            </m:oMathPara>
                          </a14:m>
                          <a:endParaRPr lang="es-CO" sz="18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23033547"/>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𝐹</m:t>
                                </m:r>
                              </m:oMath>
                            </m:oMathPara>
                          </a14:m>
                          <a:endParaRPr lang="es-CO" sz="18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𝐹</m:t>
                                </m:r>
                              </m:oMath>
                            </m:oMathPara>
                          </a14:m>
                          <a:endParaRPr lang="es-CO" sz="18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235300888"/>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451930249"/>
                      </a:ext>
                    </a:extLst>
                  </a:tr>
                </a:tbl>
              </a:graphicData>
            </a:graphic>
          </p:graphicFrame>
        </mc:Choice>
        <mc:Fallback>
          <p:graphicFrame>
            <p:nvGraphicFramePr>
              <p:cNvPr id="6" name="Tabla 5">
                <a:extLst>
                  <a:ext uri="{FF2B5EF4-FFF2-40B4-BE49-F238E27FC236}">
                    <a16:creationId xmlns:a16="http://schemas.microsoft.com/office/drawing/2014/main" id="{5DD2C4E1-D0CD-4887-801D-5FFCFC02DFF3}"/>
                  </a:ext>
                </a:extLst>
              </p:cNvPr>
              <p:cNvGraphicFramePr>
                <a:graphicFrameLocks noGrp="1"/>
              </p:cNvGraphicFramePr>
              <p:nvPr>
                <p:extLst>
                  <p:ext uri="{D42A27DB-BD31-4B8C-83A1-F6EECF244321}">
                    <p14:modId xmlns:p14="http://schemas.microsoft.com/office/powerpoint/2010/main" val="3529909230"/>
                  </p:ext>
                </p:extLst>
              </p:nvPr>
            </p:nvGraphicFramePr>
            <p:xfrm>
              <a:off x="5813824" y="2399936"/>
              <a:ext cx="2123973" cy="1828800"/>
            </p:xfrm>
            <a:graphic>
              <a:graphicData uri="http://schemas.openxmlformats.org/drawingml/2006/table">
                <a:tbl>
                  <a:tblPr firstRow="1" bandRow="1">
                    <a:tableStyleId>{AD6A3598-7CB8-4345-8D95-17CE05F158A0}</a:tableStyleId>
                  </a:tblPr>
                  <a:tblGrid>
                    <a:gridCol w="544786">
                      <a:extLst>
                        <a:ext uri="{9D8B030D-6E8A-4147-A177-3AD203B41FA5}">
                          <a16:colId xmlns:a16="http://schemas.microsoft.com/office/drawing/2014/main" val="490870258"/>
                        </a:ext>
                      </a:extLst>
                    </a:gridCol>
                    <a:gridCol w="544786">
                      <a:extLst>
                        <a:ext uri="{9D8B030D-6E8A-4147-A177-3AD203B41FA5}">
                          <a16:colId xmlns:a16="http://schemas.microsoft.com/office/drawing/2014/main" val="1397687665"/>
                        </a:ext>
                      </a:extLst>
                    </a:gridCol>
                    <a:gridCol w="1034401">
                      <a:extLst>
                        <a:ext uri="{9D8B030D-6E8A-4147-A177-3AD203B41FA5}">
                          <a16:colId xmlns:a16="http://schemas.microsoft.com/office/drawing/2014/main" val="3269965761"/>
                        </a:ext>
                      </a:extLst>
                    </a:gridCol>
                  </a:tblGrid>
                  <a:tr h="365760">
                    <a:tc>
                      <a:txBody>
                        <a:bodyPr/>
                        <a:lstStyle/>
                        <a:p>
                          <a:endParaRPr lang="es-CO"/>
                        </a:p>
                      </a:txBody>
                      <a:tcPr>
                        <a:blipFill>
                          <a:blip r:embed="rId4"/>
                          <a:stretch>
                            <a:fillRect l="-1111" t="-1667" r="-290000" b="-405000"/>
                          </a:stretch>
                        </a:blipFill>
                      </a:tcPr>
                    </a:tc>
                    <a:tc>
                      <a:txBody>
                        <a:bodyPr/>
                        <a:lstStyle/>
                        <a:p>
                          <a:endParaRPr lang="es-CO"/>
                        </a:p>
                      </a:txBody>
                      <a:tcPr>
                        <a:blipFill>
                          <a:blip r:embed="rId4"/>
                          <a:stretch>
                            <a:fillRect l="-101111" t="-1667" r="-190000" b="-405000"/>
                          </a:stretch>
                        </a:blipFill>
                      </a:tcPr>
                    </a:tc>
                    <a:tc>
                      <a:txBody>
                        <a:bodyPr/>
                        <a:lstStyle/>
                        <a:p>
                          <a:endParaRPr lang="es-CO"/>
                        </a:p>
                      </a:txBody>
                      <a:tcPr>
                        <a:blipFill>
                          <a:blip r:embed="rId4"/>
                          <a:stretch>
                            <a:fillRect l="-106471" t="-1667" r="-588" b="-405000"/>
                          </a:stretch>
                        </a:blipFill>
                      </a:tcPr>
                    </a:tc>
                    <a:extLst>
                      <a:ext uri="{0D108BD9-81ED-4DB2-BD59-A6C34878D82A}">
                        <a16:rowId xmlns:a16="http://schemas.microsoft.com/office/drawing/2014/main" val="1656120320"/>
                      </a:ext>
                    </a:extLst>
                  </a:tr>
                  <a:tr h="365760">
                    <a:tc>
                      <a:txBody>
                        <a:bodyPr/>
                        <a:lstStyle/>
                        <a:p>
                          <a:endParaRPr lang="es-CO"/>
                        </a:p>
                      </a:txBody>
                      <a:tcPr>
                        <a:blipFill>
                          <a:blip r:embed="rId4"/>
                          <a:stretch>
                            <a:fillRect l="-1111" t="-101667" r="-290000" b="-305000"/>
                          </a:stretch>
                        </a:blipFill>
                      </a:tcPr>
                    </a:tc>
                    <a:tc>
                      <a:txBody>
                        <a:bodyPr/>
                        <a:lstStyle/>
                        <a:p>
                          <a:endParaRPr lang="es-CO"/>
                        </a:p>
                      </a:txBody>
                      <a:tcPr>
                        <a:blipFill>
                          <a:blip r:embed="rId4"/>
                          <a:stretch>
                            <a:fillRect l="-101111" t="-101667" r="-190000" b="-305000"/>
                          </a:stretch>
                        </a:blipFill>
                      </a:tcPr>
                    </a:tc>
                    <a:tc>
                      <a:txBody>
                        <a:bodyPr/>
                        <a:lstStyle/>
                        <a:p>
                          <a:endParaRPr lang="es-CO"/>
                        </a:p>
                      </a:txBody>
                      <a:tcPr>
                        <a:blipFill>
                          <a:blip r:embed="rId4"/>
                          <a:stretch>
                            <a:fillRect l="-106471" t="-101667" r="-588" b="-305000"/>
                          </a:stretch>
                        </a:blipFill>
                      </a:tcPr>
                    </a:tc>
                    <a:extLst>
                      <a:ext uri="{0D108BD9-81ED-4DB2-BD59-A6C34878D82A}">
                        <a16:rowId xmlns:a16="http://schemas.microsoft.com/office/drawing/2014/main" val="1384399998"/>
                      </a:ext>
                    </a:extLst>
                  </a:tr>
                  <a:tr h="365760">
                    <a:tc>
                      <a:txBody>
                        <a:bodyPr/>
                        <a:lstStyle/>
                        <a:p>
                          <a:endParaRPr lang="es-CO"/>
                        </a:p>
                      </a:txBody>
                      <a:tcPr>
                        <a:blipFill>
                          <a:blip r:embed="rId4"/>
                          <a:stretch>
                            <a:fillRect l="-1111" t="-198361" r="-290000" b="-200000"/>
                          </a:stretch>
                        </a:blipFill>
                      </a:tcPr>
                    </a:tc>
                    <a:tc>
                      <a:txBody>
                        <a:bodyPr/>
                        <a:lstStyle/>
                        <a:p>
                          <a:endParaRPr lang="es-CO"/>
                        </a:p>
                      </a:txBody>
                      <a:tcPr>
                        <a:blipFill>
                          <a:blip r:embed="rId4"/>
                          <a:stretch>
                            <a:fillRect l="-101111" t="-198361" r="-190000" b="-200000"/>
                          </a:stretch>
                        </a:blipFill>
                      </a:tcPr>
                    </a:tc>
                    <a:tc>
                      <a:txBody>
                        <a:bodyPr/>
                        <a:lstStyle/>
                        <a:p>
                          <a:endParaRPr lang="es-CO"/>
                        </a:p>
                      </a:txBody>
                      <a:tcPr>
                        <a:blipFill>
                          <a:blip r:embed="rId4"/>
                          <a:stretch>
                            <a:fillRect l="-106471" t="-198361" r="-588" b="-200000"/>
                          </a:stretch>
                        </a:blipFill>
                      </a:tcPr>
                    </a:tc>
                    <a:extLst>
                      <a:ext uri="{0D108BD9-81ED-4DB2-BD59-A6C34878D82A}">
                        <a16:rowId xmlns:a16="http://schemas.microsoft.com/office/drawing/2014/main" val="3723033547"/>
                      </a:ext>
                    </a:extLst>
                  </a:tr>
                  <a:tr h="365760">
                    <a:tc>
                      <a:txBody>
                        <a:bodyPr/>
                        <a:lstStyle/>
                        <a:p>
                          <a:endParaRPr lang="es-CO"/>
                        </a:p>
                      </a:txBody>
                      <a:tcPr>
                        <a:blipFill>
                          <a:blip r:embed="rId4"/>
                          <a:stretch>
                            <a:fillRect l="-1111" t="-303333" r="-290000" b="-103333"/>
                          </a:stretch>
                        </a:blipFill>
                      </a:tcPr>
                    </a:tc>
                    <a:tc>
                      <a:txBody>
                        <a:bodyPr/>
                        <a:lstStyle/>
                        <a:p>
                          <a:endParaRPr lang="es-CO"/>
                        </a:p>
                      </a:txBody>
                      <a:tcPr>
                        <a:blipFill>
                          <a:blip r:embed="rId4"/>
                          <a:stretch>
                            <a:fillRect l="-101111" t="-303333" r="-190000" b="-103333"/>
                          </a:stretch>
                        </a:blipFill>
                      </a:tcPr>
                    </a:tc>
                    <a:tc>
                      <a:txBody>
                        <a:bodyPr/>
                        <a:lstStyle/>
                        <a:p>
                          <a:endParaRPr lang="es-CO"/>
                        </a:p>
                      </a:txBody>
                      <a:tcPr>
                        <a:blipFill>
                          <a:blip r:embed="rId4"/>
                          <a:stretch>
                            <a:fillRect l="-106471" t="-303333" r="-588" b="-103333"/>
                          </a:stretch>
                        </a:blipFill>
                      </a:tcPr>
                    </a:tc>
                    <a:extLst>
                      <a:ext uri="{0D108BD9-81ED-4DB2-BD59-A6C34878D82A}">
                        <a16:rowId xmlns:a16="http://schemas.microsoft.com/office/drawing/2014/main" val="4235300888"/>
                      </a:ext>
                    </a:extLst>
                  </a:tr>
                  <a:tr h="365760">
                    <a:tc>
                      <a:txBody>
                        <a:bodyPr/>
                        <a:lstStyle/>
                        <a:p>
                          <a:endParaRPr lang="es-CO"/>
                        </a:p>
                      </a:txBody>
                      <a:tcPr>
                        <a:blipFill>
                          <a:blip r:embed="rId4"/>
                          <a:stretch>
                            <a:fillRect l="-1111" t="-403333" r="-290000" b="-3333"/>
                          </a:stretch>
                        </a:blipFill>
                      </a:tcPr>
                    </a:tc>
                    <a:tc>
                      <a:txBody>
                        <a:bodyPr/>
                        <a:lstStyle/>
                        <a:p>
                          <a:endParaRPr lang="es-CO"/>
                        </a:p>
                      </a:txBody>
                      <a:tcPr>
                        <a:blipFill>
                          <a:blip r:embed="rId4"/>
                          <a:stretch>
                            <a:fillRect l="-101111" t="-403333" r="-190000" b="-3333"/>
                          </a:stretch>
                        </a:blipFill>
                      </a:tcPr>
                    </a:tc>
                    <a:tc>
                      <a:txBody>
                        <a:bodyPr/>
                        <a:lstStyle/>
                        <a:p>
                          <a:endParaRPr lang="es-CO"/>
                        </a:p>
                      </a:txBody>
                      <a:tcPr>
                        <a:blipFill>
                          <a:blip r:embed="rId4"/>
                          <a:stretch>
                            <a:fillRect l="-106471" t="-403333" r="-588" b="-3333"/>
                          </a:stretch>
                        </a:blipFill>
                      </a:tcPr>
                    </a:tc>
                    <a:extLst>
                      <a:ext uri="{0D108BD9-81ED-4DB2-BD59-A6C34878D82A}">
                        <a16:rowId xmlns:a16="http://schemas.microsoft.com/office/drawing/2014/main" val="451930249"/>
                      </a:ext>
                    </a:extLst>
                  </a:tr>
                </a:tbl>
              </a:graphicData>
            </a:graphic>
          </p:graphicFram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ea typeface="+mj-ea"/>
                <a:cs typeface="+mj-cs"/>
              </a:rPr>
              <a:t>Validación de argumentos</a:t>
            </a:r>
            <a:endParaRPr dirty="0">
              <a:solidFill>
                <a:schemeClr val="tx1"/>
              </a:solidFill>
              <a:latin typeface="+mj-lt"/>
              <a:ea typeface="+mj-ea"/>
              <a:cs typeface="+mj-cs"/>
            </a:endParaRPr>
          </a:p>
        </p:txBody>
      </p:sp>
      <p:sp>
        <p:nvSpPr>
          <p:cNvPr id="14" name="Google Shape;310;p34">
            <a:extLst>
              <a:ext uri="{FF2B5EF4-FFF2-40B4-BE49-F238E27FC236}">
                <a16:creationId xmlns:a16="http://schemas.microsoft.com/office/drawing/2014/main" id="{7CE3CA45-1D19-4FA9-8567-937AB3B94F05}"/>
              </a:ext>
            </a:extLst>
          </p:cNvPr>
          <p:cNvSpPr txBox="1">
            <a:spLocks/>
          </p:cNvSpPr>
          <p:nvPr/>
        </p:nvSpPr>
        <p:spPr>
          <a:xfrm>
            <a:off x="404124" y="1355783"/>
            <a:ext cx="6809476" cy="75472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ea typeface="Roboto" panose="02000000000000000000" pitchFamily="2" charset="0"/>
              </a:rPr>
              <a:t>En lógica proposicional, un </a:t>
            </a:r>
            <a:r>
              <a:rPr lang="es-MX" sz="2000" b="1" dirty="0">
                <a:latin typeface="+mn-lt"/>
                <a:ea typeface="Roboto" panose="02000000000000000000" pitchFamily="2" charset="0"/>
              </a:rPr>
              <a:t>argumento</a:t>
            </a:r>
            <a:r>
              <a:rPr lang="es-MX" sz="2000" dirty="0">
                <a:latin typeface="+mn-lt"/>
                <a:ea typeface="Roboto" panose="02000000000000000000" pitchFamily="2" charset="0"/>
              </a:rPr>
              <a:t> es una secuencia de proposiciones. Todas, excepto la última, se llaman </a:t>
            </a:r>
            <a:r>
              <a:rPr lang="es-MX" sz="2000" b="1" dirty="0">
                <a:latin typeface="+mn-lt"/>
                <a:ea typeface="Roboto" panose="02000000000000000000" pitchFamily="2" charset="0"/>
              </a:rPr>
              <a:t>premisas</a:t>
            </a:r>
            <a:r>
              <a:rPr lang="es-MX" sz="2000" dirty="0">
                <a:latin typeface="+mn-lt"/>
                <a:ea typeface="Roboto" panose="02000000000000000000" pitchFamily="2" charset="0"/>
              </a:rPr>
              <a:t>. La última proposición es la </a:t>
            </a:r>
            <a:r>
              <a:rPr lang="es-MX" sz="2000" b="1" dirty="0">
                <a:latin typeface="+mn-lt"/>
                <a:ea typeface="Roboto" panose="02000000000000000000" pitchFamily="2" charset="0"/>
              </a:rPr>
              <a:t>conclusión</a:t>
            </a:r>
            <a:endParaRPr lang="es-MX" sz="2000" dirty="0">
              <a:latin typeface="+mn-lt"/>
              <a:ea typeface="Roboto" panose="02000000000000000000" pitchFamily="2" charset="0"/>
            </a:endParaRPr>
          </a:p>
        </p:txBody>
      </p:sp>
      <p:sp>
        <p:nvSpPr>
          <p:cNvPr id="47" name="CuadroTexto 46">
            <a:extLst>
              <a:ext uri="{FF2B5EF4-FFF2-40B4-BE49-F238E27FC236}">
                <a16:creationId xmlns:a16="http://schemas.microsoft.com/office/drawing/2014/main" id="{B3A4CE45-79F3-4AE0-8443-FE49CBE2285A}"/>
              </a:ext>
            </a:extLst>
          </p:cNvPr>
          <p:cNvSpPr txBox="1"/>
          <p:nvPr/>
        </p:nvSpPr>
        <p:spPr>
          <a:xfrm>
            <a:off x="555968" y="879373"/>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Argumentos en lógica proposicional</a:t>
            </a:r>
          </a:p>
        </p:txBody>
      </p:sp>
      <p:grpSp>
        <p:nvGrpSpPr>
          <p:cNvPr id="45" name="Grupo 44">
            <a:extLst>
              <a:ext uri="{FF2B5EF4-FFF2-40B4-BE49-F238E27FC236}">
                <a16:creationId xmlns:a16="http://schemas.microsoft.com/office/drawing/2014/main" id="{708BCFCB-B6C8-48E7-AAE8-AE287DEF0185}"/>
              </a:ext>
            </a:extLst>
          </p:cNvPr>
          <p:cNvGrpSpPr/>
          <p:nvPr/>
        </p:nvGrpSpPr>
        <p:grpSpPr>
          <a:xfrm>
            <a:off x="7522699" y="1385655"/>
            <a:ext cx="2340435" cy="1610191"/>
            <a:chOff x="3326074" y="2407083"/>
            <a:chExt cx="2340435" cy="1610191"/>
          </a:xfrm>
        </p:grpSpPr>
        <p:sp>
          <p:nvSpPr>
            <p:cNvPr id="42" name="Abrir llave 41">
              <a:extLst>
                <a:ext uri="{FF2B5EF4-FFF2-40B4-BE49-F238E27FC236}">
                  <a16:creationId xmlns:a16="http://schemas.microsoft.com/office/drawing/2014/main" id="{97112276-7578-48E9-B60A-9C2D968E3D25}"/>
                </a:ext>
              </a:extLst>
            </p:cNvPr>
            <p:cNvSpPr/>
            <p:nvPr/>
          </p:nvSpPr>
          <p:spPr>
            <a:xfrm>
              <a:off x="4937172" y="2407083"/>
              <a:ext cx="186896" cy="1138311"/>
            </a:xfrm>
            <a:prstGeom prst="leftBrace">
              <a:avLst>
                <a:gd name="adj1" fmla="val 27595"/>
                <a:gd name="adj2" fmla="val 50000"/>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4" name="Abrir llave 43">
              <a:extLst>
                <a:ext uri="{FF2B5EF4-FFF2-40B4-BE49-F238E27FC236}">
                  <a16:creationId xmlns:a16="http://schemas.microsoft.com/office/drawing/2014/main" id="{0FC0075A-AB3D-48CF-9C7D-3297098BEC4D}"/>
                </a:ext>
              </a:extLst>
            </p:cNvPr>
            <p:cNvSpPr/>
            <p:nvPr/>
          </p:nvSpPr>
          <p:spPr>
            <a:xfrm>
              <a:off x="4967050" y="3724902"/>
              <a:ext cx="127139" cy="207976"/>
            </a:xfrm>
            <a:prstGeom prst="leftBrace">
              <a:avLst>
                <a:gd name="adj1" fmla="val 27595"/>
                <a:gd name="adj2" fmla="val 50000"/>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3" name="CuadroTexto 42">
              <a:extLst>
                <a:ext uri="{FF2B5EF4-FFF2-40B4-BE49-F238E27FC236}">
                  <a16:creationId xmlns:a16="http://schemas.microsoft.com/office/drawing/2014/main" id="{63879768-AC17-4F1C-B3C5-9A8DDEF9F82E}"/>
                </a:ext>
              </a:extLst>
            </p:cNvPr>
            <p:cNvSpPr txBox="1"/>
            <p:nvPr/>
          </p:nvSpPr>
          <p:spPr>
            <a:xfrm>
              <a:off x="3326074" y="2802118"/>
              <a:ext cx="1517650" cy="307777"/>
            </a:xfrm>
            <a:prstGeom prst="rect">
              <a:avLst/>
            </a:prstGeom>
            <a:noFill/>
          </p:spPr>
          <p:txBody>
            <a:bodyPr wrap="square" rtlCol="0">
              <a:spAutoFit/>
            </a:bodyPr>
            <a:lstStyle/>
            <a:p>
              <a:pPr algn="r"/>
              <a:r>
                <a:rPr lang="es-CO" b="1" dirty="0">
                  <a:solidFill>
                    <a:schemeClr val="accent2"/>
                  </a:solidFill>
                  <a:latin typeface="Roboto" panose="02000000000000000000" pitchFamily="2" charset="0"/>
                  <a:ea typeface="Roboto" panose="02000000000000000000" pitchFamily="2" charset="0"/>
                </a:rPr>
                <a:t>Premisas</a:t>
              </a:r>
            </a:p>
          </p:txBody>
        </p:sp>
        <p:sp>
          <p:nvSpPr>
            <p:cNvPr id="46" name="CuadroTexto 45">
              <a:extLst>
                <a:ext uri="{FF2B5EF4-FFF2-40B4-BE49-F238E27FC236}">
                  <a16:creationId xmlns:a16="http://schemas.microsoft.com/office/drawing/2014/main" id="{55F77683-5144-425D-9D1C-74D01202EA62}"/>
                </a:ext>
              </a:extLst>
            </p:cNvPr>
            <p:cNvSpPr txBox="1"/>
            <p:nvPr/>
          </p:nvSpPr>
          <p:spPr>
            <a:xfrm>
              <a:off x="3445430" y="3647942"/>
              <a:ext cx="1398294" cy="369332"/>
            </a:xfrm>
            <a:prstGeom prst="rect">
              <a:avLst/>
            </a:prstGeom>
            <a:noFill/>
          </p:spPr>
          <p:txBody>
            <a:bodyPr wrap="square" rtlCol="0">
              <a:spAutoFit/>
            </a:bodyPr>
            <a:lstStyle/>
            <a:p>
              <a:pPr algn="r"/>
              <a:r>
                <a:rPr lang="es-CO" b="1" dirty="0">
                  <a:solidFill>
                    <a:srgbClr val="00B050"/>
                  </a:solidFill>
                  <a:latin typeface="Roboto" panose="02000000000000000000" pitchFamily="2" charset="0"/>
                  <a:ea typeface="Roboto" panose="02000000000000000000" pitchFamily="2" charset="0"/>
                </a:rPr>
                <a:t>Conclusión</a:t>
              </a:r>
            </a:p>
          </p:txBody>
        </p:sp>
        <mc:AlternateContent xmlns:mc="http://schemas.openxmlformats.org/markup-compatibility/2006">
          <mc:Choice xmlns:a14="http://schemas.microsoft.com/office/drawing/2010/main" Requires="a14">
            <p:sp>
              <p:nvSpPr>
                <p:cNvPr id="48" name="CuadroTexto 47">
                  <a:extLst>
                    <a:ext uri="{FF2B5EF4-FFF2-40B4-BE49-F238E27FC236}">
                      <a16:creationId xmlns:a16="http://schemas.microsoft.com/office/drawing/2014/main" id="{488F4005-1D9D-4832-866E-0F77860673E7}"/>
                    </a:ext>
                  </a:extLst>
                </p:cNvPr>
                <p:cNvSpPr txBox="1"/>
                <p:nvPr/>
              </p:nvSpPr>
              <p:spPr>
                <a:xfrm>
                  <a:off x="5124068" y="2450090"/>
                  <a:ext cx="542441" cy="15472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s-MX" sz="2000" b="0" i="1" smtClean="0">
                                <a:latin typeface="Cambria Math" panose="02040503050406030204" pitchFamily="18" charset="0"/>
                                <a:ea typeface="Cambria Math" panose="02040503050406030204" pitchFamily="18" charset="0"/>
                              </a:rPr>
                            </m:ctrlPr>
                          </m:fPr>
                          <m:num>
                            <m:eqArr>
                              <m:eqArrPr>
                                <m:ctrlPr>
                                  <a:rPr lang="es-MX" sz="2000" b="0" i="1" smtClean="0">
                                    <a:latin typeface="Cambria Math" panose="02040503050406030204" pitchFamily="18" charset="0"/>
                                    <a:ea typeface="Cambria Math" panose="02040503050406030204" pitchFamily="18" charset="0"/>
                                  </a:rPr>
                                </m:ctrlPr>
                              </m:eqArrPr>
                              <m:e>
                                <m:sSub>
                                  <m:sSubPr>
                                    <m:ctrlPr>
                                      <a:rPr lang="es-MX" sz="2000" b="0" i="1" smtClean="0">
                                        <a:latin typeface="Cambria Math" panose="02040503050406030204" pitchFamily="18" charset="0"/>
                                        <a:ea typeface="Cambria Math" panose="02040503050406030204" pitchFamily="18" charset="0"/>
                                      </a:rPr>
                                    </m:ctrlPr>
                                  </m:sSubPr>
                                  <m:e>
                                    <m:r>
                                      <a:rPr lang="es-MX" sz="2000" b="0" i="1" smtClean="0">
                                        <a:latin typeface="Cambria Math" panose="02040503050406030204" pitchFamily="18" charset="0"/>
                                        <a:ea typeface="Cambria Math" panose="02040503050406030204" pitchFamily="18" charset="0"/>
                                      </a:rPr>
                                      <m:t>𝑝</m:t>
                                    </m:r>
                                  </m:e>
                                  <m:sub>
                                    <m:r>
                                      <a:rPr lang="es-MX" sz="2000" b="0" i="1" smtClean="0">
                                        <a:latin typeface="Cambria Math" panose="02040503050406030204" pitchFamily="18" charset="0"/>
                                        <a:ea typeface="Cambria Math" panose="02040503050406030204" pitchFamily="18" charset="0"/>
                                      </a:rPr>
                                      <m:t>1</m:t>
                                    </m:r>
                                  </m:sub>
                                </m:sSub>
                              </m:e>
                              <m:e>
                                <m:sSub>
                                  <m:sSubPr>
                                    <m:ctrlPr>
                                      <a:rPr lang="es-MX" sz="2000" b="0" i="1" smtClean="0">
                                        <a:latin typeface="Cambria Math" panose="02040503050406030204" pitchFamily="18" charset="0"/>
                                        <a:ea typeface="Cambria Math" panose="02040503050406030204" pitchFamily="18" charset="0"/>
                                      </a:rPr>
                                    </m:ctrlPr>
                                  </m:sSubPr>
                                  <m:e>
                                    <m:r>
                                      <a:rPr lang="es-MX" sz="2000" b="0" i="1" smtClean="0">
                                        <a:latin typeface="Cambria Math" panose="02040503050406030204" pitchFamily="18" charset="0"/>
                                        <a:ea typeface="Cambria Math" panose="02040503050406030204" pitchFamily="18" charset="0"/>
                                      </a:rPr>
                                      <m:t>𝑝</m:t>
                                    </m:r>
                                  </m:e>
                                  <m:sub>
                                    <m:r>
                                      <a:rPr lang="es-MX" sz="2000" b="0" i="1" smtClean="0">
                                        <a:latin typeface="Cambria Math" panose="02040503050406030204" pitchFamily="18" charset="0"/>
                                        <a:ea typeface="Cambria Math" panose="02040503050406030204" pitchFamily="18" charset="0"/>
                                      </a:rPr>
                                      <m:t>2</m:t>
                                    </m:r>
                                  </m:sub>
                                </m:sSub>
                              </m:e>
                              <m:e>
                                <m:r>
                                  <a:rPr lang="es-MX" sz="2000" b="0" i="1" smtClean="0">
                                    <a:latin typeface="Cambria Math" panose="02040503050406030204" pitchFamily="18" charset="0"/>
                                    <a:ea typeface="Cambria Math" panose="02040503050406030204" pitchFamily="18" charset="0"/>
                                  </a:rPr>
                                  <m:t>⋮</m:t>
                                </m:r>
                              </m:e>
                              <m:e>
                                <m:sSub>
                                  <m:sSubPr>
                                    <m:ctrlPr>
                                      <a:rPr lang="es-MX" sz="2000" b="0" i="1" smtClean="0">
                                        <a:latin typeface="Cambria Math" panose="02040503050406030204" pitchFamily="18" charset="0"/>
                                        <a:ea typeface="Cambria Math" panose="02040503050406030204" pitchFamily="18" charset="0"/>
                                      </a:rPr>
                                    </m:ctrlPr>
                                  </m:sSubPr>
                                  <m:e>
                                    <m:r>
                                      <a:rPr lang="es-MX" sz="2000" b="0" i="1" smtClean="0">
                                        <a:latin typeface="Cambria Math" panose="02040503050406030204" pitchFamily="18" charset="0"/>
                                        <a:ea typeface="Cambria Math" panose="02040503050406030204" pitchFamily="18" charset="0"/>
                                      </a:rPr>
                                      <m:t>𝑝</m:t>
                                    </m:r>
                                  </m:e>
                                  <m:sub>
                                    <m:r>
                                      <a:rPr lang="es-MX" sz="2000" b="0" i="1" smtClean="0">
                                        <a:latin typeface="Cambria Math" panose="02040503050406030204" pitchFamily="18" charset="0"/>
                                        <a:ea typeface="Cambria Math" panose="02040503050406030204" pitchFamily="18" charset="0"/>
                                      </a:rPr>
                                      <m:t>𝑛</m:t>
                                    </m:r>
                                  </m:sub>
                                </m:sSub>
                              </m:e>
                            </m:eqArr>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den>
                        </m:f>
                      </m:oMath>
                    </m:oMathPara>
                  </a14:m>
                  <a:endParaRPr lang="es-MX" sz="2000" b="0" i="0" dirty="0">
                    <a:latin typeface="Cambria Math" panose="02040503050406030204" pitchFamily="18" charset="0"/>
                    <a:ea typeface="Cambria Math" panose="02040503050406030204" pitchFamily="18" charset="0"/>
                  </a:endParaRPr>
                </a:p>
              </p:txBody>
            </p:sp>
          </mc:Choice>
          <mc:Fallback>
            <p:sp>
              <p:nvSpPr>
                <p:cNvPr id="48" name="CuadroTexto 47">
                  <a:extLst>
                    <a:ext uri="{FF2B5EF4-FFF2-40B4-BE49-F238E27FC236}">
                      <a16:creationId xmlns:a16="http://schemas.microsoft.com/office/drawing/2014/main" id="{488F4005-1D9D-4832-866E-0F77860673E7}"/>
                    </a:ext>
                  </a:extLst>
                </p:cNvPr>
                <p:cNvSpPr txBox="1">
                  <a:spLocks noRot="1" noChangeAspect="1" noMove="1" noResize="1" noEditPoints="1" noAdjustHandles="1" noChangeArrowheads="1" noChangeShapeType="1" noTextEdit="1"/>
                </p:cNvSpPr>
                <p:nvPr/>
              </p:nvSpPr>
              <p:spPr>
                <a:xfrm>
                  <a:off x="5124068" y="2450090"/>
                  <a:ext cx="542441" cy="1547283"/>
                </a:xfrm>
                <a:prstGeom prst="rect">
                  <a:avLst/>
                </a:prstGeom>
                <a:blipFill>
                  <a:blip r:embed="rId3"/>
                  <a:stretch>
                    <a:fillRect/>
                  </a:stretch>
                </a:blipFill>
              </p:spPr>
              <p:txBody>
                <a:bodyPr/>
                <a:lstStyle/>
                <a:p>
                  <a:r>
                    <a:rPr lang="es-CO">
                      <a:noFill/>
                    </a:rPr>
                    <a:t> </a:t>
                  </a:r>
                </a:p>
              </p:txBody>
            </p:sp>
          </mc:Fallback>
        </mc:AlternateContent>
      </p:grpSp>
      <p:sp>
        <p:nvSpPr>
          <p:cNvPr id="49" name="Google Shape;310;p34">
            <a:extLst>
              <a:ext uri="{FF2B5EF4-FFF2-40B4-BE49-F238E27FC236}">
                <a16:creationId xmlns:a16="http://schemas.microsoft.com/office/drawing/2014/main" id="{22BAE60A-7B53-429E-8191-1B870B09A7CE}"/>
              </a:ext>
            </a:extLst>
          </p:cNvPr>
          <p:cNvSpPr txBox="1">
            <a:spLocks/>
          </p:cNvSpPr>
          <p:nvPr/>
        </p:nvSpPr>
        <p:spPr>
          <a:xfrm>
            <a:off x="404124" y="3003623"/>
            <a:ext cx="10890782" cy="24257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ea typeface="Roboto" panose="02000000000000000000" pitchFamily="2" charset="0"/>
              </a:rPr>
              <a:t>La </a:t>
            </a:r>
            <a:r>
              <a:rPr lang="es-MX" sz="2000" b="1" dirty="0">
                <a:latin typeface="+mn-lt"/>
                <a:ea typeface="Roboto" panose="02000000000000000000" pitchFamily="2" charset="0"/>
              </a:rPr>
              <a:t>forma del argumento </a:t>
            </a:r>
            <a:r>
              <a:rPr lang="es-MX" sz="2000" dirty="0">
                <a:latin typeface="+mn-lt"/>
                <a:ea typeface="Roboto" panose="02000000000000000000" pitchFamily="2" charset="0"/>
              </a:rPr>
              <a:t>hace alusión a la estructura lógica empleada en el razonamiento para llegar de las premisas a la conclusión. </a:t>
            </a:r>
          </a:p>
        </p:txBody>
      </p:sp>
      <mc:AlternateContent xmlns:mc="http://schemas.openxmlformats.org/markup-compatibility/2006">
        <mc:Choice xmlns:a14="http://schemas.microsoft.com/office/drawing/2010/main" Requires="a14">
          <p:sp>
            <p:nvSpPr>
              <p:cNvPr id="52" name="CuadroTexto 51">
                <a:extLst>
                  <a:ext uri="{FF2B5EF4-FFF2-40B4-BE49-F238E27FC236}">
                    <a16:creationId xmlns:a16="http://schemas.microsoft.com/office/drawing/2014/main" id="{23E4CD3B-EBE4-40A8-A9DC-A1C2E0EA5978}"/>
                  </a:ext>
                </a:extLst>
              </p:cNvPr>
              <p:cNvSpPr txBox="1"/>
              <p:nvPr/>
            </p:nvSpPr>
            <p:spPr>
              <a:xfrm>
                <a:off x="8969586" y="4199257"/>
                <a:ext cx="2078260" cy="246220"/>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1600" b="0" i="1" smtClean="0">
                              <a:latin typeface="Cambria Math" panose="02040503050406030204" pitchFamily="18" charset="0"/>
                            </a:rPr>
                          </m:ctrlPr>
                        </m:sSubPr>
                        <m:e>
                          <m:r>
                            <a:rPr lang="es-MX" sz="1600" b="0" i="1" smtClean="0">
                              <a:latin typeface="Cambria Math" panose="02040503050406030204" pitchFamily="18" charset="0"/>
                            </a:rPr>
                            <m:t>𝑝</m:t>
                          </m:r>
                        </m:e>
                        <m:sub>
                          <m:r>
                            <a:rPr lang="es-MX" sz="1600" b="0" i="1" smtClean="0">
                              <a:latin typeface="Cambria Math" panose="02040503050406030204" pitchFamily="18" charset="0"/>
                            </a:rPr>
                            <m:t>1</m:t>
                          </m:r>
                        </m:sub>
                      </m:sSub>
                      <m:r>
                        <a:rPr lang="es-MX" sz="1600" b="0" i="0" smtClean="0">
                          <a:latin typeface="Cambria Math" panose="02040503050406030204" pitchFamily="18" charset="0"/>
                        </a:rPr>
                        <m:t>, </m:t>
                      </m:r>
                      <m:sSub>
                        <m:sSubPr>
                          <m:ctrlPr>
                            <a:rPr lang="es-MX" sz="1600" i="1">
                              <a:latin typeface="Cambria Math" panose="02040503050406030204" pitchFamily="18" charset="0"/>
                            </a:rPr>
                          </m:ctrlPr>
                        </m:sSubPr>
                        <m:e>
                          <m:r>
                            <a:rPr lang="es-MX" sz="1600" i="1">
                              <a:latin typeface="Cambria Math" panose="02040503050406030204" pitchFamily="18" charset="0"/>
                            </a:rPr>
                            <m:t>𝑝</m:t>
                          </m:r>
                        </m:e>
                        <m:sub>
                          <m:r>
                            <a:rPr lang="es-MX" sz="1600" b="0" i="1" smtClean="0">
                              <a:latin typeface="Cambria Math" panose="02040503050406030204" pitchFamily="18" charset="0"/>
                            </a:rPr>
                            <m:t>2</m:t>
                          </m:r>
                        </m:sub>
                      </m:sSub>
                      <m:r>
                        <a:rPr lang="es-MX" sz="1600" b="0" i="1" smtClean="0">
                          <a:latin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m:t>
                      </m:r>
                      <m:sSub>
                        <m:sSubPr>
                          <m:ctrlPr>
                            <a:rPr lang="es-MX" sz="1600" b="0" i="1" smtClean="0">
                              <a:latin typeface="Cambria Math" panose="02040503050406030204" pitchFamily="18" charset="0"/>
                              <a:ea typeface="Cambria Math" panose="02040503050406030204" pitchFamily="18" charset="0"/>
                            </a:rPr>
                          </m:ctrlPr>
                        </m:sSubPr>
                        <m:e>
                          <m:r>
                            <a:rPr lang="es-MX" sz="1600" b="0" i="1" smtClean="0">
                              <a:latin typeface="Cambria Math" panose="02040503050406030204" pitchFamily="18" charset="0"/>
                              <a:ea typeface="Cambria Math" panose="02040503050406030204" pitchFamily="18" charset="0"/>
                            </a:rPr>
                            <m:t>𝑝</m:t>
                          </m:r>
                        </m:e>
                        <m:sub>
                          <m:r>
                            <a:rPr lang="es-MX" sz="1600" b="0" i="1" smtClean="0">
                              <a:latin typeface="Cambria Math" panose="02040503050406030204" pitchFamily="18" charset="0"/>
                              <a:ea typeface="Cambria Math" panose="02040503050406030204" pitchFamily="18" charset="0"/>
                            </a:rPr>
                            <m:t>𝑛</m:t>
                          </m:r>
                        </m:sub>
                      </m:sSub>
                      <m:r>
                        <a:rPr lang="es-MX" sz="1600" i="1">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p>
            </p:txBody>
          </p:sp>
        </mc:Choice>
        <mc:Fallback>
          <p:sp>
            <p:nvSpPr>
              <p:cNvPr id="52" name="CuadroTexto 51">
                <a:extLst>
                  <a:ext uri="{FF2B5EF4-FFF2-40B4-BE49-F238E27FC236}">
                    <a16:creationId xmlns:a16="http://schemas.microsoft.com/office/drawing/2014/main" id="{23E4CD3B-EBE4-40A8-A9DC-A1C2E0EA5978}"/>
                  </a:ext>
                </a:extLst>
              </p:cNvPr>
              <p:cNvSpPr txBox="1">
                <a:spLocks noRot="1" noChangeAspect="1" noMove="1" noResize="1" noEditPoints="1" noAdjustHandles="1" noChangeArrowheads="1" noChangeShapeType="1" noTextEdit="1"/>
              </p:cNvSpPr>
              <p:nvPr/>
            </p:nvSpPr>
            <p:spPr>
              <a:xfrm>
                <a:off x="8969586" y="4199257"/>
                <a:ext cx="2078260" cy="246220"/>
              </a:xfrm>
              <a:prstGeom prst="rect">
                <a:avLst/>
              </a:prstGeom>
              <a:blipFill>
                <a:blip r:embed="rId4"/>
                <a:stretch>
                  <a:fillRect b="-21429"/>
                </a:stretch>
              </a:blipFill>
              <a:ln>
                <a:solidFill>
                  <a:schemeClr val="tx1"/>
                </a:solid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55" name="CuadroTexto 54">
                <a:extLst>
                  <a:ext uri="{FF2B5EF4-FFF2-40B4-BE49-F238E27FC236}">
                    <a16:creationId xmlns:a16="http://schemas.microsoft.com/office/drawing/2014/main" id="{691D856A-9552-4844-9626-D1FA1ADE64BB}"/>
                  </a:ext>
                </a:extLst>
              </p:cNvPr>
              <p:cNvSpPr txBox="1"/>
              <p:nvPr/>
            </p:nvSpPr>
            <p:spPr>
              <a:xfrm>
                <a:off x="6165734" y="4199257"/>
                <a:ext cx="2078260" cy="246220"/>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1600" b="0" i="1" smtClean="0">
                              <a:latin typeface="Cambria Math" panose="02040503050406030204" pitchFamily="18" charset="0"/>
                            </a:rPr>
                          </m:ctrlPr>
                        </m:sSubPr>
                        <m:e>
                          <m:r>
                            <a:rPr lang="es-MX" sz="1600" b="0" i="1" smtClean="0">
                              <a:latin typeface="Cambria Math" panose="02040503050406030204" pitchFamily="18" charset="0"/>
                            </a:rPr>
                            <m:t>𝑝</m:t>
                          </m:r>
                        </m:e>
                        <m:sub>
                          <m:r>
                            <a:rPr lang="es-MX" sz="1600" b="0" i="1" smtClean="0">
                              <a:latin typeface="Cambria Math" panose="02040503050406030204" pitchFamily="18" charset="0"/>
                            </a:rPr>
                            <m:t>1</m:t>
                          </m:r>
                        </m:sub>
                      </m:sSub>
                      <m:r>
                        <a:rPr lang="es-MX" sz="1600" b="0" i="1" smtClean="0">
                          <a:latin typeface="Cambria Math" panose="02040503050406030204" pitchFamily="18" charset="0"/>
                          <a:ea typeface="Cambria Math" panose="02040503050406030204" pitchFamily="18" charset="0"/>
                        </a:rPr>
                        <m:t>∧</m:t>
                      </m:r>
                      <m:sSub>
                        <m:sSubPr>
                          <m:ctrlPr>
                            <a:rPr lang="es-MX" sz="1600" i="1">
                              <a:latin typeface="Cambria Math" panose="02040503050406030204" pitchFamily="18" charset="0"/>
                            </a:rPr>
                          </m:ctrlPr>
                        </m:sSubPr>
                        <m:e>
                          <m:r>
                            <a:rPr lang="es-MX" sz="1600" i="1">
                              <a:latin typeface="Cambria Math" panose="02040503050406030204" pitchFamily="18" charset="0"/>
                            </a:rPr>
                            <m:t>𝑝</m:t>
                          </m:r>
                        </m:e>
                        <m:sub>
                          <m:r>
                            <a:rPr lang="es-MX" sz="1600" b="0" i="1" smtClean="0">
                              <a:latin typeface="Cambria Math" panose="02040503050406030204" pitchFamily="18" charset="0"/>
                            </a:rPr>
                            <m:t>2</m:t>
                          </m:r>
                        </m:sub>
                      </m:sSub>
                      <m:r>
                        <a:rPr lang="es-MX" sz="1600" i="1">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m:t>
                      </m:r>
                      <m:sSub>
                        <m:sSubPr>
                          <m:ctrlPr>
                            <a:rPr lang="es-MX" sz="1600" b="0" i="1" smtClean="0">
                              <a:latin typeface="Cambria Math" panose="02040503050406030204" pitchFamily="18" charset="0"/>
                              <a:ea typeface="Cambria Math" panose="02040503050406030204" pitchFamily="18" charset="0"/>
                            </a:rPr>
                          </m:ctrlPr>
                        </m:sSubPr>
                        <m:e>
                          <m:r>
                            <a:rPr lang="es-MX" sz="1600" b="0" i="1" smtClean="0">
                              <a:latin typeface="Cambria Math" panose="02040503050406030204" pitchFamily="18" charset="0"/>
                              <a:ea typeface="Cambria Math" panose="02040503050406030204" pitchFamily="18" charset="0"/>
                            </a:rPr>
                            <m:t>𝑝</m:t>
                          </m:r>
                        </m:e>
                        <m:sub>
                          <m:r>
                            <a:rPr lang="es-MX" sz="1600" b="0" i="1" smtClean="0">
                              <a:latin typeface="Cambria Math" panose="02040503050406030204" pitchFamily="18" charset="0"/>
                              <a:ea typeface="Cambria Math" panose="02040503050406030204" pitchFamily="18" charset="0"/>
                            </a:rPr>
                            <m:t>𝑛</m:t>
                          </m:r>
                        </m:sub>
                      </m:sSub>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p>
            </p:txBody>
          </p:sp>
        </mc:Choice>
        <mc:Fallback>
          <p:sp>
            <p:nvSpPr>
              <p:cNvPr id="55" name="CuadroTexto 54">
                <a:extLst>
                  <a:ext uri="{FF2B5EF4-FFF2-40B4-BE49-F238E27FC236}">
                    <a16:creationId xmlns:a16="http://schemas.microsoft.com/office/drawing/2014/main" id="{691D856A-9552-4844-9626-D1FA1ADE64BB}"/>
                  </a:ext>
                </a:extLst>
              </p:cNvPr>
              <p:cNvSpPr txBox="1">
                <a:spLocks noRot="1" noChangeAspect="1" noMove="1" noResize="1" noEditPoints="1" noAdjustHandles="1" noChangeArrowheads="1" noChangeShapeType="1" noTextEdit="1"/>
              </p:cNvSpPr>
              <p:nvPr/>
            </p:nvSpPr>
            <p:spPr>
              <a:xfrm>
                <a:off x="6165734" y="4199257"/>
                <a:ext cx="2078260" cy="246220"/>
              </a:xfrm>
              <a:prstGeom prst="rect">
                <a:avLst/>
              </a:prstGeom>
              <a:blipFill>
                <a:blip r:embed="rId5"/>
                <a:stretch>
                  <a:fillRect b="-21429"/>
                </a:stretch>
              </a:blipFill>
              <a:ln>
                <a:solidFill>
                  <a:schemeClr val="tx1"/>
                </a:solid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6EEF18C4-F2ED-4EB0-A962-67A2490DFD91}"/>
                  </a:ext>
                </a:extLst>
              </p:cNvPr>
              <p:cNvSpPr txBox="1"/>
              <p:nvPr/>
            </p:nvSpPr>
            <p:spPr>
              <a:xfrm>
                <a:off x="1100942" y="4199257"/>
                <a:ext cx="1371337" cy="553998"/>
              </a:xfrm>
              <a:prstGeom prst="rect">
                <a:avLst/>
              </a:prstGeom>
              <a:solidFill>
                <a:schemeClr val="accent6">
                  <a:lumMod val="20000"/>
                  <a:lumOff val="80000"/>
                </a:schemeClr>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s-MX" sz="3600" b="0" i="1" smtClean="0">
                          <a:latin typeface="Cambria Math" panose="02040503050406030204" pitchFamily="18" charset="0"/>
                        </a:rPr>
                        <m:t>𝑃</m:t>
                      </m:r>
                      <m:r>
                        <a:rPr lang="es-MX" sz="3600" b="0" i="1" smtClean="0">
                          <a:latin typeface="Cambria Math" panose="02040503050406030204" pitchFamily="18" charset="0"/>
                        </a:rPr>
                        <m:t>→</m:t>
                      </m:r>
                      <m:r>
                        <a:rPr lang="es-MX" sz="3600" b="0" i="1" smtClean="0">
                          <a:latin typeface="Cambria Math" panose="02040503050406030204" pitchFamily="18" charset="0"/>
                        </a:rPr>
                        <m:t>𝑄</m:t>
                      </m:r>
                    </m:oMath>
                  </m:oMathPara>
                </a14:m>
                <a:endParaRPr lang="es-CO" sz="3600" dirty="0"/>
              </a:p>
            </p:txBody>
          </p:sp>
        </mc:Choice>
        <mc:Fallback>
          <p:sp>
            <p:nvSpPr>
              <p:cNvPr id="15" name="CuadroTexto 14">
                <a:extLst>
                  <a:ext uri="{FF2B5EF4-FFF2-40B4-BE49-F238E27FC236}">
                    <a16:creationId xmlns:a16="http://schemas.microsoft.com/office/drawing/2014/main" id="{6EEF18C4-F2ED-4EB0-A962-67A2490DFD91}"/>
                  </a:ext>
                </a:extLst>
              </p:cNvPr>
              <p:cNvSpPr txBox="1">
                <a:spLocks noRot="1" noChangeAspect="1" noMove="1" noResize="1" noEditPoints="1" noAdjustHandles="1" noChangeArrowheads="1" noChangeShapeType="1" noTextEdit="1"/>
              </p:cNvSpPr>
              <p:nvPr/>
            </p:nvSpPr>
            <p:spPr>
              <a:xfrm>
                <a:off x="1100942" y="4199257"/>
                <a:ext cx="1371337" cy="553998"/>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F9E01239-DB71-45B9-A9F6-4A08CF60E561}"/>
                  </a:ext>
                </a:extLst>
              </p:cNvPr>
              <p:cNvSpPr txBox="1"/>
              <p:nvPr/>
            </p:nvSpPr>
            <p:spPr>
              <a:xfrm>
                <a:off x="3631897" y="4125038"/>
                <a:ext cx="542441" cy="1256434"/>
              </a:xfrm>
              <a:prstGeom prst="rect">
                <a:avLst/>
              </a:prstGeom>
              <a:noFill/>
              <a:ln>
                <a:solidFill>
                  <a:schemeClr val="tx1"/>
                </a:solidFill>
              </a:ln>
            </p:spPr>
            <p:txBody>
              <a:bodyPr wrap="square">
                <a:spAutoFit/>
              </a:bodyPr>
              <a:lstStyle/>
              <a:p>
                <a:pPr/>
                <a14:m>
                  <m:oMathPara xmlns:m="http://schemas.openxmlformats.org/officeDocument/2006/math">
                    <m:oMathParaPr>
                      <m:jc m:val="left"/>
                    </m:oMathParaPr>
                    <m:oMath xmlns:m="http://schemas.openxmlformats.org/officeDocument/2006/math">
                      <m:f>
                        <m:fPr>
                          <m:ctrlPr>
                            <a:rPr lang="es-MX" sz="1600" b="0" i="1" smtClean="0">
                              <a:latin typeface="Cambria Math" panose="02040503050406030204" pitchFamily="18" charset="0"/>
                              <a:ea typeface="Cambria Math" panose="02040503050406030204" pitchFamily="18" charset="0"/>
                            </a:rPr>
                          </m:ctrlPr>
                        </m:fPr>
                        <m:num>
                          <m:eqArr>
                            <m:eqArrPr>
                              <m:ctrlPr>
                                <a:rPr lang="es-MX" sz="1600" b="0" i="1" smtClean="0">
                                  <a:latin typeface="Cambria Math" panose="02040503050406030204" pitchFamily="18" charset="0"/>
                                  <a:ea typeface="Cambria Math" panose="02040503050406030204" pitchFamily="18" charset="0"/>
                                </a:rPr>
                              </m:ctrlPr>
                            </m:eqArrPr>
                            <m:e>
                              <m:sSub>
                                <m:sSubPr>
                                  <m:ctrlPr>
                                    <a:rPr lang="es-MX" sz="1600" b="0" i="1" smtClean="0">
                                      <a:latin typeface="Cambria Math" panose="02040503050406030204" pitchFamily="18" charset="0"/>
                                      <a:ea typeface="Cambria Math" panose="02040503050406030204" pitchFamily="18" charset="0"/>
                                    </a:rPr>
                                  </m:ctrlPr>
                                </m:sSubPr>
                                <m:e>
                                  <m:r>
                                    <a:rPr lang="es-MX" sz="1600" b="0" i="1" smtClean="0">
                                      <a:latin typeface="Cambria Math" panose="02040503050406030204" pitchFamily="18" charset="0"/>
                                      <a:ea typeface="Cambria Math" panose="02040503050406030204" pitchFamily="18" charset="0"/>
                                    </a:rPr>
                                    <m:t>𝑝</m:t>
                                  </m:r>
                                </m:e>
                                <m:sub>
                                  <m:r>
                                    <a:rPr lang="es-MX" sz="1600" b="0" i="1" smtClean="0">
                                      <a:latin typeface="Cambria Math" panose="02040503050406030204" pitchFamily="18" charset="0"/>
                                      <a:ea typeface="Cambria Math" panose="02040503050406030204" pitchFamily="18" charset="0"/>
                                    </a:rPr>
                                    <m:t>1</m:t>
                                  </m:r>
                                </m:sub>
                              </m:sSub>
                            </m:e>
                            <m:e>
                              <m:sSub>
                                <m:sSubPr>
                                  <m:ctrlPr>
                                    <a:rPr lang="es-MX" sz="1600" b="0" i="1" smtClean="0">
                                      <a:latin typeface="Cambria Math" panose="02040503050406030204" pitchFamily="18" charset="0"/>
                                      <a:ea typeface="Cambria Math" panose="02040503050406030204" pitchFamily="18" charset="0"/>
                                    </a:rPr>
                                  </m:ctrlPr>
                                </m:sSubPr>
                                <m:e>
                                  <m:r>
                                    <a:rPr lang="es-MX" sz="1600" b="0" i="1" smtClean="0">
                                      <a:latin typeface="Cambria Math" panose="02040503050406030204" pitchFamily="18" charset="0"/>
                                      <a:ea typeface="Cambria Math" panose="02040503050406030204" pitchFamily="18" charset="0"/>
                                    </a:rPr>
                                    <m:t>𝑝</m:t>
                                  </m:r>
                                </m:e>
                                <m:sub>
                                  <m:r>
                                    <a:rPr lang="es-MX" sz="1600" b="0" i="1" smtClean="0">
                                      <a:latin typeface="Cambria Math" panose="02040503050406030204" pitchFamily="18" charset="0"/>
                                      <a:ea typeface="Cambria Math" panose="02040503050406030204" pitchFamily="18" charset="0"/>
                                    </a:rPr>
                                    <m:t>2</m:t>
                                  </m:r>
                                </m:sub>
                              </m:sSub>
                            </m:e>
                            <m:e>
                              <m:r>
                                <a:rPr lang="es-MX" sz="1600" b="0" i="1" smtClean="0">
                                  <a:latin typeface="Cambria Math" panose="02040503050406030204" pitchFamily="18" charset="0"/>
                                  <a:ea typeface="Cambria Math" panose="02040503050406030204" pitchFamily="18" charset="0"/>
                                </a:rPr>
                                <m:t>⋮</m:t>
                              </m:r>
                            </m:e>
                            <m:e>
                              <m:sSub>
                                <m:sSubPr>
                                  <m:ctrlPr>
                                    <a:rPr lang="es-MX" sz="1600" b="0" i="1" smtClean="0">
                                      <a:latin typeface="Cambria Math" panose="02040503050406030204" pitchFamily="18" charset="0"/>
                                      <a:ea typeface="Cambria Math" panose="02040503050406030204" pitchFamily="18" charset="0"/>
                                    </a:rPr>
                                  </m:ctrlPr>
                                </m:sSubPr>
                                <m:e>
                                  <m:r>
                                    <a:rPr lang="es-MX" sz="1600" b="0" i="1" smtClean="0">
                                      <a:latin typeface="Cambria Math" panose="02040503050406030204" pitchFamily="18" charset="0"/>
                                      <a:ea typeface="Cambria Math" panose="02040503050406030204" pitchFamily="18" charset="0"/>
                                    </a:rPr>
                                    <m:t>𝑝</m:t>
                                  </m:r>
                                </m:e>
                                <m:sub>
                                  <m:r>
                                    <a:rPr lang="es-MX" sz="1600" b="0" i="1" smtClean="0">
                                      <a:latin typeface="Cambria Math" panose="02040503050406030204" pitchFamily="18" charset="0"/>
                                      <a:ea typeface="Cambria Math" panose="02040503050406030204" pitchFamily="18" charset="0"/>
                                    </a:rPr>
                                    <m:t>𝑛</m:t>
                                  </m:r>
                                </m:sub>
                              </m:sSub>
                            </m:e>
                          </m:eqArr>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den>
                      </m:f>
                    </m:oMath>
                  </m:oMathPara>
                </a14:m>
                <a:endParaRPr lang="es-MX" sz="1600" b="0" i="0" dirty="0">
                  <a:latin typeface="Cambria Math" panose="02040503050406030204" pitchFamily="18" charset="0"/>
                  <a:ea typeface="Cambria Math" panose="02040503050406030204" pitchFamily="18" charset="0"/>
                </a:endParaRPr>
              </a:p>
            </p:txBody>
          </p:sp>
        </mc:Choice>
        <mc:Fallback>
          <p:sp>
            <p:nvSpPr>
              <p:cNvPr id="16" name="CuadroTexto 15">
                <a:extLst>
                  <a:ext uri="{FF2B5EF4-FFF2-40B4-BE49-F238E27FC236}">
                    <a16:creationId xmlns:a16="http://schemas.microsoft.com/office/drawing/2014/main" id="{F9E01239-DB71-45B9-A9F6-4A08CF60E561}"/>
                  </a:ext>
                </a:extLst>
              </p:cNvPr>
              <p:cNvSpPr txBox="1">
                <a:spLocks noRot="1" noChangeAspect="1" noMove="1" noResize="1" noEditPoints="1" noAdjustHandles="1" noChangeArrowheads="1" noChangeShapeType="1" noTextEdit="1"/>
              </p:cNvSpPr>
              <p:nvPr/>
            </p:nvSpPr>
            <p:spPr>
              <a:xfrm>
                <a:off x="3631897" y="4125038"/>
                <a:ext cx="542441" cy="1256434"/>
              </a:xfrm>
              <a:prstGeom prst="rect">
                <a:avLst/>
              </a:prstGeom>
              <a:blipFill>
                <a:blip r:embed="rId7"/>
                <a:stretch>
                  <a:fillRect/>
                </a:stretch>
              </a:blipFill>
              <a:ln>
                <a:solidFill>
                  <a:schemeClr val="tx1"/>
                </a:solidFill>
              </a:ln>
            </p:spPr>
            <p:txBody>
              <a:bodyPr/>
              <a:lstStyle/>
              <a:p>
                <a:r>
                  <a:rPr lang="es-CO">
                    <a:noFill/>
                  </a:rPr>
                  <a:t> </a:t>
                </a:r>
              </a:p>
            </p:txBody>
          </p:sp>
        </mc:Fallback>
      </mc:AlternateContent>
      <p:sp>
        <p:nvSpPr>
          <p:cNvPr id="3" name="CuadroTexto 2">
            <a:extLst>
              <a:ext uri="{FF2B5EF4-FFF2-40B4-BE49-F238E27FC236}">
                <a16:creationId xmlns:a16="http://schemas.microsoft.com/office/drawing/2014/main" id="{64A411E3-BD18-4E90-BB87-28C8CC3369ED}"/>
              </a:ext>
            </a:extLst>
          </p:cNvPr>
          <p:cNvSpPr txBox="1"/>
          <p:nvPr/>
        </p:nvSpPr>
        <p:spPr>
          <a:xfrm>
            <a:off x="2705100" y="3755706"/>
            <a:ext cx="2685030" cy="369332"/>
          </a:xfrm>
          <a:prstGeom prst="rect">
            <a:avLst/>
          </a:prstGeom>
          <a:noFill/>
        </p:spPr>
        <p:txBody>
          <a:bodyPr wrap="none" rtlCol="0">
            <a:spAutoFit/>
          </a:bodyPr>
          <a:lstStyle/>
          <a:p>
            <a:r>
              <a:rPr lang="es-CO" b="1" dirty="0"/>
              <a:t>Notación de consecuentes</a:t>
            </a:r>
          </a:p>
        </p:txBody>
      </p:sp>
      <p:sp>
        <p:nvSpPr>
          <p:cNvPr id="18" name="CuadroTexto 17">
            <a:extLst>
              <a:ext uri="{FF2B5EF4-FFF2-40B4-BE49-F238E27FC236}">
                <a16:creationId xmlns:a16="http://schemas.microsoft.com/office/drawing/2014/main" id="{8913B6F5-606E-4094-97B8-7CE2744B03B4}"/>
              </a:ext>
            </a:extLst>
          </p:cNvPr>
          <p:cNvSpPr txBox="1"/>
          <p:nvPr/>
        </p:nvSpPr>
        <p:spPr>
          <a:xfrm>
            <a:off x="6463976" y="3742938"/>
            <a:ext cx="1178079" cy="369332"/>
          </a:xfrm>
          <a:prstGeom prst="rect">
            <a:avLst/>
          </a:prstGeom>
          <a:noFill/>
        </p:spPr>
        <p:txBody>
          <a:bodyPr wrap="none" rtlCol="0">
            <a:spAutoFit/>
          </a:bodyPr>
          <a:lstStyle/>
          <a:p>
            <a:r>
              <a:rPr lang="es-CO" b="1" dirty="0"/>
              <a:t>Tautología</a:t>
            </a:r>
          </a:p>
        </p:txBody>
      </p:sp>
      <p:sp>
        <p:nvSpPr>
          <p:cNvPr id="19" name="CuadroTexto 18">
            <a:extLst>
              <a:ext uri="{FF2B5EF4-FFF2-40B4-BE49-F238E27FC236}">
                <a16:creationId xmlns:a16="http://schemas.microsoft.com/office/drawing/2014/main" id="{14308BFA-73F3-4135-BE02-10D6C2BBC8F5}"/>
              </a:ext>
            </a:extLst>
          </p:cNvPr>
          <p:cNvSpPr txBox="1"/>
          <p:nvPr/>
        </p:nvSpPr>
        <p:spPr>
          <a:xfrm>
            <a:off x="9133797" y="3742938"/>
            <a:ext cx="1749838" cy="369332"/>
          </a:xfrm>
          <a:prstGeom prst="rect">
            <a:avLst/>
          </a:prstGeom>
          <a:noFill/>
        </p:spPr>
        <p:txBody>
          <a:bodyPr wrap="none" rtlCol="0">
            <a:spAutoFit/>
          </a:bodyPr>
          <a:lstStyle/>
          <a:p>
            <a:r>
              <a:rPr lang="es-CO" b="1" dirty="0"/>
              <a:t>Forma simbólica</a:t>
            </a:r>
          </a:p>
        </p:txBody>
      </p:sp>
      <mc:AlternateContent xmlns:mc="http://schemas.openxmlformats.org/markup-compatibility/2006">
        <mc:Choice xmlns:a14="http://schemas.microsoft.com/office/drawing/2010/main" Requires="a14">
          <p:graphicFrame>
            <p:nvGraphicFramePr>
              <p:cNvPr id="20" name="Tabla 19">
                <a:extLst>
                  <a:ext uri="{FF2B5EF4-FFF2-40B4-BE49-F238E27FC236}">
                    <a16:creationId xmlns:a16="http://schemas.microsoft.com/office/drawing/2014/main" id="{69F0DB38-239F-4577-90DE-A322A14EDBFA}"/>
                  </a:ext>
                </a:extLst>
              </p:cNvPr>
              <p:cNvGraphicFramePr>
                <a:graphicFrameLocks noGrp="1"/>
              </p:cNvGraphicFramePr>
              <p:nvPr>
                <p:extLst>
                  <p:ext uri="{D42A27DB-BD31-4B8C-83A1-F6EECF244321}">
                    <p14:modId xmlns:p14="http://schemas.microsoft.com/office/powerpoint/2010/main" val="1819079286"/>
                  </p:ext>
                </p:extLst>
              </p:nvPr>
            </p:nvGraphicFramePr>
            <p:xfrm>
              <a:off x="7092531" y="5292827"/>
              <a:ext cx="2123973" cy="1371600"/>
            </p:xfrm>
            <a:graphic>
              <a:graphicData uri="http://schemas.openxmlformats.org/drawingml/2006/table">
                <a:tbl>
                  <a:tblPr firstRow="1" bandRow="1">
                    <a:tableStyleId>{AD6A3598-7CB8-4345-8D95-17CE05F158A0}</a:tableStyleId>
                  </a:tblPr>
                  <a:tblGrid>
                    <a:gridCol w="544786">
                      <a:extLst>
                        <a:ext uri="{9D8B030D-6E8A-4147-A177-3AD203B41FA5}">
                          <a16:colId xmlns:a16="http://schemas.microsoft.com/office/drawing/2014/main" val="490870258"/>
                        </a:ext>
                      </a:extLst>
                    </a:gridCol>
                    <a:gridCol w="544786">
                      <a:extLst>
                        <a:ext uri="{9D8B030D-6E8A-4147-A177-3AD203B41FA5}">
                          <a16:colId xmlns:a16="http://schemas.microsoft.com/office/drawing/2014/main" val="1397687665"/>
                        </a:ext>
                      </a:extLst>
                    </a:gridCol>
                    <a:gridCol w="1034401">
                      <a:extLst>
                        <a:ext uri="{9D8B030D-6E8A-4147-A177-3AD203B41FA5}">
                          <a16:colId xmlns:a16="http://schemas.microsoft.com/office/drawing/2014/main" val="3269965761"/>
                        </a:ext>
                      </a:extLst>
                    </a:gridCol>
                  </a:tblGrid>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200" b="1" i="1" smtClean="0">
                                    <a:latin typeface="Cambria Math" panose="02040503050406030204" pitchFamily="18" charset="0"/>
                                    <a:ea typeface="Roboto" panose="02000000000000000000" pitchFamily="2" charset="0"/>
                                  </a:rPr>
                                  <m:t>𝒑</m:t>
                                </m:r>
                              </m:oMath>
                            </m:oMathPara>
                          </a14:m>
                          <a:endParaRPr lang="es-CO" sz="12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1200" b="1" i="1" smtClean="0">
                                    <a:latin typeface="Cambria Math" panose="02040503050406030204" pitchFamily="18" charset="0"/>
                                    <a:ea typeface="Roboto" panose="02000000000000000000" pitchFamily="2" charset="0"/>
                                  </a:rPr>
                                  <m:t>𝒒</m:t>
                                </m:r>
                              </m:oMath>
                            </m:oMathPara>
                          </a14:m>
                          <a:endParaRPr lang="es-CO" sz="12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1200" b="1" i="1" smtClean="0">
                                    <a:latin typeface="Cambria Math" panose="02040503050406030204" pitchFamily="18" charset="0"/>
                                    <a:ea typeface="Roboto" panose="02000000000000000000" pitchFamily="2" charset="0"/>
                                  </a:rPr>
                                  <m:t>𝒑</m:t>
                                </m:r>
                                <m:r>
                                  <a:rPr lang="es-MX" sz="1200" b="1" i="1" smtClean="0">
                                    <a:latin typeface="Cambria Math" panose="02040503050406030204" pitchFamily="18" charset="0"/>
                                    <a:ea typeface="Cambria Math" panose="02040503050406030204" pitchFamily="18" charset="0"/>
                                  </a:rPr>
                                  <m:t>→</m:t>
                                </m:r>
                                <m:r>
                                  <a:rPr lang="es-MX" sz="1200" b="1" i="1" smtClean="0">
                                    <a:latin typeface="Cambria Math" panose="02040503050406030204" pitchFamily="18" charset="0"/>
                                    <a:ea typeface="Cambria Math" panose="02040503050406030204" pitchFamily="18" charset="0"/>
                                  </a:rPr>
                                  <m:t>𝒒</m:t>
                                </m:r>
                              </m:oMath>
                            </m:oMathPara>
                          </a14:m>
                          <a:endParaRPr lang="es-CO" sz="1200" b="1" dirty="0">
                            <a:latin typeface="Roboto" panose="02000000000000000000" pitchFamily="2" charset="0"/>
                            <a:ea typeface="Roboto" panose="02000000000000000000" pitchFamily="2" charset="0"/>
                          </a:endParaRPr>
                        </a:p>
                      </a:txBody>
                      <a:tcPr>
                        <a:solidFill>
                          <a:schemeClr val="bg1">
                            <a:lumMod val="95000"/>
                          </a:schemeClr>
                        </a:solidFill>
                      </a:tcPr>
                    </a:tc>
                    <a:extLst>
                      <a:ext uri="{0D108BD9-81ED-4DB2-BD59-A6C34878D82A}">
                        <a16:rowId xmlns:a16="http://schemas.microsoft.com/office/drawing/2014/main" val="1656120320"/>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𝐹</m:t>
                                </m:r>
                              </m:oMath>
                            </m:oMathPara>
                          </a14:m>
                          <a:endParaRPr lang="es-CO" sz="12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𝐹</m:t>
                                </m:r>
                              </m:oMath>
                            </m:oMathPara>
                          </a14:m>
                          <a:endParaRPr lang="es-CO" sz="12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𝑉</m:t>
                                </m:r>
                              </m:oMath>
                            </m:oMathPara>
                          </a14:m>
                          <a:endParaRPr lang="es-CO" sz="12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384399998"/>
                      </a:ext>
                    </a:extLst>
                  </a:tr>
                  <a:tr h="214002">
                    <a:tc>
                      <a:txBody>
                        <a:bodyPr/>
                        <a:lstStyle/>
                        <a:p>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𝐹</m:t>
                                </m:r>
                              </m:oMath>
                            </m:oMathPara>
                          </a14:m>
                          <a:endParaRPr lang="es-CO" sz="12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𝑉</m:t>
                                </m:r>
                              </m:oMath>
                            </m:oMathPara>
                          </a14:m>
                          <a:endParaRPr lang="es-CO" sz="12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Cambria Math" panose="02040503050406030204" pitchFamily="18" charset="0"/>
                                  </a:rPr>
                                  <m:t>𝑉</m:t>
                                </m:r>
                              </m:oMath>
                            </m:oMathPara>
                          </a14:m>
                          <a:endParaRPr lang="es-CO" sz="12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23033547"/>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𝑉</m:t>
                                </m:r>
                              </m:oMath>
                            </m:oMathPara>
                          </a14:m>
                          <a:endParaRPr lang="es-CO" sz="12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𝐹</m:t>
                                </m:r>
                              </m:oMath>
                            </m:oMathPara>
                          </a14:m>
                          <a:endParaRPr lang="es-CO" sz="12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𝐹</m:t>
                                </m:r>
                              </m:oMath>
                            </m:oMathPara>
                          </a14:m>
                          <a:endParaRPr lang="es-CO" sz="12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235300888"/>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𝑉</m:t>
                                </m:r>
                              </m:oMath>
                            </m:oMathPara>
                          </a14:m>
                          <a:endParaRPr lang="es-CO" sz="12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𝑉</m:t>
                                </m:r>
                              </m:oMath>
                            </m:oMathPara>
                          </a14:m>
                          <a:endParaRPr lang="es-CO" sz="12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𝑉</m:t>
                                </m:r>
                              </m:oMath>
                            </m:oMathPara>
                          </a14:m>
                          <a:endParaRPr lang="es-CO" sz="1200" dirty="0">
                            <a:latin typeface="Roboto" panose="02000000000000000000" pitchFamily="2" charset="0"/>
                            <a:ea typeface="Roboto" panose="02000000000000000000" pitchFamily="2" charset="0"/>
                          </a:endParaRPr>
                        </a:p>
                      </a:txBody>
                      <a:tcPr>
                        <a:noFill/>
                      </a:tcPr>
                    </a:tc>
                    <a:extLst>
                      <a:ext uri="{0D108BD9-81ED-4DB2-BD59-A6C34878D82A}">
                        <a16:rowId xmlns:a16="http://schemas.microsoft.com/office/drawing/2014/main" val="451930249"/>
                      </a:ext>
                    </a:extLst>
                  </a:tr>
                </a:tbl>
              </a:graphicData>
            </a:graphic>
          </p:graphicFrame>
        </mc:Choice>
        <mc:Fallback>
          <p:graphicFrame>
            <p:nvGraphicFramePr>
              <p:cNvPr id="20" name="Tabla 19">
                <a:extLst>
                  <a:ext uri="{FF2B5EF4-FFF2-40B4-BE49-F238E27FC236}">
                    <a16:creationId xmlns:a16="http://schemas.microsoft.com/office/drawing/2014/main" id="{69F0DB38-239F-4577-90DE-A322A14EDBFA}"/>
                  </a:ext>
                </a:extLst>
              </p:cNvPr>
              <p:cNvGraphicFramePr>
                <a:graphicFrameLocks noGrp="1"/>
              </p:cNvGraphicFramePr>
              <p:nvPr>
                <p:extLst>
                  <p:ext uri="{D42A27DB-BD31-4B8C-83A1-F6EECF244321}">
                    <p14:modId xmlns:p14="http://schemas.microsoft.com/office/powerpoint/2010/main" val="1819079286"/>
                  </p:ext>
                </p:extLst>
              </p:nvPr>
            </p:nvGraphicFramePr>
            <p:xfrm>
              <a:off x="7092531" y="5292827"/>
              <a:ext cx="2123973" cy="1371600"/>
            </p:xfrm>
            <a:graphic>
              <a:graphicData uri="http://schemas.openxmlformats.org/drawingml/2006/table">
                <a:tbl>
                  <a:tblPr firstRow="1" bandRow="1">
                    <a:tableStyleId>{AD6A3598-7CB8-4345-8D95-17CE05F158A0}</a:tableStyleId>
                  </a:tblPr>
                  <a:tblGrid>
                    <a:gridCol w="544786">
                      <a:extLst>
                        <a:ext uri="{9D8B030D-6E8A-4147-A177-3AD203B41FA5}">
                          <a16:colId xmlns:a16="http://schemas.microsoft.com/office/drawing/2014/main" val="490870258"/>
                        </a:ext>
                      </a:extLst>
                    </a:gridCol>
                    <a:gridCol w="544786">
                      <a:extLst>
                        <a:ext uri="{9D8B030D-6E8A-4147-A177-3AD203B41FA5}">
                          <a16:colId xmlns:a16="http://schemas.microsoft.com/office/drawing/2014/main" val="1397687665"/>
                        </a:ext>
                      </a:extLst>
                    </a:gridCol>
                    <a:gridCol w="1034401">
                      <a:extLst>
                        <a:ext uri="{9D8B030D-6E8A-4147-A177-3AD203B41FA5}">
                          <a16:colId xmlns:a16="http://schemas.microsoft.com/office/drawing/2014/main" val="3269965761"/>
                        </a:ext>
                      </a:extLst>
                    </a:gridCol>
                  </a:tblGrid>
                  <a:tr h="274320">
                    <a:tc>
                      <a:txBody>
                        <a:bodyPr/>
                        <a:lstStyle/>
                        <a:p>
                          <a:endParaRPr lang="es-CO"/>
                        </a:p>
                      </a:txBody>
                      <a:tcPr>
                        <a:blipFill>
                          <a:blip r:embed="rId8"/>
                          <a:stretch>
                            <a:fillRect l="-1111" t="-2222" r="-290000" b="-404444"/>
                          </a:stretch>
                        </a:blipFill>
                      </a:tcPr>
                    </a:tc>
                    <a:tc>
                      <a:txBody>
                        <a:bodyPr/>
                        <a:lstStyle/>
                        <a:p>
                          <a:endParaRPr lang="es-CO"/>
                        </a:p>
                      </a:txBody>
                      <a:tcPr>
                        <a:blipFill>
                          <a:blip r:embed="rId8"/>
                          <a:stretch>
                            <a:fillRect l="-102247" t="-2222" r="-193258" b="-404444"/>
                          </a:stretch>
                        </a:blipFill>
                      </a:tcPr>
                    </a:tc>
                    <a:tc>
                      <a:txBody>
                        <a:bodyPr/>
                        <a:lstStyle/>
                        <a:p>
                          <a:endParaRPr lang="es-CO"/>
                        </a:p>
                      </a:txBody>
                      <a:tcPr>
                        <a:blipFill>
                          <a:blip r:embed="rId8"/>
                          <a:stretch>
                            <a:fillRect l="-105882" t="-2222" r="-1176" b="-404444"/>
                          </a:stretch>
                        </a:blipFill>
                      </a:tcPr>
                    </a:tc>
                    <a:extLst>
                      <a:ext uri="{0D108BD9-81ED-4DB2-BD59-A6C34878D82A}">
                        <a16:rowId xmlns:a16="http://schemas.microsoft.com/office/drawing/2014/main" val="1656120320"/>
                      </a:ext>
                    </a:extLst>
                  </a:tr>
                  <a:tr h="274320">
                    <a:tc>
                      <a:txBody>
                        <a:bodyPr/>
                        <a:lstStyle/>
                        <a:p>
                          <a:endParaRPr lang="es-CO"/>
                        </a:p>
                      </a:txBody>
                      <a:tcPr>
                        <a:blipFill>
                          <a:blip r:embed="rId8"/>
                          <a:stretch>
                            <a:fillRect l="-1111" t="-102222" r="-290000" b="-304444"/>
                          </a:stretch>
                        </a:blipFill>
                      </a:tcPr>
                    </a:tc>
                    <a:tc>
                      <a:txBody>
                        <a:bodyPr/>
                        <a:lstStyle/>
                        <a:p>
                          <a:endParaRPr lang="es-CO"/>
                        </a:p>
                      </a:txBody>
                      <a:tcPr>
                        <a:blipFill>
                          <a:blip r:embed="rId8"/>
                          <a:stretch>
                            <a:fillRect l="-102247" t="-102222" r="-193258" b="-304444"/>
                          </a:stretch>
                        </a:blipFill>
                      </a:tcPr>
                    </a:tc>
                    <a:tc>
                      <a:txBody>
                        <a:bodyPr/>
                        <a:lstStyle/>
                        <a:p>
                          <a:endParaRPr lang="es-CO"/>
                        </a:p>
                      </a:txBody>
                      <a:tcPr>
                        <a:blipFill>
                          <a:blip r:embed="rId8"/>
                          <a:stretch>
                            <a:fillRect l="-105882" t="-102222" r="-1176" b="-304444"/>
                          </a:stretch>
                        </a:blipFill>
                      </a:tcPr>
                    </a:tc>
                    <a:extLst>
                      <a:ext uri="{0D108BD9-81ED-4DB2-BD59-A6C34878D82A}">
                        <a16:rowId xmlns:a16="http://schemas.microsoft.com/office/drawing/2014/main" val="1384399998"/>
                      </a:ext>
                    </a:extLst>
                  </a:tr>
                  <a:tr h="274320">
                    <a:tc>
                      <a:txBody>
                        <a:bodyPr/>
                        <a:lstStyle/>
                        <a:p>
                          <a:endParaRPr lang="es-CO"/>
                        </a:p>
                      </a:txBody>
                      <a:tcPr>
                        <a:blipFill>
                          <a:blip r:embed="rId8"/>
                          <a:stretch>
                            <a:fillRect l="-1111" t="-197826" r="-290000" b="-197826"/>
                          </a:stretch>
                        </a:blipFill>
                      </a:tcPr>
                    </a:tc>
                    <a:tc>
                      <a:txBody>
                        <a:bodyPr/>
                        <a:lstStyle/>
                        <a:p>
                          <a:endParaRPr lang="es-CO"/>
                        </a:p>
                      </a:txBody>
                      <a:tcPr>
                        <a:blipFill>
                          <a:blip r:embed="rId8"/>
                          <a:stretch>
                            <a:fillRect l="-102247" t="-197826" r="-193258" b="-197826"/>
                          </a:stretch>
                        </a:blipFill>
                      </a:tcPr>
                    </a:tc>
                    <a:tc>
                      <a:txBody>
                        <a:bodyPr/>
                        <a:lstStyle/>
                        <a:p>
                          <a:endParaRPr lang="es-CO"/>
                        </a:p>
                      </a:txBody>
                      <a:tcPr>
                        <a:blipFill>
                          <a:blip r:embed="rId8"/>
                          <a:stretch>
                            <a:fillRect l="-105882" t="-197826" r="-1176" b="-197826"/>
                          </a:stretch>
                        </a:blipFill>
                      </a:tcPr>
                    </a:tc>
                    <a:extLst>
                      <a:ext uri="{0D108BD9-81ED-4DB2-BD59-A6C34878D82A}">
                        <a16:rowId xmlns:a16="http://schemas.microsoft.com/office/drawing/2014/main" val="3723033547"/>
                      </a:ext>
                    </a:extLst>
                  </a:tr>
                  <a:tr h="274320">
                    <a:tc>
                      <a:txBody>
                        <a:bodyPr/>
                        <a:lstStyle/>
                        <a:p>
                          <a:endParaRPr lang="es-CO"/>
                        </a:p>
                      </a:txBody>
                      <a:tcPr>
                        <a:blipFill>
                          <a:blip r:embed="rId8"/>
                          <a:stretch>
                            <a:fillRect l="-1111" t="-304444" r="-290000" b="-102222"/>
                          </a:stretch>
                        </a:blipFill>
                      </a:tcPr>
                    </a:tc>
                    <a:tc>
                      <a:txBody>
                        <a:bodyPr/>
                        <a:lstStyle/>
                        <a:p>
                          <a:endParaRPr lang="es-CO"/>
                        </a:p>
                      </a:txBody>
                      <a:tcPr>
                        <a:blipFill>
                          <a:blip r:embed="rId8"/>
                          <a:stretch>
                            <a:fillRect l="-102247" t="-304444" r="-193258" b="-102222"/>
                          </a:stretch>
                        </a:blipFill>
                      </a:tcPr>
                    </a:tc>
                    <a:tc>
                      <a:txBody>
                        <a:bodyPr/>
                        <a:lstStyle/>
                        <a:p>
                          <a:endParaRPr lang="es-CO"/>
                        </a:p>
                      </a:txBody>
                      <a:tcPr>
                        <a:blipFill>
                          <a:blip r:embed="rId8"/>
                          <a:stretch>
                            <a:fillRect l="-105882" t="-304444" r="-1176" b="-102222"/>
                          </a:stretch>
                        </a:blipFill>
                      </a:tcPr>
                    </a:tc>
                    <a:extLst>
                      <a:ext uri="{0D108BD9-81ED-4DB2-BD59-A6C34878D82A}">
                        <a16:rowId xmlns:a16="http://schemas.microsoft.com/office/drawing/2014/main" val="4235300888"/>
                      </a:ext>
                    </a:extLst>
                  </a:tr>
                  <a:tr h="274320">
                    <a:tc>
                      <a:txBody>
                        <a:bodyPr/>
                        <a:lstStyle/>
                        <a:p>
                          <a:endParaRPr lang="es-CO"/>
                        </a:p>
                      </a:txBody>
                      <a:tcPr>
                        <a:blipFill>
                          <a:blip r:embed="rId8"/>
                          <a:stretch>
                            <a:fillRect l="-1111" t="-404444" r="-290000" b="-2222"/>
                          </a:stretch>
                        </a:blipFill>
                      </a:tcPr>
                    </a:tc>
                    <a:tc>
                      <a:txBody>
                        <a:bodyPr/>
                        <a:lstStyle/>
                        <a:p>
                          <a:endParaRPr lang="es-CO"/>
                        </a:p>
                      </a:txBody>
                      <a:tcPr>
                        <a:blipFill>
                          <a:blip r:embed="rId8"/>
                          <a:stretch>
                            <a:fillRect l="-102247" t="-404444" r="-193258" b="-2222"/>
                          </a:stretch>
                        </a:blipFill>
                      </a:tcPr>
                    </a:tc>
                    <a:tc>
                      <a:txBody>
                        <a:bodyPr/>
                        <a:lstStyle/>
                        <a:p>
                          <a:endParaRPr lang="es-CO"/>
                        </a:p>
                      </a:txBody>
                      <a:tcPr>
                        <a:blipFill>
                          <a:blip r:embed="rId8"/>
                          <a:stretch>
                            <a:fillRect l="-105882" t="-404444" r="-1176" b="-2222"/>
                          </a:stretch>
                        </a:blipFill>
                      </a:tcPr>
                    </a:tc>
                    <a:extLst>
                      <a:ext uri="{0D108BD9-81ED-4DB2-BD59-A6C34878D82A}">
                        <a16:rowId xmlns:a16="http://schemas.microsoft.com/office/drawing/2014/main" val="451930249"/>
                      </a:ext>
                    </a:extLst>
                  </a:tr>
                </a:tbl>
              </a:graphicData>
            </a:graphic>
          </p:graphicFrame>
        </mc:Fallback>
      </mc:AlternateContent>
      <p:sp>
        <p:nvSpPr>
          <p:cNvPr id="21" name="Google Shape;310;p34">
            <a:extLst>
              <a:ext uri="{FF2B5EF4-FFF2-40B4-BE49-F238E27FC236}">
                <a16:creationId xmlns:a16="http://schemas.microsoft.com/office/drawing/2014/main" id="{526C5A73-1C9C-474E-92D9-1CC9E85C6F0D}"/>
              </a:ext>
            </a:extLst>
          </p:cNvPr>
          <p:cNvSpPr txBox="1">
            <a:spLocks/>
          </p:cNvSpPr>
          <p:nvPr/>
        </p:nvSpPr>
        <p:spPr>
          <a:xfrm>
            <a:off x="404124" y="5405485"/>
            <a:ext cx="5761610" cy="13564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ea typeface="Roboto" panose="02000000000000000000" pitchFamily="2" charset="0"/>
              </a:rPr>
              <a:t>Un </a:t>
            </a:r>
            <a:r>
              <a:rPr lang="es-MX" sz="2000" b="1" dirty="0">
                <a:latin typeface="+mn-lt"/>
                <a:ea typeface="Roboto" panose="02000000000000000000" pitchFamily="2" charset="0"/>
              </a:rPr>
              <a:t>argumento es válido</a:t>
            </a:r>
            <a:r>
              <a:rPr lang="es-MX" sz="2000" dirty="0">
                <a:latin typeface="+mn-lt"/>
                <a:ea typeface="Roboto" panose="02000000000000000000" pitchFamily="2" charset="0"/>
              </a:rPr>
              <a:t> si, y solo si, la conclusión se sigue necesariamente de las premisas. Es decir, si las premisas son verdaderas, la conclusión debe ser verdadera.</a:t>
            </a:r>
          </a:p>
        </p:txBody>
      </p:sp>
    </p:spTree>
    <p:extLst>
      <p:ext uri="{BB962C8B-B14F-4D97-AF65-F5344CB8AC3E}">
        <p14:creationId xmlns:p14="http://schemas.microsoft.com/office/powerpoint/2010/main" val="2560187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r>
              <a:rPr lang="es-ES" dirty="0">
                <a:solidFill>
                  <a:schemeClr val="tx1"/>
                </a:solidFill>
                <a:latin typeface="+mj-lt"/>
                <a:ea typeface="+mj-ea"/>
                <a:cs typeface="+mj-cs"/>
              </a:rPr>
              <a:t>Validación de argumentos</a:t>
            </a:r>
            <a:endParaRPr dirty="0">
              <a:solidFill>
                <a:schemeClr val="tx1"/>
              </a:solidFill>
              <a:latin typeface="+mj-lt"/>
              <a:ea typeface="+mj-ea"/>
              <a:cs typeface="+mj-cs"/>
            </a:endParaRPr>
          </a:p>
        </p:txBody>
      </p:sp>
      <p:sp>
        <p:nvSpPr>
          <p:cNvPr id="14" name="Google Shape;310;p34">
            <a:extLst>
              <a:ext uri="{FF2B5EF4-FFF2-40B4-BE49-F238E27FC236}">
                <a16:creationId xmlns:a16="http://schemas.microsoft.com/office/drawing/2014/main" id="{7CE3CA45-1D19-4FA9-8567-937AB3B94F05}"/>
              </a:ext>
            </a:extLst>
          </p:cNvPr>
          <p:cNvSpPr txBox="1">
            <a:spLocks/>
          </p:cNvSpPr>
          <p:nvPr/>
        </p:nvSpPr>
        <p:spPr>
          <a:xfrm>
            <a:off x="405141" y="806826"/>
            <a:ext cx="10984405" cy="7669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La forma lógica de un argumento puede abstraerse de su contenido. Para ello revisemos el ejemplo de Sócrates</a:t>
            </a:r>
          </a:p>
        </p:txBody>
      </p:sp>
      <mc:AlternateContent xmlns:mc="http://schemas.openxmlformats.org/markup-compatibility/2006">
        <mc:Choice xmlns:a14="http://schemas.microsoft.com/office/drawing/2010/main" Requires="a14">
          <p:sp>
            <p:nvSpPr>
              <p:cNvPr id="22" name="Google Shape;310;p34">
                <a:extLst>
                  <a:ext uri="{FF2B5EF4-FFF2-40B4-BE49-F238E27FC236}">
                    <a16:creationId xmlns:a16="http://schemas.microsoft.com/office/drawing/2014/main" id="{D6A57B7A-D436-419C-A452-6098B81B944C}"/>
                  </a:ext>
                </a:extLst>
              </p:cNvPr>
              <p:cNvSpPr txBox="1">
                <a:spLocks/>
              </p:cNvSpPr>
              <p:nvPr/>
            </p:nvSpPr>
            <p:spPr>
              <a:xfrm>
                <a:off x="4697476" y="3783510"/>
                <a:ext cx="2217519" cy="42207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14:m>
                  <m:oMathPara xmlns:m="http://schemas.openxmlformats.org/officeDocument/2006/math">
                    <m:oMathParaPr>
                      <m:jc m:val="left"/>
                    </m:oMathParaPr>
                    <m:oMath xmlns:m="http://schemas.openxmlformats.org/officeDocument/2006/math">
                      <m:r>
                        <a:rPr lang="es-MX" sz="1200" b="1" i="1" smtClean="0">
                          <a:latin typeface="Cambria Math" panose="02040503050406030204" pitchFamily="18" charset="0"/>
                          <a:ea typeface="Roboto" panose="02000000000000000000" pitchFamily="2" charset="0"/>
                        </a:rPr>
                        <m:t>𝒑</m:t>
                      </m:r>
                      <m:r>
                        <a:rPr lang="es-MX" sz="1200" b="0" i="1" smtClean="0">
                          <a:latin typeface="Cambria Math" panose="02040503050406030204" pitchFamily="18" charset="0"/>
                          <a:ea typeface="Roboto" panose="02000000000000000000" pitchFamily="2" charset="0"/>
                        </a:rPr>
                        <m:t>:</m:t>
                      </m:r>
                      <m:r>
                        <m:rPr>
                          <m:sty m:val="p"/>
                        </m:rPr>
                        <a:rPr lang="es-MX" sz="1200" b="0" i="0" smtClean="0">
                          <a:latin typeface="Cambria Math" panose="02040503050406030204" pitchFamily="18" charset="0"/>
                          <a:ea typeface="Roboto" panose="02000000000000000000" pitchFamily="2" charset="0"/>
                        </a:rPr>
                        <m:t>Socrates</m:t>
                      </m:r>
                      <m:r>
                        <a:rPr lang="es-MX" sz="1200" b="0" i="0" smtClean="0">
                          <a:latin typeface="Cambria Math" panose="02040503050406030204" pitchFamily="18" charset="0"/>
                          <a:ea typeface="Roboto" panose="02000000000000000000" pitchFamily="2" charset="0"/>
                        </a:rPr>
                        <m:t> </m:t>
                      </m:r>
                      <m:r>
                        <m:rPr>
                          <m:sty m:val="p"/>
                        </m:rPr>
                        <a:rPr lang="es-MX" sz="1200" b="0" i="0" smtClean="0">
                          <a:latin typeface="Cambria Math" panose="02040503050406030204" pitchFamily="18" charset="0"/>
                          <a:ea typeface="Roboto" panose="02000000000000000000" pitchFamily="2" charset="0"/>
                        </a:rPr>
                        <m:t>es</m:t>
                      </m:r>
                      <m:r>
                        <a:rPr lang="es-MX" sz="1200" b="0" i="0" smtClean="0">
                          <a:latin typeface="Cambria Math" panose="02040503050406030204" pitchFamily="18" charset="0"/>
                          <a:ea typeface="Roboto" panose="02000000000000000000" pitchFamily="2" charset="0"/>
                        </a:rPr>
                        <m:t> </m:t>
                      </m:r>
                      <m:r>
                        <m:rPr>
                          <m:sty m:val="p"/>
                        </m:rPr>
                        <a:rPr lang="es-MX" sz="1200" b="0" i="0" smtClean="0">
                          <a:latin typeface="Cambria Math" panose="02040503050406030204" pitchFamily="18" charset="0"/>
                          <a:ea typeface="Roboto" panose="02000000000000000000" pitchFamily="2" charset="0"/>
                        </a:rPr>
                        <m:t>un</m:t>
                      </m:r>
                      <m:r>
                        <a:rPr lang="es-MX" sz="1200" b="0" i="0" smtClean="0">
                          <a:latin typeface="Cambria Math" panose="02040503050406030204" pitchFamily="18" charset="0"/>
                          <a:ea typeface="Roboto" panose="02000000000000000000" pitchFamily="2" charset="0"/>
                        </a:rPr>
                        <m:t> </m:t>
                      </m:r>
                      <m:r>
                        <m:rPr>
                          <m:sty m:val="p"/>
                        </m:rPr>
                        <a:rPr lang="es-MX" sz="1200" b="0" i="0" smtClean="0">
                          <a:latin typeface="Cambria Math" panose="02040503050406030204" pitchFamily="18" charset="0"/>
                          <a:ea typeface="Roboto" panose="02000000000000000000" pitchFamily="2" charset="0"/>
                        </a:rPr>
                        <m:t>hombre</m:t>
                      </m:r>
                    </m:oMath>
                  </m:oMathPara>
                </a14:m>
                <a:endParaRPr lang="es-MX" sz="1200" b="0" i="0" dirty="0">
                  <a:latin typeface="Cambria Math" panose="02040503050406030204" pitchFamily="18" charset="0"/>
                  <a:ea typeface="Roboto" panose="02000000000000000000" pitchFamily="2" charset="0"/>
                </a:endParaRPr>
              </a:p>
              <a:p>
                <a:pPr marL="127000" indent="0">
                  <a:buNone/>
                </a:pPr>
                <a14:m>
                  <m:oMathPara xmlns:m="http://schemas.openxmlformats.org/officeDocument/2006/math">
                    <m:oMathParaPr>
                      <m:jc m:val="left"/>
                    </m:oMathParaPr>
                    <m:oMath xmlns:m="http://schemas.openxmlformats.org/officeDocument/2006/math">
                      <m:r>
                        <a:rPr lang="es-MX" sz="1200" b="1" i="1" smtClean="0">
                          <a:latin typeface="Cambria Math" panose="02040503050406030204" pitchFamily="18" charset="0"/>
                          <a:ea typeface="Roboto" panose="02000000000000000000" pitchFamily="2" charset="0"/>
                        </a:rPr>
                        <m:t>𝒒</m:t>
                      </m:r>
                      <m:r>
                        <a:rPr lang="es-MX" sz="1200" b="0" i="1" smtClean="0">
                          <a:latin typeface="Cambria Math" panose="02040503050406030204" pitchFamily="18" charset="0"/>
                          <a:ea typeface="Roboto" panose="02000000000000000000" pitchFamily="2" charset="0"/>
                        </a:rPr>
                        <m:t>:</m:t>
                      </m:r>
                      <m:r>
                        <m:rPr>
                          <m:sty m:val="p"/>
                        </m:rPr>
                        <a:rPr lang="es-MX" sz="1200" b="0" i="0" smtClean="0">
                          <a:latin typeface="Cambria Math" panose="02040503050406030204" pitchFamily="18" charset="0"/>
                          <a:ea typeface="Roboto" panose="02000000000000000000" pitchFamily="2" charset="0"/>
                        </a:rPr>
                        <m:t>Socrates</m:t>
                      </m:r>
                      <m:r>
                        <a:rPr lang="es-MX" sz="1200" b="0" i="0" smtClean="0">
                          <a:latin typeface="Cambria Math" panose="02040503050406030204" pitchFamily="18" charset="0"/>
                          <a:ea typeface="Roboto" panose="02000000000000000000" pitchFamily="2" charset="0"/>
                        </a:rPr>
                        <m:t> </m:t>
                      </m:r>
                      <m:r>
                        <m:rPr>
                          <m:sty m:val="p"/>
                        </m:rPr>
                        <a:rPr lang="es-MX" sz="1200" b="0" i="0" smtClean="0">
                          <a:latin typeface="Cambria Math" panose="02040503050406030204" pitchFamily="18" charset="0"/>
                          <a:ea typeface="Roboto" panose="02000000000000000000" pitchFamily="2" charset="0"/>
                        </a:rPr>
                        <m:t>es</m:t>
                      </m:r>
                      <m:r>
                        <a:rPr lang="es-MX" sz="1200" b="0" i="0" smtClean="0">
                          <a:latin typeface="Cambria Math" panose="02040503050406030204" pitchFamily="18" charset="0"/>
                          <a:ea typeface="Roboto" panose="02000000000000000000" pitchFamily="2" charset="0"/>
                        </a:rPr>
                        <m:t> </m:t>
                      </m:r>
                      <m:r>
                        <m:rPr>
                          <m:sty m:val="p"/>
                        </m:rPr>
                        <a:rPr lang="es-MX" sz="1200" b="0" i="0" smtClean="0">
                          <a:latin typeface="Cambria Math" panose="02040503050406030204" pitchFamily="18" charset="0"/>
                          <a:ea typeface="Roboto" panose="02000000000000000000" pitchFamily="2" charset="0"/>
                        </a:rPr>
                        <m:t>Mortal</m:t>
                      </m:r>
                    </m:oMath>
                  </m:oMathPara>
                </a14:m>
                <a:endParaRPr lang="es-MX" sz="1200" dirty="0">
                  <a:latin typeface="Roboto" panose="02000000000000000000" pitchFamily="2" charset="0"/>
                  <a:ea typeface="Roboto" panose="02000000000000000000" pitchFamily="2" charset="0"/>
                </a:endParaRPr>
              </a:p>
            </p:txBody>
          </p:sp>
        </mc:Choice>
        <mc:Fallback>
          <p:sp>
            <p:nvSpPr>
              <p:cNvPr id="22" name="Google Shape;310;p34">
                <a:extLst>
                  <a:ext uri="{FF2B5EF4-FFF2-40B4-BE49-F238E27FC236}">
                    <a16:creationId xmlns:a16="http://schemas.microsoft.com/office/drawing/2014/main" id="{D6A57B7A-D436-419C-A452-6098B81B944C}"/>
                  </a:ext>
                </a:extLst>
              </p:cNvPr>
              <p:cNvSpPr txBox="1">
                <a:spLocks noRot="1" noChangeAspect="1" noMove="1" noResize="1" noEditPoints="1" noAdjustHandles="1" noChangeArrowheads="1" noChangeShapeType="1" noTextEdit="1"/>
              </p:cNvSpPr>
              <p:nvPr/>
            </p:nvSpPr>
            <p:spPr>
              <a:xfrm>
                <a:off x="4697476" y="3783510"/>
                <a:ext cx="2217519" cy="422072"/>
              </a:xfrm>
              <a:prstGeom prst="rect">
                <a:avLst/>
              </a:prstGeom>
              <a:blipFill>
                <a:blip r:embed="rId3"/>
                <a:stretch>
                  <a:fillRect/>
                </a:stretch>
              </a:blipFill>
              <a:ln>
                <a:noFill/>
              </a:ln>
            </p:spPr>
            <p:txBody>
              <a:bodyPr/>
              <a:lstStyle/>
              <a:p>
                <a:r>
                  <a:rPr lang="es-CO">
                    <a:noFill/>
                  </a:rPr>
                  <a:t> </a:t>
                </a:r>
              </a:p>
            </p:txBody>
          </p:sp>
        </mc:Fallback>
      </mc:AlternateContent>
      <p:grpSp>
        <p:nvGrpSpPr>
          <p:cNvPr id="24" name="Grupo 23">
            <a:extLst>
              <a:ext uri="{FF2B5EF4-FFF2-40B4-BE49-F238E27FC236}">
                <a16:creationId xmlns:a16="http://schemas.microsoft.com/office/drawing/2014/main" id="{5DCD5D5C-BAEB-4588-BF55-05A958D2C8AB}"/>
              </a:ext>
            </a:extLst>
          </p:cNvPr>
          <p:cNvGrpSpPr/>
          <p:nvPr/>
        </p:nvGrpSpPr>
        <p:grpSpPr>
          <a:xfrm>
            <a:off x="1141415" y="3650204"/>
            <a:ext cx="2571604" cy="923330"/>
            <a:chOff x="1066799" y="1603698"/>
            <a:chExt cx="941237" cy="923330"/>
          </a:xfrm>
          <a:solidFill>
            <a:schemeClr val="bg1">
              <a:lumMod val="95000"/>
            </a:schemeClr>
          </a:solidFill>
        </p:grpSpPr>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589C4B20-3255-4A2C-9C7A-18AD22586B06}"/>
                    </a:ext>
                  </a:extLst>
                </p:cNvPr>
                <p:cNvSpPr txBox="1"/>
                <p:nvPr/>
              </p:nvSpPr>
              <p:spPr>
                <a:xfrm>
                  <a:off x="1066799" y="1603698"/>
                  <a:ext cx="941237" cy="923330"/>
                </a:xfrm>
                <a:prstGeom prst="rect">
                  <a:avLst/>
                </a:prstGeom>
                <a:grp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s-MX" sz="1800" b="0" i="0" smtClean="0">
                            <a:latin typeface="Cambria Math" panose="02040503050406030204" pitchFamily="18" charset="0"/>
                            <a:ea typeface="Cambria Math" panose="02040503050406030204" pitchFamily="18" charset="0"/>
                          </a:rPr>
                          <m:t>Si</m:t>
                        </m:r>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𝑝</m:t>
                        </m:r>
                        <m:r>
                          <a:rPr lang="es-MX" sz="1800" b="0" i="0" smtClean="0">
                            <a:latin typeface="Cambria Math" panose="02040503050406030204" pitchFamily="18" charset="0"/>
                            <a:ea typeface="Cambria Math" panose="02040503050406030204" pitchFamily="18" charset="0"/>
                          </a:rPr>
                          <m:t>,</m:t>
                        </m:r>
                        <m:r>
                          <m:rPr>
                            <m:sty m:val="p"/>
                          </m:rPr>
                          <a:rPr lang="es-MX" sz="1800" b="0" i="0" smtClean="0">
                            <a:latin typeface="Cambria Math" panose="02040503050406030204" pitchFamily="18" charset="0"/>
                            <a:ea typeface="Cambria Math" panose="02040503050406030204" pitchFamily="18" charset="0"/>
                          </a:rPr>
                          <m:t>entonces</m:t>
                        </m:r>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𝑞</m:t>
                        </m:r>
                      </m:oMath>
                    </m:oMathPara>
                  </a14:m>
                  <a:endParaRPr lang="es-MX" sz="1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𝑞</m:t>
                        </m:r>
                      </m:oMath>
                    </m:oMathPara>
                  </a14:m>
                  <a:endParaRPr lang="es-MX" sz="1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CO" sz="1800" i="0"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CO" sz="1800" i="1" dirty="0"/>
                </a:p>
              </p:txBody>
            </p:sp>
          </mc:Choice>
          <mc:Fallback xmlns="">
            <p:sp>
              <p:nvSpPr>
                <p:cNvPr id="25" name="CuadroTexto 24">
                  <a:extLst>
                    <a:ext uri="{FF2B5EF4-FFF2-40B4-BE49-F238E27FC236}">
                      <a16:creationId xmlns:a16="http://schemas.microsoft.com/office/drawing/2014/main" id="{589C4B20-3255-4A2C-9C7A-18AD22586B06}"/>
                    </a:ext>
                  </a:extLst>
                </p:cNvPr>
                <p:cNvSpPr txBox="1">
                  <a:spLocks noRot="1" noChangeAspect="1" noMove="1" noResize="1" noEditPoints="1" noAdjustHandles="1" noChangeArrowheads="1" noChangeShapeType="1" noTextEdit="1"/>
                </p:cNvSpPr>
                <p:nvPr/>
              </p:nvSpPr>
              <p:spPr>
                <a:xfrm>
                  <a:off x="1066799" y="1603698"/>
                  <a:ext cx="941237" cy="923330"/>
                </a:xfrm>
                <a:prstGeom prst="rect">
                  <a:avLst/>
                </a:prstGeom>
                <a:blipFill>
                  <a:blip r:embed="rId4"/>
                  <a:stretch>
                    <a:fillRect b="-2649"/>
                  </a:stretch>
                </a:blipFill>
              </p:spPr>
              <p:txBody>
                <a:bodyPr/>
                <a:lstStyle/>
                <a:p>
                  <a:r>
                    <a:rPr lang="es-CO">
                      <a:noFill/>
                    </a:rPr>
                    <a:t> </a:t>
                  </a:r>
                </a:p>
              </p:txBody>
            </p:sp>
          </mc:Fallback>
        </mc:AlternateContent>
        <p:cxnSp>
          <p:nvCxnSpPr>
            <p:cNvPr id="26" name="Conector recto 25">
              <a:extLst>
                <a:ext uri="{FF2B5EF4-FFF2-40B4-BE49-F238E27FC236}">
                  <a16:creationId xmlns:a16="http://schemas.microsoft.com/office/drawing/2014/main" id="{9CC1B507-B792-40C2-B067-16A57015BFDE}"/>
                </a:ext>
              </a:extLst>
            </p:cNvPr>
            <p:cNvCxnSpPr>
              <a:cxnSpLocks/>
            </p:cNvCxnSpPr>
            <p:nvPr/>
          </p:nvCxnSpPr>
          <p:spPr>
            <a:xfrm>
              <a:off x="1066799" y="2213160"/>
              <a:ext cx="941237"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 name="Conector recto de flecha 29">
            <a:extLst>
              <a:ext uri="{FF2B5EF4-FFF2-40B4-BE49-F238E27FC236}">
                <a16:creationId xmlns:a16="http://schemas.microsoft.com/office/drawing/2014/main" id="{A17B603E-FD71-4F6A-8091-87E46E5D0BFB}"/>
              </a:ext>
            </a:extLst>
          </p:cNvPr>
          <p:cNvCxnSpPr>
            <a:cxnSpLocks/>
          </p:cNvCxnSpPr>
          <p:nvPr/>
        </p:nvCxnSpPr>
        <p:spPr>
          <a:xfrm>
            <a:off x="4340861" y="4259666"/>
            <a:ext cx="274399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Google Shape;310;p34">
            <a:extLst>
              <a:ext uri="{FF2B5EF4-FFF2-40B4-BE49-F238E27FC236}">
                <a16:creationId xmlns:a16="http://schemas.microsoft.com/office/drawing/2014/main" id="{3170CA20-1E19-4FA4-8378-F0D4832C1CF3}"/>
              </a:ext>
            </a:extLst>
          </p:cNvPr>
          <p:cNvSpPr txBox="1">
            <a:spLocks/>
          </p:cNvSpPr>
          <p:nvPr/>
        </p:nvSpPr>
        <p:spPr>
          <a:xfrm>
            <a:off x="508000" y="5383368"/>
            <a:ext cx="10984405" cy="122902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¿Que determina si el argumento es valido?</a:t>
            </a:r>
          </a:p>
          <a:p>
            <a:pPr marL="127000" indent="0">
              <a:buNone/>
            </a:pPr>
            <a:r>
              <a:rPr lang="es-MX" sz="2000" dirty="0">
                <a:latin typeface="+mn-lt"/>
                <a:ea typeface="Roboto" panose="02000000000000000000" pitchFamily="2" charset="0"/>
              </a:rPr>
              <a:t>Un argumento se llama válido si y sólo si, una vez que se sustituyen los enunciados que hacen todas las </a:t>
            </a:r>
            <a:r>
              <a:rPr lang="es-MX" sz="2000" b="1" dirty="0">
                <a:latin typeface="+mn-lt"/>
                <a:ea typeface="Roboto" panose="02000000000000000000" pitchFamily="2" charset="0"/>
              </a:rPr>
              <a:t>premisas</a:t>
            </a:r>
            <a:r>
              <a:rPr lang="es-MX" sz="2000" dirty="0">
                <a:latin typeface="+mn-lt"/>
                <a:ea typeface="Roboto" panose="02000000000000000000" pitchFamily="2" charset="0"/>
              </a:rPr>
              <a:t> verdaderas, la </a:t>
            </a:r>
            <a:r>
              <a:rPr lang="es-MX" sz="2000" b="1" dirty="0">
                <a:latin typeface="+mn-lt"/>
                <a:ea typeface="Roboto" panose="02000000000000000000" pitchFamily="2" charset="0"/>
              </a:rPr>
              <a:t>conclusión</a:t>
            </a:r>
            <a:r>
              <a:rPr lang="es-MX" sz="2000" dirty="0">
                <a:latin typeface="+mn-lt"/>
                <a:ea typeface="Roboto" panose="02000000000000000000" pitchFamily="2" charset="0"/>
              </a:rPr>
              <a:t> también es verdadera</a:t>
            </a:r>
          </a:p>
        </p:txBody>
      </p:sp>
      <p:grpSp>
        <p:nvGrpSpPr>
          <p:cNvPr id="7" name="Grupo 6">
            <a:extLst>
              <a:ext uri="{FF2B5EF4-FFF2-40B4-BE49-F238E27FC236}">
                <a16:creationId xmlns:a16="http://schemas.microsoft.com/office/drawing/2014/main" id="{79C82285-FD9C-4C77-B136-C9DBD8DB4842}"/>
              </a:ext>
            </a:extLst>
          </p:cNvPr>
          <p:cNvGrpSpPr/>
          <p:nvPr/>
        </p:nvGrpSpPr>
        <p:grpSpPr>
          <a:xfrm>
            <a:off x="796750" y="1870867"/>
            <a:ext cx="7645680" cy="923330"/>
            <a:chOff x="2006600" y="1745175"/>
            <a:chExt cx="7645680" cy="923330"/>
          </a:xfrm>
        </p:grpSpPr>
        <p:grpSp>
          <p:nvGrpSpPr>
            <p:cNvPr id="5" name="Grupo 4">
              <a:extLst>
                <a:ext uri="{FF2B5EF4-FFF2-40B4-BE49-F238E27FC236}">
                  <a16:creationId xmlns:a16="http://schemas.microsoft.com/office/drawing/2014/main" id="{8756DAC1-4017-4EB9-924C-8B255CF7047D}"/>
                </a:ext>
              </a:extLst>
            </p:cNvPr>
            <p:cNvGrpSpPr/>
            <p:nvPr/>
          </p:nvGrpSpPr>
          <p:grpSpPr>
            <a:xfrm>
              <a:off x="3861079" y="1745175"/>
              <a:ext cx="5791201" cy="923330"/>
              <a:chOff x="1066799" y="1603698"/>
              <a:chExt cx="5791201" cy="923330"/>
            </a:xfrm>
          </p:grpSpPr>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C1A6FB1-318A-4B04-A64B-AA37F6948F1C}"/>
                      </a:ext>
                    </a:extLst>
                  </p:cNvPr>
                  <p:cNvSpPr txBox="1"/>
                  <p:nvPr/>
                </p:nvSpPr>
                <p:spPr>
                  <a:xfrm>
                    <a:off x="1066799" y="1603698"/>
                    <a:ext cx="5458692" cy="9233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s-MX" sz="1800" b="0" i="0" smtClean="0">
                              <a:latin typeface="Cambria Math" panose="02040503050406030204" pitchFamily="18" charset="0"/>
                              <a:ea typeface="Cambria Math" panose="02040503050406030204" pitchFamily="18" charset="0"/>
                            </a:rPr>
                            <m:t>Si</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Socrates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un</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hombre</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entonces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Socrates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un</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mortal</m:t>
                          </m:r>
                        </m:oMath>
                      </m:oMathPara>
                    </a14:m>
                    <a:endParaRPr lang="es-MX" sz="1800" b="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s-MX" sz="1800" b="0" i="0" smtClean="0">
                              <a:latin typeface="Cambria Math" panose="02040503050406030204" pitchFamily="18" charset="0"/>
                              <a:ea typeface="Cambria Math" panose="02040503050406030204" pitchFamily="18" charset="0"/>
                            </a:rPr>
                            <m:t>Socrates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un</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hombre</m:t>
                          </m:r>
                        </m:oMath>
                      </m:oMathPara>
                    </a14:m>
                    <a:endParaRPr lang="es-MX" sz="1800" b="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CO" sz="1800" i="0" smtClean="0">
                              <a:latin typeface="Cambria Math" panose="02040503050406030204" pitchFamily="18" charset="0"/>
                              <a:ea typeface="Cambria Math" panose="02040503050406030204" pitchFamily="18" charset="0"/>
                            </a:rPr>
                            <m:t>∴</m:t>
                          </m:r>
                          <m:r>
                            <m:rPr>
                              <m:sty m:val="p"/>
                            </m:rPr>
                            <a:rPr lang="es-MX" sz="1800" b="0" i="0" smtClean="0">
                              <a:latin typeface="Cambria Math" panose="02040503050406030204" pitchFamily="18" charset="0"/>
                              <a:ea typeface="Cambria Math" panose="02040503050406030204" pitchFamily="18" charset="0"/>
                            </a:rPr>
                            <m:t>Socrates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un</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mortal</m:t>
                          </m:r>
                        </m:oMath>
                      </m:oMathPara>
                    </a14:m>
                    <a:endParaRPr lang="es-CO" sz="1800" dirty="0"/>
                  </a:p>
                </p:txBody>
              </p:sp>
            </mc:Choice>
            <mc:Fallback xmlns="">
              <p:sp>
                <p:nvSpPr>
                  <p:cNvPr id="15" name="CuadroTexto 14">
                    <a:extLst>
                      <a:ext uri="{FF2B5EF4-FFF2-40B4-BE49-F238E27FC236}">
                        <a16:creationId xmlns:a16="http://schemas.microsoft.com/office/drawing/2014/main" id="{5C1A6FB1-318A-4B04-A64B-AA37F6948F1C}"/>
                      </a:ext>
                    </a:extLst>
                  </p:cNvPr>
                  <p:cNvSpPr txBox="1">
                    <a:spLocks noRot="1" noChangeAspect="1" noMove="1" noResize="1" noEditPoints="1" noAdjustHandles="1" noChangeArrowheads="1" noChangeShapeType="1" noTextEdit="1"/>
                  </p:cNvSpPr>
                  <p:nvPr/>
                </p:nvSpPr>
                <p:spPr>
                  <a:xfrm>
                    <a:off x="1066799" y="1603698"/>
                    <a:ext cx="5458692" cy="923330"/>
                  </a:xfrm>
                  <a:prstGeom prst="rect">
                    <a:avLst/>
                  </a:prstGeom>
                  <a:blipFill>
                    <a:blip r:embed="rId5"/>
                    <a:stretch>
                      <a:fillRect r="-5922"/>
                    </a:stretch>
                  </a:blipFill>
                </p:spPr>
                <p:txBody>
                  <a:bodyPr/>
                  <a:lstStyle/>
                  <a:p>
                    <a:r>
                      <a:rPr lang="es-CO">
                        <a:noFill/>
                      </a:rPr>
                      <a:t> </a:t>
                    </a:r>
                  </a:p>
                </p:txBody>
              </p:sp>
            </mc:Fallback>
          </mc:AlternateContent>
          <p:cxnSp>
            <p:nvCxnSpPr>
              <p:cNvPr id="4" name="Conector recto 3">
                <a:extLst>
                  <a:ext uri="{FF2B5EF4-FFF2-40B4-BE49-F238E27FC236}">
                    <a16:creationId xmlns:a16="http://schemas.microsoft.com/office/drawing/2014/main" id="{42635B24-5155-4BC3-9C7A-BEB2BEF0195A}"/>
                  </a:ext>
                </a:extLst>
              </p:cNvPr>
              <p:cNvCxnSpPr>
                <a:cxnSpLocks/>
              </p:cNvCxnSpPr>
              <p:nvPr/>
            </p:nvCxnSpPr>
            <p:spPr>
              <a:xfrm>
                <a:off x="1066799" y="2213160"/>
                <a:ext cx="57912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 name="Abrir llave 41">
              <a:extLst>
                <a:ext uri="{FF2B5EF4-FFF2-40B4-BE49-F238E27FC236}">
                  <a16:creationId xmlns:a16="http://schemas.microsoft.com/office/drawing/2014/main" id="{97112276-7578-48E9-B60A-9C2D968E3D25}"/>
                </a:ext>
              </a:extLst>
            </p:cNvPr>
            <p:cNvSpPr/>
            <p:nvPr/>
          </p:nvSpPr>
          <p:spPr>
            <a:xfrm>
              <a:off x="3632200" y="1745175"/>
              <a:ext cx="127139" cy="609462"/>
            </a:xfrm>
            <a:prstGeom prst="leftBrace">
              <a:avLst>
                <a:gd name="adj1" fmla="val 27595"/>
                <a:gd name="adj2" fmla="val 50000"/>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4" name="Abrir llave 43">
              <a:extLst>
                <a:ext uri="{FF2B5EF4-FFF2-40B4-BE49-F238E27FC236}">
                  <a16:creationId xmlns:a16="http://schemas.microsoft.com/office/drawing/2014/main" id="{0FC0075A-AB3D-48CF-9C7D-3297098BEC4D}"/>
                </a:ext>
              </a:extLst>
            </p:cNvPr>
            <p:cNvSpPr/>
            <p:nvPr/>
          </p:nvSpPr>
          <p:spPr>
            <a:xfrm>
              <a:off x="3632200" y="2363774"/>
              <a:ext cx="127139" cy="207976"/>
            </a:xfrm>
            <a:prstGeom prst="leftBrace">
              <a:avLst>
                <a:gd name="adj1" fmla="val 27595"/>
                <a:gd name="adj2" fmla="val 50000"/>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3" name="CuadroTexto 42">
              <a:extLst>
                <a:ext uri="{FF2B5EF4-FFF2-40B4-BE49-F238E27FC236}">
                  <a16:creationId xmlns:a16="http://schemas.microsoft.com/office/drawing/2014/main" id="{63879768-AC17-4F1C-B3C5-9A8DDEF9F82E}"/>
                </a:ext>
              </a:extLst>
            </p:cNvPr>
            <p:cNvSpPr txBox="1"/>
            <p:nvPr/>
          </p:nvSpPr>
          <p:spPr>
            <a:xfrm>
              <a:off x="2006600" y="1896017"/>
              <a:ext cx="1517650" cy="307777"/>
            </a:xfrm>
            <a:prstGeom prst="rect">
              <a:avLst/>
            </a:prstGeom>
            <a:noFill/>
          </p:spPr>
          <p:txBody>
            <a:bodyPr wrap="square" rtlCol="0">
              <a:spAutoFit/>
            </a:bodyPr>
            <a:lstStyle/>
            <a:p>
              <a:pPr algn="r"/>
              <a:r>
                <a:rPr lang="es-CO" b="1" dirty="0">
                  <a:solidFill>
                    <a:schemeClr val="accent2"/>
                  </a:solidFill>
                  <a:latin typeface="Roboto" panose="02000000000000000000" pitchFamily="2" charset="0"/>
                  <a:ea typeface="Roboto" panose="02000000000000000000" pitchFamily="2" charset="0"/>
                </a:rPr>
                <a:t>Premisas</a:t>
              </a:r>
            </a:p>
          </p:txBody>
        </p:sp>
        <p:sp>
          <p:nvSpPr>
            <p:cNvPr id="46" name="CuadroTexto 45">
              <a:extLst>
                <a:ext uri="{FF2B5EF4-FFF2-40B4-BE49-F238E27FC236}">
                  <a16:creationId xmlns:a16="http://schemas.microsoft.com/office/drawing/2014/main" id="{55F77683-5144-425D-9D1C-74D01202EA62}"/>
                </a:ext>
              </a:extLst>
            </p:cNvPr>
            <p:cNvSpPr txBox="1"/>
            <p:nvPr/>
          </p:nvSpPr>
          <p:spPr>
            <a:xfrm>
              <a:off x="2177069" y="2282261"/>
              <a:ext cx="1088760" cy="307777"/>
            </a:xfrm>
            <a:prstGeom prst="rect">
              <a:avLst/>
            </a:prstGeom>
            <a:noFill/>
          </p:spPr>
          <p:txBody>
            <a:bodyPr wrap="none" rtlCol="0">
              <a:spAutoFit/>
            </a:bodyPr>
            <a:lstStyle/>
            <a:p>
              <a:r>
                <a:rPr lang="es-CO" b="1" dirty="0">
                  <a:solidFill>
                    <a:srgbClr val="00B050"/>
                  </a:solidFill>
                  <a:latin typeface="Roboto" panose="02000000000000000000" pitchFamily="2" charset="0"/>
                  <a:ea typeface="Roboto" panose="02000000000000000000" pitchFamily="2" charset="0"/>
                </a:rPr>
                <a:t>Conclusión</a:t>
              </a:r>
            </a:p>
          </p:txBody>
        </p:sp>
      </p:grpSp>
      <p:pic>
        <p:nvPicPr>
          <p:cNvPr id="6" name="Imagen 5">
            <a:extLst>
              <a:ext uri="{FF2B5EF4-FFF2-40B4-BE49-F238E27FC236}">
                <a16:creationId xmlns:a16="http://schemas.microsoft.com/office/drawing/2014/main" id="{A23EAAA6-2BB2-477C-BC79-E2FE932D2536}"/>
              </a:ext>
            </a:extLst>
          </p:cNvPr>
          <p:cNvPicPr>
            <a:picLocks noChangeAspect="1"/>
          </p:cNvPicPr>
          <p:nvPr/>
        </p:nvPicPr>
        <p:blipFill>
          <a:blip r:embed="rId6"/>
          <a:stretch>
            <a:fillRect/>
          </a:stretch>
        </p:blipFill>
        <p:spPr>
          <a:xfrm>
            <a:off x="9209658" y="1618296"/>
            <a:ext cx="1119984" cy="1172796"/>
          </a:xfrm>
          <a:prstGeom prst="rect">
            <a:avLst/>
          </a:prstGeom>
        </p:spPr>
      </p:pic>
      <p:grpSp>
        <p:nvGrpSpPr>
          <p:cNvPr id="9" name="Grupo 8">
            <a:extLst>
              <a:ext uri="{FF2B5EF4-FFF2-40B4-BE49-F238E27FC236}">
                <a16:creationId xmlns:a16="http://schemas.microsoft.com/office/drawing/2014/main" id="{194F8082-2D9C-4236-8862-C4A084459E6B}"/>
              </a:ext>
            </a:extLst>
          </p:cNvPr>
          <p:cNvGrpSpPr/>
          <p:nvPr/>
        </p:nvGrpSpPr>
        <p:grpSpPr>
          <a:xfrm>
            <a:off x="7905595" y="3302802"/>
            <a:ext cx="2122082" cy="2004466"/>
            <a:chOff x="7905595" y="3164252"/>
            <a:chExt cx="2122082" cy="2004466"/>
          </a:xfrm>
        </p:grpSpPr>
        <p:grpSp>
          <p:nvGrpSpPr>
            <p:cNvPr id="17" name="Grupo 16">
              <a:extLst>
                <a:ext uri="{FF2B5EF4-FFF2-40B4-BE49-F238E27FC236}">
                  <a16:creationId xmlns:a16="http://schemas.microsoft.com/office/drawing/2014/main" id="{C337F794-A43D-4491-B839-FEEE355ADEC7}"/>
                </a:ext>
              </a:extLst>
            </p:cNvPr>
            <p:cNvGrpSpPr/>
            <p:nvPr/>
          </p:nvGrpSpPr>
          <p:grpSpPr>
            <a:xfrm>
              <a:off x="7905595" y="3164252"/>
              <a:ext cx="2120252" cy="923330"/>
              <a:chOff x="1066799" y="1603698"/>
              <a:chExt cx="1717965" cy="923330"/>
            </a:xfrm>
            <a:solidFill>
              <a:schemeClr val="bg1">
                <a:lumMod val="95000"/>
              </a:schemeClr>
            </a:solidFill>
          </p:grpSpPr>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15AE8A98-71A4-4CB9-ACC6-3206521253F2}"/>
                      </a:ext>
                    </a:extLst>
                  </p:cNvPr>
                  <p:cNvSpPr txBox="1"/>
                  <p:nvPr/>
                </p:nvSpPr>
                <p:spPr>
                  <a:xfrm>
                    <a:off x="1066799" y="1603698"/>
                    <a:ext cx="1717965" cy="923330"/>
                  </a:xfrm>
                  <a:prstGeom prst="rect">
                    <a:avLst/>
                  </a:prstGeom>
                  <a:grpFill/>
                </p:spPr>
                <p:txBody>
                  <a:bodyPr wrap="square">
                    <a:spAutoFit/>
                  </a:bodyPr>
                  <a:lstStyle/>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CO" sz="180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CO" sz="1800" i="1" dirty="0"/>
                  </a:p>
                </p:txBody>
              </p:sp>
            </mc:Choice>
            <mc:Fallback xmlns="">
              <p:sp>
                <p:nvSpPr>
                  <p:cNvPr id="18" name="CuadroTexto 17">
                    <a:extLst>
                      <a:ext uri="{FF2B5EF4-FFF2-40B4-BE49-F238E27FC236}">
                        <a16:creationId xmlns:a16="http://schemas.microsoft.com/office/drawing/2014/main" id="{15AE8A98-71A4-4CB9-ACC6-3206521253F2}"/>
                      </a:ext>
                    </a:extLst>
                  </p:cNvPr>
                  <p:cNvSpPr txBox="1">
                    <a:spLocks noRot="1" noChangeAspect="1" noMove="1" noResize="1" noEditPoints="1" noAdjustHandles="1" noChangeArrowheads="1" noChangeShapeType="1" noTextEdit="1"/>
                  </p:cNvSpPr>
                  <p:nvPr/>
                </p:nvSpPr>
                <p:spPr>
                  <a:xfrm>
                    <a:off x="1066799" y="1603698"/>
                    <a:ext cx="1717965" cy="923330"/>
                  </a:xfrm>
                  <a:prstGeom prst="rect">
                    <a:avLst/>
                  </a:prstGeom>
                  <a:blipFill>
                    <a:blip r:embed="rId7"/>
                    <a:stretch>
                      <a:fillRect b="-2649"/>
                    </a:stretch>
                  </a:blipFill>
                </p:spPr>
                <p:txBody>
                  <a:bodyPr/>
                  <a:lstStyle/>
                  <a:p>
                    <a:r>
                      <a:rPr lang="es-CO">
                        <a:noFill/>
                      </a:rPr>
                      <a:t> </a:t>
                    </a:r>
                  </a:p>
                </p:txBody>
              </p:sp>
            </mc:Fallback>
          </mc:AlternateContent>
          <p:cxnSp>
            <p:nvCxnSpPr>
              <p:cNvPr id="19" name="Conector recto 18">
                <a:extLst>
                  <a:ext uri="{FF2B5EF4-FFF2-40B4-BE49-F238E27FC236}">
                    <a16:creationId xmlns:a16="http://schemas.microsoft.com/office/drawing/2014/main" id="{C96FC7B3-BA6F-4123-9006-CD3D2B214CD3}"/>
                  </a:ext>
                </a:extLst>
              </p:cNvPr>
              <p:cNvCxnSpPr>
                <a:cxnSpLocks/>
              </p:cNvCxnSpPr>
              <p:nvPr/>
            </p:nvCxnSpPr>
            <p:spPr>
              <a:xfrm>
                <a:off x="1066799" y="2213160"/>
                <a:ext cx="160712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42C04CC8-961B-4313-A9F1-0127697C18CA}"/>
                    </a:ext>
                  </a:extLst>
                </p:cNvPr>
                <p:cNvSpPr txBox="1"/>
                <p:nvPr/>
              </p:nvSpPr>
              <p:spPr>
                <a:xfrm>
                  <a:off x="7905595" y="4258818"/>
                  <a:ext cx="2120252" cy="369332"/>
                </a:xfrm>
                <a:prstGeom prst="rect">
                  <a:avLst/>
                </a:prstGeom>
                <a:solidFill>
                  <a:schemeClr val="bg1">
                    <a:lumMod val="95000"/>
                  </a:schemeClr>
                </a:solid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s-MX" sz="1800" b="0" i="1" smtClean="0">
                                <a:latin typeface="Cambria Math" panose="02040503050406030204" pitchFamily="18" charset="0"/>
                                <a:ea typeface="Cambria Math" panose="02040503050406030204" pitchFamily="18" charset="0"/>
                              </a:rPr>
                            </m:ctrlPr>
                          </m:dPr>
                          <m:e>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p:txBody>
            </p:sp>
          </mc:Choice>
          <mc:Fallback xmlns="">
            <p:sp>
              <p:nvSpPr>
                <p:cNvPr id="27" name="CuadroTexto 26">
                  <a:extLst>
                    <a:ext uri="{FF2B5EF4-FFF2-40B4-BE49-F238E27FC236}">
                      <a16:creationId xmlns:a16="http://schemas.microsoft.com/office/drawing/2014/main" id="{42C04CC8-961B-4313-A9F1-0127697C18CA}"/>
                    </a:ext>
                  </a:extLst>
                </p:cNvPr>
                <p:cNvSpPr txBox="1">
                  <a:spLocks noRot="1" noChangeAspect="1" noMove="1" noResize="1" noEditPoints="1" noAdjustHandles="1" noChangeArrowheads="1" noChangeShapeType="1" noTextEdit="1"/>
                </p:cNvSpPr>
                <p:nvPr/>
              </p:nvSpPr>
              <p:spPr>
                <a:xfrm>
                  <a:off x="7905595" y="4258818"/>
                  <a:ext cx="2120252" cy="369332"/>
                </a:xfrm>
                <a:prstGeom prst="rect">
                  <a:avLst/>
                </a:prstGeom>
                <a:blipFill>
                  <a:blip r:embed="rId8"/>
                  <a:stretch>
                    <a:fillRect b="-819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99248390-511F-4122-94BF-D54E4B267718}"/>
                    </a:ext>
                  </a:extLst>
                </p:cNvPr>
                <p:cNvSpPr txBox="1"/>
                <p:nvPr/>
              </p:nvSpPr>
              <p:spPr>
                <a:xfrm>
                  <a:off x="7907425" y="4799386"/>
                  <a:ext cx="2120252" cy="369332"/>
                </a:xfrm>
                <a:prstGeom prst="rect">
                  <a:avLst/>
                </a:prstGeom>
                <a:solidFill>
                  <a:schemeClr val="bg1">
                    <a:lumMod val="95000"/>
                  </a:schemeClr>
                </a:solidFill>
              </p:spPr>
              <p:txBody>
                <a:bodyPr wrap="square">
                  <a:spAutoFit/>
                </a:bodyPr>
                <a:lstStyle/>
                <a:p>
                  <a:pPr/>
                  <a14:m>
                    <m:oMathPara xmlns:m="http://schemas.openxmlformats.org/officeDocument/2006/math">
                      <m:oMathParaPr>
                        <m:jc m:val="left"/>
                      </m:oMathParaPr>
                      <m:oMath xmlns:m="http://schemas.openxmlformats.org/officeDocument/2006/math">
                        <m:d>
                          <m:dPr>
                            <m:ctrlPr>
                              <a:rPr lang="es-MX" sz="1800" i="1" smtClean="0">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p:txBody>
            </p:sp>
          </mc:Choice>
          <mc:Fallback xmlns="">
            <p:sp>
              <p:nvSpPr>
                <p:cNvPr id="28" name="CuadroTexto 27">
                  <a:extLst>
                    <a:ext uri="{FF2B5EF4-FFF2-40B4-BE49-F238E27FC236}">
                      <a16:creationId xmlns:a16="http://schemas.microsoft.com/office/drawing/2014/main" id="{99248390-511F-4122-94BF-D54E4B267718}"/>
                    </a:ext>
                  </a:extLst>
                </p:cNvPr>
                <p:cNvSpPr txBox="1">
                  <a:spLocks noRot="1" noChangeAspect="1" noMove="1" noResize="1" noEditPoints="1" noAdjustHandles="1" noChangeArrowheads="1" noChangeShapeType="1" noTextEdit="1"/>
                </p:cNvSpPr>
                <p:nvPr/>
              </p:nvSpPr>
              <p:spPr>
                <a:xfrm>
                  <a:off x="7907425" y="4799386"/>
                  <a:ext cx="2120252" cy="369332"/>
                </a:xfrm>
                <a:prstGeom prst="rect">
                  <a:avLst/>
                </a:prstGeom>
                <a:blipFill>
                  <a:blip r:embed="rId9"/>
                  <a:stretch>
                    <a:fillRect b="-8197"/>
                  </a:stretch>
                </a:blipFill>
              </p:spPr>
              <p:txBody>
                <a:bodyPr/>
                <a:lstStyle/>
                <a:p>
                  <a:r>
                    <a:rPr lang="es-CO">
                      <a:noFill/>
                    </a:rPr>
                    <a:t> </a:t>
                  </a:r>
                </a:p>
              </p:txBody>
            </p:sp>
          </mc:Fallback>
        </mc:AlternateContent>
      </p:grpSp>
    </p:spTree>
    <p:extLst>
      <p:ext uri="{BB962C8B-B14F-4D97-AF65-F5344CB8AC3E}">
        <p14:creationId xmlns:p14="http://schemas.microsoft.com/office/powerpoint/2010/main" val="3633780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31800" y="96038"/>
            <a:ext cx="87888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ea typeface="+mj-ea"/>
                <a:cs typeface="+mj-cs"/>
              </a:rPr>
              <a:t>Validación de argumentos</a:t>
            </a:r>
            <a:endParaRPr dirty="0">
              <a:solidFill>
                <a:schemeClr val="tx1"/>
              </a:solidFill>
              <a:latin typeface="+mj-lt"/>
              <a:ea typeface="+mj-ea"/>
              <a:cs typeface="+mj-cs"/>
            </a:endParaRPr>
          </a:p>
        </p:txBody>
      </p:sp>
      <p:sp>
        <p:nvSpPr>
          <p:cNvPr id="14" name="Google Shape;310;p34">
            <a:extLst>
              <a:ext uri="{FF2B5EF4-FFF2-40B4-BE49-F238E27FC236}">
                <a16:creationId xmlns:a16="http://schemas.microsoft.com/office/drawing/2014/main" id="{7CE3CA45-1D19-4FA9-8567-937AB3B94F05}"/>
              </a:ext>
            </a:extLst>
          </p:cNvPr>
          <p:cNvSpPr txBox="1">
            <a:spLocks/>
          </p:cNvSpPr>
          <p:nvPr/>
        </p:nvSpPr>
        <p:spPr>
          <a:xfrm>
            <a:off x="422460" y="1240573"/>
            <a:ext cx="11347080" cy="75472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lgn="l">
              <a:buNone/>
            </a:pPr>
            <a:r>
              <a:rPr lang="es-MX" sz="1800" b="0" i="0" u="none" strike="noStrike" baseline="0" dirty="0">
                <a:latin typeface="Roboto" panose="02000000000000000000" pitchFamily="2" charset="0"/>
                <a:ea typeface="Roboto" panose="02000000000000000000" pitchFamily="2" charset="0"/>
              </a:rPr>
              <a:t>No siempre resulta sencillo poder identificar las premisas y la conclusión de un argumento, para esto pueden ser útiles los adverbios que se listan en la tabla:</a:t>
            </a:r>
            <a:endParaRPr lang="es-MX" sz="2000" dirty="0">
              <a:latin typeface="Roboto" panose="02000000000000000000" pitchFamily="2" charset="0"/>
              <a:ea typeface="Roboto" panose="02000000000000000000" pitchFamily="2" charset="0"/>
            </a:endParaRPr>
          </a:p>
        </p:txBody>
      </p:sp>
      <p:sp>
        <p:nvSpPr>
          <p:cNvPr id="47" name="CuadroTexto 46">
            <a:extLst>
              <a:ext uri="{FF2B5EF4-FFF2-40B4-BE49-F238E27FC236}">
                <a16:creationId xmlns:a16="http://schemas.microsoft.com/office/drawing/2014/main" id="{B3A4CE45-79F3-4AE0-8443-FE49CBE2285A}"/>
              </a:ext>
            </a:extLst>
          </p:cNvPr>
          <p:cNvSpPr txBox="1"/>
          <p:nvPr/>
        </p:nvSpPr>
        <p:spPr>
          <a:xfrm>
            <a:off x="422460" y="914384"/>
            <a:ext cx="10587093"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Identificación de premisas y conclusión</a:t>
            </a:r>
          </a:p>
        </p:txBody>
      </p:sp>
      <p:graphicFrame>
        <p:nvGraphicFramePr>
          <p:cNvPr id="2" name="Tabla 2">
            <a:extLst>
              <a:ext uri="{FF2B5EF4-FFF2-40B4-BE49-F238E27FC236}">
                <a16:creationId xmlns:a16="http://schemas.microsoft.com/office/drawing/2014/main" id="{5B8A7AEF-6936-482A-A883-5AF0586B9479}"/>
              </a:ext>
            </a:extLst>
          </p:cNvPr>
          <p:cNvGraphicFramePr>
            <a:graphicFrameLocks noGrp="1"/>
          </p:cNvGraphicFramePr>
          <p:nvPr>
            <p:extLst>
              <p:ext uri="{D42A27DB-BD31-4B8C-83A1-F6EECF244321}">
                <p14:modId xmlns:p14="http://schemas.microsoft.com/office/powerpoint/2010/main" val="4006292497"/>
              </p:ext>
            </p:extLst>
          </p:nvPr>
        </p:nvGraphicFramePr>
        <p:xfrm>
          <a:off x="2657764" y="2009390"/>
          <a:ext cx="6876472" cy="4053840"/>
        </p:xfrm>
        <a:graphic>
          <a:graphicData uri="http://schemas.openxmlformats.org/drawingml/2006/table">
            <a:tbl>
              <a:tblPr firstRow="1" bandRow="1">
                <a:tableStyleId>{AD6A3598-7CB8-4345-8D95-17CE05F158A0}</a:tableStyleId>
              </a:tblPr>
              <a:tblGrid>
                <a:gridCol w="3438236">
                  <a:extLst>
                    <a:ext uri="{9D8B030D-6E8A-4147-A177-3AD203B41FA5}">
                      <a16:colId xmlns:a16="http://schemas.microsoft.com/office/drawing/2014/main" val="4230621670"/>
                    </a:ext>
                  </a:extLst>
                </a:gridCol>
                <a:gridCol w="3438236">
                  <a:extLst>
                    <a:ext uri="{9D8B030D-6E8A-4147-A177-3AD203B41FA5}">
                      <a16:colId xmlns:a16="http://schemas.microsoft.com/office/drawing/2014/main" val="626806936"/>
                    </a:ext>
                  </a:extLst>
                </a:gridCol>
              </a:tblGrid>
              <a:tr h="231503">
                <a:tc gridSpan="2">
                  <a:txBody>
                    <a:bodyPr/>
                    <a:lstStyle/>
                    <a:p>
                      <a:pPr algn="ctr"/>
                      <a:r>
                        <a:rPr lang="es-MX" sz="1800" b="1" dirty="0">
                          <a:latin typeface="Roboto" panose="02000000000000000000" pitchFamily="2" charset="0"/>
                          <a:ea typeface="Roboto" panose="02000000000000000000" pitchFamily="2" charset="0"/>
                        </a:rPr>
                        <a:t>Adverbios que indican premisas o conclusiones</a:t>
                      </a:r>
                      <a:endParaRPr lang="es-CO" sz="1800" b="1" dirty="0">
                        <a:latin typeface="Roboto" panose="02000000000000000000" pitchFamily="2" charset="0"/>
                        <a:ea typeface="Roboto" panose="02000000000000000000" pitchFamily="2" charset="0"/>
                      </a:endParaRPr>
                    </a:p>
                  </a:txBody>
                  <a:tcPr/>
                </a:tc>
                <a:tc hMerge="1">
                  <a:txBody>
                    <a:bodyPr/>
                    <a:lstStyle/>
                    <a:p>
                      <a:endParaRPr lang="es-CO" dirty="0"/>
                    </a:p>
                  </a:txBody>
                  <a:tcPr/>
                </a:tc>
                <a:extLst>
                  <a:ext uri="{0D108BD9-81ED-4DB2-BD59-A6C34878D82A}">
                    <a16:rowId xmlns:a16="http://schemas.microsoft.com/office/drawing/2014/main" val="1381047312"/>
                  </a:ext>
                </a:extLst>
              </a:tr>
              <a:tr h="231503">
                <a:tc>
                  <a:txBody>
                    <a:bodyPr/>
                    <a:lstStyle/>
                    <a:p>
                      <a:r>
                        <a:rPr lang="es-CO" sz="1600" b="1" dirty="0">
                          <a:latin typeface="Roboto" panose="02000000000000000000" pitchFamily="2" charset="0"/>
                          <a:ea typeface="Roboto" panose="02000000000000000000" pitchFamily="2" charset="0"/>
                        </a:rPr>
                        <a:t>Adverbios que indican premisa</a:t>
                      </a:r>
                    </a:p>
                  </a:txBody>
                  <a:tcPr/>
                </a:tc>
                <a:tc>
                  <a:txBody>
                    <a:bodyPr/>
                    <a:lstStyle/>
                    <a:p>
                      <a:r>
                        <a:rPr lang="es-CO" sz="1600" b="1" dirty="0">
                          <a:latin typeface="Roboto" panose="02000000000000000000" pitchFamily="2" charset="0"/>
                          <a:ea typeface="Roboto" panose="02000000000000000000" pitchFamily="2" charset="0"/>
                        </a:rPr>
                        <a:t>Adverbios que indican conclusión</a:t>
                      </a:r>
                    </a:p>
                  </a:txBody>
                  <a:tcPr/>
                </a:tc>
                <a:extLst>
                  <a:ext uri="{0D108BD9-81ED-4DB2-BD59-A6C34878D82A}">
                    <a16:rowId xmlns:a16="http://schemas.microsoft.com/office/drawing/2014/main" val="2798255253"/>
                  </a:ext>
                </a:extLst>
              </a:tr>
              <a:tr h="231503">
                <a:tc>
                  <a:txBody>
                    <a:bodyPr/>
                    <a:lstStyle/>
                    <a:p>
                      <a:r>
                        <a:rPr lang="es-CO" sz="1600" dirty="0">
                          <a:latin typeface="Roboto" panose="02000000000000000000" pitchFamily="2" charset="0"/>
                          <a:ea typeface="Roboto" panose="02000000000000000000" pitchFamily="2" charset="0"/>
                        </a:rPr>
                        <a:t>Puesto que</a:t>
                      </a:r>
                    </a:p>
                  </a:txBody>
                  <a:tcPr/>
                </a:tc>
                <a:tc>
                  <a:txBody>
                    <a:bodyPr/>
                    <a:lstStyle/>
                    <a:p>
                      <a:r>
                        <a:rPr lang="es-CO" sz="1600" dirty="0">
                          <a:latin typeface="Roboto" panose="02000000000000000000" pitchFamily="2" charset="0"/>
                          <a:ea typeface="Roboto" panose="02000000000000000000" pitchFamily="2" charset="0"/>
                        </a:rPr>
                        <a:t>Por tanto</a:t>
                      </a:r>
                    </a:p>
                  </a:txBody>
                  <a:tcPr/>
                </a:tc>
                <a:extLst>
                  <a:ext uri="{0D108BD9-81ED-4DB2-BD59-A6C34878D82A}">
                    <a16:rowId xmlns:a16="http://schemas.microsoft.com/office/drawing/2014/main" val="3867132327"/>
                  </a:ext>
                </a:extLst>
              </a:tr>
              <a:tr h="231503">
                <a:tc>
                  <a:txBody>
                    <a:bodyPr/>
                    <a:lstStyle/>
                    <a:p>
                      <a:r>
                        <a:rPr lang="es-CO" sz="1600" dirty="0">
                          <a:latin typeface="Roboto" panose="02000000000000000000" pitchFamily="2" charset="0"/>
                          <a:ea typeface="Roboto" panose="02000000000000000000" pitchFamily="2" charset="0"/>
                        </a:rPr>
                        <a:t>Dado que</a:t>
                      </a:r>
                    </a:p>
                  </a:txBody>
                  <a:tcPr/>
                </a:tc>
                <a:tc>
                  <a:txBody>
                    <a:bodyPr/>
                    <a:lstStyle/>
                    <a:p>
                      <a:r>
                        <a:rPr lang="es-CO" sz="1600" dirty="0">
                          <a:latin typeface="Roboto" panose="02000000000000000000" pitchFamily="2" charset="0"/>
                          <a:ea typeface="Roboto" panose="02000000000000000000" pitchFamily="2" charset="0"/>
                        </a:rPr>
                        <a:t>Se sigue que</a:t>
                      </a:r>
                    </a:p>
                  </a:txBody>
                  <a:tcPr/>
                </a:tc>
                <a:extLst>
                  <a:ext uri="{0D108BD9-81ED-4DB2-BD59-A6C34878D82A}">
                    <a16:rowId xmlns:a16="http://schemas.microsoft.com/office/drawing/2014/main" val="735925891"/>
                  </a:ext>
                </a:extLst>
              </a:tr>
              <a:tr h="231503">
                <a:tc>
                  <a:txBody>
                    <a:bodyPr/>
                    <a:lstStyle/>
                    <a:p>
                      <a:r>
                        <a:rPr lang="es-CO" sz="1600" dirty="0">
                          <a:latin typeface="Roboto" panose="02000000000000000000" pitchFamily="2" charset="0"/>
                          <a:ea typeface="Roboto" panose="02000000000000000000" pitchFamily="2" charset="0"/>
                        </a:rPr>
                        <a:t>Si</a:t>
                      </a:r>
                    </a:p>
                  </a:txBody>
                  <a:tcPr/>
                </a:tc>
                <a:tc>
                  <a:txBody>
                    <a:bodyPr/>
                    <a:lstStyle/>
                    <a:p>
                      <a:r>
                        <a:rPr lang="es-CO" sz="1600" dirty="0">
                          <a:latin typeface="Roboto" panose="02000000000000000000" pitchFamily="2" charset="0"/>
                          <a:ea typeface="Roboto" panose="02000000000000000000" pitchFamily="2" charset="0"/>
                        </a:rPr>
                        <a:t>Resulta que</a:t>
                      </a:r>
                    </a:p>
                  </a:txBody>
                  <a:tcPr/>
                </a:tc>
                <a:extLst>
                  <a:ext uri="{0D108BD9-81ED-4DB2-BD59-A6C34878D82A}">
                    <a16:rowId xmlns:a16="http://schemas.microsoft.com/office/drawing/2014/main" val="4233244620"/>
                  </a:ext>
                </a:extLst>
              </a:tr>
              <a:tr h="231503">
                <a:tc>
                  <a:txBody>
                    <a:bodyPr/>
                    <a:lstStyle/>
                    <a:p>
                      <a:r>
                        <a:rPr lang="es-CO" sz="1600" dirty="0">
                          <a:latin typeface="Roboto" panose="02000000000000000000" pitchFamily="2" charset="0"/>
                          <a:ea typeface="Roboto" panose="02000000000000000000" pitchFamily="2" charset="0"/>
                        </a:rPr>
                        <a:t>Considerando</a:t>
                      </a:r>
                    </a:p>
                  </a:txBody>
                  <a:tcPr/>
                </a:tc>
                <a:tc>
                  <a:txBody>
                    <a:bodyPr/>
                    <a:lstStyle/>
                    <a:p>
                      <a:r>
                        <a:rPr lang="es-CO" sz="1600" dirty="0">
                          <a:latin typeface="Roboto" panose="02000000000000000000" pitchFamily="2" charset="0"/>
                          <a:ea typeface="Roboto" panose="02000000000000000000" pitchFamily="2" charset="0"/>
                        </a:rPr>
                        <a:t>Se infiere que</a:t>
                      </a:r>
                    </a:p>
                  </a:txBody>
                  <a:tcPr/>
                </a:tc>
                <a:extLst>
                  <a:ext uri="{0D108BD9-81ED-4DB2-BD59-A6C34878D82A}">
                    <a16:rowId xmlns:a16="http://schemas.microsoft.com/office/drawing/2014/main" val="2925677465"/>
                  </a:ext>
                </a:extLst>
              </a:tr>
              <a:tr h="231503">
                <a:tc>
                  <a:txBody>
                    <a:bodyPr/>
                    <a:lstStyle/>
                    <a:p>
                      <a:r>
                        <a:rPr lang="es-CO" sz="1600" dirty="0">
                          <a:latin typeface="Roboto" panose="02000000000000000000" pitchFamily="2" charset="0"/>
                          <a:ea typeface="Roboto" panose="02000000000000000000" pitchFamily="2" charset="0"/>
                        </a:rPr>
                        <a:t>Puesto</a:t>
                      </a:r>
                    </a:p>
                  </a:txBody>
                  <a:tcPr/>
                </a:tc>
                <a:tc>
                  <a:txBody>
                    <a:bodyPr/>
                    <a:lstStyle/>
                    <a:p>
                      <a:r>
                        <a:rPr lang="es-CO" sz="1600" dirty="0">
                          <a:latin typeface="Roboto" panose="02000000000000000000" pitchFamily="2" charset="0"/>
                          <a:ea typeface="Roboto" panose="02000000000000000000" pitchFamily="2" charset="0"/>
                        </a:rPr>
                        <a:t>Luego</a:t>
                      </a:r>
                    </a:p>
                  </a:txBody>
                  <a:tcPr/>
                </a:tc>
                <a:extLst>
                  <a:ext uri="{0D108BD9-81ED-4DB2-BD59-A6C34878D82A}">
                    <a16:rowId xmlns:a16="http://schemas.microsoft.com/office/drawing/2014/main" val="1702102375"/>
                  </a:ext>
                </a:extLst>
              </a:tr>
              <a:tr h="231503">
                <a:tc>
                  <a:txBody>
                    <a:bodyPr/>
                    <a:lstStyle/>
                    <a:p>
                      <a:r>
                        <a:rPr lang="es-CO" sz="1600" dirty="0">
                          <a:latin typeface="Roboto" panose="02000000000000000000" pitchFamily="2" charset="0"/>
                          <a:ea typeface="Roboto" panose="02000000000000000000" pitchFamily="2" charset="0"/>
                        </a:rPr>
                        <a:t>Como</a:t>
                      </a:r>
                    </a:p>
                  </a:txBody>
                  <a:tcPr/>
                </a:tc>
                <a:tc>
                  <a:txBody>
                    <a:bodyPr/>
                    <a:lstStyle/>
                    <a:p>
                      <a:r>
                        <a:rPr lang="es-CO" sz="1600" dirty="0">
                          <a:latin typeface="Roboto" panose="02000000000000000000" pitchFamily="2" charset="0"/>
                          <a:ea typeface="Roboto" panose="02000000000000000000" pitchFamily="2" charset="0"/>
                        </a:rPr>
                        <a:t>Tomando en cuenta</a:t>
                      </a:r>
                    </a:p>
                  </a:txBody>
                  <a:tcPr/>
                </a:tc>
                <a:extLst>
                  <a:ext uri="{0D108BD9-81ED-4DB2-BD59-A6C34878D82A}">
                    <a16:rowId xmlns:a16="http://schemas.microsoft.com/office/drawing/2014/main" val="2134337010"/>
                  </a:ext>
                </a:extLst>
              </a:tr>
              <a:tr h="231503">
                <a:tc>
                  <a:txBody>
                    <a:bodyPr/>
                    <a:lstStyle/>
                    <a:p>
                      <a:r>
                        <a:rPr lang="es-CO" sz="1600" dirty="0">
                          <a:latin typeface="Roboto" panose="02000000000000000000" pitchFamily="2" charset="0"/>
                          <a:ea typeface="Roboto" panose="02000000000000000000" pitchFamily="2" charset="0"/>
                        </a:rPr>
                        <a:t>Ya que</a:t>
                      </a:r>
                    </a:p>
                  </a:txBody>
                  <a:tcPr/>
                </a:tc>
                <a:tc>
                  <a:txBody>
                    <a:bodyPr/>
                    <a:lstStyle/>
                    <a:p>
                      <a:r>
                        <a:rPr lang="es-CO" sz="1600" dirty="0">
                          <a:latin typeface="Roboto" panose="02000000000000000000" pitchFamily="2" charset="0"/>
                          <a:ea typeface="Roboto" panose="02000000000000000000" pitchFamily="2" charset="0"/>
                        </a:rPr>
                        <a:t>Por consiguiente</a:t>
                      </a:r>
                    </a:p>
                  </a:txBody>
                  <a:tcPr/>
                </a:tc>
                <a:extLst>
                  <a:ext uri="{0D108BD9-81ED-4DB2-BD59-A6C34878D82A}">
                    <a16:rowId xmlns:a16="http://schemas.microsoft.com/office/drawing/2014/main" val="472588244"/>
                  </a:ext>
                </a:extLst>
              </a:tr>
              <a:tr h="231503">
                <a:tc>
                  <a:txBody>
                    <a:bodyPr/>
                    <a:lstStyle/>
                    <a:p>
                      <a:r>
                        <a:rPr lang="es-CO" sz="1600" dirty="0">
                          <a:latin typeface="Roboto" panose="02000000000000000000" pitchFamily="2" charset="0"/>
                          <a:ea typeface="Roboto" panose="02000000000000000000" pitchFamily="2" charset="0"/>
                        </a:rPr>
                        <a:t>Por que</a:t>
                      </a:r>
                    </a:p>
                  </a:txBody>
                  <a:tcPr/>
                </a:tc>
                <a:tc>
                  <a:txBody>
                    <a:bodyPr/>
                    <a:lstStyle/>
                    <a:p>
                      <a:r>
                        <a:rPr lang="es-CO" sz="1600" dirty="0">
                          <a:latin typeface="Roboto" panose="02000000000000000000" pitchFamily="2" charset="0"/>
                          <a:ea typeface="Roboto" panose="02000000000000000000" pitchFamily="2" charset="0"/>
                        </a:rPr>
                        <a:t>En consecuencia</a:t>
                      </a:r>
                    </a:p>
                  </a:txBody>
                  <a:tcPr/>
                </a:tc>
                <a:extLst>
                  <a:ext uri="{0D108BD9-81ED-4DB2-BD59-A6C34878D82A}">
                    <a16:rowId xmlns:a16="http://schemas.microsoft.com/office/drawing/2014/main" val="851697473"/>
                  </a:ext>
                </a:extLst>
              </a:tr>
              <a:tr h="231503">
                <a:tc>
                  <a:txBody>
                    <a:bodyPr/>
                    <a:lstStyle/>
                    <a:p>
                      <a:r>
                        <a:rPr lang="es-CO" sz="1600" dirty="0">
                          <a:latin typeface="Roboto" panose="02000000000000000000" pitchFamily="2" charset="0"/>
                          <a:ea typeface="Roboto" panose="02000000000000000000" pitchFamily="2" charset="0"/>
                        </a:rPr>
                        <a:t>Aunque</a:t>
                      </a:r>
                    </a:p>
                  </a:txBody>
                  <a:tcPr/>
                </a:tc>
                <a:tc>
                  <a:txBody>
                    <a:bodyPr/>
                    <a:lstStyle/>
                    <a:p>
                      <a:r>
                        <a:rPr lang="es-CO" sz="1600" dirty="0">
                          <a:latin typeface="Roboto" panose="02000000000000000000" pitchFamily="2" charset="0"/>
                          <a:ea typeface="Roboto" panose="02000000000000000000" pitchFamily="2" charset="0"/>
                        </a:rPr>
                        <a:t>Se deduce que</a:t>
                      </a:r>
                    </a:p>
                  </a:txBody>
                  <a:tcPr/>
                </a:tc>
                <a:extLst>
                  <a:ext uri="{0D108BD9-81ED-4DB2-BD59-A6C34878D82A}">
                    <a16:rowId xmlns:a16="http://schemas.microsoft.com/office/drawing/2014/main" val="1041805371"/>
                  </a:ext>
                </a:extLst>
              </a:tr>
              <a:tr h="231503">
                <a:tc>
                  <a:txBody>
                    <a:bodyPr/>
                    <a:lstStyle/>
                    <a:p>
                      <a:r>
                        <a:rPr lang="es-CO" sz="1600" dirty="0">
                          <a:latin typeface="Roboto" panose="02000000000000000000" pitchFamily="2" charset="0"/>
                          <a:ea typeface="Roboto" panose="02000000000000000000" pitchFamily="2" charset="0"/>
                        </a:rPr>
                        <a:t>Toda vez que</a:t>
                      </a:r>
                    </a:p>
                  </a:txBody>
                  <a:tcPr/>
                </a:tc>
                <a:tc>
                  <a:txBody>
                    <a:bodyPr/>
                    <a:lstStyle/>
                    <a:p>
                      <a:r>
                        <a:rPr lang="es-CO" sz="1600" dirty="0">
                          <a:latin typeface="Roboto" panose="02000000000000000000" pitchFamily="2" charset="0"/>
                          <a:ea typeface="Roboto" panose="02000000000000000000" pitchFamily="2" charset="0"/>
                        </a:rPr>
                        <a:t>Por lo que</a:t>
                      </a:r>
                    </a:p>
                  </a:txBody>
                  <a:tcPr/>
                </a:tc>
                <a:extLst>
                  <a:ext uri="{0D108BD9-81ED-4DB2-BD59-A6C34878D82A}">
                    <a16:rowId xmlns:a16="http://schemas.microsoft.com/office/drawing/2014/main" val="775084325"/>
                  </a:ext>
                </a:extLst>
              </a:tr>
            </a:tbl>
          </a:graphicData>
        </a:graphic>
      </p:graphicFrame>
    </p:spTree>
    <p:extLst>
      <p:ext uri="{BB962C8B-B14F-4D97-AF65-F5344CB8AC3E}">
        <p14:creationId xmlns:p14="http://schemas.microsoft.com/office/powerpoint/2010/main" val="2662558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101323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Validación de argumentos – Tablas de verdad</a:t>
            </a:r>
            <a:endParaRPr dirty="0">
              <a:latin typeface="+mj-lt"/>
            </a:endParaRPr>
          </a:p>
        </p:txBody>
      </p:sp>
      <p:sp>
        <p:nvSpPr>
          <p:cNvPr id="8" name="CuadroTexto 7">
            <a:extLst>
              <a:ext uri="{FF2B5EF4-FFF2-40B4-BE49-F238E27FC236}">
                <a16:creationId xmlns:a16="http://schemas.microsoft.com/office/drawing/2014/main" id="{67FFE210-C380-4E70-9A92-6CA99BC5E6C1}"/>
              </a:ext>
            </a:extLst>
          </p:cNvPr>
          <p:cNvSpPr txBox="1"/>
          <p:nvPr/>
        </p:nvSpPr>
        <p:spPr>
          <a:xfrm>
            <a:off x="422936" y="1572011"/>
            <a:ext cx="10928455" cy="2554545"/>
          </a:xfrm>
          <a:prstGeom prst="rect">
            <a:avLst/>
          </a:prstGeom>
          <a:noFill/>
        </p:spPr>
        <p:txBody>
          <a:bodyPr wrap="square" rtlCol="0">
            <a:spAutoFit/>
          </a:bodyPr>
          <a:lstStyle/>
          <a:p>
            <a:pPr marL="457200" indent="-457200">
              <a:buFont typeface="+mj-lt"/>
              <a:buAutoNum type="arabicPeriod"/>
            </a:pPr>
            <a:r>
              <a:rPr lang="es-MX" sz="2000" dirty="0">
                <a:ea typeface="Roboto" panose="02000000000000000000" pitchFamily="2" charset="0"/>
              </a:rPr>
              <a:t>Identifique las premisas y la conclusión de la forma de argumento.</a:t>
            </a:r>
          </a:p>
          <a:p>
            <a:pPr marL="457200" indent="-457200">
              <a:buFont typeface="+mj-lt"/>
              <a:buAutoNum type="arabicPeriod"/>
            </a:pPr>
            <a:r>
              <a:rPr lang="es-MX" sz="2000" dirty="0">
                <a:ea typeface="Roboto" panose="02000000000000000000" pitchFamily="2" charset="0"/>
              </a:rPr>
              <a:t>Construya una tabla de verdad que muestre los valores de verdad de todas las premisas y la conclusión.</a:t>
            </a:r>
          </a:p>
          <a:p>
            <a:pPr marL="457200" indent="-457200">
              <a:buFont typeface="+mj-lt"/>
              <a:buAutoNum type="arabicPeriod"/>
            </a:pPr>
            <a:r>
              <a:rPr lang="es-MX" sz="2000" dirty="0">
                <a:ea typeface="Roboto" panose="02000000000000000000" pitchFamily="2" charset="0"/>
              </a:rPr>
              <a:t>Un renglón de la tabla de verdad en el que todas las premisas son verdaderas se llama un </a:t>
            </a:r>
            <a:r>
              <a:rPr lang="es-MX" sz="2000" b="1" dirty="0">
                <a:ea typeface="Roboto" panose="02000000000000000000" pitchFamily="2" charset="0"/>
              </a:rPr>
              <a:t>renglón crítico</a:t>
            </a:r>
            <a:r>
              <a:rPr lang="es-MX" sz="2000" dirty="0">
                <a:ea typeface="Roboto" panose="02000000000000000000" pitchFamily="2" charset="0"/>
              </a:rPr>
              <a:t>. Si hay un renglón crítico en el que la conclusión es falsa, entonces es posible que un argumento de la forma dada tenga premisas verdaderas y una conclusión falsa, por lo que la forma del argumento es no válida. Si la conclusión en cada renglón crítico es verdadera, entonces la forma del argumento es válida</a:t>
            </a: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22936" y="933682"/>
            <a:ext cx="9590437"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Validación de argumentos mediante tabla de verdad</a:t>
            </a:r>
            <a:endParaRPr lang="es-MX" dirty="0">
              <a:solidFill>
                <a:schemeClr val="accent2"/>
              </a:solidFill>
              <a:latin typeface="+mn-lt"/>
            </a:endParaRPr>
          </a:p>
          <a:p>
            <a:pPr marL="0" indent="0">
              <a:buFont typeface="Roboto"/>
              <a:buNone/>
            </a:pPr>
            <a:endParaRPr lang="es-MX" sz="2400" dirty="0"/>
          </a:p>
          <a:p>
            <a:pPr indent="0">
              <a:buFont typeface="Roboto"/>
              <a:buNone/>
            </a:pPr>
            <a:endParaRPr lang="es-MX" sz="2400" dirty="0"/>
          </a:p>
        </p:txBody>
      </p:sp>
    </p:spTree>
    <p:extLst>
      <p:ext uri="{BB962C8B-B14F-4D97-AF65-F5344CB8AC3E}">
        <p14:creationId xmlns:p14="http://schemas.microsoft.com/office/powerpoint/2010/main" val="2675461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19100" y="96038"/>
            <a:ext cx="11150600" cy="949500"/>
          </a:xfrm>
          <a:prstGeom prst="rect">
            <a:avLst/>
          </a:prstGeom>
        </p:spPr>
        <p:txBody>
          <a:bodyPr spcFirstLastPara="1" wrap="square" lIns="91425" tIns="45700" rIns="91425" bIns="45700" anchor="ctr" anchorCtr="0">
            <a:noAutofit/>
          </a:bodyPr>
          <a:lstStyle/>
          <a:p>
            <a:r>
              <a:rPr lang="es-ES" dirty="0">
                <a:latin typeface="+mj-lt"/>
              </a:rPr>
              <a:t>Validación de argumentos – Tablas de verdad</a:t>
            </a:r>
            <a:endParaRPr dirty="0">
              <a:latin typeface="+mj-lt"/>
            </a:endParaRPr>
          </a:p>
        </p:txBody>
      </p:sp>
      <p:sp>
        <p:nvSpPr>
          <p:cNvPr id="6" name="CuadroTexto 5">
            <a:extLst>
              <a:ext uri="{FF2B5EF4-FFF2-40B4-BE49-F238E27FC236}">
                <a16:creationId xmlns:a16="http://schemas.microsoft.com/office/drawing/2014/main" id="{EADF0CAA-C898-4BF8-A9BD-2685F47DE0AF}"/>
              </a:ext>
            </a:extLst>
          </p:cNvPr>
          <p:cNvSpPr txBox="1"/>
          <p:nvPr/>
        </p:nvSpPr>
        <p:spPr>
          <a:xfrm>
            <a:off x="520490" y="1111887"/>
            <a:ext cx="10947819" cy="400110"/>
          </a:xfrm>
          <a:prstGeom prst="rect">
            <a:avLst/>
          </a:prstGeom>
          <a:noFill/>
        </p:spPr>
        <p:txBody>
          <a:bodyPr wrap="square" rtlCol="0">
            <a:spAutoFit/>
          </a:bodyPr>
          <a:lstStyle/>
          <a:p>
            <a:r>
              <a:rPr lang="es-MX" sz="2000" b="1" dirty="0">
                <a:ea typeface="Roboto" panose="02000000000000000000" pitchFamily="2" charset="0"/>
              </a:rPr>
              <a:t>Ejemplo</a:t>
            </a:r>
            <a:r>
              <a:rPr lang="es-MX" sz="2000" dirty="0">
                <a:ea typeface="Roboto" panose="02000000000000000000" pitchFamily="2" charset="0"/>
              </a:rPr>
              <a:t>: Dado el siguiente argumento:</a:t>
            </a:r>
          </a:p>
        </p:txBody>
      </p:sp>
      <p:grpSp>
        <p:nvGrpSpPr>
          <p:cNvPr id="9" name="Grupo 8">
            <a:extLst>
              <a:ext uri="{FF2B5EF4-FFF2-40B4-BE49-F238E27FC236}">
                <a16:creationId xmlns:a16="http://schemas.microsoft.com/office/drawing/2014/main" id="{9C1950C6-A178-4B43-916C-62E6AF8172F8}"/>
              </a:ext>
            </a:extLst>
          </p:cNvPr>
          <p:cNvGrpSpPr/>
          <p:nvPr/>
        </p:nvGrpSpPr>
        <p:grpSpPr>
          <a:xfrm>
            <a:off x="5377062" y="1775806"/>
            <a:ext cx="1437876" cy="1108751"/>
            <a:chOff x="5370948" y="1904619"/>
            <a:chExt cx="1437876" cy="1108751"/>
          </a:xfrm>
        </p:grpSpPr>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5521B9AD-9C39-4F2A-B2D5-51F3157CD745}"/>
                    </a:ext>
                  </a:extLst>
                </p:cNvPr>
                <p:cNvSpPr txBox="1"/>
                <p:nvPr/>
              </p:nvSpPr>
              <p:spPr>
                <a:xfrm>
                  <a:off x="5511481" y="1904619"/>
                  <a:ext cx="129734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oMath>
                    </m:oMathPara>
                  </a14:m>
                  <a:endParaRPr lang="es-MX" sz="2000" dirty="0">
                    <a:latin typeface="Roboto" panose="02000000000000000000" pitchFamily="2" charset="0"/>
                    <a:ea typeface="Cambria Math" panose="02040503050406030204" pitchFamily="18" charset="0"/>
                  </a:endParaRPr>
                </a:p>
              </p:txBody>
            </p:sp>
          </mc:Choice>
          <mc:Fallback xmlns="">
            <p:sp>
              <p:nvSpPr>
                <p:cNvPr id="8" name="CuadroTexto 7">
                  <a:extLst>
                    <a:ext uri="{FF2B5EF4-FFF2-40B4-BE49-F238E27FC236}">
                      <a16:creationId xmlns:a16="http://schemas.microsoft.com/office/drawing/2014/main" id="{5521B9AD-9C39-4F2A-B2D5-51F3157CD745}"/>
                    </a:ext>
                  </a:extLst>
                </p:cNvPr>
                <p:cNvSpPr txBox="1">
                  <a:spLocks noRot="1" noChangeAspect="1" noMove="1" noResize="1" noEditPoints="1" noAdjustHandles="1" noChangeArrowheads="1" noChangeShapeType="1" noTextEdit="1"/>
                </p:cNvSpPr>
                <p:nvPr/>
              </p:nvSpPr>
              <p:spPr>
                <a:xfrm>
                  <a:off x="5511481" y="1904619"/>
                  <a:ext cx="1297343" cy="307777"/>
                </a:xfrm>
                <a:prstGeom prst="rect">
                  <a:avLst/>
                </a:prstGeom>
                <a:blipFill>
                  <a:blip r:embed="rId3"/>
                  <a:stretch>
                    <a:fillRect l="-4245" r="-1887" b="-2549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2CB06A13-DC82-44AE-A652-43AAA6AFE665}"/>
                    </a:ext>
                  </a:extLst>
                </p:cNvPr>
                <p:cNvSpPr txBox="1"/>
                <p:nvPr/>
              </p:nvSpPr>
              <p:spPr>
                <a:xfrm>
                  <a:off x="5511481" y="2305037"/>
                  <a:ext cx="11049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i="1">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oMath>
                    </m:oMathPara>
                  </a14:m>
                  <a:endParaRPr lang="es-MX" sz="2000" dirty="0">
                    <a:latin typeface="Roboto" panose="02000000000000000000" pitchFamily="2" charset="0"/>
                    <a:ea typeface="Cambria Math" panose="02040503050406030204" pitchFamily="18" charset="0"/>
                  </a:endParaRPr>
                </a:p>
              </p:txBody>
            </p:sp>
          </mc:Choice>
          <mc:Fallback xmlns="">
            <p:sp>
              <p:nvSpPr>
                <p:cNvPr id="29" name="CuadroTexto 28">
                  <a:extLst>
                    <a:ext uri="{FF2B5EF4-FFF2-40B4-BE49-F238E27FC236}">
                      <a16:creationId xmlns:a16="http://schemas.microsoft.com/office/drawing/2014/main" id="{2CB06A13-DC82-44AE-A652-43AAA6AFE665}"/>
                    </a:ext>
                  </a:extLst>
                </p:cNvPr>
                <p:cNvSpPr txBox="1">
                  <a:spLocks noRot="1" noChangeAspect="1" noMove="1" noResize="1" noEditPoints="1" noAdjustHandles="1" noChangeArrowheads="1" noChangeShapeType="1" noTextEdit="1"/>
                </p:cNvSpPr>
                <p:nvPr/>
              </p:nvSpPr>
              <p:spPr>
                <a:xfrm>
                  <a:off x="5511481" y="2305037"/>
                  <a:ext cx="1104982" cy="307777"/>
                </a:xfrm>
                <a:prstGeom prst="rect">
                  <a:avLst/>
                </a:prstGeom>
                <a:blipFill>
                  <a:blip r:embed="rId4"/>
                  <a:stretch>
                    <a:fillRect l="-4972" r="-1657" b="-28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64D462B3-51FD-4213-BC4D-25C0F31A1FBF}"/>
                    </a:ext>
                  </a:extLst>
                </p:cNvPr>
                <p:cNvSpPr txBox="1"/>
                <p:nvPr/>
              </p:nvSpPr>
              <p:spPr>
                <a:xfrm>
                  <a:off x="5370948" y="2705593"/>
                  <a:ext cx="9133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Cambria Math" panose="02040503050406030204" pitchFamily="18" charset="0"/>
                          </a:rPr>
                          <m:t>𝑟</m:t>
                        </m:r>
                      </m:oMath>
                    </m:oMathPara>
                  </a14:m>
                  <a:endParaRPr lang="es-MX" sz="2000" dirty="0">
                    <a:latin typeface="Roboto" panose="02000000000000000000" pitchFamily="2" charset="0"/>
                    <a:ea typeface="Cambria Math" panose="02040503050406030204" pitchFamily="18" charset="0"/>
                  </a:endParaRPr>
                </a:p>
              </p:txBody>
            </p:sp>
          </mc:Choice>
          <mc:Fallback xmlns="">
            <p:sp>
              <p:nvSpPr>
                <p:cNvPr id="30" name="CuadroTexto 29">
                  <a:extLst>
                    <a:ext uri="{FF2B5EF4-FFF2-40B4-BE49-F238E27FC236}">
                      <a16:creationId xmlns:a16="http://schemas.microsoft.com/office/drawing/2014/main" id="{64D462B3-51FD-4213-BC4D-25C0F31A1FBF}"/>
                    </a:ext>
                  </a:extLst>
                </p:cNvPr>
                <p:cNvSpPr txBox="1">
                  <a:spLocks noRot="1" noChangeAspect="1" noMove="1" noResize="1" noEditPoints="1" noAdjustHandles="1" noChangeArrowheads="1" noChangeShapeType="1" noTextEdit="1"/>
                </p:cNvSpPr>
                <p:nvPr/>
              </p:nvSpPr>
              <p:spPr>
                <a:xfrm>
                  <a:off x="5370948" y="2705593"/>
                  <a:ext cx="913392" cy="307777"/>
                </a:xfrm>
                <a:prstGeom prst="rect">
                  <a:avLst/>
                </a:prstGeom>
                <a:blipFill>
                  <a:blip r:embed="rId5"/>
                  <a:stretch>
                    <a:fillRect l="-4027" r="-2685" b="-25490"/>
                  </a:stretch>
                </a:blipFill>
              </p:spPr>
              <p:txBody>
                <a:bodyPr/>
                <a:lstStyle/>
                <a:p>
                  <a:r>
                    <a:rPr lang="es-CO">
                      <a:noFill/>
                    </a:rPr>
                    <a:t> </a:t>
                  </a:r>
                </a:p>
              </p:txBody>
            </p:sp>
          </mc:Fallback>
        </mc:AlternateContent>
      </p:grpSp>
      <p:sp>
        <p:nvSpPr>
          <p:cNvPr id="31" name="CuadroTexto 30">
            <a:extLst>
              <a:ext uri="{FF2B5EF4-FFF2-40B4-BE49-F238E27FC236}">
                <a16:creationId xmlns:a16="http://schemas.microsoft.com/office/drawing/2014/main" id="{0C47FA03-1C5C-454E-9C9C-3D670E3023D9}"/>
              </a:ext>
            </a:extLst>
          </p:cNvPr>
          <p:cNvSpPr txBox="1"/>
          <p:nvPr/>
        </p:nvSpPr>
        <p:spPr>
          <a:xfrm>
            <a:off x="431610" y="3358337"/>
            <a:ext cx="10804296" cy="707886"/>
          </a:xfrm>
          <a:prstGeom prst="rect">
            <a:avLst/>
          </a:prstGeom>
          <a:noFill/>
        </p:spPr>
        <p:txBody>
          <a:bodyPr wrap="square" rtlCol="0">
            <a:spAutoFit/>
          </a:bodyPr>
          <a:lstStyle/>
          <a:p>
            <a:r>
              <a:rPr lang="es-MX" sz="2000" dirty="0">
                <a:ea typeface="Roboto" panose="02000000000000000000" pitchFamily="2" charset="0"/>
              </a:rPr>
              <a:t>Determine su validez mediante una tabla de verdad, indicando qué columnas representan las premisas y cuáles representan la conclusión y anotando en la tabla una frase de la explicación. </a:t>
            </a:r>
          </a:p>
        </p:txBody>
      </p:sp>
      <p:cxnSp>
        <p:nvCxnSpPr>
          <p:cNvPr id="10" name="Conector recto 9">
            <a:extLst>
              <a:ext uri="{FF2B5EF4-FFF2-40B4-BE49-F238E27FC236}">
                <a16:creationId xmlns:a16="http://schemas.microsoft.com/office/drawing/2014/main" id="{170970C3-9C16-474D-9490-1671E7DDA13D}"/>
              </a:ext>
            </a:extLst>
          </p:cNvPr>
          <p:cNvCxnSpPr>
            <a:cxnSpLocks/>
          </p:cNvCxnSpPr>
          <p:nvPr/>
        </p:nvCxnSpPr>
        <p:spPr>
          <a:xfrm>
            <a:off x="5402462" y="2547501"/>
            <a:ext cx="15952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1641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49" y="96038"/>
            <a:ext cx="1035869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Validación de argumentos – Tablas de verdad</a:t>
            </a:r>
            <a:endParaRPr dirty="0">
              <a:latin typeface="+mn-lt"/>
            </a:endParaRPr>
          </a:p>
        </p:txBody>
      </p:sp>
      <p:grpSp>
        <p:nvGrpSpPr>
          <p:cNvPr id="9" name="Grupo 8">
            <a:extLst>
              <a:ext uri="{FF2B5EF4-FFF2-40B4-BE49-F238E27FC236}">
                <a16:creationId xmlns:a16="http://schemas.microsoft.com/office/drawing/2014/main" id="{9C1950C6-A178-4B43-916C-62E6AF8172F8}"/>
              </a:ext>
            </a:extLst>
          </p:cNvPr>
          <p:cNvGrpSpPr/>
          <p:nvPr/>
        </p:nvGrpSpPr>
        <p:grpSpPr>
          <a:xfrm>
            <a:off x="2886710" y="1447741"/>
            <a:ext cx="1378846" cy="1077973"/>
            <a:chOff x="5370948" y="1904619"/>
            <a:chExt cx="1378846" cy="1077973"/>
          </a:xfrm>
        </p:grpSpPr>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5521B9AD-9C39-4F2A-B2D5-51F3157CD745}"/>
                    </a:ext>
                  </a:extLst>
                </p:cNvPr>
                <p:cNvSpPr txBox="1"/>
                <p:nvPr/>
              </p:nvSpPr>
              <p:spPr>
                <a:xfrm>
                  <a:off x="5580756" y="1904619"/>
                  <a:ext cx="11690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800" i="1">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𝑞</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𝑟</m:t>
                        </m:r>
                      </m:oMath>
                    </m:oMathPara>
                  </a14:m>
                  <a:endParaRPr lang="es-MX" sz="1800" dirty="0">
                    <a:latin typeface="Roboto" panose="02000000000000000000" pitchFamily="2" charset="0"/>
                    <a:ea typeface="Cambria Math" panose="02040503050406030204" pitchFamily="18" charset="0"/>
                  </a:endParaRPr>
                </a:p>
              </p:txBody>
            </p:sp>
          </mc:Choice>
          <mc:Fallback xmlns="">
            <p:sp>
              <p:nvSpPr>
                <p:cNvPr id="8" name="CuadroTexto 7">
                  <a:extLst>
                    <a:ext uri="{FF2B5EF4-FFF2-40B4-BE49-F238E27FC236}">
                      <a16:creationId xmlns:a16="http://schemas.microsoft.com/office/drawing/2014/main" id="{5521B9AD-9C39-4F2A-B2D5-51F3157CD745}"/>
                    </a:ext>
                  </a:extLst>
                </p:cNvPr>
                <p:cNvSpPr txBox="1">
                  <a:spLocks noRot="1" noChangeAspect="1" noMove="1" noResize="1" noEditPoints="1" noAdjustHandles="1" noChangeArrowheads="1" noChangeShapeType="1" noTextEdit="1"/>
                </p:cNvSpPr>
                <p:nvPr/>
              </p:nvSpPr>
              <p:spPr>
                <a:xfrm>
                  <a:off x="5580756" y="1904619"/>
                  <a:ext cx="1169038" cy="276999"/>
                </a:xfrm>
                <a:prstGeom prst="rect">
                  <a:avLst/>
                </a:prstGeom>
                <a:blipFill>
                  <a:blip r:embed="rId3"/>
                  <a:stretch>
                    <a:fillRect l="-4167" r="-2083" b="-2888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2CB06A13-DC82-44AE-A652-43AAA6AFE665}"/>
                    </a:ext>
                  </a:extLst>
                </p:cNvPr>
                <p:cNvSpPr txBox="1"/>
                <p:nvPr/>
              </p:nvSpPr>
              <p:spPr>
                <a:xfrm>
                  <a:off x="5580756" y="2305037"/>
                  <a:ext cx="9959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800" i="1">
                            <a:latin typeface="Cambria Math" panose="02040503050406030204" pitchFamily="18" charset="0"/>
                            <a:ea typeface="Roboto" panose="02000000000000000000" pitchFamily="2" charset="0"/>
                          </a:rPr>
                          <m:t>𝑞</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𝑟</m:t>
                        </m:r>
                      </m:oMath>
                    </m:oMathPara>
                  </a14:m>
                  <a:endParaRPr lang="es-MX" sz="1800" dirty="0">
                    <a:latin typeface="Roboto" panose="02000000000000000000" pitchFamily="2" charset="0"/>
                    <a:ea typeface="Cambria Math" panose="02040503050406030204" pitchFamily="18" charset="0"/>
                  </a:endParaRPr>
                </a:p>
              </p:txBody>
            </p:sp>
          </mc:Choice>
          <mc:Fallback xmlns="">
            <p:sp>
              <p:nvSpPr>
                <p:cNvPr id="29" name="CuadroTexto 28">
                  <a:extLst>
                    <a:ext uri="{FF2B5EF4-FFF2-40B4-BE49-F238E27FC236}">
                      <a16:creationId xmlns:a16="http://schemas.microsoft.com/office/drawing/2014/main" id="{2CB06A13-DC82-44AE-A652-43AAA6AFE665}"/>
                    </a:ext>
                  </a:extLst>
                </p:cNvPr>
                <p:cNvSpPr txBox="1">
                  <a:spLocks noRot="1" noChangeAspect="1" noMove="1" noResize="1" noEditPoints="1" noAdjustHandles="1" noChangeArrowheads="1" noChangeShapeType="1" noTextEdit="1"/>
                </p:cNvSpPr>
                <p:nvPr/>
              </p:nvSpPr>
              <p:spPr>
                <a:xfrm>
                  <a:off x="5580756" y="2305037"/>
                  <a:ext cx="995914" cy="276999"/>
                </a:xfrm>
                <a:prstGeom prst="rect">
                  <a:avLst/>
                </a:prstGeom>
                <a:blipFill>
                  <a:blip r:embed="rId4"/>
                  <a:stretch>
                    <a:fillRect l="-5521" r="-2454" b="-2608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64D462B3-51FD-4213-BC4D-25C0F31A1FBF}"/>
                    </a:ext>
                  </a:extLst>
                </p:cNvPr>
                <p:cNvSpPr txBox="1"/>
                <p:nvPr/>
              </p:nvSpPr>
              <p:spPr>
                <a:xfrm>
                  <a:off x="5370948" y="2705593"/>
                  <a:ext cx="8222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Cambria Math" panose="02040503050406030204" pitchFamily="18" charset="0"/>
                          </a:rPr>
                          <m:t>𝑟</m:t>
                        </m:r>
                      </m:oMath>
                    </m:oMathPara>
                  </a14:m>
                  <a:endParaRPr lang="es-MX" sz="1800" dirty="0">
                    <a:latin typeface="Roboto" panose="02000000000000000000" pitchFamily="2" charset="0"/>
                    <a:ea typeface="Cambria Math" panose="02040503050406030204" pitchFamily="18" charset="0"/>
                  </a:endParaRPr>
                </a:p>
              </p:txBody>
            </p:sp>
          </mc:Choice>
          <mc:Fallback xmlns="">
            <p:sp>
              <p:nvSpPr>
                <p:cNvPr id="30" name="CuadroTexto 29">
                  <a:extLst>
                    <a:ext uri="{FF2B5EF4-FFF2-40B4-BE49-F238E27FC236}">
                      <a16:creationId xmlns:a16="http://schemas.microsoft.com/office/drawing/2014/main" id="{64D462B3-51FD-4213-BC4D-25C0F31A1FBF}"/>
                    </a:ext>
                  </a:extLst>
                </p:cNvPr>
                <p:cNvSpPr txBox="1">
                  <a:spLocks noRot="1" noChangeAspect="1" noMove="1" noResize="1" noEditPoints="1" noAdjustHandles="1" noChangeArrowheads="1" noChangeShapeType="1" noTextEdit="1"/>
                </p:cNvSpPr>
                <p:nvPr/>
              </p:nvSpPr>
              <p:spPr>
                <a:xfrm>
                  <a:off x="5370948" y="2705593"/>
                  <a:ext cx="822213" cy="276999"/>
                </a:xfrm>
                <a:prstGeom prst="rect">
                  <a:avLst/>
                </a:prstGeom>
                <a:blipFill>
                  <a:blip r:embed="rId5"/>
                  <a:stretch>
                    <a:fillRect l="-2963" r="-2963" b="-26087"/>
                  </a:stretch>
                </a:blipFill>
              </p:spPr>
              <p:txBody>
                <a:bodyPr/>
                <a:lstStyle/>
                <a:p>
                  <a:r>
                    <a:rPr lang="es-CO">
                      <a:noFill/>
                    </a:rPr>
                    <a:t> </a:t>
                  </a:r>
                </a:p>
              </p:txBody>
            </p:sp>
          </mc:Fallback>
        </mc:AlternateContent>
      </p:gr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0C47FA03-1C5C-454E-9C9C-3D670E3023D9}"/>
                  </a:ext>
                </a:extLst>
              </p:cNvPr>
              <p:cNvSpPr txBox="1"/>
              <p:nvPr/>
            </p:nvSpPr>
            <p:spPr>
              <a:xfrm>
                <a:off x="614354" y="1291537"/>
                <a:ext cx="2105894" cy="1569660"/>
              </a:xfrm>
              <a:prstGeom prst="rect">
                <a:avLst/>
              </a:prstGeom>
              <a:noFill/>
            </p:spPr>
            <p:txBody>
              <a:bodyPr wrap="square" rtlCol="0">
                <a:spAutoFit/>
              </a:bodyPr>
              <a:lstStyle/>
              <a:p>
                <a:r>
                  <a:rPr lang="es-MX" sz="1600" b="1" dirty="0">
                    <a:latin typeface="Roboto" panose="02000000000000000000" pitchFamily="2" charset="0"/>
                    <a:ea typeface="Roboto" panose="02000000000000000000" pitchFamily="2" charset="0"/>
                  </a:rPr>
                  <a:t>Premisas:</a:t>
                </a:r>
              </a:p>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Roboto" panose="02000000000000000000" pitchFamily="2" charset="0"/>
                        </a:rPr>
                        <m:t>𝑝</m:t>
                      </m:r>
                      <m:r>
                        <a:rPr lang="es-MX" sz="1600" i="1" smtClean="0">
                          <a:latin typeface="Cambria Math" panose="02040503050406030204" pitchFamily="18" charset="0"/>
                          <a:ea typeface="Roboto" panose="02000000000000000000" pitchFamily="2" charset="0"/>
                        </a:rPr>
                        <m:t>→</m:t>
                      </m:r>
                      <m:r>
                        <a:rPr lang="es-MX" sz="1600" i="1" smtClean="0">
                          <a:latin typeface="Cambria Math" panose="02040503050406030204" pitchFamily="18" charset="0"/>
                          <a:ea typeface="Roboto" panose="02000000000000000000" pitchFamily="2" charset="0"/>
                        </a:rPr>
                        <m:t>𝑞</m:t>
                      </m:r>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𝑟</m:t>
                      </m:r>
                    </m:oMath>
                  </m:oMathPara>
                </a14:m>
                <a:endParaRPr lang="es-MX" sz="1600" dirty="0">
                  <a:latin typeface="Roboto" panose="02000000000000000000" pitchFamily="2"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Roboto" panose="02000000000000000000" pitchFamily="2" charset="0"/>
                        </a:rPr>
                        <m:t>𝑞</m:t>
                      </m:r>
                      <m:r>
                        <a:rPr lang="es-MX" sz="1600" i="1" smtClean="0">
                          <a:latin typeface="Cambria Math" panose="02040503050406030204" pitchFamily="18" charset="0"/>
                          <a:ea typeface="Roboto" panose="02000000000000000000" pitchFamily="2" charset="0"/>
                        </a:rPr>
                        <m:t>→</m:t>
                      </m:r>
                      <m:r>
                        <a:rPr lang="es-MX" sz="1600" i="1" smtClean="0">
                          <a:latin typeface="Cambria Math" panose="02040503050406030204" pitchFamily="18" charset="0"/>
                          <a:ea typeface="Roboto" panose="02000000000000000000" pitchFamily="2" charset="0"/>
                        </a:rPr>
                        <m:t>𝑝</m:t>
                      </m:r>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𝑟</m:t>
                      </m:r>
                    </m:oMath>
                  </m:oMathPara>
                </a14:m>
                <a:endParaRPr lang="es-MX" sz="1600" dirty="0">
                  <a:latin typeface="Roboto" panose="02000000000000000000" pitchFamily="2" charset="0"/>
                  <a:ea typeface="Cambria Math" panose="02040503050406030204" pitchFamily="18" charset="0"/>
                </a:endParaRPr>
              </a:p>
              <a:p>
                <a:endParaRPr lang="es-MX" sz="1600" dirty="0">
                  <a:latin typeface="Roboto" panose="02000000000000000000" pitchFamily="2" charset="0"/>
                  <a:ea typeface="Cambria Math" panose="02040503050406030204" pitchFamily="18" charset="0"/>
                </a:endParaRPr>
              </a:p>
              <a:p>
                <a:r>
                  <a:rPr lang="es-MX" sz="1600" b="1" dirty="0">
                    <a:latin typeface="Roboto" panose="02000000000000000000" pitchFamily="2" charset="0"/>
                    <a:ea typeface="Roboto" panose="02000000000000000000" pitchFamily="2" charset="0"/>
                  </a:rPr>
                  <a:t>Conclusión</a:t>
                </a:r>
                <a:r>
                  <a:rPr lang="es-MX" sz="1600" dirty="0">
                    <a:latin typeface="Roboto" panose="02000000000000000000" pitchFamily="2" charset="0"/>
                    <a:ea typeface="Roboto" panose="02000000000000000000" pitchFamily="2" charset="0"/>
                  </a:rPr>
                  <a:t>:</a:t>
                </a:r>
              </a:p>
              <a:p>
                <a:pPr lvl="1"/>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𝑝</m:t>
                      </m:r>
                      <m:r>
                        <a:rPr lang="es-MX" sz="1600" i="1" smtClean="0">
                          <a:latin typeface="Cambria Math" panose="02040503050406030204" pitchFamily="18" charset="0"/>
                          <a:ea typeface="Roboto" panose="02000000000000000000" pitchFamily="2" charset="0"/>
                        </a:rPr>
                        <m:t>→</m:t>
                      </m:r>
                      <m:r>
                        <a:rPr lang="es-MX" sz="1600" i="1">
                          <a:latin typeface="Cambria Math" panose="02040503050406030204" pitchFamily="18" charset="0"/>
                          <a:ea typeface="Cambria Math" panose="02040503050406030204" pitchFamily="18" charset="0"/>
                        </a:rPr>
                        <m:t>𝑟</m:t>
                      </m:r>
                    </m:oMath>
                  </m:oMathPara>
                </a14:m>
                <a:endParaRPr lang="es-MX" sz="1600" dirty="0">
                  <a:latin typeface="Roboto" panose="02000000000000000000" pitchFamily="2" charset="0"/>
                  <a:ea typeface="Roboto" panose="02000000000000000000" pitchFamily="2" charset="0"/>
                </a:endParaRPr>
              </a:p>
            </p:txBody>
          </p:sp>
        </mc:Choice>
        <mc:Fallback>
          <p:sp>
            <p:nvSpPr>
              <p:cNvPr id="31" name="CuadroTexto 30">
                <a:extLst>
                  <a:ext uri="{FF2B5EF4-FFF2-40B4-BE49-F238E27FC236}">
                    <a16:creationId xmlns:a16="http://schemas.microsoft.com/office/drawing/2014/main" id="{0C47FA03-1C5C-454E-9C9C-3D670E3023D9}"/>
                  </a:ext>
                </a:extLst>
              </p:cNvPr>
              <p:cNvSpPr txBox="1">
                <a:spLocks noRot="1" noChangeAspect="1" noMove="1" noResize="1" noEditPoints="1" noAdjustHandles="1" noChangeArrowheads="1" noChangeShapeType="1" noTextEdit="1"/>
              </p:cNvSpPr>
              <p:nvPr/>
            </p:nvSpPr>
            <p:spPr>
              <a:xfrm>
                <a:off x="614354" y="1291537"/>
                <a:ext cx="2105894" cy="1569660"/>
              </a:xfrm>
              <a:prstGeom prst="rect">
                <a:avLst/>
              </a:prstGeom>
              <a:blipFill>
                <a:blip r:embed="rId6"/>
                <a:stretch>
                  <a:fillRect l="-1739" t="-1167" b="-38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graphicFrame>
            <p:nvGraphicFramePr>
              <p:cNvPr id="14" name="Tabla 4">
                <a:extLst>
                  <a:ext uri="{FF2B5EF4-FFF2-40B4-BE49-F238E27FC236}">
                    <a16:creationId xmlns:a16="http://schemas.microsoft.com/office/drawing/2014/main" id="{A83C7222-0883-428B-8FD4-F96A70091B73}"/>
                  </a:ext>
                </a:extLst>
              </p:cNvPr>
              <p:cNvGraphicFramePr>
                <a:graphicFrameLocks noGrp="1"/>
              </p:cNvGraphicFramePr>
              <p:nvPr>
                <p:extLst>
                  <p:ext uri="{D42A27DB-BD31-4B8C-83A1-F6EECF244321}">
                    <p14:modId xmlns:p14="http://schemas.microsoft.com/office/powerpoint/2010/main" val="2774845520"/>
                  </p:ext>
                </p:extLst>
              </p:nvPr>
            </p:nvGraphicFramePr>
            <p:xfrm>
              <a:off x="1612058" y="3759259"/>
              <a:ext cx="6983128" cy="3017520"/>
            </p:xfrm>
            <a:graphic>
              <a:graphicData uri="http://schemas.openxmlformats.org/drawingml/2006/table">
                <a:tbl>
                  <a:tblPr firstRow="1" bandRow="1">
                    <a:tableStyleId>{AD6A3598-7CB8-4345-8D95-17CE05F158A0}</a:tableStyleId>
                  </a:tblPr>
                  <a:tblGrid>
                    <a:gridCol w="393767">
                      <a:extLst>
                        <a:ext uri="{9D8B030D-6E8A-4147-A177-3AD203B41FA5}">
                          <a16:colId xmlns:a16="http://schemas.microsoft.com/office/drawing/2014/main" val="776375974"/>
                        </a:ext>
                      </a:extLst>
                    </a:gridCol>
                    <a:gridCol w="393767">
                      <a:extLst>
                        <a:ext uri="{9D8B030D-6E8A-4147-A177-3AD203B41FA5}">
                          <a16:colId xmlns:a16="http://schemas.microsoft.com/office/drawing/2014/main" val="384604534"/>
                        </a:ext>
                      </a:extLst>
                    </a:gridCol>
                    <a:gridCol w="393767">
                      <a:extLst>
                        <a:ext uri="{9D8B030D-6E8A-4147-A177-3AD203B41FA5}">
                          <a16:colId xmlns:a16="http://schemas.microsoft.com/office/drawing/2014/main" val="79869298"/>
                        </a:ext>
                      </a:extLst>
                    </a:gridCol>
                    <a:gridCol w="393767">
                      <a:extLst>
                        <a:ext uri="{9D8B030D-6E8A-4147-A177-3AD203B41FA5}">
                          <a16:colId xmlns:a16="http://schemas.microsoft.com/office/drawing/2014/main" val="1627128528"/>
                        </a:ext>
                      </a:extLst>
                    </a:gridCol>
                    <a:gridCol w="854448">
                      <a:extLst>
                        <a:ext uri="{9D8B030D-6E8A-4147-A177-3AD203B41FA5}">
                          <a16:colId xmlns:a16="http://schemas.microsoft.com/office/drawing/2014/main" val="3636147316"/>
                        </a:ext>
                      </a:extLst>
                    </a:gridCol>
                    <a:gridCol w="854448">
                      <a:extLst>
                        <a:ext uri="{9D8B030D-6E8A-4147-A177-3AD203B41FA5}">
                          <a16:colId xmlns:a16="http://schemas.microsoft.com/office/drawing/2014/main" val="1883770935"/>
                        </a:ext>
                      </a:extLst>
                    </a:gridCol>
                    <a:gridCol w="1191491">
                      <a:extLst>
                        <a:ext uri="{9D8B030D-6E8A-4147-A177-3AD203B41FA5}">
                          <a16:colId xmlns:a16="http://schemas.microsoft.com/office/drawing/2014/main" val="4031458888"/>
                        </a:ext>
                      </a:extLst>
                    </a:gridCol>
                    <a:gridCol w="1288473">
                      <a:extLst>
                        <a:ext uri="{9D8B030D-6E8A-4147-A177-3AD203B41FA5}">
                          <a16:colId xmlns:a16="http://schemas.microsoft.com/office/drawing/2014/main" val="3413420708"/>
                        </a:ext>
                      </a:extLst>
                    </a:gridCol>
                    <a:gridCol w="1219200">
                      <a:extLst>
                        <a:ext uri="{9D8B030D-6E8A-4147-A177-3AD203B41FA5}">
                          <a16:colId xmlns:a16="http://schemas.microsoft.com/office/drawing/2014/main" val="1553787280"/>
                        </a:ext>
                      </a:extLst>
                    </a:gridCol>
                  </a:tblGrid>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Roboto" panose="02000000000000000000" pitchFamily="2" charset="0"/>
                                  </a:rPr>
                                  <m:t>𝒑</m:t>
                                </m:r>
                              </m:oMath>
                            </m:oMathPara>
                          </a14:m>
                          <a:endParaRPr lang="es-CO" sz="16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Roboto" panose="02000000000000000000" pitchFamily="2" charset="0"/>
                                  </a:rPr>
                                  <m:t>𝒒</m:t>
                                </m:r>
                              </m:oMath>
                            </m:oMathPara>
                          </a14:m>
                          <a:endParaRPr lang="es-CO" sz="16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rPr>
                                  <m:t>𝒓</m:t>
                                </m:r>
                              </m:oMath>
                            </m:oMathPara>
                          </a14:m>
                          <a:endParaRPr lang="es-CO" sz="1600" b="1" dirty="0">
                            <a:latin typeface="Roboto" panose="02000000000000000000" pitchFamily="2" charset="0"/>
                            <a:ea typeface="Roboto" panose="02000000000000000000" pitchFamily="2" charset="0"/>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𝒓</m:t>
                                </m:r>
                              </m:oMath>
                            </m:oMathPara>
                          </a14:m>
                          <a:endParaRPr lang="es-CO" sz="1600" b="1"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rPr>
                                  <m:t>𝒒</m:t>
                                </m:r>
                                <m:r>
                                  <a:rPr lang="es-MX" sz="1600" b="1" i="1">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𝒓</m:t>
                                </m:r>
                              </m:oMath>
                            </m:oMathPara>
                          </a14:m>
                          <a:endParaRPr lang="es-MX" sz="1600" b="1" dirty="0"/>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𝒑</m:t>
                                </m:r>
                                <m:r>
                                  <a:rPr lang="es-MX" sz="1600" b="1"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rPr>
                                  <m:t>𝒓</m:t>
                                </m:r>
                              </m:oMath>
                            </m:oMathPara>
                          </a14:m>
                          <a:endParaRPr lang="es-MX" sz="1600" b="1" dirty="0"/>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rPr>
                                  <m:t>𝒑</m:t>
                                </m:r>
                                <m:r>
                                  <a:rPr lang="es-MX" sz="1600" b="1" i="1" smtClean="0">
                                    <a:latin typeface="Cambria Math" panose="02040503050406030204" pitchFamily="18" charset="0"/>
                                  </a:rPr>
                                  <m:t>→</m:t>
                                </m:r>
                                <m:r>
                                  <a:rPr lang="es-MX" sz="1600" b="1" i="1" smtClean="0">
                                    <a:latin typeface="Cambria Math" panose="02040503050406030204" pitchFamily="18" charset="0"/>
                                  </a:rPr>
                                  <m:t>𝒒</m:t>
                                </m:r>
                                <m:r>
                                  <a:rPr lang="es-MX" sz="1600" b="1" i="1">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𝒓</m:t>
                                </m:r>
                              </m:oMath>
                            </m:oMathPara>
                          </a14:m>
                          <a:endParaRPr lang="es-MX" sz="1600" b="1" dirty="0"/>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𝒒</m:t>
                                </m:r>
                                <m:r>
                                  <a:rPr lang="es-MX" sz="1600" b="1" i="1">
                                    <a:latin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𝒑</m:t>
                                </m:r>
                                <m:r>
                                  <a:rPr lang="es-MX" sz="1600" b="1"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rPr>
                                  <m:t>𝒓</m:t>
                                </m:r>
                              </m:oMath>
                            </m:oMathPara>
                          </a14:m>
                          <a:endParaRPr lang="es-MX" sz="1600" b="1" dirty="0"/>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𝒑</m:t>
                                </m:r>
                                <m:r>
                                  <a:rPr lang="es-MX" sz="1600" b="1"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𝒓</m:t>
                                </m:r>
                              </m:oMath>
                            </m:oMathPara>
                          </a14:m>
                          <a:endParaRPr lang="es-MX" sz="1600" b="1" dirty="0"/>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670299"/>
                      </a:ext>
                    </a:extLst>
                  </a:tr>
                  <a:tr h="31891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1805549228"/>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extLst>
                      <a:ext uri="{0D108BD9-81ED-4DB2-BD59-A6C34878D82A}">
                        <a16:rowId xmlns:a16="http://schemas.microsoft.com/office/drawing/2014/main" val="2353127006"/>
                      </a:ext>
                    </a:extLst>
                  </a:tr>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651764017"/>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841338906"/>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solidFill>
                                      <a:srgbClr val="FF0000"/>
                                    </a:solidFill>
                                    <a:latin typeface="Cambria Math" panose="02040503050406030204" pitchFamily="18" charset="0"/>
                                    <a:ea typeface="Roboto" panose="02000000000000000000" pitchFamily="2" charset="0"/>
                                  </a:rPr>
                                  <m:t>0</m:t>
                                </m:r>
                              </m:oMath>
                            </m:oMathPara>
                          </a14:m>
                          <a:endParaRPr lang="es-CO" sz="1600" dirty="0">
                            <a:solidFill>
                              <a:srgbClr val="FF0000"/>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632356540"/>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671630554"/>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17604333"/>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extLst>
                      <a:ext uri="{0D108BD9-81ED-4DB2-BD59-A6C34878D82A}">
                        <a16:rowId xmlns:a16="http://schemas.microsoft.com/office/drawing/2014/main" val="768255264"/>
                      </a:ext>
                    </a:extLst>
                  </a:tr>
                </a:tbl>
              </a:graphicData>
            </a:graphic>
          </p:graphicFrame>
        </mc:Choice>
        <mc:Fallback xmlns="">
          <p:graphicFrame>
            <p:nvGraphicFramePr>
              <p:cNvPr id="14" name="Tabla 4">
                <a:extLst>
                  <a:ext uri="{FF2B5EF4-FFF2-40B4-BE49-F238E27FC236}">
                    <a16:creationId xmlns:a16="http://schemas.microsoft.com/office/drawing/2014/main" id="{A83C7222-0883-428B-8FD4-F96A70091B73}"/>
                  </a:ext>
                </a:extLst>
              </p:cNvPr>
              <p:cNvGraphicFramePr>
                <a:graphicFrameLocks noGrp="1"/>
              </p:cNvGraphicFramePr>
              <p:nvPr>
                <p:extLst>
                  <p:ext uri="{D42A27DB-BD31-4B8C-83A1-F6EECF244321}">
                    <p14:modId xmlns:p14="http://schemas.microsoft.com/office/powerpoint/2010/main" val="2774845520"/>
                  </p:ext>
                </p:extLst>
              </p:nvPr>
            </p:nvGraphicFramePr>
            <p:xfrm>
              <a:off x="1612058" y="3759259"/>
              <a:ext cx="6983128" cy="3017520"/>
            </p:xfrm>
            <a:graphic>
              <a:graphicData uri="http://schemas.openxmlformats.org/drawingml/2006/table">
                <a:tbl>
                  <a:tblPr firstRow="1" bandRow="1">
                    <a:tableStyleId>{AD6A3598-7CB8-4345-8D95-17CE05F158A0}</a:tableStyleId>
                  </a:tblPr>
                  <a:tblGrid>
                    <a:gridCol w="393767">
                      <a:extLst>
                        <a:ext uri="{9D8B030D-6E8A-4147-A177-3AD203B41FA5}">
                          <a16:colId xmlns:a16="http://schemas.microsoft.com/office/drawing/2014/main" val="776375974"/>
                        </a:ext>
                      </a:extLst>
                    </a:gridCol>
                    <a:gridCol w="393767">
                      <a:extLst>
                        <a:ext uri="{9D8B030D-6E8A-4147-A177-3AD203B41FA5}">
                          <a16:colId xmlns:a16="http://schemas.microsoft.com/office/drawing/2014/main" val="384604534"/>
                        </a:ext>
                      </a:extLst>
                    </a:gridCol>
                    <a:gridCol w="393767">
                      <a:extLst>
                        <a:ext uri="{9D8B030D-6E8A-4147-A177-3AD203B41FA5}">
                          <a16:colId xmlns:a16="http://schemas.microsoft.com/office/drawing/2014/main" val="79869298"/>
                        </a:ext>
                      </a:extLst>
                    </a:gridCol>
                    <a:gridCol w="393767">
                      <a:extLst>
                        <a:ext uri="{9D8B030D-6E8A-4147-A177-3AD203B41FA5}">
                          <a16:colId xmlns:a16="http://schemas.microsoft.com/office/drawing/2014/main" val="1627128528"/>
                        </a:ext>
                      </a:extLst>
                    </a:gridCol>
                    <a:gridCol w="854448">
                      <a:extLst>
                        <a:ext uri="{9D8B030D-6E8A-4147-A177-3AD203B41FA5}">
                          <a16:colId xmlns:a16="http://schemas.microsoft.com/office/drawing/2014/main" val="3636147316"/>
                        </a:ext>
                      </a:extLst>
                    </a:gridCol>
                    <a:gridCol w="854448">
                      <a:extLst>
                        <a:ext uri="{9D8B030D-6E8A-4147-A177-3AD203B41FA5}">
                          <a16:colId xmlns:a16="http://schemas.microsoft.com/office/drawing/2014/main" val="1883770935"/>
                        </a:ext>
                      </a:extLst>
                    </a:gridCol>
                    <a:gridCol w="1191491">
                      <a:extLst>
                        <a:ext uri="{9D8B030D-6E8A-4147-A177-3AD203B41FA5}">
                          <a16:colId xmlns:a16="http://schemas.microsoft.com/office/drawing/2014/main" val="4031458888"/>
                        </a:ext>
                      </a:extLst>
                    </a:gridCol>
                    <a:gridCol w="1288473">
                      <a:extLst>
                        <a:ext uri="{9D8B030D-6E8A-4147-A177-3AD203B41FA5}">
                          <a16:colId xmlns:a16="http://schemas.microsoft.com/office/drawing/2014/main" val="3413420708"/>
                        </a:ext>
                      </a:extLst>
                    </a:gridCol>
                    <a:gridCol w="1219200">
                      <a:extLst>
                        <a:ext uri="{9D8B030D-6E8A-4147-A177-3AD203B41FA5}">
                          <a16:colId xmlns:a16="http://schemas.microsoft.com/office/drawing/2014/main" val="1553787280"/>
                        </a:ext>
                      </a:extLst>
                    </a:gridCol>
                  </a:tblGrid>
                  <a:tr h="335280">
                    <a:tc>
                      <a:txBody>
                        <a:bodyPr/>
                        <a:lstStyle/>
                        <a:p>
                          <a:endParaRPr lang="es-CO"/>
                        </a:p>
                      </a:txBody>
                      <a:tcPr anchor="ctr">
                        <a:lnB w="19050" cap="flat" cmpd="sng" algn="ctr">
                          <a:solidFill>
                            <a:schemeClr val="tx1"/>
                          </a:solidFill>
                          <a:prstDash val="solid"/>
                          <a:round/>
                          <a:headEnd type="none" w="med" len="med"/>
                          <a:tailEnd type="none" w="med" len="med"/>
                        </a:lnB>
                        <a:blipFill>
                          <a:blip r:embed="rId7"/>
                          <a:stretch>
                            <a:fillRect l="-1538" t="-1818" r="-1667692" b="-807273"/>
                          </a:stretch>
                        </a:blipFill>
                      </a:tcPr>
                    </a:tc>
                    <a:tc>
                      <a:txBody>
                        <a:bodyPr/>
                        <a:lstStyle/>
                        <a:p>
                          <a:endParaRPr lang="es-CO"/>
                        </a:p>
                      </a:txBody>
                      <a:tcPr anchor="ctr">
                        <a:lnB w="19050" cap="flat" cmpd="sng" algn="ctr">
                          <a:solidFill>
                            <a:schemeClr val="tx1"/>
                          </a:solidFill>
                          <a:prstDash val="solid"/>
                          <a:round/>
                          <a:headEnd type="none" w="med" len="med"/>
                          <a:tailEnd type="none" w="med" len="med"/>
                        </a:lnB>
                        <a:blipFill>
                          <a:blip r:embed="rId7"/>
                          <a:stretch>
                            <a:fillRect l="-103125" t="-1818" r="-1593750" b="-807273"/>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7"/>
                          <a:stretch>
                            <a:fillRect l="-200000" t="-1818" r="-1469231" b="-807273"/>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7"/>
                          <a:stretch>
                            <a:fillRect l="-304688" t="-1818" r="-1392188" b="-807273"/>
                          </a:stretch>
                        </a:blipFill>
                      </a:tcPr>
                    </a:tc>
                    <a:tc>
                      <a:txBody>
                        <a:bodyPr/>
                        <a:lstStyle/>
                        <a:p>
                          <a:endParaRPr lang="es-CO"/>
                        </a:p>
                      </a:txBody>
                      <a:tcPr anchor="ctr">
                        <a:lnB w="19050" cap="flat" cmpd="sng" algn="ctr">
                          <a:solidFill>
                            <a:schemeClr val="tx1"/>
                          </a:solidFill>
                          <a:prstDash val="solid"/>
                          <a:round/>
                          <a:headEnd type="none" w="med" len="med"/>
                          <a:tailEnd type="none" w="med" len="med"/>
                        </a:lnB>
                        <a:blipFill>
                          <a:blip r:embed="rId7"/>
                          <a:stretch>
                            <a:fillRect l="-183688" t="-1818" r="-531915" b="-807273"/>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7"/>
                          <a:stretch>
                            <a:fillRect l="-285714" t="-1818" r="-435714" b="-807273"/>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7"/>
                          <a:stretch>
                            <a:fillRect l="-276923" t="-1818" r="-212821" b="-807273"/>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7"/>
                          <a:stretch>
                            <a:fillRect l="-346698" t="-1818" r="-95755" b="-807273"/>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7"/>
                          <a:stretch>
                            <a:fillRect l="-473500" t="-1818" r="-1500" b="-807273"/>
                          </a:stretch>
                        </a:blipFill>
                      </a:tcPr>
                    </a:tc>
                    <a:extLst>
                      <a:ext uri="{0D108BD9-81ED-4DB2-BD59-A6C34878D82A}">
                        <a16:rowId xmlns:a16="http://schemas.microsoft.com/office/drawing/2014/main" val="113670299"/>
                      </a:ext>
                    </a:extLst>
                  </a:tr>
                  <a:tr h="335280">
                    <a:tc>
                      <a:txBody>
                        <a:bodyPr/>
                        <a:lstStyle/>
                        <a:p>
                          <a:endParaRPr lang="es-CO"/>
                        </a:p>
                      </a:txBody>
                      <a:tcPr>
                        <a:lnT w="19050" cap="flat" cmpd="sng" algn="ctr">
                          <a:solidFill>
                            <a:schemeClr val="tx1"/>
                          </a:solidFill>
                          <a:prstDash val="solid"/>
                          <a:round/>
                          <a:headEnd type="none" w="med" len="med"/>
                          <a:tailEnd type="none" w="med" len="med"/>
                        </a:lnT>
                        <a:blipFill>
                          <a:blip r:embed="rId7"/>
                          <a:stretch>
                            <a:fillRect l="-1538" t="-101818" r="-1667692" b="-707273"/>
                          </a:stretch>
                        </a:blipFill>
                      </a:tcPr>
                    </a:tc>
                    <a:tc>
                      <a:txBody>
                        <a:bodyPr/>
                        <a:lstStyle/>
                        <a:p>
                          <a:endParaRPr lang="es-CO"/>
                        </a:p>
                      </a:txBody>
                      <a:tcPr>
                        <a:lnT w="19050" cap="flat" cmpd="sng" algn="ctr">
                          <a:solidFill>
                            <a:schemeClr val="tx1"/>
                          </a:solidFill>
                          <a:prstDash val="solid"/>
                          <a:round/>
                          <a:headEnd type="none" w="med" len="med"/>
                          <a:tailEnd type="none" w="med" len="med"/>
                        </a:lnT>
                        <a:blipFill>
                          <a:blip r:embed="rId7"/>
                          <a:stretch>
                            <a:fillRect l="-103125" t="-101818" r="-1593750" b="-707273"/>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7"/>
                          <a:stretch>
                            <a:fillRect l="-200000" t="-101818" r="-1469231" b="-707273"/>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7"/>
                          <a:stretch>
                            <a:fillRect l="-304688" t="-101818" r="-1392188" b="-707273"/>
                          </a:stretch>
                        </a:blipFill>
                      </a:tcPr>
                    </a:tc>
                    <a:tc>
                      <a:txBody>
                        <a:bodyPr/>
                        <a:lstStyle/>
                        <a:p>
                          <a:endParaRPr lang="es-CO"/>
                        </a:p>
                      </a:txBody>
                      <a:tcPr>
                        <a:lnT w="19050" cap="flat" cmpd="sng" algn="ctr">
                          <a:solidFill>
                            <a:schemeClr val="tx1"/>
                          </a:solidFill>
                          <a:prstDash val="solid"/>
                          <a:round/>
                          <a:headEnd type="none" w="med" len="med"/>
                          <a:tailEnd type="none" w="med" len="med"/>
                        </a:lnT>
                        <a:blipFill>
                          <a:blip r:embed="rId7"/>
                          <a:stretch>
                            <a:fillRect l="-183688" t="-101818" r="-531915" b="-707273"/>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7"/>
                          <a:stretch>
                            <a:fillRect l="-285714" t="-101818" r="-435714" b="-707273"/>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7"/>
                          <a:stretch>
                            <a:fillRect l="-276923" t="-101818" r="-212821" b="-707273"/>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7"/>
                          <a:stretch>
                            <a:fillRect l="-346698" t="-101818" r="-95755" b="-707273"/>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7"/>
                          <a:stretch>
                            <a:fillRect l="-473500" t="-101818" r="-1500" b="-707273"/>
                          </a:stretch>
                        </a:blipFill>
                      </a:tcPr>
                    </a:tc>
                    <a:extLst>
                      <a:ext uri="{0D108BD9-81ED-4DB2-BD59-A6C34878D82A}">
                        <a16:rowId xmlns:a16="http://schemas.microsoft.com/office/drawing/2014/main" val="1805549228"/>
                      </a:ext>
                    </a:extLst>
                  </a:tr>
                  <a:tr h="335280">
                    <a:tc>
                      <a:txBody>
                        <a:bodyPr/>
                        <a:lstStyle/>
                        <a:p>
                          <a:endParaRPr lang="es-CO"/>
                        </a:p>
                      </a:txBody>
                      <a:tcPr>
                        <a:blipFill>
                          <a:blip r:embed="rId7"/>
                          <a:stretch>
                            <a:fillRect l="-1538" t="-201818" r="-1667692" b="-607273"/>
                          </a:stretch>
                        </a:blipFill>
                      </a:tcPr>
                    </a:tc>
                    <a:tc>
                      <a:txBody>
                        <a:bodyPr/>
                        <a:lstStyle/>
                        <a:p>
                          <a:endParaRPr lang="es-CO"/>
                        </a:p>
                      </a:txBody>
                      <a:tcPr>
                        <a:blipFill>
                          <a:blip r:embed="rId7"/>
                          <a:stretch>
                            <a:fillRect l="-103125" t="-201818" r="-1593750" b="-607273"/>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00000" t="-201818" r="-1469231" b="-607273"/>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304688" t="-201818" r="-1392188" b="-607273"/>
                          </a:stretch>
                        </a:blipFill>
                      </a:tcPr>
                    </a:tc>
                    <a:tc>
                      <a:txBody>
                        <a:bodyPr/>
                        <a:lstStyle/>
                        <a:p>
                          <a:endParaRPr lang="es-CO"/>
                        </a:p>
                      </a:txBody>
                      <a:tcPr>
                        <a:blipFill>
                          <a:blip r:embed="rId7"/>
                          <a:stretch>
                            <a:fillRect l="-183688" t="-201818" r="-531915" b="-607273"/>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85714" t="-201818" r="-435714" b="-607273"/>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276923" t="-201818" r="-212821" b="-607273"/>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346698" t="-201818" r="-95755" b="-607273"/>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473500" t="-201818" r="-1500" b="-607273"/>
                          </a:stretch>
                        </a:blipFill>
                      </a:tcPr>
                    </a:tc>
                    <a:extLst>
                      <a:ext uri="{0D108BD9-81ED-4DB2-BD59-A6C34878D82A}">
                        <a16:rowId xmlns:a16="http://schemas.microsoft.com/office/drawing/2014/main" val="2353127006"/>
                      </a:ext>
                    </a:extLst>
                  </a:tr>
                  <a:tr h="335280">
                    <a:tc>
                      <a:txBody>
                        <a:bodyPr/>
                        <a:lstStyle/>
                        <a:p>
                          <a:endParaRPr lang="es-CO"/>
                        </a:p>
                      </a:txBody>
                      <a:tcPr>
                        <a:blipFill>
                          <a:blip r:embed="rId7"/>
                          <a:stretch>
                            <a:fillRect l="-1538" t="-301818" r="-1667692" b="-507273"/>
                          </a:stretch>
                        </a:blipFill>
                      </a:tcPr>
                    </a:tc>
                    <a:tc>
                      <a:txBody>
                        <a:bodyPr/>
                        <a:lstStyle/>
                        <a:p>
                          <a:endParaRPr lang="es-CO"/>
                        </a:p>
                      </a:txBody>
                      <a:tcPr>
                        <a:blipFill>
                          <a:blip r:embed="rId7"/>
                          <a:stretch>
                            <a:fillRect l="-103125" t="-301818" r="-1593750" b="-507273"/>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00000" t="-301818" r="-1469231" b="-507273"/>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304688" t="-301818" r="-1392188" b="-507273"/>
                          </a:stretch>
                        </a:blipFill>
                      </a:tcPr>
                    </a:tc>
                    <a:tc>
                      <a:txBody>
                        <a:bodyPr/>
                        <a:lstStyle/>
                        <a:p>
                          <a:endParaRPr lang="es-CO"/>
                        </a:p>
                      </a:txBody>
                      <a:tcPr>
                        <a:blipFill>
                          <a:blip r:embed="rId7"/>
                          <a:stretch>
                            <a:fillRect l="-183688" t="-301818" r="-531915" b="-507273"/>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85714" t="-301818" r="-435714" b="-507273"/>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276923" t="-301818" r="-212821" b="-507273"/>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346698" t="-301818" r="-95755" b="-507273"/>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651764017"/>
                      </a:ext>
                    </a:extLst>
                  </a:tr>
                  <a:tr h="335280">
                    <a:tc>
                      <a:txBody>
                        <a:bodyPr/>
                        <a:lstStyle/>
                        <a:p>
                          <a:endParaRPr lang="es-CO"/>
                        </a:p>
                      </a:txBody>
                      <a:tcPr>
                        <a:blipFill>
                          <a:blip r:embed="rId7"/>
                          <a:stretch>
                            <a:fillRect l="-1538" t="-394643" r="-1667692" b="-398214"/>
                          </a:stretch>
                        </a:blipFill>
                      </a:tcPr>
                    </a:tc>
                    <a:tc>
                      <a:txBody>
                        <a:bodyPr/>
                        <a:lstStyle/>
                        <a:p>
                          <a:endParaRPr lang="es-CO"/>
                        </a:p>
                      </a:txBody>
                      <a:tcPr>
                        <a:blipFill>
                          <a:blip r:embed="rId7"/>
                          <a:stretch>
                            <a:fillRect l="-103125" t="-394643" r="-1593750" b="-398214"/>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00000" t="-394643" r="-1469231" b="-398214"/>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304688" t="-394643" r="-1392188" b="-398214"/>
                          </a:stretch>
                        </a:blipFill>
                      </a:tcPr>
                    </a:tc>
                    <a:tc>
                      <a:txBody>
                        <a:bodyPr/>
                        <a:lstStyle/>
                        <a:p>
                          <a:endParaRPr lang="es-CO"/>
                        </a:p>
                      </a:txBody>
                      <a:tcPr>
                        <a:blipFill>
                          <a:blip r:embed="rId7"/>
                          <a:stretch>
                            <a:fillRect l="-183688" t="-394643" r="-531915" b="-398214"/>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85714" t="-394643" r="-435714" b="-398214"/>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276923" t="-394643" r="-212821" b="-398214"/>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346698" t="-394643" r="-95755" b="-39821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841338906"/>
                      </a:ext>
                    </a:extLst>
                  </a:tr>
                  <a:tr h="335280">
                    <a:tc>
                      <a:txBody>
                        <a:bodyPr/>
                        <a:lstStyle/>
                        <a:p>
                          <a:endParaRPr lang="es-CO"/>
                        </a:p>
                      </a:txBody>
                      <a:tcPr>
                        <a:blipFill>
                          <a:blip r:embed="rId7"/>
                          <a:stretch>
                            <a:fillRect l="-1538" t="-503636" r="-1667692" b="-305455"/>
                          </a:stretch>
                        </a:blipFill>
                      </a:tcPr>
                    </a:tc>
                    <a:tc>
                      <a:txBody>
                        <a:bodyPr/>
                        <a:lstStyle/>
                        <a:p>
                          <a:endParaRPr lang="es-CO"/>
                        </a:p>
                      </a:txBody>
                      <a:tcPr>
                        <a:blipFill>
                          <a:blip r:embed="rId7"/>
                          <a:stretch>
                            <a:fillRect l="-103125" t="-503636" r="-1593750" b="-3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00000" t="-503636" r="-1469231" b="-3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304688" t="-503636" r="-1392188" b="-305455"/>
                          </a:stretch>
                        </a:blipFill>
                      </a:tcPr>
                    </a:tc>
                    <a:tc>
                      <a:txBody>
                        <a:bodyPr/>
                        <a:lstStyle/>
                        <a:p>
                          <a:endParaRPr lang="es-CO"/>
                        </a:p>
                      </a:txBody>
                      <a:tcPr>
                        <a:blipFill>
                          <a:blip r:embed="rId7"/>
                          <a:stretch>
                            <a:fillRect l="-183688" t="-503636" r="-531915" b="-3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85714" t="-503636" r="-435714" b="-3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276923" t="-503636" r="-212821" b="-3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346698" t="-503636" r="-95755" b="-3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473500" t="-503636" r="-1500" b="-305455"/>
                          </a:stretch>
                        </a:blipFill>
                      </a:tcPr>
                    </a:tc>
                    <a:extLst>
                      <a:ext uri="{0D108BD9-81ED-4DB2-BD59-A6C34878D82A}">
                        <a16:rowId xmlns:a16="http://schemas.microsoft.com/office/drawing/2014/main" val="1632356540"/>
                      </a:ext>
                    </a:extLst>
                  </a:tr>
                  <a:tr h="335280">
                    <a:tc>
                      <a:txBody>
                        <a:bodyPr/>
                        <a:lstStyle/>
                        <a:p>
                          <a:endParaRPr lang="es-CO"/>
                        </a:p>
                      </a:txBody>
                      <a:tcPr>
                        <a:blipFill>
                          <a:blip r:embed="rId7"/>
                          <a:stretch>
                            <a:fillRect l="-1538" t="-603636" r="-1667692" b="-205455"/>
                          </a:stretch>
                        </a:blipFill>
                      </a:tcPr>
                    </a:tc>
                    <a:tc>
                      <a:txBody>
                        <a:bodyPr/>
                        <a:lstStyle/>
                        <a:p>
                          <a:endParaRPr lang="es-CO"/>
                        </a:p>
                      </a:txBody>
                      <a:tcPr>
                        <a:blipFill>
                          <a:blip r:embed="rId7"/>
                          <a:stretch>
                            <a:fillRect l="-103125" t="-603636" r="-1593750" b="-2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00000" t="-603636" r="-1469231" b="-2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304688" t="-603636" r="-1392188" b="-205455"/>
                          </a:stretch>
                        </a:blipFill>
                      </a:tcPr>
                    </a:tc>
                    <a:tc>
                      <a:txBody>
                        <a:bodyPr/>
                        <a:lstStyle/>
                        <a:p>
                          <a:endParaRPr lang="es-CO"/>
                        </a:p>
                      </a:txBody>
                      <a:tcPr>
                        <a:blipFill>
                          <a:blip r:embed="rId7"/>
                          <a:stretch>
                            <a:fillRect l="-183688" t="-603636" r="-531915" b="-2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85714" t="-603636" r="-435714" b="-2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276923" t="-603636" r="-212821" b="-2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346698" t="-603636" r="-95755" b="-205455"/>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671630554"/>
                      </a:ext>
                    </a:extLst>
                  </a:tr>
                  <a:tr h="335280">
                    <a:tc>
                      <a:txBody>
                        <a:bodyPr/>
                        <a:lstStyle/>
                        <a:p>
                          <a:endParaRPr lang="es-CO"/>
                        </a:p>
                      </a:txBody>
                      <a:tcPr>
                        <a:blipFill>
                          <a:blip r:embed="rId7"/>
                          <a:stretch>
                            <a:fillRect l="-1538" t="-703636" r="-1667692" b="-105455"/>
                          </a:stretch>
                        </a:blipFill>
                      </a:tcPr>
                    </a:tc>
                    <a:tc>
                      <a:txBody>
                        <a:bodyPr/>
                        <a:lstStyle/>
                        <a:p>
                          <a:endParaRPr lang="es-CO"/>
                        </a:p>
                      </a:txBody>
                      <a:tcPr>
                        <a:blipFill>
                          <a:blip r:embed="rId7"/>
                          <a:stretch>
                            <a:fillRect l="-103125" t="-703636" r="-1593750" b="-1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00000" t="-703636" r="-1469231" b="-1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304688" t="-703636" r="-1392188" b="-105455"/>
                          </a:stretch>
                        </a:blipFill>
                      </a:tcPr>
                    </a:tc>
                    <a:tc>
                      <a:txBody>
                        <a:bodyPr/>
                        <a:lstStyle/>
                        <a:p>
                          <a:endParaRPr lang="es-CO"/>
                        </a:p>
                      </a:txBody>
                      <a:tcPr>
                        <a:blipFill>
                          <a:blip r:embed="rId7"/>
                          <a:stretch>
                            <a:fillRect l="-183688" t="-703636" r="-531915" b="-1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85714" t="-703636" r="-435714" b="-1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276923" t="-703636" r="-212821" b="-1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346698" t="-703636" r="-95755" b="-105455"/>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17604333"/>
                      </a:ext>
                    </a:extLst>
                  </a:tr>
                  <a:tr h="335280">
                    <a:tc>
                      <a:txBody>
                        <a:bodyPr/>
                        <a:lstStyle/>
                        <a:p>
                          <a:endParaRPr lang="es-CO"/>
                        </a:p>
                      </a:txBody>
                      <a:tcPr>
                        <a:blipFill>
                          <a:blip r:embed="rId7"/>
                          <a:stretch>
                            <a:fillRect l="-1538" t="-803636" r="-1667692" b="-5455"/>
                          </a:stretch>
                        </a:blipFill>
                      </a:tcPr>
                    </a:tc>
                    <a:tc>
                      <a:txBody>
                        <a:bodyPr/>
                        <a:lstStyle/>
                        <a:p>
                          <a:endParaRPr lang="es-CO"/>
                        </a:p>
                      </a:txBody>
                      <a:tcPr>
                        <a:blipFill>
                          <a:blip r:embed="rId7"/>
                          <a:stretch>
                            <a:fillRect l="-103125" t="-803636" r="-1593750" b="-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00000" t="-803636" r="-1469231" b="-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304688" t="-803636" r="-1392188" b="-5455"/>
                          </a:stretch>
                        </a:blipFill>
                      </a:tcPr>
                    </a:tc>
                    <a:tc>
                      <a:txBody>
                        <a:bodyPr/>
                        <a:lstStyle/>
                        <a:p>
                          <a:endParaRPr lang="es-CO"/>
                        </a:p>
                      </a:txBody>
                      <a:tcPr>
                        <a:blipFill>
                          <a:blip r:embed="rId7"/>
                          <a:stretch>
                            <a:fillRect l="-183688" t="-803636" r="-531915" b="-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285714" t="-803636" r="-435714" b="-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276923" t="-803636" r="-212821" b="-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7"/>
                          <a:stretch>
                            <a:fillRect l="-346698" t="-803636" r="-95755" b="-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7"/>
                          <a:stretch>
                            <a:fillRect l="-473500" t="-803636" r="-1500" b="-5455"/>
                          </a:stretch>
                        </a:blipFill>
                      </a:tcPr>
                    </a:tc>
                    <a:extLst>
                      <a:ext uri="{0D108BD9-81ED-4DB2-BD59-A6C34878D82A}">
                        <a16:rowId xmlns:a16="http://schemas.microsoft.com/office/drawing/2014/main" val="768255264"/>
                      </a:ext>
                    </a:extLst>
                  </a:tr>
                </a:tbl>
              </a:graphicData>
            </a:graphic>
          </p:graphicFrame>
        </mc:Fallback>
      </mc:AlternateContent>
      <p:grpSp>
        <p:nvGrpSpPr>
          <p:cNvPr id="20" name="Grupo 19">
            <a:extLst>
              <a:ext uri="{FF2B5EF4-FFF2-40B4-BE49-F238E27FC236}">
                <a16:creationId xmlns:a16="http://schemas.microsoft.com/office/drawing/2014/main" id="{08846C2D-AA0F-4384-B2DD-0F35E7C72A88}"/>
              </a:ext>
            </a:extLst>
          </p:cNvPr>
          <p:cNvGrpSpPr/>
          <p:nvPr/>
        </p:nvGrpSpPr>
        <p:grpSpPr>
          <a:xfrm>
            <a:off x="4895345" y="3006769"/>
            <a:ext cx="3840898" cy="697073"/>
            <a:chOff x="5033895" y="2840509"/>
            <a:chExt cx="3840898" cy="697073"/>
          </a:xfrm>
        </p:grpSpPr>
        <p:grpSp>
          <p:nvGrpSpPr>
            <p:cNvPr id="7" name="Grupo 6">
              <a:extLst>
                <a:ext uri="{FF2B5EF4-FFF2-40B4-BE49-F238E27FC236}">
                  <a16:creationId xmlns:a16="http://schemas.microsoft.com/office/drawing/2014/main" id="{E9DCDEEC-169B-4E30-9906-F70F3C7CD1A0}"/>
                </a:ext>
              </a:extLst>
            </p:cNvPr>
            <p:cNvGrpSpPr/>
            <p:nvPr/>
          </p:nvGrpSpPr>
          <p:grpSpPr>
            <a:xfrm>
              <a:off x="5033895" y="2840509"/>
              <a:ext cx="2489123" cy="697073"/>
              <a:chOff x="5033895" y="2840509"/>
              <a:chExt cx="2489123" cy="697073"/>
            </a:xfrm>
          </p:grpSpPr>
          <p:sp>
            <p:nvSpPr>
              <p:cNvPr id="2" name="Abrir llave 1">
                <a:extLst>
                  <a:ext uri="{FF2B5EF4-FFF2-40B4-BE49-F238E27FC236}">
                    <a16:creationId xmlns:a16="http://schemas.microsoft.com/office/drawing/2014/main" id="{ECBD94B1-39C8-4E52-9563-EDB3BF32D6EB}"/>
                  </a:ext>
                </a:extLst>
              </p:cNvPr>
              <p:cNvSpPr/>
              <p:nvPr/>
            </p:nvSpPr>
            <p:spPr>
              <a:xfrm rot="5400000">
                <a:off x="6139958" y="2154521"/>
                <a:ext cx="276998" cy="2489123"/>
              </a:xfrm>
              <a:prstGeom prst="leftBrace">
                <a:avLst>
                  <a:gd name="adj1" fmla="val 24066"/>
                  <a:gd name="adj2" fmla="val 50000"/>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sp>
            <p:nvSpPr>
              <p:cNvPr id="3" name="CuadroTexto 2">
                <a:extLst>
                  <a:ext uri="{FF2B5EF4-FFF2-40B4-BE49-F238E27FC236}">
                    <a16:creationId xmlns:a16="http://schemas.microsoft.com/office/drawing/2014/main" id="{D52355BE-B40D-4AE2-A9FC-F51897D84A88}"/>
                  </a:ext>
                </a:extLst>
              </p:cNvPr>
              <p:cNvSpPr txBox="1"/>
              <p:nvPr/>
            </p:nvSpPr>
            <p:spPr>
              <a:xfrm>
                <a:off x="5620184" y="2840509"/>
                <a:ext cx="1316546" cy="369332"/>
              </a:xfrm>
              <a:prstGeom prst="rect">
                <a:avLst/>
              </a:prstGeom>
              <a:noFill/>
            </p:spPr>
            <p:txBody>
              <a:bodyPr wrap="square" rtlCol="0">
                <a:spAutoFit/>
              </a:bodyPr>
              <a:lstStyle/>
              <a:p>
                <a:pPr algn="ctr"/>
                <a:r>
                  <a:rPr lang="es-CO" b="1" dirty="0">
                    <a:solidFill>
                      <a:schemeClr val="accent2"/>
                    </a:solidFill>
                    <a:latin typeface="Roboto" panose="02000000000000000000" pitchFamily="2" charset="0"/>
                    <a:ea typeface="Roboto" panose="02000000000000000000" pitchFamily="2" charset="0"/>
                  </a:rPr>
                  <a:t>Premisas</a:t>
                </a:r>
              </a:p>
            </p:txBody>
          </p:sp>
        </p:grpSp>
        <p:grpSp>
          <p:nvGrpSpPr>
            <p:cNvPr id="5" name="Grupo 4">
              <a:extLst>
                <a:ext uri="{FF2B5EF4-FFF2-40B4-BE49-F238E27FC236}">
                  <a16:creationId xmlns:a16="http://schemas.microsoft.com/office/drawing/2014/main" id="{55C93188-E3B9-4540-ADA8-118D9A73DB16}"/>
                </a:ext>
              </a:extLst>
            </p:cNvPr>
            <p:cNvGrpSpPr/>
            <p:nvPr/>
          </p:nvGrpSpPr>
          <p:grpSpPr>
            <a:xfrm>
              <a:off x="7414154" y="2867044"/>
              <a:ext cx="1460639" cy="658579"/>
              <a:chOff x="7414154" y="2867044"/>
              <a:chExt cx="1460639" cy="658579"/>
            </a:xfrm>
          </p:grpSpPr>
          <p:sp>
            <p:nvSpPr>
              <p:cNvPr id="17" name="CuadroTexto 16">
                <a:extLst>
                  <a:ext uri="{FF2B5EF4-FFF2-40B4-BE49-F238E27FC236}">
                    <a16:creationId xmlns:a16="http://schemas.microsoft.com/office/drawing/2014/main" id="{C816E8C6-9E79-4928-80AB-9871587A83BA}"/>
                  </a:ext>
                </a:extLst>
              </p:cNvPr>
              <p:cNvSpPr txBox="1"/>
              <p:nvPr/>
            </p:nvSpPr>
            <p:spPr>
              <a:xfrm>
                <a:off x="7414154" y="2867044"/>
                <a:ext cx="1460639" cy="369332"/>
              </a:xfrm>
              <a:prstGeom prst="rect">
                <a:avLst/>
              </a:prstGeom>
              <a:noFill/>
            </p:spPr>
            <p:txBody>
              <a:bodyPr wrap="square" rtlCol="0">
                <a:spAutoFit/>
              </a:bodyPr>
              <a:lstStyle/>
              <a:p>
                <a:pPr algn="ctr"/>
                <a:r>
                  <a:rPr lang="es-CO" b="1" dirty="0">
                    <a:solidFill>
                      <a:schemeClr val="accent2"/>
                    </a:solidFill>
                    <a:latin typeface="Roboto" panose="02000000000000000000" pitchFamily="2" charset="0"/>
                    <a:ea typeface="Roboto" panose="02000000000000000000" pitchFamily="2" charset="0"/>
                  </a:rPr>
                  <a:t>Conclusión</a:t>
                </a:r>
              </a:p>
            </p:txBody>
          </p:sp>
          <p:sp>
            <p:nvSpPr>
              <p:cNvPr id="18" name="Abrir llave 17">
                <a:extLst>
                  <a:ext uri="{FF2B5EF4-FFF2-40B4-BE49-F238E27FC236}">
                    <a16:creationId xmlns:a16="http://schemas.microsoft.com/office/drawing/2014/main" id="{A4DA4F08-C557-4AA0-9CA4-82B754A05CC6}"/>
                  </a:ext>
                </a:extLst>
              </p:cNvPr>
              <p:cNvSpPr/>
              <p:nvPr/>
            </p:nvSpPr>
            <p:spPr>
              <a:xfrm rot="5400000">
                <a:off x="8011955" y="2803842"/>
                <a:ext cx="265038" cy="1178524"/>
              </a:xfrm>
              <a:prstGeom prst="leftBrace">
                <a:avLst>
                  <a:gd name="adj1" fmla="val 24066"/>
                  <a:gd name="adj2" fmla="val 50000"/>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grpSp>
      </p:grpSp>
      <p:grpSp>
        <p:nvGrpSpPr>
          <p:cNvPr id="21" name="Grupo 20">
            <a:extLst>
              <a:ext uri="{FF2B5EF4-FFF2-40B4-BE49-F238E27FC236}">
                <a16:creationId xmlns:a16="http://schemas.microsoft.com/office/drawing/2014/main" id="{746340CA-1F5D-4507-AFAE-2B7A6B58DA73}"/>
              </a:ext>
            </a:extLst>
          </p:cNvPr>
          <p:cNvGrpSpPr/>
          <p:nvPr/>
        </p:nvGrpSpPr>
        <p:grpSpPr>
          <a:xfrm>
            <a:off x="8201886" y="4022610"/>
            <a:ext cx="3535158" cy="1546923"/>
            <a:chOff x="8340436" y="3856350"/>
            <a:chExt cx="3535158" cy="1546923"/>
          </a:xfrm>
        </p:grpSpPr>
        <p:sp>
          <p:nvSpPr>
            <p:cNvPr id="22" name="CuadroTexto 21">
              <a:extLst>
                <a:ext uri="{FF2B5EF4-FFF2-40B4-BE49-F238E27FC236}">
                  <a16:creationId xmlns:a16="http://schemas.microsoft.com/office/drawing/2014/main" id="{3515997F-A20E-485C-836C-CB8120A68B39}"/>
                </a:ext>
              </a:extLst>
            </p:cNvPr>
            <p:cNvSpPr txBox="1"/>
            <p:nvPr/>
          </p:nvSpPr>
          <p:spPr>
            <a:xfrm>
              <a:off x="9220650" y="3856350"/>
              <a:ext cx="2654944" cy="1015663"/>
            </a:xfrm>
            <a:prstGeom prst="rect">
              <a:avLst/>
            </a:prstGeom>
            <a:noFill/>
          </p:spPr>
          <p:txBody>
            <a:bodyPr wrap="square">
              <a:spAutoFit/>
            </a:bodyPr>
            <a:lstStyle/>
            <a:p>
              <a:pPr algn="l"/>
              <a:r>
                <a:rPr lang="es-CO" sz="1200" i="0" u="none" strike="noStrike" baseline="0" dirty="0">
                  <a:solidFill>
                    <a:schemeClr val="accent2"/>
                  </a:solidFill>
                  <a:latin typeface="Roboto" panose="02000000000000000000" pitchFamily="2" charset="0"/>
                  <a:ea typeface="Roboto" panose="02000000000000000000" pitchFamily="2" charset="0"/>
                </a:rPr>
                <a:t>Este renglón muestra que un argumento de esta forma puede tener premisas verdaderas y una conclusión</a:t>
              </a:r>
              <a:r>
                <a:rPr lang="es-CO" sz="1200" dirty="0">
                  <a:solidFill>
                    <a:schemeClr val="accent2"/>
                  </a:solidFill>
                  <a:latin typeface="Roboto" panose="02000000000000000000" pitchFamily="2" charset="0"/>
                  <a:ea typeface="Roboto" panose="02000000000000000000" pitchFamily="2" charset="0"/>
                </a:rPr>
                <a:t> </a:t>
              </a:r>
              <a:r>
                <a:rPr lang="es-CO" sz="1200" i="0" u="none" strike="noStrike" baseline="0" dirty="0">
                  <a:solidFill>
                    <a:schemeClr val="accent2"/>
                  </a:solidFill>
                  <a:latin typeface="Roboto" panose="02000000000000000000" pitchFamily="2" charset="0"/>
                  <a:ea typeface="Roboto" panose="02000000000000000000" pitchFamily="2" charset="0"/>
                </a:rPr>
                <a:t>falsa. </a:t>
              </a:r>
              <a:r>
                <a:rPr lang="es-CO" sz="1200" b="1" i="0" u="none" strike="noStrike" baseline="0" dirty="0">
                  <a:solidFill>
                    <a:schemeClr val="accent2"/>
                  </a:solidFill>
                  <a:latin typeface="Roboto" panose="02000000000000000000" pitchFamily="2" charset="0"/>
                  <a:ea typeface="Roboto" panose="02000000000000000000" pitchFamily="2" charset="0"/>
                </a:rPr>
                <a:t>Por tanto esta forma de argumento es no valida</a:t>
              </a:r>
              <a:r>
                <a:rPr lang="es-CO" sz="1200" i="0" u="none" strike="noStrike" baseline="0" dirty="0">
                  <a:solidFill>
                    <a:schemeClr val="accent2"/>
                  </a:solidFill>
                  <a:latin typeface="Roboto" panose="02000000000000000000" pitchFamily="2" charset="0"/>
                  <a:ea typeface="Roboto" panose="02000000000000000000" pitchFamily="2" charset="0"/>
                </a:rPr>
                <a:t>.</a:t>
              </a:r>
              <a:endParaRPr lang="es-CO" sz="1200" dirty="0">
                <a:solidFill>
                  <a:schemeClr val="accent2"/>
                </a:solidFill>
                <a:latin typeface="Roboto" panose="02000000000000000000" pitchFamily="2" charset="0"/>
                <a:ea typeface="Roboto" panose="02000000000000000000" pitchFamily="2" charset="0"/>
              </a:endParaRPr>
            </a:p>
          </p:txBody>
        </p:sp>
        <p:cxnSp>
          <p:nvCxnSpPr>
            <p:cNvPr id="19" name="Conector recto de flecha 18">
              <a:extLst>
                <a:ext uri="{FF2B5EF4-FFF2-40B4-BE49-F238E27FC236}">
                  <a16:creationId xmlns:a16="http://schemas.microsoft.com/office/drawing/2014/main" id="{F3B7499F-C7BC-421E-BFF6-7894C8DC5EFF}"/>
                </a:ext>
              </a:extLst>
            </p:cNvPr>
            <p:cNvCxnSpPr/>
            <p:nvPr/>
          </p:nvCxnSpPr>
          <p:spPr>
            <a:xfrm flipH="1">
              <a:off x="8340436" y="4364182"/>
              <a:ext cx="880214" cy="103909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Grupo 25">
            <a:extLst>
              <a:ext uri="{FF2B5EF4-FFF2-40B4-BE49-F238E27FC236}">
                <a16:creationId xmlns:a16="http://schemas.microsoft.com/office/drawing/2014/main" id="{98EAC6E2-A89C-4DE6-AE2D-A19CEFF3400F}"/>
              </a:ext>
            </a:extLst>
          </p:cNvPr>
          <p:cNvGrpSpPr/>
          <p:nvPr/>
        </p:nvGrpSpPr>
        <p:grpSpPr>
          <a:xfrm>
            <a:off x="5968834" y="1085414"/>
            <a:ext cx="4232713" cy="636510"/>
            <a:chOff x="5585377" y="1460824"/>
            <a:chExt cx="4232713" cy="636510"/>
          </a:xfrm>
        </p:grpSpPr>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DEA6B94A-56ED-4760-B1B3-9599A45ADA28}"/>
                    </a:ext>
                  </a:extLst>
                </p:cNvPr>
                <p:cNvSpPr txBox="1"/>
                <p:nvPr/>
              </p:nvSpPr>
              <p:spPr>
                <a:xfrm>
                  <a:off x="5585377" y="1820335"/>
                  <a:ext cx="4232713" cy="276999"/>
                </a:xfrm>
                <a:prstGeom prst="rect">
                  <a:avLst/>
                </a:prstGeom>
                <a:solidFill>
                  <a:schemeClr val="bg1">
                    <a:lumMod val="95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800" b="0" i="1" smtClean="0">
                                <a:latin typeface="Cambria Math" panose="02040503050406030204" pitchFamily="18" charset="0"/>
                                <a:ea typeface="Roboto" panose="02000000000000000000" pitchFamily="2" charset="0"/>
                              </a:rPr>
                            </m:ctrlPr>
                          </m:dPr>
                          <m:e>
                            <m:d>
                              <m:dPr>
                                <m:ctrlPr>
                                  <a:rPr lang="es-MX" sz="1800" b="0" i="1" smtClean="0">
                                    <a:latin typeface="Cambria Math" panose="02040503050406030204" pitchFamily="18" charset="0"/>
                                    <a:ea typeface="Roboto" panose="02000000000000000000" pitchFamily="2" charset="0"/>
                                  </a:rPr>
                                </m:ctrlPr>
                              </m:dPr>
                              <m:e>
                                <m:r>
                                  <a:rPr lang="es-MX" sz="1800" i="1">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𝑞</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𝑟</m:t>
                                </m:r>
                              </m:e>
                            </m:d>
                            <m:r>
                              <a:rPr lang="es-MX" sz="1800" i="1">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Roboto" panose="02000000000000000000" pitchFamily="2" charset="0"/>
                                  </a:rPr>
                                  <m:t>𝑞</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𝑟</m:t>
                                </m:r>
                                <m:r>
                                  <m:rPr>
                                    <m:nor/>
                                  </m:rPr>
                                  <a:rPr lang="es-MX" sz="1800" dirty="0">
                                    <a:latin typeface="Roboto" panose="02000000000000000000" pitchFamily="2" charset="0"/>
                                    <a:ea typeface="Cambria Math" panose="02040503050406030204" pitchFamily="18" charset="0"/>
                                  </a:rPr>
                                  <m:t> </m:t>
                                </m:r>
                              </m:e>
                            </m:d>
                          </m:e>
                        </m:d>
                        <m:r>
                          <a:rPr lang="es-MX" sz="1800" b="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Cambria Math" panose="02040503050406030204" pitchFamily="18" charset="0"/>
                              </a:rPr>
                              <m:t>𝑟</m:t>
                            </m:r>
                          </m:e>
                        </m:d>
                      </m:oMath>
                    </m:oMathPara>
                  </a14:m>
                  <a:endParaRPr lang="es-MX" sz="1800" dirty="0">
                    <a:latin typeface="Roboto" panose="02000000000000000000" pitchFamily="2" charset="0"/>
                    <a:ea typeface="Cambria Math" panose="02040503050406030204" pitchFamily="18" charset="0"/>
                  </a:endParaRPr>
                </a:p>
              </p:txBody>
            </p:sp>
          </mc:Choice>
          <mc:Fallback xmlns="">
            <p:sp>
              <p:nvSpPr>
                <p:cNvPr id="11" name="CuadroTexto 10">
                  <a:extLst>
                    <a:ext uri="{FF2B5EF4-FFF2-40B4-BE49-F238E27FC236}">
                      <a16:creationId xmlns:a16="http://schemas.microsoft.com/office/drawing/2014/main" id="{DEA6B94A-56ED-4760-B1B3-9599A45ADA28}"/>
                    </a:ext>
                  </a:extLst>
                </p:cNvPr>
                <p:cNvSpPr txBox="1">
                  <a:spLocks noRot="1" noChangeAspect="1" noMove="1" noResize="1" noEditPoints="1" noAdjustHandles="1" noChangeArrowheads="1" noChangeShapeType="1" noTextEdit="1"/>
                </p:cNvSpPr>
                <p:nvPr/>
              </p:nvSpPr>
              <p:spPr>
                <a:xfrm>
                  <a:off x="5585377" y="1820335"/>
                  <a:ext cx="4232713" cy="276999"/>
                </a:xfrm>
                <a:prstGeom prst="rect">
                  <a:avLst/>
                </a:prstGeom>
                <a:blipFill>
                  <a:blip r:embed="rId8"/>
                  <a:stretch>
                    <a:fillRect b="-26087"/>
                  </a:stretch>
                </a:blipFill>
              </p:spPr>
              <p:txBody>
                <a:bodyPr/>
                <a:lstStyle/>
                <a:p>
                  <a:r>
                    <a:rPr lang="es-CO">
                      <a:noFill/>
                    </a:rPr>
                    <a:t> </a:t>
                  </a:r>
                </a:p>
              </p:txBody>
            </p:sp>
          </mc:Fallback>
        </mc:AlternateContent>
        <p:sp>
          <p:nvSpPr>
            <p:cNvPr id="32" name="CuadroTexto 31">
              <a:extLst>
                <a:ext uri="{FF2B5EF4-FFF2-40B4-BE49-F238E27FC236}">
                  <a16:creationId xmlns:a16="http://schemas.microsoft.com/office/drawing/2014/main" id="{4FE1E362-A410-424C-BDFC-7A09CAFA0358}"/>
                </a:ext>
              </a:extLst>
            </p:cNvPr>
            <p:cNvSpPr txBox="1"/>
            <p:nvPr/>
          </p:nvSpPr>
          <p:spPr>
            <a:xfrm>
              <a:off x="5585377" y="1460824"/>
              <a:ext cx="4218854" cy="369332"/>
            </a:xfrm>
            <a:prstGeom prst="rect">
              <a:avLst/>
            </a:prstGeom>
            <a:noFill/>
          </p:spPr>
          <p:txBody>
            <a:bodyPr wrap="square">
              <a:spAutoFit/>
            </a:bodyPr>
            <a:lstStyle/>
            <a:p>
              <a:r>
                <a:rPr lang="es-MX" sz="1800" b="1" dirty="0">
                  <a:latin typeface="Roboto" panose="02000000000000000000" pitchFamily="2" charset="0"/>
                  <a:ea typeface="Roboto" panose="02000000000000000000" pitchFamily="2" charset="0"/>
                </a:rPr>
                <a:t>Tautología</a:t>
              </a:r>
              <a:endParaRPr lang="es-MX" sz="1800" dirty="0">
                <a:latin typeface="Roboto" panose="02000000000000000000" pitchFamily="2" charset="0"/>
                <a:ea typeface="Roboto" panose="02000000000000000000" pitchFamily="2" charset="0"/>
              </a:endParaRPr>
            </a:p>
          </p:txBody>
        </p:sp>
      </p:grpSp>
      <p:grpSp>
        <p:nvGrpSpPr>
          <p:cNvPr id="25" name="Grupo 24">
            <a:extLst>
              <a:ext uri="{FF2B5EF4-FFF2-40B4-BE49-F238E27FC236}">
                <a16:creationId xmlns:a16="http://schemas.microsoft.com/office/drawing/2014/main" id="{BE10337C-CC0E-49D9-8CAE-AFAD07F91924}"/>
              </a:ext>
            </a:extLst>
          </p:cNvPr>
          <p:cNvGrpSpPr/>
          <p:nvPr/>
        </p:nvGrpSpPr>
        <p:grpSpPr>
          <a:xfrm>
            <a:off x="5954976" y="1974990"/>
            <a:ext cx="4232713" cy="594669"/>
            <a:chOff x="5571518" y="2255869"/>
            <a:chExt cx="4232713" cy="594669"/>
          </a:xfrm>
        </p:grpSpPr>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701027E-ACDF-4BBB-9012-B94C5C163ED3}"/>
                    </a:ext>
                  </a:extLst>
                </p:cNvPr>
                <p:cNvSpPr txBox="1"/>
                <p:nvPr/>
              </p:nvSpPr>
              <p:spPr>
                <a:xfrm>
                  <a:off x="5571518" y="2573539"/>
                  <a:ext cx="4232713" cy="276999"/>
                </a:xfrm>
                <a:prstGeom prst="rect">
                  <a:avLst/>
                </a:prstGeom>
                <a:solidFill>
                  <a:schemeClr val="bg1">
                    <a:lumMod val="95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s-MX" sz="1800" i="1" smtClean="0">
                                <a:latin typeface="Cambria Math" panose="02040503050406030204" pitchFamily="18" charset="0"/>
                                <a:ea typeface="Roboto" panose="02000000000000000000" pitchFamily="2" charset="0"/>
                              </a:rPr>
                            </m:ctrlPr>
                          </m:dPr>
                          <m:e>
                            <m:r>
                              <a:rPr lang="es-MX" sz="1800" i="1" smtClean="0">
                                <a:latin typeface="Cambria Math" panose="02040503050406030204" pitchFamily="18" charset="0"/>
                                <a:ea typeface="Roboto" panose="02000000000000000000" pitchFamily="2" charset="0"/>
                              </a:rPr>
                              <m:t>𝑝</m:t>
                            </m:r>
                            <m:r>
                              <a:rPr lang="es-MX" sz="180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𝑞</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𝑟</m:t>
                            </m:r>
                          </m:e>
                        </m:d>
                        <m:r>
                          <a:rPr lang="es-MX" sz="1800" i="1">
                            <a:latin typeface="Cambria Math" panose="02040503050406030204" pitchFamily="18" charset="0"/>
                            <a:ea typeface="Cambria Math" panose="02040503050406030204" pitchFamily="18" charset="0"/>
                          </a:rPr>
                          <m:t>,</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Roboto" panose="02000000000000000000" pitchFamily="2" charset="0"/>
                              </a:rPr>
                              <m:t>𝑞</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𝑟</m:t>
                            </m:r>
                            <m:r>
                              <m:rPr>
                                <m:nor/>
                              </m:rPr>
                              <a:rPr lang="es-MX" sz="1800" dirty="0">
                                <a:latin typeface="Roboto" panose="02000000000000000000" pitchFamily="2" charset="0"/>
                                <a:ea typeface="Cambria Math" panose="02040503050406030204" pitchFamily="18" charset="0"/>
                              </a:rPr>
                              <m:t> </m:t>
                            </m:r>
                          </m:e>
                        </m:d>
                        <m:r>
                          <a:rPr lang="es-MX" sz="1800" b="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Cambria Math" panose="02040503050406030204" pitchFamily="18" charset="0"/>
                              </a:rPr>
                              <m:t>𝑟</m:t>
                            </m:r>
                          </m:e>
                        </m:d>
                      </m:oMath>
                    </m:oMathPara>
                  </a14:m>
                  <a:endParaRPr lang="es-MX" sz="1800" dirty="0">
                    <a:latin typeface="Roboto" panose="02000000000000000000" pitchFamily="2" charset="0"/>
                    <a:ea typeface="Cambria Math" panose="02040503050406030204" pitchFamily="18" charset="0"/>
                  </a:endParaRPr>
                </a:p>
              </p:txBody>
            </p:sp>
          </mc:Choice>
          <mc:Fallback xmlns="">
            <p:sp>
              <p:nvSpPr>
                <p:cNvPr id="12" name="CuadroTexto 11">
                  <a:extLst>
                    <a:ext uri="{FF2B5EF4-FFF2-40B4-BE49-F238E27FC236}">
                      <a16:creationId xmlns:a16="http://schemas.microsoft.com/office/drawing/2014/main" id="{F701027E-ACDF-4BBB-9012-B94C5C163ED3}"/>
                    </a:ext>
                  </a:extLst>
                </p:cNvPr>
                <p:cNvSpPr txBox="1">
                  <a:spLocks noRot="1" noChangeAspect="1" noMove="1" noResize="1" noEditPoints="1" noAdjustHandles="1" noChangeArrowheads="1" noChangeShapeType="1" noTextEdit="1"/>
                </p:cNvSpPr>
                <p:nvPr/>
              </p:nvSpPr>
              <p:spPr>
                <a:xfrm>
                  <a:off x="5571518" y="2573539"/>
                  <a:ext cx="4232713" cy="276999"/>
                </a:xfrm>
                <a:prstGeom prst="rect">
                  <a:avLst/>
                </a:prstGeom>
                <a:blipFill>
                  <a:blip r:embed="rId9"/>
                  <a:stretch>
                    <a:fillRect b="-26087"/>
                  </a:stretch>
                </a:blipFill>
              </p:spPr>
              <p:txBody>
                <a:bodyPr/>
                <a:lstStyle/>
                <a:p>
                  <a:r>
                    <a:rPr lang="es-CO">
                      <a:noFill/>
                    </a:rPr>
                    <a:t> </a:t>
                  </a:r>
                </a:p>
              </p:txBody>
            </p:sp>
          </mc:Fallback>
        </mc:AlternateContent>
        <p:sp>
          <p:nvSpPr>
            <p:cNvPr id="33" name="CuadroTexto 32">
              <a:extLst>
                <a:ext uri="{FF2B5EF4-FFF2-40B4-BE49-F238E27FC236}">
                  <a16:creationId xmlns:a16="http://schemas.microsoft.com/office/drawing/2014/main" id="{54235A21-3073-493E-8F9B-48DC78FF6C55}"/>
                </a:ext>
              </a:extLst>
            </p:cNvPr>
            <p:cNvSpPr txBox="1"/>
            <p:nvPr/>
          </p:nvSpPr>
          <p:spPr>
            <a:xfrm>
              <a:off x="5585376" y="2255869"/>
              <a:ext cx="4218855" cy="369332"/>
            </a:xfrm>
            <a:prstGeom prst="rect">
              <a:avLst/>
            </a:prstGeom>
            <a:noFill/>
          </p:spPr>
          <p:txBody>
            <a:bodyPr wrap="square">
              <a:spAutoFit/>
            </a:bodyPr>
            <a:lstStyle/>
            <a:p>
              <a:r>
                <a:rPr lang="es-MX" sz="1800" b="1" dirty="0">
                  <a:latin typeface="Roboto" panose="02000000000000000000" pitchFamily="2" charset="0"/>
                  <a:ea typeface="Roboto" panose="02000000000000000000" pitchFamily="2" charset="0"/>
                </a:rPr>
                <a:t>Forma simbólica</a:t>
              </a:r>
              <a:endParaRPr lang="es-MX" sz="1800" dirty="0">
                <a:latin typeface="Roboto" panose="02000000000000000000" pitchFamily="2" charset="0"/>
                <a:ea typeface="Roboto" panose="02000000000000000000" pitchFamily="2" charset="0"/>
              </a:endParaRPr>
            </a:p>
          </p:txBody>
        </p:sp>
      </p:grpSp>
      <p:sp>
        <p:nvSpPr>
          <p:cNvPr id="27" name="CuadroTexto 26">
            <a:extLst>
              <a:ext uri="{FF2B5EF4-FFF2-40B4-BE49-F238E27FC236}">
                <a16:creationId xmlns:a16="http://schemas.microsoft.com/office/drawing/2014/main" id="{7EE2F401-B6DD-47B5-8ECC-6144DD73BD2C}"/>
              </a:ext>
            </a:extLst>
          </p:cNvPr>
          <p:cNvSpPr txBox="1"/>
          <p:nvPr/>
        </p:nvSpPr>
        <p:spPr>
          <a:xfrm>
            <a:off x="2720248" y="1057409"/>
            <a:ext cx="3090617" cy="369332"/>
          </a:xfrm>
          <a:prstGeom prst="rect">
            <a:avLst/>
          </a:prstGeom>
          <a:noFill/>
        </p:spPr>
        <p:txBody>
          <a:bodyPr wrap="square">
            <a:spAutoFit/>
          </a:bodyPr>
          <a:lstStyle/>
          <a:p>
            <a:r>
              <a:rPr lang="es-MX" sz="1800" b="1" dirty="0">
                <a:latin typeface="Roboto" panose="02000000000000000000" pitchFamily="2" charset="0"/>
                <a:ea typeface="Roboto" panose="02000000000000000000" pitchFamily="2" charset="0"/>
              </a:rPr>
              <a:t>Notación de consecuentes</a:t>
            </a:r>
            <a:endParaRPr lang="es-MX" sz="18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481923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Validación de argumentos</a:t>
            </a:r>
            <a:endParaRPr dirty="0"/>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516194" y="831215"/>
            <a:ext cx="10759156"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Validación de argumentos mediante tabla de verdad</a:t>
            </a:r>
            <a:endParaRPr lang="es-MX" dirty="0">
              <a:solidFill>
                <a:schemeClr val="accent2"/>
              </a:solidFill>
              <a:latin typeface="+mn-lt"/>
            </a:endParaRPr>
          </a:p>
          <a:p>
            <a:pPr marL="0" indent="0">
              <a:buFont typeface="Roboto"/>
              <a:buNone/>
            </a:pPr>
            <a:endParaRPr lang="es-MX" sz="2400" dirty="0">
              <a:latin typeface="+mn-lt"/>
            </a:endParaRPr>
          </a:p>
          <a:p>
            <a:pPr indent="0">
              <a:buFont typeface="Roboto"/>
              <a:buNone/>
            </a:pPr>
            <a:endParaRPr lang="es-MX" sz="2400" dirty="0">
              <a:latin typeface="+mn-lt"/>
            </a:endParaRPr>
          </a:p>
        </p:txBody>
      </p:sp>
      <mc:AlternateContent xmlns:mc="http://schemas.openxmlformats.org/markup-compatibility/2006" xmlns:a14="http://schemas.microsoft.com/office/drawing/2010/main">
        <mc:Choice Requires="a14">
          <p:graphicFrame>
            <p:nvGraphicFramePr>
              <p:cNvPr id="14" name="Tabla 4">
                <a:extLst>
                  <a:ext uri="{FF2B5EF4-FFF2-40B4-BE49-F238E27FC236}">
                    <a16:creationId xmlns:a16="http://schemas.microsoft.com/office/drawing/2014/main" id="{A83C7222-0883-428B-8FD4-F96A70091B73}"/>
                  </a:ext>
                </a:extLst>
              </p:cNvPr>
              <p:cNvGraphicFramePr>
                <a:graphicFrameLocks noGrp="1"/>
              </p:cNvGraphicFramePr>
              <p:nvPr>
                <p:extLst>
                  <p:ext uri="{D42A27DB-BD31-4B8C-83A1-F6EECF244321}">
                    <p14:modId xmlns:p14="http://schemas.microsoft.com/office/powerpoint/2010/main" val="169452909"/>
                  </p:ext>
                </p:extLst>
              </p:nvPr>
            </p:nvGraphicFramePr>
            <p:xfrm>
              <a:off x="1194866" y="3578254"/>
              <a:ext cx="10414122" cy="3017520"/>
            </p:xfrm>
            <a:graphic>
              <a:graphicData uri="http://schemas.openxmlformats.org/drawingml/2006/table">
                <a:tbl>
                  <a:tblPr firstRow="1" bandRow="1">
                    <a:tableStyleId>{AD6A3598-7CB8-4345-8D95-17CE05F158A0}</a:tableStyleId>
                  </a:tblPr>
                  <a:tblGrid>
                    <a:gridCol w="368773">
                      <a:extLst>
                        <a:ext uri="{9D8B030D-6E8A-4147-A177-3AD203B41FA5}">
                          <a16:colId xmlns:a16="http://schemas.microsoft.com/office/drawing/2014/main" val="776375974"/>
                        </a:ext>
                      </a:extLst>
                    </a:gridCol>
                    <a:gridCol w="368773">
                      <a:extLst>
                        <a:ext uri="{9D8B030D-6E8A-4147-A177-3AD203B41FA5}">
                          <a16:colId xmlns:a16="http://schemas.microsoft.com/office/drawing/2014/main" val="384604534"/>
                        </a:ext>
                      </a:extLst>
                    </a:gridCol>
                    <a:gridCol w="368773">
                      <a:extLst>
                        <a:ext uri="{9D8B030D-6E8A-4147-A177-3AD203B41FA5}">
                          <a16:colId xmlns:a16="http://schemas.microsoft.com/office/drawing/2014/main" val="79869298"/>
                        </a:ext>
                      </a:extLst>
                    </a:gridCol>
                    <a:gridCol w="368773">
                      <a:extLst>
                        <a:ext uri="{9D8B030D-6E8A-4147-A177-3AD203B41FA5}">
                          <a16:colId xmlns:a16="http://schemas.microsoft.com/office/drawing/2014/main" val="1627128528"/>
                        </a:ext>
                      </a:extLst>
                    </a:gridCol>
                    <a:gridCol w="864078">
                      <a:extLst>
                        <a:ext uri="{9D8B030D-6E8A-4147-A177-3AD203B41FA5}">
                          <a16:colId xmlns:a16="http://schemas.microsoft.com/office/drawing/2014/main" val="3636147316"/>
                        </a:ext>
                      </a:extLst>
                    </a:gridCol>
                    <a:gridCol w="665018">
                      <a:extLst>
                        <a:ext uri="{9D8B030D-6E8A-4147-A177-3AD203B41FA5}">
                          <a16:colId xmlns:a16="http://schemas.microsoft.com/office/drawing/2014/main" val="1883770935"/>
                        </a:ext>
                      </a:extLst>
                    </a:gridCol>
                    <a:gridCol w="1219200">
                      <a:extLst>
                        <a:ext uri="{9D8B030D-6E8A-4147-A177-3AD203B41FA5}">
                          <a16:colId xmlns:a16="http://schemas.microsoft.com/office/drawing/2014/main" val="4031458888"/>
                        </a:ext>
                      </a:extLst>
                    </a:gridCol>
                    <a:gridCol w="1163782">
                      <a:extLst>
                        <a:ext uri="{9D8B030D-6E8A-4147-A177-3AD203B41FA5}">
                          <a16:colId xmlns:a16="http://schemas.microsoft.com/office/drawing/2014/main" val="3413420708"/>
                        </a:ext>
                      </a:extLst>
                    </a:gridCol>
                    <a:gridCol w="2673927">
                      <a:extLst>
                        <a:ext uri="{9D8B030D-6E8A-4147-A177-3AD203B41FA5}">
                          <a16:colId xmlns:a16="http://schemas.microsoft.com/office/drawing/2014/main" val="1553787280"/>
                        </a:ext>
                      </a:extLst>
                    </a:gridCol>
                    <a:gridCol w="1302328">
                      <a:extLst>
                        <a:ext uri="{9D8B030D-6E8A-4147-A177-3AD203B41FA5}">
                          <a16:colId xmlns:a16="http://schemas.microsoft.com/office/drawing/2014/main" val="2574123728"/>
                        </a:ext>
                      </a:extLst>
                    </a:gridCol>
                    <a:gridCol w="1050697">
                      <a:extLst>
                        <a:ext uri="{9D8B030D-6E8A-4147-A177-3AD203B41FA5}">
                          <a16:colId xmlns:a16="http://schemas.microsoft.com/office/drawing/2014/main" val="706023690"/>
                        </a:ext>
                      </a:extLst>
                    </a:gridCol>
                  </a:tblGrid>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Roboto" panose="02000000000000000000" pitchFamily="2" charset="0"/>
                                  </a:rPr>
                                  <m:t>𝒑</m:t>
                                </m:r>
                              </m:oMath>
                            </m:oMathPara>
                          </a14:m>
                          <a:endParaRPr lang="es-CO" sz="16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Roboto" panose="02000000000000000000" pitchFamily="2" charset="0"/>
                                  </a:rPr>
                                  <m:t>𝒒</m:t>
                                </m:r>
                              </m:oMath>
                            </m:oMathPara>
                          </a14:m>
                          <a:endParaRPr lang="es-CO" sz="16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rPr>
                                  <m:t>𝒓</m:t>
                                </m:r>
                              </m:oMath>
                            </m:oMathPara>
                          </a14:m>
                          <a:endParaRPr lang="es-CO" sz="1600" b="1" dirty="0">
                            <a:latin typeface="Roboto" panose="02000000000000000000" pitchFamily="2" charset="0"/>
                            <a:ea typeface="Roboto" panose="02000000000000000000" pitchFamily="2" charset="0"/>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𝒓</m:t>
                                </m:r>
                              </m:oMath>
                            </m:oMathPara>
                          </a14:m>
                          <a:endParaRPr lang="es-CO" sz="1600" b="1"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rPr>
                                  <m:t>𝒒</m:t>
                                </m:r>
                                <m:r>
                                  <a:rPr lang="es-MX" sz="1600" b="1" i="1">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𝒓</m:t>
                                </m:r>
                              </m:oMath>
                            </m:oMathPara>
                          </a14:m>
                          <a:endParaRPr lang="es-MX" sz="1600" b="1" dirty="0"/>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𝒑</m:t>
                                </m:r>
                                <m:r>
                                  <a:rPr lang="es-MX" sz="1600" b="1"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rPr>
                                  <m:t>𝒓</m:t>
                                </m:r>
                              </m:oMath>
                            </m:oMathPara>
                          </a14:m>
                          <a:endParaRPr lang="es-MX" sz="1600" b="1" dirty="0"/>
                        </a:p>
                      </a:txBody>
                      <a:tcPr anchor="ctr">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rPr>
                                  <m:t>𝒑</m:t>
                                </m:r>
                                <m:r>
                                  <a:rPr lang="es-MX" sz="1600" b="1" i="1" smtClean="0">
                                    <a:latin typeface="Cambria Math" panose="02040503050406030204" pitchFamily="18" charset="0"/>
                                  </a:rPr>
                                  <m:t>→</m:t>
                                </m:r>
                                <m:r>
                                  <a:rPr lang="es-MX" sz="1600" b="1" i="1" smtClean="0">
                                    <a:latin typeface="Cambria Math" panose="02040503050406030204" pitchFamily="18" charset="0"/>
                                  </a:rPr>
                                  <m:t>𝒒</m:t>
                                </m:r>
                                <m:r>
                                  <a:rPr lang="es-MX" sz="1600" b="1" i="1">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𝒓</m:t>
                                </m:r>
                              </m:oMath>
                            </m:oMathPara>
                          </a14:m>
                          <a:endParaRPr lang="es-MX" sz="1600" b="1" dirty="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𝒒</m:t>
                                </m:r>
                                <m:r>
                                  <a:rPr lang="es-MX" sz="1600" b="1" i="1">
                                    <a:latin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𝒑</m:t>
                                </m:r>
                                <m:r>
                                  <a:rPr lang="es-MX" sz="1600" b="1"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rPr>
                                  <m:t>𝒓</m:t>
                                </m:r>
                              </m:oMath>
                            </m:oMathPara>
                          </a14:m>
                          <a:endParaRPr lang="es-MX" sz="1600" b="1" dirty="0"/>
                        </a:p>
                      </a:txBody>
                      <a:tcPr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d>
                                  <m:dPr>
                                    <m:ctrlPr>
                                      <a:rPr lang="es-MX" sz="1600" b="0" i="1" smtClean="0">
                                        <a:latin typeface="Cambria Math" panose="02040503050406030204" pitchFamily="18" charset="0"/>
                                        <a:ea typeface="Roboto" panose="02000000000000000000" pitchFamily="2" charset="0"/>
                                      </a:rPr>
                                    </m:ctrlPr>
                                  </m:dPr>
                                  <m:e>
                                    <m:r>
                                      <a:rPr lang="es-MX" sz="1600" i="1">
                                        <a:latin typeface="Cambria Math" panose="02040503050406030204" pitchFamily="18" charset="0"/>
                                        <a:ea typeface="Roboto" panose="02000000000000000000" pitchFamily="2" charset="0"/>
                                      </a:rPr>
                                      <m:t>𝑝</m:t>
                                    </m:r>
                                    <m:r>
                                      <a:rPr lang="es-MX" sz="1600" i="1">
                                        <a:latin typeface="Cambria Math" panose="02040503050406030204" pitchFamily="18" charset="0"/>
                                        <a:ea typeface="Roboto" panose="02000000000000000000" pitchFamily="2" charset="0"/>
                                      </a:rPr>
                                      <m:t>→</m:t>
                                    </m:r>
                                    <m:r>
                                      <a:rPr lang="es-MX" sz="1600" i="1">
                                        <a:latin typeface="Cambria Math" panose="02040503050406030204" pitchFamily="18" charset="0"/>
                                        <a:ea typeface="Roboto" panose="02000000000000000000" pitchFamily="2" charset="0"/>
                                      </a:rPr>
                                      <m:t>𝑞</m:t>
                                    </m:r>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𝑟</m:t>
                                    </m:r>
                                  </m:e>
                                </m:d>
                                <m:r>
                                  <a:rPr lang="es-MX" sz="1600" i="1">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Roboto" panose="02000000000000000000" pitchFamily="2" charset="0"/>
                                      </a:rPr>
                                      <m:t>𝑞</m:t>
                                    </m:r>
                                    <m:r>
                                      <a:rPr lang="es-MX" sz="1600" i="1">
                                        <a:latin typeface="Cambria Math" panose="02040503050406030204" pitchFamily="18" charset="0"/>
                                        <a:ea typeface="Roboto" panose="02000000000000000000" pitchFamily="2" charset="0"/>
                                      </a:rPr>
                                      <m:t>→</m:t>
                                    </m:r>
                                    <m:r>
                                      <a:rPr lang="es-MX" sz="1600" i="1">
                                        <a:latin typeface="Cambria Math" panose="02040503050406030204" pitchFamily="18" charset="0"/>
                                        <a:ea typeface="Roboto" panose="02000000000000000000" pitchFamily="2" charset="0"/>
                                      </a:rPr>
                                      <m:t>𝑝</m:t>
                                    </m:r>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𝑟</m:t>
                                    </m:r>
                                    <m:r>
                                      <m:rPr>
                                        <m:nor/>
                                      </m:rPr>
                                      <a:rPr lang="es-MX" sz="1600" dirty="0">
                                        <a:latin typeface="Roboto" panose="02000000000000000000" pitchFamily="2" charset="0"/>
                                        <a:ea typeface="Cambria Math" panose="02040503050406030204" pitchFamily="18" charset="0"/>
                                      </a:rPr>
                                      <m:t> </m:t>
                                    </m:r>
                                  </m:e>
                                </m:d>
                              </m:oMath>
                            </m:oMathPara>
                          </a14:m>
                          <a:endParaRPr lang="es-MX" sz="1600" b="1" dirty="0"/>
                        </a:p>
                      </a:txBody>
                      <a:tcPr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i="1" smtClean="0">
                                    <a:latin typeface="Cambria Math" panose="02040503050406030204" pitchFamily="18" charset="0"/>
                                    <a:ea typeface="Roboto" panose="02000000000000000000" pitchFamily="2" charset="0"/>
                                  </a:rPr>
                                  <m:t>𝑝</m:t>
                                </m:r>
                                <m:r>
                                  <a:rPr lang="es-MX" sz="1600" i="1" smtClean="0">
                                    <a:latin typeface="Cambria Math" panose="02040503050406030204" pitchFamily="18" charset="0"/>
                                    <a:ea typeface="Roboto" panose="02000000000000000000" pitchFamily="2" charset="0"/>
                                  </a:rPr>
                                  <m:t>→</m:t>
                                </m:r>
                                <m:r>
                                  <a:rPr lang="es-MX" sz="1600" i="1">
                                    <a:latin typeface="Cambria Math" panose="02040503050406030204" pitchFamily="18" charset="0"/>
                                    <a:ea typeface="Cambria Math" panose="02040503050406030204" pitchFamily="18" charset="0"/>
                                  </a:rPr>
                                  <m:t>𝑟</m:t>
                                </m:r>
                              </m:oMath>
                            </m:oMathPara>
                          </a14:m>
                          <a:endParaRPr lang="es-MX" sz="1600" b="1" dirty="0"/>
                        </a:p>
                      </a:txBody>
                      <a:tcPr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𝐹</m:t>
                                </m:r>
                              </m:oMath>
                            </m:oMathPara>
                          </a14:m>
                          <a:endParaRPr lang="es-MX" sz="1600" b="1" dirty="0"/>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670299"/>
                      </a:ext>
                    </a:extLst>
                  </a:tr>
                  <a:tr h="31891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1805549228"/>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extLst>
                      <a:ext uri="{0D108BD9-81ED-4DB2-BD59-A6C34878D82A}">
                        <a16:rowId xmlns:a16="http://schemas.microsoft.com/office/drawing/2014/main" val="2353127006"/>
                      </a:ext>
                    </a:extLst>
                  </a:tr>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651764017"/>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841338906"/>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solidFill>
                                      <a:srgbClr val="FF0000"/>
                                    </a:solidFill>
                                    <a:latin typeface="Cambria Math" panose="02040503050406030204" pitchFamily="18" charset="0"/>
                                    <a:ea typeface="Roboto" panose="02000000000000000000" pitchFamily="2" charset="0"/>
                                  </a:rPr>
                                  <m:t>0</m:t>
                                </m:r>
                              </m:oMath>
                            </m:oMathPara>
                          </a14:m>
                          <a:endParaRPr lang="es-CO" sz="1600" dirty="0">
                            <a:solidFill>
                              <a:srgbClr val="FF0000"/>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632356540"/>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671630554"/>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17604333"/>
                      </a:ext>
                    </a:extLst>
                  </a:tr>
                  <a:tr h="286174">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extLst>
                      <a:ext uri="{0D108BD9-81ED-4DB2-BD59-A6C34878D82A}">
                        <a16:rowId xmlns:a16="http://schemas.microsoft.com/office/drawing/2014/main" val="768255264"/>
                      </a:ext>
                    </a:extLst>
                  </a:tr>
                </a:tbl>
              </a:graphicData>
            </a:graphic>
          </p:graphicFrame>
        </mc:Choice>
        <mc:Fallback xmlns="">
          <p:graphicFrame>
            <p:nvGraphicFramePr>
              <p:cNvPr id="14" name="Tabla 4">
                <a:extLst>
                  <a:ext uri="{FF2B5EF4-FFF2-40B4-BE49-F238E27FC236}">
                    <a16:creationId xmlns:a16="http://schemas.microsoft.com/office/drawing/2014/main" id="{A83C7222-0883-428B-8FD4-F96A70091B73}"/>
                  </a:ext>
                </a:extLst>
              </p:cNvPr>
              <p:cNvGraphicFramePr>
                <a:graphicFrameLocks noGrp="1"/>
              </p:cNvGraphicFramePr>
              <p:nvPr>
                <p:extLst>
                  <p:ext uri="{D42A27DB-BD31-4B8C-83A1-F6EECF244321}">
                    <p14:modId xmlns:p14="http://schemas.microsoft.com/office/powerpoint/2010/main" val="169452909"/>
                  </p:ext>
                </p:extLst>
              </p:nvPr>
            </p:nvGraphicFramePr>
            <p:xfrm>
              <a:off x="1194866" y="3578254"/>
              <a:ext cx="10414122" cy="3017520"/>
            </p:xfrm>
            <a:graphic>
              <a:graphicData uri="http://schemas.openxmlformats.org/drawingml/2006/table">
                <a:tbl>
                  <a:tblPr firstRow="1" bandRow="1">
                    <a:tableStyleId>{AD6A3598-7CB8-4345-8D95-17CE05F158A0}</a:tableStyleId>
                  </a:tblPr>
                  <a:tblGrid>
                    <a:gridCol w="368773">
                      <a:extLst>
                        <a:ext uri="{9D8B030D-6E8A-4147-A177-3AD203B41FA5}">
                          <a16:colId xmlns:a16="http://schemas.microsoft.com/office/drawing/2014/main" val="776375974"/>
                        </a:ext>
                      </a:extLst>
                    </a:gridCol>
                    <a:gridCol w="368773">
                      <a:extLst>
                        <a:ext uri="{9D8B030D-6E8A-4147-A177-3AD203B41FA5}">
                          <a16:colId xmlns:a16="http://schemas.microsoft.com/office/drawing/2014/main" val="384604534"/>
                        </a:ext>
                      </a:extLst>
                    </a:gridCol>
                    <a:gridCol w="368773">
                      <a:extLst>
                        <a:ext uri="{9D8B030D-6E8A-4147-A177-3AD203B41FA5}">
                          <a16:colId xmlns:a16="http://schemas.microsoft.com/office/drawing/2014/main" val="79869298"/>
                        </a:ext>
                      </a:extLst>
                    </a:gridCol>
                    <a:gridCol w="368773">
                      <a:extLst>
                        <a:ext uri="{9D8B030D-6E8A-4147-A177-3AD203B41FA5}">
                          <a16:colId xmlns:a16="http://schemas.microsoft.com/office/drawing/2014/main" val="1627128528"/>
                        </a:ext>
                      </a:extLst>
                    </a:gridCol>
                    <a:gridCol w="864078">
                      <a:extLst>
                        <a:ext uri="{9D8B030D-6E8A-4147-A177-3AD203B41FA5}">
                          <a16:colId xmlns:a16="http://schemas.microsoft.com/office/drawing/2014/main" val="3636147316"/>
                        </a:ext>
                      </a:extLst>
                    </a:gridCol>
                    <a:gridCol w="665018">
                      <a:extLst>
                        <a:ext uri="{9D8B030D-6E8A-4147-A177-3AD203B41FA5}">
                          <a16:colId xmlns:a16="http://schemas.microsoft.com/office/drawing/2014/main" val="1883770935"/>
                        </a:ext>
                      </a:extLst>
                    </a:gridCol>
                    <a:gridCol w="1219200">
                      <a:extLst>
                        <a:ext uri="{9D8B030D-6E8A-4147-A177-3AD203B41FA5}">
                          <a16:colId xmlns:a16="http://schemas.microsoft.com/office/drawing/2014/main" val="4031458888"/>
                        </a:ext>
                      </a:extLst>
                    </a:gridCol>
                    <a:gridCol w="1163782">
                      <a:extLst>
                        <a:ext uri="{9D8B030D-6E8A-4147-A177-3AD203B41FA5}">
                          <a16:colId xmlns:a16="http://schemas.microsoft.com/office/drawing/2014/main" val="3413420708"/>
                        </a:ext>
                      </a:extLst>
                    </a:gridCol>
                    <a:gridCol w="2673927">
                      <a:extLst>
                        <a:ext uri="{9D8B030D-6E8A-4147-A177-3AD203B41FA5}">
                          <a16:colId xmlns:a16="http://schemas.microsoft.com/office/drawing/2014/main" val="1553787280"/>
                        </a:ext>
                      </a:extLst>
                    </a:gridCol>
                    <a:gridCol w="1302328">
                      <a:extLst>
                        <a:ext uri="{9D8B030D-6E8A-4147-A177-3AD203B41FA5}">
                          <a16:colId xmlns:a16="http://schemas.microsoft.com/office/drawing/2014/main" val="2574123728"/>
                        </a:ext>
                      </a:extLst>
                    </a:gridCol>
                    <a:gridCol w="1050697">
                      <a:extLst>
                        <a:ext uri="{9D8B030D-6E8A-4147-A177-3AD203B41FA5}">
                          <a16:colId xmlns:a16="http://schemas.microsoft.com/office/drawing/2014/main" val="706023690"/>
                        </a:ext>
                      </a:extLst>
                    </a:gridCol>
                  </a:tblGrid>
                  <a:tr h="335280">
                    <a:tc>
                      <a:txBody>
                        <a:bodyPr/>
                        <a:lstStyle/>
                        <a:p>
                          <a:endParaRPr lang="es-CO"/>
                        </a:p>
                      </a:txBody>
                      <a:tcPr anchor="ctr">
                        <a:lnB w="19050" cap="flat" cmpd="sng" algn="ctr">
                          <a:solidFill>
                            <a:schemeClr val="tx1"/>
                          </a:solidFill>
                          <a:prstDash val="solid"/>
                          <a:round/>
                          <a:headEnd type="none" w="med" len="med"/>
                          <a:tailEnd type="none" w="med" len="med"/>
                        </a:lnB>
                        <a:blipFill>
                          <a:blip r:embed="rId3"/>
                          <a:stretch>
                            <a:fillRect l="-1639" r="-2704918" b="-807273"/>
                          </a:stretch>
                        </a:blipFill>
                      </a:tcPr>
                    </a:tc>
                    <a:tc>
                      <a:txBody>
                        <a:bodyPr/>
                        <a:lstStyle/>
                        <a:p>
                          <a:endParaRPr lang="es-CO"/>
                        </a:p>
                      </a:txBody>
                      <a:tcPr anchor="ctr">
                        <a:lnB w="19050" cap="flat" cmpd="sng" algn="ctr">
                          <a:solidFill>
                            <a:schemeClr val="tx1"/>
                          </a:solidFill>
                          <a:prstDash val="solid"/>
                          <a:round/>
                          <a:headEnd type="none" w="med" len="med"/>
                          <a:tailEnd type="none" w="med" len="med"/>
                        </a:lnB>
                        <a:blipFill>
                          <a:blip r:embed="rId3"/>
                          <a:stretch>
                            <a:fillRect l="-103333" r="-2650000" b="-807273"/>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200000" r="-2506557" b="-807273"/>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3"/>
                          <a:stretch>
                            <a:fillRect l="-305000" r="-2448333" b="-807273"/>
                          </a:stretch>
                        </a:blipFill>
                      </a:tcPr>
                    </a:tc>
                    <a:tc>
                      <a:txBody>
                        <a:bodyPr/>
                        <a:lstStyle/>
                        <a:p>
                          <a:endParaRPr lang="es-CO"/>
                        </a:p>
                      </a:txBody>
                      <a:tcPr anchor="ctr">
                        <a:lnB w="19050" cap="flat" cmpd="sng" algn="ctr">
                          <a:solidFill>
                            <a:schemeClr val="tx1"/>
                          </a:solidFill>
                          <a:prstDash val="solid"/>
                          <a:round/>
                          <a:headEnd type="none" w="med" len="med"/>
                          <a:tailEnd type="none" w="med" len="med"/>
                        </a:lnB>
                        <a:blipFill>
                          <a:blip r:embed="rId3"/>
                          <a:stretch>
                            <a:fillRect l="-171127" r="-934507" b="-807273"/>
                          </a:stretch>
                        </a:blipFill>
                      </a:tcPr>
                    </a:tc>
                    <a:tc>
                      <a:txBody>
                        <a:bodyPr/>
                        <a:lstStyle/>
                        <a:p>
                          <a:endParaRPr lang="es-CO"/>
                        </a:p>
                      </a:txBody>
                      <a:tcPr anchor="ctr">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353211" r="-1117431" b="-807273"/>
                          </a:stretch>
                        </a:blipFill>
                      </a:tcPr>
                    </a:tc>
                    <a:tc>
                      <a:txBody>
                        <a:bodyPr/>
                        <a:lstStyle/>
                        <a:p>
                          <a:endParaRPr lang="es-CO"/>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247000" r="-509000" b="-807273"/>
                          </a:stretch>
                        </a:blipFill>
                      </a:tcPr>
                    </a:tc>
                    <a:tc>
                      <a:txBody>
                        <a:bodyPr/>
                        <a:lstStyle/>
                        <a:p>
                          <a:endParaRPr lang="es-CO"/>
                        </a:p>
                      </a:txBody>
                      <a:tcPr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363351" r="-432984" b="-807273"/>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201595" r="-88383" b="-807273"/>
                          </a:stretch>
                        </a:blipFill>
                      </a:tcPr>
                    </a:tc>
                    <a:tc>
                      <a:txBody>
                        <a:bodyPr/>
                        <a:lstStyle/>
                        <a:p>
                          <a:endParaRPr lang="es-CO"/>
                        </a:p>
                      </a:txBody>
                      <a:tcPr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618692" r="-81308" b="-807273"/>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3"/>
                          <a:stretch>
                            <a:fillRect l="-894186" r="-1163" b="-807273"/>
                          </a:stretch>
                        </a:blipFill>
                      </a:tcPr>
                    </a:tc>
                    <a:extLst>
                      <a:ext uri="{0D108BD9-81ED-4DB2-BD59-A6C34878D82A}">
                        <a16:rowId xmlns:a16="http://schemas.microsoft.com/office/drawing/2014/main" val="113670299"/>
                      </a:ext>
                    </a:extLst>
                  </a:tr>
                  <a:tr h="335280">
                    <a:tc>
                      <a:txBody>
                        <a:bodyPr/>
                        <a:lstStyle/>
                        <a:p>
                          <a:endParaRPr lang="es-CO"/>
                        </a:p>
                      </a:txBody>
                      <a:tcPr>
                        <a:lnT w="19050" cap="flat" cmpd="sng" algn="ctr">
                          <a:solidFill>
                            <a:schemeClr val="tx1"/>
                          </a:solidFill>
                          <a:prstDash val="solid"/>
                          <a:round/>
                          <a:headEnd type="none" w="med" len="med"/>
                          <a:tailEnd type="none" w="med" len="med"/>
                        </a:lnT>
                        <a:blipFill>
                          <a:blip r:embed="rId3"/>
                          <a:stretch>
                            <a:fillRect l="-1639" t="-100000" r="-2704918" b="-707273"/>
                          </a:stretch>
                        </a:blipFill>
                      </a:tcPr>
                    </a:tc>
                    <a:tc>
                      <a:txBody>
                        <a:bodyPr/>
                        <a:lstStyle/>
                        <a:p>
                          <a:endParaRPr lang="es-CO"/>
                        </a:p>
                      </a:txBody>
                      <a:tcPr>
                        <a:lnT w="19050" cap="flat" cmpd="sng" algn="ctr">
                          <a:solidFill>
                            <a:schemeClr val="tx1"/>
                          </a:solidFill>
                          <a:prstDash val="solid"/>
                          <a:round/>
                          <a:headEnd type="none" w="med" len="med"/>
                          <a:tailEnd type="none" w="med" len="med"/>
                        </a:lnT>
                        <a:blipFill>
                          <a:blip r:embed="rId3"/>
                          <a:stretch>
                            <a:fillRect l="-103333" t="-100000" r="-2650000" b="-707273"/>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200000" t="-100000" r="-2506557" b="-707273"/>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3"/>
                          <a:stretch>
                            <a:fillRect l="-305000" t="-100000" r="-2448333" b="-707273"/>
                          </a:stretch>
                        </a:blipFill>
                      </a:tcPr>
                    </a:tc>
                    <a:tc>
                      <a:txBody>
                        <a:bodyPr/>
                        <a:lstStyle/>
                        <a:p>
                          <a:endParaRPr lang="es-CO"/>
                        </a:p>
                      </a:txBody>
                      <a:tcPr>
                        <a:lnT w="19050" cap="flat" cmpd="sng" algn="ctr">
                          <a:solidFill>
                            <a:schemeClr val="tx1"/>
                          </a:solidFill>
                          <a:prstDash val="solid"/>
                          <a:round/>
                          <a:headEnd type="none" w="med" len="med"/>
                          <a:tailEnd type="none" w="med" len="med"/>
                        </a:lnT>
                        <a:blipFill>
                          <a:blip r:embed="rId3"/>
                          <a:stretch>
                            <a:fillRect l="-171127" t="-100000" r="-934507" b="-707273"/>
                          </a:stretch>
                        </a:blipFill>
                      </a:tcPr>
                    </a:tc>
                    <a:tc>
                      <a:txBody>
                        <a:bodyPr/>
                        <a:lstStyle/>
                        <a:p>
                          <a:endParaRPr lang="es-CO"/>
                        </a:p>
                      </a:txBody>
                      <a:tcPr>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353211" t="-100000" r="-1117431" b="-707273"/>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247000" t="-100000" r="-509000" b="-707273"/>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363351" t="-100000" r="-432984" b="-707273"/>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201595" t="-100000" r="-88383" b="-707273"/>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618692" t="-100000" r="-81308" b="-707273"/>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3"/>
                          <a:stretch>
                            <a:fillRect l="-894186" t="-100000" r="-1163" b="-707273"/>
                          </a:stretch>
                        </a:blipFill>
                      </a:tcPr>
                    </a:tc>
                    <a:extLst>
                      <a:ext uri="{0D108BD9-81ED-4DB2-BD59-A6C34878D82A}">
                        <a16:rowId xmlns:a16="http://schemas.microsoft.com/office/drawing/2014/main" val="1805549228"/>
                      </a:ext>
                    </a:extLst>
                  </a:tr>
                  <a:tr h="335280">
                    <a:tc>
                      <a:txBody>
                        <a:bodyPr/>
                        <a:lstStyle/>
                        <a:p>
                          <a:endParaRPr lang="es-CO"/>
                        </a:p>
                      </a:txBody>
                      <a:tcPr>
                        <a:blipFill>
                          <a:blip r:embed="rId3"/>
                          <a:stretch>
                            <a:fillRect l="-1639" t="-200000" r="-2704918" b="-607273"/>
                          </a:stretch>
                        </a:blipFill>
                      </a:tcPr>
                    </a:tc>
                    <a:tc>
                      <a:txBody>
                        <a:bodyPr/>
                        <a:lstStyle/>
                        <a:p>
                          <a:endParaRPr lang="es-CO"/>
                        </a:p>
                      </a:txBody>
                      <a:tcPr>
                        <a:blipFill>
                          <a:blip r:embed="rId3"/>
                          <a:stretch>
                            <a:fillRect l="-103333" t="-200000" r="-2650000" b="-607273"/>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200000" r="-2506557" b="-607273"/>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305000" t="-200000" r="-2448333" b="-607273"/>
                          </a:stretch>
                        </a:blipFill>
                      </a:tcPr>
                    </a:tc>
                    <a:tc>
                      <a:txBody>
                        <a:bodyPr/>
                        <a:lstStyle/>
                        <a:p>
                          <a:endParaRPr lang="es-CO"/>
                        </a:p>
                      </a:txBody>
                      <a:tcPr>
                        <a:blipFill>
                          <a:blip r:embed="rId3"/>
                          <a:stretch>
                            <a:fillRect l="-171127" t="-200000" r="-934507" b="-607273"/>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53211" t="-200000" r="-1117431" b="-607273"/>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47000" t="-200000" r="-509000" b="-607273"/>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63351" t="-200000" r="-432984" b="-607273"/>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01595" t="-200000" r="-88383" b="-607273"/>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618692" t="-200000" r="-81308" b="-607273"/>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894186" t="-200000" r="-1163" b="-607273"/>
                          </a:stretch>
                        </a:blipFill>
                      </a:tcPr>
                    </a:tc>
                    <a:extLst>
                      <a:ext uri="{0D108BD9-81ED-4DB2-BD59-A6C34878D82A}">
                        <a16:rowId xmlns:a16="http://schemas.microsoft.com/office/drawing/2014/main" val="2353127006"/>
                      </a:ext>
                    </a:extLst>
                  </a:tr>
                  <a:tr h="335280">
                    <a:tc>
                      <a:txBody>
                        <a:bodyPr/>
                        <a:lstStyle/>
                        <a:p>
                          <a:endParaRPr lang="es-CO"/>
                        </a:p>
                      </a:txBody>
                      <a:tcPr>
                        <a:blipFill>
                          <a:blip r:embed="rId3"/>
                          <a:stretch>
                            <a:fillRect l="-1639" t="-300000" r="-2704918" b="-507273"/>
                          </a:stretch>
                        </a:blipFill>
                      </a:tcPr>
                    </a:tc>
                    <a:tc>
                      <a:txBody>
                        <a:bodyPr/>
                        <a:lstStyle/>
                        <a:p>
                          <a:endParaRPr lang="es-CO"/>
                        </a:p>
                      </a:txBody>
                      <a:tcPr>
                        <a:blipFill>
                          <a:blip r:embed="rId3"/>
                          <a:stretch>
                            <a:fillRect l="-103333" t="-300000" r="-2650000" b="-507273"/>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300000" r="-2506557" b="-507273"/>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305000" t="-300000" r="-2448333" b="-507273"/>
                          </a:stretch>
                        </a:blipFill>
                      </a:tcPr>
                    </a:tc>
                    <a:tc>
                      <a:txBody>
                        <a:bodyPr/>
                        <a:lstStyle/>
                        <a:p>
                          <a:endParaRPr lang="es-CO"/>
                        </a:p>
                      </a:txBody>
                      <a:tcPr>
                        <a:blipFill>
                          <a:blip r:embed="rId3"/>
                          <a:stretch>
                            <a:fillRect l="-171127" t="-300000" r="-934507" b="-507273"/>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53211" t="-300000" r="-1117431" b="-507273"/>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47000" t="-300000" r="-509000" b="-507273"/>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63351" t="-300000" r="-432984" b="-507273"/>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01595" t="-300000" r="-88383" b="-507273"/>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618692" t="-300000" r="-81308" b="-507273"/>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894186" t="-300000" r="-1163" b="-507273"/>
                          </a:stretch>
                        </a:blipFill>
                      </a:tcPr>
                    </a:tc>
                    <a:extLst>
                      <a:ext uri="{0D108BD9-81ED-4DB2-BD59-A6C34878D82A}">
                        <a16:rowId xmlns:a16="http://schemas.microsoft.com/office/drawing/2014/main" val="3651764017"/>
                      </a:ext>
                    </a:extLst>
                  </a:tr>
                  <a:tr h="335280">
                    <a:tc>
                      <a:txBody>
                        <a:bodyPr/>
                        <a:lstStyle/>
                        <a:p>
                          <a:endParaRPr lang="es-CO"/>
                        </a:p>
                      </a:txBody>
                      <a:tcPr>
                        <a:blipFill>
                          <a:blip r:embed="rId3"/>
                          <a:stretch>
                            <a:fillRect l="-1639" t="-392857" r="-2704918" b="-398214"/>
                          </a:stretch>
                        </a:blipFill>
                      </a:tcPr>
                    </a:tc>
                    <a:tc>
                      <a:txBody>
                        <a:bodyPr/>
                        <a:lstStyle/>
                        <a:p>
                          <a:endParaRPr lang="es-CO"/>
                        </a:p>
                      </a:txBody>
                      <a:tcPr>
                        <a:blipFill>
                          <a:blip r:embed="rId3"/>
                          <a:stretch>
                            <a:fillRect l="-103333" t="-392857" r="-2650000" b="-398214"/>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392857" r="-2506557" b="-398214"/>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305000" t="-392857" r="-2448333" b="-398214"/>
                          </a:stretch>
                        </a:blipFill>
                      </a:tcPr>
                    </a:tc>
                    <a:tc>
                      <a:txBody>
                        <a:bodyPr/>
                        <a:lstStyle/>
                        <a:p>
                          <a:endParaRPr lang="es-CO"/>
                        </a:p>
                      </a:txBody>
                      <a:tcPr>
                        <a:blipFill>
                          <a:blip r:embed="rId3"/>
                          <a:stretch>
                            <a:fillRect l="-171127" t="-392857" r="-934507" b="-398214"/>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53211" t="-392857" r="-1117431" b="-398214"/>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47000" t="-392857" r="-509000" b="-398214"/>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63351" t="-392857" r="-432984" b="-398214"/>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01595" t="-392857" r="-88383" b="-398214"/>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618692" t="-392857" r="-81308" b="-398214"/>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894186" t="-392857" r="-1163" b="-398214"/>
                          </a:stretch>
                        </a:blipFill>
                      </a:tcPr>
                    </a:tc>
                    <a:extLst>
                      <a:ext uri="{0D108BD9-81ED-4DB2-BD59-A6C34878D82A}">
                        <a16:rowId xmlns:a16="http://schemas.microsoft.com/office/drawing/2014/main" val="2841338906"/>
                      </a:ext>
                    </a:extLst>
                  </a:tr>
                  <a:tr h="335280">
                    <a:tc>
                      <a:txBody>
                        <a:bodyPr/>
                        <a:lstStyle/>
                        <a:p>
                          <a:endParaRPr lang="es-CO"/>
                        </a:p>
                      </a:txBody>
                      <a:tcPr>
                        <a:blipFill>
                          <a:blip r:embed="rId3"/>
                          <a:stretch>
                            <a:fillRect l="-1639" t="-501818" r="-2704918" b="-305455"/>
                          </a:stretch>
                        </a:blipFill>
                      </a:tcPr>
                    </a:tc>
                    <a:tc>
                      <a:txBody>
                        <a:bodyPr/>
                        <a:lstStyle/>
                        <a:p>
                          <a:endParaRPr lang="es-CO"/>
                        </a:p>
                      </a:txBody>
                      <a:tcPr>
                        <a:blipFill>
                          <a:blip r:embed="rId3"/>
                          <a:stretch>
                            <a:fillRect l="-103333" t="-501818" r="-2650000" b="-3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501818" r="-2506557" b="-3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305000" t="-501818" r="-2448333" b="-305455"/>
                          </a:stretch>
                        </a:blipFill>
                      </a:tcPr>
                    </a:tc>
                    <a:tc>
                      <a:txBody>
                        <a:bodyPr/>
                        <a:lstStyle/>
                        <a:p>
                          <a:endParaRPr lang="es-CO"/>
                        </a:p>
                      </a:txBody>
                      <a:tcPr>
                        <a:blipFill>
                          <a:blip r:embed="rId3"/>
                          <a:stretch>
                            <a:fillRect l="-171127" t="-501818" r="-934507" b="-305455"/>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53211" t="-501818" r="-1117431" b="-305455"/>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47000" t="-501818" r="-509000" b="-30545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63351" t="-501818" r="-432984" b="-305455"/>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01595" t="-501818" r="-88383" b="-30545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618692" t="-501818" r="-81308" b="-3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894186" t="-501818" r="-1163" b="-305455"/>
                          </a:stretch>
                        </a:blipFill>
                      </a:tcPr>
                    </a:tc>
                    <a:extLst>
                      <a:ext uri="{0D108BD9-81ED-4DB2-BD59-A6C34878D82A}">
                        <a16:rowId xmlns:a16="http://schemas.microsoft.com/office/drawing/2014/main" val="1632356540"/>
                      </a:ext>
                    </a:extLst>
                  </a:tr>
                  <a:tr h="335280">
                    <a:tc>
                      <a:txBody>
                        <a:bodyPr/>
                        <a:lstStyle/>
                        <a:p>
                          <a:endParaRPr lang="es-CO"/>
                        </a:p>
                      </a:txBody>
                      <a:tcPr>
                        <a:blipFill>
                          <a:blip r:embed="rId3"/>
                          <a:stretch>
                            <a:fillRect l="-1639" t="-601818" r="-2704918" b="-205455"/>
                          </a:stretch>
                        </a:blipFill>
                      </a:tcPr>
                    </a:tc>
                    <a:tc>
                      <a:txBody>
                        <a:bodyPr/>
                        <a:lstStyle/>
                        <a:p>
                          <a:endParaRPr lang="es-CO"/>
                        </a:p>
                      </a:txBody>
                      <a:tcPr>
                        <a:blipFill>
                          <a:blip r:embed="rId3"/>
                          <a:stretch>
                            <a:fillRect l="-103333" t="-601818" r="-2650000" b="-2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601818" r="-2506557" b="-2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305000" t="-601818" r="-2448333" b="-205455"/>
                          </a:stretch>
                        </a:blipFill>
                      </a:tcPr>
                    </a:tc>
                    <a:tc>
                      <a:txBody>
                        <a:bodyPr/>
                        <a:lstStyle/>
                        <a:p>
                          <a:endParaRPr lang="es-CO"/>
                        </a:p>
                      </a:txBody>
                      <a:tcPr>
                        <a:blipFill>
                          <a:blip r:embed="rId3"/>
                          <a:stretch>
                            <a:fillRect l="-171127" t="-601818" r="-934507" b="-205455"/>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53211" t="-601818" r="-1117431" b="-205455"/>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47000" t="-601818" r="-509000" b="-20545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63351" t="-601818" r="-432984" b="-205455"/>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01595" t="-601818" r="-88383" b="-20545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618692" t="-601818" r="-81308" b="-2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894186" t="-601818" r="-1163" b="-205455"/>
                          </a:stretch>
                        </a:blipFill>
                      </a:tcPr>
                    </a:tc>
                    <a:extLst>
                      <a:ext uri="{0D108BD9-81ED-4DB2-BD59-A6C34878D82A}">
                        <a16:rowId xmlns:a16="http://schemas.microsoft.com/office/drawing/2014/main" val="2671630554"/>
                      </a:ext>
                    </a:extLst>
                  </a:tr>
                  <a:tr h="335280">
                    <a:tc>
                      <a:txBody>
                        <a:bodyPr/>
                        <a:lstStyle/>
                        <a:p>
                          <a:endParaRPr lang="es-CO"/>
                        </a:p>
                      </a:txBody>
                      <a:tcPr>
                        <a:blipFill>
                          <a:blip r:embed="rId3"/>
                          <a:stretch>
                            <a:fillRect l="-1639" t="-701818" r="-2704918" b="-105455"/>
                          </a:stretch>
                        </a:blipFill>
                      </a:tcPr>
                    </a:tc>
                    <a:tc>
                      <a:txBody>
                        <a:bodyPr/>
                        <a:lstStyle/>
                        <a:p>
                          <a:endParaRPr lang="es-CO"/>
                        </a:p>
                      </a:txBody>
                      <a:tcPr>
                        <a:blipFill>
                          <a:blip r:embed="rId3"/>
                          <a:stretch>
                            <a:fillRect l="-103333" t="-701818" r="-2650000" b="-10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701818" r="-2506557" b="-1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305000" t="-701818" r="-2448333" b="-105455"/>
                          </a:stretch>
                        </a:blipFill>
                      </a:tcPr>
                    </a:tc>
                    <a:tc>
                      <a:txBody>
                        <a:bodyPr/>
                        <a:lstStyle/>
                        <a:p>
                          <a:endParaRPr lang="es-CO"/>
                        </a:p>
                      </a:txBody>
                      <a:tcPr>
                        <a:blipFill>
                          <a:blip r:embed="rId3"/>
                          <a:stretch>
                            <a:fillRect l="-171127" t="-701818" r="-934507" b="-105455"/>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53211" t="-701818" r="-1117431" b="-105455"/>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47000" t="-701818" r="-509000" b="-10545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63351" t="-701818" r="-432984" b="-105455"/>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01595" t="-701818" r="-88383" b="-10545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618692" t="-701818" r="-81308" b="-10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894186" t="-701818" r="-1163" b="-105455"/>
                          </a:stretch>
                        </a:blipFill>
                      </a:tcPr>
                    </a:tc>
                    <a:extLst>
                      <a:ext uri="{0D108BD9-81ED-4DB2-BD59-A6C34878D82A}">
                        <a16:rowId xmlns:a16="http://schemas.microsoft.com/office/drawing/2014/main" val="117604333"/>
                      </a:ext>
                    </a:extLst>
                  </a:tr>
                  <a:tr h="335280">
                    <a:tc>
                      <a:txBody>
                        <a:bodyPr/>
                        <a:lstStyle/>
                        <a:p>
                          <a:endParaRPr lang="es-CO"/>
                        </a:p>
                      </a:txBody>
                      <a:tcPr>
                        <a:blipFill>
                          <a:blip r:embed="rId3"/>
                          <a:stretch>
                            <a:fillRect l="-1639" t="-801818" r="-2704918" b="-5455"/>
                          </a:stretch>
                        </a:blipFill>
                      </a:tcPr>
                    </a:tc>
                    <a:tc>
                      <a:txBody>
                        <a:bodyPr/>
                        <a:lstStyle/>
                        <a:p>
                          <a:endParaRPr lang="es-CO"/>
                        </a:p>
                      </a:txBody>
                      <a:tcPr>
                        <a:blipFill>
                          <a:blip r:embed="rId3"/>
                          <a:stretch>
                            <a:fillRect l="-103333" t="-801818" r="-2650000" b="-545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801818" r="-2506557" b="-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305000" t="-801818" r="-2448333" b="-5455"/>
                          </a:stretch>
                        </a:blipFill>
                      </a:tcPr>
                    </a:tc>
                    <a:tc>
                      <a:txBody>
                        <a:bodyPr/>
                        <a:lstStyle/>
                        <a:p>
                          <a:endParaRPr lang="es-CO"/>
                        </a:p>
                      </a:txBody>
                      <a:tcPr>
                        <a:blipFill>
                          <a:blip r:embed="rId3"/>
                          <a:stretch>
                            <a:fillRect l="-171127" t="-801818" r="-934507" b="-5455"/>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53211" t="-801818" r="-1117431" b="-5455"/>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47000" t="-801818" r="-509000" b="-545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63351" t="-801818" r="-432984" b="-5455"/>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01595" t="-801818" r="-88383" b="-545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618692" t="-801818" r="-81308" b="-545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894186" t="-801818" r="-1163" b="-5455"/>
                          </a:stretch>
                        </a:blipFill>
                      </a:tcPr>
                    </a:tc>
                    <a:extLst>
                      <a:ext uri="{0D108BD9-81ED-4DB2-BD59-A6C34878D82A}">
                        <a16:rowId xmlns:a16="http://schemas.microsoft.com/office/drawing/2014/main" val="768255264"/>
                      </a:ext>
                    </a:extLst>
                  </a:tr>
                </a:tbl>
              </a:graphicData>
            </a:graphic>
          </p:graphicFrame>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DEA6B94A-56ED-4760-B1B3-9599A45ADA28}"/>
                  </a:ext>
                </a:extLst>
              </p:cNvPr>
              <p:cNvSpPr txBox="1"/>
              <p:nvPr/>
            </p:nvSpPr>
            <p:spPr>
              <a:xfrm>
                <a:off x="3512351" y="2507485"/>
                <a:ext cx="5555672" cy="276999"/>
              </a:xfrm>
              <a:prstGeom prst="rect">
                <a:avLst/>
              </a:prstGeom>
              <a:solidFill>
                <a:schemeClr val="bg1">
                  <a:lumMod val="95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𝐹</m:t>
                      </m:r>
                      <m:r>
                        <a:rPr lang="es-MX" sz="1800" b="0" i="1" smtClean="0">
                          <a:latin typeface="Cambria Math" panose="02040503050406030204" pitchFamily="18" charset="0"/>
                          <a:ea typeface="Roboto" panose="02000000000000000000" pitchFamily="2" charset="0"/>
                        </a:rPr>
                        <m:t>=</m:t>
                      </m:r>
                      <m:d>
                        <m:dPr>
                          <m:begChr m:val="["/>
                          <m:endChr m:val="]"/>
                          <m:ctrlPr>
                            <a:rPr lang="es-MX" sz="1800" b="0" i="1" smtClean="0">
                              <a:latin typeface="Cambria Math" panose="02040503050406030204" pitchFamily="18" charset="0"/>
                              <a:ea typeface="Roboto" panose="02000000000000000000" pitchFamily="2" charset="0"/>
                            </a:rPr>
                          </m:ctrlPr>
                        </m:dPr>
                        <m:e>
                          <m:d>
                            <m:dPr>
                              <m:ctrlPr>
                                <a:rPr lang="es-MX" sz="1800" b="0" i="1" smtClean="0">
                                  <a:latin typeface="Cambria Math" panose="02040503050406030204" pitchFamily="18" charset="0"/>
                                  <a:ea typeface="Roboto" panose="02000000000000000000" pitchFamily="2" charset="0"/>
                                </a:rPr>
                              </m:ctrlPr>
                            </m:dPr>
                            <m:e>
                              <m:r>
                                <a:rPr lang="es-MX" sz="1800" i="1">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𝑞</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𝑟</m:t>
                              </m:r>
                            </m:e>
                          </m:d>
                          <m:r>
                            <a:rPr lang="es-MX" sz="1800" i="1">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Roboto" panose="02000000000000000000" pitchFamily="2" charset="0"/>
                                </a:rPr>
                                <m:t>𝑞</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𝑟</m:t>
                              </m:r>
                              <m:r>
                                <m:rPr>
                                  <m:nor/>
                                </m:rPr>
                                <a:rPr lang="es-MX" sz="1800" dirty="0">
                                  <a:latin typeface="Roboto" panose="02000000000000000000" pitchFamily="2" charset="0"/>
                                  <a:ea typeface="Cambria Math" panose="02040503050406030204" pitchFamily="18" charset="0"/>
                                </a:rPr>
                                <m:t> </m:t>
                              </m:r>
                            </m:e>
                          </m:d>
                        </m:e>
                      </m:d>
                      <m:r>
                        <a:rPr lang="es-MX" sz="1800" b="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Cambria Math" panose="02040503050406030204" pitchFamily="18" charset="0"/>
                            </a:rPr>
                            <m:t>𝑟</m:t>
                          </m:r>
                        </m:e>
                      </m:d>
                    </m:oMath>
                  </m:oMathPara>
                </a14:m>
                <a:endParaRPr lang="es-MX" sz="1800" dirty="0">
                  <a:latin typeface="Roboto" panose="02000000000000000000" pitchFamily="2" charset="0"/>
                  <a:ea typeface="Cambria Math" panose="02040503050406030204" pitchFamily="18" charset="0"/>
                </a:endParaRPr>
              </a:p>
            </p:txBody>
          </p:sp>
        </mc:Choice>
        <mc:Fallback>
          <p:sp>
            <p:nvSpPr>
              <p:cNvPr id="11" name="CuadroTexto 10">
                <a:extLst>
                  <a:ext uri="{FF2B5EF4-FFF2-40B4-BE49-F238E27FC236}">
                    <a16:creationId xmlns:a16="http://schemas.microsoft.com/office/drawing/2014/main" id="{DEA6B94A-56ED-4760-B1B3-9599A45ADA28}"/>
                  </a:ext>
                </a:extLst>
              </p:cNvPr>
              <p:cNvSpPr txBox="1">
                <a:spLocks noRot="1" noChangeAspect="1" noMove="1" noResize="1" noEditPoints="1" noAdjustHandles="1" noChangeArrowheads="1" noChangeShapeType="1" noTextEdit="1"/>
              </p:cNvSpPr>
              <p:nvPr/>
            </p:nvSpPr>
            <p:spPr>
              <a:xfrm>
                <a:off x="3512351" y="2507485"/>
                <a:ext cx="5555672" cy="276999"/>
              </a:xfrm>
              <a:prstGeom prst="rect">
                <a:avLst/>
              </a:prstGeom>
              <a:blipFill>
                <a:blip r:embed="rId4"/>
                <a:stretch>
                  <a:fillRect b="-26087"/>
                </a:stretch>
              </a:blipFill>
            </p:spPr>
            <p:txBody>
              <a:bodyPr/>
              <a:lstStyle/>
              <a:p>
                <a:r>
                  <a:rPr lang="es-CO">
                    <a:noFill/>
                  </a:rPr>
                  <a:t> </a:t>
                </a:r>
              </a:p>
            </p:txBody>
          </p:sp>
        </mc:Fallback>
      </mc:AlternateContent>
      <p:sp>
        <p:nvSpPr>
          <p:cNvPr id="32" name="CuadroTexto 31">
            <a:extLst>
              <a:ext uri="{FF2B5EF4-FFF2-40B4-BE49-F238E27FC236}">
                <a16:creationId xmlns:a16="http://schemas.microsoft.com/office/drawing/2014/main" id="{4FE1E362-A410-424C-BDFC-7A09CAFA0358}"/>
              </a:ext>
            </a:extLst>
          </p:cNvPr>
          <p:cNvSpPr txBox="1"/>
          <p:nvPr/>
        </p:nvSpPr>
        <p:spPr>
          <a:xfrm>
            <a:off x="634181" y="1424682"/>
            <a:ext cx="11312013" cy="1015663"/>
          </a:xfrm>
          <a:prstGeom prst="rect">
            <a:avLst/>
          </a:prstGeom>
          <a:noFill/>
        </p:spPr>
        <p:txBody>
          <a:bodyPr wrap="square">
            <a:spAutoFit/>
          </a:bodyPr>
          <a:lstStyle/>
          <a:p>
            <a:r>
              <a:rPr lang="es-MX" sz="2000" dirty="0">
                <a:ea typeface="Roboto" panose="02000000000000000000" pitchFamily="2" charset="0"/>
              </a:rPr>
              <a:t>El proceso que se describió con anterioridad es similar al empleado para demostrar que una proposición es una tautología mediante el uso de tablas de verdad, salvo que solo interesan las filas donde las premisas son verdaderas. A continuación se muestra el procedimiento para el caso previamente analizado:</a:t>
            </a:r>
          </a:p>
        </p:txBody>
      </p:sp>
      <p:grpSp>
        <p:nvGrpSpPr>
          <p:cNvPr id="27" name="Grupo 26">
            <a:extLst>
              <a:ext uri="{FF2B5EF4-FFF2-40B4-BE49-F238E27FC236}">
                <a16:creationId xmlns:a16="http://schemas.microsoft.com/office/drawing/2014/main" id="{494AE7ED-4B69-4035-AA21-7DEF7AF165FF}"/>
              </a:ext>
            </a:extLst>
          </p:cNvPr>
          <p:cNvGrpSpPr/>
          <p:nvPr/>
        </p:nvGrpSpPr>
        <p:grpSpPr>
          <a:xfrm>
            <a:off x="6567054" y="2805449"/>
            <a:ext cx="4017063" cy="726676"/>
            <a:chOff x="4765967" y="2798947"/>
            <a:chExt cx="4017063" cy="726676"/>
          </a:xfrm>
        </p:grpSpPr>
        <p:grpSp>
          <p:nvGrpSpPr>
            <p:cNvPr id="28" name="Grupo 27">
              <a:extLst>
                <a:ext uri="{FF2B5EF4-FFF2-40B4-BE49-F238E27FC236}">
                  <a16:creationId xmlns:a16="http://schemas.microsoft.com/office/drawing/2014/main" id="{879D03A8-02AF-4303-8040-707F575E3D11}"/>
                </a:ext>
              </a:extLst>
            </p:cNvPr>
            <p:cNvGrpSpPr/>
            <p:nvPr/>
          </p:nvGrpSpPr>
          <p:grpSpPr>
            <a:xfrm>
              <a:off x="4765967" y="2798947"/>
              <a:ext cx="2653596" cy="726676"/>
              <a:chOff x="4765967" y="2798947"/>
              <a:chExt cx="2653596" cy="726676"/>
            </a:xfrm>
          </p:grpSpPr>
          <p:sp>
            <p:nvSpPr>
              <p:cNvPr id="37" name="Abrir llave 36">
                <a:extLst>
                  <a:ext uri="{FF2B5EF4-FFF2-40B4-BE49-F238E27FC236}">
                    <a16:creationId xmlns:a16="http://schemas.microsoft.com/office/drawing/2014/main" id="{82C35114-E787-4E88-8F47-339D5E97F7A4}"/>
                  </a:ext>
                </a:extLst>
              </p:cNvPr>
              <p:cNvSpPr/>
              <p:nvPr/>
            </p:nvSpPr>
            <p:spPr>
              <a:xfrm rot="5400000">
                <a:off x="5960246" y="2066306"/>
                <a:ext cx="265038" cy="2653596"/>
              </a:xfrm>
              <a:prstGeom prst="leftBrace">
                <a:avLst>
                  <a:gd name="adj1" fmla="val 24066"/>
                  <a:gd name="adj2" fmla="val 50000"/>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sp>
            <p:nvSpPr>
              <p:cNvPr id="38" name="CuadroTexto 37">
                <a:extLst>
                  <a:ext uri="{FF2B5EF4-FFF2-40B4-BE49-F238E27FC236}">
                    <a16:creationId xmlns:a16="http://schemas.microsoft.com/office/drawing/2014/main" id="{0B9DA832-9C02-40AE-AB77-372B1124642E}"/>
                  </a:ext>
                </a:extLst>
              </p:cNvPr>
              <p:cNvSpPr txBox="1"/>
              <p:nvPr/>
            </p:nvSpPr>
            <p:spPr>
              <a:xfrm>
                <a:off x="5319025" y="2798947"/>
                <a:ext cx="1547479" cy="369332"/>
              </a:xfrm>
              <a:prstGeom prst="rect">
                <a:avLst/>
              </a:prstGeom>
              <a:noFill/>
            </p:spPr>
            <p:txBody>
              <a:bodyPr wrap="square" rtlCol="0">
                <a:spAutoFit/>
              </a:bodyPr>
              <a:lstStyle/>
              <a:p>
                <a:pPr algn="ctr"/>
                <a:r>
                  <a:rPr lang="es-CO" b="1" dirty="0">
                    <a:solidFill>
                      <a:schemeClr val="accent2"/>
                    </a:solidFill>
                    <a:ea typeface="Roboto" panose="02000000000000000000" pitchFamily="2" charset="0"/>
                  </a:rPr>
                  <a:t>Premisas</a:t>
                </a:r>
              </a:p>
            </p:txBody>
          </p:sp>
        </p:grpSp>
        <p:grpSp>
          <p:nvGrpSpPr>
            <p:cNvPr id="34" name="Grupo 33">
              <a:extLst>
                <a:ext uri="{FF2B5EF4-FFF2-40B4-BE49-F238E27FC236}">
                  <a16:creationId xmlns:a16="http://schemas.microsoft.com/office/drawing/2014/main" id="{465ACC84-B2EB-486A-B868-8A8F916A88A6}"/>
                </a:ext>
              </a:extLst>
            </p:cNvPr>
            <p:cNvGrpSpPr/>
            <p:nvPr/>
          </p:nvGrpSpPr>
          <p:grpSpPr>
            <a:xfrm>
              <a:off x="7370270" y="2845123"/>
              <a:ext cx="1412760" cy="680500"/>
              <a:chOff x="7370270" y="2845123"/>
              <a:chExt cx="1412760" cy="680500"/>
            </a:xfrm>
          </p:grpSpPr>
          <p:sp>
            <p:nvSpPr>
              <p:cNvPr id="35" name="CuadroTexto 34">
                <a:extLst>
                  <a:ext uri="{FF2B5EF4-FFF2-40B4-BE49-F238E27FC236}">
                    <a16:creationId xmlns:a16="http://schemas.microsoft.com/office/drawing/2014/main" id="{3F25ADED-081E-4E73-884B-EC42580A890F}"/>
                  </a:ext>
                </a:extLst>
              </p:cNvPr>
              <p:cNvSpPr txBox="1"/>
              <p:nvPr/>
            </p:nvSpPr>
            <p:spPr>
              <a:xfrm>
                <a:off x="7370270" y="2845123"/>
                <a:ext cx="1412760" cy="369332"/>
              </a:xfrm>
              <a:prstGeom prst="rect">
                <a:avLst/>
              </a:prstGeom>
              <a:noFill/>
            </p:spPr>
            <p:txBody>
              <a:bodyPr wrap="square" rtlCol="0">
                <a:spAutoFit/>
              </a:bodyPr>
              <a:lstStyle/>
              <a:p>
                <a:pPr algn="ctr"/>
                <a:r>
                  <a:rPr lang="es-CO" b="1" dirty="0">
                    <a:solidFill>
                      <a:schemeClr val="accent2"/>
                    </a:solidFill>
                    <a:ea typeface="Roboto" panose="02000000000000000000" pitchFamily="2" charset="0"/>
                  </a:rPr>
                  <a:t>Conclusión</a:t>
                </a:r>
              </a:p>
            </p:txBody>
          </p:sp>
          <p:sp>
            <p:nvSpPr>
              <p:cNvPr id="36" name="Abrir llave 35">
                <a:extLst>
                  <a:ext uri="{FF2B5EF4-FFF2-40B4-BE49-F238E27FC236}">
                    <a16:creationId xmlns:a16="http://schemas.microsoft.com/office/drawing/2014/main" id="{54ECBD8B-E1B3-416E-A655-4B31C79CA05B}"/>
                  </a:ext>
                </a:extLst>
              </p:cNvPr>
              <p:cNvSpPr/>
              <p:nvPr/>
            </p:nvSpPr>
            <p:spPr>
              <a:xfrm rot="5400000">
                <a:off x="7944131" y="2736017"/>
                <a:ext cx="265038" cy="1314173"/>
              </a:xfrm>
              <a:prstGeom prst="leftBrace">
                <a:avLst>
                  <a:gd name="adj1" fmla="val 24066"/>
                  <a:gd name="adj2" fmla="val 50000"/>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grpSp>
      </p:grpSp>
    </p:spTree>
    <p:extLst>
      <p:ext uri="{BB962C8B-B14F-4D97-AF65-F5344CB8AC3E}">
        <p14:creationId xmlns:p14="http://schemas.microsoft.com/office/powerpoint/2010/main" val="132489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10675582"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Validación de argumentos – Tablas de verdad</a:t>
            </a:r>
            <a:endParaRPr dirty="0"/>
          </a:p>
        </p:txBody>
      </p:sp>
      <p:sp>
        <p:nvSpPr>
          <p:cNvPr id="29" name="Google Shape;310;p34">
            <a:extLst>
              <a:ext uri="{FF2B5EF4-FFF2-40B4-BE49-F238E27FC236}">
                <a16:creationId xmlns:a16="http://schemas.microsoft.com/office/drawing/2014/main" id="{1DECEA21-A6BB-423C-9627-9EB775B9F5D0}"/>
              </a:ext>
            </a:extLst>
          </p:cNvPr>
          <p:cNvSpPr txBox="1">
            <a:spLocks/>
          </p:cNvSpPr>
          <p:nvPr/>
        </p:nvSpPr>
        <p:spPr>
          <a:xfrm>
            <a:off x="302578" y="1045538"/>
            <a:ext cx="10890782" cy="4349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Roboto" panose="02000000000000000000" pitchFamily="2" charset="0"/>
                <a:ea typeface="Roboto" panose="02000000000000000000" pitchFamily="2" charset="0"/>
              </a:rPr>
              <a:t>Ejemplo</a:t>
            </a:r>
            <a:r>
              <a:rPr lang="es-MX" sz="2000" dirty="0">
                <a:latin typeface="Roboto" panose="02000000000000000000" pitchFamily="2" charset="0"/>
                <a:ea typeface="Roboto" panose="02000000000000000000" pitchFamily="2" charset="0"/>
              </a:rPr>
              <a:t>: Represente el siguiente argumento simbólicamente y determine si es valido</a:t>
            </a:r>
          </a:p>
        </p:txBody>
      </p:sp>
      <mc:AlternateContent xmlns:mc="http://schemas.openxmlformats.org/markup-compatibility/2006">
        <mc:Choice xmlns:a14="http://schemas.microsoft.com/office/drawing/2010/main" Requires="a14">
          <p:sp>
            <p:nvSpPr>
              <p:cNvPr id="30" name="CuadroTexto 29">
                <a:extLst>
                  <a:ext uri="{FF2B5EF4-FFF2-40B4-BE49-F238E27FC236}">
                    <a16:creationId xmlns:a16="http://schemas.microsoft.com/office/drawing/2014/main" id="{CAA410C4-886A-483B-A7A8-E1432B0DD4FB}"/>
                  </a:ext>
                </a:extLst>
              </p:cNvPr>
              <p:cNvSpPr txBox="1"/>
              <p:nvPr/>
            </p:nvSpPr>
            <p:spPr>
              <a:xfrm>
                <a:off x="3473721" y="1671274"/>
                <a:ext cx="5551388" cy="101566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    </m:t>
                      </m:r>
                      <m:r>
                        <m:rPr>
                          <m:sty m:val="p"/>
                        </m:rPr>
                        <a:rPr lang="es-MX" sz="2000" i="0">
                          <a:latin typeface="Cambria Math" panose="02040503050406030204" pitchFamily="18" charset="0"/>
                          <a:ea typeface="Cambria Math" panose="02040503050406030204" pitchFamily="18" charset="0"/>
                        </a:rPr>
                        <m:t>Si</m:t>
                      </m:r>
                      <m:r>
                        <a:rPr lang="es-MX" sz="2000" i="0">
                          <a:latin typeface="Cambria Math" panose="02040503050406030204" pitchFamily="18" charset="0"/>
                          <a:ea typeface="Cambria Math" panose="02040503050406030204" pitchFamily="18" charset="0"/>
                        </a:rPr>
                        <m:t> 2 = 3, </m:t>
                      </m:r>
                      <m:r>
                        <m:rPr>
                          <m:sty m:val="p"/>
                        </m:rPr>
                        <a:rPr lang="es-MX" sz="2000" i="0">
                          <a:latin typeface="Cambria Math" panose="02040503050406030204" pitchFamily="18" charset="0"/>
                          <a:ea typeface="Cambria Math" panose="02040503050406030204" pitchFamily="18" charset="0"/>
                        </a:rPr>
                        <m:t>entonces</m:t>
                      </m:r>
                      <m:r>
                        <a:rPr lang="es-MX" sz="2000" i="0">
                          <a:latin typeface="Cambria Math" panose="02040503050406030204" pitchFamily="18" charset="0"/>
                          <a:ea typeface="Cambria Math" panose="02040503050406030204" pitchFamily="18" charset="0"/>
                        </a:rPr>
                        <m:t> </m:t>
                      </m:r>
                      <m:r>
                        <m:rPr>
                          <m:sty m:val="p"/>
                        </m:rPr>
                        <a:rPr lang="es-MX" sz="2000" i="0">
                          <a:latin typeface="Cambria Math" panose="02040503050406030204" pitchFamily="18" charset="0"/>
                          <a:ea typeface="Cambria Math" panose="02040503050406030204" pitchFamily="18" charset="0"/>
                        </a:rPr>
                        <m:t>yo</m:t>
                      </m:r>
                      <m:r>
                        <a:rPr lang="es-MX" sz="2000" i="0">
                          <a:latin typeface="Cambria Math" panose="02040503050406030204" pitchFamily="18" charset="0"/>
                          <a:ea typeface="Cambria Math" panose="02040503050406030204" pitchFamily="18" charset="0"/>
                        </a:rPr>
                        <m:t> </m:t>
                      </m:r>
                      <m:r>
                        <m:rPr>
                          <m:sty m:val="p"/>
                        </m:rPr>
                        <a:rPr lang="es-MX" sz="2000" i="0">
                          <a:latin typeface="Cambria Math" panose="02040503050406030204" pitchFamily="18" charset="0"/>
                          <a:ea typeface="Cambria Math" panose="02040503050406030204" pitchFamily="18" charset="0"/>
                        </a:rPr>
                        <m:t>me</m:t>
                      </m:r>
                      <m:r>
                        <a:rPr lang="es-MX" sz="2000" i="0">
                          <a:latin typeface="Cambria Math" panose="02040503050406030204" pitchFamily="18" charset="0"/>
                          <a:ea typeface="Cambria Math" panose="02040503050406030204" pitchFamily="18" charset="0"/>
                        </a:rPr>
                        <m:t> </m:t>
                      </m:r>
                      <m:r>
                        <m:rPr>
                          <m:sty m:val="p"/>
                        </m:rPr>
                        <a:rPr lang="es-MX" sz="2000" i="0">
                          <a:latin typeface="Cambria Math" panose="02040503050406030204" pitchFamily="18" charset="0"/>
                          <a:ea typeface="Cambria Math" panose="02040503050406030204" pitchFamily="18" charset="0"/>
                        </a:rPr>
                        <m:t>com</m:t>
                      </m:r>
                      <m:r>
                        <a:rPr lang="es-MX" sz="2000" i="0">
                          <a:latin typeface="Cambria Math" panose="02040503050406030204" pitchFamily="18" charset="0"/>
                          <a:ea typeface="Cambria Math" panose="02040503050406030204" pitchFamily="18" charset="0"/>
                        </a:rPr>
                        <m:t>í </m:t>
                      </m:r>
                      <m:r>
                        <m:rPr>
                          <m:sty m:val="p"/>
                        </m:rPr>
                        <a:rPr lang="es-MX" sz="2000" i="0">
                          <a:latin typeface="Cambria Math" panose="02040503050406030204" pitchFamily="18" charset="0"/>
                          <a:ea typeface="Cambria Math" panose="02040503050406030204" pitchFamily="18" charset="0"/>
                        </a:rPr>
                        <m:t>mi</m:t>
                      </m:r>
                      <m:r>
                        <a:rPr lang="es-MX" sz="2000" i="0">
                          <a:latin typeface="Cambria Math" panose="02040503050406030204" pitchFamily="18" charset="0"/>
                          <a:ea typeface="Cambria Math" panose="02040503050406030204" pitchFamily="18" charset="0"/>
                        </a:rPr>
                        <m:t> </m:t>
                      </m:r>
                      <m:r>
                        <m:rPr>
                          <m:sty m:val="p"/>
                        </m:rPr>
                        <a:rPr lang="es-MX" sz="2000" i="0">
                          <a:latin typeface="Cambria Math" panose="02040503050406030204" pitchFamily="18" charset="0"/>
                          <a:ea typeface="Cambria Math" panose="02040503050406030204" pitchFamily="18" charset="0"/>
                        </a:rPr>
                        <m:t>sombrero</m:t>
                      </m:r>
                    </m:oMath>
                  </m:oMathPara>
                </a14:m>
                <a:endParaRPr lang="es-MX" sz="2000" b="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0" smtClean="0">
                          <a:latin typeface="Cambria Math" panose="02040503050406030204" pitchFamily="18" charset="0"/>
                          <a:ea typeface="Cambria Math" panose="02040503050406030204" pitchFamily="18" charset="0"/>
                        </a:rPr>
                        <m:t>    </m:t>
                      </m:r>
                      <m:r>
                        <m:rPr>
                          <m:sty m:val="p"/>
                        </m:rPr>
                        <a:rPr lang="es-MX" sz="2000" b="0" i="0" smtClean="0">
                          <a:latin typeface="Cambria Math" panose="02040503050406030204" pitchFamily="18" charset="0"/>
                          <a:ea typeface="Cambria Math" panose="02040503050406030204" pitchFamily="18" charset="0"/>
                        </a:rPr>
                        <m:t>Me</m:t>
                      </m:r>
                      <m:r>
                        <a:rPr lang="es-MX" sz="2000" i="0">
                          <a:latin typeface="Cambria Math" panose="02040503050406030204" pitchFamily="18" charset="0"/>
                          <a:ea typeface="Cambria Math" panose="02040503050406030204" pitchFamily="18" charset="0"/>
                        </a:rPr>
                        <m:t> </m:t>
                      </m:r>
                      <m:r>
                        <m:rPr>
                          <m:sty m:val="p"/>
                        </m:rPr>
                        <a:rPr lang="es-MX" sz="2000" i="0">
                          <a:latin typeface="Cambria Math" panose="02040503050406030204" pitchFamily="18" charset="0"/>
                          <a:ea typeface="Cambria Math" panose="02040503050406030204" pitchFamily="18" charset="0"/>
                        </a:rPr>
                        <m:t>com</m:t>
                      </m:r>
                      <m:r>
                        <a:rPr lang="es-MX" sz="2000" i="0">
                          <a:latin typeface="Cambria Math" panose="02040503050406030204" pitchFamily="18" charset="0"/>
                          <a:ea typeface="Cambria Math" panose="02040503050406030204" pitchFamily="18" charset="0"/>
                        </a:rPr>
                        <m:t>í </m:t>
                      </m:r>
                      <m:r>
                        <m:rPr>
                          <m:sty m:val="p"/>
                        </m:rPr>
                        <a:rPr lang="es-MX" sz="2000" i="0">
                          <a:latin typeface="Cambria Math" panose="02040503050406030204" pitchFamily="18" charset="0"/>
                          <a:ea typeface="Cambria Math" panose="02040503050406030204" pitchFamily="18" charset="0"/>
                        </a:rPr>
                        <m:t>mi</m:t>
                      </m:r>
                      <m:r>
                        <a:rPr lang="es-MX" sz="2000" i="0">
                          <a:latin typeface="Cambria Math" panose="02040503050406030204" pitchFamily="18" charset="0"/>
                          <a:ea typeface="Cambria Math" panose="02040503050406030204" pitchFamily="18" charset="0"/>
                        </a:rPr>
                        <m:t> </m:t>
                      </m:r>
                      <m:r>
                        <m:rPr>
                          <m:sty m:val="p"/>
                        </m:rPr>
                        <a:rPr lang="es-MX" sz="2000" i="0">
                          <a:latin typeface="Cambria Math" panose="02040503050406030204" pitchFamily="18" charset="0"/>
                          <a:ea typeface="Cambria Math" panose="02040503050406030204" pitchFamily="18" charset="0"/>
                        </a:rPr>
                        <m:t>sombrero</m:t>
                      </m:r>
                    </m:oMath>
                  </m:oMathPara>
                </a14:m>
                <a:endParaRPr lang="es-MX" sz="2000" b="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CO" sz="2000" i="0" smtClean="0">
                          <a:latin typeface="Cambria Math" panose="02040503050406030204" pitchFamily="18" charset="0"/>
                          <a:ea typeface="Cambria Math" panose="02040503050406030204" pitchFamily="18" charset="0"/>
                        </a:rPr>
                        <m:t>∴</m:t>
                      </m:r>
                      <m:r>
                        <a:rPr lang="es-MX" sz="2000" b="0" i="0" smtClean="0">
                          <a:latin typeface="Cambria Math" panose="02040503050406030204" pitchFamily="18" charset="0"/>
                          <a:ea typeface="Cambria Math" panose="02040503050406030204" pitchFamily="18" charset="0"/>
                        </a:rPr>
                        <m:t> 2=3</m:t>
                      </m:r>
                    </m:oMath>
                  </m:oMathPara>
                </a14:m>
                <a:endParaRPr lang="es-CO" sz="2000" dirty="0"/>
              </a:p>
            </p:txBody>
          </p:sp>
        </mc:Choice>
        <mc:Fallback>
          <p:sp>
            <p:nvSpPr>
              <p:cNvPr id="30" name="CuadroTexto 29">
                <a:extLst>
                  <a:ext uri="{FF2B5EF4-FFF2-40B4-BE49-F238E27FC236}">
                    <a16:creationId xmlns:a16="http://schemas.microsoft.com/office/drawing/2014/main" id="{CAA410C4-886A-483B-A7A8-E1432B0DD4FB}"/>
                  </a:ext>
                </a:extLst>
              </p:cNvPr>
              <p:cNvSpPr txBox="1">
                <a:spLocks noRot="1" noChangeAspect="1" noMove="1" noResize="1" noEditPoints="1" noAdjustHandles="1" noChangeArrowheads="1" noChangeShapeType="1" noTextEdit="1"/>
              </p:cNvSpPr>
              <p:nvPr/>
            </p:nvSpPr>
            <p:spPr>
              <a:xfrm>
                <a:off x="3473721" y="1671274"/>
                <a:ext cx="5551388" cy="1015663"/>
              </a:xfrm>
              <a:prstGeom prst="rect">
                <a:avLst/>
              </a:prstGeom>
              <a:blipFill>
                <a:blip r:embed="rId3"/>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2882687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49" y="96038"/>
            <a:ext cx="10852563"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Validación de argumentos – Tablas de verdad</a:t>
            </a:r>
            <a:endParaRPr dirty="0"/>
          </a:p>
        </p:txBody>
      </p:sp>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B918DD6F-02FC-47A3-843B-D4B4F54A55E4}"/>
                  </a:ext>
                </a:extLst>
              </p:cNvPr>
              <p:cNvSpPr txBox="1"/>
              <p:nvPr/>
            </p:nvSpPr>
            <p:spPr>
              <a:xfrm>
                <a:off x="511795" y="5355283"/>
                <a:ext cx="11257418" cy="1323439"/>
              </a:xfrm>
              <a:prstGeom prst="rect">
                <a:avLst/>
              </a:prstGeom>
              <a:solidFill>
                <a:schemeClr val="bg1"/>
              </a:solidFill>
            </p:spPr>
            <p:txBody>
              <a:bodyPr wrap="square" rtlCol="0">
                <a:spAutoFit/>
              </a:bodyPr>
              <a:lstStyle/>
              <a:p>
                <a:r>
                  <a:rPr lang="es-MX" sz="1600" b="1" dirty="0">
                    <a:latin typeface="Roboto" panose="02000000000000000000" pitchFamily="2" charset="0"/>
                    <a:ea typeface="Roboto" panose="02000000000000000000" pitchFamily="2" charset="0"/>
                  </a:rPr>
                  <a:t>En palabras</a:t>
                </a:r>
                <a:r>
                  <a:rPr lang="es-MX" sz="1600" dirty="0">
                    <a:latin typeface="Roboto" panose="02000000000000000000" pitchFamily="2" charset="0"/>
                    <a:ea typeface="Roboto" panose="02000000000000000000" pitchFamily="2" charset="0"/>
                  </a:rPr>
                  <a:t>: Si </a:t>
                </a:r>
                <a:r>
                  <a:rPr lang="es-MX" sz="1600" b="1" dirty="0">
                    <a:latin typeface="Roboto" panose="02000000000000000000" pitchFamily="2" charset="0"/>
                    <a:ea typeface="Roboto" panose="02000000000000000000" pitchFamily="2" charset="0"/>
                  </a:rPr>
                  <a:t>el argumento es válido</a:t>
                </a:r>
                <a:r>
                  <a:rPr lang="es-MX" sz="1600" dirty="0">
                    <a:latin typeface="Roboto" panose="02000000000000000000" pitchFamily="2" charset="0"/>
                    <a:ea typeface="Roboto" panose="02000000000000000000" pitchFamily="2" charset="0"/>
                  </a:rPr>
                  <a:t>, entonces siempre que </a:t>
                </a:r>
                <a14:m>
                  <m:oMath xmlns:m="http://schemas.openxmlformats.org/officeDocument/2006/math">
                    <m:r>
                      <a:rPr lang="es-MX" sz="1600" b="1" i="1" smtClean="0">
                        <a:latin typeface="Cambria Math" panose="02040503050406030204" pitchFamily="18" charset="0"/>
                      </a:rPr>
                      <m:t>𝒑</m:t>
                    </m:r>
                    <m:r>
                      <a:rPr lang="es-MX" sz="1600" b="1" i="1" smtClean="0">
                        <a:latin typeface="Cambria Math" panose="02040503050406030204" pitchFamily="18" charset="0"/>
                      </a:rPr>
                      <m:t>→</m:t>
                    </m:r>
                    <m:r>
                      <a:rPr lang="es-MX" sz="1600" b="1" i="1" smtClean="0">
                        <a:latin typeface="Cambria Math" panose="02040503050406030204" pitchFamily="18" charset="0"/>
                      </a:rPr>
                      <m:t>𝒒</m:t>
                    </m:r>
                  </m:oMath>
                </a14:m>
                <a:r>
                  <a:rPr lang="es-MX" sz="1600" b="1" dirty="0">
                    <a:ea typeface="Roboto" panose="02000000000000000000" pitchFamily="2" charset="0"/>
                  </a:rPr>
                  <a:t> </a:t>
                </a:r>
                <a:r>
                  <a:rPr lang="es-MX" sz="1600" dirty="0">
                    <a:latin typeface="Roboto" panose="02000000000000000000" pitchFamily="2" charset="0"/>
                    <a:ea typeface="Roboto" panose="02000000000000000000" pitchFamily="2" charset="0"/>
                  </a:rPr>
                  <a:t>y </a:t>
                </a:r>
                <a14:m>
                  <m:oMath xmlns:m="http://schemas.openxmlformats.org/officeDocument/2006/math">
                    <m:r>
                      <a:rPr lang="es-MX" sz="1600" b="1" i="1">
                        <a:latin typeface="Cambria Math" panose="02040503050406030204" pitchFamily="18" charset="0"/>
                      </a:rPr>
                      <m:t>𝒒</m:t>
                    </m:r>
                  </m:oMath>
                </a14:m>
                <a:r>
                  <a:rPr lang="es-MX" sz="1600" dirty="0">
                    <a:latin typeface="Roboto" panose="02000000000000000000" pitchFamily="2" charset="0"/>
                    <a:ea typeface="Roboto" panose="02000000000000000000" pitchFamily="2" charset="0"/>
                  </a:rPr>
                  <a:t> sean ciertas ambas, </a:t>
                </a:r>
                <a14:m>
                  <m:oMath xmlns:m="http://schemas.openxmlformats.org/officeDocument/2006/math">
                    <m:r>
                      <a:rPr lang="es-MX" sz="1600" b="1" i="1">
                        <a:latin typeface="Cambria Math" panose="02040503050406030204" pitchFamily="18" charset="0"/>
                      </a:rPr>
                      <m:t>𝒑</m:t>
                    </m:r>
                  </m:oMath>
                </a14:m>
                <a:r>
                  <a:rPr lang="es-MX" sz="1600" dirty="0">
                    <a:latin typeface="Roboto" panose="02000000000000000000" pitchFamily="2" charset="0"/>
                    <a:ea typeface="Roboto" panose="02000000000000000000" pitchFamily="2" charset="0"/>
                  </a:rPr>
                  <a:t> también</a:t>
                </a:r>
              </a:p>
              <a:p>
                <a:r>
                  <a:rPr lang="es-MX" sz="1600" dirty="0">
                    <a:latin typeface="Roboto" panose="02000000000000000000" pitchFamily="2" charset="0"/>
                    <a:ea typeface="Roboto" panose="02000000000000000000" pitchFamily="2" charset="0"/>
                  </a:rPr>
                  <a:t>debe ser cierta. </a:t>
                </a:r>
              </a:p>
              <a:p>
                <a:endParaRPr lang="es-MX" sz="1600" dirty="0">
                  <a:latin typeface="Roboto" panose="02000000000000000000" pitchFamily="2" charset="0"/>
                  <a:ea typeface="Roboto" panose="02000000000000000000" pitchFamily="2" charset="0"/>
                </a:endParaRPr>
              </a:p>
              <a:p>
                <a:r>
                  <a:rPr lang="es-MX" sz="1600" dirty="0">
                    <a:latin typeface="Roboto" panose="02000000000000000000" pitchFamily="2" charset="0"/>
                    <a:ea typeface="Roboto" panose="02000000000000000000" pitchFamily="2" charset="0"/>
                  </a:rPr>
                  <a:t>Al analizar las premisas, si se supone que </a:t>
                </a:r>
                <a14:m>
                  <m:oMath xmlns:m="http://schemas.openxmlformats.org/officeDocument/2006/math">
                    <m:r>
                      <a:rPr lang="es-MX" sz="1600" b="1" i="1" smtClean="0">
                        <a:latin typeface="Cambria Math" panose="02040503050406030204" pitchFamily="18" charset="0"/>
                      </a:rPr>
                      <m:t>𝒑</m:t>
                    </m:r>
                    <m:r>
                      <a:rPr lang="es-MX" sz="1600" b="1" i="1" smtClean="0">
                        <a:latin typeface="Cambria Math" panose="02040503050406030204" pitchFamily="18" charset="0"/>
                      </a:rPr>
                      <m:t>→</m:t>
                    </m:r>
                    <m:r>
                      <a:rPr lang="es-MX" sz="1600" b="1" i="1" smtClean="0">
                        <a:latin typeface="Cambria Math" panose="02040503050406030204" pitchFamily="18" charset="0"/>
                      </a:rPr>
                      <m:t>𝒒</m:t>
                    </m:r>
                  </m:oMath>
                </a14:m>
                <a:r>
                  <a:rPr lang="es-MX" sz="1600" b="1" dirty="0">
                    <a:ea typeface="Roboto" panose="02000000000000000000" pitchFamily="2" charset="0"/>
                  </a:rPr>
                  <a:t> </a:t>
                </a:r>
                <a:r>
                  <a:rPr lang="es-MX" sz="1600" dirty="0">
                    <a:latin typeface="Roboto" panose="02000000000000000000" pitchFamily="2" charset="0"/>
                    <a:ea typeface="Roboto" panose="02000000000000000000" pitchFamily="2" charset="0"/>
                  </a:rPr>
                  <a:t>y </a:t>
                </a:r>
                <a14:m>
                  <m:oMath xmlns:m="http://schemas.openxmlformats.org/officeDocument/2006/math">
                    <m:r>
                      <a:rPr lang="es-MX" sz="1600" b="1" i="1">
                        <a:latin typeface="Cambria Math" panose="02040503050406030204" pitchFamily="18" charset="0"/>
                      </a:rPr>
                      <m:t>𝒒</m:t>
                    </m:r>
                  </m:oMath>
                </a14:m>
                <a:r>
                  <a:rPr lang="es-MX" sz="1600" dirty="0">
                    <a:latin typeface="Roboto" panose="02000000000000000000" pitchFamily="2" charset="0"/>
                    <a:ea typeface="Roboto" panose="02000000000000000000" pitchFamily="2" charset="0"/>
                  </a:rPr>
                  <a:t> son verdaderas, esto es posible si </a:t>
                </a:r>
                <a14:m>
                  <m:oMath xmlns:m="http://schemas.openxmlformats.org/officeDocument/2006/math">
                    <m:r>
                      <a:rPr lang="es-MX" sz="1600" b="1" i="1">
                        <a:latin typeface="Cambria Math" panose="02040503050406030204" pitchFamily="18" charset="0"/>
                      </a:rPr>
                      <m:t>𝒑</m:t>
                    </m:r>
                  </m:oMath>
                </a14:m>
                <a:r>
                  <a:rPr lang="es-MX" sz="1600" dirty="0">
                    <a:latin typeface="Roboto" panose="02000000000000000000" pitchFamily="2" charset="0"/>
                    <a:ea typeface="Roboto" panose="02000000000000000000" pitchFamily="2" charset="0"/>
                  </a:rPr>
                  <a:t> es falsa y </a:t>
                </a:r>
                <a14:m>
                  <m:oMath xmlns:m="http://schemas.openxmlformats.org/officeDocument/2006/math">
                    <m:r>
                      <a:rPr lang="es-MX" sz="1600" b="1" i="1" smtClean="0">
                        <a:latin typeface="Cambria Math" panose="02040503050406030204" pitchFamily="18" charset="0"/>
                      </a:rPr>
                      <m:t>𝒒</m:t>
                    </m:r>
                  </m:oMath>
                </a14:m>
                <a:r>
                  <a:rPr lang="es-MX" sz="1600" dirty="0">
                    <a:latin typeface="Roboto" panose="02000000000000000000" pitchFamily="2" charset="0"/>
                    <a:ea typeface="Roboto" panose="02000000000000000000" pitchFamily="2" charset="0"/>
                  </a:rPr>
                  <a:t> es verdadera. En este caso, </a:t>
                </a:r>
                <a14:m>
                  <m:oMath xmlns:m="http://schemas.openxmlformats.org/officeDocument/2006/math">
                    <m:r>
                      <a:rPr lang="es-MX" sz="1600" b="1" i="1">
                        <a:latin typeface="Cambria Math" panose="02040503050406030204" pitchFamily="18" charset="0"/>
                      </a:rPr>
                      <m:t>𝒑</m:t>
                    </m:r>
                  </m:oMath>
                </a14:m>
                <a:r>
                  <a:rPr lang="es-MX" sz="1600" dirty="0">
                    <a:latin typeface="Roboto" panose="02000000000000000000" pitchFamily="2" charset="0"/>
                    <a:ea typeface="Roboto" panose="02000000000000000000" pitchFamily="2" charset="0"/>
                  </a:rPr>
                  <a:t> </a:t>
                </a:r>
                <a:r>
                  <a:rPr lang="es-MX" sz="1600" u="sng" dirty="0">
                    <a:latin typeface="Roboto" panose="02000000000000000000" pitchFamily="2" charset="0"/>
                    <a:ea typeface="Roboto" panose="02000000000000000000" pitchFamily="2" charset="0"/>
                  </a:rPr>
                  <a:t>no es verdadera</a:t>
                </a:r>
                <a:r>
                  <a:rPr lang="es-MX" sz="1600" dirty="0">
                    <a:latin typeface="Roboto" panose="02000000000000000000" pitchFamily="2" charset="0"/>
                    <a:ea typeface="Roboto" panose="02000000000000000000" pitchFamily="2" charset="0"/>
                  </a:rPr>
                  <a:t>; así, el </a:t>
                </a:r>
                <a:r>
                  <a:rPr lang="es-MX" sz="1600" b="1" dirty="0">
                    <a:latin typeface="Roboto" panose="02000000000000000000" pitchFamily="2" charset="0"/>
                    <a:ea typeface="Roboto" panose="02000000000000000000" pitchFamily="2" charset="0"/>
                  </a:rPr>
                  <a:t>argumento es inválido</a:t>
                </a:r>
                <a:r>
                  <a:rPr lang="es-MX" sz="1600" dirty="0">
                    <a:latin typeface="Roboto" panose="02000000000000000000" pitchFamily="2" charset="0"/>
                    <a:ea typeface="Roboto" panose="02000000000000000000" pitchFamily="2" charset="0"/>
                  </a:rPr>
                  <a:t>. </a:t>
                </a:r>
              </a:p>
            </p:txBody>
          </p:sp>
        </mc:Choice>
        <mc:Fallback>
          <p:sp>
            <p:nvSpPr>
              <p:cNvPr id="28" name="CuadroTexto 27">
                <a:extLst>
                  <a:ext uri="{FF2B5EF4-FFF2-40B4-BE49-F238E27FC236}">
                    <a16:creationId xmlns:a16="http://schemas.microsoft.com/office/drawing/2014/main" id="{B918DD6F-02FC-47A3-843B-D4B4F54A55E4}"/>
                  </a:ext>
                </a:extLst>
              </p:cNvPr>
              <p:cNvSpPr txBox="1">
                <a:spLocks noRot="1" noChangeAspect="1" noMove="1" noResize="1" noEditPoints="1" noAdjustHandles="1" noChangeArrowheads="1" noChangeShapeType="1" noTextEdit="1"/>
              </p:cNvSpPr>
              <p:nvPr/>
            </p:nvSpPr>
            <p:spPr>
              <a:xfrm>
                <a:off x="511795" y="5355283"/>
                <a:ext cx="11257418" cy="1323439"/>
              </a:xfrm>
              <a:prstGeom prst="rect">
                <a:avLst/>
              </a:prstGeom>
              <a:blipFill>
                <a:blip r:embed="rId3"/>
                <a:stretch>
                  <a:fillRect l="-325" t="-1835" r="-162" b="-4587"/>
                </a:stretch>
              </a:blipFill>
            </p:spPr>
            <p:txBody>
              <a:bodyPr/>
              <a:lstStyle/>
              <a:p>
                <a:r>
                  <a:rPr lang="es-CO">
                    <a:noFill/>
                  </a:rPr>
                  <a:t> </a:t>
                </a:r>
              </a:p>
            </p:txBody>
          </p:sp>
        </mc:Fallback>
      </mc:AlternateContent>
      <p:grpSp>
        <p:nvGrpSpPr>
          <p:cNvPr id="22" name="Grupo 21">
            <a:extLst>
              <a:ext uri="{FF2B5EF4-FFF2-40B4-BE49-F238E27FC236}">
                <a16:creationId xmlns:a16="http://schemas.microsoft.com/office/drawing/2014/main" id="{8D8E221E-7DE9-4596-872C-AED4A0036BF2}"/>
              </a:ext>
            </a:extLst>
          </p:cNvPr>
          <p:cNvGrpSpPr/>
          <p:nvPr/>
        </p:nvGrpSpPr>
        <p:grpSpPr>
          <a:xfrm>
            <a:off x="4790861" y="3162517"/>
            <a:ext cx="2120252" cy="923330"/>
            <a:chOff x="2082320" y="4999864"/>
            <a:chExt cx="2120252" cy="923330"/>
          </a:xfrm>
        </p:grpSpPr>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6CC719B-ED7D-43F4-BCF3-52C6402DADAC}"/>
                    </a:ext>
                  </a:extLst>
                </p:cNvPr>
                <p:cNvSpPr txBox="1"/>
                <p:nvPr/>
              </p:nvSpPr>
              <p:spPr>
                <a:xfrm>
                  <a:off x="2082320" y="4999864"/>
                  <a:ext cx="2120252" cy="923330"/>
                </a:xfrm>
                <a:prstGeom prst="rect">
                  <a:avLst/>
                </a:prstGeom>
                <a:solidFill>
                  <a:schemeClr val="bg1">
                    <a:lumMod val="95000"/>
                  </a:schemeClr>
                </a:solidFill>
              </p:spPr>
              <p:txBody>
                <a:bodyPr wrap="square">
                  <a:spAutoFit/>
                </a:bodyPr>
                <a:lstStyle/>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CO" sz="180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𝑝</m:t>
                        </m:r>
                      </m:oMath>
                    </m:oMathPara>
                  </a14:m>
                  <a:endParaRPr lang="es-CO" sz="1800" i="1" dirty="0"/>
                </a:p>
              </p:txBody>
            </p:sp>
          </mc:Choice>
          <mc:Fallback xmlns="">
            <p:sp>
              <p:nvSpPr>
                <p:cNvPr id="17" name="CuadroTexto 16">
                  <a:extLst>
                    <a:ext uri="{FF2B5EF4-FFF2-40B4-BE49-F238E27FC236}">
                      <a16:creationId xmlns:a16="http://schemas.microsoft.com/office/drawing/2014/main" id="{66CC719B-ED7D-43F4-BCF3-52C6402DADAC}"/>
                    </a:ext>
                  </a:extLst>
                </p:cNvPr>
                <p:cNvSpPr txBox="1">
                  <a:spLocks noRot="1" noChangeAspect="1" noMove="1" noResize="1" noEditPoints="1" noAdjustHandles="1" noChangeArrowheads="1" noChangeShapeType="1" noTextEdit="1"/>
                </p:cNvSpPr>
                <p:nvPr/>
              </p:nvSpPr>
              <p:spPr>
                <a:xfrm>
                  <a:off x="2082320" y="4999864"/>
                  <a:ext cx="2120252" cy="923330"/>
                </a:xfrm>
                <a:prstGeom prst="rect">
                  <a:avLst/>
                </a:prstGeom>
                <a:blipFill>
                  <a:blip r:embed="rId4"/>
                  <a:stretch>
                    <a:fillRect b="-2649"/>
                  </a:stretch>
                </a:blipFill>
              </p:spPr>
              <p:txBody>
                <a:bodyPr/>
                <a:lstStyle/>
                <a:p>
                  <a:r>
                    <a:rPr lang="es-CO">
                      <a:noFill/>
                    </a:rPr>
                    <a:t> </a:t>
                  </a:r>
                </a:p>
              </p:txBody>
            </p:sp>
          </mc:Fallback>
        </mc:AlternateContent>
        <p:cxnSp>
          <p:nvCxnSpPr>
            <p:cNvPr id="18" name="Conector recto 17">
              <a:extLst>
                <a:ext uri="{FF2B5EF4-FFF2-40B4-BE49-F238E27FC236}">
                  <a16:creationId xmlns:a16="http://schemas.microsoft.com/office/drawing/2014/main" id="{4B776D52-99BA-49A3-8C03-9EF8968045B5}"/>
                </a:ext>
              </a:extLst>
            </p:cNvPr>
            <p:cNvCxnSpPr>
              <a:cxnSpLocks/>
            </p:cNvCxnSpPr>
            <p:nvPr/>
          </p:nvCxnSpPr>
          <p:spPr>
            <a:xfrm>
              <a:off x="2082320" y="5658658"/>
              <a:ext cx="2110763" cy="0"/>
            </a:xfrm>
            <a:prstGeom prst="line">
              <a:avLst/>
            </a:prstGeom>
            <a:solidFill>
              <a:schemeClr val="bg1">
                <a:lumMod val="95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EC611098-794B-499F-9EA2-2A03D2213821}"/>
                  </a:ext>
                </a:extLst>
              </p:cNvPr>
              <p:cNvSpPr txBox="1"/>
              <p:nvPr/>
            </p:nvSpPr>
            <p:spPr>
              <a:xfrm>
                <a:off x="4790861" y="4743456"/>
                <a:ext cx="2120252" cy="369332"/>
              </a:xfrm>
              <a:prstGeom prst="rect">
                <a:avLst/>
              </a:prstGeom>
              <a:solidFill>
                <a:schemeClr val="bg1">
                  <a:lumMod val="95000"/>
                </a:schemeClr>
              </a:solidFill>
            </p:spPr>
            <p:txBody>
              <a:bodyPr wrap="square">
                <a:spAutoFit/>
              </a:bodyPr>
              <a:lstStyle/>
              <a:p>
                <a:pPr/>
                <a14:m>
                  <m:oMathPara xmlns:m="http://schemas.openxmlformats.org/officeDocument/2006/math">
                    <m:oMathParaPr>
                      <m:jc m:val="center"/>
                    </m:oMathParaPr>
                    <m:oMath xmlns:m="http://schemas.openxmlformats.org/officeDocument/2006/math">
                      <m:d>
                        <m:dPr>
                          <m:ctrlPr>
                            <a:rPr lang="es-MX" sz="1800" i="1" smtClean="0">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𝑝</m:t>
                      </m:r>
                    </m:oMath>
                  </m:oMathPara>
                </a14:m>
                <a:endParaRPr lang="es-MX" sz="1800" b="0" i="0" dirty="0">
                  <a:latin typeface="Cambria Math" panose="02040503050406030204" pitchFamily="18" charset="0"/>
                  <a:ea typeface="Cambria Math" panose="02040503050406030204" pitchFamily="18" charset="0"/>
                </a:endParaRPr>
              </a:p>
            </p:txBody>
          </p:sp>
        </mc:Choice>
        <mc:Fallback>
          <p:sp>
            <p:nvSpPr>
              <p:cNvPr id="21" name="CuadroTexto 20">
                <a:extLst>
                  <a:ext uri="{FF2B5EF4-FFF2-40B4-BE49-F238E27FC236}">
                    <a16:creationId xmlns:a16="http://schemas.microsoft.com/office/drawing/2014/main" id="{EC611098-794B-499F-9EA2-2A03D2213821}"/>
                  </a:ext>
                </a:extLst>
              </p:cNvPr>
              <p:cNvSpPr txBox="1">
                <a:spLocks noRot="1" noChangeAspect="1" noMove="1" noResize="1" noEditPoints="1" noAdjustHandles="1" noChangeArrowheads="1" noChangeShapeType="1" noTextEdit="1"/>
              </p:cNvSpPr>
              <p:nvPr/>
            </p:nvSpPr>
            <p:spPr>
              <a:xfrm>
                <a:off x="4790861" y="4743456"/>
                <a:ext cx="2120252" cy="369332"/>
              </a:xfrm>
              <a:prstGeom prst="rect">
                <a:avLst/>
              </a:prstGeom>
              <a:blipFill>
                <a:blip r:embed="rId5"/>
                <a:stretch>
                  <a:fillRect b="-8197"/>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08E46D20-7A7E-42FC-AF69-1ACA7E1CC264}"/>
                  </a:ext>
                </a:extLst>
              </p:cNvPr>
              <p:cNvSpPr txBox="1"/>
              <p:nvPr/>
            </p:nvSpPr>
            <p:spPr>
              <a:xfrm>
                <a:off x="4790861" y="4229710"/>
                <a:ext cx="2120252" cy="369332"/>
              </a:xfrm>
              <a:prstGeom prst="rect">
                <a:avLst/>
              </a:prstGeom>
              <a:solidFill>
                <a:schemeClr val="bg1">
                  <a:lumMod val="95000"/>
                </a:schemeClr>
              </a:solidFill>
            </p:spPr>
            <p:txBody>
              <a:bodyPr wrap="square">
                <a:spAutoFit/>
              </a:bodyPr>
              <a:lstStyle/>
              <a:p>
                <a:pPr/>
                <a14:m>
                  <m:oMathPara xmlns:m="http://schemas.openxmlformats.org/officeDocument/2006/math">
                    <m:oMathParaPr>
                      <m:jc m:val="center"/>
                    </m:oMathParaPr>
                    <m:oMath xmlns:m="http://schemas.openxmlformats.org/officeDocument/2006/math">
                      <m:d>
                        <m:dPr>
                          <m:begChr m:val="["/>
                          <m:endChr m:val="]"/>
                          <m:ctrlPr>
                            <a:rPr lang="es-MX" sz="1800" b="0" i="1" smtClean="0">
                              <a:latin typeface="Cambria Math" panose="02040503050406030204" pitchFamily="18" charset="0"/>
                              <a:ea typeface="Cambria Math" panose="02040503050406030204" pitchFamily="18" charset="0"/>
                            </a:rPr>
                          </m:ctrlPr>
                        </m:dPr>
                        <m:e>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𝑝</m:t>
                      </m:r>
                    </m:oMath>
                  </m:oMathPara>
                </a14:m>
                <a:endParaRPr lang="es-MX" sz="1800" b="0" i="0" dirty="0">
                  <a:latin typeface="Cambria Math" panose="02040503050406030204" pitchFamily="18" charset="0"/>
                  <a:ea typeface="Cambria Math" panose="02040503050406030204" pitchFamily="18" charset="0"/>
                </a:endParaRPr>
              </a:p>
            </p:txBody>
          </p:sp>
        </mc:Choice>
        <mc:Fallback>
          <p:sp>
            <p:nvSpPr>
              <p:cNvPr id="20" name="CuadroTexto 19">
                <a:extLst>
                  <a:ext uri="{FF2B5EF4-FFF2-40B4-BE49-F238E27FC236}">
                    <a16:creationId xmlns:a16="http://schemas.microsoft.com/office/drawing/2014/main" id="{08E46D20-7A7E-42FC-AF69-1ACA7E1CC264}"/>
                  </a:ext>
                </a:extLst>
              </p:cNvPr>
              <p:cNvSpPr txBox="1">
                <a:spLocks noRot="1" noChangeAspect="1" noMove="1" noResize="1" noEditPoints="1" noAdjustHandles="1" noChangeArrowheads="1" noChangeShapeType="1" noTextEdit="1"/>
              </p:cNvSpPr>
              <p:nvPr/>
            </p:nvSpPr>
            <p:spPr>
              <a:xfrm>
                <a:off x="4790861" y="4229710"/>
                <a:ext cx="2120252" cy="369332"/>
              </a:xfrm>
              <a:prstGeom prst="rect">
                <a:avLst/>
              </a:prstGeom>
              <a:blipFill>
                <a:blip r:embed="rId6"/>
                <a:stretch>
                  <a:fillRect b="-8333"/>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30" name="CuadroTexto 29">
                <a:extLst>
                  <a:ext uri="{FF2B5EF4-FFF2-40B4-BE49-F238E27FC236}">
                    <a16:creationId xmlns:a16="http://schemas.microsoft.com/office/drawing/2014/main" id="{CAA410C4-886A-483B-A7A8-E1432B0DD4FB}"/>
                  </a:ext>
                </a:extLst>
              </p:cNvPr>
              <p:cNvSpPr txBox="1"/>
              <p:nvPr/>
            </p:nvSpPr>
            <p:spPr>
              <a:xfrm>
                <a:off x="577437" y="1404084"/>
                <a:ext cx="4884792" cy="1200329"/>
              </a:xfrm>
              <a:prstGeom prst="rect">
                <a:avLst/>
              </a:prstGeom>
              <a:noFill/>
            </p:spPr>
            <p:txBody>
              <a:bodyPr wrap="square">
                <a:spAutoFit/>
              </a:bodyPr>
              <a:lstStyle/>
              <a:p>
                <a:r>
                  <a:rPr lang="es-MX" sz="1800" b="1" dirty="0">
                    <a:ea typeface="Roboto" panose="02000000000000000000" pitchFamily="2" charset="0"/>
                  </a:rPr>
                  <a:t>Enunciado:</a:t>
                </a:r>
                <a:endParaRPr lang="es-MX" sz="1800" b="0" i="1"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m:rPr>
                          <m:sty m:val="p"/>
                        </m:rPr>
                        <a:rPr lang="es-MX" sz="1800" i="0">
                          <a:latin typeface="Cambria Math" panose="02040503050406030204" pitchFamily="18" charset="0"/>
                          <a:ea typeface="Cambria Math" panose="02040503050406030204" pitchFamily="18" charset="0"/>
                        </a:rPr>
                        <m:t>Si</m:t>
                      </m:r>
                      <m:r>
                        <a:rPr lang="es-MX" sz="1800" i="0">
                          <a:latin typeface="Cambria Math" panose="02040503050406030204" pitchFamily="18" charset="0"/>
                          <a:ea typeface="Cambria Math" panose="02040503050406030204" pitchFamily="18" charset="0"/>
                        </a:rPr>
                        <m:t> 2 = 3, </m:t>
                      </m:r>
                      <m:r>
                        <m:rPr>
                          <m:sty m:val="p"/>
                        </m:rPr>
                        <a:rPr lang="es-MX" sz="1800" i="0">
                          <a:latin typeface="Cambria Math" panose="02040503050406030204" pitchFamily="18" charset="0"/>
                          <a:ea typeface="Cambria Math" panose="02040503050406030204" pitchFamily="18" charset="0"/>
                        </a:rPr>
                        <m:t>entonces</m:t>
                      </m:r>
                      <m:r>
                        <a:rPr lang="es-MX" sz="1800" i="0">
                          <a:latin typeface="Cambria Math" panose="02040503050406030204" pitchFamily="18" charset="0"/>
                          <a:ea typeface="Cambria Math" panose="02040503050406030204" pitchFamily="18" charset="0"/>
                        </a:rPr>
                        <m:t> </m:t>
                      </m:r>
                      <m:r>
                        <m:rPr>
                          <m:sty m:val="p"/>
                        </m:rPr>
                        <a:rPr lang="es-MX" sz="1800" i="0">
                          <a:latin typeface="Cambria Math" panose="02040503050406030204" pitchFamily="18" charset="0"/>
                          <a:ea typeface="Cambria Math" panose="02040503050406030204" pitchFamily="18" charset="0"/>
                        </a:rPr>
                        <m:t>yo</m:t>
                      </m:r>
                      <m:r>
                        <a:rPr lang="es-MX" sz="1800" i="0">
                          <a:latin typeface="Cambria Math" panose="02040503050406030204" pitchFamily="18" charset="0"/>
                          <a:ea typeface="Cambria Math" panose="02040503050406030204" pitchFamily="18" charset="0"/>
                        </a:rPr>
                        <m:t> </m:t>
                      </m:r>
                      <m:r>
                        <m:rPr>
                          <m:sty m:val="p"/>
                        </m:rPr>
                        <a:rPr lang="es-MX" sz="1800" i="0">
                          <a:latin typeface="Cambria Math" panose="02040503050406030204" pitchFamily="18" charset="0"/>
                          <a:ea typeface="Cambria Math" panose="02040503050406030204" pitchFamily="18" charset="0"/>
                        </a:rPr>
                        <m:t>me</m:t>
                      </m:r>
                      <m:r>
                        <a:rPr lang="es-MX" sz="1800" i="0">
                          <a:latin typeface="Cambria Math" panose="02040503050406030204" pitchFamily="18" charset="0"/>
                          <a:ea typeface="Cambria Math" panose="02040503050406030204" pitchFamily="18" charset="0"/>
                        </a:rPr>
                        <m:t> </m:t>
                      </m:r>
                      <m:r>
                        <m:rPr>
                          <m:sty m:val="p"/>
                        </m:rPr>
                        <a:rPr lang="es-MX" sz="1800" i="0">
                          <a:latin typeface="Cambria Math" panose="02040503050406030204" pitchFamily="18" charset="0"/>
                          <a:ea typeface="Cambria Math" panose="02040503050406030204" pitchFamily="18" charset="0"/>
                        </a:rPr>
                        <m:t>com</m:t>
                      </m:r>
                      <m:r>
                        <a:rPr lang="es-MX" sz="1800" i="0">
                          <a:latin typeface="Cambria Math" panose="02040503050406030204" pitchFamily="18" charset="0"/>
                          <a:ea typeface="Cambria Math" panose="02040503050406030204" pitchFamily="18" charset="0"/>
                        </a:rPr>
                        <m:t>í </m:t>
                      </m:r>
                      <m:r>
                        <m:rPr>
                          <m:sty m:val="p"/>
                        </m:rPr>
                        <a:rPr lang="es-MX" sz="1800" i="0">
                          <a:latin typeface="Cambria Math" panose="02040503050406030204" pitchFamily="18" charset="0"/>
                          <a:ea typeface="Cambria Math" panose="02040503050406030204" pitchFamily="18" charset="0"/>
                        </a:rPr>
                        <m:t>mi</m:t>
                      </m:r>
                      <m:r>
                        <a:rPr lang="es-MX" sz="1800" i="0">
                          <a:latin typeface="Cambria Math" panose="02040503050406030204" pitchFamily="18" charset="0"/>
                          <a:ea typeface="Cambria Math" panose="02040503050406030204" pitchFamily="18" charset="0"/>
                        </a:rPr>
                        <m:t> </m:t>
                      </m:r>
                      <m:r>
                        <m:rPr>
                          <m:sty m:val="p"/>
                        </m:rPr>
                        <a:rPr lang="es-MX" sz="1800" i="0">
                          <a:latin typeface="Cambria Math" panose="02040503050406030204" pitchFamily="18" charset="0"/>
                          <a:ea typeface="Cambria Math" panose="02040503050406030204" pitchFamily="18" charset="0"/>
                        </a:rPr>
                        <m:t>sombrero</m:t>
                      </m:r>
                    </m:oMath>
                  </m:oMathPara>
                </a14:m>
                <a:endParaRPr lang="es-MX" sz="1800" b="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Me</m:t>
                      </m:r>
                      <m:r>
                        <a:rPr lang="es-MX" sz="1800" i="0">
                          <a:latin typeface="Cambria Math" panose="02040503050406030204" pitchFamily="18" charset="0"/>
                          <a:ea typeface="Cambria Math" panose="02040503050406030204" pitchFamily="18" charset="0"/>
                        </a:rPr>
                        <m:t> </m:t>
                      </m:r>
                      <m:r>
                        <m:rPr>
                          <m:sty m:val="p"/>
                        </m:rPr>
                        <a:rPr lang="es-MX" sz="1800" i="0">
                          <a:latin typeface="Cambria Math" panose="02040503050406030204" pitchFamily="18" charset="0"/>
                          <a:ea typeface="Cambria Math" panose="02040503050406030204" pitchFamily="18" charset="0"/>
                        </a:rPr>
                        <m:t>com</m:t>
                      </m:r>
                      <m:r>
                        <a:rPr lang="es-MX" sz="1800" i="0">
                          <a:latin typeface="Cambria Math" panose="02040503050406030204" pitchFamily="18" charset="0"/>
                          <a:ea typeface="Cambria Math" panose="02040503050406030204" pitchFamily="18" charset="0"/>
                        </a:rPr>
                        <m:t>í </m:t>
                      </m:r>
                      <m:r>
                        <m:rPr>
                          <m:sty m:val="p"/>
                        </m:rPr>
                        <a:rPr lang="es-MX" sz="1800" i="0">
                          <a:latin typeface="Cambria Math" panose="02040503050406030204" pitchFamily="18" charset="0"/>
                          <a:ea typeface="Cambria Math" panose="02040503050406030204" pitchFamily="18" charset="0"/>
                        </a:rPr>
                        <m:t>mi</m:t>
                      </m:r>
                      <m:r>
                        <a:rPr lang="es-MX" sz="1800" i="0">
                          <a:latin typeface="Cambria Math" panose="02040503050406030204" pitchFamily="18" charset="0"/>
                          <a:ea typeface="Cambria Math" panose="02040503050406030204" pitchFamily="18" charset="0"/>
                        </a:rPr>
                        <m:t> </m:t>
                      </m:r>
                      <m:r>
                        <m:rPr>
                          <m:sty m:val="p"/>
                        </m:rPr>
                        <a:rPr lang="es-MX" sz="1800" i="0">
                          <a:latin typeface="Cambria Math" panose="02040503050406030204" pitchFamily="18" charset="0"/>
                          <a:ea typeface="Cambria Math" panose="02040503050406030204" pitchFamily="18" charset="0"/>
                        </a:rPr>
                        <m:t>sombrero</m:t>
                      </m:r>
                    </m:oMath>
                  </m:oMathPara>
                </a14:m>
                <a:endParaRPr lang="es-MX" sz="1800" b="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CO" sz="1800" i="0" smtClean="0">
                          <a:latin typeface="Cambria Math" panose="02040503050406030204" pitchFamily="18" charset="0"/>
                          <a:ea typeface="Cambria Math" panose="02040503050406030204" pitchFamily="18" charset="0"/>
                        </a:rPr>
                        <m:t>∴</m:t>
                      </m:r>
                      <m:r>
                        <a:rPr lang="es-MX" sz="1800" b="0" i="0" smtClean="0">
                          <a:latin typeface="Cambria Math" panose="02040503050406030204" pitchFamily="18" charset="0"/>
                          <a:ea typeface="Cambria Math" panose="02040503050406030204" pitchFamily="18" charset="0"/>
                        </a:rPr>
                        <m:t> 2=3</m:t>
                      </m:r>
                    </m:oMath>
                  </m:oMathPara>
                </a14:m>
                <a:endParaRPr lang="es-CO" sz="1800" dirty="0"/>
              </a:p>
            </p:txBody>
          </p:sp>
        </mc:Choice>
        <mc:Fallback>
          <p:sp>
            <p:nvSpPr>
              <p:cNvPr id="30" name="CuadroTexto 29">
                <a:extLst>
                  <a:ext uri="{FF2B5EF4-FFF2-40B4-BE49-F238E27FC236}">
                    <a16:creationId xmlns:a16="http://schemas.microsoft.com/office/drawing/2014/main" id="{CAA410C4-886A-483B-A7A8-E1432B0DD4FB}"/>
                  </a:ext>
                </a:extLst>
              </p:cNvPr>
              <p:cNvSpPr txBox="1">
                <a:spLocks noRot="1" noChangeAspect="1" noMove="1" noResize="1" noEditPoints="1" noAdjustHandles="1" noChangeArrowheads="1" noChangeShapeType="1" noTextEdit="1"/>
              </p:cNvSpPr>
              <p:nvPr/>
            </p:nvSpPr>
            <p:spPr>
              <a:xfrm>
                <a:off x="577437" y="1404084"/>
                <a:ext cx="4884792" cy="1200329"/>
              </a:xfrm>
              <a:prstGeom prst="rect">
                <a:avLst/>
              </a:prstGeom>
              <a:blipFill>
                <a:blip r:embed="rId7"/>
                <a:stretch>
                  <a:fillRect l="-1124" t="-2538"/>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32" name="CuadroTexto 31">
                <a:extLst>
                  <a:ext uri="{FF2B5EF4-FFF2-40B4-BE49-F238E27FC236}">
                    <a16:creationId xmlns:a16="http://schemas.microsoft.com/office/drawing/2014/main" id="{BF7CF34A-4800-4B9E-AE07-C73343401FFE}"/>
                  </a:ext>
                </a:extLst>
              </p:cNvPr>
              <p:cNvSpPr txBox="1"/>
              <p:nvPr/>
            </p:nvSpPr>
            <p:spPr>
              <a:xfrm>
                <a:off x="697035" y="3439516"/>
                <a:ext cx="3198610" cy="646331"/>
              </a:xfrm>
              <a:prstGeom prst="rect">
                <a:avLst/>
              </a:prstGeom>
              <a:noFill/>
            </p:spPr>
            <p:txBody>
              <a:bodyPr wrap="square" rtlCol="0">
                <a:spAutoFit/>
              </a:bodyPr>
              <a:lstStyle/>
              <a:p>
                <a:pPr marL="469900" indent="-342900">
                  <a:buFontTx/>
                  <a:buChar char="-"/>
                </a:pPr>
                <a14:m>
                  <m:oMath xmlns:m="http://schemas.openxmlformats.org/officeDocument/2006/math">
                    <m:r>
                      <a:rPr lang="es-MX" sz="1800" b="1" i="1" smtClean="0">
                        <a:latin typeface="Cambria Math" panose="02040503050406030204" pitchFamily="18" charset="0"/>
                        <a:ea typeface="Cambria Math" panose="02040503050406030204" pitchFamily="18" charset="0"/>
                      </a:rPr>
                      <m:t>𝒑</m:t>
                    </m:r>
                    <m:r>
                      <a:rPr lang="es-MX" sz="1800" b="0" i="0" smtClean="0">
                        <a:latin typeface="Cambria Math" panose="02040503050406030204" pitchFamily="18" charset="0"/>
                        <a:ea typeface="Cambria Math" panose="02040503050406030204" pitchFamily="18" charset="0"/>
                      </a:rPr>
                      <m:t>: </m:t>
                    </m:r>
                    <m:r>
                      <a:rPr lang="es-MX" sz="1800" i="0" smtClean="0">
                        <a:latin typeface="Cambria Math" panose="02040503050406030204" pitchFamily="18" charset="0"/>
                        <a:ea typeface="Cambria Math" panose="02040503050406030204" pitchFamily="18" charset="0"/>
                      </a:rPr>
                      <m:t>2 = 3</m:t>
                    </m:r>
                  </m:oMath>
                </a14:m>
                <a:endParaRPr lang="es-MX" sz="1800" i="0" dirty="0">
                  <a:latin typeface="Cambria Math" panose="02040503050406030204" pitchFamily="18" charset="0"/>
                  <a:ea typeface="Cambria Math" panose="02040503050406030204" pitchFamily="18" charset="0"/>
                </a:endParaRPr>
              </a:p>
              <a:p>
                <a:pPr marL="469900" indent="-342900">
                  <a:buFontTx/>
                  <a:buChar char="-"/>
                </a:pPr>
                <a14:m>
                  <m:oMath xmlns:m="http://schemas.openxmlformats.org/officeDocument/2006/math">
                    <m:r>
                      <a:rPr lang="es-MX" sz="1800" b="1" i="1" smtClean="0">
                        <a:latin typeface="Cambria Math" panose="02040503050406030204" pitchFamily="18" charset="0"/>
                        <a:ea typeface="Cambria Math" panose="02040503050406030204" pitchFamily="18" charset="0"/>
                      </a:rPr>
                      <m:t>𝒒</m:t>
                    </m:r>
                    <m:r>
                      <a:rPr lang="es-MX" sz="1800" b="0" i="0" smtClean="0">
                        <a:latin typeface="Cambria Math" panose="02040503050406030204" pitchFamily="18" charset="0"/>
                        <a:ea typeface="Cambria Math" panose="02040503050406030204" pitchFamily="18" charset="0"/>
                      </a:rPr>
                      <m:t>:</m:t>
                    </m:r>
                    <m:r>
                      <m:rPr>
                        <m:sty m:val="p"/>
                      </m:rPr>
                      <a:rPr lang="es-MX" sz="1800">
                        <a:latin typeface="Cambria Math" panose="02040503050406030204" pitchFamily="18" charset="0"/>
                        <a:ea typeface="Cambria Math" panose="02040503050406030204" pitchFamily="18" charset="0"/>
                      </a:rPr>
                      <m:t>Me</m:t>
                    </m:r>
                    <m:r>
                      <a:rPr lang="es-MX" sz="1800">
                        <a:latin typeface="Cambria Math" panose="02040503050406030204" pitchFamily="18" charset="0"/>
                        <a:ea typeface="Cambria Math" panose="02040503050406030204" pitchFamily="18" charset="0"/>
                      </a:rPr>
                      <m:t> </m:t>
                    </m:r>
                    <m:r>
                      <m:rPr>
                        <m:sty m:val="p"/>
                      </m:rPr>
                      <a:rPr lang="es-MX" sz="1800">
                        <a:latin typeface="Cambria Math" panose="02040503050406030204" pitchFamily="18" charset="0"/>
                        <a:ea typeface="Cambria Math" panose="02040503050406030204" pitchFamily="18" charset="0"/>
                      </a:rPr>
                      <m:t>com</m:t>
                    </m:r>
                    <m:r>
                      <a:rPr lang="es-MX" sz="1800">
                        <a:latin typeface="Cambria Math" panose="02040503050406030204" pitchFamily="18" charset="0"/>
                        <a:ea typeface="Cambria Math" panose="02040503050406030204" pitchFamily="18" charset="0"/>
                      </a:rPr>
                      <m:t>í </m:t>
                    </m:r>
                    <m:r>
                      <m:rPr>
                        <m:sty m:val="p"/>
                      </m:rPr>
                      <a:rPr lang="es-MX" sz="1800">
                        <a:latin typeface="Cambria Math" panose="02040503050406030204" pitchFamily="18" charset="0"/>
                        <a:ea typeface="Cambria Math" panose="02040503050406030204" pitchFamily="18" charset="0"/>
                      </a:rPr>
                      <m:t>mi</m:t>
                    </m:r>
                    <m:r>
                      <a:rPr lang="es-MX" sz="1800">
                        <a:latin typeface="Cambria Math" panose="02040503050406030204" pitchFamily="18" charset="0"/>
                        <a:ea typeface="Cambria Math" panose="02040503050406030204" pitchFamily="18" charset="0"/>
                      </a:rPr>
                      <m:t> </m:t>
                    </m:r>
                    <m:r>
                      <m:rPr>
                        <m:sty m:val="p"/>
                      </m:rPr>
                      <a:rPr lang="es-MX" sz="1800">
                        <a:latin typeface="Cambria Math" panose="02040503050406030204" pitchFamily="18" charset="0"/>
                        <a:ea typeface="Cambria Math" panose="02040503050406030204" pitchFamily="18" charset="0"/>
                      </a:rPr>
                      <m:t>sombrero</m:t>
                    </m:r>
                  </m:oMath>
                </a14:m>
                <a:endParaRPr lang="es-MX" sz="1800" dirty="0">
                  <a:latin typeface="Roboto" panose="02000000000000000000" pitchFamily="2" charset="0"/>
                  <a:ea typeface="Roboto" panose="02000000000000000000" pitchFamily="2" charset="0"/>
                </a:endParaRPr>
              </a:p>
            </p:txBody>
          </p:sp>
        </mc:Choice>
        <mc:Fallback>
          <p:sp>
            <p:nvSpPr>
              <p:cNvPr id="32" name="CuadroTexto 31">
                <a:extLst>
                  <a:ext uri="{FF2B5EF4-FFF2-40B4-BE49-F238E27FC236}">
                    <a16:creationId xmlns:a16="http://schemas.microsoft.com/office/drawing/2014/main" id="{BF7CF34A-4800-4B9E-AE07-C73343401FFE}"/>
                  </a:ext>
                </a:extLst>
              </p:cNvPr>
              <p:cNvSpPr txBox="1">
                <a:spLocks noRot="1" noChangeAspect="1" noMove="1" noResize="1" noEditPoints="1" noAdjustHandles="1" noChangeArrowheads="1" noChangeShapeType="1" noTextEdit="1"/>
              </p:cNvSpPr>
              <p:nvPr/>
            </p:nvSpPr>
            <p:spPr>
              <a:xfrm>
                <a:off x="697035" y="3439516"/>
                <a:ext cx="3198610" cy="646331"/>
              </a:xfrm>
              <a:prstGeom prst="rect">
                <a:avLst/>
              </a:prstGeom>
              <a:blipFill>
                <a:blip r:embed="rId8"/>
                <a:stretch>
                  <a:fillRect t="-3774" b="-12264"/>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graphicFrame>
            <p:nvGraphicFramePr>
              <p:cNvPr id="3" name="Tabla 2">
                <a:extLst>
                  <a:ext uri="{FF2B5EF4-FFF2-40B4-BE49-F238E27FC236}">
                    <a16:creationId xmlns:a16="http://schemas.microsoft.com/office/drawing/2014/main" id="{90EA7578-E5F4-4952-A3B4-0A8B1181BA83}"/>
                  </a:ext>
                </a:extLst>
              </p:cNvPr>
              <p:cNvGraphicFramePr>
                <a:graphicFrameLocks noGrp="1"/>
              </p:cNvGraphicFramePr>
              <p:nvPr>
                <p:extLst>
                  <p:ext uri="{D42A27DB-BD31-4B8C-83A1-F6EECF244321}">
                    <p14:modId xmlns:p14="http://schemas.microsoft.com/office/powerpoint/2010/main" val="3889583256"/>
                  </p:ext>
                </p:extLst>
              </p:nvPr>
            </p:nvGraphicFramePr>
            <p:xfrm>
              <a:off x="7436105" y="3466377"/>
              <a:ext cx="3569090" cy="1676400"/>
            </p:xfrm>
            <a:graphic>
              <a:graphicData uri="http://schemas.openxmlformats.org/drawingml/2006/table">
                <a:tbl>
                  <a:tblPr firstRow="1" bandRow="1">
                    <a:tableStyleId>{AD6A3598-7CB8-4345-8D95-17CE05F158A0}</a:tableStyleId>
                  </a:tblPr>
                  <a:tblGrid>
                    <a:gridCol w="438615">
                      <a:extLst>
                        <a:ext uri="{9D8B030D-6E8A-4147-A177-3AD203B41FA5}">
                          <a16:colId xmlns:a16="http://schemas.microsoft.com/office/drawing/2014/main" val="4099516379"/>
                        </a:ext>
                      </a:extLst>
                    </a:gridCol>
                    <a:gridCol w="438615">
                      <a:extLst>
                        <a:ext uri="{9D8B030D-6E8A-4147-A177-3AD203B41FA5}">
                          <a16:colId xmlns:a16="http://schemas.microsoft.com/office/drawing/2014/main" val="3713746608"/>
                        </a:ext>
                      </a:extLst>
                    </a:gridCol>
                    <a:gridCol w="788327">
                      <a:extLst>
                        <a:ext uri="{9D8B030D-6E8A-4147-A177-3AD203B41FA5}">
                          <a16:colId xmlns:a16="http://schemas.microsoft.com/office/drawing/2014/main" val="1936182596"/>
                        </a:ext>
                      </a:extLst>
                    </a:gridCol>
                    <a:gridCol w="788327">
                      <a:extLst>
                        <a:ext uri="{9D8B030D-6E8A-4147-A177-3AD203B41FA5}">
                          <a16:colId xmlns:a16="http://schemas.microsoft.com/office/drawing/2014/main" val="3648826037"/>
                        </a:ext>
                      </a:extLst>
                    </a:gridCol>
                    <a:gridCol w="1115206">
                      <a:extLst>
                        <a:ext uri="{9D8B030D-6E8A-4147-A177-3AD203B41FA5}">
                          <a16:colId xmlns:a16="http://schemas.microsoft.com/office/drawing/2014/main" val="3755460267"/>
                        </a:ext>
                      </a:extLst>
                    </a:gridCol>
                  </a:tblGrid>
                  <a:tr h="28512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Roboto" panose="02000000000000000000" pitchFamily="2" charset="0"/>
                                  </a:rPr>
                                  <m:t>𝒑</m:t>
                                </m:r>
                              </m:oMath>
                            </m:oMathPara>
                          </a14:m>
                          <a:endParaRPr lang="es-CO" sz="16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Roboto" panose="02000000000000000000" pitchFamily="2" charset="0"/>
                                  </a:rPr>
                                  <m:t>𝒒</m:t>
                                </m:r>
                              </m:oMath>
                            </m:oMathPara>
                          </a14:m>
                          <a:endParaRPr lang="es-CO" sz="1600" b="1" dirty="0">
                            <a:latin typeface="Roboto" panose="02000000000000000000" pitchFamily="2" charset="0"/>
                            <a:ea typeface="Roboto" panose="02000000000000000000" pitchFamily="2" charset="0"/>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rPr>
                                  <m:t>𝒑</m:t>
                                </m:r>
                                <m:r>
                                  <a:rPr lang="es-MX" sz="1600" b="1" i="1" smtClean="0">
                                    <a:latin typeface="Cambria Math" panose="02040503050406030204" pitchFamily="18" charset="0"/>
                                  </a:rPr>
                                  <m:t>→</m:t>
                                </m:r>
                                <m:r>
                                  <a:rPr lang="es-MX" sz="1600" b="1" i="1" smtClean="0">
                                    <a:latin typeface="Cambria Math" panose="02040503050406030204" pitchFamily="18" charset="0"/>
                                  </a:rPr>
                                  <m:t>𝒒</m:t>
                                </m:r>
                              </m:oMath>
                            </m:oMathPara>
                          </a14:m>
                          <a:endParaRPr lang="es-MX" sz="1600" b="1" dirty="0"/>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Roboto" panose="02000000000000000000" pitchFamily="2" charset="0"/>
                                  </a:rPr>
                                  <m:t>𝒒</m:t>
                                </m:r>
                              </m:oMath>
                            </m:oMathPara>
                          </a14:m>
                          <a:endParaRPr lang="es-CO" sz="1600" b="1" dirty="0">
                            <a:latin typeface="Roboto" panose="02000000000000000000" pitchFamily="2" charset="0"/>
                            <a:ea typeface="Roboto" panose="02000000000000000000" pitchFamily="2" charset="0"/>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Roboto" panose="02000000000000000000" pitchFamily="2" charset="0"/>
                                  </a:rPr>
                                  <m:t>𝒑</m:t>
                                </m:r>
                              </m:oMath>
                            </m:oMathPara>
                          </a14:m>
                          <a:endParaRPr lang="es-CO" sz="1600" b="1"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43562445"/>
                      </a:ext>
                    </a:extLst>
                  </a:tr>
                  <a:tr h="28512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60002283"/>
                      </a:ext>
                    </a:extLst>
                  </a:tr>
                  <a:tr h="285127">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solidFill>
                                      <a:srgbClr val="FF0000"/>
                                    </a:solidFill>
                                    <a:latin typeface="Cambria Math" panose="02040503050406030204" pitchFamily="18" charset="0"/>
                                    <a:ea typeface="Roboto" panose="02000000000000000000" pitchFamily="2" charset="0"/>
                                  </a:rPr>
                                  <m:t>0</m:t>
                                </m:r>
                              </m:oMath>
                            </m:oMathPara>
                          </a14:m>
                          <a:endParaRPr lang="es-CO" sz="1600" dirty="0">
                            <a:solidFill>
                              <a:srgbClr val="FF0000"/>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387642809"/>
                      </a:ext>
                    </a:extLst>
                  </a:tr>
                  <a:tr h="28512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0</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solidFill>
                                      <a:schemeClr val="tx1"/>
                                    </a:solidFill>
                                    <a:latin typeface="Cambria Math" panose="02040503050406030204" pitchFamily="18" charset="0"/>
                                    <a:ea typeface="Roboto" panose="02000000000000000000" pitchFamily="2" charset="0"/>
                                  </a:rPr>
                                  <m:t>1</m:t>
                                </m:r>
                              </m:oMath>
                            </m:oMathPara>
                          </a14:m>
                          <a:endParaRPr lang="es-CO" sz="1600" dirty="0">
                            <a:solidFill>
                              <a:schemeClr val="tx1"/>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4158220119"/>
                      </a:ext>
                    </a:extLst>
                  </a:tr>
                  <a:tr h="285127">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1</m:t>
                                </m:r>
                              </m:oMath>
                            </m:oMathPara>
                          </a14:m>
                          <a:endParaRPr lang="es-CO" sz="16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1600" b="0" i="1" smtClean="0">
                                    <a:solidFill>
                                      <a:schemeClr val="tx1"/>
                                    </a:solidFill>
                                    <a:latin typeface="Cambria Math" panose="02040503050406030204" pitchFamily="18" charset="0"/>
                                    <a:ea typeface="Roboto" panose="02000000000000000000" pitchFamily="2" charset="0"/>
                                  </a:rPr>
                                  <m:t>1</m:t>
                                </m:r>
                              </m:oMath>
                            </m:oMathPara>
                          </a14:m>
                          <a:endParaRPr lang="es-CO" sz="1600" dirty="0">
                            <a:solidFill>
                              <a:schemeClr val="tx1"/>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13013369"/>
                      </a:ext>
                    </a:extLst>
                  </a:tr>
                </a:tbl>
              </a:graphicData>
            </a:graphic>
          </p:graphicFrame>
        </mc:Choice>
        <mc:Fallback xmlns="">
          <p:graphicFrame>
            <p:nvGraphicFramePr>
              <p:cNvPr id="3" name="Tabla 2">
                <a:extLst>
                  <a:ext uri="{FF2B5EF4-FFF2-40B4-BE49-F238E27FC236}">
                    <a16:creationId xmlns:a16="http://schemas.microsoft.com/office/drawing/2014/main" id="{90EA7578-E5F4-4952-A3B4-0A8B1181BA83}"/>
                  </a:ext>
                </a:extLst>
              </p:cNvPr>
              <p:cNvGraphicFramePr>
                <a:graphicFrameLocks noGrp="1"/>
              </p:cNvGraphicFramePr>
              <p:nvPr>
                <p:extLst>
                  <p:ext uri="{D42A27DB-BD31-4B8C-83A1-F6EECF244321}">
                    <p14:modId xmlns:p14="http://schemas.microsoft.com/office/powerpoint/2010/main" val="3889583256"/>
                  </p:ext>
                </p:extLst>
              </p:nvPr>
            </p:nvGraphicFramePr>
            <p:xfrm>
              <a:off x="7436105" y="3466377"/>
              <a:ext cx="3569090" cy="1676400"/>
            </p:xfrm>
            <a:graphic>
              <a:graphicData uri="http://schemas.openxmlformats.org/drawingml/2006/table">
                <a:tbl>
                  <a:tblPr firstRow="1" bandRow="1">
                    <a:tableStyleId>{AD6A3598-7CB8-4345-8D95-17CE05F158A0}</a:tableStyleId>
                  </a:tblPr>
                  <a:tblGrid>
                    <a:gridCol w="438615">
                      <a:extLst>
                        <a:ext uri="{9D8B030D-6E8A-4147-A177-3AD203B41FA5}">
                          <a16:colId xmlns:a16="http://schemas.microsoft.com/office/drawing/2014/main" val="4099516379"/>
                        </a:ext>
                      </a:extLst>
                    </a:gridCol>
                    <a:gridCol w="438615">
                      <a:extLst>
                        <a:ext uri="{9D8B030D-6E8A-4147-A177-3AD203B41FA5}">
                          <a16:colId xmlns:a16="http://schemas.microsoft.com/office/drawing/2014/main" val="3713746608"/>
                        </a:ext>
                      </a:extLst>
                    </a:gridCol>
                    <a:gridCol w="788327">
                      <a:extLst>
                        <a:ext uri="{9D8B030D-6E8A-4147-A177-3AD203B41FA5}">
                          <a16:colId xmlns:a16="http://schemas.microsoft.com/office/drawing/2014/main" val="1936182596"/>
                        </a:ext>
                      </a:extLst>
                    </a:gridCol>
                    <a:gridCol w="788327">
                      <a:extLst>
                        <a:ext uri="{9D8B030D-6E8A-4147-A177-3AD203B41FA5}">
                          <a16:colId xmlns:a16="http://schemas.microsoft.com/office/drawing/2014/main" val="3648826037"/>
                        </a:ext>
                      </a:extLst>
                    </a:gridCol>
                    <a:gridCol w="1115206">
                      <a:extLst>
                        <a:ext uri="{9D8B030D-6E8A-4147-A177-3AD203B41FA5}">
                          <a16:colId xmlns:a16="http://schemas.microsoft.com/office/drawing/2014/main" val="3755460267"/>
                        </a:ext>
                      </a:extLst>
                    </a:gridCol>
                  </a:tblGrid>
                  <a:tr h="335280">
                    <a:tc>
                      <a:txBody>
                        <a:bodyPr/>
                        <a:lstStyle/>
                        <a:p>
                          <a:endParaRPr lang="es-CO"/>
                        </a:p>
                      </a:txBody>
                      <a:tcPr anchor="ctr">
                        <a:lnB w="19050" cap="flat" cmpd="sng" algn="ctr">
                          <a:solidFill>
                            <a:schemeClr val="tx1"/>
                          </a:solidFill>
                          <a:prstDash val="solid"/>
                          <a:round/>
                          <a:headEnd type="none" w="med" len="med"/>
                          <a:tailEnd type="none" w="med" len="med"/>
                        </a:lnB>
                        <a:blipFill>
                          <a:blip r:embed="rId9"/>
                          <a:stretch>
                            <a:fillRect t="-1818" r="-718056" b="-405455"/>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9"/>
                          <a:stretch>
                            <a:fillRect l="-100000" t="-1818" r="-618056" b="-405455"/>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9"/>
                          <a:stretch>
                            <a:fillRect l="-110769" t="-1818" r="-242308" b="-405455"/>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9"/>
                          <a:stretch>
                            <a:fillRect l="-210769" t="-1818" r="-142308" b="-405455"/>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9"/>
                          <a:stretch>
                            <a:fillRect l="-220765" t="-1818" r="-1093" b="-405455"/>
                          </a:stretch>
                        </a:blipFill>
                      </a:tcPr>
                    </a:tc>
                    <a:extLst>
                      <a:ext uri="{0D108BD9-81ED-4DB2-BD59-A6C34878D82A}">
                        <a16:rowId xmlns:a16="http://schemas.microsoft.com/office/drawing/2014/main" val="2943562445"/>
                      </a:ext>
                    </a:extLst>
                  </a:tr>
                  <a:tr h="335280">
                    <a:tc>
                      <a:txBody>
                        <a:bodyPr/>
                        <a:lstStyle/>
                        <a:p>
                          <a:endParaRPr lang="es-CO"/>
                        </a:p>
                      </a:txBody>
                      <a:tcPr>
                        <a:lnT w="19050" cap="flat" cmpd="sng" algn="ctr">
                          <a:solidFill>
                            <a:schemeClr val="tx1"/>
                          </a:solidFill>
                          <a:prstDash val="solid"/>
                          <a:round/>
                          <a:headEnd type="none" w="med" len="med"/>
                          <a:tailEnd type="none" w="med" len="med"/>
                        </a:lnT>
                        <a:blipFill>
                          <a:blip r:embed="rId9"/>
                          <a:stretch>
                            <a:fillRect t="-101818" r="-718056" b="-305455"/>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9"/>
                          <a:stretch>
                            <a:fillRect l="-100000" t="-101818" r="-618056" b="-305455"/>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9"/>
                          <a:stretch>
                            <a:fillRect l="-110769" t="-101818" r="-242308" b="-305455"/>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9"/>
                          <a:stretch>
                            <a:fillRect l="-210769" t="-101818" r="-142308" b="-305455"/>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9"/>
                          <a:stretch>
                            <a:fillRect l="-220765" t="-101818" r="-1093" b="-305455"/>
                          </a:stretch>
                        </a:blipFill>
                      </a:tcPr>
                    </a:tc>
                    <a:extLst>
                      <a:ext uri="{0D108BD9-81ED-4DB2-BD59-A6C34878D82A}">
                        <a16:rowId xmlns:a16="http://schemas.microsoft.com/office/drawing/2014/main" val="1060002283"/>
                      </a:ext>
                    </a:extLst>
                  </a:tr>
                  <a:tr h="335280">
                    <a:tc>
                      <a:txBody>
                        <a:bodyPr/>
                        <a:lstStyle/>
                        <a:p>
                          <a:endParaRPr lang="es-CO"/>
                        </a:p>
                      </a:txBody>
                      <a:tcPr>
                        <a:blipFill>
                          <a:blip r:embed="rId9"/>
                          <a:stretch>
                            <a:fillRect t="-198214" r="-718056" b="-200000"/>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9"/>
                          <a:stretch>
                            <a:fillRect l="-100000" t="-198214" r="-618056" b="-200000"/>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9"/>
                          <a:stretch>
                            <a:fillRect l="-110769" t="-198214" r="-242308" b="-200000"/>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9"/>
                          <a:stretch>
                            <a:fillRect l="-210769" t="-198214" r="-142308" b="-200000"/>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9"/>
                          <a:stretch>
                            <a:fillRect l="-220765" t="-198214" r="-1093" b="-200000"/>
                          </a:stretch>
                        </a:blipFill>
                      </a:tcPr>
                    </a:tc>
                    <a:extLst>
                      <a:ext uri="{0D108BD9-81ED-4DB2-BD59-A6C34878D82A}">
                        <a16:rowId xmlns:a16="http://schemas.microsoft.com/office/drawing/2014/main" val="1387642809"/>
                      </a:ext>
                    </a:extLst>
                  </a:tr>
                  <a:tr h="335280">
                    <a:tc>
                      <a:txBody>
                        <a:bodyPr/>
                        <a:lstStyle/>
                        <a:p>
                          <a:endParaRPr lang="es-CO"/>
                        </a:p>
                      </a:txBody>
                      <a:tcPr>
                        <a:blipFill>
                          <a:blip r:embed="rId9"/>
                          <a:stretch>
                            <a:fillRect t="-303636" r="-718056" b="-103636"/>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9"/>
                          <a:stretch>
                            <a:fillRect l="-100000" t="-303636" r="-618056" b="-103636"/>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9"/>
                          <a:stretch>
                            <a:fillRect l="-110769" t="-303636" r="-242308" b="-103636"/>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9"/>
                          <a:stretch>
                            <a:fillRect l="-210769" t="-303636" r="-142308" b="-103636"/>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9"/>
                          <a:stretch>
                            <a:fillRect l="-220765" t="-303636" r="-1093" b="-103636"/>
                          </a:stretch>
                        </a:blipFill>
                      </a:tcPr>
                    </a:tc>
                    <a:extLst>
                      <a:ext uri="{0D108BD9-81ED-4DB2-BD59-A6C34878D82A}">
                        <a16:rowId xmlns:a16="http://schemas.microsoft.com/office/drawing/2014/main" val="4158220119"/>
                      </a:ext>
                    </a:extLst>
                  </a:tr>
                  <a:tr h="335280">
                    <a:tc>
                      <a:txBody>
                        <a:bodyPr/>
                        <a:lstStyle/>
                        <a:p>
                          <a:endParaRPr lang="es-CO"/>
                        </a:p>
                      </a:txBody>
                      <a:tcPr>
                        <a:blipFill>
                          <a:blip r:embed="rId9"/>
                          <a:stretch>
                            <a:fillRect t="-403636" r="-718056" b="-3636"/>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9"/>
                          <a:stretch>
                            <a:fillRect l="-100000" t="-403636" r="-618056" b="-3636"/>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9"/>
                          <a:stretch>
                            <a:fillRect l="-110769" t="-403636" r="-242308" b="-3636"/>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9"/>
                          <a:stretch>
                            <a:fillRect l="-210769" t="-403636" r="-142308" b="-3636"/>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9"/>
                          <a:stretch>
                            <a:fillRect l="-220765" t="-403636" r="-1093" b="-3636"/>
                          </a:stretch>
                        </a:blipFill>
                      </a:tcPr>
                    </a:tc>
                    <a:extLst>
                      <a:ext uri="{0D108BD9-81ED-4DB2-BD59-A6C34878D82A}">
                        <a16:rowId xmlns:a16="http://schemas.microsoft.com/office/drawing/2014/main" val="313013369"/>
                      </a:ext>
                    </a:extLst>
                  </a:tr>
                </a:tbl>
              </a:graphicData>
            </a:graphic>
          </p:graphicFrame>
        </mc:Fallback>
      </mc:AlternateContent>
      <p:sp>
        <p:nvSpPr>
          <p:cNvPr id="14" name="Google Shape;310;p34">
            <a:extLst>
              <a:ext uri="{FF2B5EF4-FFF2-40B4-BE49-F238E27FC236}">
                <a16:creationId xmlns:a16="http://schemas.microsoft.com/office/drawing/2014/main" id="{1C2A0C4C-F152-4F86-A493-88A46FDA7709}"/>
              </a:ext>
            </a:extLst>
          </p:cNvPr>
          <p:cNvSpPr txBox="1">
            <a:spLocks/>
          </p:cNvSpPr>
          <p:nvPr/>
        </p:nvSpPr>
        <p:spPr>
          <a:xfrm>
            <a:off x="457011" y="915415"/>
            <a:ext cx="3166176" cy="4349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Solución - ejemplo</a:t>
            </a:r>
            <a:r>
              <a:rPr lang="es-MX" sz="2000" dirty="0">
                <a:latin typeface="+mn-lt"/>
                <a:ea typeface="Roboto" panose="02000000000000000000" pitchFamily="2" charset="0"/>
              </a:rPr>
              <a:t>:</a:t>
            </a:r>
          </a:p>
        </p:txBody>
      </p:sp>
      <p:sp>
        <p:nvSpPr>
          <p:cNvPr id="16" name="CuadroTexto 15">
            <a:extLst>
              <a:ext uri="{FF2B5EF4-FFF2-40B4-BE49-F238E27FC236}">
                <a16:creationId xmlns:a16="http://schemas.microsoft.com/office/drawing/2014/main" id="{A64917BC-7C08-4C83-93F1-8EAAB8C82F68}"/>
              </a:ext>
            </a:extLst>
          </p:cNvPr>
          <p:cNvSpPr txBox="1"/>
          <p:nvPr/>
        </p:nvSpPr>
        <p:spPr>
          <a:xfrm>
            <a:off x="511795" y="3085384"/>
            <a:ext cx="3569090" cy="369332"/>
          </a:xfrm>
          <a:prstGeom prst="rect">
            <a:avLst/>
          </a:prstGeom>
          <a:noFill/>
        </p:spPr>
        <p:txBody>
          <a:bodyPr wrap="square">
            <a:spAutoFit/>
          </a:bodyPr>
          <a:lstStyle/>
          <a:p>
            <a:pPr marL="127000" indent="0">
              <a:lnSpc>
                <a:spcPct val="100000"/>
              </a:lnSpc>
              <a:buNone/>
            </a:pPr>
            <a:r>
              <a:rPr lang="es-MX" sz="1800" b="1" dirty="0">
                <a:ea typeface="Roboto" panose="02000000000000000000" pitchFamily="2" charset="0"/>
              </a:rPr>
              <a:t>Representación simbólica:</a:t>
            </a:r>
          </a:p>
        </p:txBody>
      </p:sp>
      <p:grpSp>
        <p:nvGrpSpPr>
          <p:cNvPr id="19" name="Grupo 18">
            <a:extLst>
              <a:ext uri="{FF2B5EF4-FFF2-40B4-BE49-F238E27FC236}">
                <a16:creationId xmlns:a16="http://schemas.microsoft.com/office/drawing/2014/main" id="{9E05AE18-4824-45CB-8649-BF642B380456}"/>
              </a:ext>
            </a:extLst>
          </p:cNvPr>
          <p:cNvGrpSpPr/>
          <p:nvPr/>
        </p:nvGrpSpPr>
        <p:grpSpPr>
          <a:xfrm>
            <a:off x="8331065" y="2607714"/>
            <a:ext cx="2821841" cy="770323"/>
            <a:chOff x="5996619" y="2741898"/>
            <a:chExt cx="2821841" cy="770323"/>
          </a:xfrm>
        </p:grpSpPr>
        <p:grpSp>
          <p:nvGrpSpPr>
            <p:cNvPr id="23" name="Grupo 22">
              <a:extLst>
                <a:ext uri="{FF2B5EF4-FFF2-40B4-BE49-F238E27FC236}">
                  <a16:creationId xmlns:a16="http://schemas.microsoft.com/office/drawing/2014/main" id="{0FC0D1BE-EFFF-4E92-8A7B-79CBD2B2F130}"/>
                </a:ext>
              </a:extLst>
            </p:cNvPr>
            <p:cNvGrpSpPr/>
            <p:nvPr/>
          </p:nvGrpSpPr>
          <p:grpSpPr>
            <a:xfrm>
              <a:off x="5996619" y="2768073"/>
              <a:ext cx="1558592" cy="744148"/>
              <a:chOff x="5996619" y="2768073"/>
              <a:chExt cx="1558592" cy="744148"/>
            </a:xfrm>
          </p:grpSpPr>
          <p:sp>
            <p:nvSpPr>
              <p:cNvPr id="27" name="Abrir llave 26">
                <a:extLst>
                  <a:ext uri="{FF2B5EF4-FFF2-40B4-BE49-F238E27FC236}">
                    <a16:creationId xmlns:a16="http://schemas.microsoft.com/office/drawing/2014/main" id="{BB790A16-B876-4190-ACD5-89F299CF66B1}"/>
                  </a:ext>
                </a:extLst>
              </p:cNvPr>
              <p:cNvSpPr/>
              <p:nvPr/>
            </p:nvSpPr>
            <p:spPr>
              <a:xfrm rot="5400000">
                <a:off x="6656797" y="2613807"/>
                <a:ext cx="238236" cy="1558592"/>
              </a:xfrm>
              <a:prstGeom prst="leftBrace">
                <a:avLst>
                  <a:gd name="adj1" fmla="val 24066"/>
                  <a:gd name="adj2" fmla="val 50000"/>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sp>
            <p:nvSpPr>
              <p:cNvPr id="31" name="CuadroTexto 30">
                <a:extLst>
                  <a:ext uri="{FF2B5EF4-FFF2-40B4-BE49-F238E27FC236}">
                    <a16:creationId xmlns:a16="http://schemas.microsoft.com/office/drawing/2014/main" id="{6411580B-BB84-44BA-B2CE-86D28059FD23}"/>
                  </a:ext>
                </a:extLst>
              </p:cNvPr>
              <p:cNvSpPr txBox="1"/>
              <p:nvPr/>
            </p:nvSpPr>
            <p:spPr>
              <a:xfrm>
                <a:off x="6224280" y="2768073"/>
                <a:ext cx="1103269" cy="369332"/>
              </a:xfrm>
              <a:prstGeom prst="rect">
                <a:avLst/>
              </a:prstGeom>
              <a:noFill/>
            </p:spPr>
            <p:txBody>
              <a:bodyPr wrap="square" rtlCol="0">
                <a:spAutoFit/>
              </a:bodyPr>
              <a:lstStyle/>
              <a:p>
                <a:pPr algn="ctr"/>
                <a:r>
                  <a:rPr lang="es-CO" b="1" dirty="0">
                    <a:solidFill>
                      <a:schemeClr val="accent2"/>
                    </a:solidFill>
                    <a:ea typeface="Roboto" panose="02000000000000000000" pitchFamily="2" charset="0"/>
                  </a:rPr>
                  <a:t>Premisas</a:t>
                </a:r>
              </a:p>
            </p:txBody>
          </p:sp>
        </p:grpSp>
        <p:grpSp>
          <p:nvGrpSpPr>
            <p:cNvPr id="24" name="Grupo 23">
              <a:extLst>
                <a:ext uri="{FF2B5EF4-FFF2-40B4-BE49-F238E27FC236}">
                  <a16:creationId xmlns:a16="http://schemas.microsoft.com/office/drawing/2014/main" id="{AB484346-C731-4A7E-BB7C-38762D7A3C00}"/>
                </a:ext>
              </a:extLst>
            </p:cNvPr>
            <p:cNvGrpSpPr/>
            <p:nvPr/>
          </p:nvGrpSpPr>
          <p:grpSpPr>
            <a:xfrm>
              <a:off x="7407497" y="2741898"/>
              <a:ext cx="1410963" cy="756921"/>
              <a:chOff x="7407497" y="2741898"/>
              <a:chExt cx="1410963" cy="756921"/>
            </a:xfrm>
          </p:grpSpPr>
          <p:sp>
            <p:nvSpPr>
              <p:cNvPr id="25" name="CuadroTexto 24">
                <a:extLst>
                  <a:ext uri="{FF2B5EF4-FFF2-40B4-BE49-F238E27FC236}">
                    <a16:creationId xmlns:a16="http://schemas.microsoft.com/office/drawing/2014/main" id="{62C29919-5433-4DD3-81B2-FC77C649CE69}"/>
                  </a:ext>
                </a:extLst>
              </p:cNvPr>
              <p:cNvSpPr txBox="1"/>
              <p:nvPr/>
            </p:nvSpPr>
            <p:spPr>
              <a:xfrm>
                <a:off x="7407497" y="2741898"/>
                <a:ext cx="1410963" cy="369332"/>
              </a:xfrm>
              <a:prstGeom prst="rect">
                <a:avLst/>
              </a:prstGeom>
              <a:noFill/>
            </p:spPr>
            <p:txBody>
              <a:bodyPr wrap="square" rtlCol="0">
                <a:spAutoFit/>
              </a:bodyPr>
              <a:lstStyle/>
              <a:p>
                <a:pPr algn="ctr"/>
                <a:r>
                  <a:rPr lang="es-CO" b="1" dirty="0">
                    <a:solidFill>
                      <a:schemeClr val="accent2"/>
                    </a:solidFill>
                    <a:ea typeface="Roboto" panose="02000000000000000000" pitchFamily="2" charset="0"/>
                  </a:rPr>
                  <a:t>Conclusión</a:t>
                </a:r>
              </a:p>
            </p:txBody>
          </p:sp>
          <p:sp>
            <p:nvSpPr>
              <p:cNvPr id="26" name="Abrir llave 25">
                <a:extLst>
                  <a:ext uri="{FF2B5EF4-FFF2-40B4-BE49-F238E27FC236}">
                    <a16:creationId xmlns:a16="http://schemas.microsoft.com/office/drawing/2014/main" id="{1FB21392-2F5F-4D57-8257-6B44E1F2F3E5}"/>
                  </a:ext>
                </a:extLst>
              </p:cNvPr>
              <p:cNvSpPr/>
              <p:nvPr/>
            </p:nvSpPr>
            <p:spPr>
              <a:xfrm rot="5400000">
                <a:off x="8000564" y="2828634"/>
                <a:ext cx="224832" cy="1115538"/>
              </a:xfrm>
              <a:prstGeom prst="leftBrace">
                <a:avLst>
                  <a:gd name="adj1" fmla="val 24066"/>
                  <a:gd name="adj2" fmla="val 50000"/>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grpSp>
      </p:grpSp>
    </p:spTree>
    <p:extLst>
      <p:ext uri="{BB962C8B-B14F-4D97-AF65-F5344CB8AC3E}">
        <p14:creationId xmlns:p14="http://schemas.microsoft.com/office/powerpoint/2010/main" val="404594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49" y="96038"/>
            <a:ext cx="10764073"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Validación de argumentos – Tablas de verdad</a:t>
            </a:r>
            <a:endParaRPr dirty="0">
              <a:latin typeface="+mj-lt"/>
            </a:endParaRPr>
          </a:p>
        </p:txBody>
      </p:sp>
      <p:sp>
        <p:nvSpPr>
          <p:cNvPr id="6" name="CuadroTexto 5">
            <a:extLst>
              <a:ext uri="{FF2B5EF4-FFF2-40B4-BE49-F238E27FC236}">
                <a16:creationId xmlns:a16="http://schemas.microsoft.com/office/drawing/2014/main" id="{90CBA4FE-0EF0-4C81-B436-B2CA48FF056F}"/>
              </a:ext>
            </a:extLst>
          </p:cNvPr>
          <p:cNvSpPr txBox="1"/>
          <p:nvPr/>
        </p:nvSpPr>
        <p:spPr>
          <a:xfrm>
            <a:off x="622090" y="975384"/>
            <a:ext cx="10947819" cy="400110"/>
          </a:xfrm>
          <a:prstGeom prst="rect">
            <a:avLst/>
          </a:prstGeom>
          <a:noFill/>
        </p:spPr>
        <p:txBody>
          <a:bodyPr wrap="square" rtlCol="0">
            <a:spAutoFit/>
          </a:bodyPr>
          <a:lstStyle/>
          <a:p>
            <a:r>
              <a:rPr lang="es-MX" sz="2000" b="1" dirty="0">
                <a:ea typeface="Roboto" panose="02000000000000000000" pitchFamily="2" charset="0"/>
              </a:rPr>
              <a:t>Ejemplo</a:t>
            </a:r>
            <a:r>
              <a:rPr lang="es-MX" sz="2000" dirty="0">
                <a:ea typeface="Roboto" panose="02000000000000000000" pitchFamily="2" charset="0"/>
              </a:rPr>
              <a:t>: Dado el siguiente argumento lógico:</a:t>
            </a:r>
          </a:p>
        </p:txBody>
      </p:sp>
      <p:sp>
        <p:nvSpPr>
          <p:cNvPr id="11" name="CuadroTexto 10">
            <a:extLst>
              <a:ext uri="{FF2B5EF4-FFF2-40B4-BE49-F238E27FC236}">
                <a16:creationId xmlns:a16="http://schemas.microsoft.com/office/drawing/2014/main" id="{A576466C-61B1-47D2-83DB-18A11DBFB964}"/>
              </a:ext>
            </a:extLst>
          </p:cNvPr>
          <p:cNvSpPr txBox="1"/>
          <p:nvPr/>
        </p:nvSpPr>
        <p:spPr>
          <a:xfrm>
            <a:off x="622091" y="1924884"/>
            <a:ext cx="10947818" cy="1323439"/>
          </a:xfrm>
          <a:prstGeom prst="rect">
            <a:avLst/>
          </a:prstGeom>
          <a:noFill/>
        </p:spPr>
        <p:txBody>
          <a:bodyPr wrap="square" rtlCol="0">
            <a:spAutoFit/>
          </a:bodyPr>
          <a:lstStyle/>
          <a:p>
            <a:r>
              <a:rPr lang="es-MX" sz="2000" dirty="0">
                <a:ea typeface="Roboto" panose="02000000000000000000" pitchFamily="2" charset="0"/>
              </a:rPr>
              <a:t>Se pide:</a:t>
            </a:r>
          </a:p>
          <a:p>
            <a:pPr marL="285750" indent="-285750">
              <a:buFont typeface="Arial" panose="020B0604020202020204" pitchFamily="34" charset="0"/>
              <a:buChar char="•"/>
            </a:pPr>
            <a:r>
              <a:rPr lang="es-MX" sz="2000" dirty="0">
                <a:ea typeface="Roboto" panose="02000000000000000000" pitchFamily="2" charset="0"/>
              </a:rPr>
              <a:t>¿En que tipo de representación esta?</a:t>
            </a:r>
          </a:p>
          <a:p>
            <a:pPr marL="285750" indent="-285750">
              <a:buFont typeface="Arial" panose="020B0604020202020204" pitchFamily="34" charset="0"/>
              <a:buChar char="•"/>
            </a:pPr>
            <a:r>
              <a:rPr lang="es-MX" sz="2000" dirty="0">
                <a:ea typeface="Roboto" panose="02000000000000000000" pitchFamily="2" charset="0"/>
              </a:rPr>
              <a:t>¿Cuál es la representación de este en las otras formas?</a:t>
            </a:r>
          </a:p>
          <a:p>
            <a:pPr marL="285750" indent="-285750">
              <a:buFont typeface="Arial" panose="020B0604020202020204" pitchFamily="34" charset="0"/>
              <a:buChar char="•"/>
            </a:pPr>
            <a:r>
              <a:rPr lang="es-MX" sz="2000" dirty="0">
                <a:ea typeface="Roboto" panose="02000000000000000000" pitchFamily="2" charset="0"/>
              </a:rPr>
              <a:t>Determine su validez mediante una tabla de verdad. </a:t>
            </a:r>
          </a:p>
        </p:txBody>
      </p: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9EE753F5-A8D8-4C0A-ACF4-4FFF95ED65CB}"/>
                  </a:ext>
                </a:extLst>
              </p:cNvPr>
              <p:cNvSpPr txBox="1"/>
              <p:nvPr/>
            </p:nvSpPr>
            <p:spPr>
              <a:xfrm>
                <a:off x="3882906" y="1467828"/>
                <a:ext cx="487178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𝑡</m:t>
                      </m:r>
                      <m:r>
                        <a:rPr lang="es-MX" sz="2000" b="0" i="1" smtClean="0">
                          <a:latin typeface="Cambria Math" panose="02040503050406030204" pitchFamily="18" charset="0"/>
                          <a:ea typeface="Roboto" panose="02000000000000000000" pitchFamily="2" charset="0"/>
                        </a:rPr>
                        <m:t>)</m:t>
                      </m:r>
                    </m:oMath>
                  </m:oMathPara>
                </a14:m>
                <a:endParaRPr lang="es-MX" sz="2000" dirty="0">
                  <a:latin typeface="Roboto" panose="02000000000000000000" pitchFamily="2" charset="0"/>
                  <a:ea typeface="Cambria Math" panose="02040503050406030204" pitchFamily="18" charset="0"/>
                </a:endParaRPr>
              </a:p>
            </p:txBody>
          </p:sp>
        </mc:Choice>
        <mc:Fallback>
          <p:sp>
            <p:nvSpPr>
              <p:cNvPr id="12" name="CuadroTexto 11">
                <a:extLst>
                  <a:ext uri="{FF2B5EF4-FFF2-40B4-BE49-F238E27FC236}">
                    <a16:creationId xmlns:a16="http://schemas.microsoft.com/office/drawing/2014/main" id="{9EE753F5-A8D8-4C0A-ACF4-4FFF95ED65CB}"/>
                  </a:ext>
                </a:extLst>
              </p:cNvPr>
              <p:cNvSpPr txBox="1">
                <a:spLocks noRot="1" noChangeAspect="1" noMove="1" noResize="1" noEditPoints="1" noAdjustHandles="1" noChangeArrowheads="1" noChangeShapeType="1" noTextEdit="1"/>
              </p:cNvSpPr>
              <p:nvPr/>
            </p:nvSpPr>
            <p:spPr>
              <a:xfrm>
                <a:off x="3882906" y="1467828"/>
                <a:ext cx="4871783" cy="307777"/>
              </a:xfrm>
              <a:prstGeom prst="rect">
                <a:avLst/>
              </a:prstGeom>
              <a:blipFill>
                <a:blip r:embed="rId3"/>
                <a:stretch>
                  <a:fillRect r="-1377" b="-38000"/>
                </a:stretch>
              </a:blipFill>
            </p:spPr>
            <p:txBody>
              <a:bodyPr/>
              <a:lstStyle/>
              <a:p>
                <a:r>
                  <a:rPr lang="es-CO">
                    <a:noFill/>
                  </a:rPr>
                  <a:t> </a:t>
                </a:r>
              </a:p>
            </p:txBody>
          </p:sp>
        </mc:Fallback>
      </mc:AlternateContent>
    </p:spTree>
    <p:extLst>
      <p:ext uri="{BB962C8B-B14F-4D97-AF65-F5344CB8AC3E}">
        <p14:creationId xmlns:p14="http://schemas.microsoft.com/office/powerpoint/2010/main" val="1832809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49" y="96038"/>
            <a:ext cx="1046910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Validación de argumentos – Tablas de verdad</a:t>
            </a:r>
            <a:endParaRPr dirty="0">
              <a:latin typeface="+mj-lt"/>
            </a:endParaRPr>
          </a:p>
        </p:txBody>
      </p:sp>
      <p:sp>
        <p:nvSpPr>
          <p:cNvPr id="6" name="CuadroTexto 5">
            <a:extLst>
              <a:ext uri="{FF2B5EF4-FFF2-40B4-BE49-F238E27FC236}">
                <a16:creationId xmlns:a16="http://schemas.microsoft.com/office/drawing/2014/main" id="{90CBA4FE-0EF0-4C81-B436-B2CA48FF056F}"/>
              </a:ext>
            </a:extLst>
          </p:cNvPr>
          <p:cNvSpPr txBox="1"/>
          <p:nvPr/>
        </p:nvSpPr>
        <p:spPr>
          <a:xfrm>
            <a:off x="622090" y="906448"/>
            <a:ext cx="10947819" cy="40011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Solución</a:t>
            </a:r>
            <a:r>
              <a:rPr lang="es-MX" sz="2000" dirty="0">
                <a:latin typeface="Roboto" panose="02000000000000000000" pitchFamily="2" charset="0"/>
                <a:ea typeface="Roboto" panose="02000000000000000000" pitchFamily="2" charset="0"/>
              </a:rPr>
              <a:t>: Dado el siguiente argumento lógico:</a:t>
            </a:r>
          </a:p>
        </p:txBody>
      </p: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9EE753F5-A8D8-4C0A-ACF4-4FFF95ED65CB}"/>
                  </a:ext>
                </a:extLst>
              </p:cNvPr>
              <p:cNvSpPr txBox="1"/>
              <p:nvPr/>
            </p:nvSpPr>
            <p:spPr>
              <a:xfrm>
                <a:off x="3838661" y="1510687"/>
                <a:ext cx="487178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𝑡</m:t>
                      </m:r>
                      <m:r>
                        <a:rPr lang="es-MX" sz="2000" b="0" i="1" smtClean="0">
                          <a:latin typeface="Cambria Math" panose="02040503050406030204" pitchFamily="18" charset="0"/>
                          <a:ea typeface="Roboto" panose="02000000000000000000" pitchFamily="2" charset="0"/>
                        </a:rPr>
                        <m:t>)</m:t>
                      </m:r>
                    </m:oMath>
                  </m:oMathPara>
                </a14:m>
                <a:endParaRPr lang="es-MX" sz="2000" dirty="0">
                  <a:latin typeface="Roboto" panose="02000000000000000000" pitchFamily="2" charset="0"/>
                  <a:ea typeface="Cambria Math" panose="02040503050406030204" pitchFamily="18" charset="0"/>
                </a:endParaRPr>
              </a:p>
            </p:txBody>
          </p:sp>
        </mc:Choice>
        <mc:Fallback>
          <p:sp>
            <p:nvSpPr>
              <p:cNvPr id="12" name="CuadroTexto 11">
                <a:extLst>
                  <a:ext uri="{FF2B5EF4-FFF2-40B4-BE49-F238E27FC236}">
                    <a16:creationId xmlns:a16="http://schemas.microsoft.com/office/drawing/2014/main" id="{9EE753F5-A8D8-4C0A-ACF4-4FFF95ED65CB}"/>
                  </a:ext>
                </a:extLst>
              </p:cNvPr>
              <p:cNvSpPr txBox="1">
                <a:spLocks noRot="1" noChangeAspect="1" noMove="1" noResize="1" noEditPoints="1" noAdjustHandles="1" noChangeArrowheads="1" noChangeShapeType="1" noTextEdit="1"/>
              </p:cNvSpPr>
              <p:nvPr/>
            </p:nvSpPr>
            <p:spPr>
              <a:xfrm>
                <a:off x="3838661" y="1510687"/>
                <a:ext cx="4871783" cy="307777"/>
              </a:xfrm>
              <a:prstGeom prst="rect">
                <a:avLst/>
              </a:prstGeom>
              <a:blipFill>
                <a:blip r:embed="rId3"/>
                <a:stretch>
                  <a:fillRect r="-1377" b="-38000"/>
                </a:stretch>
              </a:blipFill>
            </p:spPr>
            <p:txBody>
              <a:bodyPr/>
              <a:lstStyle/>
              <a:p>
                <a:r>
                  <a:rPr lang="es-CO">
                    <a:noFill/>
                  </a:rPr>
                  <a:t> </a:t>
                </a:r>
              </a:p>
            </p:txBody>
          </p:sp>
        </mc:Fallback>
      </mc:AlternateContent>
    </p:spTree>
    <p:extLst>
      <p:ext uri="{BB962C8B-B14F-4D97-AF65-F5344CB8AC3E}">
        <p14:creationId xmlns:p14="http://schemas.microsoft.com/office/powerpoint/2010/main" val="3588099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49" y="96038"/>
            <a:ext cx="1065325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Validación de argumentos – Tablas de verdad</a:t>
            </a:r>
            <a:endParaRPr dirty="0">
              <a:latin typeface="+mj-lt"/>
            </a:endParaRPr>
          </a:p>
        </p:txBody>
      </p:sp>
      <p:sp>
        <p:nvSpPr>
          <p:cNvPr id="6" name="CuadroTexto 5">
            <a:extLst>
              <a:ext uri="{FF2B5EF4-FFF2-40B4-BE49-F238E27FC236}">
                <a16:creationId xmlns:a16="http://schemas.microsoft.com/office/drawing/2014/main" id="{90CBA4FE-0EF0-4C81-B436-B2CA48FF056F}"/>
              </a:ext>
            </a:extLst>
          </p:cNvPr>
          <p:cNvSpPr txBox="1"/>
          <p:nvPr/>
        </p:nvSpPr>
        <p:spPr>
          <a:xfrm>
            <a:off x="622090" y="906448"/>
            <a:ext cx="10947819" cy="40011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Solución</a:t>
            </a:r>
            <a:r>
              <a:rPr lang="es-MX" sz="2000" dirty="0">
                <a:latin typeface="Roboto" panose="02000000000000000000" pitchFamily="2" charset="0"/>
                <a:ea typeface="Roboto" panose="02000000000000000000" pitchFamily="2" charset="0"/>
              </a:rPr>
              <a:t>: Dado el siguiente argumento lógico:</a:t>
            </a:r>
          </a:p>
        </p:txBody>
      </p: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9EE753F5-A8D8-4C0A-ACF4-4FFF95ED65CB}"/>
                  </a:ext>
                </a:extLst>
              </p:cNvPr>
              <p:cNvSpPr txBox="1"/>
              <p:nvPr/>
            </p:nvSpPr>
            <p:spPr>
              <a:xfrm>
                <a:off x="3838661" y="1510687"/>
                <a:ext cx="487178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𝑡</m:t>
                      </m:r>
                      <m:r>
                        <a:rPr lang="es-MX" sz="2000" b="0" i="1" smtClean="0">
                          <a:latin typeface="Cambria Math" panose="02040503050406030204" pitchFamily="18" charset="0"/>
                          <a:ea typeface="Roboto" panose="02000000000000000000" pitchFamily="2" charset="0"/>
                        </a:rPr>
                        <m:t>)</m:t>
                      </m:r>
                    </m:oMath>
                  </m:oMathPara>
                </a14:m>
                <a:endParaRPr lang="es-MX" sz="2000" dirty="0">
                  <a:latin typeface="Roboto" panose="02000000000000000000" pitchFamily="2" charset="0"/>
                  <a:ea typeface="Cambria Math" panose="02040503050406030204" pitchFamily="18" charset="0"/>
                </a:endParaRPr>
              </a:p>
            </p:txBody>
          </p:sp>
        </mc:Choice>
        <mc:Fallback>
          <p:sp>
            <p:nvSpPr>
              <p:cNvPr id="12" name="CuadroTexto 11">
                <a:extLst>
                  <a:ext uri="{FF2B5EF4-FFF2-40B4-BE49-F238E27FC236}">
                    <a16:creationId xmlns:a16="http://schemas.microsoft.com/office/drawing/2014/main" id="{9EE753F5-A8D8-4C0A-ACF4-4FFF95ED65CB}"/>
                  </a:ext>
                </a:extLst>
              </p:cNvPr>
              <p:cNvSpPr txBox="1">
                <a:spLocks noRot="1" noChangeAspect="1" noMove="1" noResize="1" noEditPoints="1" noAdjustHandles="1" noChangeArrowheads="1" noChangeShapeType="1" noTextEdit="1"/>
              </p:cNvSpPr>
              <p:nvPr/>
            </p:nvSpPr>
            <p:spPr>
              <a:xfrm>
                <a:off x="3838661" y="1510687"/>
                <a:ext cx="4871783" cy="307777"/>
              </a:xfrm>
              <a:prstGeom prst="rect">
                <a:avLst/>
              </a:prstGeom>
              <a:blipFill>
                <a:blip r:embed="rId3"/>
                <a:stretch>
                  <a:fillRect r="-1377" b="-38000"/>
                </a:stretch>
              </a:blipFill>
            </p:spPr>
            <p:txBody>
              <a:bodyPr/>
              <a:lstStyle/>
              <a:p>
                <a:r>
                  <a:rPr lang="es-CO">
                    <a:noFill/>
                  </a:rPr>
                  <a:t> </a:t>
                </a:r>
              </a:p>
            </p:txBody>
          </p:sp>
        </mc:Fallback>
      </mc:AlternateContent>
    </p:spTree>
    <p:extLst>
      <p:ext uri="{BB962C8B-B14F-4D97-AF65-F5344CB8AC3E}">
        <p14:creationId xmlns:p14="http://schemas.microsoft.com/office/powerpoint/2010/main" val="617368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94439" y="90364"/>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accent2"/>
                </a:solidFill>
                <a:latin typeface="+mj-lt"/>
              </a:rPr>
              <a:t>Silogismo</a:t>
            </a:r>
            <a:endParaRPr dirty="0">
              <a:solidFill>
                <a:schemeClr val="accent2"/>
              </a:solidFill>
              <a:latin typeface="+mj-lt"/>
            </a:endParaRPr>
          </a:p>
        </p:txBody>
      </p:sp>
      <p:sp>
        <p:nvSpPr>
          <p:cNvPr id="6" name="CuadroTexto 5">
            <a:extLst>
              <a:ext uri="{FF2B5EF4-FFF2-40B4-BE49-F238E27FC236}">
                <a16:creationId xmlns:a16="http://schemas.microsoft.com/office/drawing/2014/main" id="{EADF0CAA-C898-4BF8-A9BD-2685F47DE0AF}"/>
              </a:ext>
            </a:extLst>
          </p:cNvPr>
          <p:cNvSpPr txBox="1"/>
          <p:nvPr/>
        </p:nvSpPr>
        <p:spPr>
          <a:xfrm>
            <a:off x="208728" y="983738"/>
            <a:ext cx="10947819" cy="707886"/>
          </a:xfrm>
          <a:prstGeom prst="rect">
            <a:avLst/>
          </a:prstGeom>
          <a:noFill/>
        </p:spPr>
        <p:txBody>
          <a:bodyPr wrap="square" rtlCol="0">
            <a:spAutoFit/>
          </a:bodyPr>
          <a:lstStyle/>
          <a:p>
            <a:pPr marL="285750" indent="-285750">
              <a:buFont typeface="Arial" panose="020B0604020202020204" pitchFamily="34" charset="0"/>
              <a:buChar char="•"/>
            </a:pPr>
            <a:r>
              <a:rPr lang="es-MX" sz="2000" dirty="0">
                <a:ea typeface="Roboto" panose="02000000000000000000" pitchFamily="2" charset="0"/>
              </a:rPr>
              <a:t>Un silogismo es un tipo de argumento que consiste en dos premisas y una conclusión.</a:t>
            </a:r>
          </a:p>
          <a:p>
            <a:pPr marL="285750" indent="-285750">
              <a:buFont typeface="Arial" panose="020B0604020202020204" pitchFamily="34" charset="0"/>
              <a:buChar char="•"/>
            </a:pPr>
            <a:r>
              <a:rPr lang="es-MX" sz="2000" dirty="0">
                <a:ea typeface="Roboto" panose="02000000000000000000" pitchFamily="2" charset="0"/>
              </a:rPr>
              <a:t>La primera y segunda premisas se llaman la premisa mayor y la premisa menor, respectivamente.</a:t>
            </a:r>
          </a:p>
        </p:txBody>
      </p:sp>
      <p:sp>
        <p:nvSpPr>
          <p:cNvPr id="7" name="CuadroTexto 6">
            <a:extLst>
              <a:ext uri="{FF2B5EF4-FFF2-40B4-BE49-F238E27FC236}">
                <a16:creationId xmlns:a16="http://schemas.microsoft.com/office/drawing/2014/main" id="{CAAA7571-0BE2-478D-954B-1B1B750E2966}"/>
              </a:ext>
            </a:extLst>
          </p:cNvPr>
          <p:cNvSpPr txBox="1"/>
          <p:nvPr/>
        </p:nvSpPr>
        <p:spPr>
          <a:xfrm>
            <a:off x="208728" y="3331624"/>
            <a:ext cx="10947819" cy="707886"/>
          </a:xfrm>
          <a:prstGeom prst="rect">
            <a:avLst/>
          </a:prstGeom>
          <a:noFill/>
        </p:spPr>
        <p:txBody>
          <a:bodyPr wrap="square" rtlCol="0">
            <a:spAutoFit/>
          </a:bodyPr>
          <a:lstStyle/>
          <a:p>
            <a:pPr marL="285750" indent="-285750">
              <a:buFont typeface="Arial" panose="020B0604020202020204" pitchFamily="34" charset="0"/>
              <a:buChar char="•"/>
            </a:pPr>
            <a:r>
              <a:rPr lang="es-MX" sz="2000" dirty="0">
                <a:latin typeface="Roboto" panose="02000000000000000000" pitchFamily="2" charset="0"/>
                <a:ea typeface="Roboto" panose="02000000000000000000" pitchFamily="2" charset="0"/>
              </a:rPr>
              <a:t>La forma más famosa del silogismo en lógica se llama </a:t>
            </a:r>
            <a:r>
              <a:rPr lang="es-MX" sz="2000" b="1" dirty="0">
                <a:latin typeface="Roboto" panose="02000000000000000000" pitchFamily="2" charset="0"/>
                <a:ea typeface="Roboto" panose="02000000000000000000" pitchFamily="2" charset="0"/>
              </a:rPr>
              <a:t>modus ponens </a:t>
            </a:r>
            <a:r>
              <a:rPr lang="es-MX" sz="2000" dirty="0">
                <a:latin typeface="Roboto" panose="02000000000000000000" pitchFamily="2" charset="0"/>
                <a:ea typeface="Roboto" panose="02000000000000000000" pitchFamily="2" charset="0"/>
              </a:rPr>
              <a:t>y tiene la siguiente forma. </a:t>
            </a:r>
          </a:p>
        </p:txBody>
      </p:sp>
      <p:sp>
        <p:nvSpPr>
          <p:cNvPr id="11" name="CuadroTexto 10">
            <a:extLst>
              <a:ext uri="{FF2B5EF4-FFF2-40B4-BE49-F238E27FC236}">
                <a16:creationId xmlns:a16="http://schemas.microsoft.com/office/drawing/2014/main" id="{26A061D8-727C-40B6-935D-4446488D0734}"/>
              </a:ext>
            </a:extLst>
          </p:cNvPr>
          <p:cNvSpPr txBox="1"/>
          <p:nvPr/>
        </p:nvSpPr>
        <p:spPr>
          <a:xfrm>
            <a:off x="260433" y="1879641"/>
            <a:ext cx="5373452" cy="1107996"/>
          </a:xfrm>
          <a:prstGeom prst="rect">
            <a:avLst/>
          </a:prstGeom>
          <a:noFill/>
          <a:ln>
            <a:solidFill>
              <a:schemeClr val="tx1"/>
            </a:solidFill>
          </a:ln>
        </p:spPr>
        <p:txBody>
          <a:bodyPr wrap="square">
            <a:spAutoFit/>
          </a:bodyPr>
          <a:lstStyle/>
          <a:p>
            <a:r>
              <a:rPr lang="es-CO" sz="1600" b="1" dirty="0">
                <a:ea typeface="Roboto" panose="02000000000000000000" pitchFamily="2" charset="0"/>
              </a:rPr>
              <a:t>Si</a:t>
            </a:r>
            <a:r>
              <a:rPr lang="es-CO" sz="1600" dirty="0">
                <a:ea typeface="Roboto" panose="02000000000000000000" pitchFamily="2" charset="0"/>
              </a:rPr>
              <a:t> tiene una contraseña vigente</a:t>
            </a:r>
            <a:r>
              <a:rPr lang="es-CO" sz="1600" b="1" dirty="0">
                <a:ea typeface="Roboto" panose="02000000000000000000" pitchFamily="2" charset="0"/>
              </a:rPr>
              <a:t>,</a:t>
            </a:r>
            <a:r>
              <a:rPr lang="es-CO" sz="1600" dirty="0">
                <a:ea typeface="Roboto" panose="02000000000000000000" pitchFamily="2" charset="0"/>
              </a:rPr>
              <a:t> puede iniciar sesión en la red.</a:t>
            </a:r>
          </a:p>
          <a:p>
            <a:r>
              <a:rPr lang="es-CO" sz="1600" dirty="0">
                <a:ea typeface="Roboto" panose="02000000000000000000" pitchFamily="2" charset="0"/>
              </a:rPr>
              <a:t>Tiene una contraseña vigente.</a:t>
            </a:r>
          </a:p>
          <a:p>
            <a:r>
              <a:rPr lang="es-CO" sz="1600" b="1" dirty="0">
                <a:solidFill>
                  <a:srgbClr val="FF0000"/>
                </a:solidFill>
                <a:ea typeface="Roboto" panose="02000000000000000000" pitchFamily="2" charset="0"/>
              </a:rPr>
              <a:t>Por lo tanto, </a:t>
            </a:r>
          </a:p>
          <a:p>
            <a:r>
              <a:rPr lang="es-CO" sz="1600" dirty="0">
                <a:ea typeface="Roboto" panose="02000000000000000000" pitchFamily="2" charset="0"/>
              </a:rPr>
              <a:t>Puede iniciar sesión en la red.</a:t>
            </a:r>
          </a:p>
        </p:txBody>
      </p:sp>
      <p:grpSp>
        <p:nvGrpSpPr>
          <p:cNvPr id="10" name="Grupo 9">
            <a:extLst>
              <a:ext uri="{FF2B5EF4-FFF2-40B4-BE49-F238E27FC236}">
                <a16:creationId xmlns:a16="http://schemas.microsoft.com/office/drawing/2014/main" id="{D5A9F06C-2316-418B-8759-E6CE0284BB1C}"/>
              </a:ext>
            </a:extLst>
          </p:cNvPr>
          <p:cNvGrpSpPr/>
          <p:nvPr/>
        </p:nvGrpSpPr>
        <p:grpSpPr>
          <a:xfrm>
            <a:off x="5821171" y="1933238"/>
            <a:ext cx="6110396" cy="923330"/>
            <a:chOff x="6532867" y="2353635"/>
            <a:chExt cx="5096991" cy="923330"/>
          </a:xfrm>
          <a:solidFill>
            <a:schemeClr val="bg1">
              <a:lumMod val="95000"/>
            </a:schemeClr>
          </a:solidFill>
        </p:grpSpPr>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DC2D46BE-EF93-4009-8FC1-429E0782974F}"/>
                    </a:ext>
                  </a:extLst>
                </p:cNvPr>
                <p:cNvSpPr txBox="1"/>
                <p:nvPr/>
              </p:nvSpPr>
              <p:spPr>
                <a:xfrm>
                  <a:off x="6532867" y="2353635"/>
                  <a:ext cx="5096991" cy="923330"/>
                </a:xfrm>
                <a:prstGeom prst="rect">
                  <a:avLst/>
                </a:prstGeom>
                <a:grp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Si</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tiene</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una</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contrase</m:t>
                        </m:r>
                        <m:r>
                          <a:rPr lang="es-MX" b="0" i="0" smtClean="0">
                            <a:latin typeface="Cambria Math" panose="02040503050406030204" pitchFamily="18" charset="0"/>
                            <a:ea typeface="Cambria Math" panose="02040503050406030204" pitchFamily="18" charset="0"/>
                          </a:rPr>
                          <m:t>ñ</m:t>
                        </m:r>
                        <m:r>
                          <m:rPr>
                            <m:sty m:val="p"/>
                          </m:rPr>
                          <a:rPr lang="es-MX" b="0" i="0" smtClean="0">
                            <a:latin typeface="Cambria Math" panose="02040503050406030204" pitchFamily="18" charset="0"/>
                            <a:ea typeface="Cambria Math" panose="02040503050406030204" pitchFamily="18" charset="0"/>
                          </a:rPr>
                          <m:t>a</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vijente</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puede</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iniciar</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sesion</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en</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la</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red</m:t>
                        </m:r>
                        <m:r>
                          <a:rPr lang="es-MX" b="0" i="0" smtClean="0">
                            <a:latin typeface="Cambria Math" panose="02040503050406030204" pitchFamily="18" charset="0"/>
                            <a:ea typeface="Cambria Math" panose="02040503050406030204" pitchFamily="18" charset="0"/>
                          </a:rPr>
                          <m:t>.</m:t>
                        </m:r>
                      </m:oMath>
                    </m:oMathPara>
                  </a14:m>
                  <a:endParaRPr lang="es-MX"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Tiene</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una</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contrase</m:t>
                        </m:r>
                        <m:r>
                          <a:rPr lang="es-MX" b="0" i="0" smtClean="0">
                            <a:latin typeface="Cambria Math" panose="02040503050406030204" pitchFamily="18" charset="0"/>
                            <a:ea typeface="Cambria Math" panose="02040503050406030204" pitchFamily="18" charset="0"/>
                          </a:rPr>
                          <m:t>ñ</m:t>
                        </m:r>
                        <m:r>
                          <m:rPr>
                            <m:sty m:val="p"/>
                          </m:rPr>
                          <a:rPr lang="es-MX" b="0" i="0" smtClean="0">
                            <a:latin typeface="Cambria Math" panose="02040503050406030204" pitchFamily="18" charset="0"/>
                            <a:ea typeface="Cambria Math" panose="02040503050406030204" pitchFamily="18" charset="0"/>
                          </a:rPr>
                          <m:t>a</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vigente</m:t>
                        </m:r>
                      </m:oMath>
                    </m:oMathPara>
                  </a14:m>
                  <a:endParaRPr lang="es-MX"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CO" i="0" smtClean="0">
                            <a:latin typeface="Cambria Math" panose="02040503050406030204" pitchFamily="18" charset="0"/>
                            <a:ea typeface="Cambria Math" panose="02040503050406030204" pitchFamily="18" charset="0"/>
                          </a:rPr>
                          <m:t>∴</m:t>
                        </m:r>
                        <m:r>
                          <m:rPr>
                            <m:sty m:val="p"/>
                          </m:rPr>
                          <a:rPr lang="es-MX" b="0" i="0" smtClean="0">
                            <a:latin typeface="Cambria Math" panose="02040503050406030204" pitchFamily="18" charset="0"/>
                            <a:ea typeface="Cambria Math" panose="02040503050406030204" pitchFamily="18" charset="0"/>
                          </a:rPr>
                          <m:t>Puede</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iniciar</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una</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seci</m:t>
                        </m:r>
                        <m:r>
                          <a:rPr lang="es-MX" b="0" i="0" smtClean="0">
                            <a:latin typeface="Cambria Math" panose="02040503050406030204" pitchFamily="18" charset="0"/>
                            <a:ea typeface="Cambria Math" panose="02040503050406030204" pitchFamily="18" charset="0"/>
                          </a:rPr>
                          <m:t>ó</m:t>
                        </m:r>
                        <m:r>
                          <m:rPr>
                            <m:sty m:val="p"/>
                          </m:rPr>
                          <a:rPr lang="es-MX" b="0" i="0" smtClean="0">
                            <a:latin typeface="Cambria Math" panose="02040503050406030204" pitchFamily="18" charset="0"/>
                            <a:ea typeface="Cambria Math" panose="02040503050406030204" pitchFamily="18" charset="0"/>
                          </a:rPr>
                          <m:t>n</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en</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la</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red</m:t>
                        </m:r>
                      </m:oMath>
                    </m:oMathPara>
                  </a14:m>
                  <a:endParaRPr lang="es-CO" dirty="0"/>
                </a:p>
              </p:txBody>
            </p:sp>
          </mc:Choice>
          <mc:Fallback>
            <p:sp>
              <p:nvSpPr>
                <p:cNvPr id="12" name="CuadroTexto 11">
                  <a:extLst>
                    <a:ext uri="{FF2B5EF4-FFF2-40B4-BE49-F238E27FC236}">
                      <a16:creationId xmlns:a16="http://schemas.microsoft.com/office/drawing/2014/main" id="{DC2D46BE-EF93-4009-8FC1-429E0782974F}"/>
                    </a:ext>
                  </a:extLst>
                </p:cNvPr>
                <p:cNvSpPr txBox="1">
                  <a:spLocks noRot="1" noChangeAspect="1" noMove="1" noResize="1" noEditPoints="1" noAdjustHandles="1" noChangeArrowheads="1" noChangeShapeType="1" noTextEdit="1"/>
                </p:cNvSpPr>
                <p:nvPr/>
              </p:nvSpPr>
              <p:spPr>
                <a:xfrm>
                  <a:off x="6532867" y="2353635"/>
                  <a:ext cx="5096991" cy="923330"/>
                </a:xfrm>
                <a:prstGeom prst="rect">
                  <a:avLst/>
                </a:prstGeom>
                <a:blipFill>
                  <a:blip r:embed="rId3"/>
                  <a:stretch>
                    <a:fillRect/>
                  </a:stretch>
                </a:blipFill>
              </p:spPr>
              <p:txBody>
                <a:bodyPr/>
                <a:lstStyle/>
                <a:p>
                  <a:r>
                    <a:rPr lang="es-CO">
                      <a:noFill/>
                    </a:rPr>
                    <a:t> </a:t>
                  </a:r>
                </a:p>
              </p:txBody>
            </p:sp>
          </mc:Fallback>
        </mc:AlternateContent>
        <p:cxnSp>
          <p:nvCxnSpPr>
            <p:cNvPr id="13" name="Conector recto 12">
              <a:extLst>
                <a:ext uri="{FF2B5EF4-FFF2-40B4-BE49-F238E27FC236}">
                  <a16:creationId xmlns:a16="http://schemas.microsoft.com/office/drawing/2014/main" id="{B5FE5EFA-F579-41D3-B503-C8E4A1F8A07C}"/>
                </a:ext>
              </a:extLst>
            </p:cNvPr>
            <p:cNvCxnSpPr>
              <a:cxnSpLocks/>
            </p:cNvCxnSpPr>
            <p:nvPr/>
          </p:nvCxnSpPr>
          <p:spPr>
            <a:xfrm>
              <a:off x="6532867" y="2936152"/>
              <a:ext cx="5096991"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Grupo 26">
            <a:extLst>
              <a:ext uri="{FF2B5EF4-FFF2-40B4-BE49-F238E27FC236}">
                <a16:creationId xmlns:a16="http://schemas.microsoft.com/office/drawing/2014/main" id="{EEC92228-5F26-4C7F-9158-AB8CCE203B4F}"/>
              </a:ext>
            </a:extLst>
          </p:cNvPr>
          <p:cNvGrpSpPr/>
          <p:nvPr/>
        </p:nvGrpSpPr>
        <p:grpSpPr>
          <a:xfrm>
            <a:off x="1572008" y="4348757"/>
            <a:ext cx="2709898" cy="1405982"/>
            <a:chOff x="1832754" y="4517212"/>
            <a:chExt cx="2709898" cy="1405982"/>
          </a:xfrm>
        </p:grpSpPr>
        <p:grpSp>
          <p:nvGrpSpPr>
            <p:cNvPr id="22" name="Grupo 21">
              <a:extLst>
                <a:ext uri="{FF2B5EF4-FFF2-40B4-BE49-F238E27FC236}">
                  <a16:creationId xmlns:a16="http://schemas.microsoft.com/office/drawing/2014/main" id="{8D8E221E-7DE9-4596-872C-AED4A0036BF2}"/>
                </a:ext>
              </a:extLst>
            </p:cNvPr>
            <p:cNvGrpSpPr/>
            <p:nvPr/>
          </p:nvGrpSpPr>
          <p:grpSpPr>
            <a:xfrm>
              <a:off x="2082320" y="4999864"/>
              <a:ext cx="2120252" cy="923330"/>
              <a:chOff x="2082320" y="4999864"/>
              <a:chExt cx="2120252" cy="923330"/>
            </a:xfrm>
          </p:grpSpPr>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6CC719B-ED7D-43F4-BCF3-52C6402DADAC}"/>
                      </a:ext>
                    </a:extLst>
                  </p:cNvPr>
                  <p:cNvSpPr txBox="1"/>
                  <p:nvPr/>
                </p:nvSpPr>
                <p:spPr>
                  <a:xfrm>
                    <a:off x="2082320" y="4999864"/>
                    <a:ext cx="2120252" cy="923330"/>
                  </a:xfrm>
                  <a:prstGeom prst="rect">
                    <a:avLst/>
                  </a:prstGeom>
                  <a:solidFill>
                    <a:schemeClr val="bg1">
                      <a:lumMod val="95000"/>
                    </a:schemeClr>
                  </a:solidFill>
                </p:spPr>
                <p:txBody>
                  <a:bodyPr wrap="square">
                    <a:spAutoFit/>
                  </a:bodyPr>
                  <a:lstStyle/>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CO" sz="180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CO" sz="1800" i="1" dirty="0"/>
                  </a:p>
                </p:txBody>
              </p:sp>
            </mc:Choice>
            <mc:Fallback xmlns="">
              <p:sp>
                <p:nvSpPr>
                  <p:cNvPr id="17" name="CuadroTexto 16">
                    <a:extLst>
                      <a:ext uri="{FF2B5EF4-FFF2-40B4-BE49-F238E27FC236}">
                        <a16:creationId xmlns:a16="http://schemas.microsoft.com/office/drawing/2014/main" id="{66CC719B-ED7D-43F4-BCF3-52C6402DADAC}"/>
                      </a:ext>
                    </a:extLst>
                  </p:cNvPr>
                  <p:cNvSpPr txBox="1">
                    <a:spLocks noRot="1" noChangeAspect="1" noMove="1" noResize="1" noEditPoints="1" noAdjustHandles="1" noChangeArrowheads="1" noChangeShapeType="1" noTextEdit="1"/>
                  </p:cNvSpPr>
                  <p:nvPr/>
                </p:nvSpPr>
                <p:spPr>
                  <a:xfrm>
                    <a:off x="2082320" y="4999864"/>
                    <a:ext cx="2120252" cy="923330"/>
                  </a:xfrm>
                  <a:prstGeom prst="rect">
                    <a:avLst/>
                  </a:prstGeom>
                  <a:blipFill>
                    <a:blip r:embed="rId4"/>
                    <a:stretch>
                      <a:fillRect b="-2632"/>
                    </a:stretch>
                  </a:blipFill>
                </p:spPr>
                <p:txBody>
                  <a:bodyPr/>
                  <a:lstStyle/>
                  <a:p>
                    <a:r>
                      <a:rPr lang="es-CO">
                        <a:noFill/>
                      </a:rPr>
                      <a:t> </a:t>
                    </a:r>
                  </a:p>
                </p:txBody>
              </p:sp>
            </mc:Fallback>
          </mc:AlternateContent>
          <p:cxnSp>
            <p:nvCxnSpPr>
              <p:cNvPr id="18" name="Conector recto 17">
                <a:extLst>
                  <a:ext uri="{FF2B5EF4-FFF2-40B4-BE49-F238E27FC236}">
                    <a16:creationId xmlns:a16="http://schemas.microsoft.com/office/drawing/2014/main" id="{4B776D52-99BA-49A3-8C03-9EF8968045B5}"/>
                  </a:ext>
                </a:extLst>
              </p:cNvPr>
              <p:cNvCxnSpPr>
                <a:cxnSpLocks/>
              </p:cNvCxnSpPr>
              <p:nvPr/>
            </p:nvCxnSpPr>
            <p:spPr>
              <a:xfrm>
                <a:off x="2082320" y="5658658"/>
                <a:ext cx="2110763" cy="0"/>
              </a:xfrm>
              <a:prstGeom prst="line">
                <a:avLst/>
              </a:prstGeom>
              <a:solidFill>
                <a:schemeClr val="bg1">
                  <a:lumMod val="95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CuadroTexto 23">
              <a:extLst>
                <a:ext uri="{FF2B5EF4-FFF2-40B4-BE49-F238E27FC236}">
                  <a16:creationId xmlns:a16="http://schemas.microsoft.com/office/drawing/2014/main" id="{D47597FB-61B0-46CB-B6C5-F476A41B456A}"/>
                </a:ext>
              </a:extLst>
            </p:cNvPr>
            <p:cNvSpPr txBox="1"/>
            <p:nvPr/>
          </p:nvSpPr>
          <p:spPr>
            <a:xfrm>
              <a:off x="1832754" y="4517212"/>
              <a:ext cx="2709898" cy="338554"/>
            </a:xfrm>
            <a:prstGeom prst="rect">
              <a:avLst/>
            </a:prstGeom>
            <a:noFill/>
          </p:spPr>
          <p:txBody>
            <a:bodyPr wrap="square">
              <a:spAutoFit/>
            </a:bodyPr>
            <a:lstStyle/>
            <a:p>
              <a:pPr algn="ctr"/>
              <a:r>
                <a:rPr lang="es-MX" sz="1600" b="1" dirty="0">
                  <a:latin typeface="Roboto" panose="02000000000000000000" pitchFamily="2" charset="0"/>
                  <a:ea typeface="Roboto" panose="02000000000000000000" pitchFamily="2" charset="0"/>
                </a:rPr>
                <a:t>Notación de consecuentes</a:t>
              </a:r>
              <a:endParaRPr lang="es-CO" sz="1600" b="1" dirty="0"/>
            </a:p>
          </p:txBody>
        </p:sp>
      </p:grpSp>
      <p:grpSp>
        <p:nvGrpSpPr>
          <p:cNvPr id="16" name="Grupo 15">
            <a:extLst>
              <a:ext uri="{FF2B5EF4-FFF2-40B4-BE49-F238E27FC236}">
                <a16:creationId xmlns:a16="http://schemas.microsoft.com/office/drawing/2014/main" id="{70CB681F-4454-4400-9E53-428DE3426D23}"/>
              </a:ext>
            </a:extLst>
          </p:cNvPr>
          <p:cNvGrpSpPr/>
          <p:nvPr/>
        </p:nvGrpSpPr>
        <p:grpSpPr>
          <a:xfrm>
            <a:off x="8599388" y="4348757"/>
            <a:ext cx="2318354" cy="857693"/>
            <a:chOff x="8417974" y="4476562"/>
            <a:chExt cx="2318354" cy="857693"/>
          </a:xfrm>
        </p:grpSpPr>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EC611098-794B-499F-9EA2-2A03D2213821}"/>
                    </a:ext>
                  </a:extLst>
                </p:cNvPr>
                <p:cNvSpPr txBox="1"/>
                <p:nvPr/>
              </p:nvSpPr>
              <p:spPr>
                <a:xfrm>
                  <a:off x="8517025" y="4964923"/>
                  <a:ext cx="2120252" cy="369332"/>
                </a:xfrm>
                <a:prstGeom prst="rect">
                  <a:avLst/>
                </a:prstGeom>
                <a:solidFill>
                  <a:schemeClr val="bg1">
                    <a:lumMod val="95000"/>
                  </a:schemeClr>
                </a:solidFill>
              </p:spPr>
              <p:txBody>
                <a:bodyPr wrap="square">
                  <a:spAutoFit/>
                </a:bodyPr>
                <a:lstStyle/>
                <a:p>
                  <a:pPr/>
                  <a14:m>
                    <m:oMathPara xmlns:m="http://schemas.openxmlformats.org/officeDocument/2006/math">
                      <m:oMathParaPr>
                        <m:jc m:val="center"/>
                      </m:oMathParaPr>
                      <m:oMath xmlns:m="http://schemas.openxmlformats.org/officeDocument/2006/math">
                        <m:d>
                          <m:dPr>
                            <m:ctrlPr>
                              <a:rPr lang="es-MX" sz="1800" i="1" smtClean="0">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p:txBody>
            </p:sp>
          </mc:Choice>
          <mc:Fallback xmlns="">
            <p:sp>
              <p:nvSpPr>
                <p:cNvPr id="21" name="CuadroTexto 20">
                  <a:extLst>
                    <a:ext uri="{FF2B5EF4-FFF2-40B4-BE49-F238E27FC236}">
                      <a16:creationId xmlns:a16="http://schemas.microsoft.com/office/drawing/2014/main" id="{EC611098-794B-499F-9EA2-2A03D2213821}"/>
                    </a:ext>
                  </a:extLst>
                </p:cNvPr>
                <p:cNvSpPr txBox="1">
                  <a:spLocks noRot="1" noChangeAspect="1" noMove="1" noResize="1" noEditPoints="1" noAdjustHandles="1" noChangeArrowheads="1" noChangeShapeType="1" noTextEdit="1"/>
                </p:cNvSpPr>
                <p:nvPr/>
              </p:nvSpPr>
              <p:spPr>
                <a:xfrm>
                  <a:off x="8517025" y="4964923"/>
                  <a:ext cx="2120252" cy="369332"/>
                </a:xfrm>
                <a:prstGeom prst="rect">
                  <a:avLst/>
                </a:prstGeom>
                <a:blipFill>
                  <a:blip r:embed="rId5"/>
                  <a:stretch>
                    <a:fillRect b="-8197"/>
                  </a:stretch>
                </a:blipFill>
              </p:spPr>
              <p:txBody>
                <a:bodyPr/>
                <a:lstStyle/>
                <a:p>
                  <a:r>
                    <a:rPr lang="es-CO">
                      <a:noFill/>
                    </a:rPr>
                    <a:t> </a:t>
                  </a:r>
                </a:p>
              </p:txBody>
            </p:sp>
          </mc:Fallback>
        </mc:AlternateContent>
        <p:sp>
          <p:nvSpPr>
            <p:cNvPr id="25" name="CuadroTexto 24">
              <a:extLst>
                <a:ext uri="{FF2B5EF4-FFF2-40B4-BE49-F238E27FC236}">
                  <a16:creationId xmlns:a16="http://schemas.microsoft.com/office/drawing/2014/main" id="{49BC5C55-46D1-47BB-B1E7-82DD30D3FFEF}"/>
                </a:ext>
              </a:extLst>
            </p:cNvPr>
            <p:cNvSpPr txBox="1"/>
            <p:nvPr/>
          </p:nvSpPr>
          <p:spPr>
            <a:xfrm>
              <a:off x="8417974" y="4476562"/>
              <a:ext cx="2318354" cy="338554"/>
            </a:xfrm>
            <a:prstGeom prst="rect">
              <a:avLst/>
            </a:prstGeom>
            <a:noFill/>
          </p:spPr>
          <p:txBody>
            <a:bodyPr wrap="square">
              <a:spAutoFit/>
            </a:bodyPr>
            <a:lstStyle/>
            <a:p>
              <a:pPr algn="ctr"/>
              <a:r>
                <a:rPr lang="es-MX" sz="1600" b="1" dirty="0">
                  <a:latin typeface="Roboto" panose="02000000000000000000" pitchFamily="2" charset="0"/>
                  <a:ea typeface="Roboto" panose="02000000000000000000" pitchFamily="2" charset="0"/>
                </a:rPr>
                <a:t>Notación proposicional</a:t>
              </a:r>
              <a:endParaRPr lang="es-CO" sz="1600" b="1" dirty="0"/>
            </a:p>
          </p:txBody>
        </p:sp>
      </p:grpSp>
      <p:grpSp>
        <p:nvGrpSpPr>
          <p:cNvPr id="19" name="Grupo 18">
            <a:extLst>
              <a:ext uri="{FF2B5EF4-FFF2-40B4-BE49-F238E27FC236}">
                <a16:creationId xmlns:a16="http://schemas.microsoft.com/office/drawing/2014/main" id="{41D9EB2C-6588-4594-8E72-2E6978A3AB42}"/>
              </a:ext>
            </a:extLst>
          </p:cNvPr>
          <p:cNvGrpSpPr/>
          <p:nvPr/>
        </p:nvGrpSpPr>
        <p:grpSpPr>
          <a:xfrm>
            <a:off x="5281470" y="4348757"/>
            <a:ext cx="2318354" cy="833603"/>
            <a:chOff x="5231382" y="4513020"/>
            <a:chExt cx="2318354" cy="833603"/>
          </a:xfrm>
        </p:grpSpPr>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08E46D20-7A7E-42FC-AF69-1ACA7E1CC264}"/>
                    </a:ext>
                  </a:extLst>
                </p:cNvPr>
                <p:cNvSpPr txBox="1"/>
                <p:nvPr/>
              </p:nvSpPr>
              <p:spPr>
                <a:xfrm>
                  <a:off x="5429484" y="4977291"/>
                  <a:ext cx="2120252" cy="369332"/>
                </a:xfrm>
                <a:prstGeom prst="rect">
                  <a:avLst/>
                </a:prstGeom>
                <a:solidFill>
                  <a:schemeClr val="bg1">
                    <a:lumMod val="95000"/>
                  </a:schemeClr>
                </a:solidFill>
              </p:spPr>
              <p:txBody>
                <a:bodyPr wrap="square">
                  <a:spAutoFit/>
                </a:bodyPr>
                <a:lstStyle/>
                <a:p>
                  <a:pPr/>
                  <a14:m>
                    <m:oMathPara xmlns:m="http://schemas.openxmlformats.org/officeDocument/2006/math">
                      <m:oMathParaPr>
                        <m:jc m:val="center"/>
                      </m:oMathParaPr>
                      <m:oMath xmlns:m="http://schemas.openxmlformats.org/officeDocument/2006/math">
                        <m:d>
                          <m:dPr>
                            <m:begChr m:val="["/>
                            <m:endChr m:val="]"/>
                            <m:ctrlPr>
                              <a:rPr lang="es-MX" sz="1800" b="0" i="1" smtClean="0">
                                <a:latin typeface="Cambria Math" panose="02040503050406030204" pitchFamily="18" charset="0"/>
                                <a:ea typeface="Cambria Math" panose="02040503050406030204" pitchFamily="18" charset="0"/>
                              </a:rPr>
                            </m:ctrlPr>
                          </m:dPr>
                          <m:e>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p:txBody>
            </p:sp>
          </mc:Choice>
          <mc:Fallback xmlns="">
            <p:sp>
              <p:nvSpPr>
                <p:cNvPr id="20" name="CuadroTexto 19">
                  <a:extLst>
                    <a:ext uri="{FF2B5EF4-FFF2-40B4-BE49-F238E27FC236}">
                      <a16:creationId xmlns:a16="http://schemas.microsoft.com/office/drawing/2014/main" id="{08E46D20-7A7E-42FC-AF69-1ACA7E1CC264}"/>
                    </a:ext>
                  </a:extLst>
                </p:cNvPr>
                <p:cNvSpPr txBox="1">
                  <a:spLocks noRot="1" noChangeAspect="1" noMove="1" noResize="1" noEditPoints="1" noAdjustHandles="1" noChangeArrowheads="1" noChangeShapeType="1" noTextEdit="1"/>
                </p:cNvSpPr>
                <p:nvPr/>
              </p:nvSpPr>
              <p:spPr>
                <a:xfrm>
                  <a:off x="5429484" y="4977291"/>
                  <a:ext cx="2120252" cy="369332"/>
                </a:xfrm>
                <a:prstGeom prst="rect">
                  <a:avLst/>
                </a:prstGeom>
                <a:blipFill>
                  <a:blip r:embed="rId6"/>
                  <a:stretch>
                    <a:fillRect b="-8333"/>
                  </a:stretch>
                </a:blipFill>
              </p:spPr>
              <p:txBody>
                <a:bodyPr/>
                <a:lstStyle/>
                <a:p>
                  <a:r>
                    <a:rPr lang="es-CO">
                      <a:noFill/>
                    </a:rPr>
                    <a:t> </a:t>
                  </a:r>
                </a:p>
              </p:txBody>
            </p:sp>
          </mc:Fallback>
        </mc:AlternateContent>
        <p:sp>
          <p:nvSpPr>
            <p:cNvPr id="26" name="CuadroTexto 25">
              <a:extLst>
                <a:ext uri="{FF2B5EF4-FFF2-40B4-BE49-F238E27FC236}">
                  <a16:creationId xmlns:a16="http://schemas.microsoft.com/office/drawing/2014/main" id="{8E7BCA41-AEA4-4E30-9BBC-74B75FE7803F}"/>
                </a:ext>
              </a:extLst>
            </p:cNvPr>
            <p:cNvSpPr txBox="1"/>
            <p:nvPr/>
          </p:nvSpPr>
          <p:spPr>
            <a:xfrm>
              <a:off x="5231382" y="4513020"/>
              <a:ext cx="2318354" cy="338554"/>
            </a:xfrm>
            <a:prstGeom prst="rect">
              <a:avLst/>
            </a:prstGeom>
            <a:noFill/>
          </p:spPr>
          <p:txBody>
            <a:bodyPr wrap="square">
              <a:spAutoFit/>
            </a:bodyPr>
            <a:lstStyle/>
            <a:p>
              <a:pPr algn="ctr"/>
              <a:r>
                <a:rPr lang="es-MX" sz="1600" b="1" dirty="0">
                  <a:latin typeface="Roboto" panose="02000000000000000000" pitchFamily="2" charset="0"/>
                  <a:ea typeface="Roboto" panose="02000000000000000000" pitchFamily="2" charset="0"/>
                </a:rPr>
                <a:t>Tautología</a:t>
              </a:r>
              <a:endParaRPr lang="es-CO" sz="1600" b="1" dirty="0"/>
            </a:p>
          </p:txBody>
        </p:sp>
      </p:grpSp>
    </p:spTree>
    <p:extLst>
      <p:ext uri="{BB962C8B-B14F-4D97-AF65-F5344CB8AC3E}">
        <p14:creationId xmlns:p14="http://schemas.microsoft.com/office/powerpoint/2010/main" val="16294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398206" y="96038"/>
            <a:ext cx="8822444"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Reglas de inferencia</a:t>
            </a:r>
            <a:endParaRPr dirty="0">
              <a:latin typeface="+mj-lt"/>
            </a:endParaRPr>
          </a:p>
        </p:txBody>
      </p:sp>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36E66917-BCE6-4B33-9C33-49BD726FAFE5}"/>
                  </a:ext>
                </a:extLst>
              </p:cNvPr>
              <p:cNvSpPr txBox="1"/>
              <p:nvPr/>
            </p:nvSpPr>
            <p:spPr>
              <a:xfrm>
                <a:off x="573854" y="1045538"/>
                <a:ext cx="11044292" cy="4715971"/>
              </a:xfrm>
              <a:prstGeom prst="rect">
                <a:avLst/>
              </a:prstGeom>
              <a:noFill/>
            </p:spPr>
            <p:txBody>
              <a:bodyPr wrap="square" rtlCol="0">
                <a:spAutoFit/>
              </a:bodyPr>
              <a:lstStyle/>
              <a:p>
                <a:pPr marL="342900" indent="-342900">
                  <a:buFont typeface="Arial" panose="020B0604020202020204" pitchFamily="34" charset="0"/>
                  <a:buChar char="•"/>
                </a:pPr>
                <a:r>
                  <a:rPr lang="es-MX" sz="2000" b="1" dirty="0">
                    <a:ea typeface="Roboto" panose="02000000000000000000" pitchFamily="2" charset="0"/>
                  </a:rPr>
                  <a:t>Una prueba </a:t>
                </a:r>
                <a:r>
                  <a:rPr lang="es-MX" sz="2000" dirty="0">
                    <a:ea typeface="Roboto" panose="02000000000000000000" pitchFamily="2" charset="0"/>
                  </a:rPr>
                  <a:t>usa las hipótesis, axiomas, definiciones, etcétera para llegar a una conclusión. Cada paso de la prueba incluye sacar conclusiones inmediatas. </a:t>
                </a:r>
              </a:p>
              <a:p>
                <a:pPr marL="342900" indent="-342900">
                  <a:buFont typeface="Arial" panose="020B0604020202020204" pitchFamily="34" charset="0"/>
                  <a:buChar char="•"/>
                </a:pPr>
                <a:r>
                  <a:rPr lang="es-MX" sz="2000" dirty="0">
                    <a:ea typeface="Roboto" panose="02000000000000000000" pitchFamily="2" charset="0"/>
                  </a:rPr>
                  <a:t>Para que la prueba como un todo sea válida, cada paso debe dar como resultado una conclusión intermedia válida. </a:t>
                </a:r>
              </a:p>
              <a:p>
                <a:pPr marL="342900" indent="-342900">
                  <a:buFont typeface="Arial" panose="020B0604020202020204" pitchFamily="34" charset="0"/>
                  <a:buChar char="•"/>
                </a:pPr>
                <a:r>
                  <a:rPr lang="es-MX" sz="2000" dirty="0">
                    <a:ea typeface="Roboto" panose="02000000000000000000" pitchFamily="2" charset="0"/>
                  </a:rPr>
                  <a:t>Cuando se construye una prueba, con frecuencia se usa la intuición como guía para sacar conclusiones intermedias válidas; sin embargo, es factible formalizar el proceso.</a:t>
                </a:r>
              </a:p>
              <a:p>
                <a:pPr marL="342900" indent="-342900">
                  <a:buFont typeface="Arial" panose="020B0604020202020204" pitchFamily="34" charset="0"/>
                  <a:buChar char="•"/>
                </a:pPr>
                <a:r>
                  <a:rPr lang="es-MX" sz="2000" dirty="0">
                    <a:ea typeface="Roboto" panose="02000000000000000000" pitchFamily="2" charset="0"/>
                  </a:rPr>
                  <a:t>Como se vio anteriormente, mediante el uso de una tabla de verdad se puede demostrar la validez de un argumento lo cual se logra demostrando que, siempre que las premisas sean verdaderas, la conclusión también debe serlo. </a:t>
                </a:r>
              </a:p>
              <a:p>
                <a:pPr marL="342900" indent="-342900">
                  <a:buFont typeface="Arial" panose="020B0604020202020204" pitchFamily="34" charset="0"/>
                  <a:buChar char="•"/>
                </a:pPr>
                <a:r>
                  <a:rPr lang="es-MX" sz="2000" dirty="0">
                    <a:ea typeface="Roboto" panose="02000000000000000000" pitchFamily="2" charset="0"/>
                  </a:rPr>
                  <a:t>Si el numero de variables promocionales es grande, este enfoque puede ser tedioso (</a:t>
                </a:r>
                <a14:m>
                  <m:oMath xmlns:m="http://schemas.openxmlformats.org/officeDocument/2006/math">
                    <m:r>
                      <a:rPr lang="es-MX" sz="2000" i="1">
                        <a:ea typeface="Roboto" panose="02000000000000000000" pitchFamily="2" charset="0"/>
                      </a:rPr>
                      <m:t>1</m:t>
                    </m:r>
                    <m:r>
                      <a:rPr lang="es-MX" sz="2000" b="0" i="1" smtClean="0">
                        <a:ea typeface="Roboto" panose="02000000000000000000" pitchFamily="2" charset="0"/>
                      </a:rPr>
                      <m:t>0</m:t>
                    </m:r>
                  </m:oMath>
                </a14:m>
                <a:r>
                  <a:rPr lang="es-MX" sz="2000" dirty="0">
                    <a:ea typeface="Roboto" panose="02000000000000000000" pitchFamily="2" charset="0"/>
                  </a:rPr>
                  <a:t> implican </a:t>
                </a:r>
                <a14:m>
                  <m:oMath xmlns:m="http://schemas.openxmlformats.org/officeDocument/2006/math">
                    <m:sSup>
                      <m:sSupPr>
                        <m:ctrlPr>
                          <a:rPr lang="es-MX" sz="2000" b="0" i="1" smtClean="0">
                            <a:ea typeface="Roboto" panose="02000000000000000000" pitchFamily="2" charset="0"/>
                          </a:rPr>
                        </m:ctrlPr>
                      </m:sSupPr>
                      <m:e>
                        <m:r>
                          <a:rPr lang="es-MX" sz="2000" b="0" i="1" smtClean="0">
                            <a:ea typeface="Roboto" panose="02000000000000000000" pitchFamily="2" charset="0"/>
                          </a:rPr>
                          <m:t>2</m:t>
                        </m:r>
                      </m:e>
                      <m:sup>
                        <m:r>
                          <a:rPr lang="es-MX" sz="2000" b="0" i="1" smtClean="0">
                            <a:ea typeface="Roboto" panose="02000000000000000000" pitchFamily="2" charset="0"/>
                          </a:rPr>
                          <m:t>10</m:t>
                        </m:r>
                      </m:sup>
                    </m:sSup>
                    <m:r>
                      <a:rPr lang="es-MX" sz="2000" b="0" i="1" smtClean="0">
                        <a:ea typeface="Roboto" panose="02000000000000000000" pitchFamily="2" charset="0"/>
                      </a:rPr>
                      <m:t>=1024</m:t>
                    </m:r>
                  </m:oMath>
                </a14:m>
                <a:r>
                  <a:rPr lang="es-MX" sz="2000" dirty="0">
                    <a:ea typeface="Roboto" panose="02000000000000000000" pitchFamily="2" charset="0"/>
                  </a:rPr>
                  <a:t> combinaciones).</a:t>
                </a:r>
              </a:p>
              <a:p>
                <a:pPr marL="342900" indent="-342900">
                  <a:buFont typeface="Arial" panose="020B0604020202020204" pitchFamily="34" charset="0"/>
                  <a:buChar char="•"/>
                </a:pPr>
                <a:r>
                  <a:rPr lang="es-MX" sz="2000" dirty="0">
                    <a:ea typeface="Roboto" panose="02000000000000000000" pitchFamily="2" charset="0"/>
                  </a:rPr>
                  <a:t>Afortunadamente, existe otra forma de demostrar la validez de un argumento y es mediante el uso de unas formas fundamentes conocidas como </a:t>
                </a:r>
                <a:r>
                  <a:rPr lang="es-MX" sz="2000" b="1" dirty="0">
                    <a:ea typeface="Roboto" panose="02000000000000000000" pitchFamily="2" charset="0"/>
                  </a:rPr>
                  <a:t>reglas de inferencia</a:t>
                </a:r>
                <a:r>
                  <a:rPr lang="es-MX" sz="2000" dirty="0">
                    <a:ea typeface="Roboto" panose="02000000000000000000" pitchFamily="2" charset="0"/>
                  </a:rPr>
                  <a:t>.</a:t>
                </a:r>
              </a:p>
              <a:p>
                <a:pPr marL="342900" lvl="1" indent="-342900">
                  <a:buFont typeface="Arial" panose="020B0604020202020204" pitchFamily="34" charset="0"/>
                  <a:buChar char="•"/>
                </a:pPr>
                <a:r>
                  <a:rPr lang="es-MX" sz="2000" dirty="0">
                    <a:ea typeface="Roboto" panose="02000000000000000000" pitchFamily="2" charset="0"/>
                  </a:rPr>
                  <a:t>Las reglas de inferencia pueden usarse como elementos básicos para construir formas argumentales válidas más complejas.</a:t>
                </a:r>
              </a:p>
            </p:txBody>
          </p:sp>
        </mc:Choice>
        <mc:Fallback>
          <p:sp>
            <p:nvSpPr>
              <p:cNvPr id="28" name="CuadroTexto 27">
                <a:extLst>
                  <a:ext uri="{FF2B5EF4-FFF2-40B4-BE49-F238E27FC236}">
                    <a16:creationId xmlns:a16="http://schemas.microsoft.com/office/drawing/2014/main" id="{36E66917-BCE6-4B33-9C33-49BD726FAFE5}"/>
                  </a:ext>
                </a:extLst>
              </p:cNvPr>
              <p:cNvSpPr txBox="1">
                <a:spLocks noRot="1" noChangeAspect="1" noMove="1" noResize="1" noEditPoints="1" noAdjustHandles="1" noChangeArrowheads="1" noChangeShapeType="1" noTextEdit="1"/>
              </p:cNvSpPr>
              <p:nvPr/>
            </p:nvSpPr>
            <p:spPr>
              <a:xfrm>
                <a:off x="573854" y="1045538"/>
                <a:ext cx="11044292" cy="4715971"/>
              </a:xfrm>
              <a:prstGeom prst="rect">
                <a:avLst/>
              </a:prstGeom>
              <a:blipFill>
                <a:blip r:embed="rId3"/>
                <a:stretch>
                  <a:fillRect l="-497" t="-776" r="-883" b="-1423"/>
                </a:stretch>
              </a:blipFill>
            </p:spPr>
            <p:txBody>
              <a:bodyPr/>
              <a:lstStyle/>
              <a:p>
                <a:r>
                  <a:rPr lang="es-CO">
                    <a:noFill/>
                  </a:rPr>
                  <a:t> </a:t>
                </a:r>
              </a:p>
            </p:txBody>
          </p:sp>
        </mc:Fallback>
      </mc:AlternateContent>
    </p:spTree>
    <p:extLst>
      <p:ext uri="{BB962C8B-B14F-4D97-AF65-F5344CB8AC3E}">
        <p14:creationId xmlns:p14="http://schemas.microsoft.com/office/powerpoint/2010/main" val="1761980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Reglas de inferencia</a:t>
            </a:r>
            <a:endParaRPr dirty="0">
              <a:latin typeface="+mj-lt"/>
            </a:endParaRPr>
          </a:p>
        </p:txBody>
      </p:sp>
      <p:sp>
        <p:nvSpPr>
          <p:cNvPr id="7" name="Google Shape;310;p34">
            <a:extLst>
              <a:ext uri="{FF2B5EF4-FFF2-40B4-BE49-F238E27FC236}">
                <a16:creationId xmlns:a16="http://schemas.microsoft.com/office/drawing/2014/main" id="{C7C26403-26AF-4451-9475-6E0ED638F2F7}"/>
              </a:ext>
            </a:extLst>
          </p:cNvPr>
          <p:cNvSpPr txBox="1">
            <a:spLocks/>
          </p:cNvSpPr>
          <p:nvPr/>
        </p:nvSpPr>
        <p:spPr>
          <a:xfrm>
            <a:off x="374749" y="940717"/>
            <a:ext cx="11468205" cy="8926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1800" dirty="0">
                <a:latin typeface="Roboto" panose="02000000000000000000" pitchFamily="2" charset="0"/>
                <a:ea typeface="Roboto" panose="02000000000000000000" pitchFamily="2" charset="0"/>
              </a:rPr>
              <a:t>Una </a:t>
            </a:r>
            <a:r>
              <a:rPr lang="es-MX" sz="1800" b="1" dirty="0">
                <a:latin typeface="Roboto" panose="02000000000000000000" pitchFamily="2" charset="0"/>
                <a:ea typeface="Roboto" panose="02000000000000000000" pitchFamily="2" charset="0"/>
              </a:rPr>
              <a:t>regla de inferencia</a:t>
            </a:r>
            <a:r>
              <a:rPr lang="es-MX" sz="1800" dirty="0">
                <a:latin typeface="Roboto" panose="02000000000000000000" pitchFamily="2" charset="0"/>
                <a:ea typeface="Roboto" panose="02000000000000000000" pitchFamily="2" charset="0"/>
              </a:rPr>
              <a:t> es una forma de argumento, que es válida.</a:t>
            </a:r>
          </a:p>
          <a:p>
            <a:r>
              <a:rPr lang="es-MX" sz="1800" dirty="0">
                <a:latin typeface="Roboto" panose="02000000000000000000" pitchFamily="2" charset="0"/>
                <a:ea typeface="Roboto" panose="02000000000000000000" pitchFamily="2" charset="0"/>
              </a:rPr>
              <a:t>Existen numerosas reglas de inferencia. La siguiente tabla lista algunas de las mas importantes.</a:t>
            </a:r>
          </a:p>
        </p:txBody>
      </p:sp>
      <mc:AlternateContent xmlns:mc="http://schemas.openxmlformats.org/markup-compatibility/2006">
        <mc:Choice xmlns:a14="http://schemas.microsoft.com/office/drawing/2010/main" Requires="a14">
          <p:graphicFrame>
            <p:nvGraphicFramePr>
              <p:cNvPr id="4" name="Tabla 4">
                <a:extLst>
                  <a:ext uri="{FF2B5EF4-FFF2-40B4-BE49-F238E27FC236}">
                    <a16:creationId xmlns:a16="http://schemas.microsoft.com/office/drawing/2014/main" id="{D4E7BFE4-CEC0-4BDB-8CFB-E118DF5F79F7}"/>
                  </a:ext>
                </a:extLst>
              </p:cNvPr>
              <p:cNvGraphicFramePr>
                <a:graphicFrameLocks noGrp="1"/>
              </p:cNvGraphicFramePr>
              <p:nvPr>
                <p:extLst>
                  <p:ext uri="{D42A27DB-BD31-4B8C-83A1-F6EECF244321}">
                    <p14:modId xmlns:p14="http://schemas.microsoft.com/office/powerpoint/2010/main" val="4129663436"/>
                  </p:ext>
                </p:extLst>
              </p:nvPr>
            </p:nvGraphicFramePr>
            <p:xfrm>
              <a:off x="1162219" y="2081946"/>
              <a:ext cx="9130144" cy="4222054"/>
            </p:xfrm>
            <a:graphic>
              <a:graphicData uri="http://schemas.openxmlformats.org/drawingml/2006/table">
                <a:tbl>
                  <a:tblPr firstRow="1" bandRow="1">
                    <a:tableStyleId>{AD6A3598-7CB8-4345-8D95-17CE05F158A0}</a:tableStyleId>
                  </a:tblPr>
                  <a:tblGrid>
                    <a:gridCol w="2259407">
                      <a:extLst>
                        <a:ext uri="{9D8B030D-6E8A-4147-A177-3AD203B41FA5}">
                          <a16:colId xmlns:a16="http://schemas.microsoft.com/office/drawing/2014/main" val="3517824357"/>
                        </a:ext>
                      </a:extLst>
                    </a:gridCol>
                    <a:gridCol w="2243321">
                      <a:extLst>
                        <a:ext uri="{9D8B030D-6E8A-4147-A177-3AD203B41FA5}">
                          <a16:colId xmlns:a16="http://schemas.microsoft.com/office/drawing/2014/main" val="2212776800"/>
                        </a:ext>
                      </a:extLst>
                    </a:gridCol>
                    <a:gridCol w="2344880">
                      <a:extLst>
                        <a:ext uri="{9D8B030D-6E8A-4147-A177-3AD203B41FA5}">
                          <a16:colId xmlns:a16="http://schemas.microsoft.com/office/drawing/2014/main" val="3724117940"/>
                        </a:ext>
                      </a:extLst>
                    </a:gridCol>
                    <a:gridCol w="2282536">
                      <a:extLst>
                        <a:ext uri="{9D8B030D-6E8A-4147-A177-3AD203B41FA5}">
                          <a16:colId xmlns:a16="http://schemas.microsoft.com/office/drawing/2014/main" val="333003826"/>
                        </a:ext>
                      </a:extLst>
                    </a:gridCol>
                  </a:tblGrid>
                  <a:tr h="0">
                    <a:tc>
                      <a:txBody>
                        <a:bodyPr/>
                        <a:lstStyle/>
                        <a:p>
                          <a:r>
                            <a:rPr lang="es-CO" sz="16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243775">
                    <a:tc>
                      <a:txBody>
                        <a:bodyPr/>
                        <a:lstStyle/>
                        <a:p>
                          <a:r>
                            <a:rPr lang="es-CO" sz="1600" dirty="0">
                              <a:latin typeface="Roboto" panose="02000000000000000000" pitchFamily="2" charset="0"/>
                              <a:ea typeface="Roboto" panose="02000000000000000000" pitchFamily="2" charset="0"/>
                            </a:rPr>
                            <a:t>Modus Ponens</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m:rPr>
                                              <m:brk m:alnAt="7"/>
                                            </m:rP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e>
                                      </m:mr>
                                      <m:mr>
                                        <m:e>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den>
                                </m:f>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600" dirty="0">
                              <a:latin typeface="Roboto" panose="02000000000000000000" pitchFamily="2" charset="0"/>
                              <a:ea typeface="Roboto" panose="02000000000000000000" pitchFamily="2" charset="0"/>
                            </a:rPr>
                            <a:t>Simplificación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Roboto" panose="02000000000000000000" pitchFamily="2" charset="0"/>
                                      </a:rPr>
                                      <m:t>         </m:t>
                                    </m:r>
                                  </m:den>
                                </m:f>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259179385"/>
                      </a:ext>
                    </a:extLst>
                  </a:tr>
                  <a:tr h="243775">
                    <a:tc>
                      <a:txBody>
                        <a:bodyPr/>
                        <a:lstStyle/>
                        <a:p>
                          <a:r>
                            <a:rPr lang="es-CO" sz="1600" dirty="0">
                              <a:latin typeface="Roboto" panose="02000000000000000000" pitchFamily="2" charset="0"/>
                              <a:ea typeface="Roboto" panose="02000000000000000000" pitchFamily="2" charset="0"/>
                            </a:rPr>
                            <a:t>Modus Tollens</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m:rPr>
                                              <m:brk m:alnAt="7"/>
                                            </m:rP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e>
                                      </m:mr>
                                      <m:mr>
                                        <m:e>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Roboto" panose="02000000000000000000" pitchFamily="2" charset="0"/>
                                      </a:rPr>
                                      <m:t>         </m:t>
                                    </m:r>
                                  </m:den>
                                </m:f>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600" dirty="0">
                              <a:latin typeface="Roboto" panose="02000000000000000000" pitchFamily="2" charset="0"/>
                              <a:ea typeface="Roboto" panose="02000000000000000000" pitchFamily="2" charset="0"/>
                            </a:rPr>
                            <a:t>Conjunción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     </m:t>
                                          </m:r>
                                        </m:e>
                                      </m:mr>
                                      <m:mr>
                                        <m:e>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r>
                                      <m:rPr>
                                        <m:nor/>
                                      </m:rPr>
                                      <a:rPr lang="es-CO" sz="1600" dirty="0">
                                        <a:latin typeface="Roboto" panose="02000000000000000000" pitchFamily="2" charset="0"/>
                                        <a:ea typeface="Roboto" panose="02000000000000000000" pitchFamily="2" charset="0"/>
                                      </a:rPr>
                                      <m:t> </m:t>
                                    </m:r>
                                  </m:den>
                                </m:f>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078799334"/>
                      </a:ext>
                    </a:extLst>
                  </a:tr>
                  <a:tr h="243775">
                    <a:tc>
                      <a:txBody>
                        <a:bodyPr/>
                        <a:lstStyle/>
                        <a:p>
                          <a:r>
                            <a:rPr lang="es-CO" sz="1600" dirty="0">
                              <a:latin typeface="Roboto" panose="02000000000000000000" pitchFamily="2" charset="0"/>
                              <a:ea typeface="Roboto" panose="02000000000000000000" pitchFamily="2" charset="0"/>
                            </a:rPr>
                            <a:t>Silogismo hipotético (Transitividad)</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m:rPr>
                                              <m:brk m:alnAt="7"/>
                                            </m:rP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e>
                                      </m:mr>
                                      <m:mr>
                                        <m:e>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r>
                                            <m:rPr>
                                              <m:nor/>
                                            </m:rPr>
                                            <a:rPr lang="es-CO" sz="1600" dirty="0">
                                              <a:latin typeface="Roboto" panose="02000000000000000000" pitchFamily="2"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den>
                                </m:f>
                              </m:oMath>
                            </m:oMathPara>
                          </a14:m>
                          <a:endParaRPr lang="es-CO" sz="1600" dirty="0">
                            <a:latin typeface="Roboto" panose="02000000000000000000" pitchFamily="2" charset="0"/>
                            <a:ea typeface="Roboto" panose="02000000000000000000" pitchFamily="2" charset="0"/>
                          </a:endParaRPr>
                        </a:p>
                      </a:txBody>
                      <a:tcPr/>
                    </a:tc>
                    <a:tc rowSpan="2">
                      <a:txBody>
                        <a:bodyPr/>
                        <a:lstStyle/>
                        <a:p>
                          <a:r>
                            <a:rPr lang="es-CO" sz="1600" dirty="0">
                              <a:latin typeface="Roboto" panose="02000000000000000000" pitchFamily="2" charset="0"/>
                              <a:ea typeface="Roboto" panose="02000000000000000000" pitchFamily="2" charset="0"/>
                            </a:rPr>
                            <a:t>Prueba de división por casos</a:t>
                          </a:r>
                        </a:p>
                      </a:txBody>
                      <a:tcPr anchor="ctr"/>
                    </a:tc>
                    <a:tc rowSpan="2">
                      <a:txBody>
                        <a:bodyPr/>
                        <a:lstStyle/>
                        <a:p>
                          <a:pPr lvl="1" algn="ctr"/>
                          <a14:m>
                            <m:oMathPara xmlns:m="http://schemas.openxmlformats.org/officeDocument/2006/math">
                              <m:oMathParaPr>
                                <m:jc m:val="left"/>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e>
                                      </m:mr>
                                      <m:m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r>
                                            <m:rPr>
                                              <m:nor/>
                                            </m:rPr>
                                            <a:rPr lang="es-MX" sz="1600" b="0" dirty="0">
                                              <a:latin typeface="Roboto" panose="02000000000000000000" pitchFamily="2" charset="0"/>
                                              <a:ea typeface="Roboto" panose="02000000000000000000" pitchFamily="2" charset="0"/>
                                            </a:rPr>
                                            <m:t> </m:t>
                                          </m:r>
                                        </m:e>
                                      </m:mr>
                                      <m:mr>
                                        <m:e>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             </m:t>
                                    </m:r>
                                  </m:den>
                                </m:f>
                              </m:oMath>
                            </m:oMathPara>
                          </a14:m>
                          <a:endParaRPr lang="es-CO" sz="1600" dirty="0">
                            <a:latin typeface="Roboto" panose="02000000000000000000" pitchFamily="2" charset="0"/>
                            <a:ea typeface="Roboto" panose="02000000000000000000" pitchFamily="2" charset="0"/>
                          </a:endParaRPr>
                        </a:p>
                      </a:txBody>
                      <a:tcPr anchor="ctr"/>
                    </a:tc>
                    <a:extLst>
                      <a:ext uri="{0D108BD9-81ED-4DB2-BD59-A6C34878D82A}">
                        <a16:rowId xmlns:a16="http://schemas.microsoft.com/office/drawing/2014/main" val="682340052"/>
                      </a:ext>
                    </a:extLst>
                  </a:tr>
                  <a:tr h="243775">
                    <a:tc>
                      <a:txBody>
                        <a:bodyPr/>
                        <a:lstStyle/>
                        <a:p>
                          <a:r>
                            <a:rPr lang="es-CO" sz="1600" dirty="0">
                              <a:latin typeface="Roboto" panose="02000000000000000000" pitchFamily="2" charset="0"/>
                              <a:ea typeface="Roboto" panose="02000000000000000000" pitchFamily="2" charset="0"/>
                            </a:rPr>
                            <a:t>Silogismo disyuntivo (Eliminación)</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r>
                                            <m:rPr>
                                              <m:nor/>
                                            </m:rPr>
                                            <a:rPr lang="es-CO" sz="1600" dirty="0">
                                              <a:latin typeface="Roboto" panose="02000000000000000000" pitchFamily="2" charset="0"/>
                                              <a:ea typeface="Roboto" panose="02000000000000000000" pitchFamily="2" charset="0"/>
                                            </a:rPr>
                                            <m:t> </m:t>
                                          </m:r>
                                        </m:e>
                                      </m:mr>
                                      <m:mr>
                                        <m:e>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             </m:t>
                                    </m:r>
                                  </m:den>
                                </m:f>
                              </m:oMath>
                            </m:oMathPara>
                          </a14:m>
                          <a:endParaRPr lang="es-CO" sz="1600"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0">
                    <a:tc>
                      <a:txBody>
                        <a:bodyPr/>
                        <a:lstStyle/>
                        <a:p>
                          <a:r>
                            <a:rPr lang="es-CO" sz="1600" dirty="0">
                              <a:latin typeface="Roboto" panose="02000000000000000000" pitchFamily="2" charset="0"/>
                              <a:ea typeface="Roboto" panose="02000000000000000000" pitchFamily="2" charset="0"/>
                            </a:rPr>
                            <a:t>Adición</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    </m:t>
                                    </m:r>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den>
                                </m:f>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600" dirty="0">
                              <a:latin typeface="Roboto" panose="02000000000000000000" pitchFamily="2" charset="0"/>
                              <a:ea typeface="Roboto" panose="02000000000000000000" pitchFamily="2" charset="0"/>
                            </a:rPr>
                            <a:t>Resolución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𝑟</m:t>
                                          </m:r>
                                          <m:r>
                                            <m:rPr>
                                              <m:nor/>
                                            </m:rPr>
                                            <a:rPr lang="es-MX" sz="1600" b="0" dirty="0">
                                              <a:latin typeface="Roboto" panose="02000000000000000000" pitchFamily="2" charset="0"/>
                                              <a:ea typeface="Roboto" panose="02000000000000000000" pitchFamily="2" charset="0"/>
                                            </a:rPr>
                                            <m:t> </m:t>
                                          </m:r>
                                        </m:e>
                                      </m:mr>
                                      <m:m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        </m:t>
                                    </m:r>
                                  </m:den>
                                </m:f>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17682141"/>
                      </a:ext>
                    </a:extLst>
                  </a:tr>
                </a:tbl>
              </a:graphicData>
            </a:graphic>
          </p:graphicFrame>
        </mc:Choice>
        <mc:Fallback>
          <p:graphicFrame>
            <p:nvGraphicFramePr>
              <p:cNvPr id="4" name="Tabla 4">
                <a:extLst>
                  <a:ext uri="{FF2B5EF4-FFF2-40B4-BE49-F238E27FC236}">
                    <a16:creationId xmlns:a16="http://schemas.microsoft.com/office/drawing/2014/main" id="{D4E7BFE4-CEC0-4BDB-8CFB-E118DF5F79F7}"/>
                  </a:ext>
                </a:extLst>
              </p:cNvPr>
              <p:cNvGraphicFramePr>
                <a:graphicFrameLocks noGrp="1"/>
              </p:cNvGraphicFramePr>
              <p:nvPr>
                <p:extLst>
                  <p:ext uri="{D42A27DB-BD31-4B8C-83A1-F6EECF244321}">
                    <p14:modId xmlns:p14="http://schemas.microsoft.com/office/powerpoint/2010/main" val="4129663436"/>
                  </p:ext>
                </p:extLst>
              </p:nvPr>
            </p:nvGraphicFramePr>
            <p:xfrm>
              <a:off x="1162219" y="2081946"/>
              <a:ext cx="9130144" cy="4222054"/>
            </p:xfrm>
            <a:graphic>
              <a:graphicData uri="http://schemas.openxmlformats.org/drawingml/2006/table">
                <a:tbl>
                  <a:tblPr firstRow="1" bandRow="1">
                    <a:tableStyleId>{AD6A3598-7CB8-4345-8D95-17CE05F158A0}</a:tableStyleId>
                  </a:tblPr>
                  <a:tblGrid>
                    <a:gridCol w="2259407">
                      <a:extLst>
                        <a:ext uri="{9D8B030D-6E8A-4147-A177-3AD203B41FA5}">
                          <a16:colId xmlns:a16="http://schemas.microsoft.com/office/drawing/2014/main" val="3517824357"/>
                        </a:ext>
                      </a:extLst>
                    </a:gridCol>
                    <a:gridCol w="2243321">
                      <a:extLst>
                        <a:ext uri="{9D8B030D-6E8A-4147-A177-3AD203B41FA5}">
                          <a16:colId xmlns:a16="http://schemas.microsoft.com/office/drawing/2014/main" val="2212776800"/>
                        </a:ext>
                      </a:extLst>
                    </a:gridCol>
                    <a:gridCol w="2344880">
                      <a:extLst>
                        <a:ext uri="{9D8B030D-6E8A-4147-A177-3AD203B41FA5}">
                          <a16:colId xmlns:a16="http://schemas.microsoft.com/office/drawing/2014/main" val="3724117940"/>
                        </a:ext>
                      </a:extLst>
                    </a:gridCol>
                    <a:gridCol w="2282536">
                      <a:extLst>
                        <a:ext uri="{9D8B030D-6E8A-4147-A177-3AD203B41FA5}">
                          <a16:colId xmlns:a16="http://schemas.microsoft.com/office/drawing/2014/main" val="333003826"/>
                        </a:ext>
                      </a:extLst>
                    </a:gridCol>
                  </a:tblGrid>
                  <a:tr h="335280">
                    <a:tc>
                      <a:txBody>
                        <a:bodyPr/>
                        <a:lstStyle/>
                        <a:p>
                          <a:r>
                            <a:rPr lang="es-CO" sz="16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770192">
                    <a:tc>
                      <a:txBody>
                        <a:bodyPr/>
                        <a:lstStyle/>
                        <a:p>
                          <a:r>
                            <a:rPr lang="es-CO" sz="1600" dirty="0">
                              <a:latin typeface="Roboto" panose="02000000000000000000" pitchFamily="2" charset="0"/>
                              <a:ea typeface="Roboto" panose="02000000000000000000" pitchFamily="2" charset="0"/>
                            </a:rPr>
                            <a:t>Modus Ponens</a:t>
                          </a:r>
                        </a:p>
                      </a:txBody>
                      <a:tcPr anchor="ctr"/>
                    </a:tc>
                    <a:tc>
                      <a:txBody>
                        <a:bodyPr/>
                        <a:lstStyle/>
                        <a:p>
                          <a:endParaRPr lang="es-CO"/>
                        </a:p>
                      </a:txBody>
                      <a:tcPr>
                        <a:blipFill>
                          <a:blip r:embed="rId3"/>
                          <a:stretch>
                            <a:fillRect l="-101087" t="-44882" r="-206793" b="-403937"/>
                          </a:stretch>
                        </a:blipFill>
                      </a:tcPr>
                    </a:tc>
                    <a:tc>
                      <a:txBody>
                        <a:bodyPr/>
                        <a:lstStyle/>
                        <a:p>
                          <a:r>
                            <a:rPr lang="es-CO" sz="1600" dirty="0">
                              <a:latin typeface="Roboto" panose="02000000000000000000" pitchFamily="2" charset="0"/>
                              <a:ea typeface="Roboto" panose="02000000000000000000" pitchFamily="2" charset="0"/>
                            </a:rPr>
                            <a:t>Simplificación</a:t>
                          </a:r>
                        </a:p>
                      </a:txBody>
                      <a:tcPr anchor="ctr"/>
                    </a:tc>
                    <a:tc>
                      <a:txBody>
                        <a:bodyPr/>
                        <a:lstStyle/>
                        <a:p>
                          <a:endParaRPr lang="es-CO"/>
                        </a:p>
                      </a:txBody>
                      <a:tcPr>
                        <a:blipFill>
                          <a:blip r:embed="rId3"/>
                          <a:stretch>
                            <a:fillRect l="-300000" t="-44882" r="-267" b="-403937"/>
                          </a:stretch>
                        </a:blipFill>
                      </a:tcPr>
                    </a:tc>
                    <a:extLst>
                      <a:ext uri="{0D108BD9-81ED-4DB2-BD59-A6C34878D82A}">
                        <a16:rowId xmlns:a16="http://schemas.microsoft.com/office/drawing/2014/main" val="4259179385"/>
                      </a:ext>
                    </a:extLst>
                  </a:tr>
                  <a:tr h="770192">
                    <a:tc>
                      <a:txBody>
                        <a:bodyPr/>
                        <a:lstStyle/>
                        <a:p>
                          <a:r>
                            <a:rPr lang="es-CO" sz="1600" dirty="0">
                              <a:latin typeface="Roboto" panose="02000000000000000000" pitchFamily="2" charset="0"/>
                              <a:ea typeface="Roboto" panose="02000000000000000000" pitchFamily="2" charset="0"/>
                            </a:rPr>
                            <a:t>Modus Tollens</a:t>
                          </a:r>
                        </a:p>
                      </a:txBody>
                      <a:tcPr anchor="ctr"/>
                    </a:tc>
                    <a:tc>
                      <a:txBody>
                        <a:bodyPr/>
                        <a:lstStyle/>
                        <a:p>
                          <a:endParaRPr lang="es-CO"/>
                        </a:p>
                      </a:txBody>
                      <a:tcPr>
                        <a:blipFill>
                          <a:blip r:embed="rId3"/>
                          <a:stretch>
                            <a:fillRect l="-101087" t="-146032" r="-206793" b="-307143"/>
                          </a:stretch>
                        </a:blipFill>
                      </a:tcPr>
                    </a:tc>
                    <a:tc>
                      <a:txBody>
                        <a:bodyPr/>
                        <a:lstStyle/>
                        <a:p>
                          <a:r>
                            <a:rPr lang="es-CO" sz="1600" dirty="0">
                              <a:latin typeface="Roboto" panose="02000000000000000000" pitchFamily="2" charset="0"/>
                              <a:ea typeface="Roboto" panose="02000000000000000000" pitchFamily="2" charset="0"/>
                            </a:rPr>
                            <a:t>Conjunción</a:t>
                          </a:r>
                        </a:p>
                      </a:txBody>
                      <a:tcPr anchor="ctr"/>
                    </a:tc>
                    <a:tc>
                      <a:txBody>
                        <a:bodyPr/>
                        <a:lstStyle/>
                        <a:p>
                          <a:endParaRPr lang="es-CO"/>
                        </a:p>
                      </a:txBody>
                      <a:tcPr>
                        <a:blipFill>
                          <a:blip r:embed="rId3"/>
                          <a:stretch>
                            <a:fillRect l="-300000" t="-146032" r="-267" b="-307143"/>
                          </a:stretch>
                        </a:blipFill>
                      </a:tcPr>
                    </a:tc>
                    <a:extLst>
                      <a:ext uri="{0D108BD9-81ED-4DB2-BD59-A6C34878D82A}">
                        <a16:rowId xmlns:a16="http://schemas.microsoft.com/office/drawing/2014/main" val="1078799334"/>
                      </a:ext>
                    </a:extLst>
                  </a:tr>
                  <a:tr h="770192">
                    <a:tc>
                      <a:txBody>
                        <a:bodyPr/>
                        <a:lstStyle/>
                        <a:p>
                          <a:r>
                            <a:rPr lang="es-CO" sz="1600" dirty="0">
                              <a:latin typeface="Roboto" panose="02000000000000000000" pitchFamily="2" charset="0"/>
                              <a:ea typeface="Roboto" panose="02000000000000000000" pitchFamily="2" charset="0"/>
                            </a:rPr>
                            <a:t>Silogismo hipotético (Transitividad)</a:t>
                          </a:r>
                        </a:p>
                      </a:txBody>
                      <a:tcPr anchor="ctr"/>
                    </a:tc>
                    <a:tc>
                      <a:txBody>
                        <a:bodyPr/>
                        <a:lstStyle/>
                        <a:p>
                          <a:endParaRPr lang="es-CO"/>
                        </a:p>
                      </a:txBody>
                      <a:tcPr>
                        <a:blipFill>
                          <a:blip r:embed="rId3"/>
                          <a:stretch>
                            <a:fillRect l="-101087" t="-244094" r="-206793" b="-204724"/>
                          </a:stretch>
                        </a:blipFill>
                      </a:tcPr>
                    </a:tc>
                    <a:tc rowSpan="2">
                      <a:txBody>
                        <a:bodyPr/>
                        <a:lstStyle/>
                        <a:p>
                          <a:r>
                            <a:rPr lang="es-CO" sz="1600" dirty="0">
                              <a:latin typeface="Roboto" panose="02000000000000000000" pitchFamily="2" charset="0"/>
                              <a:ea typeface="Roboto" panose="02000000000000000000" pitchFamily="2" charset="0"/>
                            </a:rPr>
                            <a:t>Prueba de división por casos</a:t>
                          </a:r>
                        </a:p>
                      </a:txBody>
                      <a:tcPr anchor="ctr"/>
                    </a:tc>
                    <a:tc rowSpan="2">
                      <a:txBody>
                        <a:bodyPr/>
                        <a:lstStyle/>
                        <a:p>
                          <a:endParaRPr lang="es-CO"/>
                        </a:p>
                      </a:txBody>
                      <a:tcPr anchor="ctr">
                        <a:blipFill>
                          <a:blip r:embed="rId3"/>
                          <a:stretch>
                            <a:fillRect l="-300000" t="-121094" r="-267" b="-51172"/>
                          </a:stretch>
                        </a:blipFill>
                      </a:tcPr>
                    </a:tc>
                    <a:extLst>
                      <a:ext uri="{0D108BD9-81ED-4DB2-BD59-A6C34878D82A}">
                        <a16:rowId xmlns:a16="http://schemas.microsoft.com/office/drawing/2014/main" val="682340052"/>
                      </a:ext>
                    </a:extLst>
                  </a:tr>
                  <a:tr h="788099">
                    <a:tc>
                      <a:txBody>
                        <a:bodyPr/>
                        <a:lstStyle/>
                        <a:p>
                          <a:r>
                            <a:rPr lang="es-CO" sz="1600" dirty="0">
                              <a:latin typeface="Roboto" panose="02000000000000000000" pitchFamily="2" charset="0"/>
                              <a:ea typeface="Roboto" panose="02000000000000000000" pitchFamily="2" charset="0"/>
                            </a:rPr>
                            <a:t>Silogismo disyuntivo (Eliminación)</a:t>
                          </a:r>
                        </a:p>
                      </a:txBody>
                      <a:tcPr anchor="ctr"/>
                    </a:tc>
                    <a:tc>
                      <a:txBody>
                        <a:bodyPr/>
                        <a:lstStyle/>
                        <a:p>
                          <a:endParaRPr lang="es-CO"/>
                        </a:p>
                      </a:txBody>
                      <a:tcPr>
                        <a:blipFill>
                          <a:blip r:embed="rId3"/>
                          <a:stretch>
                            <a:fillRect l="-101087" t="-338760" r="-206793" b="-101550"/>
                          </a:stretch>
                        </a:blipFill>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788099">
                    <a:tc>
                      <a:txBody>
                        <a:bodyPr/>
                        <a:lstStyle/>
                        <a:p>
                          <a:r>
                            <a:rPr lang="es-CO" sz="1600" dirty="0">
                              <a:latin typeface="Roboto" panose="02000000000000000000" pitchFamily="2" charset="0"/>
                              <a:ea typeface="Roboto" panose="02000000000000000000" pitchFamily="2" charset="0"/>
                            </a:rPr>
                            <a:t>Adición</a:t>
                          </a:r>
                        </a:p>
                      </a:txBody>
                      <a:tcPr anchor="ctr"/>
                    </a:tc>
                    <a:tc>
                      <a:txBody>
                        <a:bodyPr/>
                        <a:lstStyle/>
                        <a:p>
                          <a:endParaRPr lang="es-CO"/>
                        </a:p>
                      </a:txBody>
                      <a:tcPr>
                        <a:blipFill>
                          <a:blip r:embed="rId3"/>
                          <a:stretch>
                            <a:fillRect l="-101087" t="-435385" r="-206793" b="-769"/>
                          </a:stretch>
                        </a:blipFill>
                      </a:tcPr>
                    </a:tc>
                    <a:tc>
                      <a:txBody>
                        <a:bodyPr/>
                        <a:lstStyle/>
                        <a:p>
                          <a:r>
                            <a:rPr lang="es-CO" sz="1600" dirty="0">
                              <a:latin typeface="Roboto" panose="02000000000000000000" pitchFamily="2" charset="0"/>
                              <a:ea typeface="Roboto" panose="02000000000000000000" pitchFamily="2" charset="0"/>
                            </a:rPr>
                            <a:t>Resolución</a:t>
                          </a:r>
                        </a:p>
                      </a:txBody>
                      <a:tcPr anchor="ctr"/>
                    </a:tc>
                    <a:tc>
                      <a:txBody>
                        <a:bodyPr/>
                        <a:lstStyle/>
                        <a:p>
                          <a:endParaRPr lang="es-CO"/>
                        </a:p>
                      </a:txBody>
                      <a:tcPr>
                        <a:blipFill>
                          <a:blip r:embed="rId3"/>
                          <a:stretch>
                            <a:fillRect l="-300000" t="-435385" r="-267" b="-769"/>
                          </a:stretch>
                        </a:blipFill>
                      </a:tcPr>
                    </a:tc>
                    <a:extLst>
                      <a:ext uri="{0D108BD9-81ED-4DB2-BD59-A6C34878D82A}">
                        <a16:rowId xmlns:a16="http://schemas.microsoft.com/office/drawing/2014/main" val="2217682141"/>
                      </a:ext>
                    </a:extLst>
                  </a:tr>
                </a:tbl>
              </a:graphicData>
            </a:graphic>
          </p:graphicFrame>
        </mc:Fallback>
      </mc:AlternateContent>
    </p:spTree>
    <p:extLst>
      <p:ext uri="{BB962C8B-B14F-4D97-AF65-F5344CB8AC3E}">
        <p14:creationId xmlns:p14="http://schemas.microsoft.com/office/powerpoint/2010/main" val="1343644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96038"/>
            <a:ext cx="11331676" cy="949500"/>
          </a:xfrm>
        </p:spPr>
        <p:txBody>
          <a:bodyPr/>
          <a:lstStyle/>
          <a:p>
            <a:r>
              <a:rPr lang="es-ES" dirty="0">
                <a:latin typeface="+mj-lt"/>
              </a:rPr>
              <a:t>Validación de argumentos – Enfoque axiomático</a:t>
            </a:r>
            <a:endParaRPr lang="es-CO" dirty="0"/>
          </a:p>
        </p:txBody>
      </p:sp>
      <p:sp>
        <p:nvSpPr>
          <p:cNvPr id="7" name="CuadroTexto 6">
            <a:extLst>
              <a:ext uri="{FF2B5EF4-FFF2-40B4-BE49-F238E27FC236}">
                <a16:creationId xmlns:a16="http://schemas.microsoft.com/office/drawing/2014/main" id="{3802F684-C638-42EC-9880-5DB2EDF1637D}"/>
              </a:ext>
            </a:extLst>
          </p:cNvPr>
          <p:cNvSpPr txBox="1"/>
          <p:nvPr/>
        </p:nvSpPr>
        <p:spPr>
          <a:xfrm>
            <a:off x="374751" y="1045538"/>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Equivalencias lógicas</a:t>
            </a:r>
          </a:p>
        </p:txBody>
      </p:sp>
      <mc:AlternateContent xmlns:mc="http://schemas.openxmlformats.org/markup-compatibility/2006">
        <mc:Choice xmlns:a14="http://schemas.microsoft.com/office/drawing/2010/main" Requires="a14">
          <p:graphicFrame>
            <p:nvGraphicFramePr>
              <p:cNvPr id="8" name="Tabla 3">
                <a:extLst>
                  <a:ext uri="{FF2B5EF4-FFF2-40B4-BE49-F238E27FC236}">
                    <a16:creationId xmlns:a16="http://schemas.microsoft.com/office/drawing/2014/main" id="{358CD1C6-25CE-42D7-8BBB-976CE339540D}"/>
                  </a:ext>
                </a:extLst>
              </p:cNvPr>
              <p:cNvGraphicFramePr>
                <a:graphicFrameLocks noGrp="1"/>
              </p:cNvGraphicFramePr>
              <p:nvPr>
                <p:extLst>
                  <p:ext uri="{D42A27DB-BD31-4B8C-83A1-F6EECF244321}">
                    <p14:modId xmlns:p14="http://schemas.microsoft.com/office/powerpoint/2010/main" val="477128663"/>
                  </p:ext>
                </p:extLst>
              </p:nvPr>
            </p:nvGraphicFramePr>
            <p:xfrm>
              <a:off x="439174" y="1727969"/>
              <a:ext cx="7023510" cy="4297680"/>
            </p:xfrm>
            <a:graphic>
              <a:graphicData uri="http://schemas.openxmlformats.org/drawingml/2006/table">
                <a:tbl>
                  <a:tblPr firstRow="1" bandRow="1">
                    <a:tableStyleId>{AD6A3598-7CB8-4345-8D95-17CE05F158A0}</a:tableStyleId>
                  </a:tblPr>
                  <a:tblGrid>
                    <a:gridCol w="1668374">
                      <a:extLst>
                        <a:ext uri="{9D8B030D-6E8A-4147-A177-3AD203B41FA5}">
                          <a16:colId xmlns:a16="http://schemas.microsoft.com/office/drawing/2014/main" val="2419793140"/>
                        </a:ext>
                      </a:extLst>
                    </a:gridCol>
                    <a:gridCol w="2707604">
                      <a:extLst>
                        <a:ext uri="{9D8B030D-6E8A-4147-A177-3AD203B41FA5}">
                          <a16:colId xmlns:a16="http://schemas.microsoft.com/office/drawing/2014/main" val="2761119023"/>
                        </a:ext>
                      </a:extLst>
                    </a:gridCol>
                    <a:gridCol w="2647532">
                      <a:extLst>
                        <a:ext uri="{9D8B030D-6E8A-4147-A177-3AD203B41FA5}">
                          <a16:colId xmlns:a16="http://schemas.microsoft.com/office/drawing/2014/main" val="3891570482"/>
                        </a:ext>
                      </a:extLst>
                    </a:gridCol>
                  </a:tblGrid>
                  <a:tr h="213585">
                    <a:tc>
                      <a:txBody>
                        <a:bodyPr/>
                        <a:lstStyle/>
                        <a:p>
                          <a:r>
                            <a:rPr lang="es-CO" sz="1600" b="1" dirty="0">
                              <a:latin typeface="Roboto" panose="02000000000000000000" pitchFamily="2" charset="0"/>
                              <a:ea typeface="Roboto" panose="02000000000000000000" pitchFamily="2" charset="0"/>
                            </a:rPr>
                            <a:t>Nombre</a:t>
                          </a:r>
                        </a:p>
                      </a:txBody>
                      <a:tcPr>
                        <a:solidFill>
                          <a:schemeClr val="bg1">
                            <a:lumMod val="95000"/>
                          </a:schemeClr>
                        </a:solidFill>
                      </a:tcPr>
                    </a:tc>
                    <a:tc gridSpan="2">
                      <a:txBody>
                        <a:bodyPr/>
                        <a:lstStyle/>
                        <a:p>
                          <a:pPr algn="ctr"/>
                          <a:r>
                            <a:rPr lang="es-CO" sz="1600" b="1" dirty="0">
                              <a:latin typeface="Roboto" panose="02000000000000000000" pitchFamily="2" charset="0"/>
                              <a:ea typeface="Roboto" panose="02000000000000000000" pitchFamily="2" charset="0"/>
                            </a:rPr>
                            <a:t>Equivalencia lógica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624526593"/>
                      </a:ext>
                    </a:extLst>
                  </a:tr>
                  <a:tr h="213585">
                    <a:tc>
                      <a:txBody>
                        <a:bodyPr/>
                        <a:lstStyle/>
                        <a:p>
                          <a:r>
                            <a:rPr lang="es-CO" sz="1400" b="1" dirty="0">
                              <a:latin typeface="Roboto" panose="02000000000000000000" pitchFamily="2" charset="0"/>
                              <a:ea typeface="Roboto" panose="02000000000000000000" pitchFamily="2" charset="0"/>
                            </a:rPr>
                            <a:t>Conmutatividad</a:t>
                          </a: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213585">
                    <a:tc>
                      <a:txBody>
                        <a:bodyPr/>
                        <a:lstStyle/>
                        <a:p>
                          <a:r>
                            <a:rPr lang="es-CO" sz="1400" b="1" dirty="0">
                              <a:latin typeface="Roboto" panose="02000000000000000000" pitchFamily="2" charset="0"/>
                              <a:ea typeface="Roboto" panose="02000000000000000000" pitchFamily="2" charset="0"/>
                            </a:rPr>
                            <a:t>Asociatividad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213585">
                    <a:tc>
                      <a:txBody>
                        <a:bodyPr/>
                        <a:lstStyle/>
                        <a:p>
                          <a:r>
                            <a:rPr lang="es-CO" sz="1400" b="1" dirty="0">
                              <a:latin typeface="Roboto" panose="02000000000000000000" pitchFamily="2" charset="0"/>
                              <a:ea typeface="Roboto" panose="02000000000000000000" pitchFamily="2" charset="0"/>
                            </a:rPr>
                            <a:t>Distributividad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213585">
                    <a:tc>
                      <a:txBody>
                        <a:bodyPr/>
                        <a:lstStyle/>
                        <a:p>
                          <a:r>
                            <a:rPr lang="es-CO" sz="1400" b="1" dirty="0">
                              <a:latin typeface="Roboto" panose="02000000000000000000" pitchFamily="2" charset="0"/>
                              <a:ea typeface="Roboto" panose="02000000000000000000" pitchFamily="2" charset="0"/>
                            </a:rPr>
                            <a:t>Idempotencia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213585">
                    <a:tc>
                      <a:txBody>
                        <a:bodyPr/>
                        <a:lstStyle/>
                        <a:p>
                          <a:r>
                            <a:rPr lang="es-CO" sz="1400" b="1" dirty="0">
                              <a:latin typeface="Roboto" panose="02000000000000000000" pitchFamily="2" charset="0"/>
                              <a:ea typeface="Roboto" panose="02000000000000000000" pitchFamily="2" charset="0"/>
                            </a:rPr>
                            <a:t>Doble negación</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88149062"/>
                      </a:ext>
                    </a:extLst>
                  </a:tr>
                  <a:tr h="213585">
                    <a:tc>
                      <a:txBody>
                        <a:bodyPr/>
                        <a:lstStyle/>
                        <a:p>
                          <a:r>
                            <a:rPr lang="es-CO" sz="1400" b="1" dirty="0">
                              <a:latin typeface="Roboto" panose="02000000000000000000" pitchFamily="2" charset="0"/>
                              <a:ea typeface="Roboto" panose="02000000000000000000" pitchFamily="2" charset="0"/>
                            </a:rPr>
                            <a:t>Leyes de Morgan</a:t>
                          </a: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228517">
                    <a:tc>
                      <a:txBody>
                        <a:bodyPr/>
                        <a:lstStyle/>
                        <a:p>
                          <a:r>
                            <a:rPr lang="es-CO" sz="1400" b="1" dirty="0">
                              <a:latin typeface="Roboto" panose="02000000000000000000" pitchFamily="2" charset="0"/>
                              <a:ea typeface="Roboto" panose="02000000000000000000" pitchFamily="2" charset="0"/>
                            </a:rPr>
                            <a:t>Identidad</a:t>
                          </a: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213585">
                    <a:tc>
                      <a:txBody>
                        <a:bodyPr/>
                        <a:lstStyle/>
                        <a:p>
                          <a:r>
                            <a:rPr lang="es-CO" sz="1400" b="1" dirty="0">
                              <a:latin typeface="Roboto" panose="02000000000000000000" pitchFamily="2" charset="0"/>
                              <a:ea typeface="Roboto" panose="02000000000000000000" pitchFamily="2" charset="0"/>
                            </a:rPr>
                            <a:t>Dominación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213585">
                    <a:tc>
                      <a:txBody>
                        <a:bodyPr/>
                        <a:lstStyle/>
                        <a:p>
                          <a:r>
                            <a:rPr lang="es-CO" sz="1400" b="1" dirty="0">
                              <a:latin typeface="Roboto" panose="02000000000000000000" pitchFamily="2" charset="0"/>
                              <a:ea typeface="Roboto" panose="02000000000000000000" pitchFamily="2" charset="0"/>
                            </a:rPr>
                            <a:t>Absorción</a:t>
                          </a: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213585">
                    <a:tc>
                      <a:txBody>
                        <a:bodyPr/>
                        <a:lstStyle/>
                        <a:p>
                          <a:r>
                            <a:rPr lang="es-CO" sz="1400" b="1" dirty="0">
                              <a:latin typeface="Roboto" panose="02000000000000000000" pitchFamily="2" charset="0"/>
                              <a:ea typeface="Roboto" panose="02000000000000000000" pitchFamily="2" charset="0"/>
                            </a:rPr>
                            <a:t>Complemento</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oMath>
                            </m:oMathPara>
                          </a14:m>
                          <a:endParaRPr lang="es-CO" sz="140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oMath>
                            </m:oMathPara>
                          </a14:m>
                          <a:endParaRPr lang="es-CO" sz="14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213585">
                    <a:tc>
                      <a:txBody>
                        <a:bodyPr/>
                        <a:lstStyle/>
                        <a:p>
                          <a:r>
                            <a:rPr lang="es-CO" sz="1400" b="1" dirty="0">
                              <a:latin typeface="Roboto" panose="02000000000000000000" pitchFamily="2" charset="0"/>
                              <a:ea typeface="Roboto" panose="02000000000000000000" pitchFamily="2" charset="0"/>
                            </a:rPr>
                            <a:t>Implicación</a:t>
                          </a:r>
                        </a:p>
                      </a:txBody>
                      <a:tcPr/>
                    </a:tc>
                    <a:tc gridSpan="2">
                      <a:txBody>
                        <a:bodyPr/>
                        <a:lstStyle/>
                        <a:p>
                          <a:pPr algn="ct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oMath>
                            </m:oMathPara>
                          </a14:m>
                          <a:endParaRPr lang="es-CO" sz="1400" dirty="0">
                            <a:latin typeface="Roboto" panose="02000000000000000000" pitchFamily="2" charset="0"/>
                            <a:ea typeface="Roboto" panose="02000000000000000000" pitchFamily="2" charset="0"/>
                          </a:endParaRPr>
                        </a:p>
                      </a:txBody>
                      <a:tcPr/>
                    </a:tc>
                    <a:tc hMerge="1">
                      <a:txBody>
                        <a:bodyPr/>
                        <a:lstStyle/>
                        <a:p>
                          <a:pPr algn="ctr"/>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483938044"/>
                      </a:ext>
                    </a:extLst>
                  </a:tr>
                  <a:tr h="213585">
                    <a:tc>
                      <a:txBody>
                        <a:bodyPr/>
                        <a:lstStyle/>
                        <a:p>
                          <a:r>
                            <a:rPr lang="es-CO" sz="1400" b="1" dirty="0">
                              <a:latin typeface="Roboto" panose="02000000000000000000" pitchFamily="2" charset="0"/>
                              <a:ea typeface="Roboto" panose="02000000000000000000" pitchFamily="2" charset="0"/>
                            </a:rPr>
                            <a:t>Contrarrecíproco</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255506134"/>
                      </a:ext>
                    </a:extLst>
                  </a:tr>
                  <a:tr h="213585">
                    <a:tc>
                      <a:txBody>
                        <a:bodyPr/>
                        <a:lstStyle/>
                        <a:p>
                          <a:r>
                            <a:rPr lang="es-CO" sz="1400" b="1" dirty="0">
                              <a:latin typeface="Roboto" panose="02000000000000000000" pitchFamily="2" charset="0"/>
                              <a:ea typeface="Roboto" panose="02000000000000000000" pitchFamily="2" charset="0"/>
                            </a:rPr>
                            <a:t>Equivalencia</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e>
                                </m:d>
                              </m:oMath>
                            </m:oMathPara>
                          </a14:m>
                          <a:endParaRPr lang="es-CO" sz="1400" dirty="0">
                            <a:latin typeface="Roboto" panose="02000000000000000000" pitchFamily="2" charset="0"/>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0457137"/>
                      </a:ext>
                    </a:extLst>
                  </a:tr>
                </a:tbl>
              </a:graphicData>
            </a:graphic>
          </p:graphicFrame>
        </mc:Choice>
        <mc:Fallback>
          <p:graphicFrame>
            <p:nvGraphicFramePr>
              <p:cNvPr id="8" name="Tabla 3">
                <a:extLst>
                  <a:ext uri="{FF2B5EF4-FFF2-40B4-BE49-F238E27FC236}">
                    <a16:creationId xmlns:a16="http://schemas.microsoft.com/office/drawing/2014/main" id="{358CD1C6-25CE-42D7-8BBB-976CE339540D}"/>
                  </a:ext>
                </a:extLst>
              </p:cNvPr>
              <p:cNvGraphicFramePr>
                <a:graphicFrameLocks noGrp="1"/>
              </p:cNvGraphicFramePr>
              <p:nvPr>
                <p:extLst>
                  <p:ext uri="{D42A27DB-BD31-4B8C-83A1-F6EECF244321}">
                    <p14:modId xmlns:p14="http://schemas.microsoft.com/office/powerpoint/2010/main" val="477128663"/>
                  </p:ext>
                </p:extLst>
              </p:nvPr>
            </p:nvGraphicFramePr>
            <p:xfrm>
              <a:off x="439174" y="1727969"/>
              <a:ext cx="7023510" cy="4297680"/>
            </p:xfrm>
            <a:graphic>
              <a:graphicData uri="http://schemas.openxmlformats.org/drawingml/2006/table">
                <a:tbl>
                  <a:tblPr firstRow="1" bandRow="1">
                    <a:tableStyleId>{AD6A3598-7CB8-4345-8D95-17CE05F158A0}</a:tableStyleId>
                  </a:tblPr>
                  <a:tblGrid>
                    <a:gridCol w="1668374">
                      <a:extLst>
                        <a:ext uri="{9D8B030D-6E8A-4147-A177-3AD203B41FA5}">
                          <a16:colId xmlns:a16="http://schemas.microsoft.com/office/drawing/2014/main" val="2419793140"/>
                        </a:ext>
                      </a:extLst>
                    </a:gridCol>
                    <a:gridCol w="2707604">
                      <a:extLst>
                        <a:ext uri="{9D8B030D-6E8A-4147-A177-3AD203B41FA5}">
                          <a16:colId xmlns:a16="http://schemas.microsoft.com/office/drawing/2014/main" val="2761119023"/>
                        </a:ext>
                      </a:extLst>
                    </a:gridCol>
                    <a:gridCol w="2647532">
                      <a:extLst>
                        <a:ext uri="{9D8B030D-6E8A-4147-A177-3AD203B41FA5}">
                          <a16:colId xmlns:a16="http://schemas.microsoft.com/office/drawing/2014/main" val="3891570482"/>
                        </a:ext>
                      </a:extLst>
                    </a:gridCol>
                  </a:tblGrid>
                  <a:tr h="335280">
                    <a:tc>
                      <a:txBody>
                        <a:bodyPr/>
                        <a:lstStyle/>
                        <a:p>
                          <a:r>
                            <a:rPr lang="es-CO" sz="1600" b="1" dirty="0">
                              <a:latin typeface="Roboto" panose="02000000000000000000" pitchFamily="2" charset="0"/>
                              <a:ea typeface="Roboto" panose="02000000000000000000" pitchFamily="2" charset="0"/>
                            </a:rPr>
                            <a:t>Nombre</a:t>
                          </a:r>
                        </a:p>
                      </a:txBody>
                      <a:tcPr>
                        <a:solidFill>
                          <a:schemeClr val="bg1">
                            <a:lumMod val="95000"/>
                          </a:schemeClr>
                        </a:solidFill>
                      </a:tcPr>
                    </a:tc>
                    <a:tc gridSpan="2">
                      <a:txBody>
                        <a:bodyPr/>
                        <a:lstStyle/>
                        <a:p>
                          <a:pPr algn="ctr"/>
                          <a:r>
                            <a:rPr lang="es-CO" sz="1600" b="1" dirty="0">
                              <a:latin typeface="Roboto" panose="02000000000000000000" pitchFamily="2" charset="0"/>
                              <a:ea typeface="Roboto" panose="02000000000000000000" pitchFamily="2" charset="0"/>
                            </a:rPr>
                            <a:t>Equivalencia lógica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624526593"/>
                      </a:ext>
                    </a:extLst>
                  </a:tr>
                  <a:tr h="304800">
                    <a:tc>
                      <a:txBody>
                        <a:bodyPr/>
                        <a:lstStyle/>
                        <a:p>
                          <a:r>
                            <a:rPr lang="es-CO" sz="1400" b="1" dirty="0">
                              <a:latin typeface="Roboto" panose="02000000000000000000" pitchFamily="2" charset="0"/>
                              <a:ea typeface="Roboto" panose="02000000000000000000" pitchFamily="2" charset="0"/>
                            </a:rPr>
                            <a:t>Conmutatividad</a:t>
                          </a:r>
                        </a:p>
                      </a:txBody>
                      <a:tcPr/>
                    </a:tc>
                    <a:tc>
                      <a:txBody>
                        <a:bodyPr/>
                        <a:lstStyle/>
                        <a:p>
                          <a:endParaRPr lang="es-CO"/>
                        </a:p>
                      </a:txBody>
                      <a:tcPr>
                        <a:blipFill>
                          <a:blip r:embed="rId3"/>
                          <a:stretch>
                            <a:fillRect l="-61937" t="-116000" r="-98198" b="-1222000"/>
                          </a:stretch>
                        </a:blipFill>
                      </a:tcPr>
                    </a:tc>
                    <a:tc>
                      <a:txBody>
                        <a:bodyPr/>
                        <a:lstStyle/>
                        <a:p>
                          <a:endParaRPr lang="es-CO"/>
                        </a:p>
                      </a:txBody>
                      <a:tcPr>
                        <a:blipFill>
                          <a:blip r:embed="rId3"/>
                          <a:stretch>
                            <a:fillRect l="-165287" t="-116000" r="-230" b="-1222000"/>
                          </a:stretch>
                        </a:blipFill>
                      </a:tcPr>
                    </a:tc>
                    <a:extLst>
                      <a:ext uri="{0D108BD9-81ED-4DB2-BD59-A6C34878D82A}">
                        <a16:rowId xmlns:a16="http://schemas.microsoft.com/office/drawing/2014/main" val="3154515760"/>
                      </a:ext>
                    </a:extLst>
                  </a:tr>
                  <a:tr h="304800">
                    <a:tc>
                      <a:txBody>
                        <a:bodyPr/>
                        <a:lstStyle/>
                        <a:p>
                          <a:r>
                            <a:rPr lang="es-CO" sz="1400" b="1" dirty="0">
                              <a:latin typeface="Roboto" panose="02000000000000000000" pitchFamily="2" charset="0"/>
                              <a:ea typeface="Roboto" panose="02000000000000000000" pitchFamily="2" charset="0"/>
                            </a:rPr>
                            <a:t>Asociatividad</a:t>
                          </a:r>
                        </a:p>
                      </a:txBody>
                      <a:tcPr/>
                    </a:tc>
                    <a:tc>
                      <a:txBody>
                        <a:bodyPr/>
                        <a:lstStyle/>
                        <a:p>
                          <a:endParaRPr lang="es-CO"/>
                        </a:p>
                      </a:txBody>
                      <a:tcPr>
                        <a:blipFill>
                          <a:blip r:embed="rId3"/>
                          <a:stretch>
                            <a:fillRect l="-61937" t="-216000" r="-98198" b="-1122000"/>
                          </a:stretch>
                        </a:blipFill>
                      </a:tcPr>
                    </a:tc>
                    <a:tc>
                      <a:txBody>
                        <a:bodyPr/>
                        <a:lstStyle/>
                        <a:p>
                          <a:endParaRPr lang="es-CO"/>
                        </a:p>
                      </a:txBody>
                      <a:tcPr>
                        <a:blipFill>
                          <a:blip r:embed="rId3"/>
                          <a:stretch>
                            <a:fillRect l="-165287" t="-216000" r="-230" b="-1122000"/>
                          </a:stretch>
                        </a:blipFill>
                      </a:tcPr>
                    </a:tc>
                    <a:extLst>
                      <a:ext uri="{0D108BD9-81ED-4DB2-BD59-A6C34878D82A}">
                        <a16:rowId xmlns:a16="http://schemas.microsoft.com/office/drawing/2014/main" val="1913743916"/>
                      </a:ext>
                    </a:extLst>
                  </a:tr>
                  <a:tr h="304800">
                    <a:tc>
                      <a:txBody>
                        <a:bodyPr/>
                        <a:lstStyle/>
                        <a:p>
                          <a:r>
                            <a:rPr lang="es-CO" sz="1400" b="1" dirty="0">
                              <a:latin typeface="Roboto" panose="02000000000000000000" pitchFamily="2" charset="0"/>
                              <a:ea typeface="Roboto" panose="02000000000000000000" pitchFamily="2" charset="0"/>
                            </a:rPr>
                            <a:t>Distributividad</a:t>
                          </a:r>
                        </a:p>
                      </a:txBody>
                      <a:tcPr/>
                    </a:tc>
                    <a:tc>
                      <a:txBody>
                        <a:bodyPr/>
                        <a:lstStyle/>
                        <a:p>
                          <a:endParaRPr lang="es-CO"/>
                        </a:p>
                      </a:txBody>
                      <a:tcPr>
                        <a:blipFill>
                          <a:blip r:embed="rId3"/>
                          <a:stretch>
                            <a:fillRect l="-61937" t="-316000" r="-98198" b="-1022000"/>
                          </a:stretch>
                        </a:blipFill>
                      </a:tcPr>
                    </a:tc>
                    <a:tc>
                      <a:txBody>
                        <a:bodyPr/>
                        <a:lstStyle/>
                        <a:p>
                          <a:endParaRPr lang="es-CO"/>
                        </a:p>
                      </a:txBody>
                      <a:tcPr>
                        <a:blipFill>
                          <a:blip r:embed="rId3"/>
                          <a:stretch>
                            <a:fillRect l="-165287" t="-316000" r="-230" b="-1022000"/>
                          </a:stretch>
                        </a:blipFill>
                      </a:tcPr>
                    </a:tc>
                    <a:extLst>
                      <a:ext uri="{0D108BD9-81ED-4DB2-BD59-A6C34878D82A}">
                        <a16:rowId xmlns:a16="http://schemas.microsoft.com/office/drawing/2014/main" val="717401643"/>
                      </a:ext>
                    </a:extLst>
                  </a:tr>
                  <a:tr h="304800">
                    <a:tc>
                      <a:txBody>
                        <a:bodyPr/>
                        <a:lstStyle/>
                        <a:p>
                          <a:r>
                            <a:rPr lang="es-CO" sz="1400" b="1" dirty="0">
                              <a:latin typeface="Roboto" panose="02000000000000000000" pitchFamily="2" charset="0"/>
                              <a:ea typeface="Roboto" panose="02000000000000000000" pitchFamily="2" charset="0"/>
                            </a:rPr>
                            <a:t>Idempotencia</a:t>
                          </a:r>
                        </a:p>
                      </a:txBody>
                      <a:tcPr/>
                    </a:tc>
                    <a:tc>
                      <a:txBody>
                        <a:bodyPr/>
                        <a:lstStyle/>
                        <a:p>
                          <a:endParaRPr lang="es-CO"/>
                        </a:p>
                      </a:txBody>
                      <a:tcPr>
                        <a:blipFill>
                          <a:blip r:embed="rId3"/>
                          <a:stretch>
                            <a:fillRect l="-61937" t="-416000" r="-98198" b="-922000"/>
                          </a:stretch>
                        </a:blipFill>
                      </a:tcPr>
                    </a:tc>
                    <a:tc>
                      <a:txBody>
                        <a:bodyPr/>
                        <a:lstStyle/>
                        <a:p>
                          <a:endParaRPr lang="es-CO"/>
                        </a:p>
                      </a:txBody>
                      <a:tcPr>
                        <a:blipFill>
                          <a:blip r:embed="rId3"/>
                          <a:stretch>
                            <a:fillRect l="-165287" t="-416000" r="-230" b="-922000"/>
                          </a:stretch>
                        </a:blipFill>
                      </a:tcPr>
                    </a:tc>
                    <a:extLst>
                      <a:ext uri="{0D108BD9-81ED-4DB2-BD59-A6C34878D82A}">
                        <a16:rowId xmlns:a16="http://schemas.microsoft.com/office/drawing/2014/main" val="2246818852"/>
                      </a:ext>
                    </a:extLst>
                  </a:tr>
                  <a:tr h="304800">
                    <a:tc>
                      <a:txBody>
                        <a:bodyPr/>
                        <a:lstStyle/>
                        <a:p>
                          <a:r>
                            <a:rPr lang="es-CO" sz="1400" b="1" dirty="0">
                              <a:latin typeface="Roboto" panose="02000000000000000000" pitchFamily="2" charset="0"/>
                              <a:ea typeface="Roboto" panose="02000000000000000000" pitchFamily="2" charset="0"/>
                            </a:rPr>
                            <a:t>Doble negación</a:t>
                          </a:r>
                        </a:p>
                      </a:txBody>
                      <a:tcPr/>
                    </a:tc>
                    <a:tc gridSpan="2">
                      <a:txBody>
                        <a:bodyPr/>
                        <a:lstStyle/>
                        <a:p>
                          <a:endParaRPr lang="es-CO"/>
                        </a:p>
                      </a:txBody>
                      <a:tcPr>
                        <a:blipFill>
                          <a:blip r:embed="rId3"/>
                          <a:stretch>
                            <a:fillRect l="-31286" t="-516000" r="-114" b="-822000"/>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88149062"/>
                      </a:ext>
                    </a:extLst>
                  </a:tr>
                  <a:tr h="304800">
                    <a:tc>
                      <a:txBody>
                        <a:bodyPr/>
                        <a:lstStyle/>
                        <a:p>
                          <a:r>
                            <a:rPr lang="es-CO" sz="1400" b="1" dirty="0">
                              <a:latin typeface="Roboto" panose="02000000000000000000" pitchFamily="2" charset="0"/>
                              <a:ea typeface="Roboto" panose="02000000000000000000" pitchFamily="2" charset="0"/>
                            </a:rPr>
                            <a:t>Leyes de Morgan</a:t>
                          </a:r>
                        </a:p>
                      </a:txBody>
                      <a:tcPr/>
                    </a:tc>
                    <a:tc>
                      <a:txBody>
                        <a:bodyPr/>
                        <a:lstStyle/>
                        <a:p>
                          <a:endParaRPr lang="es-CO"/>
                        </a:p>
                      </a:txBody>
                      <a:tcPr>
                        <a:blipFill>
                          <a:blip r:embed="rId3"/>
                          <a:stretch>
                            <a:fillRect l="-61937" t="-603922" r="-98198" b="-705882"/>
                          </a:stretch>
                        </a:blipFill>
                      </a:tcPr>
                    </a:tc>
                    <a:tc>
                      <a:txBody>
                        <a:bodyPr/>
                        <a:lstStyle/>
                        <a:p>
                          <a:endParaRPr lang="es-CO"/>
                        </a:p>
                      </a:txBody>
                      <a:tcPr>
                        <a:blipFill>
                          <a:blip r:embed="rId3"/>
                          <a:stretch>
                            <a:fillRect l="-165287" t="-603922" r="-230" b="-705882"/>
                          </a:stretch>
                        </a:blipFill>
                      </a:tcPr>
                    </a:tc>
                    <a:extLst>
                      <a:ext uri="{0D108BD9-81ED-4DB2-BD59-A6C34878D82A}">
                        <a16:rowId xmlns:a16="http://schemas.microsoft.com/office/drawing/2014/main" val="2113060234"/>
                      </a:ext>
                    </a:extLst>
                  </a:tr>
                  <a:tr h="304800">
                    <a:tc>
                      <a:txBody>
                        <a:bodyPr/>
                        <a:lstStyle/>
                        <a:p>
                          <a:r>
                            <a:rPr lang="es-CO" sz="1400" b="1" dirty="0">
                              <a:latin typeface="Roboto" panose="02000000000000000000" pitchFamily="2" charset="0"/>
                              <a:ea typeface="Roboto" panose="02000000000000000000" pitchFamily="2" charset="0"/>
                            </a:rPr>
                            <a:t>Identidad</a:t>
                          </a:r>
                        </a:p>
                      </a:txBody>
                      <a:tcPr/>
                    </a:tc>
                    <a:tc>
                      <a:txBody>
                        <a:bodyPr/>
                        <a:lstStyle/>
                        <a:p>
                          <a:endParaRPr lang="es-CO"/>
                        </a:p>
                      </a:txBody>
                      <a:tcPr>
                        <a:blipFill>
                          <a:blip r:embed="rId3"/>
                          <a:stretch>
                            <a:fillRect l="-61937" t="-718000" r="-98198" b="-620000"/>
                          </a:stretch>
                        </a:blipFill>
                      </a:tcPr>
                    </a:tc>
                    <a:tc>
                      <a:txBody>
                        <a:bodyPr/>
                        <a:lstStyle/>
                        <a:p>
                          <a:endParaRPr lang="es-CO"/>
                        </a:p>
                      </a:txBody>
                      <a:tcPr>
                        <a:blipFill>
                          <a:blip r:embed="rId3"/>
                          <a:stretch>
                            <a:fillRect l="-165287" t="-718000" r="-230" b="-620000"/>
                          </a:stretch>
                        </a:blipFill>
                      </a:tcPr>
                    </a:tc>
                    <a:extLst>
                      <a:ext uri="{0D108BD9-81ED-4DB2-BD59-A6C34878D82A}">
                        <a16:rowId xmlns:a16="http://schemas.microsoft.com/office/drawing/2014/main" val="2494965197"/>
                      </a:ext>
                    </a:extLst>
                  </a:tr>
                  <a:tr h="304800">
                    <a:tc>
                      <a:txBody>
                        <a:bodyPr/>
                        <a:lstStyle/>
                        <a:p>
                          <a:r>
                            <a:rPr lang="es-CO" sz="1400" b="1" dirty="0">
                              <a:latin typeface="Roboto" panose="02000000000000000000" pitchFamily="2" charset="0"/>
                              <a:ea typeface="Roboto" panose="02000000000000000000" pitchFamily="2" charset="0"/>
                            </a:rPr>
                            <a:t>Dominación</a:t>
                          </a:r>
                        </a:p>
                      </a:txBody>
                      <a:tcPr/>
                    </a:tc>
                    <a:tc>
                      <a:txBody>
                        <a:bodyPr/>
                        <a:lstStyle/>
                        <a:p>
                          <a:endParaRPr lang="es-CO"/>
                        </a:p>
                      </a:txBody>
                      <a:tcPr>
                        <a:blipFill>
                          <a:blip r:embed="rId3"/>
                          <a:stretch>
                            <a:fillRect l="-61937" t="-818000" r="-98198" b="-520000"/>
                          </a:stretch>
                        </a:blipFill>
                      </a:tcPr>
                    </a:tc>
                    <a:tc>
                      <a:txBody>
                        <a:bodyPr/>
                        <a:lstStyle/>
                        <a:p>
                          <a:endParaRPr lang="es-CO"/>
                        </a:p>
                      </a:txBody>
                      <a:tcPr>
                        <a:blipFill>
                          <a:blip r:embed="rId3"/>
                          <a:stretch>
                            <a:fillRect l="-165287" t="-818000" r="-230" b="-520000"/>
                          </a:stretch>
                        </a:blipFill>
                      </a:tcPr>
                    </a:tc>
                    <a:extLst>
                      <a:ext uri="{0D108BD9-81ED-4DB2-BD59-A6C34878D82A}">
                        <a16:rowId xmlns:a16="http://schemas.microsoft.com/office/drawing/2014/main" val="707485840"/>
                      </a:ext>
                    </a:extLst>
                  </a:tr>
                  <a:tr h="304800">
                    <a:tc>
                      <a:txBody>
                        <a:bodyPr/>
                        <a:lstStyle/>
                        <a:p>
                          <a:r>
                            <a:rPr lang="es-CO" sz="1400" b="1" dirty="0">
                              <a:latin typeface="Roboto" panose="02000000000000000000" pitchFamily="2" charset="0"/>
                              <a:ea typeface="Roboto" panose="02000000000000000000" pitchFamily="2" charset="0"/>
                            </a:rPr>
                            <a:t>Absorción</a:t>
                          </a:r>
                        </a:p>
                      </a:txBody>
                      <a:tcPr/>
                    </a:tc>
                    <a:tc>
                      <a:txBody>
                        <a:bodyPr/>
                        <a:lstStyle/>
                        <a:p>
                          <a:endParaRPr lang="es-CO"/>
                        </a:p>
                      </a:txBody>
                      <a:tcPr>
                        <a:blipFill>
                          <a:blip r:embed="rId3"/>
                          <a:stretch>
                            <a:fillRect l="-61937" t="-918000" r="-98198" b="-420000"/>
                          </a:stretch>
                        </a:blipFill>
                      </a:tcPr>
                    </a:tc>
                    <a:tc>
                      <a:txBody>
                        <a:bodyPr/>
                        <a:lstStyle/>
                        <a:p>
                          <a:endParaRPr lang="es-CO"/>
                        </a:p>
                      </a:txBody>
                      <a:tcPr>
                        <a:blipFill>
                          <a:blip r:embed="rId3"/>
                          <a:stretch>
                            <a:fillRect l="-165287" t="-918000" r="-230" b="-420000"/>
                          </a:stretch>
                        </a:blipFill>
                      </a:tcPr>
                    </a:tc>
                    <a:extLst>
                      <a:ext uri="{0D108BD9-81ED-4DB2-BD59-A6C34878D82A}">
                        <a16:rowId xmlns:a16="http://schemas.microsoft.com/office/drawing/2014/main" val="1232652958"/>
                      </a:ext>
                    </a:extLst>
                  </a:tr>
                  <a:tr h="304800">
                    <a:tc>
                      <a:txBody>
                        <a:bodyPr/>
                        <a:lstStyle/>
                        <a:p>
                          <a:r>
                            <a:rPr lang="es-CO" sz="1400" b="1" dirty="0">
                              <a:latin typeface="Roboto" panose="02000000000000000000" pitchFamily="2" charset="0"/>
                              <a:ea typeface="Roboto" panose="02000000000000000000" pitchFamily="2" charset="0"/>
                            </a:rPr>
                            <a:t>Complemento</a:t>
                          </a:r>
                        </a:p>
                      </a:txBody>
                      <a:tcPr/>
                    </a:tc>
                    <a:tc>
                      <a:txBody>
                        <a:bodyPr/>
                        <a:lstStyle/>
                        <a:p>
                          <a:endParaRPr lang="es-CO"/>
                        </a:p>
                      </a:txBody>
                      <a:tcPr>
                        <a:blipFill>
                          <a:blip r:embed="rId3"/>
                          <a:stretch>
                            <a:fillRect l="-61937" t="-1018000" r="-98198" b="-320000"/>
                          </a:stretch>
                        </a:blipFill>
                      </a:tcPr>
                    </a:tc>
                    <a:tc>
                      <a:txBody>
                        <a:bodyPr/>
                        <a:lstStyle/>
                        <a:p>
                          <a:endParaRPr lang="es-CO"/>
                        </a:p>
                      </a:txBody>
                      <a:tcPr>
                        <a:blipFill>
                          <a:blip r:embed="rId3"/>
                          <a:stretch>
                            <a:fillRect l="-165287" t="-1018000" r="-230" b="-320000"/>
                          </a:stretch>
                        </a:blipFill>
                      </a:tcPr>
                    </a:tc>
                    <a:extLst>
                      <a:ext uri="{0D108BD9-81ED-4DB2-BD59-A6C34878D82A}">
                        <a16:rowId xmlns:a16="http://schemas.microsoft.com/office/drawing/2014/main" val="3770911309"/>
                      </a:ext>
                    </a:extLst>
                  </a:tr>
                  <a:tr h="304800">
                    <a:tc>
                      <a:txBody>
                        <a:bodyPr/>
                        <a:lstStyle/>
                        <a:p>
                          <a:r>
                            <a:rPr lang="es-CO" sz="1400" b="1" dirty="0">
                              <a:latin typeface="Roboto" panose="02000000000000000000" pitchFamily="2" charset="0"/>
                              <a:ea typeface="Roboto" panose="02000000000000000000" pitchFamily="2" charset="0"/>
                            </a:rPr>
                            <a:t>Implicación</a:t>
                          </a:r>
                        </a:p>
                      </a:txBody>
                      <a:tcPr/>
                    </a:tc>
                    <a:tc gridSpan="2">
                      <a:txBody>
                        <a:bodyPr/>
                        <a:lstStyle/>
                        <a:p>
                          <a:endParaRPr lang="es-CO"/>
                        </a:p>
                      </a:txBody>
                      <a:tcPr>
                        <a:blipFill>
                          <a:blip r:embed="rId3"/>
                          <a:stretch>
                            <a:fillRect l="-31286" t="-1118000" r="-114" b="-220000"/>
                          </a:stretch>
                        </a:blipFill>
                      </a:tcPr>
                    </a:tc>
                    <a:tc hMerge="1">
                      <a:txBody>
                        <a:bodyPr/>
                        <a:lstStyle/>
                        <a:p>
                          <a:pPr algn="ctr"/>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483938044"/>
                      </a:ext>
                    </a:extLst>
                  </a:tr>
                  <a:tr h="304800">
                    <a:tc>
                      <a:txBody>
                        <a:bodyPr/>
                        <a:lstStyle/>
                        <a:p>
                          <a:r>
                            <a:rPr lang="es-CO" sz="1400" b="1" dirty="0">
                              <a:latin typeface="Roboto" panose="02000000000000000000" pitchFamily="2" charset="0"/>
                              <a:ea typeface="Roboto" panose="02000000000000000000" pitchFamily="2" charset="0"/>
                            </a:rPr>
                            <a:t>Contrarrecíproco</a:t>
                          </a:r>
                        </a:p>
                      </a:txBody>
                      <a:tcPr/>
                    </a:tc>
                    <a:tc gridSpan="2">
                      <a:txBody>
                        <a:bodyPr/>
                        <a:lstStyle/>
                        <a:p>
                          <a:endParaRPr lang="es-CO"/>
                        </a:p>
                      </a:txBody>
                      <a:tcPr>
                        <a:blipFill>
                          <a:blip r:embed="rId3"/>
                          <a:stretch>
                            <a:fillRect l="-31286" t="-1218000" r="-114" b="-120000"/>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255506134"/>
                      </a:ext>
                    </a:extLst>
                  </a:tr>
                  <a:tr h="304800">
                    <a:tc>
                      <a:txBody>
                        <a:bodyPr/>
                        <a:lstStyle/>
                        <a:p>
                          <a:r>
                            <a:rPr lang="es-CO" sz="1400" b="1" dirty="0">
                              <a:latin typeface="Roboto" panose="02000000000000000000" pitchFamily="2" charset="0"/>
                              <a:ea typeface="Roboto" panose="02000000000000000000" pitchFamily="2" charset="0"/>
                            </a:rPr>
                            <a:t>Equivalencia</a:t>
                          </a:r>
                        </a:p>
                      </a:txBody>
                      <a:tcPr/>
                    </a:tc>
                    <a:tc gridSpan="2">
                      <a:txBody>
                        <a:bodyPr/>
                        <a:lstStyle/>
                        <a:p>
                          <a:endParaRPr lang="es-CO"/>
                        </a:p>
                      </a:txBody>
                      <a:tcPr>
                        <a:blipFill>
                          <a:blip r:embed="rId3"/>
                          <a:stretch>
                            <a:fillRect l="-31286" t="-1318000" r="-114" b="-20000"/>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0457137"/>
                      </a:ext>
                    </a:extLst>
                  </a:tr>
                </a:tbl>
              </a:graphicData>
            </a:graphic>
          </p:graphicFrame>
        </mc:Fallback>
      </mc:AlternateContent>
    </p:spTree>
    <p:extLst>
      <p:ext uri="{BB962C8B-B14F-4D97-AF65-F5344CB8AC3E}">
        <p14:creationId xmlns:p14="http://schemas.microsoft.com/office/powerpoint/2010/main" val="2622490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916650" y="96038"/>
            <a:ext cx="10911556" cy="949500"/>
          </a:xfrm>
        </p:spPr>
        <p:txBody>
          <a:bodyPr/>
          <a:lstStyle/>
          <a:p>
            <a:r>
              <a:rPr lang="es-ES" dirty="0">
                <a:latin typeface="+mj-lt"/>
              </a:rPr>
              <a:t>Validación de argumentos – Enfoque axiomático</a:t>
            </a:r>
            <a:endParaRPr lang="es-CO" dirty="0"/>
          </a:p>
        </p:txBody>
      </p:sp>
      <p:sp>
        <p:nvSpPr>
          <p:cNvPr id="7" name="CuadroTexto 6">
            <a:extLst>
              <a:ext uri="{FF2B5EF4-FFF2-40B4-BE49-F238E27FC236}">
                <a16:creationId xmlns:a16="http://schemas.microsoft.com/office/drawing/2014/main" id="{3802F684-C638-42EC-9880-5DB2EDF1637D}"/>
              </a:ext>
            </a:extLst>
          </p:cNvPr>
          <p:cNvSpPr txBox="1"/>
          <p:nvPr/>
        </p:nvSpPr>
        <p:spPr>
          <a:xfrm>
            <a:off x="573854" y="1045538"/>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Resumen de las principales reglas de inferencia</a:t>
            </a:r>
          </a:p>
        </p:txBody>
      </p:sp>
      <mc:AlternateContent xmlns:mc="http://schemas.openxmlformats.org/markup-compatibility/2006">
        <mc:Choice xmlns:a14="http://schemas.microsoft.com/office/drawing/2010/main" Requires="a14">
          <p:graphicFrame>
            <p:nvGraphicFramePr>
              <p:cNvPr id="5" name="Tabla 4">
                <a:extLst>
                  <a:ext uri="{FF2B5EF4-FFF2-40B4-BE49-F238E27FC236}">
                    <a16:creationId xmlns:a16="http://schemas.microsoft.com/office/drawing/2014/main" id="{EFFAE407-8F8B-40B9-BA7A-55ACE6E6E15C}"/>
                  </a:ext>
                </a:extLst>
              </p:cNvPr>
              <p:cNvGraphicFramePr>
                <a:graphicFrameLocks noGrp="1"/>
              </p:cNvGraphicFramePr>
              <p:nvPr>
                <p:extLst>
                  <p:ext uri="{D42A27DB-BD31-4B8C-83A1-F6EECF244321}">
                    <p14:modId xmlns:p14="http://schemas.microsoft.com/office/powerpoint/2010/main" val="3029680459"/>
                  </p:ext>
                </p:extLst>
              </p:nvPr>
            </p:nvGraphicFramePr>
            <p:xfrm>
              <a:off x="1117974" y="2055070"/>
              <a:ext cx="9130144" cy="4222054"/>
            </p:xfrm>
            <a:graphic>
              <a:graphicData uri="http://schemas.openxmlformats.org/drawingml/2006/table">
                <a:tbl>
                  <a:tblPr firstRow="1" bandRow="1">
                    <a:tableStyleId>{AD6A3598-7CB8-4345-8D95-17CE05F158A0}</a:tableStyleId>
                  </a:tblPr>
                  <a:tblGrid>
                    <a:gridCol w="2259407">
                      <a:extLst>
                        <a:ext uri="{9D8B030D-6E8A-4147-A177-3AD203B41FA5}">
                          <a16:colId xmlns:a16="http://schemas.microsoft.com/office/drawing/2014/main" val="3517824357"/>
                        </a:ext>
                      </a:extLst>
                    </a:gridCol>
                    <a:gridCol w="2243321">
                      <a:extLst>
                        <a:ext uri="{9D8B030D-6E8A-4147-A177-3AD203B41FA5}">
                          <a16:colId xmlns:a16="http://schemas.microsoft.com/office/drawing/2014/main" val="2212776800"/>
                        </a:ext>
                      </a:extLst>
                    </a:gridCol>
                    <a:gridCol w="2344880">
                      <a:extLst>
                        <a:ext uri="{9D8B030D-6E8A-4147-A177-3AD203B41FA5}">
                          <a16:colId xmlns:a16="http://schemas.microsoft.com/office/drawing/2014/main" val="3724117940"/>
                        </a:ext>
                      </a:extLst>
                    </a:gridCol>
                    <a:gridCol w="2282536">
                      <a:extLst>
                        <a:ext uri="{9D8B030D-6E8A-4147-A177-3AD203B41FA5}">
                          <a16:colId xmlns:a16="http://schemas.microsoft.com/office/drawing/2014/main" val="333003826"/>
                        </a:ext>
                      </a:extLst>
                    </a:gridCol>
                  </a:tblGrid>
                  <a:tr h="0">
                    <a:tc>
                      <a:txBody>
                        <a:bodyPr/>
                        <a:lstStyle/>
                        <a:p>
                          <a:r>
                            <a:rPr lang="es-CO" sz="16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243775">
                    <a:tc>
                      <a:txBody>
                        <a:bodyPr/>
                        <a:lstStyle/>
                        <a:p>
                          <a:r>
                            <a:rPr lang="es-CO" sz="1600" dirty="0">
                              <a:latin typeface="Roboto" panose="02000000000000000000" pitchFamily="2" charset="0"/>
                              <a:ea typeface="Roboto" panose="02000000000000000000" pitchFamily="2" charset="0"/>
                            </a:rPr>
                            <a:t>Modus Ponens</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m:rPr>
                                              <m:brk m:alnAt="7"/>
                                            </m:rP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e>
                                      </m:mr>
                                      <m:mr>
                                        <m:e>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den>
                                </m:f>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600" dirty="0">
                              <a:latin typeface="Roboto" panose="02000000000000000000" pitchFamily="2" charset="0"/>
                              <a:ea typeface="Roboto" panose="02000000000000000000" pitchFamily="2" charset="0"/>
                            </a:rPr>
                            <a:t>Simplificación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Roboto" panose="02000000000000000000" pitchFamily="2" charset="0"/>
                                      </a:rPr>
                                      <m:t>         </m:t>
                                    </m:r>
                                  </m:den>
                                </m:f>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259179385"/>
                      </a:ext>
                    </a:extLst>
                  </a:tr>
                  <a:tr h="243775">
                    <a:tc>
                      <a:txBody>
                        <a:bodyPr/>
                        <a:lstStyle/>
                        <a:p>
                          <a:r>
                            <a:rPr lang="es-CO" sz="1600" dirty="0">
                              <a:latin typeface="Roboto" panose="02000000000000000000" pitchFamily="2" charset="0"/>
                              <a:ea typeface="Roboto" panose="02000000000000000000" pitchFamily="2" charset="0"/>
                            </a:rPr>
                            <a:t>Modus Tollens</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m:rPr>
                                              <m:brk m:alnAt="7"/>
                                            </m:rP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e>
                                      </m:mr>
                                      <m:mr>
                                        <m:e>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Roboto" panose="02000000000000000000" pitchFamily="2" charset="0"/>
                                      </a:rPr>
                                      <m:t>         </m:t>
                                    </m:r>
                                  </m:den>
                                </m:f>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600" dirty="0">
                              <a:latin typeface="Roboto" panose="02000000000000000000" pitchFamily="2" charset="0"/>
                              <a:ea typeface="Roboto" panose="02000000000000000000" pitchFamily="2" charset="0"/>
                            </a:rPr>
                            <a:t>Conjunción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     </m:t>
                                          </m:r>
                                        </m:e>
                                      </m:mr>
                                      <m:mr>
                                        <m:e>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r>
                                      <m:rPr>
                                        <m:nor/>
                                      </m:rPr>
                                      <a:rPr lang="es-CO" sz="1600" dirty="0">
                                        <a:latin typeface="Roboto" panose="02000000000000000000" pitchFamily="2" charset="0"/>
                                        <a:ea typeface="Roboto" panose="02000000000000000000" pitchFamily="2" charset="0"/>
                                      </a:rPr>
                                      <m:t> </m:t>
                                    </m:r>
                                  </m:den>
                                </m:f>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078799334"/>
                      </a:ext>
                    </a:extLst>
                  </a:tr>
                  <a:tr h="243775">
                    <a:tc>
                      <a:txBody>
                        <a:bodyPr/>
                        <a:lstStyle/>
                        <a:p>
                          <a:r>
                            <a:rPr lang="es-CO" sz="1600" dirty="0">
                              <a:latin typeface="Roboto" panose="02000000000000000000" pitchFamily="2" charset="0"/>
                              <a:ea typeface="Roboto" panose="02000000000000000000" pitchFamily="2" charset="0"/>
                            </a:rPr>
                            <a:t>Silogismo hipotético (Transitividad)</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m:rPr>
                                              <m:brk m:alnAt="7"/>
                                            </m:rP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e>
                                      </m:mr>
                                      <m:mr>
                                        <m:e>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r>
                                            <m:rPr>
                                              <m:nor/>
                                            </m:rPr>
                                            <a:rPr lang="es-CO" sz="1600" dirty="0">
                                              <a:latin typeface="Roboto" panose="02000000000000000000" pitchFamily="2"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den>
                                </m:f>
                              </m:oMath>
                            </m:oMathPara>
                          </a14:m>
                          <a:endParaRPr lang="es-CO" sz="1600" dirty="0">
                            <a:latin typeface="Roboto" panose="02000000000000000000" pitchFamily="2" charset="0"/>
                            <a:ea typeface="Roboto" panose="02000000000000000000" pitchFamily="2" charset="0"/>
                          </a:endParaRPr>
                        </a:p>
                      </a:txBody>
                      <a:tcPr/>
                    </a:tc>
                    <a:tc rowSpan="2">
                      <a:txBody>
                        <a:bodyPr/>
                        <a:lstStyle/>
                        <a:p>
                          <a:r>
                            <a:rPr lang="es-CO" sz="1600" dirty="0">
                              <a:latin typeface="Roboto" panose="02000000000000000000" pitchFamily="2" charset="0"/>
                              <a:ea typeface="Roboto" panose="02000000000000000000" pitchFamily="2" charset="0"/>
                            </a:rPr>
                            <a:t>Prueba de división por casos</a:t>
                          </a:r>
                        </a:p>
                      </a:txBody>
                      <a:tcPr anchor="ctr"/>
                    </a:tc>
                    <a:tc rowSpan="2">
                      <a:txBody>
                        <a:bodyPr/>
                        <a:lstStyle/>
                        <a:p>
                          <a:pPr lvl="1" algn="ctr"/>
                          <a14:m>
                            <m:oMathPara xmlns:m="http://schemas.openxmlformats.org/officeDocument/2006/math">
                              <m:oMathParaPr>
                                <m:jc m:val="left"/>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e>
                                      </m:mr>
                                      <m:m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r>
                                            <m:rPr>
                                              <m:nor/>
                                            </m:rPr>
                                            <a:rPr lang="es-MX" sz="1600" b="0" dirty="0">
                                              <a:latin typeface="Roboto" panose="02000000000000000000" pitchFamily="2" charset="0"/>
                                              <a:ea typeface="Roboto" panose="02000000000000000000" pitchFamily="2" charset="0"/>
                                            </a:rPr>
                                            <m:t> </m:t>
                                          </m:r>
                                        </m:e>
                                      </m:mr>
                                      <m:mr>
                                        <m:e>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             </m:t>
                                    </m:r>
                                  </m:den>
                                </m:f>
                              </m:oMath>
                            </m:oMathPara>
                          </a14:m>
                          <a:endParaRPr lang="es-CO" sz="1600" dirty="0">
                            <a:latin typeface="Roboto" panose="02000000000000000000" pitchFamily="2" charset="0"/>
                            <a:ea typeface="Roboto" panose="02000000000000000000" pitchFamily="2" charset="0"/>
                          </a:endParaRPr>
                        </a:p>
                      </a:txBody>
                      <a:tcPr anchor="ctr"/>
                    </a:tc>
                    <a:extLst>
                      <a:ext uri="{0D108BD9-81ED-4DB2-BD59-A6C34878D82A}">
                        <a16:rowId xmlns:a16="http://schemas.microsoft.com/office/drawing/2014/main" val="682340052"/>
                      </a:ext>
                    </a:extLst>
                  </a:tr>
                  <a:tr h="243775">
                    <a:tc>
                      <a:txBody>
                        <a:bodyPr/>
                        <a:lstStyle/>
                        <a:p>
                          <a:r>
                            <a:rPr lang="es-CO" sz="1600" dirty="0">
                              <a:latin typeface="Roboto" panose="02000000000000000000" pitchFamily="2" charset="0"/>
                              <a:ea typeface="Roboto" panose="02000000000000000000" pitchFamily="2" charset="0"/>
                            </a:rPr>
                            <a:t>Silogismo disyuntivo (Eliminación)</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r>
                                            <m:rPr>
                                              <m:nor/>
                                            </m:rPr>
                                            <a:rPr lang="es-CO" sz="1600" dirty="0">
                                              <a:latin typeface="Roboto" panose="02000000000000000000" pitchFamily="2" charset="0"/>
                                              <a:ea typeface="Roboto" panose="02000000000000000000" pitchFamily="2" charset="0"/>
                                            </a:rPr>
                                            <m:t> </m:t>
                                          </m:r>
                                        </m:e>
                                      </m:mr>
                                      <m:mr>
                                        <m:e>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             </m:t>
                                    </m:r>
                                  </m:den>
                                </m:f>
                              </m:oMath>
                            </m:oMathPara>
                          </a14:m>
                          <a:endParaRPr lang="es-CO" sz="1600"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0">
                    <a:tc>
                      <a:txBody>
                        <a:bodyPr/>
                        <a:lstStyle/>
                        <a:p>
                          <a:r>
                            <a:rPr lang="es-CO" sz="1600" dirty="0">
                              <a:latin typeface="Roboto" panose="02000000000000000000" pitchFamily="2" charset="0"/>
                              <a:ea typeface="Roboto" panose="02000000000000000000" pitchFamily="2" charset="0"/>
                            </a:rPr>
                            <a:t>Adición</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    </m:t>
                                    </m:r>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den>
                                </m:f>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600" dirty="0">
                              <a:latin typeface="Roboto" panose="02000000000000000000" pitchFamily="2" charset="0"/>
                              <a:ea typeface="Roboto" panose="02000000000000000000" pitchFamily="2" charset="0"/>
                            </a:rPr>
                            <a:t>Resolución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600" b="0" i="1" smtClean="0">
                                            <a:latin typeface="Cambria Math" panose="02040503050406030204" pitchFamily="18" charset="0"/>
                                            <a:ea typeface="Roboto" panose="02000000000000000000" pitchFamily="2" charset="0"/>
                                          </a:rPr>
                                        </m:ctrlPr>
                                      </m:mPr>
                                      <m:mr>
                                        <m:e>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𝑟</m:t>
                                          </m:r>
                                          <m:r>
                                            <m:rPr>
                                              <m:nor/>
                                            </m:rPr>
                                            <a:rPr lang="es-MX" sz="1600" b="0" dirty="0">
                                              <a:latin typeface="Roboto" panose="02000000000000000000" pitchFamily="2" charset="0"/>
                                              <a:ea typeface="Roboto" panose="02000000000000000000" pitchFamily="2" charset="0"/>
                                            </a:rPr>
                                            <m:t> </m:t>
                                          </m:r>
                                        </m:e>
                                      </m:mr>
                                      <m:m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e>
                                      </m:mr>
                                    </m:m>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        </m:t>
                                    </m:r>
                                  </m:den>
                                </m:f>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17682141"/>
                      </a:ext>
                    </a:extLst>
                  </a:tr>
                </a:tbl>
              </a:graphicData>
            </a:graphic>
          </p:graphicFrame>
        </mc:Choice>
        <mc:Fallback>
          <p:graphicFrame>
            <p:nvGraphicFramePr>
              <p:cNvPr id="5" name="Tabla 4">
                <a:extLst>
                  <a:ext uri="{FF2B5EF4-FFF2-40B4-BE49-F238E27FC236}">
                    <a16:creationId xmlns:a16="http://schemas.microsoft.com/office/drawing/2014/main" id="{EFFAE407-8F8B-40B9-BA7A-55ACE6E6E15C}"/>
                  </a:ext>
                </a:extLst>
              </p:cNvPr>
              <p:cNvGraphicFramePr>
                <a:graphicFrameLocks noGrp="1"/>
              </p:cNvGraphicFramePr>
              <p:nvPr>
                <p:extLst>
                  <p:ext uri="{D42A27DB-BD31-4B8C-83A1-F6EECF244321}">
                    <p14:modId xmlns:p14="http://schemas.microsoft.com/office/powerpoint/2010/main" val="3029680459"/>
                  </p:ext>
                </p:extLst>
              </p:nvPr>
            </p:nvGraphicFramePr>
            <p:xfrm>
              <a:off x="1117974" y="2055070"/>
              <a:ext cx="9130144" cy="4222054"/>
            </p:xfrm>
            <a:graphic>
              <a:graphicData uri="http://schemas.openxmlformats.org/drawingml/2006/table">
                <a:tbl>
                  <a:tblPr firstRow="1" bandRow="1">
                    <a:tableStyleId>{AD6A3598-7CB8-4345-8D95-17CE05F158A0}</a:tableStyleId>
                  </a:tblPr>
                  <a:tblGrid>
                    <a:gridCol w="2259407">
                      <a:extLst>
                        <a:ext uri="{9D8B030D-6E8A-4147-A177-3AD203B41FA5}">
                          <a16:colId xmlns:a16="http://schemas.microsoft.com/office/drawing/2014/main" val="3517824357"/>
                        </a:ext>
                      </a:extLst>
                    </a:gridCol>
                    <a:gridCol w="2243321">
                      <a:extLst>
                        <a:ext uri="{9D8B030D-6E8A-4147-A177-3AD203B41FA5}">
                          <a16:colId xmlns:a16="http://schemas.microsoft.com/office/drawing/2014/main" val="2212776800"/>
                        </a:ext>
                      </a:extLst>
                    </a:gridCol>
                    <a:gridCol w="2344880">
                      <a:extLst>
                        <a:ext uri="{9D8B030D-6E8A-4147-A177-3AD203B41FA5}">
                          <a16:colId xmlns:a16="http://schemas.microsoft.com/office/drawing/2014/main" val="3724117940"/>
                        </a:ext>
                      </a:extLst>
                    </a:gridCol>
                    <a:gridCol w="2282536">
                      <a:extLst>
                        <a:ext uri="{9D8B030D-6E8A-4147-A177-3AD203B41FA5}">
                          <a16:colId xmlns:a16="http://schemas.microsoft.com/office/drawing/2014/main" val="333003826"/>
                        </a:ext>
                      </a:extLst>
                    </a:gridCol>
                  </a:tblGrid>
                  <a:tr h="335280">
                    <a:tc>
                      <a:txBody>
                        <a:bodyPr/>
                        <a:lstStyle/>
                        <a:p>
                          <a:r>
                            <a:rPr lang="es-CO" sz="16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6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770192">
                    <a:tc>
                      <a:txBody>
                        <a:bodyPr/>
                        <a:lstStyle/>
                        <a:p>
                          <a:r>
                            <a:rPr lang="es-CO" sz="1600" dirty="0">
                              <a:latin typeface="Roboto" panose="02000000000000000000" pitchFamily="2" charset="0"/>
                              <a:ea typeface="Roboto" panose="02000000000000000000" pitchFamily="2" charset="0"/>
                            </a:rPr>
                            <a:t>Modus Ponens</a:t>
                          </a:r>
                        </a:p>
                      </a:txBody>
                      <a:tcPr anchor="ctr"/>
                    </a:tc>
                    <a:tc>
                      <a:txBody>
                        <a:bodyPr/>
                        <a:lstStyle/>
                        <a:p>
                          <a:endParaRPr lang="es-CO"/>
                        </a:p>
                      </a:txBody>
                      <a:tcPr>
                        <a:blipFill>
                          <a:blip r:embed="rId3"/>
                          <a:stretch>
                            <a:fillRect l="-101087" t="-46032" r="-206793" b="-407937"/>
                          </a:stretch>
                        </a:blipFill>
                      </a:tcPr>
                    </a:tc>
                    <a:tc>
                      <a:txBody>
                        <a:bodyPr/>
                        <a:lstStyle/>
                        <a:p>
                          <a:r>
                            <a:rPr lang="es-CO" sz="1600" dirty="0">
                              <a:latin typeface="Roboto" panose="02000000000000000000" pitchFamily="2" charset="0"/>
                              <a:ea typeface="Roboto" panose="02000000000000000000" pitchFamily="2" charset="0"/>
                            </a:rPr>
                            <a:t>Simplificación</a:t>
                          </a:r>
                        </a:p>
                      </a:txBody>
                      <a:tcPr anchor="ctr"/>
                    </a:tc>
                    <a:tc>
                      <a:txBody>
                        <a:bodyPr/>
                        <a:lstStyle/>
                        <a:p>
                          <a:endParaRPr lang="es-CO"/>
                        </a:p>
                      </a:txBody>
                      <a:tcPr>
                        <a:blipFill>
                          <a:blip r:embed="rId3"/>
                          <a:stretch>
                            <a:fillRect l="-300000" t="-46032" r="-267" b="-407937"/>
                          </a:stretch>
                        </a:blipFill>
                      </a:tcPr>
                    </a:tc>
                    <a:extLst>
                      <a:ext uri="{0D108BD9-81ED-4DB2-BD59-A6C34878D82A}">
                        <a16:rowId xmlns:a16="http://schemas.microsoft.com/office/drawing/2014/main" val="4259179385"/>
                      </a:ext>
                    </a:extLst>
                  </a:tr>
                  <a:tr h="770192">
                    <a:tc>
                      <a:txBody>
                        <a:bodyPr/>
                        <a:lstStyle/>
                        <a:p>
                          <a:r>
                            <a:rPr lang="es-CO" sz="1600" dirty="0">
                              <a:latin typeface="Roboto" panose="02000000000000000000" pitchFamily="2" charset="0"/>
                              <a:ea typeface="Roboto" panose="02000000000000000000" pitchFamily="2" charset="0"/>
                            </a:rPr>
                            <a:t>Modus Tollens</a:t>
                          </a:r>
                        </a:p>
                      </a:txBody>
                      <a:tcPr anchor="ctr"/>
                    </a:tc>
                    <a:tc>
                      <a:txBody>
                        <a:bodyPr/>
                        <a:lstStyle/>
                        <a:p>
                          <a:endParaRPr lang="es-CO"/>
                        </a:p>
                      </a:txBody>
                      <a:tcPr>
                        <a:blipFill>
                          <a:blip r:embed="rId3"/>
                          <a:stretch>
                            <a:fillRect l="-101087" t="-144882" r="-206793" b="-304724"/>
                          </a:stretch>
                        </a:blipFill>
                      </a:tcPr>
                    </a:tc>
                    <a:tc>
                      <a:txBody>
                        <a:bodyPr/>
                        <a:lstStyle/>
                        <a:p>
                          <a:r>
                            <a:rPr lang="es-CO" sz="1600" dirty="0">
                              <a:latin typeface="Roboto" panose="02000000000000000000" pitchFamily="2" charset="0"/>
                              <a:ea typeface="Roboto" panose="02000000000000000000" pitchFamily="2" charset="0"/>
                            </a:rPr>
                            <a:t>Conjunción</a:t>
                          </a:r>
                        </a:p>
                      </a:txBody>
                      <a:tcPr anchor="ctr"/>
                    </a:tc>
                    <a:tc>
                      <a:txBody>
                        <a:bodyPr/>
                        <a:lstStyle/>
                        <a:p>
                          <a:endParaRPr lang="es-CO"/>
                        </a:p>
                      </a:txBody>
                      <a:tcPr>
                        <a:blipFill>
                          <a:blip r:embed="rId3"/>
                          <a:stretch>
                            <a:fillRect l="-300000" t="-144882" r="-267" b="-304724"/>
                          </a:stretch>
                        </a:blipFill>
                      </a:tcPr>
                    </a:tc>
                    <a:extLst>
                      <a:ext uri="{0D108BD9-81ED-4DB2-BD59-A6C34878D82A}">
                        <a16:rowId xmlns:a16="http://schemas.microsoft.com/office/drawing/2014/main" val="1078799334"/>
                      </a:ext>
                    </a:extLst>
                  </a:tr>
                  <a:tr h="770192">
                    <a:tc>
                      <a:txBody>
                        <a:bodyPr/>
                        <a:lstStyle/>
                        <a:p>
                          <a:r>
                            <a:rPr lang="es-CO" sz="1600" dirty="0">
                              <a:latin typeface="Roboto" panose="02000000000000000000" pitchFamily="2" charset="0"/>
                              <a:ea typeface="Roboto" panose="02000000000000000000" pitchFamily="2" charset="0"/>
                            </a:rPr>
                            <a:t>Silogismo hipotético (Transitividad)</a:t>
                          </a:r>
                        </a:p>
                      </a:txBody>
                      <a:tcPr anchor="ctr"/>
                    </a:tc>
                    <a:tc>
                      <a:txBody>
                        <a:bodyPr/>
                        <a:lstStyle/>
                        <a:p>
                          <a:endParaRPr lang="es-CO"/>
                        </a:p>
                      </a:txBody>
                      <a:tcPr>
                        <a:blipFill>
                          <a:blip r:embed="rId3"/>
                          <a:stretch>
                            <a:fillRect l="-101087" t="-246825" r="-206793" b="-207143"/>
                          </a:stretch>
                        </a:blipFill>
                      </a:tcPr>
                    </a:tc>
                    <a:tc rowSpan="2">
                      <a:txBody>
                        <a:bodyPr/>
                        <a:lstStyle/>
                        <a:p>
                          <a:r>
                            <a:rPr lang="es-CO" sz="1600" dirty="0">
                              <a:latin typeface="Roboto" panose="02000000000000000000" pitchFamily="2" charset="0"/>
                              <a:ea typeface="Roboto" panose="02000000000000000000" pitchFamily="2" charset="0"/>
                            </a:rPr>
                            <a:t>Prueba de división por casos</a:t>
                          </a:r>
                        </a:p>
                      </a:txBody>
                      <a:tcPr anchor="ctr"/>
                    </a:tc>
                    <a:tc rowSpan="2">
                      <a:txBody>
                        <a:bodyPr/>
                        <a:lstStyle/>
                        <a:p>
                          <a:endParaRPr lang="es-CO"/>
                        </a:p>
                      </a:txBody>
                      <a:tcPr anchor="ctr">
                        <a:blipFill>
                          <a:blip r:embed="rId3"/>
                          <a:stretch>
                            <a:fillRect l="-300000" t="-121484" r="-267" b="-51172"/>
                          </a:stretch>
                        </a:blipFill>
                      </a:tcPr>
                    </a:tc>
                    <a:extLst>
                      <a:ext uri="{0D108BD9-81ED-4DB2-BD59-A6C34878D82A}">
                        <a16:rowId xmlns:a16="http://schemas.microsoft.com/office/drawing/2014/main" val="682340052"/>
                      </a:ext>
                    </a:extLst>
                  </a:tr>
                  <a:tr h="788099">
                    <a:tc>
                      <a:txBody>
                        <a:bodyPr/>
                        <a:lstStyle/>
                        <a:p>
                          <a:r>
                            <a:rPr lang="es-CO" sz="1600" dirty="0">
                              <a:latin typeface="Roboto" panose="02000000000000000000" pitchFamily="2" charset="0"/>
                              <a:ea typeface="Roboto" panose="02000000000000000000" pitchFamily="2" charset="0"/>
                            </a:rPr>
                            <a:t>Silogismo disyuntivo (Eliminación)</a:t>
                          </a:r>
                        </a:p>
                      </a:txBody>
                      <a:tcPr anchor="ctr"/>
                    </a:tc>
                    <a:tc>
                      <a:txBody>
                        <a:bodyPr/>
                        <a:lstStyle/>
                        <a:p>
                          <a:endParaRPr lang="es-CO"/>
                        </a:p>
                      </a:txBody>
                      <a:tcPr>
                        <a:blipFill>
                          <a:blip r:embed="rId3"/>
                          <a:stretch>
                            <a:fillRect l="-101087" t="-336154" r="-206793" b="-100769"/>
                          </a:stretch>
                        </a:blipFill>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788099">
                    <a:tc>
                      <a:txBody>
                        <a:bodyPr/>
                        <a:lstStyle/>
                        <a:p>
                          <a:r>
                            <a:rPr lang="es-CO" sz="1600" dirty="0">
                              <a:latin typeface="Roboto" panose="02000000000000000000" pitchFamily="2" charset="0"/>
                              <a:ea typeface="Roboto" panose="02000000000000000000" pitchFamily="2" charset="0"/>
                            </a:rPr>
                            <a:t>Adición</a:t>
                          </a:r>
                        </a:p>
                      </a:txBody>
                      <a:tcPr anchor="ctr"/>
                    </a:tc>
                    <a:tc>
                      <a:txBody>
                        <a:bodyPr/>
                        <a:lstStyle/>
                        <a:p>
                          <a:endParaRPr lang="es-CO"/>
                        </a:p>
                      </a:txBody>
                      <a:tcPr>
                        <a:blipFill>
                          <a:blip r:embed="rId3"/>
                          <a:stretch>
                            <a:fillRect l="-101087" t="-439535" r="-206793" b="-1550"/>
                          </a:stretch>
                        </a:blipFill>
                      </a:tcPr>
                    </a:tc>
                    <a:tc>
                      <a:txBody>
                        <a:bodyPr/>
                        <a:lstStyle/>
                        <a:p>
                          <a:r>
                            <a:rPr lang="es-CO" sz="1600" dirty="0">
                              <a:latin typeface="Roboto" panose="02000000000000000000" pitchFamily="2" charset="0"/>
                              <a:ea typeface="Roboto" panose="02000000000000000000" pitchFamily="2" charset="0"/>
                            </a:rPr>
                            <a:t>Resolución</a:t>
                          </a:r>
                        </a:p>
                      </a:txBody>
                      <a:tcPr anchor="ctr"/>
                    </a:tc>
                    <a:tc>
                      <a:txBody>
                        <a:bodyPr/>
                        <a:lstStyle/>
                        <a:p>
                          <a:endParaRPr lang="es-CO"/>
                        </a:p>
                      </a:txBody>
                      <a:tcPr>
                        <a:blipFill>
                          <a:blip r:embed="rId3"/>
                          <a:stretch>
                            <a:fillRect l="-300000" t="-439535" r="-267" b="-1550"/>
                          </a:stretch>
                        </a:blipFill>
                      </a:tcPr>
                    </a:tc>
                    <a:extLst>
                      <a:ext uri="{0D108BD9-81ED-4DB2-BD59-A6C34878D82A}">
                        <a16:rowId xmlns:a16="http://schemas.microsoft.com/office/drawing/2014/main" val="2217682141"/>
                      </a:ext>
                    </a:extLst>
                  </a:tr>
                </a:tbl>
              </a:graphicData>
            </a:graphic>
          </p:graphicFrame>
        </mc:Fallback>
      </mc:AlternateContent>
    </p:spTree>
    <p:extLst>
      <p:ext uri="{BB962C8B-B14F-4D97-AF65-F5344CB8AC3E}">
        <p14:creationId xmlns:p14="http://schemas.microsoft.com/office/powerpoint/2010/main" val="2903326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916650" y="96038"/>
            <a:ext cx="10911556" cy="949500"/>
          </a:xfrm>
        </p:spPr>
        <p:txBody>
          <a:bodyPr/>
          <a:lstStyle/>
          <a:p>
            <a:r>
              <a:rPr lang="es-ES" dirty="0">
                <a:latin typeface="+mj-lt"/>
              </a:rPr>
              <a:t>Validación de argumentos – Enfoque axiomático</a:t>
            </a:r>
            <a:endParaRPr lang="es-CO" dirty="0"/>
          </a:p>
        </p:txBody>
      </p:sp>
      <p:sp>
        <p:nvSpPr>
          <p:cNvPr id="7" name="CuadroTexto 6">
            <a:extLst>
              <a:ext uri="{FF2B5EF4-FFF2-40B4-BE49-F238E27FC236}">
                <a16:creationId xmlns:a16="http://schemas.microsoft.com/office/drawing/2014/main" id="{3802F684-C638-42EC-9880-5DB2EDF1637D}"/>
              </a:ext>
            </a:extLst>
          </p:cNvPr>
          <p:cNvSpPr txBox="1"/>
          <p:nvPr/>
        </p:nvSpPr>
        <p:spPr>
          <a:xfrm>
            <a:off x="223507" y="840383"/>
            <a:ext cx="11464412" cy="830997"/>
          </a:xfrm>
          <a:prstGeom prst="rect">
            <a:avLst/>
          </a:prstGeom>
          <a:noFill/>
        </p:spPr>
        <p:txBody>
          <a:bodyPr wrap="square" rtlCol="0">
            <a:spAutoFit/>
          </a:bodyPr>
          <a:lstStyle/>
          <a:p>
            <a:r>
              <a:rPr lang="es-MX" sz="2400" i="0" dirty="0">
                <a:effectLst/>
              </a:rPr>
              <a:t>Empleando los axiomas y las reglas de inferencia realizamos el proceso demostrativo empleando como proceso argumentativo el esquema de </a:t>
            </a:r>
            <a:r>
              <a:rPr lang="es-MX" sz="2400" b="1" i="0" dirty="0">
                <a:effectLst/>
              </a:rPr>
              <a:t>afirmación-razón</a:t>
            </a:r>
            <a:r>
              <a:rPr lang="es-MX" sz="2400" i="0" dirty="0">
                <a:effectLst/>
              </a:rPr>
              <a:t>.</a:t>
            </a:r>
          </a:p>
        </p:txBody>
      </p:sp>
      <p:graphicFrame>
        <p:nvGraphicFramePr>
          <p:cNvPr id="6" name="Tabla 6">
            <a:extLst>
              <a:ext uri="{FF2B5EF4-FFF2-40B4-BE49-F238E27FC236}">
                <a16:creationId xmlns:a16="http://schemas.microsoft.com/office/drawing/2014/main" id="{B728E6AC-D550-4A0A-800B-5C1EB215D936}"/>
              </a:ext>
            </a:extLst>
          </p:cNvPr>
          <p:cNvGraphicFramePr>
            <a:graphicFrameLocks noGrp="1"/>
          </p:cNvGraphicFramePr>
          <p:nvPr>
            <p:extLst>
              <p:ext uri="{D42A27DB-BD31-4B8C-83A1-F6EECF244321}">
                <p14:modId xmlns:p14="http://schemas.microsoft.com/office/powerpoint/2010/main" val="2202568150"/>
              </p:ext>
            </p:extLst>
          </p:nvPr>
        </p:nvGraphicFramePr>
        <p:xfrm>
          <a:off x="5608601" y="2415725"/>
          <a:ext cx="6359892" cy="3479800"/>
        </p:xfrm>
        <a:graphic>
          <a:graphicData uri="http://schemas.openxmlformats.org/drawingml/2006/table">
            <a:tbl>
              <a:tblPr firstRow="1" bandRow="1">
                <a:tableStyleId>{5940675A-B579-460E-94D1-54222C63F5DA}</a:tableStyleId>
              </a:tblPr>
              <a:tblGrid>
                <a:gridCol w="653143">
                  <a:extLst>
                    <a:ext uri="{9D8B030D-6E8A-4147-A177-3AD203B41FA5}">
                      <a16:colId xmlns:a16="http://schemas.microsoft.com/office/drawing/2014/main" val="2268520492"/>
                    </a:ext>
                  </a:extLst>
                </a:gridCol>
                <a:gridCol w="2467429">
                  <a:extLst>
                    <a:ext uri="{9D8B030D-6E8A-4147-A177-3AD203B41FA5}">
                      <a16:colId xmlns:a16="http://schemas.microsoft.com/office/drawing/2014/main" val="2295907465"/>
                    </a:ext>
                  </a:extLst>
                </a:gridCol>
                <a:gridCol w="3239320">
                  <a:extLst>
                    <a:ext uri="{9D8B030D-6E8A-4147-A177-3AD203B41FA5}">
                      <a16:colId xmlns:a16="http://schemas.microsoft.com/office/drawing/2014/main" val="1814483346"/>
                    </a:ext>
                  </a:extLst>
                </a:gridCol>
              </a:tblGrid>
              <a:tr h="370840">
                <a:tc>
                  <a:txBody>
                    <a:bodyPr/>
                    <a:lstStyle/>
                    <a:p>
                      <a:r>
                        <a:rPr lang="es-CO" b="1" dirty="0"/>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Afirmación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Razón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992406"/>
                  </a:ext>
                </a:extLst>
              </a:tr>
              <a:tr h="370840">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29773306"/>
                  </a:ext>
                </a:extLst>
              </a:tr>
            </a:tbl>
          </a:graphicData>
        </a:graphic>
      </p:graphicFrame>
      <p:pic>
        <p:nvPicPr>
          <p:cNvPr id="4" name="Imagen 3">
            <a:extLst>
              <a:ext uri="{FF2B5EF4-FFF2-40B4-BE49-F238E27FC236}">
                <a16:creationId xmlns:a16="http://schemas.microsoft.com/office/drawing/2014/main" id="{B5520E23-15F3-4A93-AC0A-86DE42FFA4C0}"/>
              </a:ext>
            </a:extLst>
          </p:cNvPr>
          <p:cNvPicPr>
            <a:picLocks noChangeAspect="1"/>
          </p:cNvPicPr>
          <p:nvPr/>
        </p:nvPicPr>
        <p:blipFill>
          <a:blip r:embed="rId3"/>
          <a:stretch>
            <a:fillRect/>
          </a:stretch>
        </p:blipFill>
        <p:spPr>
          <a:xfrm>
            <a:off x="837910" y="1782777"/>
            <a:ext cx="3772830" cy="2350371"/>
          </a:xfrm>
          <a:prstGeom prst="rect">
            <a:avLst/>
          </a:prstGeom>
        </p:spPr>
      </p:pic>
      <p:pic>
        <p:nvPicPr>
          <p:cNvPr id="9" name="Imagen 8">
            <a:extLst>
              <a:ext uri="{FF2B5EF4-FFF2-40B4-BE49-F238E27FC236}">
                <a16:creationId xmlns:a16="http://schemas.microsoft.com/office/drawing/2014/main" id="{DD0EBA93-CC47-41A2-9F35-4B72CF572ABF}"/>
              </a:ext>
            </a:extLst>
          </p:cNvPr>
          <p:cNvPicPr>
            <a:picLocks noChangeAspect="1"/>
          </p:cNvPicPr>
          <p:nvPr/>
        </p:nvPicPr>
        <p:blipFill>
          <a:blip r:embed="rId4"/>
          <a:stretch>
            <a:fillRect/>
          </a:stretch>
        </p:blipFill>
        <p:spPr>
          <a:xfrm>
            <a:off x="223507" y="4244545"/>
            <a:ext cx="5112620" cy="2372766"/>
          </a:xfrm>
          <a:prstGeom prst="rect">
            <a:avLst/>
          </a:prstGeom>
        </p:spPr>
      </p:pic>
    </p:spTree>
    <p:extLst>
      <p:ext uri="{BB962C8B-B14F-4D97-AF65-F5344CB8AC3E}">
        <p14:creationId xmlns:p14="http://schemas.microsoft.com/office/powerpoint/2010/main" val="815176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57200" y="96038"/>
            <a:ext cx="11282516" cy="949500"/>
          </a:xfrm>
        </p:spPr>
        <p:txBody>
          <a:bodyPr/>
          <a:lstStyle/>
          <a:p>
            <a:r>
              <a:rPr lang="es-ES" dirty="0">
                <a:latin typeface="+mj-lt"/>
              </a:rPr>
              <a:t>Validación de argumentos – Enfoque axiomático</a:t>
            </a:r>
            <a:endParaRPr lang="es-CO" dirty="0"/>
          </a:p>
        </p:txBody>
      </p:sp>
      <p:sp>
        <p:nvSpPr>
          <p:cNvPr id="12" name="CuadroTexto 11">
            <a:extLst>
              <a:ext uri="{FF2B5EF4-FFF2-40B4-BE49-F238E27FC236}">
                <a16:creationId xmlns:a16="http://schemas.microsoft.com/office/drawing/2014/main" id="{86124C36-7153-4A0A-AE9D-CDE921828F77}"/>
              </a:ext>
            </a:extLst>
          </p:cNvPr>
          <p:cNvSpPr txBox="1"/>
          <p:nvPr/>
        </p:nvSpPr>
        <p:spPr>
          <a:xfrm>
            <a:off x="622090" y="1045538"/>
            <a:ext cx="10947819" cy="400110"/>
          </a:xfrm>
          <a:prstGeom prst="rect">
            <a:avLst/>
          </a:prstGeom>
          <a:noFill/>
        </p:spPr>
        <p:txBody>
          <a:bodyPr wrap="square" rtlCol="0">
            <a:spAutoFit/>
          </a:bodyPr>
          <a:lstStyle/>
          <a:p>
            <a:r>
              <a:rPr lang="es-MX" sz="2000" b="1" dirty="0">
                <a:ea typeface="Roboto" panose="02000000000000000000" pitchFamily="2" charset="0"/>
              </a:rPr>
              <a:t>Ejemplo</a:t>
            </a:r>
            <a:r>
              <a:rPr lang="es-MX" sz="2000" dirty="0">
                <a:ea typeface="Roboto" panose="02000000000000000000" pitchFamily="2" charset="0"/>
              </a:rPr>
              <a:t>: Demuestre que el siguiente argumento lógico es valido:</a:t>
            </a:r>
          </a:p>
        </p:txBody>
      </p: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16067F6-E156-45E0-A9EC-9EDC8067F677}"/>
                  </a:ext>
                </a:extLst>
              </p:cNvPr>
              <p:cNvSpPr txBox="1"/>
              <p:nvPr/>
            </p:nvSpPr>
            <p:spPr>
              <a:xfrm>
                <a:off x="3905848" y="1687261"/>
                <a:ext cx="487178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𝑡</m:t>
                      </m:r>
                      <m:r>
                        <a:rPr lang="es-MX" sz="2000" b="0" i="1" smtClean="0">
                          <a:latin typeface="Cambria Math" panose="02040503050406030204" pitchFamily="18" charset="0"/>
                          <a:ea typeface="Roboto" panose="02000000000000000000" pitchFamily="2" charset="0"/>
                        </a:rPr>
                        <m:t>)</m:t>
                      </m:r>
                    </m:oMath>
                  </m:oMathPara>
                </a14:m>
                <a:endParaRPr lang="es-MX" sz="2000" dirty="0">
                  <a:latin typeface="Roboto" panose="02000000000000000000" pitchFamily="2" charset="0"/>
                  <a:ea typeface="Cambria Math" panose="02040503050406030204" pitchFamily="18" charset="0"/>
                </a:endParaRPr>
              </a:p>
            </p:txBody>
          </p:sp>
        </mc:Choice>
        <mc:Fallback>
          <p:sp>
            <p:nvSpPr>
              <p:cNvPr id="14" name="CuadroTexto 13">
                <a:extLst>
                  <a:ext uri="{FF2B5EF4-FFF2-40B4-BE49-F238E27FC236}">
                    <a16:creationId xmlns:a16="http://schemas.microsoft.com/office/drawing/2014/main" id="{616067F6-E156-45E0-A9EC-9EDC8067F677}"/>
                  </a:ext>
                </a:extLst>
              </p:cNvPr>
              <p:cNvSpPr txBox="1">
                <a:spLocks noRot="1" noChangeAspect="1" noMove="1" noResize="1" noEditPoints="1" noAdjustHandles="1" noChangeArrowheads="1" noChangeShapeType="1" noTextEdit="1"/>
              </p:cNvSpPr>
              <p:nvPr/>
            </p:nvSpPr>
            <p:spPr>
              <a:xfrm>
                <a:off x="3905848" y="1687261"/>
                <a:ext cx="4871783" cy="307777"/>
              </a:xfrm>
              <a:prstGeom prst="rect">
                <a:avLst/>
              </a:prstGeom>
              <a:blipFill>
                <a:blip r:embed="rId3"/>
                <a:stretch>
                  <a:fillRect r="-1377" b="-38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42A50C60-7BBA-467B-8D0C-4A2F34D7303D}"/>
                  </a:ext>
                </a:extLst>
              </p:cNvPr>
              <p:cNvSpPr txBox="1"/>
              <p:nvPr/>
            </p:nvSpPr>
            <p:spPr>
              <a:xfrm>
                <a:off x="871897" y="2816578"/>
                <a:ext cx="43975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r>
                            <a:rPr lang="es-MX" sz="1800" i="1">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𝑠</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𝑟</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𝑟</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m:t>
                          </m:r>
                        </m:e>
                      </m:d>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𝑠</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𝑡</m:t>
                      </m:r>
                      <m:r>
                        <a:rPr lang="es-MX" sz="1800" b="0" i="1" smtClean="0">
                          <a:latin typeface="Cambria Math" panose="02040503050406030204" pitchFamily="18" charset="0"/>
                          <a:ea typeface="Roboto" panose="02000000000000000000" pitchFamily="2" charset="0"/>
                        </a:rPr>
                        <m:t>)</m:t>
                      </m:r>
                    </m:oMath>
                  </m:oMathPara>
                </a14:m>
                <a:endParaRPr lang="es-MX" sz="1800" dirty="0">
                  <a:latin typeface="Roboto" panose="02000000000000000000" pitchFamily="2" charset="0"/>
                  <a:ea typeface="Cambria Math" panose="02040503050406030204" pitchFamily="18" charset="0"/>
                </a:endParaRPr>
              </a:p>
            </p:txBody>
          </p:sp>
        </mc:Choice>
        <mc:Fallback>
          <p:sp>
            <p:nvSpPr>
              <p:cNvPr id="6" name="CuadroTexto 5">
                <a:extLst>
                  <a:ext uri="{FF2B5EF4-FFF2-40B4-BE49-F238E27FC236}">
                    <a16:creationId xmlns:a16="http://schemas.microsoft.com/office/drawing/2014/main" id="{42A50C60-7BBA-467B-8D0C-4A2F34D7303D}"/>
                  </a:ext>
                </a:extLst>
              </p:cNvPr>
              <p:cNvSpPr txBox="1">
                <a:spLocks noRot="1" noChangeAspect="1" noMove="1" noResize="1" noEditPoints="1" noAdjustHandles="1" noChangeArrowheads="1" noChangeShapeType="1" noTextEdit="1"/>
              </p:cNvSpPr>
              <p:nvPr/>
            </p:nvSpPr>
            <p:spPr>
              <a:xfrm>
                <a:off x="871897" y="2816578"/>
                <a:ext cx="4397551" cy="276999"/>
              </a:xfrm>
              <a:prstGeom prst="rect">
                <a:avLst/>
              </a:prstGeom>
              <a:blipFill>
                <a:blip r:embed="rId4"/>
                <a:stretch>
                  <a:fillRect r="-1526" b="-37778"/>
                </a:stretch>
              </a:blipFill>
            </p:spPr>
            <p:txBody>
              <a:bodyPr/>
              <a:lstStyle/>
              <a:p>
                <a:r>
                  <a:rPr lang="es-CO">
                    <a:noFill/>
                  </a:rPr>
                  <a:t> </a:t>
                </a:r>
              </a:p>
            </p:txBody>
          </p:sp>
        </mc:Fallback>
      </mc:AlternateContent>
      <p:grpSp>
        <p:nvGrpSpPr>
          <p:cNvPr id="8" name="Grupo 7">
            <a:extLst>
              <a:ext uri="{FF2B5EF4-FFF2-40B4-BE49-F238E27FC236}">
                <a16:creationId xmlns:a16="http://schemas.microsoft.com/office/drawing/2014/main" id="{D0BE68F0-BE12-4829-BD4C-A0B781D62214}"/>
              </a:ext>
            </a:extLst>
          </p:cNvPr>
          <p:cNvGrpSpPr/>
          <p:nvPr/>
        </p:nvGrpSpPr>
        <p:grpSpPr>
          <a:xfrm>
            <a:off x="871897" y="4304357"/>
            <a:ext cx="3269672" cy="1508105"/>
            <a:chOff x="4134911" y="4512927"/>
            <a:chExt cx="3269672" cy="1508105"/>
          </a:xfrm>
        </p:grpSpPr>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B0CCF1CD-37AD-4A7C-B105-0D5B77F95058}"/>
                    </a:ext>
                  </a:extLst>
                </p:cNvPr>
                <p:cNvSpPr txBox="1"/>
                <p:nvPr/>
              </p:nvSpPr>
              <p:spPr>
                <a:xfrm>
                  <a:off x="4134911" y="4512927"/>
                  <a:ext cx="3184297" cy="150810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               </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𝑎</m:t>
                            </m:r>
                          </m:e>
                        </m:d>
                      </m:oMath>
                    </m:oMathPara>
                  </a14:m>
                  <a:endParaRPr lang="es-MX" sz="18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      </m:t>
                        </m:r>
                        <m:d>
                          <m:dPr>
                            <m:ctrlPr>
                              <a:rPr lang="es-MX" sz="1800" i="1">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𝑏</m:t>
                            </m:r>
                          </m:e>
                        </m:d>
                      </m:oMath>
                    </m:oMathPara>
                  </a14:m>
                  <a:endParaRPr lang="es-MX" sz="18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i="1">
                            <a:latin typeface="Cambria Math" panose="02040503050406030204" pitchFamily="18" charset="0"/>
                            <a:ea typeface="Cambria Math" panose="02040503050406030204" pitchFamily="18" charset="0"/>
                          </a:rPr>
                          <m:t>𝑠</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𝑟</m:t>
                        </m:r>
                        <m:r>
                          <a:rPr lang="es-MX" sz="1800" b="0" i="1" smtClean="0">
                            <a:latin typeface="Cambria Math" panose="02040503050406030204" pitchFamily="18" charset="0"/>
                            <a:ea typeface="Cambria Math" panose="02040503050406030204" pitchFamily="18" charset="0"/>
                          </a:rPr>
                          <m:t>        </m:t>
                        </m:r>
                        <m:d>
                          <m:dPr>
                            <m:ctrlPr>
                              <a:rPr lang="es-MX" sz="1800" i="1">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𝑐</m:t>
                            </m:r>
                          </m:e>
                        </m:d>
                        <m:r>
                          <a:rPr lang="es-MX" sz="1800" b="0" i="1" smtClean="0">
                            <a:latin typeface="Cambria Math" panose="02040503050406030204" pitchFamily="18" charset="0"/>
                            <a:ea typeface="Roboto" panose="02000000000000000000" pitchFamily="2" charset="0"/>
                          </a:rPr>
                          <m:t> </m:t>
                        </m:r>
                      </m:oMath>
                    </m:oMathPara>
                  </a14:m>
                  <a:endParaRPr lang="es-MX" sz="1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i="1">
                            <a:latin typeface="Cambria Math" panose="02040503050406030204" pitchFamily="18" charset="0"/>
                            <a:ea typeface="Cambria Math" panose="02040503050406030204" pitchFamily="18" charset="0"/>
                          </a:rPr>
                          <m:t>𝑟</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   </m:t>
                        </m:r>
                        <m:d>
                          <m:dPr>
                            <m:ctrlPr>
                              <a:rPr lang="es-MX" sz="1800" i="1">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𝑑</m:t>
                            </m:r>
                          </m:e>
                        </m:d>
                      </m:oMath>
                    </m:oMathPara>
                  </a14:m>
                  <a:endParaRPr lang="es-MX" sz="1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Roboto" panose="02000000000000000000" pitchFamily="2" charset="0"/>
                          </a:rPr>
                          <m:t>𝑠</m:t>
                        </m:r>
                        <m:r>
                          <a:rPr lang="es-MX" sz="1800" i="1">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𝑡</m:t>
                        </m:r>
                      </m:oMath>
                    </m:oMathPara>
                  </a14:m>
                  <a:endParaRPr lang="es-MX" sz="1800" b="0" dirty="0">
                    <a:latin typeface="Roboto" panose="02000000000000000000" pitchFamily="2" charset="0"/>
                    <a:ea typeface="Cambria Math" panose="02040503050406030204" pitchFamily="18" charset="0"/>
                  </a:endParaRPr>
                </a:p>
              </p:txBody>
            </p:sp>
          </mc:Choice>
          <mc:Fallback>
            <p:sp>
              <p:nvSpPr>
                <p:cNvPr id="9" name="CuadroTexto 8">
                  <a:extLst>
                    <a:ext uri="{FF2B5EF4-FFF2-40B4-BE49-F238E27FC236}">
                      <a16:creationId xmlns:a16="http://schemas.microsoft.com/office/drawing/2014/main" id="{B0CCF1CD-37AD-4A7C-B105-0D5B77F95058}"/>
                    </a:ext>
                  </a:extLst>
                </p:cNvPr>
                <p:cNvSpPr txBox="1">
                  <a:spLocks noRot="1" noChangeAspect="1" noMove="1" noResize="1" noEditPoints="1" noAdjustHandles="1" noChangeArrowheads="1" noChangeShapeType="1" noTextEdit="1"/>
                </p:cNvSpPr>
                <p:nvPr/>
              </p:nvSpPr>
              <p:spPr>
                <a:xfrm>
                  <a:off x="4134911" y="4512927"/>
                  <a:ext cx="3184297" cy="1508105"/>
                </a:xfrm>
                <a:prstGeom prst="rect">
                  <a:avLst/>
                </a:prstGeom>
                <a:blipFill>
                  <a:blip r:embed="rId5"/>
                  <a:stretch>
                    <a:fillRect/>
                  </a:stretch>
                </a:blipFill>
              </p:spPr>
              <p:txBody>
                <a:bodyPr/>
                <a:lstStyle/>
                <a:p>
                  <a:r>
                    <a:rPr lang="es-CO">
                      <a:noFill/>
                    </a:rPr>
                    <a:t> </a:t>
                  </a:r>
                </a:p>
              </p:txBody>
            </p:sp>
          </mc:Fallback>
        </mc:AlternateContent>
        <p:cxnSp>
          <p:nvCxnSpPr>
            <p:cNvPr id="10" name="Conector recto 9">
              <a:extLst>
                <a:ext uri="{FF2B5EF4-FFF2-40B4-BE49-F238E27FC236}">
                  <a16:creationId xmlns:a16="http://schemas.microsoft.com/office/drawing/2014/main" id="{3C603B32-121F-40DA-9D9D-06CAF852F69C}"/>
                </a:ext>
              </a:extLst>
            </p:cNvPr>
            <p:cNvCxnSpPr/>
            <p:nvPr/>
          </p:nvCxnSpPr>
          <p:spPr>
            <a:xfrm>
              <a:off x="4204183" y="5686539"/>
              <a:ext cx="3200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graphicFrame>
            <p:nvGraphicFramePr>
              <p:cNvPr id="11" name="Tabla 2">
                <a:extLst>
                  <a:ext uri="{FF2B5EF4-FFF2-40B4-BE49-F238E27FC236}">
                    <a16:creationId xmlns:a16="http://schemas.microsoft.com/office/drawing/2014/main" id="{1625F77A-F5B7-4FB1-9090-40BACE965DE7}"/>
                  </a:ext>
                </a:extLst>
              </p:cNvPr>
              <p:cNvGraphicFramePr>
                <a:graphicFrameLocks noGrp="1"/>
              </p:cNvGraphicFramePr>
              <p:nvPr>
                <p:extLst>
                  <p:ext uri="{D42A27DB-BD31-4B8C-83A1-F6EECF244321}">
                    <p14:modId xmlns:p14="http://schemas.microsoft.com/office/powerpoint/2010/main" val="475963788"/>
                  </p:ext>
                </p:extLst>
              </p:nvPr>
            </p:nvGraphicFramePr>
            <p:xfrm>
              <a:off x="6421352" y="2395148"/>
              <a:ext cx="4712558" cy="4104640"/>
            </p:xfrm>
            <a:graphic>
              <a:graphicData uri="http://schemas.openxmlformats.org/drawingml/2006/table">
                <a:tbl>
                  <a:tblPr firstRow="1" bandRow="1">
                    <a:tableStyleId>{AD6A3598-7CB8-4345-8D95-17CE05F158A0}</a:tableStyleId>
                  </a:tblPr>
                  <a:tblGrid>
                    <a:gridCol w="398274">
                      <a:extLst>
                        <a:ext uri="{9D8B030D-6E8A-4147-A177-3AD203B41FA5}">
                          <a16:colId xmlns:a16="http://schemas.microsoft.com/office/drawing/2014/main" val="1610952478"/>
                        </a:ext>
                      </a:extLst>
                    </a:gridCol>
                    <a:gridCol w="1851302">
                      <a:extLst>
                        <a:ext uri="{9D8B030D-6E8A-4147-A177-3AD203B41FA5}">
                          <a16:colId xmlns:a16="http://schemas.microsoft.com/office/drawing/2014/main" val="2942974496"/>
                        </a:ext>
                      </a:extLst>
                    </a:gridCol>
                    <a:gridCol w="2462982">
                      <a:extLst>
                        <a:ext uri="{9D8B030D-6E8A-4147-A177-3AD203B41FA5}">
                          <a16:colId xmlns:a16="http://schemas.microsoft.com/office/drawing/2014/main" val="4281859008"/>
                        </a:ext>
                      </a:extLst>
                    </a:gridCol>
                  </a:tblGrid>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pPr algn="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𝟏</m:t>
                                </m:r>
                              </m:oMath>
                            </m:oMathPara>
                          </a14:m>
                          <a:endParaRPr lang="es-CO" sz="1600" b="1"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b="0" i="1" smtClean="0">
                                    <a:latin typeface="+mn-lt"/>
                                    <a:ea typeface="Roboto" panose="02000000000000000000" pitchFamily="2" charset="0"/>
                                  </a:rPr>
                                  <m:t>𝑝</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dirty="0">
                              <a:latin typeface="+mn-lt"/>
                              <a:ea typeface="Roboto" panose="02000000000000000000" pitchFamily="2" charset="0"/>
                            </a:rPr>
                            <a:t>Premisa </a:t>
                          </a:r>
                          <a:r>
                            <a:rPr lang="es-CO" sz="16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pPr algn="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𝟐</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i="1" smtClean="0">
                                    <a:latin typeface="+mn-lt"/>
                                    <a:ea typeface="Cambria Math" panose="02040503050406030204" pitchFamily="18" charset="0"/>
                                  </a:rPr>
                                  <m:t>𝑝</m:t>
                                </m:r>
                                <m:r>
                                  <a:rPr lang="es-MX" sz="1600" i="1" smtClean="0">
                                    <a:latin typeface="+mn-lt"/>
                                    <a:ea typeface="Cambria Math" panose="02040503050406030204" pitchFamily="18" charset="0"/>
                                  </a:rPr>
                                  <m:t>→</m:t>
                                </m:r>
                                <m:r>
                                  <a:rPr lang="es-MX" sz="1600" i="1" smtClean="0">
                                    <a:latin typeface="+mn-lt"/>
                                    <a:ea typeface="Cambria Math" panose="02040503050406030204" pitchFamily="18" charset="0"/>
                                  </a:rPr>
                                  <m:t>𝑞</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dirty="0">
                              <a:latin typeface="+mn-lt"/>
                              <a:ea typeface="Roboto" panose="02000000000000000000" pitchFamily="2" charset="0"/>
                            </a:rPr>
                            <a:t>Premisa </a:t>
                          </a:r>
                          <a:r>
                            <a:rPr lang="es-CO" sz="16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pPr algn="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𝟑</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mn-lt"/>
                                    <a:ea typeface="Cambria Math" panose="02040503050406030204" pitchFamily="18" charset="0"/>
                                  </a:rPr>
                                  <m:t>𝑞</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dirty="0">
                              <a:latin typeface="+mn-lt"/>
                              <a:ea typeface="Roboto" panose="02000000000000000000" pitchFamily="2" charset="0"/>
                            </a:rPr>
                            <a:t>Modus ponens </a:t>
                          </a:r>
                          <a:r>
                            <a:rPr lang="es-CO" sz="1600" b="1" dirty="0">
                              <a:latin typeface="+mn-lt"/>
                              <a:ea typeface="Roboto" panose="02000000000000000000" pitchFamily="2" charset="0"/>
                            </a:rPr>
                            <a:t>1 </a:t>
                          </a:r>
                          <a:r>
                            <a:rPr lang="es-CO" sz="1600" b="0" dirty="0">
                              <a:latin typeface="+mn-lt"/>
                              <a:ea typeface="Roboto" panose="02000000000000000000" pitchFamily="2" charset="0"/>
                            </a:rPr>
                            <a:t>y</a:t>
                          </a:r>
                          <a:r>
                            <a:rPr lang="es-CO" sz="1600" b="1" dirty="0">
                              <a:latin typeface="+mn-lt"/>
                              <a:ea typeface="Roboto" panose="02000000000000000000" pitchFamily="2" charset="0"/>
                            </a:rPr>
                            <a:t> 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pPr algn="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𝟒</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mn-lt"/>
                                    <a:ea typeface="Cambria Math" panose="02040503050406030204" pitchFamily="18" charset="0"/>
                                  </a:rPr>
                                  <m:t>𝑟</m:t>
                                </m:r>
                                <m:r>
                                  <a:rPr lang="es-MX" sz="1600" i="1" smtClean="0">
                                    <a:latin typeface="+mn-lt"/>
                                    <a:ea typeface="Cambria Math" panose="02040503050406030204" pitchFamily="18" charset="0"/>
                                  </a:rPr>
                                  <m:t>→¬</m:t>
                                </m:r>
                                <m:r>
                                  <a:rPr lang="es-MX" sz="1600" i="1" smtClean="0">
                                    <a:latin typeface="+mn-lt"/>
                                    <a:ea typeface="Cambria Math" panose="02040503050406030204" pitchFamily="18" charset="0"/>
                                  </a:rPr>
                                  <m:t>𝑞</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dirty="0">
                              <a:latin typeface="+mn-lt"/>
                              <a:ea typeface="Roboto" panose="02000000000000000000" pitchFamily="2" charset="0"/>
                            </a:rPr>
                            <a:t>Premisa </a:t>
                          </a:r>
                          <a:r>
                            <a:rPr lang="es-CO" sz="1600" b="1" dirty="0">
                              <a:latin typeface="+mn-lt"/>
                              <a:ea typeface="Roboto" panose="02000000000000000000" pitchFamily="2" charset="0"/>
                            </a:rPr>
                            <a:t>d</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a:txBody>
                        <a:bodyPr/>
                        <a:lstStyle/>
                        <a:p>
                          <a:pPr algn="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𝟓</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mn-lt"/>
                                  </a:rPr>
                                  <m:t>¬</m:t>
                                </m:r>
                                <m:d>
                                  <m:dPr>
                                    <m:ctrlPr>
                                      <a:rPr lang="es-MX" sz="1600" b="0" i="1" smtClean="0">
                                        <a:latin typeface="+mn-lt"/>
                                      </a:rPr>
                                    </m:ctrlPr>
                                  </m:dPr>
                                  <m:e>
                                    <m:r>
                                      <a:rPr lang="es-MX" sz="1600" b="0" i="1" smtClean="0">
                                        <a:latin typeface="+mn-lt"/>
                                      </a:rPr>
                                      <m:t>¬</m:t>
                                    </m:r>
                                    <m:r>
                                      <a:rPr lang="es-MX" sz="1600" b="0" i="1" smtClean="0">
                                        <a:latin typeface="+mn-lt"/>
                                      </a:rPr>
                                      <m:t>𝑞</m:t>
                                    </m:r>
                                  </m:e>
                                </m:d>
                                <m:r>
                                  <a:rPr lang="es-MX" sz="1600" b="0" i="1" smtClean="0">
                                    <a:latin typeface="+mn-lt"/>
                                  </a:rPr>
                                  <m:t>→¬</m:t>
                                </m:r>
                                <m:r>
                                  <a:rPr lang="es-MX" sz="1600" b="0" i="1" smtClean="0">
                                    <a:latin typeface="+mn-lt"/>
                                  </a:rPr>
                                  <m:t>𝑟</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dirty="0">
                              <a:latin typeface="+mn-lt"/>
                              <a:ea typeface="Roboto" panose="02000000000000000000" pitchFamily="2" charset="0"/>
                            </a:rPr>
                            <a:t>Contrarrecíproco </a:t>
                          </a:r>
                          <a:r>
                            <a:rPr lang="es-CO" sz="1600" b="1" dirty="0">
                              <a:latin typeface="+mn-lt"/>
                              <a:ea typeface="Roboto" panose="02000000000000000000" pitchFamily="2" charset="0"/>
                            </a:rPr>
                            <a:t>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006229"/>
                      </a:ext>
                    </a:extLst>
                  </a:tr>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𝟔</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mn-lt"/>
                                  </a:rPr>
                                  <m:t>𝑞</m:t>
                                </m:r>
                                <m:r>
                                  <a:rPr lang="es-MX" sz="1600" b="0" i="1" smtClean="0">
                                    <a:latin typeface="+mn-lt"/>
                                  </a:rPr>
                                  <m:t>→¬</m:t>
                                </m:r>
                                <m:r>
                                  <a:rPr lang="es-MX" sz="1600" b="0" i="1" smtClean="0">
                                    <a:latin typeface="+mn-lt"/>
                                  </a:rPr>
                                  <m:t>𝑟</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b="0" i="0" u="none" strike="noStrike" cap="none" dirty="0">
                              <a:solidFill>
                                <a:srgbClr val="000000"/>
                              </a:solidFill>
                              <a:latin typeface="+mn-lt"/>
                              <a:ea typeface="Roboto" panose="02000000000000000000" pitchFamily="2" charset="0"/>
                              <a:cs typeface="Arial"/>
                              <a:sym typeface="Arial"/>
                            </a:rPr>
                            <a:t>Doble negación en </a:t>
                          </a:r>
                          <a:r>
                            <a:rPr lang="es-CO" sz="1600" b="1" i="0" u="none" strike="noStrike" cap="none" dirty="0">
                              <a:solidFill>
                                <a:srgbClr val="000000"/>
                              </a:solidFill>
                              <a:latin typeface="+mn-lt"/>
                              <a:ea typeface="Roboto" panose="02000000000000000000" pitchFamily="2" charset="0"/>
                              <a:cs typeface="Arial"/>
                              <a:sym typeface="Arial"/>
                            </a:rPr>
                            <a:t>5</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0261066"/>
                      </a:ext>
                    </a:extLst>
                  </a:tr>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𝟕</m:t>
                                </m:r>
                              </m:oMath>
                            </m:oMathPara>
                          </a14:m>
                          <a:endParaRPr lang="es-CO" sz="1600" b="1"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mn-lt"/>
                                    <a:ea typeface="Roboto" panose="02000000000000000000" pitchFamily="2" charset="0"/>
                                  </a:rPr>
                                  <m:t>¬</m:t>
                                </m:r>
                                <m:r>
                                  <a:rPr lang="es-MX" sz="1600" b="0" i="1" smtClean="0">
                                    <a:latin typeface="+mn-lt"/>
                                    <a:ea typeface="Roboto" panose="02000000000000000000" pitchFamily="2" charset="0"/>
                                  </a:rPr>
                                  <m:t>𝑟</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600" dirty="0">
                              <a:latin typeface="+mn-lt"/>
                              <a:ea typeface="Roboto" panose="02000000000000000000" pitchFamily="2" charset="0"/>
                            </a:rPr>
                            <a:t>Modus ponens </a:t>
                          </a:r>
                          <a:r>
                            <a:rPr lang="es-CO" sz="1600" b="1" dirty="0">
                              <a:latin typeface="+mn-lt"/>
                              <a:ea typeface="Roboto" panose="02000000000000000000" pitchFamily="2" charset="0"/>
                            </a:rPr>
                            <a:t>6 </a:t>
                          </a:r>
                          <a:r>
                            <a:rPr lang="es-CO" sz="1600" b="0" dirty="0">
                              <a:latin typeface="+mn-lt"/>
                              <a:ea typeface="Roboto" panose="02000000000000000000" pitchFamily="2" charset="0"/>
                            </a:rPr>
                            <a:t>y</a:t>
                          </a:r>
                          <a:r>
                            <a:rPr lang="es-CO" sz="1600" b="1" dirty="0">
                              <a:latin typeface="+mn-lt"/>
                              <a:ea typeface="Roboto" panose="02000000000000000000" pitchFamily="2" charset="0"/>
                            </a:rPr>
                            <a:t> 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382845"/>
                      </a:ext>
                    </a:extLst>
                  </a:tr>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𝟖</m:t>
                                </m:r>
                              </m:oMath>
                            </m:oMathPara>
                          </a14:m>
                          <a:endParaRPr lang="es-CO" sz="1600" b="1"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mn-lt"/>
                                    <a:ea typeface="Cambria Math" panose="02040503050406030204" pitchFamily="18" charset="0"/>
                                  </a:rPr>
                                  <m:t>𝑠</m:t>
                                </m:r>
                                <m:r>
                                  <a:rPr lang="es-MX" sz="1600" i="1" smtClean="0">
                                    <a:latin typeface="+mn-lt"/>
                                    <a:ea typeface="Cambria Math" panose="02040503050406030204" pitchFamily="18" charset="0"/>
                                  </a:rPr>
                                  <m:t>∨</m:t>
                                </m:r>
                                <m:r>
                                  <a:rPr lang="es-MX" sz="1600" i="1" smtClean="0">
                                    <a:latin typeface="+mn-lt"/>
                                    <a:ea typeface="Cambria Math" panose="02040503050406030204" pitchFamily="18" charset="0"/>
                                  </a:rPr>
                                  <m:t>𝑟</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Premisa </a:t>
                          </a:r>
                          <a:r>
                            <a:rPr lang="es-CO" sz="1600" b="1" dirty="0">
                              <a:latin typeface="+mn-lt"/>
                              <a:ea typeface="Roboto" panose="02000000000000000000" pitchFamily="2" charset="0"/>
                            </a:rPr>
                            <a:t>c</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9326235"/>
                      </a:ext>
                    </a:extLst>
                  </a:tr>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mn-lt"/>
                                    <a:ea typeface="Cambria Math" panose="02040503050406030204" pitchFamily="18" charset="0"/>
                                  </a:rPr>
                                  <m:t>𝟗</m:t>
                                </m:r>
                              </m:oMath>
                            </m:oMathPara>
                          </a14:m>
                          <a:endParaRPr lang="es-CO" sz="1600" b="1"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mn-lt"/>
                                    <a:ea typeface="Roboto" panose="02000000000000000000" pitchFamily="2" charset="0"/>
                                  </a:rPr>
                                  <m:t>𝑠</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Eliminación </a:t>
                          </a:r>
                          <a:r>
                            <a:rPr lang="es-CO" sz="1600" b="1" dirty="0">
                              <a:latin typeface="+mn-lt"/>
                              <a:ea typeface="Roboto" panose="02000000000000000000" pitchFamily="2" charset="0"/>
                            </a:rPr>
                            <a:t>7</a:t>
                          </a:r>
                          <a:r>
                            <a:rPr lang="es-CO" sz="1600" dirty="0">
                              <a:latin typeface="+mn-lt"/>
                              <a:ea typeface="Roboto" panose="02000000000000000000" pitchFamily="2" charset="0"/>
                            </a:rPr>
                            <a:t> y </a:t>
                          </a:r>
                          <a:r>
                            <a:rPr lang="es-CO" sz="1600" b="1" dirty="0">
                              <a:latin typeface="+mn-lt"/>
                              <a:ea typeface="Roboto" panose="02000000000000000000" pitchFamily="2" charset="0"/>
                            </a:rPr>
                            <a:t>8</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911942"/>
                      </a:ext>
                    </a:extLst>
                  </a:tr>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mn-lt"/>
                                  </a:rPr>
                                  <m:t>𝟏𝟎</m:t>
                                </m:r>
                              </m:oMath>
                            </m:oMathPara>
                          </a14:m>
                          <a:endParaRPr lang="es-CO" sz="1600" b="1"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mn-lt"/>
                                    <a:ea typeface="Cambria Math" panose="02040503050406030204" pitchFamily="18" charset="0"/>
                                  </a:rPr>
                                  <m:t>∴</m:t>
                                </m:r>
                                <m:r>
                                  <a:rPr lang="es-MX" sz="1600" i="1" smtClean="0">
                                    <a:latin typeface="+mn-lt"/>
                                    <a:ea typeface="Cambria Math" panose="02040503050406030204" pitchFamily="18" charset="0"/>
                                  </a:rPr>
                                  <m:t>𝑠</m:t>
                                </m:r>
                                <m:r>
                                  <a:rPr lang="es-MX" sz="1600" i="1" smtClean="0">
                                    <a:latin typeface="+mn-lt"/>
                                    <a:ea typeface="Cambria Math" panose="02040503050406030204" pitchFamily="18" charset="0"/>
                                  </a:rPr>
                                  <m:t>∨</m:t>
                                </m:r>
                                <m:r>
                                  <a:rPr lang="es-MX" sz="1600" b="0" i="1" smtClean="0">
                                    <a:latin typeface="+mn-lt"/>
                                    <a:ea typeface="Cambria Math" panose="02040503050406030204" pitchFamily="18" charset="0"/>
                                  </a:rPr>
                                  <m:t>𝑡</m:t>
                                </m:r>
                              </m:oMath>
                            </m:oMathPara>
                          </a14:m>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Adición </a:t>
                          </a:r>
                          <a:r>
                            <a:rPr lang="es-CO" sz="1600" b="1" dirty="0">
                              <a:latin typeface="+mn-lt"/>
                              <a:ea typeface="Roboto" panose="02000000000000000000" pitchFamily="2" charset="0"/>
                            </a:rPr>
                            <a:t>9</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9766170"/>
                      </a:ext>
                    </a:extLst>
                  </a:tr>
                </a:tbl>
              </a:graphicData>
            </a:graphic>
          </p:graphicFrame>
        </mc:Choice>
        <mc:Fallback>
          <p:graphicFrame>
            <p:nvGraphicFramePr>
              <p:cNvPr id="11" name="Tabla 2">
                <a:extLst>
                  <a:ext uri="{FF2B5EF4-FFF2-40B4-BE49-F238E27FC236}">
                    <a16:creationId xmlns:a16="http://schemas.microsoft.com/office/drawing/2014/main" id="{1625F77A-F5B7-4FB1-9090-40BACE965DE7}"/>
                  </a:ext>
                </a:extLst>
              </p:cNvPr>
              <p:cNvGraphicFramePr>
                <a:graphicFrameLocks noGrp="1"/>
              </p:cNvGraphicFramePr>
              <p:nvPr>
                <p:extLst>
                  <p:ext uri="{D42A27DB-BD31-4B8C-83A1-F6EECF244321}">
                    <p14:modId xmlns:p14="http://schemas.microsoft.com/office/powerpoint/2010/main" val="475963788"/>
                  </p:ext>
                </p:extLst>
              </p:nvPr>
            </p:nvGraphicFramePr>
            <p:xfrm>
              <a:off x="6421352" y="2395148"/>
              <a:ext cx="4712558" cy="4104640"/>
            </p:xfrm>
            <a:graphic>
              <a:graphicData uri="http://schemas.openxmlformats.org/drawingml/2006/table">
                <a:tbl>
                  <a:tblPr firstRow="1" bandRow="1">
                    <a:tableStyleId>{AD6A3598-7CB8-4345-8D95-17CE05F158A0}</a:tableStyleId>
                  </a:tblPr>
                  <a:tblGrid>
                    <a:gridCol w="398274">
                      <a:extLst>
                        <a:ext uri="{9D8B030D-6E8A-4147-A177-3AD203B41FA5}">
                          <a16:colId xmlns:a16="http://schemas.microsoft.com/office/drawing/2014/main" val="1610952478"/>
                        </a:ext>
                      </a:extLst>
                    </a:gridCol>
                    <a:gridCol w="1851302">
                      <a:extLst>
                        <a:ext uri="{9D8B030D-6E8A-4147-A177-3AD203B41FA5}">
                          <a16:colId xmlns:a16="http://schemas.microsoft.com/office/drawing/2014/main" val="2942974496"/>
                        </a:ext>
                      </a:extLst>
                    </a:gridCol>
                    <a:gridCol w="2462982">
                      <a:extLst>
                        <a:ext uri="{9D8B030D-6E8A-4147-A177-3AD203B41FA5}">
                          <a16:colId xmlns:a16="http://schemas.microsoft.com/office/drawing/2014/main" val="4281859008"/>
                        </a:ext>
                      </a:extLst>
                    </a:gridCol>
                  </a:tblGrid>
                  <a:tr h="3962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114754" r="-1092308" b="-91475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1382" t="-114754" r="-133553" b="-914754"/>
                          </a:stretch>
                        </a:blipFill>
                      </a:tcPr>
                    </a:tc>
                    <a:tc>
                      <a:txBody>
                        <a:bodyPr/>
                        <a:lstStyle/>
                        <a:p>
                          <a:r>
                            <a:rPr lang="es-CO" sz="1600" dirty="0">
                              <a:latin typeface="+mn-lt"/>
                              <a:ea typeface="Roboto" panose="02000000000000000000" pitchFamily="2" charset="0"/>
                            </a:rPr>
                            <a:t>Premisa </a:t>
                          </a:r>
                          <a:r>
                            <a:rPr lang="es-CO" sz="16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214754" r="-1092308" b="-81475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1382" t="-214754" r="-133553" b="-814754"/>
                          </a:stretch>
                        </a:blipFill>
                      </a:tcPr>
                    </a:tc>
                    <a:tc>
                      <a:txBody>
                        <a:bodyPr/>
                        <a:lstStyle/>
                        <a:p>
                          <a:r>
                            <a:rPr lang="es-CO" sz="1600" dirty="0">
                              <a:latin typeface="+mn-lt"/>
                              <a:ea typeface="Roboto" panose="02000000000000000000" pitchFamily="2" charset="0"/>
                            </a:rPr>
                            <a:t>Premisa </a:t>
                          </a:r>
                          <a:r>
                            <a:rPr lang="es-CO" sz="16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314754" r="-1092308" b="-71475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1382" t="-314754" r="-133553" b="-714754"/>
                          </a:stretch>
                        </a:blipFill>
                      </a:tcPr>
                    </a:tc>
                    <a:tc>
                      <a:txBody>
                        <a:bodyPr/>
                        <a:lstStyle/>
                        <a:p>
                          <a:r>
                            <a:rPr lang="es-CO" sz="1600" dirty="0">
                              <a:latin typeface="+mn-lt"/>
                              <a:ea typeface="Roboto" panose="02000000000000000000" pitchFamily="2" charset="0"/>
                            </a:rPr>
                            <a:t>Modus ponens </a:t>
                          </a:r>
                          <a:r>
                            <a:rPr lang="es-CO" sz="1600" b="1" dirty="0">
                              <a:latin typeface="+mn-lt"/>
                              <a:ea typeface="Roboto" panose="02000000000000000000" pitchFamily="2" charset="0"/>
                            </a:rPr>
                            <a:t>1 </a:t>
                          </a:r>
                          <a:r>
                            <a:rPr lang="es-CO" sz="1600" b="0" dirty="0">
                              <a:latin typeface="+mn-lt"/>
                              <a:ea typeface="Roboto" panose="02000000000000000000" pitchFamily="2" charset="0"/>
                            </a:rPr>
                            <a:t>y</a:t>
                          </a:r>
                          <a:r>
                            <a:rPr lang="es-CO" sz="1600" b="1" dirty="0">
                              <a:latin typeface="+mn-lt"/>
                              <a:ea typeface="Roboto" panose="02000000000000000000" pitchFamily="2" charset="0"/>
                            </a:rPr>
                            <a:t> 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414754" r="-1092308" b="-61475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1382" t="-414754" r="-133553" b="-614754"/>
                          </a:stretch>
                        </a:blipFill>
                      </a:tcPr>
                    </a:tc>
                    <a:tc>
                      <a:txBody>
                        <a:bodyPr/>
                        <a:lstStyle/>
                        <a:p>
                          <a:r>
                            <a:rPr lang="es-CO" sz="1600" dirty="0">
                              <a:latin typeface="+mn-lt"/>
                              <a:ea typeface="Roboto" panose="02000000000000000000" pitchFamily="2" charset="0"/>
                            </a:rPr>
                            <a:t>Premisa </a:t>
                          </a:r>
                          <a:r>
                            <a:rPr lang="es-CO" sz="1600" b="1" dirty="0">
                              <a:latin typeface="+mn-lt"/>
                              <a:ea typeface="Roboto" panose="02000000000000000000" pitchFamily="2" charset="0"/>
                            </a:rPr>
                            <a:t>d</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514754" r="-1092308" b="-51475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1382" t="-514754" r="-133553" b="-514754"/>
                          </a:stretch>
                        </a:blipFill>
                      </a:tcPr>
                    </a:tc>
                    <a:tc>
                      <a:txBody>
                        <a:bodyPr/>
                        <a:lstStyle/>
                        <a:p>
                          <a:r>
                            <a:rPr lang="es-CO" sz="1600" dirty="0">
                              <a:latin typeface="+mn-lt"/>
                              <a:ea typeface="Roboto" panose="02000000000000000000" pitchFamily="2" charset="0"/>
                            </a:rPr>
                            <a:t>Contrarrecíproco </a:t>
                          </a:r>
                          <a:r>
                            <a:rPr lang="es-CO" sz="1600" b="1" dirty="0">
                              <a:latin typeface="+mn-lt"/>
                              <a:ea typeface="Roboto" panose="02000000000000000000" pitchFamily="2" charset="0"/>
                            </a:rPr>
                            <a:t>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006229"/>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614754" r="-1092308" b="-41475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1382" t="-614754" r="-133553" b="-414754"/>
                          </a:stretch>
                        </a:blipFill>
                      </a:tcPr>
                    </a:tc>
                    <a:tc>
                      <a:txBody>
                        <a:bodyPr/>
                        <a:lstStyle/>
                        <a:p>
                          <a:r>
                            <a:rPr lang="es-CO" sz="1600" b="0" i="0" u="none" strike="noStrike" cap="none" dirty="0">
                              <a:solidFill>
                                <a:srgbClr val="000000"/>
                              </a:solidFill>
                              <a:latin typeface="+mn-lt"/>
                              <a:ea typeface="Roboto" panose="02000000000000000000" pitchFamily="2" charset="0"/>
                              <a:cs typeface="Arial"/>
                              <a:sym typeface="Arial"/>
                            </a:rPr>
                            <a:t>Doble negación en </a:t>
                          </a:r>
                          <a:r>
                            <a:rPr lang="es-CO" sz="1600" b="1" i="0" u="none" strike="noStrike" cap="none" dirty="0">
                              <a:solidFill>
                                <a:srgbClr val="000000"/>
                              </a:solidFill>
                              <a:latin typeface="+mn-lt"/>
                              <a:ea typeface="Roboto" panose="02000000000000000000" pitchFamily="2" charset="0"/>
                              <a:cs typeface="Arial"/>
                              <a:sym typeface="Arial"/>
                            </a:rPr>
                            <a:t>5</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0261066"/>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714754" r="-1092308" b="-31475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1382" t="-714754" r="-133553" b="-314754"/>
                          </a:stretch>
                        </a:blipFill>
                      </a:tcPr>
                    </a:tc>
                    <a:tc>
                      <a:txBody>
                        <a:bodyPr/>
                        <a:lstStyle/>
                        <a:p>
                          <a:r>
                            <a:rPr lang="es-CO" sz="1600" dirty="0">
                              <a:latin typeface="+mn-lt"/>
                              <a:ea typeface="Roboto" panose="02000000000000000000" pitchFamily="2" charset="0"/>
                            </a:rPr>
                            <a:t>Modus ponens </a:t>
                          </a:r>
                          <a:r>
                            <a:rPr lang="es-CO" sz="1600" b="1" dirty="0">
                              <a:latin typeface="+mn-lt"/>
                              <a:ea typeface="Roboto" panose="02000000000000000000" pitchFamily="2" charset="0"/>
                            </a:rPr>
                            <a:t>6 </a:t>
                          </a:r>
                          <a:r>
                            <a:rPr lang="es-CO" sz="1600" b="0" dirty="0">
                              <a:latin typeface="+mn-lt"/>
                              <a:ea typeface="Roboto" panose="02000000000000000000" pitchFamily="2" charset="0"/>
                            </a:rPr>
                            <a:t>y</a:t>
                          </a:r>
                          <a:r>
                            <a:rPr lang="es-CO" sz="1600" b="1" dirty="0">
                              <a:latin typeface="+mn-lt"/>
                              <a:ea typeface="Roboto" panose="02000000000000000000" pitchFamily="2" charset="0"/>
                            </a:rPr>
                            <a:t> 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382845"/>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814754" r="-1092308" b="-21475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1382" t="-814754" r="-133553" b="-21475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Premisa </a:t>
                          </a:r>
                          <a:r>
                            <a:rPr lang="es-CO" sz="1600" b="1" dirty="0">
                              <a:latin typeface="+mn-lt"/>
                              <a:ea typeface="Roboto" panose="02000000000000000000" pitchFamily="2" charset="0"/>
                            </a:rPr>
                            <a:t>c</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9326235"/>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914754" r="-1092308" b="-11475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1382" t="-914754" r="-133553" b="-11475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Eliminación </a:t>
                          </a:r>
                          <a:r>
                            <a:rPr lang="es-CO" sz="1600" b="1" dirty="0">
                              <a:latin typeface="+mn-lt"/>
                              <a:ea typeface="Roboto" panose="02000000000000000000" pitchFamily="2" charset="0"/>
                            </a:rPr>
                            <a:t>7</a:t>
                          </a:r>
                          <a:r>
                            <a:rPr lang="es-CO" sz="1600" dirty="0">
                              <a:latin typeface="+mn-lt"/>
                              <a:ea typeface="Roboto" panose="02000000000000000000" pitchFamily="2" charset="0"/>
                            </a:rPr>
                            <a:t> y </a:t>
                          </a:r>
                          <a:r>
                            <a:rPr lang="es-CO" sz="1600" b="1" dirty="0">
                              <a:latin typeface="+mn-lt"/>
                              <a:ea typeface="Roboto" panose="02000000000000000000" pitchFamily="2" charset="0"/>
                            </a:rPr>
                            <a:t>8</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911942"/>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1014754" r="-1092308" b="-1475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1382" t="-1014754" r="-133553" b="-1475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Adición </a:t>
                          </a:r>
                          <a:r>
                            <a:rPr lang="es-CO" sz="1600" b="1" dirty="0">
                              <a:latin typeface="+mn-lt"/>
                              <a:ea typeface="Roboto" panose="02000000000000000000" pitchFamily="2" charset="0"/>
                            </a:rPr>
                            <a:t>9</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9766170"/>
                      </a:ext>
                    </a:extLst>
                  </a:tr>
                </a:tbl>
              </a:graphicData>
            </a:graphic>
          </p:graphicFrame>
        </mc:Fallback>
      </mc:AlternateContent>
      <p:sp>
        <p:nvSpPr>
          <p:cNvPr id="13" name="Google Shape;310;p34">
            <a:extLst>
              <a:ext uri="{FF2B5EF4-FFF2-40B4-BE49-F238E27FC236}">
                <a16:creationId xmlns:a16="http://schemas.microsoft.com/office/drawing/2014/main" id="{479E939A-8648-4A74-A508-50AE2D977FBE}"/>
              </a:ext>
            </a:extLst>
          </p:cNvPr>
          <p:cNvSpPr txBox="1">
            <a:spLocks/>
          </p:cNvSpPr>
          <p:nvPr/>
        </p:nvSpPr>
        <p:spPr>
          <a:xfrm>
            <a:off x="457200" y="2287263"/>
            <a:ext cx="4712557" cy="4570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800" b="1" dirty="0">
                <a:latin typeface="+mn-lt"/>
                <a:ea typeface="Roboto" panose="02000000000000000000" pitchFamily="2" charset="0"/>
              </a:rPr>
              <a:t>Tautología</a:t>
            </a:r>
          </a:p>
        </p:txBody>
      </p:sp>
      <p:sp>
        <p:nvSpPr>
          <p:cNvPr id="15" name="Google Shape;310;p34">
            <a:extLst>
              <a:ext uri="{FF2B5EF4-FFF2-40B4-BE49-F238E27FC236}">
                <a16:creationId xmlns:a16="http://schemas.microsoft.com/office/drawing/2014/main" id="{F48F2B91-6ADB-4F4A-BA04-B82313D18681}"/>
              </a:ext>
            </a:extLst>
          </p:cNvPr>
          <p:cNvSpPr txBox="1">
            <a:spLocks/>
          </p:cNvSpPr>
          <p:nvPr/>
        </p:nvSpPr>
        <p:spPr>
          <a:xfrm>
            <a:off x="488525" y="3695151"/>
            <a:ext cx="4712557" cy="4570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800" b="1" dirty="0">
                <a:latin typeface="+mn-lt"/>
                <a:ea typeface="Roboto" panose="02000000000000000000" pitchFamily="2" charset="0"/>
              </a:rPr>
              <a:t>Regla de inferencia</a:t>
            </a:r>
          </a:p>
        </p:txBody>
      </p:sp>
    </p:spTree>
    <p:extLst>
      <p:ext uri="{BB962C8B-B14F-4D97-AF65-F5344CB8AC3E}">
        <p14:creationId xmlns:p14="http://schemas.microsoft.com/office/powerpoint/2010/main" val="1705271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08039" y="64701"/>
            <a:ext cx="11044291" cy="949500"/>
          </a:xfrm>
        </p:spPr>
        <p:txBody>
          <a:bodyPr/>
          <a:lstStyle/>
          <a:p>
            <a:r>
              <a:rPr lang="es-ES" dirty="0">
                <a:latin typeface="+mj-lt"/>
              </a:rPr>
              <a:t>Validación de argumentos – Enfoque axiomático</a:t>
            </a:r>
            <a:endParaRPr lang="es-CO" dirty="0"/>
          </a:p>
        </p:txBody>
      </p: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16067F6-E156-45E0-A9EC-9EDC8067F677}"/>
                  </a:ext>
                </a:extLst>
              </p:cNvPr>
              <p:cNvSpPr txBox="1"/>
              <p:nvPr/>
            </p:nvSpPr>
            <p:spPr>
              <a:xfrm>
                <a:off x="954255" y="1902860"/>
                <a:ext cx="43975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r>
                            <a:rPr lang="es-MX" sz="1800" i="1">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𝑠</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𝑟</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𝑟</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m:t>
                          </m:r>
                        </m:e>
                      </m:d>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𝑠</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𝑡</m:t>
                      </m:r>
                      <m:r>
                        <a:rPr lang="es-MX" sz="1800" b="0" i="1" smtClean="0">
                          <a:latin typeface="Cambria Math" panose="02040503050406030204" pitchFamily="18" charset="0"/>
                          <a:ea typeface="Roboto" panose="02000000000000000000" pitchFamily="2" charset="0"/>
                        </a:rPr>
                        <m:t>)</m:t>
                      </m:r>
                    </m:oMath>
                  </m:oMathPara>
                </a14:m>
                <a:endParaRPr lang="es-MX" sz="1800" dirty="0">
                  <a:latin typeface="Roboto" panose="02000000000000000000" pitchFamily="2" charset="0"/>
                  <a:ea typeface="Cambria Math" panose="02040503050406030204" pitchFamily="18" charset="0"/>
                </a:endParaRPr>
              </a:p>
            </p:txBody>
          </p:sp>
        </mc:Choice>
        <mc:Fallback>
          <p:sp>
            <p:nvSpPr>
              <p:cNvPr id="14" name="CuadroTexto 13">
                <a:extLst>
                  <a:ext uri="{FF2B5EF4-FFF2-40B4-BE49-F238E27FC236}">
                    <a16:creationId xmlns:a16="http://schemas.microsoft.com/office/drawing/2014/main" id="{616067F6-E156-45E0-A9EC-9EDC8067F677}"/>
                  </a:ext>
                </a:extLst>
              </p:cNvPr>
              <p:cNvSpPr txBox="1">
                <a:spLocks noRot="1" noChangeAspect="1" noMove="1" noResize="1" noEditPoints="1" noAdjustHandles="1" noChangeArrowheads="1" noChangeShapeType="1" noTextEdit="1"/>
              </p:cNvSpPr>
              <p:nvPr/>
            </p:nvSpPr>
            <p:spPr>
              <a:xfrm>
                <a:off x="954255" y="1902860"/>
                <a:ext cx="4397551" cy="276999"/>
              </a:xfrm>
              <a:prstGeom prst="rect">
                <a:avLst/>
              </a:prstGeom>
              <a:blipFill>
                <a:blip r:embed="rId3"/>
                <a:stretch>
                  <a:fillRect r="-1526" b="-34783"/>
                </a:stretch>
              </a:blipFill>
            </p:spPr>
            <p:txBody>
              <a:bodyPr/>
              <a:lstStyle/>
              <a:p>
                <a:r>
                  <a:rPr lang="es-CO">
                    <a:noFill/>
                  </a:rPr>
                  <a:t> </a:t>
                </a:r>
              </a:p>
            </p:txBody>
          </p:sp>
        </mc:Fallback>
      </mc:AlternateContent>
      <p:grpSp>
        <p:nvGrpSpPr>
          <p:cNvPr id="6" name="Grupo 5">
            <a:extLst>
              <a:ext uri="{FF2B5EF4-FFF2-40B4-BE49-F238E27FC236}">
                <a16:creationId xmlns:a16="http://schemas.microsoft.com/office/drawing/2014/main" id="{0232C276-E45D-47D4-A591-DE07104D9C81}"/>
              </a:ext>
            </a:extLst>
          </p:cNvPr>
          <p:cNvGrpSpPr/>
          <p:nvPr/>
        </p:nvGrpSpPr>
        <p:grpSpPr>
          <a:xfrm>
            <a:off x="1040648" y="3161813"/>
            <a:ext cx="3269672" cy="1508105"/>
            <a:chOff x="4134911" y="4512927"/>
            <a:chExt cx="3269672" cy="1508105"/>
          </a:xfrm>
        </p:grpSpPr>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0D9A002A-9A74-4C81-B62F-339313FF26FE}"/>
                    </a:ext>
                  </a:extLst>
                </p:cNvPr>
                <p:cNvSpPr txBox="1"/>
                <p:nvPr/>
              </p:nvSpPr>
              <p:spPr>
                <a:xfrm>
                  <a:off x="4134911" y="4512927"/>
                  <a:ext cx="3184297" cy="150810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               </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𝑎</m:t>
                            </m:r>
                          </m:e>
                        </m:d>
                      </m:oMath>
                    </m:oMathPara>
                  </a14:m>
                  <a:endParaRPr lang="es-MX" sz="18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      </m:t>
                        </m:r>
                        <m:d>
                          <m:dPr>
                            <m:ctrlPr>
                              <a:rPr lang="es-MX" sz="1800" i="1">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𝑏</m:t>
                            </m:r>
                          </m:e>
                        </m:d>
                      </m:oMath>
                    </m:oMathPara>
                  </a14:m>
                  <a:endParaRPr lang="es-MX" sz="18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i="1">
                            <a:latin typeface="Cambria Math" panose="02040503050406030204" pitchFamily="18" charset="0"/>
                            <a:ea typeface="Cambria Math" panose="02040503050406030204" pitchFamily="18" charset="0"/>
                          </a:rPr>
                          <m:t>𝑠</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𝑟</m:t>
                        </m:r>
                        <m:r>
                          <a:rPr lang="es-MX" sz="1800" b="0" i="1" smtClean="0">
                            <a:latin typeface="Cambria Math" panose="02040503050406030204" pitchFamily="18" charset="0"/>
                            <a:ea typeface="Cambria Math" panose="02040503050406030204" pitchFamily="18" charset="0"/>
                          </a:rPr>
                          <m:t>        </m:t>
                        </m:r>
                        <m:d>
                          <m:dPr>
                            <m:ctrlPr>
                              <a:rPr lang="es-MX" sz="1800" i="1">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𝑐</m:t>
                            </m:r>
                          </m:e>
                        </m:d>
                        <m:r>
                          <a:rPr lang="es-MX" sz="1800" b="0" i="1" smtClean="0">
                            <a:latin typeface="Cambria Math" panose="02040503050406030204" pitchFamily="18" charset="0"/>
                            <a:ea typeface="Roboto" panose="02000000000000000000" pitchFamily="2" charset="0"/>
                          </a:rPr>
                          <m:t> </m:t>
                        </m:r>
                      </m:oMath>
                    </m:oMathPara>
                  </a14:m>
                  <a:endParaRPr lang="es-MX" sz="1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i="1">
                            <a:latin typeface="Cambria Math" panose="02040503050406030204" pitchFamily="18" charset="0"/>
                            <a:ea typeface="Cambria Math" panose="02040503050406030204" pitchFamily="18" charset="0"/>
                          </a:rPr>
                          <m:t>𝑟</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   </m:t>
                        </m:r>
                        <m:d>
                          <m:dPr>
                            <m:ctrlPr>
                              <a:rPr lang="es-MX" sz="1800" i="1">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𝑑</m:t>
                            </m:r>
                          </m:e>
                        </m:d>
                      </m:oMath>
                    </m:oMathPara>
                  </a14:m>
                  <a:endParaRPr lang="es-MX" sz="1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Roboto" panose="02000000000000000000" pitchFamily="2" charset="0"/>
                          </a:rPr>
                          <m:t>𝑠</m:t>
                        </m:r>
                        <m:r>
                          <a:rPr lang="es-MX" sz="1800" i="1">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𝑡</m:t>
                        </m:r>
                      </m:oMath>
                    </m:oMathPara>
                  </a14:m>
                  <a:endParaRPr lang="es-MX" sz="1800" b="0" dirty="0">
                    <a:latin typeface="Roboto" panose="02000000000000000000" pitchFamily="2" charset="0"/>
                    <a:ea typeface="Cambria Math" panose="02040503050406030204" pitchFamily="18" charset="0"/>
                  </a:endParaRPr>
                </a:p>
              </p:txBody>
            </p:sp>
          </mc:Choice>
          <mc:Fallback>
            <p:sp>
              <p:nvSpPr>
                <p:cNvPr id="8" name="CuadroTexto 7">
                  <a:extLst>
                    <a:ext uri="{FF2B5EF4-FFF2-40B4-BE49-F238E27FC236}">
                      <a16:creationId xmlns:a16="http://schemas.microsoft.com/office/drawing/2014/main" id="{0D9A002A-9A74-4C81-B62F-339313FF26FE}"/>
                    </a:ext>
                  </a:extLst>
                </p:cNvPr>
                <p:cNvSpPr txBox="1">
                  <a:spLocks noRot="1" noChangeAspect="1" noMove="1" noResize="1" noEditPoints="1" noAdjustHandles="1" noChangeArrowheads="1" noChangeShapeType="1" noTextEdit="1"/>
                </p:cNvSpPr>
                <p:nvPr/>
              </p:nvSpPr>
              <p:spPr>
                <a:xfrm>
                  <a:off x="4134911" y="4512927"/>
                  <a:ext cx="3184297" cy="1508105"/>
                </a:xfrm>
                <a:prstGeom prst="rect">
                  <a:avLst/>
                </a:prstGeom>
                <a:blipFill>
                  <a:blip r:embed="rId4"/>
                  <a:stretch>
                    <a:fillRect/>
                  </a:stretch>
                </a:blipFill>
              </p:spPr>
              <p:txBody>
                <a:bodyPr/>
                <a:lstStyle/>
                <a:p>
                  <a:r>
                    <a:rPr lang="es-CO">
                      <a:noFill/>
                    </a:rPr>
                    <a:t> </a:t>
                  </a:r>
                </a:p>
              </p:txBody>
            </p:sp>
          </mc:Fallback>
        </mc:AlternateContent>
        <p:cxnSp>
          <p:nvCxnSpPr>
            <p:cNvPr id="9" name="Conector recto 8">
              <a:extLst>
                <a:ext uri="{FF2B5EF4-FFF2-40B4-BE49-F238E27FC236}">
                  <a16:creationId xmlns:a16="http://schemas.microsoft.com/office/drawing/2014/main" id="{7C4C3CE7-E96A-4D92-A7C7-9878A1B6F133}"/>
                </a:ext>
              </a:extLst>
            </p:cNvPr>
            <p:cNvCxnSpPr/>
            <p:nvPr/>
          </p:nvCxnSpPr>
          <p:spPr>
            <a:xfrm>
              <a:off x="4204183" y="5686539"/>
              <a:ext cx="3200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graphicFrame>
            <p:nvGraphicFramePr>
              <p:cNvPr id="10" name="Tabla 2">
                <a:extLst>
                  <a:ext uri="{FF2B5EF4-FFF2-40B4-BE49-F238E27FC236}">
                    <a16:creationId xmlns:a16="http://schemas.microsoft.com/office/drawing/2014/main" id="{946F101F-5C2C-400A-BED8-6B4476E53DC2}"/>
                  </a:ext>
                </a:extLst>
              </p:cNvPr>
              <p:cNvGraphicFramePr>
                <a:graphicFrameLocks noGrp="1"/>
              </p:cNvGraphicFramePr>
              <p:nvPr>
                <p:extLst>
                  <p:ext uri="{D42A27DB-BD31-4B8C-83A1-F6EECF244321}">
                    <p14:modId xmlns:p14="http://schemas.microsoft.com/office/powerpoint/2010/main" val="2951709010"/>
                  </p:ext>
                </p:extLst>
              </p:nvPr>
            </p:nvGraphicFramePr>
            <p:xfrm>
              <a:off x="6342953" y="1902860"/>
              <a:ext cx="4712558" cy="4104640"/>
            </p:xfrm>
            <a:graphic>
              <a:graphicData uri="http://schemas.openxmlformats.org/drawingml/2006/table">
                <a:tbl>
                  <a:tblPr firstRow="1" bandRow="1">
                    <a:tableStyleId>{AD6A3598-7CB8-4345-8D95-17CE05F158A0}</a:tableStyleId>
                  </a:tblPr>
                  <a:tblGrid>
                    <a:gridCol w="398330">
                      <a:extLst>
                        <a:ext uri="{9D8B030D-6E8A-4147-A177-3AD203B41FA5}">
                          <a16:colId xmlns:a16="http://schemas.microsoft.com/office/drawing/2014/main" val="1610952478"/>
                        </a:ext>
                      </a:extLst>
                    </a:gridCol>
                    <a:gridCol w="116840">
                      <a:extLst>
                        <a:ext uri="{9D8B030D-6E8A-4147-A177-3AD203B41FA5}">
                          <a16:colId xmlns:a16="http://schemas.microsoft.com/office/drawing/2014/main" val="2942974496"/>
                        </a:ext>
                      </a:extLst>
                    </a:gridCol>
                    <a:gridCol w="1734406">
                      <a:extLst>
                        <a:ext uri="{9D8B030D-6E8A-4147-A177-3AD203B41FA5}">
                          <a16:colId xmlns:a16="http://schemas.microsoft.com/office/drawing/2014/main" val="605476799"/>
                        </a:ext>
                      </a:extLst>
                    </a:gridCol>
                    <a:gridCol w="2462982">
                      <a:extLst>
                        <a:ext uri="{9D8B030D-6E8A-4147-A177-3AD203B41FA5}">
                          <a16:colId xmlns:a16="http://schemas.microsoft.com/office/drawing/2014/main" val="4281859008"/>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Roboto" panose="02000000000000000000" pitchFamily="2" charset="0"/>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Roboto" panose="02000000000000000000" pitchFamily="2" charset="0"/>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Roboto" panose="02000000000000000000" pitchFamily="2" charset="0"/>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𝟏</m:t>
                                </m:r>
                              </m:oMath>
                            </m:oMathPara>
                          </a14:m>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gridSpan="2">
                      <a:txBody>
                        <a:bodyPr/>
                        <a:lstStyle/>
                        <a:p>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𝑝</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Premisa </a:t>
                          </a:r>
                          <a:r>
                            <a:rPr lang="es-CO" sz="1600" b="1" dirty="0">
                              <a:latin typeface="Roboto" panose="02000000000000000000" pitchFamily="2" charset="0"/>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𝟐</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gridSpan="2">
                      <a:txBody>
                        <a:bodyPr/>
                        <a:lstStyle/>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𝑝</m:t>
                                </m:r>
                                <m:r>
                                  <a:rPr lang="es-MX" sz="1600" i="1" smtClean="0">
                                    <a:latin typeface="Cambria Math" panose="02040503050406030204" pitchFamily="18" charset="0"/>
                                    <a:ea typeface="Cambria Math" panose="02040503050406030204" pitchFamily="18" charset="0"/>
                                  </a:rPr>
                                  <m:t>→</m:t>
                                </m:r>
                                <m:r>
                                  <a:rPr lang="es-MX" sz="1600" i="1" smtClean="0">
                                    <a:latin typeface="Cambria Math" panose="02040503050406030204" pitchFamily="18" charset="0"/>
                                    <a:ea typeface="Cambria Math" panose="02040503050406030204" pitchFamily="18" charset="0"/>
                                  </a:rPr>
                                  <m:t>𝑞</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Premisa </a:t>
                          </a:r>
                          <a:r>
                            <a:rPr lang="es-CO" sz="1600" b="1" dirty="0">
                              <a:latin typeface="Roboto" panose="02000000000000000000" pitchFamily="2" charset="0"/>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𝟑</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𝑞</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Modus ponens </a:t>
                          </a:r>
                          <a:r>
                            <a:rPr lang="es-CO" sz="1600" b="1" dirty="0">
                              <a:latin typeface="Roboto" panose="02000000000000000000" pitchFamily="2" charset="0"/>
                              <a:ea typeface="Roboto" panose="02000000000000000000" pitchFamily="2" charset="0"/>
                            </a:rPr>
                            <a:t>1 </a:t>
                          </a:r>
                          <a:r>
                            <a:rPr lang="es-CO" sz="1600" b="0" dirty="0">
                              <a:latin typeface="Roboto" panose="02000000000000000000" pitchFamily="2" charset="0"/>
                              <a:ea typeface="Roboto" panose="02000000000000000000" pitchFamily="2" charset="0"/>
                            </a:rPr>
                            <a:t>y</a:t>
                          </a:r>
                          <a:r>
                            <a:rPr lang="es-CO" sz="1600" b="1" dirty="0">
                              <a:latin typeface="Roboto" panose="02000000000000000000" pitchFamily="2" charset="0"/>
                              <a:ea typeface="Roboto" panose="02000000000000000000" pitchFamily="2" charset="0"/>
                            </a:rPr>
                            <a:t> 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𝟒</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𝑟</m:t>
                                </m:r>
                                <m:r>
                                  <a:rPr lang="es-MX" sz="1600" i="1" smtClean="0">
                                    <a:latin typeface="Cambria Math" panose="02040503050406030204" pitchFamily="18" charset="0"/>
                                    <a:ea typeface="Cambria Math" panose="02040503050406030204" pitchFamily="18" charset="0"/>
                                  </a:rPr>
                                  <m:t>→¬</m:t>
                                </m:r>
                                <m:r>
                                  <a:rPr lang="es-MX" sz="1600" i="1" smtClean="0">
                                    <a:latin typeface="Cambria Math" panose="02040503050406030204" pitchFamily="18" charset="0"/>
                                    <a:ea typeface="Cambria Math" panose="02040503050406030204" pitchFamily="18" charset="0"/>
                                  </a:rPr>
                                  <m:t>𝑞</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Premisa </a:t>
                          </a:r>
                          <a:r>
                            <a:rPr lang="es-CO" sz="1600" b="1" dirty="0">
                              <a:latin typeface="Roboto" panose="02000000000000000000" pitchFamily="2" charset="0"/>
                              <a:ea typeface="Roboto" panose="02000000000000000000" pitchFamily="2" charset="0"/>
                            </a:rPr>
                            <a:t>d</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𝟓</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rPr>
                                  <m:t>¬</m:t>
                                </m:r>
                                <m:d>
                                  <m:dPr>
                                    <m:ctrlPr>
                                      <a:rPr lang="es-MX" sz="1600" b="0" i="1" smtClean="0">
                                        <a:latin typeface="Cambria Math" panose="02040503050406030204" pitchFamily="18" charset="0"/>
                                      </a:rPr>
                                    </m:ctrlPr>
                                  </m:dPr>
                                  <m:e>
                                    <m:r>
                                      <a:rPr lang="es-MX" sz="1600" b="0" i="1" smtClean="0">
                                        <a:latin typeface="Cambria Math" panose="02040503050406030204" pitchFamily="18" charset="0"/>
                                      </a:rPr>
                                      <m:t>¬</m:t>
                                    </m:r>
                                    <m:r>
                                      <a:rPr lang="es-MX" sz="1600" b="0" i="1" smtClean="0">
                                        <a:latin typeface="Cambria Math" panose="02040503050406030204" pitchFamily="18" charset="0"/>
                                      </a:rPr>
                                      <m:t>𝑞</m:t>
                                    </m:r>
                                  </m:e>
                                </m:d>
                                <m:r>
                                  <a:rPr lang="es-MX" sz="1600" b="0" i="1" smtClean="0">
                                    <a:latin typeface="Cambria Math" panose="02040503050406030204" pitchFamily="18" charset="0"/>
                                  </a:rPr>
                                  <m:t>→¬</m:t>
                                </m:r>
                                <m:r>
                                  <a:rPr lang="es-MX" sz="1600" b="0" i="1" smtClean="0">
                                    <a:latin typeface="Cambria Math" panose="02040503050406030204" pitchFamily="18" charset="0"/>
                                  </a:rPr>
                                  <m:t>𝑟</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Contrarrecíproco </a:t>
                          </a:r>
                          <a:r>
                            <a:rPr lang="es-CO" sz="1600" b="1" dirty="0">
                              <a:latin typeface="Roboto" panose="02000000000000000000" pitchFamily="2" charset="0"/>
                              <a:ea typeface="Roboto" panose="02000000000000000000" pitchFamily="2" charset="0"/>
                            </a:rPr>
                            <a:t>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006229"/>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𝟔</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rPr>
                                  <m:t>𝑞</m:t>
                                </m:r>
                                <m:r>
                                  <a:rPr lang="es-MX" sz="1600" b="0" i="1" smtClean="0">
                                    <a:latin typeface="Cambria Math" panose="02040503050406030204" pitchFamily="18" charset="0"/>
                                  </a:rPr>
                                  <m:t>→¬</m:t>
                                </m:r>
                                <m:r>
                                  <a:rPr lang="es-MX" sz="1600" b="0" i="1" smtClean="0">
                                    <a:latin typeface="Cambria Math" panose="02040503050406030204" pitchFamily="18" charset="0"/>
                                  </a:rPr>
                                  <m:t>𝑟</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a:p>
                      </a:txBody>
                      <a:tcPr/>
                    </a:tc>
                    <a:tc>
                      <a:txBody>
                        <a:bodyPr/>
                        <a:lstStyle/>
                        <a:p>
                          <a:r>
                            <a:rPr lang="es-CO" sz="1600" b="0" i="0" u="none" strike="noStrike" cap="none" dirty="0">
                              <a:solidFill>
                                <a:srgbClr val="000000"/>
                              </a:solidFill>
                              <a:latin typeface="Roboto" panose="02000000000000000000" pitchFamily="2" charset="0"/>
                              <a:ea typeface="Roboto" panose="02000000000000000000" pitchFamily="2" charset="0"/>
                              <a:cs typeface="Arial"/>
                              <a:sym typeface="Arial"/>
                            </a:rPr>
                            <a:t>Doble negación en </a:t>
                          </a:r>
                          <a:r>
                            <a:rPr lang="es-CO" sz="1600" b="1" i="0" u="none" strike="noStrike" cap="none" dirty="0">
                              <a:solidFill>
                                <a:srgbClr val="000000"/>
                              </a:solidFill>
                              <a:latin typeface="Roboto" panose="02000000000000000000" pitchFamily="2" charset="0"/>
                              <a:ea typeface="Roboto" panose="02000000000000000000" pitchFamily="2" charset="0"/>
                              <a:cs typeface="Arial"/>
                              <a:sym typeface="Arial"/>
                            </a:rPr>
                            <a:t>5</a:t>
                          </a:r>
                          <a:endParaRPr lang="es-CO" sz="1600" b="1" dirty="0">
                            <a:latin typeface="Roboto" panose="02000000000000000000" pitchFamily="2" charset="0"/>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0261066"/>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𝟕</m:t>
                                </m:r>
                              </m:oMath>
                            </m:oMathPara>
                          </a14:m>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Modus ponens </a:t>
                          </a:r>
                          <a:r>
                            <a:rPr lang="es-CO" sz="1600" b="1" dirty="0">
                              <a:latin typeface="Roboto" panose="02000000000000000000" pitchFamily="2" charset="0"/>
                              <a:ea typeface="Roboto" panose="02000000000000000000" pitchFamily="2" charset="0"/>
                            </a:rPr>
                            <a:t>6 </a:t>
                          </a:r>
                          <a:r>
                            <a:rPr lang="es-CO" sz="1600" b="0" dirty="0">
                              <a:latin typeface="Roboto" panose="02000000000000000000" pitchFamily="2" charset="0"/>
                              <a:ea typeface="Roboto" panose="02000000000000000000" pitchFamily="2" charset="0"/>
                            </a:rPr>
                            <a:t>y</a:t>
                          </a:r>
                          <a:r>
                            <a:rPr lang="es-CO" sz="1600" b="1" dirty="0">
                              <a:latin typeface="Roboto" panose="02000000000000000000" pitchFamily="2" charset="0"/>
                              <a:ea typeface="Roboto" panose="02000000000000000000" pitchFamily="2" charset="0"/>
                            </a:rPr>
                            <a:t> 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382845"/>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𝟖</m:t>
                                </m:r>
                              </m:oMath>
                            </m:oMathPara>
                          </a14:m>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𝑠</m:t>
                                </m:r>
                                <m:r>
                                  <a:rPr lang="es-MX" sz="1600" i="1" smtClean="0">
                                    <a:latin typeface="Cambria Math" panose="02040503050406030204" pitchFamily="18" charset="0"/>
                                    <a:ea typeface="Cambria Math" panose="02040503050406030204" pitchFamily="18" charset="0"/>
                                  </a:rPr>
                                  <m:t>∨</m:t>
                                </m:r>
                                <m:r>
                                  <a:rPr lang="es-MX" sz="1600" i="1" smtClean="0">
                                    <a:latin typeface="Cambria Math" panose="02040503050406030204" pitchFamily="18" charset="0"/>
                                    <a:ea typeface="Cambria Math" panose="02040503050406030204" pitchFamily="18" charset="0"/>
                                  </a:rPr>
                                  <m:t>𝑟</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Roboto" panose="02000000000000000000" pitchFamily="2" charset="0"/>
                              <a:ea typeface="Roboto" panose="02000000000000000000" pitchFamily="2" charset="0"/>
                            </a:rPr>
                            <a:t>Premisa </a:t>
                          </a:r>
                          <a:r>
                            <a:rPr lang="es-CO" sz="1600" b="1" dirty="0">
                              <a:latin typeface="Roboto" panose="02000000000000000000" pitchFamily="2" charset="0"/>
                              <a:ea typeface="Roboto" panose="02000000000000000000" pitchFamily="2" charset="0"/>
                            </a:rPr>
                            <a:t>c</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9326235"/>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𝟗</m:t>
                                </m:r>
                              </m:oMath>
                            </m:oMathPara>
                          </a14:m>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𝑠</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Roboto" panose="02000000000000000000" pitchFamily="2" charset="0"/>
                              <a:ea typeface="Roboto" panose="02000000000000000000" pitchFamily="2" charset="0"/>
                            </a:rPr>
                            <a:t>Eliminación </a:t>
                          </a:r>
                          <a:r>
                            <a:rPr lang="es-CO" sz="1600" b="1" dirty="0">
                              <a:latin typeface="Roboto" panose="02000000000000000000" pitchFamily="2" charset="0"/>
                              <a:ea typeface="Roboto" panose="02000000000000000000" pitchFamily="2" charset="0"/>
                            </a:rPr>
                            <a:t>7</a:t>
                          </a:r>
                          <a:r>
                            <a:rPr lang="es-CO" sz="1600" dirty="0">
                              <a:latin typeface="Roboto" panose="02000000000000000000" pitchFamily="2" charset="0"/>
                              <a:ea typeface="Roboto" panose="02000000000000000000" pitchFamily="2" charset="0"/>
                            </a:rPr>
                            <a:t> y </a:t>
                          </a:r>
                          <a:r>
                            <a:rPr lang="es-CO" sz="1600" b="1" dirty="0">
                              <a:latin typeface="Roboto" panose="02000000000000000000" pitchFamily="2" charset="0"/>
                              <a:ea typeface="Roboto" panose="02000000000000000000" pitchFamily="2" charset="0"/>
                            </a:rPr>
                            <a:t>8</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91194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rPr>
                                  <m:t>𝟏𝟎</m:t>
                                </m:r>
                              </m:oMath>
                            </m:oMathPara>
                          </a14:m>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i="1" smtClean="0">
                                    <a:latin typeface="Cambria Math" panose="02040503050406030204" pitchFamily="18" charset="0"/>
                                    <a:ea typeface="Cambria Math" panose="02040503050406030204" pitchFamily="18" charset="0"/>
                                  </a:rPr>
                                  <m:t>𝑠</m:t>
                                </m:r>
                                <m:r>
                                  <a:rPr lang="es-MX" sz="160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𝑡</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Roboto" panose="02000000000000000000" pitchFamily="2" charset="0"/>
                              <a:ea typeface="Roboto" panose="02000000000000000000" pitchFamily="2" charset="0"/>
                            </a:rPr>
                            <a:t>Adición </a:t>
                          </a:r>
                          <a:r>
                            <a:rPr lang="es-CO" sz="1600" b="1" dirty="0">
                              <a:latin typeface="Roboto" panose="02000000000000000000" pitchFamily="2" charset="0"/>
                              <a:ea typeface="Roboto" panose="02000000000000000000" pitchFamily="2" charset="0"/>
                            </a:rPr>
                            <a:t>9</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9766170"/>
                      </a:ext>
                    </a:extLst>
                  </a:tr>
                </a:tbl>
              </a:graphicData>
            </a:graphic>
          </p:graphicFrame>
        </mc:Choice>
        <mc:Fallback>
          <p:graphicFrame>
            <p:nvGraphicFramePr>
              <p:cNvPr id="10" name="Tabla 2">
                <a:extLst>
                  <a:ext uri="{FF2B5EF4-FFF2-40B4-BE49-F238E27FC236}">
                    <a16:creationId xmlns:a16="http://schemas.microsoft.com/office/drawing/2014/main" id="{946F101F-5C2C-400A-BED8-6B4476E53DC2}"/>
                  </a:ext>
                </a:extLst>
              </p:cNvPr>
              <p:cNvGraphicFramePr>
                <a:graphicFrameLocks noGrp="1"/>
              </p:cNvGraphicFramePr>
              <p:nvPr>
                <p:extLst>
                  <p:ext uri="{D42A27DB-BD31-4B8C-83A1-F6EECF244321}">
                    <p14:modId xmlns:p14="http://schemas.microsoft.com/office/powerpoint/2010/main" val="2951709010"/>
                  </p:ext>
                </p:extLst>
              </p:nvPr>
            </p:nvGraphicFramePr>
            <p:xfrm>
              <a:off x="6342953" y="1902860"/>
              <a:ext cx="4712558" cy="4104640"/>
            </p:xfrm>
            <a:graphic>
              <a:graphicData uri="http://schemas.openxmlformats.org/drawingml/2006/table">
                <a:tbl>
                  <a:tblPr firstRow="1" bandRow="1">
                    <a:tableStyleId>{AD6A3598-7CB8-4345-8D95-17CE05F158A0}</a:tableStyleId>
                  </a:tblPr>
                  <a:tblGrid>
                    <a:gridCol w="398330">
                      <a:extLst>
                        <a:ext uri="{9D8B030D-6E8A-4147-A177-3AD203B41FA5}">
                          <a16:colId xmlns:a16="http://schemas.microsoft.com/office/drawing/2014/main" val="1610952478"/>
                        </a:ext>
                      </a:extLst>
                    </a:gridCol>
                    <a:gridCol w="116840">
                      <a:extLst>
                        <a:ext uri="{9D8B030D-6E8A-4147-A177-3AD203B41FA5}">
                          <a16:colId xmlns:a16="http://schemas.microsoft.com/office/drawing/2014/main" val="2942974496"/>
                        </a:ext>
                      </a:extLst>
                    </a:gridCol>
                    <a:gridCol w="1734406">
                      <a:extLst>
                        <a:ext uri="{9D8B030D-6E8A-4147-A177-3AD203B41FA5}">
                          <a16:colId xmlns:a16="http://schemas.microsoft.com/office/drawing/2014/main" val="605476799"/>
                        </a:ext>
                      </a:extLst>
                    </a:gridCol>
                    <a:gridCol w="2462982">
                      <a:extLst>
                        <a:ext uri="{9D8B030D-6E8A-4147-A177-3AD203B41FA5}">
                          <a16:colId xmlns:a16="http://schemas.microsoft.com/office/drawing/2014/main" val="4281859008"/>
                        </a:ext>
                      </a:extLst>
                    </a:gridCol>
                  </a:tblGrid>
                  <a:tr h="3962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Roboto" panose="02000000000000000000" pitchFamily="2" charset="0"/>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Roboto" panose="02000000000000000000" pitchFamily="2" charset="0"/>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Roboto" panose="02000000000000000000" pitchFamily="2" charset="0"/>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113115" r="-1092308" b="-914754"/>
                          </a:stretch>
                        </a:blipFill>
                      </a:tcPr>
                    </a:tc>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1382" t="-113115" r="-133553" b="-914754"/>
                          </a:stretch>
                        </a:blip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Premisa </a:t>
                          </a:r>
                          <a:r>
                            <a:rPr lang="es-CO" sz="1600" b="1" dirty="0">
                              <a:latin typeface="Roboto" panose="02000000000000000000" pitchFamily="2" charset="0"/>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213115" r="-1092308" b="-814754"/>
                          </a:stretch>
                        </a:blipFill>
                      </a:tcPr>
                    </a:tc>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1382" t="-213115" r="-133553" b="-814754"/>
                          </a:stretch>
                        </a:blip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Premisa </a:t>
                          </a:r>
                          <a:r>
                            <a:rPr lang="es-CO" sz="1600" b="1" dirty="0">
                              <a:latin typeface="Roboto" panose="02000000000000000000" pitchFamily="2" charset="0"/>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313115" r="-1092308" b="-714754"/>
                          </a:stretch>
                        </a:blipFill>
                      </a:tcPr>
                    </a:tc>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1382" t="-313115" r="-133553" b="-714754"/>
                          </a:stretch>
                        </a:blip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Modus ponens </a:t>
                          </a:r>
                          <a:r>
                            <a:rPr lang="es-CO" sz="1600" b="1" dirty="0">
                              <a:latin typeface="Roboto" panose="02000000000000000000" pitchFamily="2" charset="0"/>
                              <a:ea typeface="Roboto" panose="02000000000000000000" pitchFamily="2" charset="0"/>
                            </a:rPr>
                            <a:t>1 </a:t>
                          </a:r>
                          <a:r>
                            <a:rPr lang="es-CO" sz="1600" b="0" dirty="0">
                              <a:latin typeface="Roboto" panose="02000000000000000000" pitchFamily="2" charset="0"/>
                              <a:ea typeface="Roboto" panose="02000000000000000000" pitchFamily="2" charset="0"/>
                            </a:rPr>
                            <a:t>y</a:t>
                          </a:r>
                          <a:r>
                            <a:rPr lang="es-CO" sz="1600" b="1" dirty="0">
                              <a:latin typeface="Roboto" panose="02000000000000000000" pitchFamily="2" charset="0"/>
                              <a:ea typeface="Roboto" panose="02000000000000000000" pitchFamily="2" charset="0"/>
                            </a:rPr>
                            <a:t> 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413115" r="-1092308" b="-614754"/>
                          </a:stretch>
                        </a:blipFill>
                      </a:tcPr>
                    </a:tc>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1382" t="-413115" r="-133553" b="-614754"/>
                          </a:stretch>
                        </a:blip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Premisa </a:t>
                          </a:r>
                          <a:r>
                            <a:rPr lang="es-CO" sz="1600" b="1" dirty="0">
                              <a:latin typeface="Roboto" panose="02000000000000000000" pitchFamily="2" charset="0"/>
                              <a:ea typeface="Roboto" panose="02000000000000000000" pitchFamily="2" charset="0"/>
                            </a:rPr>
                            <a:t>d</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513115" r="-1092308" b="-514754"/>
                          </a:stretch>
                        </a:blipFill>
                      </a:tcPr>
                    </a:tc>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1382" t="-513115" r="-133553" b="-514754"/>
                          </a:stretch>
                        </a:blip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Contrarrecíproco </a:t>
                          </a:r>
                          <a:r>
                            <a:rPr lang="es-CO" sz="1600" b="1" dirty="0">
                              <a:latin typeface="Roboto" panose="02000000000000000000" pitchFamily="2" charset="0"/>
                              <a:ea typeface="Roboto" panose="02000000000000000000" pitchFamily="2" charset="0"/>
                            </a:rPr>
                            <a:t>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006229"/>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623333" r="-1092308" b="-423333"/>
                          </a:stretch>
                        </a:blipFill>
                      </a:tcPr>
                    </a:tc>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1382" t="-623333" r="-133553" b="-423333"/>
                          </a:stretch>
                        </a:blipFill>
                      </a:tcPr>
                    </a:tc>
                    <a:tc hMerge="1">
                      <a:txBody>
                        <a:bodyPr/>
                        <a:lstStyle/>
                        <a:p>
                          <a:endParaRPr lang="es-CO"/>
                        </a:p>
                      </a:txBody>
                      <a:tcPr/>
                    </a:tc>
                    <a:tc>
                      <a:txBody>
                        <a:bodyPr/>
                        <a:lstStyle/>
                        <a:p>
                          <a:r>
                            <a:rPr lang="es-CO" sz="1600" b="0" i="0" u="none" strike="noStrike" cap="none" dirty="0">
                              <a:solidFill>
                                <a:srgbClr val="000000"/>
                              </a:solidFill>
                              <a:latin typeface="Roboto" panose="02000000000000000000" pitchFamily="2" charset="0"/>
                              <a:ea typeface="Roboto" panose="02000000000000000000" pitchFamily="2" charset="0"/>
                              <a:cs typeface="Arial"/>
                              <a:sym typeface="Arial"/>
                            </a:rPr>
                            <a:t>Doble negación en </a:t>
                          </a:r>
                          <a:r>
                            <a:rPr lang="es-CO" sz="1600" b="1" i="0" u="none" strike="noStrike" cap="none" dirty="0">
                              <a:solidFill>
                                <a:srgbClr val="000000"/>
                              </a:solidFill>
                              <a:latin typeface="Roboto" panose="02000000000000000000" pitchFamily="2" charset="0"/>
                              <a:ea typeface="Roboto" panose="02000000000000000000" pitchFamily="2" charset="0"/>
                              <a:cs typeface="Arial"/>
                              <a:sym typeface="Arial"/>
                            </a:rPr>
                            <a:t>5</a:t>
                          </a:r>
                          <a:endParaRPr lang="es-CO" sz="1600" b="1" dirty="0">
                            <a:latin typeface="Roboto" panose="02000000000000000000" pitchFamily="2" charset="0"/>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0261066"/>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711475" r="-1092308" b="-316393"/>
                          </a:stretch>
                        </a:blipFill>
                      </a:tcPr>
                    </a:tc>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1382" t="-711475" r="-133553" b="-316393"/>
                          </a:stretch>
                        </a:blipFill>
                      </a:tcPr>
                    </a:tc>
                    <a:tc hMerge="1">
                      <a:txBody>
                        <a:bodyPr/>
                        <a:lstStyle/>
                        <a:p>
                          <a:endParaRPr lang="es-CO"/>
                        </a:p>
                      </a:txBody>
                      <a:tcPr/>
                    </a:tc>
                    <a:tc>
                      <a:txBody>
                        <a:bodyPr/>
                        <a:lstStyle/>
                        <a:p>
                          <a:r>
                            <a:rPr lang="es-CO" sz="1600" dirty="0">
                              <a:latin typeface="Roboto" panose="02000000000000000000" pitchFamily="2" charset="0"/>
                              <a:ea typeface="Roboto" panose="02000000000000000000" pitchFamily="2" charset="0"/>
                            </a:rPr>
                            <a:t>Modus ponens </a:t>
                          </a:r>
                          <a:r>
                            <a:rPr lang="es-CO" sz="1600" b="1" dirty="0">
                              <a:latin typeface="Roboto" panose="02000000000000000000" pitchFamily="2" charset="0"/>
                              <a:ea typeface="Roboto" panose="02000000000000000000" pitchFamily="2" charset="0"/>
                            </a:rPr>
                            <a:t>6 </a:t>
                          </a:r>
                          <a:r>
                            <a:rPr lang="es-CO" sz="1600" b="0" dirty="0">
                              <a:latin typeface="Roboto" panose="02000000000000000000" pitchFamily="2" charset="0"/>
                              <a:ea typeface="Roboto" panose="02000000000000000000" pitchFamily="2" charset="0"/>
                            </a:rPr>
                            <a:t>y</a:t>
                          </a:r>
                          <a:r>
                            <a:rPr lang="es-CO" sz="1600" b="1" dirty="0">
                              <a:latin typeface="Roboto" panose="02000000000000000000" pitchFamily="2" charset="0"/>
                              <a:ea typeface="Roboto" panose="02000000000000000000" pitchFamily="2" charset="0"/>
                            </a:rPr>
                            <a:t> 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382845"/>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811475" r="-1092308" b="-216393"/>
                          </a:stretch>
                        </a:blipFill>
                      </a:tcPr>
                    </a:tc>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1382" t="-811475" r="-133553" b="-216393"/>
                          </a:stretch>
                        </a:blipFill>
                      </a:tcPr>
                    </a:tc>
                    <a:tc hMerge="1">
                      <a:txBody>
                        <a:bodyPr/>
                        <a:lstStyle/>
                        <a:p>
                          <a:endParaRPr lang="es-CO"/>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Roboto" panose="02000000000000000000" pitchFamily="2" charset="0"/>
                              <a:ea typeface="Roboto" panose="02000000000000000000" pitchFamily="2" charset="0"/>
                            </a:rPr>
                            <a:t>Premisa </a:t>
                          </a:r>
                          <a:r>
                            <a:rPr lang="es-CO" sz="1600" b="1" dirty="0">
                              <a:latin typeface="Roboto" panose="02000000000000000000" pitchFamily="2" charset="0"/>
                              <a:ea typeface="Roboto" panose="02000000000000000000" pitchFamily="2" charset="0"/>
                            </a:rPr>
                            <a:t>c</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9326235"/>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911475" r="-1092308" b="-116393"/>
                          </a:stretch>
                        </a:blipFill>
                      </a:tcPr>
                    </a:tc>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1382" t="-911475" r="-133553" b="-116393"/>
                          </a:stretch>
                        </a:blipFill>
                      </a:tcPr>
                    </a:tc>
                    <a:tc hMerge="1">
                      <a:txBody>
                        <a:bodyPr/>
                        <a:lstStyle/>
                        <a:p>
                          <a:endParaRPr lang="es-CO"/>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Roboto" panose="02000000000000000000" pitchFamily="2" charset="0"/>
                              <a:ea typeface="Roboto" panose="02000000000000000000" pitchFamily="2" charset="0"/>
                            </a:rPr>
                            <a:t>Eliminación </a:t>
                          </a:r>
                          <a:r>
                            <a:rPr lang="es-CO" sz="1600" b="1" dirty="0">
                              <a:latin typeface="Roboto" panose="02000000000000000000" pitchFamily="2" charset="0"/>
                              <a:ea typeface="Roboto" panose="02000000000000000000" pitchFamily="2" charset="0"/>
                            </a:rPr>
                            <a:t>7</a:t>
                          </a:r>
                          <a:r>
                            <a:rPr lang="es-CO" sz="1600" dirty="0">
                              <a:latin typeface="Roboto" panose="02000000000000000000" pitchFamily="2" charset="0"/>
                              <a:ea typeface="Roboto" panose="02000000000000000000" pitchFamily="2" charset="0"/>
                            </a:rPr>
                            <a:t> y </a:t>
                          </a:r>
                          <a:r>
                            <a:rPr lang="es-CO" sz="1600" b="1" dirty="0">
                              <a:latin typeface="Roboto" panose="02000000000000000000" pitchFamily="2" charset="0"/>
                              <a:ea typeface="Roboto" panose="02000000000000000000" pitchFamily="2" charset="0"/>
                            </a:rPr>
                            <a:t>8</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911942"/>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1011475" r="-1092308" b="-16393"/>
                          </a:stretch>
                        </a:blipFill>
                      </a:tcPr>
                    </a:tc>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1382" t="-1011475" r="-133553" b="-16393"/>
                          </a:stretch>
                        </a:blipFill>
                      </a:tcPr>
                    </a:tc>
                    <a:tc hMerge="1">
                      <a:txBody>
                        <a:bodyPr/>
                        <a:lstStyle/>
                        <a:p>
                          <a:endParaRPr lang="es-CO"/>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Roboto" panose="02000000000000000000" pitchFamily="2" charset="0"/>
                              <a:ea typeface="Roboto" panose="02000000000000000000" pitchFamily="2" charset="0"/>
                            </a:rPr>
                            <a:t>Adición </a:t>
                          </a:r>
                          <a:r>
                            <a:rPr lang="es-CO" sz="1600" b="1" dirty="0">
                              <a:latin typeface="Roboto" panose="02000000000000000000" pitchFamily="2" charset="0"/>
                              <a:ea typeface="Roboto" panose="02000000000000000000" pitchFamily="2" charset="0"/>
                            </a:rPr>
                            <a:t>9</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9766170"/>
                      </a:ext>
                    </a:extLst>
                  </a:tr>
                </a:tbl>
              </a:graphicData>
            </a:graphic>
          </p:graphicFrame>
        </mc:Fallback>
      </mc:AlternateContent>
      <p:sp>
        <p:nvSpPr>
          <p:cNvPr id="11" name="Google Shape;310;p34">
            <a:extLst>
              <a:ext uri="{FF2B5EF4-FFF2-40B4-BE49-F238E27FC236}">
                <a16:creationId xmlns:a16="http://schemas.microsoft.com/office/drawing/2014/main" id="{1FEA7145-127F-4BEE-8B1F-E2F3FF1A7A60}"/>
              </a:ext>
            </a:extLst>
          </p:cNvPr>
          <p:cNvSpPr txBox="1">
            <a:spLocks/>
          </p:cNvSpPr>
          <p:nvPr/>
        </p:nvSpPr>
        <p:spPr>
          <a:xfrm>
            <a:off x="539558" y="1108246"/>
            <a:ext cx="4712557" cy="4570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800" b="1" dirty="0">
                <a:latin typeface="Roboto" panose="02000000000000000000" pitchFamily="2" charset="0"/>
                <a:ea typeface="Roboto" panose="02000000000000000000" pitchFamily="2" charset="0"/>
              </a:rPr>
              <a:t>Tautología</a:t>
            </a:r>
          </a:p>
        </p:txBody>
      </p:sp>
      <p:sp>
        <p:nvSpPr>
          <p:cNvPr id="13" name="Google Shape;310;p34">
            <a:extLst>
              <a:ext uri="{FF2B5EF4-FFF2-40B4-BE49-F238E27FC236}">
                <a16:creationId xmlns:a16="http://schemas.microsoft.com/office/drawing/2014/main" id="{B70006E8-ACFA-4FD9-A58A-980294CA8763}"/>
              </a:ext>
            </a:extLst>
          </p:cNvPr>
          <p:cNvSpPr txBox="1">
            <a:spLocks/>
          </p:cNvSpPr>
          <p:nvPr/>
        </p:nvSpPr>
        <p:spPr>
          <a:xfrm>
            <a:off x="639249" y="2510386"/>
            <a:ext cx="4712557" cy="4570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800" b="1" dirty="0">
                <a:latin typeface="Roboto" panose="02000000000000000000" pitchFamily="2" charset="0"/>
                <a:ea typeface="Roboto" panose="02000000000000000000" pitchFamily="2" charset="0"/>
              </a:rPr>
              <a:t>Regla de inferencia</a:t>
            </a:r>
          </a:p>
        </p:txBody>
      </p:sp>
    </p:spTree>
    <p:extLst>
      <p:ext uri="{BB962C8B-B14F-4D97-AF65-F5344CB8AC3E}">
        <p14:creationId xmlns:p14="http://schemas.microsoft.com/office/powerpoint/2010/main" val="1766897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latin typeface="+mj-lt"/>
              </a:rPr>
              <a:t>Validación de argumentos – Enfoque axiomático</a:t>
            </a:r>
            <a:endParaRPr lang="es-CO" dirty="0"/>
          </a:p>
        </p:txBody>
      </p:sp>
      <p:sp>
        <p:nvSpPr>
          <p:cNvPr id="12" name="CuadroTexto 11">
            <a:extLst>
              <a:ext uri="{FF2B5EF4-FFF2-40B4-BE49-F238E27FC236}">
                <a16:creationId xmlns:a16="http://schemas.microsoft.com/office/drawing/2014/main" id="{86124C36-7153-4A0A-AE9D-CDE921828F77}"/>
              </a:ext>
            </a:extLst>
          </p:cNvPr>
          <p:cNvSpPr txBox="1"/>
          <p:nvPr/>
        </p:nvSpPr>
        <p:spPr>
          <a:xfrm>
            <a:off x="370960" y="999702"/>
            <a:ext cx="10947819" cy="40011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Ejemplo 1</a:t>
            </a:r>
            <a:r>
              <a:rPr lang="es-MX" sz="2000" dirty="0">
                <a:latin typeface="Roboto" panose="02000000000000000000" pitchFamily="2" charset="0"/>
                <a:ea typeface="Roboto" panose="02000000000000000000" pitchFamily="2" charset="0"/>
              </a:rPr>
              <a:t>: Demuestre que el siguiente argumento lógico es valido:</a:t>
            </a:r>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BECB0184-D812-4D8B-ADCF-616FE57DFB83}"/>
                  </a:ext>
                </a:extLst>
              </p:cNvPr>
              <p:cNvSpPr txBox="1"/>
              <p:nvPr/>
            </p:nvSpPr>
            <p:spPr>
              <a:xfrm>
                <a:off x="4773152" y="4081133"/>
                <a:ext cx="1725561" cy="21507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eqArr>
                            <m:eqArrPr>
                              <m:ctrlPr>
                                <a:rPr lang="es-MX" sz="1800" b="0" i="1" smtClean="0">
                                  <a:latin typeface="Cambria Math" panose="02040503050406030204" pitchFamily="18" charset="0"/>
                                  <a:ea typeface="Roboto" panose="02000000000000000000" pitchFamily="2" charset="0"/>
                                </a:rPr>
                              </m:ctrlPr>
                            </m:eqArrPr>
                            <m:e>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𝑞</m:t>
                              </m:r>
                              <m:r>
                                <a:rPr lang="es-MX" sz="1800" b="0" i="1" smtClean="0">
                                  <a:latin typeface="Cambria Math" panose="02040503050406030204" pitchFamily="18" charset="0"/>
                                  <a:ea typeface="Roboto" panose="02000000000000000000" pitchFamily="2" charset="0"/>
                                </a:rPr>
                                <m:t>         </m:t>
                              </m:r>
                            </m:e>
                            <m:e>
                              <m:r>
                                <a:rPr lang="es-MX" b="0" i="1" smtClean="0">
                                  <a:latin typeface="Cambria Math" panose="02040503050406030204" pitchFamily="18" charset="0"/>
                                </a:rPr>
                                <m:t>𝑟</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𝑠</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rPr>
                                <m:t>¬</m:t>
                              </m:r>
                              <m:r>
                                <a:rPr lang="es-MX" b="0" i="1" smtClean="0">
                                  <a:latin typeface="Cambria Math" panose="02040503050406030204" pitchFamily="18" charset="0"/>
                                </a:rPr>
                                <m:t>𝑠</m:t>
                              </m:r>
                              <m:r>
                                <a:rPr lang="es-MX" b="0" i="1" smtClean="0">
                                  <a:latin typeface="Cambria Math" panose="02040503050406030204" pitchFamily="18" charset="0"/>
                                </a:rPr>
                                <m:t>→¬</m:t>
                              </m:r>
                              <m:r>
                                <a:rPr lang="es-MX" b="0" i="1" smtClean="0">
                                  <a:latin typeface="Cambria Math" panose="02040503050406030204" pitchFamily="18" charset="0"/>
                                </a:rPr>
                                <m:t>𝑡</m:t>
                              </m:r>
                              <m:r>
                                <a:rPr lang="es-MX" b="0" i="1" smtClean="0">
                                  <a:latin typeface="Cambria Math" panose="02040503050406030204" pitchFamily="18" charset="0"/>
                                </a:rPr>
                                <m:t>   </m:t>
                              </m:r>
                            </m:e>
                            <m:e>
                              <m:r>
                                <a:rPr lang="es-MX" b="0" i="1" smtClean="0">
                                  <a:latin typeface="Cambria Math" panose="02040503050406030204" pitchFamily="18" charset="0"/>
                                </a:rPr>
                                <m:t>¬</m:t>
                              </m:r>
                              <m:r>
                                <a:rPr lang="es-MX" b="0" i="1" smtClean="0">
                                  <a:latin typeface="Cambria Math" panose="02040503050406030204" pitchFamily="18" charset="0"/>
                                </a:rPr>
                                <m:t>𝑞</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𝑠</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𝑠</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𝑝</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𝑟</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𝑢</m:t>
                              </m:r>
                            </m:e>
                            <m:e>
                              <m:r>
                                <a:rPr lang="es-MX" b="0" i="1" smtClean="0">
                                  <a:latin typeface="Cambria Math" panose="02040503050406030204" pitchFamily="18" charset="0"/>
                                  <a:ea typeface="Cambria Math" panose="02040503050406030204" pitchFamily="18" charset="0"/>
                                </a:rPr>
                                <m:t>𝑤</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𝑡</m:t>
                              </m:r>
                              <m:r>
                                <a:rPr lang="es-MX" b="0" i="1" smtClean="0">
                                  <a:latin typeface="Cambria Math" panose="02040503050406030204" pitchFamily="18" charset="0"/>
                                  <a:ea typeface="Cambria Math" panose="02040503050406030204" pitchFamily="18" charset="0"/>
                                </a:rPr>
                                <m:t>           </m:t>
                              </m:r>
                            </m:e>
                          </m:eqArr>
                        </m:num>
                        <m:den>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𝑢</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𝑟</m:t>
                          </m:r>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            </m:t>
                          </m:r>
                        </m:den>
                      </m:f>
                    </m:oMath>
                  </m:oMathPara>
                </a14:m>
                <a:endParaRPr lang="es-CO" dirty="0"/>
              </a:p>
            </p:txBody>
          </p:sp>
        </mc:Choice>
        <mc:Fallback>
          <p:sp>
            <p:nvSpPr>
              <p:cNvPr id="11" name="CuadroTexto 10">
                <a:extLst>
                  <a:ext uri="{FF2B5EF4-FFF2-40B4-BE49-F238E27FC236}">
                    <a16:creationId xmlns:a16="http://schemas.microsoft.com/office/drawing/2014/main" id="{BECB0184-D812-4D8B-ADCF-616FE57DFB83}"/>
                  </a:ext>
                </a:extLst>
              </p:cNvPr>
              <p:cNvSpPr txBox="1">
                <a:spLocks noRot="1" noChangeAspect="1" noMove="1" noResize="1" noEditPoints="1" noAdjustHandles="1" noChangeArrowheads="1" noChangeShapeType="1" noTextEdit="1"/>
              </p:cNvSpPr>
              <p:nvPr/>
            </p:nvSpPr>
            <p:spPr>
              <a:xfrm>
                <a:off x="4773152" y="4081133"/>
                <a:ext cx="1725561" cy="2150717"/>
              </a:xfrm>
              <a:prstGeom prst="rect">
                <a:avLst/>
              </a:prstGeom>
              <a:blipFill>
                <a:blip r:embed="rId3"/>
                <a:stretch>
                  <a:fillRect/>
                </a:stretch>
              </a:blipFill>
            </p:spPr>
            <p:txBody>
              <a:bodyPr/>
              <a:lstStyle/>
              <a:p>
                <a:r>
                  <a:rPr lang="es-CO">
                    <a:noFill/>
                  </a:rPr>
                  <a:t> </a:t>
                </a:r>
              </a:p>
            </p:txBody>
          </p:sp>
        </mc:Fallback>
      </mc:AlternateContent>
      <p:sp>
        <p:nvSpPr>
          <p:cNvPr id="13" name="CuadroTexto 12">
            <a:extLst>
              <a:ext uri="{FF2B5EF4-FFF2-40B4-BE49-F238E27FC236}">
                <a16:creationId xmlns:a16="http://schemas.microsoft.com/office/drawing/2014/main" id="{B8A7437C-D05E-48CB-9E60-61D0A78293AF}"/>
              </a:ext>
            </a:extLst>
          </p:cNvPr>
          <p:cNvSpPr txBox="1"/>
          <p:nvPr/>
        </p:nvSpPr>
        <p:spPr>
          <a:xfrm>
            <a:off x="361128" y="3446323"/>
            <a:ext cx="10947819" cy="40011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Ejemplo 2</a:t>
            </a:r>
            <a:r>
              <a:rPr lang="es-MX" sz="2000" dirty="0">
                <a:latin typeface="Roboto" panose="02000000000000000000" pitchFamily="2" charset="0"/>
                <a:ea typeface="Roboto" panose="02000000000000000000" pitchFamily="2" charset="0"/>
              </a:rPr>
              <a:t>: Demuestre que el siguiente argumento lógico es valido:</a:t>
            </a:r>
          </a:p>
        </p:txBody>
      </p: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C7CCC950-E8DA-4EC0-B0B2-3FF5E2F2780D}"/>
                  </a:ext>
                </a:extLst>
              </p:cNvPr>
              <p:cNvSpPr txBox="1"/>
              <p:nvPr/>
            </p:nvSpPr>
            <p:spPr>
              <a:xfrm>
                <a:off x="4773153" y="1516031"/>
                <a:ext cx="1725561" cy="16955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eqArr>
                            <m:eqArrPr>
                              <m:ctrlPr>
                                <a:rPr lang="es-MX" b="0" i="1" smtClean="0">
                                  <a:latin typeface="Cambria Math" panose="02040503050406030204" pitchFamily="18" charset="0"/>
                                </a:rPr>
                              </m:ctrlPr>
                            </m:eqArrPr>
                            <m:e>
                              <m:r>
                                <a:rPr lang="es-MX" b="0" i="1" smtClean="0">
                                  <a:latin typeface="Cambria Math" panose="02040503050406030204" pitchFamily="18" charset="0"/>
                                </a:rPr>
                                <m:t>¬</m:t>
                              </m:r>
                              <m:r>
                                <a:rPr lang="es-MX" b="0" i="1" smtClean="0">
                                  <a:latin typeface="Cambria Math" panose="02040503050406030204" pitchFamily="18" charset="0"/>
                                </a:rPr>
                                <m:t>𝑝</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𝑞</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𝑟</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𝑠</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𝑞</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𝑡</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𝑝</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𝑡</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𝑝</m:t>
                              </m:r>
                              <m:r>
                                <a:rPr lang="es-MX" i="1">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𝑟</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𝑠</m:t>
                              </m:r>
                            </m:e>
                          </m:eqArr>
                        </m:num>
                        <m:den>
                          <m:r>
                            <a:rPr lang="es-MX" sz="1800"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𝑞</m:t>
                          </m:r>
                          <m:r>
                            <a:rPr lang="es-MX" b="0" i="1" smtClean="0">
                              <a:latin typeface="Cambria Math" panose="02040503050406030204" pitchFamily="18" charset="0"/>
                              <a:ea typeface="Cambria Math" panose="02040503050406030204" pitchFamily="18" charset="0"/>
                            </a:rPr>
                            <m:t>                      </m:t>
                          </m:r>
                        </m:den>
                      </m:f>
                    </m:oMath>
                  </m:oMathPara>
                </a14:m>
                <a:endParaRPr lang="es-CO" dirty="0"/>
              </a:p>
            </p:txBody>
          </p:sp>
        </mc:Choice>
        <mc:Fallback>
          <p:sp>
            <p:nvSpPr>
              <p:cNvPr id="14" name="CuadroTexto 13">
                <a:extLst>
                  <a:ext uri="{FF2B5EF4-FFF2-40B4-BE49-F238E27FC236}">
                    <a16:creationId xmlns:a16="http://schemas.microsoft.com/office/drawing/2014/main" id="{C7CCC950-E8DA-4EC0-B0B2-3FF5E2F2780D}"/>
                  </a:ext>
                </a:extLst>
              </p:cNvPr>
              <p:cNvSpPr txBox="1">
                <a:spLocks noRot="1" noChangeAspect="1" noMove="1" noResize="1" noEditPoints="1" noAdjustHandles="1" noChangeArrowheads="1" noChangeShapeType="1" noTextEdit="1"/>
              </p:cNvSpPr>
              <p:nvPr/>
            </p:nvSpPr>
            <p:spPr>
              <a:xfrm>
                <a:off x="4773153" y="1516031"/>
                <a:ext cx="1725561" cy="1695592"/>
              </a:xfrm>
              <a:prstGeom prst="rect">
                <a:avLst/>
              </a:prstGeom>
              <a:blipFill>
                <a:blip r:embed="rId4"/>
                <a:stretch>
                  <a:fillRect r="-1767"/>
                </a:stretch>
              </a:blipFill>
            </p:spPr>
            <p:txBody>
              <a:bodyPr/>
              <a:lstStyle/>
              <a:p>
                <a:r>
                  <a:rPr lang="es-CO">
                    <a:noFill/>
                  </a:rPr>
                  <a:t> </a:t>
                </a:r>
              </a:p>
            </p:txBody>
          </p:sp>
        </mc:Fallback>
      </mc:AlternateContent>
    </p:spTree>
    <p:extLst>
      <p:ext uri="{BB962C8B-B14F-4D97-AF65-F5344CB8AC3E}">
        <p14:creationId xmlns:p14="http://schemas.microsoft.com/office/powerpoint/2010/main" val="1253482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latin typeface="+mj-lt"/>
              </a:rPr>
              <a:t>Validación de argumentos – Enfoque axiomático</a:t>
            </a:r>
            <a:endParaRPr lang="es-CO" dirty="0"/>
          </a:p>
        </p:txBody>
      </p:sp>
      <p:sp>
        <p:nvSpPr>
          <p:cNvPr id="12" name="CuadroTexto 11">
            <a:extLst>
              <a:ext uri="{FF2B5EF4-FFF2-40B4-BE49-F238E27FC236}">
                <a16:creationId xmlns:a16="http://schemas.microsoft.com/office/drawing/2014/main" id="{86124C36-7153-4A0A-AE9D-CDE921828F77}"/>
              </a:ext>
            </a:extLst>
          </p:cNvPr>
          <p:cNvSpPr txBox="1"/>
          <p:nvPr/>
        </p:nvSpPr>
        <p:spPr>
          <a:xfrm>
            <a:off x="370960" y="999702"/>
            <a:ext cx="10947819" cy="40011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Ejemplo 3</a:t>
            </a:r>
            <a:r>
              <a:rPr lang="es-MX" sz="2000" dirty="0">
                <a:latin typeface="Roboto" panose="02000000000000000000" pitchFamily="2" charset="0"/>
                <a:ea typeface="Roboto" panose="02000000000000000000" pitchFamily="2" charset="0"/>
              </a:rPr>
              <a:t>: Considerar el siguiente argumento:</a:t>
            </a:r>
          </a:p>
        </p:txBody>
      </p:sp>
      <p:sp>
        <p:nvSpPr>
          <p:cNvPr id="7" name="Google Shape;310;p34">
            <a:extLst>
              <a:ext uri="{FF2B5EF4-FFF2-40B4-BE49-F238E27FC236}">
                <a16:creationId xmlns:a16="http://schemas.microsoft.com/office/drawing/2014/main" id="{EF23AEF8-F868-4AE1-9061-EB0A90B8858A}"/>
              </a:ext>
            </a:extLst>
          </p:cNvPr>
          <p:cNvSpPr txBox="1">
            <a:spLocks/>
          </p:cNvSpPr>
          <p:nvPr/>
        </p:nvSpPr>
        <p:spPr>
          <a:xfrm>
            <a:off x="707041" y="1542834"/>
            <a:ext cx="10611738" cy="1291475"/>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7150" indent="0">
              <a:buSzPts val="2700"/>
              <a:buNone/>
            </a:pPr>
            <a:r>
              <a:rPr lang="es-MX" sz="1800" dirty="0">
                <a:latin typeface="Roboto" panose="02000000000000000000" pitchFamily="2" charset="0"/>
                <a:ea typeface="Roboto" panose="02000000000000000000" pitchFamily="2" charset="0"/>
              </a:rPr>
              <a:t>“Si la ley no fue aprobada, entonces la constitución del país queda sin modificaciones. Si la constitución del país queda sin modificaciones no se puede elegir nuevos diputados. O se eligen nuevos diputados o el informe del presidente del país se retrasará. El informe no se retrasó un mes. Por lo que la ley fue aprobada”. </a:t>
            </a:r>
          </a:p>
        </p:txBody>
      </p:sp>
      <p:sp>
        <p:nvSpPr>
          <p:cNvPr id="8" name="Google Shape;310;p34">
            <a:extLst>
              <a:ext uri="{FF2B5EF4-FFF2-40B4-BE49-F238E27FC236}">
                <a16:creationId xmlns:a16="http://schemas.microsoft.com/office/drawing/2014/main" id="{E7D1E39F-0FE3-42C6-A4F2-B6F978927B3A}"/>
              </a:ext>
            </a:extLst>
          </p:cNvPr>
          <p:cNvSpPr txBox="1">
            <a:spLocks/>
          </p:cNvSpPr>
          <p:nvPr/>
        </p:nvSpPr>
        <p:spPr>
          <a:xfrm>
            <a:off x="517562" y="2950669"/>
            <a:ext cx="10611738" cy="4783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7150" indent="0">
              <a:buSzPts val="2700"/>
              <a:buNone/>
            </a:pPr>
            <a:r>
              <a:rPr lang="es-MX" sz="2000" dirty="0">
                <a:latin typeface="Roboto" panose="02000000000000000000" pitchFamily="2" charset="0"/>
                <a:ea typeface="Roboto" panose="02000000000000000000" pitchFamily="2" charset="0"/>
              </a:rPr>
              <a:t>Verificar su validez por la prueba formal de validez.</a:t>
            </a:r>
          </a:p>
        </p:txBody>
      </p:sp>
    </p:spTree>
    <p:extLst>
      <p:ext uri="{BB962C8B-B14F-4D97-AF65-F5344CB8AC3E}">
        <p14:creationId xmlns:p14="http://schemas.microsoft.com/office/powerpoint/2010/main" val="4179943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latin typeface="+mj-lt"/>
              </a:rPr>
              <a:t>Validación de argumentos – Enfoque axiomático</a:t>
            </a:r>
            <a:endParaRPr lang="es-CO" dirty="0"/>
          </a:p>
        </p:txBody>
      </p:sp>
      <p:sp>
        <p:nvSpPr>
          <p:cNvPr id="12" name="CuadroTexto 11">
            <a:extLst>
              <a:ext uri="{FF2B5EF4-FFF2-40B4-BE49-F238E27FC236}">
                <a16:creationId xmlns:a16="http://schemas.microsoft.com/office/drawing/2014/main" id="{86124C36-7153-4A0A-AE9D-CDE921828F77}"/>
              </a:ext>
            </a:extLst>
          </p:cNvPr>
          <p:cNvSpPr txBox="1"/>
          <p:nvPr/>
        </p:nvSpPr>
        <p:spPr>
          <a:xfrm>
            <a:off x="370960" y="999702"/>
            <a:ext cx="10947819" cy="40011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Ejemplo 1</a:t>
            </a:r>
            <a:r>
              <a:rPr lang="es-MX" sz="2000" dirty="0">
                <a:latin typeface="Roboto" panose="02000000000000000000" pitchFamily="2" charset="0"/>
                <a:ea typeface="Roboto" panose="02000000000000000000" pitchFamily="2" charset="0"/>
              </a:rPr>
              <a:t>: Demuestre que el siguiente argumento lógico es valido:</a:t>
            </a:r>
          </a:p>
        </p:txBody>
      </p: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C7CCC950-E8DA-4EC0-B0B2-3FF5E2F2780D}"/>
                  </a:ext>
                </a:extLst>
              </p:cNvPr>
              <p:cNvSpPr txBox="1"/>
              <p:nvPr/>
            </p:nvSpPr>
            <p:spPr>
              <a:xfrm>
                <a:off x="4119308" y="1904789"/>
                <a:ext cx="1573569" cy="15646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eqArr>
                            <m:eqArrPr>
                              <m:ctrlPr>
                                <a:rPr lang="es-MX" sz="1600" b="0" i="1" smtClean="0">
                                  <a:latin typeface="Cambria Math" panose="02040503050406030204" pitchFamily="18" charset="0"/>
                                </a:rPr>
                              </m:ctrlPr>
                            </m:eqArrPr>
                            <m:e>
                              <m:r>
                                <a:rPr lang="es-MX" sz="1600" b="0" i="1" smtClean="0">
                                  <a:latin typeface="Cambria Math" panose="02040503050406030204" pitchFamily="18" charset="0"/>
                                </a:rPr>
                                <m:t>¬</m:t>
                              </m:r>
                              <m:r>
                                <a:rPr lang="es-MX" sz="1600" b="0" i="1" smtClean="0">
                                  <a:latin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𝑠</m:t>
                              </m:r>
                              <m:r>
                                <a:rPr lang="es-MX" sz="1600" b="0" i="1" smtClean="0">
                                  <a:latin typeface="Cambria Math" panose="02040503050406030204" pitchFamily="18" charset="0"/>
                                  <a:ea typeface="Cambria Math" panose="02040503050406030204" pitchFamily="18" charset="0"/>
                                </a:rPr>
                                <m:t>∨¬ </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𝑡</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𝑡</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i="1">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𝑠</m:t>
                              </m:r>
                            </m:e>
                          </m:eqArr>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 </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                      </m:t>
                          </m:r>
                        </m:den>
                      </m:f>
                    </m:oMath>
                  </m:oMathPara>
                </a14:m>
                <a:endParaRPr lang="es-CO" sz="1600" dirty="0"/>
              </a:p>
            </p:txBody>
          </p:sp>
        </mc:Choice>
        <mc:Fallback>
          <p:sp>
            <p:nvSpPr>
              <p:cNvPr id="14" name="CuadroTexto 13">
                <a:extLst>
                  <a:ext uri="{FF2B5EF4-FFF2-40B4-BE49-F238E27FC236}">
                    <a16:creationId xmlns:a16="http://schemas.microsoft.com/office/drawing/2014/main" id="{C7CCC950-E8DA-4EC0-B0B2-3FF5E2F2780D}"/>
                  </a:ext>
                </a:extLst>
              </p:cNvPr>
              <p:cNvSpPr txBox="1">
                <a:spLocks noRot="1" noChangeAspect="1" noMove="1" noResize="1" noEditPoints="1" noAdjustHandles="1" noChangeArrowheads="1" noChangeShapeType="1" noTextEdit="1"/>
              </p:cNvSpPr>
              <p:nvPr/>
            </p:nvSpPr>
            <p:spPr>
              <a:xfrm>
                <a:off x="4119308" y="1904789"/>
                <a:ext cx="1573569" cy="1564659"/>
              </a:xfrm>
              <a:prstGeom prst="rect">
                <a:avLst/>
              </a:prstGeom>
              <a:blipFill>
                <a:blip r:embed="rId3"/>
                <a:stretch>
                  <a:fillRect/>
                </a:stretch>
              </a:blipFill>
            </p:spPr>
            <p:txBody>
              <a:bodyPr/>
              <a:lstStyle/>
              <a:p>
                <a:r>
                  <a:rPr lang="es-CO">
                    <a:noFill/>
                  </a:rPr>
                  <a:t> </a:t>
                </a:r>
              </a:p>
            </p:txBody>
          </p:sp>
        </mc:Fallback>
      </mc:AlternateContent>
      <p:pic>
        <p:nvPicPr>
          <p:cNvPr id="7" name="Imagen 6">
            <a:extLst>
              <a:ext uri="{FF2B5EF4-FFF2-40B4-BE49-F238E27FC236}">
                <a16:creationId xmlns:a16="http://schemas.microsoft.com/office/drawing/2014/main" id="{14B23DFB-3A71-4CD5-BA7F-D92E9DFDFBF8}"/>
              </a:ext>
            </a:extLst>
          </p:cNvPr>
          <p:cNvPicPr>
            <a:picLocks noChangeAspect="1"/>
          </p:cNvPicPr>
          <p:nvPr/>
        </p:nvPicPr>
        <p:blipFill>
          <a:blip r:embed="rId4"/>
          <a:stretch>
            <a:fillRect/>
          </a:stretch>
        </p:blipFill>
        <p:spPr>
          <a:xfrm>
            <a:off x="266442" y="1577428"/>
            <a:ext cx="3772830" cy="2350371"/>
          </a:xfrm>
          <a:prstGeom prst="rect">
            <a:avLst/>
          </a:prstGeom>
        </p:spPr>
      </p:pic>
      <p:pic>
        <p:nvPicPr>
          <p:cNvPr id="8" name="Imagen 7">
            <a:extLst>
              <a:ext uri="{FF2B5EF4-FFF2-40B4-BE49-F238E27FC236}">
                <a16:creationId xmlns:a16="http://schemas.microsoft.com/office/drawing/2014/main" id="{A06B4F91-2357-4C3F-A796-0DEAB227DDA7}"/>
              </a:ext>
            </a:extLst>
          </p:cNvPr>
          <p:cNvPicPr>
            <a:picLocks noChangeAspect="1"/>
          </p:cNvPicPr>
          <p:nvPr/>
        </p:nvPicPr>
        <p:blipFill>
          <a:blip r:embed="rId5"/>
          <a:stretch>
            <a:fillRect/>
          </a:stretch>
        </p:blipFill>
        <p:spPr>
          <a:xfrm>
            <a:off x="266442" y="4094189"/>
            <a:ext cx="5112620" cy="2372766"/>
          </a:xfrm>
          <a:prstGeom prst="rect">
            <a:avLst/>
          </a:prstGeom>
        </p:spPr>
      </p:pic>
      <p:graphicFrame>
        <p:nvGraphicFramePr>
          <p:cNvPr id="9" name="Tabla 6">
            <a:extLst>
              <a:ext uri="{FF2B5EF4-FFF2-40B4-BE49-F238E27FC236}">
                <a16:creationId xmlns:a16="http://schemas.microsoft.com/office/drawing/2014/main" id="{DCAE20F6-2315-4B6B-B041-F212E4C1C786}"/>
              </a:ext>
            </a:extLst>
          </p:cNvPr>
          <p:cNvGraphicFramePr>
            <a:graphicFrameLocks noGrp="1"/>
          </p:cNvGraphicFramePr>
          <p:nvPr>
            <p:extLst>
              <p:ext uri="{D42A27DB-BD31-4B8C-83A1-F6EECF244321}">
                <p14:modId xmlns:p14="http://schemas.microsoft.com/office/powerpoint/2010/main" val="1234086337"/>
              </p:ext>
            </p:extLst>
          </p:nvPr>
        </p:nvGraphicFramePr>
        <p:xfrm>
          <a:off x="5692877" y="1668489"/>
          <a:ext cx="6359892" cy="4851400"/>
        </p:xfrm>
        <a:graphic>
          <a:graphicData uri="http://schemas.openxmlformats.org/drawingml/2006/table">
            <a:tbl>
              <a:tblPr firstRow="1" bandRow="1">
                <a:tableStyleId>{5940675A-B579-460E-94D1-54222C63F5DA}</a:tableStyleId>
              </a:tblPr>
              <a:tblGrid>
                <a:gridCol w="516194">
                  <a:extLst>
                    <a:ext uri="{9D8B030D-6E8A-4147-A177-3AD203B41FA5}">
                      <a16:colId xmlns:a16="http://schemas.microsoft.com/office/drawing/2014/main" val="2268520492"/>
                    </a:ext>
                  </a:extLst>
                </a:gridCol>
                <a:gridCol w="2604378">
                  <a:extLst>
                    <a:ext uri="{9D8B030D-6E8A-4147-A177-3AD203B41FA5}">
                      <a16:colId xmlns:a16="http://schemas.microsoft.com/office/drawing/2014/main" val="2295907465"/>
                    </a:ext>
                  </a:extLst>
                </a:gridCol>
                <a:gridCol w="3239320">
                  <a:extLst>
                    <a:ext uri="{9D8B030D-6E8A-4147-A177-3AD203B41FA5}">
                      <a16:colId xmlns:a16="http://schemas.microsoft.com/office/drawing/2014/main" val="1814483346"/>
                    </a:ext>
                  </a:extLst>
                </a:gridCol>
              </a:tblGrid>
              <a:tr h="370840">
                <a:tc>
                  <a:txBody>
                    <a:bodyPr/>
                    <a:lstStyle/>
                    <a:p>
                      <a:r>
                        <a:rPr lang="es-CO" b="1" dirty="0"/>
                        <a:t>#</a:t>
                      </a:r>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Afirmación</a:t>
                      </a:r>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Razón</a:t>
                      </a:r>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992406"/>
                  </a:ext>
                </a:extLst>
              </a:tr>
              <a:tr h="370840">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29773306"/>
                  </a:ext>
                </a:extLst>
              </a:tr>
            </a:tbl>
          </a:graphicData>
        </a:graphic>
      </p:graphicFrame>
    </p:spTree>
    <p:extLst>
      <p:ext uri="{BB962C8B-B14F-4D97-AF65-F5344CB8AC3E}">
        <p14:creationId xmlns:p14="http://schemas.microsoft.com/office/powerpoint/2010/main" val="345897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latin typeface="+mj-lt"/>
              </a:rPr>
              <a:t>Validación de argumentos – Enfoque axiomático</a:t>
            </a:r>
            <a:endParaRPr lang="es-CO" dirty="0"/>
          </a:p>
        </p:txBody>
      </p:sp>
      <p:sp>
        <p:nvSpPr>
          <p:cNvPr id="12" name="CuadroTexto 11">
            <a:extLst>
              <a:ext uri="{FF2B5EF4-FFF2-40B4-BE49-F238E27FC236}">
                <a16:creationId xmlns:a16="http://schemas.microsoft.com/office/drawing/2014/main" id="{86124C36-7153-4A0A-AE9D-CDE921828F77}"/>
              </a:ext>
            </a:extLst>
          </p:cNvPr>
          <p:cNvSpPr txBox="1"/>
          <p:nvPr/>
        </p:nvSpPr>
        <p:spPr>
          <a:xfrm>
            <a:off x="370960" y="999702"/>
            <a:ext cx="10947819" cy="40011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Ejemplo 2</a:t>
            </a:r>
            <a:r>
              <a:rPr lang="es-MX" sz="2000" dirty="0">
                <a:latin typeface="Roboto" panose="02000000000000000000" pitchFamily="2" charset="0"/>
                <a:ea typeface="Roboto" panose="02000000000000000000" pitchFamily="2" charset="0"/>
              </a:rPr>
              <a:t>: Demuestre que el siguiente argumento lógico es valido:</a:t>
            </a:r>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BECB0184-D812-4D8B-ADCF-616FE57DFB83}"/>
                  </a:ext>
                </a:extLst>
              </p:cNvPr>
              <p:cNvSpPr txBox="1"/>
              <p:nvPr/>
            </p:nvSpPr>
            <p:spPr>
              <a:xfrm>
                <a:off x="4039272" y="1809896"/>
                <a:ext cx="1563328" cy="1907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eqArr>
                            <m:eqArrPr>
                              <m:ctrlPr>
                                <a:rPr lang="es-MX" sz="1600" b="0" i="1" smtClean="0">
                                  <a:latin typeface="Cambria Math" panose="02040503050406030204" pitchFamily="18" charset="0"/>
                                  <a:ea typeface="Roboto" panose="02000000000000000000" pitchFamily="2" charset="0"/>
                                </a:rPr>
                              </m:ctrlPr>
                            </m:eqArrP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e>
                            <m:e>
                              <m:r>
                                <a:rPr lang="es-MX" sz="1600" b="0" i="1" smtClean="0">
                                  <a:latin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𝑠</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rPr>
                                <m:t>¬</m:t>
                              </m:r>
                              <m:r>
                                <a:rPr lang="es-MX" sz="1600" b="0" i="1" smtClean="0">
                                  <a:latin typeface="Cambria Math" panose="02040503050406030204" pitchFamily="18" charset="0"/>
                                </a:rPr>
                                <m:t>𝑠</m:t>
                              </m:r>
                              <m:r>
                                <a:rPr lang="es-MX" sz="1600" b="0" i="1" smtClean="0">
                                  <a:latin typeface="Cambria Math" panose="02040503050406030204" pitchFamily="18" charset="0"/>
                                </a:rPr>
                                <m:t>→¬</m:t>
                              </m:r>
                              <m:r>
                                <a:rPr lang="es-MX" sz="1600" b="0" i="1" smtClean="0">
                                  <a:latin typeface="Cambria Math" panose="02040503050406030204" pitchFamily="18" charset="0"/>
                                </a:rPr>
                                <m:t>𝑡</m:t>
                              </m:r>
                              <m:r>
                                <a:rPr lang="es-MX" sz="1600" b="0" i="1" smtClean="0">
                                  <a:latin typeface="Cambria Math" panose="02040503050406030204" pitchFamily="18" charset="0"/>
                                </a:rPr>
                                <m:t>   </m:t>
                              </m:r>
                            </m:e>
                            <m:e>
                              <m:r>
                                <a:rPr lang="es-MX" sz="1600" b="0" i="1" smtClean="0">
                                  <a:latin typeface="Cambria Math" panose="02040503050406030204" pitchFamily="18" charset="0"/>
                                </a:rPr>
                                <m:t>¬</m:t>
                              </m:r>
                              <m:r>
                                <a:rPr lang="es-MX" sz="1600" b="0" i="1" smtClean="0">
                                  <a:latin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𝑠</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𝑠</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𝑢</m:t>
                              </m:r>
                            </m:e>
                            <m:e>
                              <m:r>
                                <a:rPr lang="es-MX" sz="1600" b="0" i="1" smtClean="0">
                                  <a:latin typeface="Cambria Math" panose="02040503050406030204" pitchFamily="18" charset="0"/>
                                  <a:ea typeface="Cambria Math" panose="02040503050406030204" pitchFamily="18" charset="0"/>
                                </a:rPr>
                                <m:t>𝑤</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𝑡</m:t>
                              </m:r>
                              <m:r>
                                <a:rPr lang="es-MX" sz="1600" b="0" i="1" smtClean="0">
                                  <a:latin typeface="Cambria Math" panose="02040503050406030204" pitchFamily="18" charset="0"/>
                                  <a:ea typeface="Cambria Math" panose="02040503050406030204" pitchFamily="18" charset="0"/>
                                </a:rPr>
                                <m:t>           </m:t>
                              </m:r>
                            </m:e>
                          </m:eqArr>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𝑢</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 </m:t>
                          </m:r>
                          <m:r>
                            <a:rPr lang="es-MX" sz="1600" b="0" i="1" smtClean="0">
                              <a:latin typeface="Cambria Math" panose="02040503050406030204" pitchFamily="18" charset="0"/>
                              <a:ea typeface="Cambria Math" panose="02040503050406030204" pitchFamily="18" charset="0"/>
                            </a:rPr>
                            <m:t>  </m:t>
                          </m:r>
                          <m:r>
                            <a:rPr lang="es-MX" sz="1600" b="0" i="1" smtClean="0">
                              <a:latin typeface="Cambria Math" panose="02040503050406030204" pitchFamily="18" charset="0"/>
                              <a:ea typeface="Cambria Math" panose="02040503050406030204" pitchFamily="18" charset="0"/>
                            </a:rPr>
                            <m:t>            </m:t>
                          </m:r>
                        </m:den>
                      </m:f>
                    </m:oMath>
                  </m:oMathPara>
                </a14:m>
                <a:endParaRPr lang="es-CO" sz="1600" dirty="0"/>
              </a:p>
            </p:txBody>
          </p:sp>
        </mc:Choice>
        <mc:Fallback>
          <p:sp>
            <p:nvSpPr>
              <p:cNvPr id="11" name="CuadroTexto 10">
                <a:extLst>
                  <a:ext uri="{FF2B5EF4-FFF2-40B4-BE49-F238E27FC236}">
                    <a16:creationId xmlns:a16="http://schemas.microsoft.com/office/drawing/2014/main" id="{BECB0184-D812-4D8B-ADCF-616FE57DFB83}"/>
                  </a:ext>
                </a:extLst>
              </p:cNvPr>
              <p:cNvSpPr txBox="1">
                <a:spLocks noRot="1" noChangeAspect="1" noMove="1" noResize="1" noEditPoints="1" noAdjustHandles="1" noChangeArrowheads="1" noChangeShapeType="1" noTextEdit="1"/>
              </p:cNvSpPr>
              <p:nvPr/>
            </p:nvSpPr>
            <p:spPr>
              <a:xfrm>
                <a:off x="4039272" y="1809896"/>
                <a:ext cx="1563328" cy="1907830"/>
              </a:xfrm>
              <a:prstGeom prst="rect">
                <a:avLst/>
              </a:prstGeom>
              <a:blipFill>
                <a:blip r:embed="rId3"/>
                <a:stretch>
                  <a:fillRect/>
                </a:stretch>
              </a:blipFill>
            </p:spPr>
            <p:txBody>
              <a:bodyPr/>
              <a:lstStyle/>
              <a:p>
                <a:r>
                  <a:rPr lang="es-CO">
                    <a:noFill/>
                  </a:rPr>
                  <a:t> </a:t>
                </a:r>
              </a:p>
            </p:txBody>
          </p:sp>
        </mc:Fallback>
      </mc:AlternateContent>
      <p:pic>
        <p:nvPicPr>
          <p:cNvPr id="7" name="Imagen 6">
            <a:extLst>
              <a:ext uri="{FF2B5EF4-FFF2-40B4-BE49-F238E27FC236}">
                <a16:creationId xmlns:a16="http://schemas.microsoft.com/office/drawing/2014/main" id="{CBBBC04B-B240-4F82-9AF4-12F6830B8486}"/>
              </a:ext>
            </a:extLst>
          </p:cNvPr>
          <p:cNvPicPr>
            <a:picLocks noChangeAspect="1"/>
          </p:cNvPicPr>
          <p:nvPr/>
        </p:nvPicPr>
        <p:blipFill>
          <a:blip r:embed="rId4"/>
          <a:stretch>
            <a:fillRect/>
          </a:stretch>
        </p:blipFill>
        <p:spPr>
          <a:xfrm>
            <a:off x="266442" y="1577428"/>
            <a:ext cx="3772830" cy="2350371"/>
          </a:xfrm>
          <a:prstGeom prst="rect">
            <a:avLst/>
          </a:prstGeom>
        </p:spPr>
      </p:pic>
      <p:pic>
        <p:nvPicPr>
          <p:cNvPr id="8" name="Imagen 7">
            <a:extLst>
              <a:ext uri="{FF2B5EF4-FFF2-40B4-BE49-F238E27FC236}">
                <a16:creationId xmlns:a16="http://schemas.microsoft.com/office/drawing/2014/main" id="{5154AD24-7702-48F0-B9CD-238C9FA4CBBA}"/>
              </a:ext>
            </a:extLst>
          </p:cNvPr>
          <p:cNvPicPr>
            <a:picLocks noChangeAspect="1"/>
          </p:cNvPicPr>
          <p:nvPr/>
        </p:nvPicPr>
        <p:blipFill>
          <a:blip r:embed="rId5"/>
          <a:stretch>
            <a:fillRect/>
          </a:stretch>
        </p:blipFill>
        <p:spPr>
          <a:xfrm>
            <a:off x="266442" y="4094189"/>
            <a:ext cx="5112620" cy="2372766"/>
          </a:xfrm>
          <a:prstGeom prst="rect">
            <a:avLst/>
          </a:prstGeom>
        </p:spPr>
      </p:pic>
      <p:graphicFrame>
        <p:nvGraphicFramePr>
          <p:cNvPr id="9" name="Tabla 6">
            <a:extLst>
              <a:ext uri="{FF2B5EF4-FFF2-40B4-BE49-F238E27FC236}">
                <a16:creationId xmlns:a16="http://schemas.microsoft.com/office/drawing/2014/main" id="{1CD97D00-0F52-46E9-B35B-33EC9261E587}"/>
              </a:ext>
            </a:extLst>
          </p:cNvPr>
          <p:cNvGraphicFramePr>
            <a:graphicFrameLocks noGrp="1"/>
          </p:cNvGraphicFramePr>
          <p:nvPr>
            <p:extLst>
              <p:ext uri="{D42A27DB-BD31-4B8C-83A1-F6EECF244321}">
                <p14:modId xmlns:p14="http://schemas.microsoft.com/office/powerpoint/2010/main" val="783643215"/>
              </p:ext>
            </p:extLst>
          </p:nvPr>
        </p:nvGraphicFramePr>
        <p:xfrm>
          <a:off x="5692877" y="1668489"/>
          <a:ext cx="6359892" cy="4851400"/>
        </p:xfrm>
        <a:graphic>
          <a:graphicData uri="http://schemas.openxmlformats.org/drawingml/2006/table">
            <a:tbl>
              <a:tblPr firstRow="1" bandRow="1">
                <a:tableStyleId>{5940675A-B579-460E-94D1-54222C63F5DA}</a:tableStyleId>
              </a:tblPr>
              <a:tblGrid>
                <a:gridCol w="516194">
                  <a:extLst>
                    <a:ext uri="{9D8B030D-6E8A-4147-A177-3AD203B41FA5}">
                      <a16:colId xmlns:a16="http://schemas.microsoft.com/office/drawing/2014/main" val="2268520492"/>
                    </a:ext>
                  </a:extLst>
                </a:gridCol>
                <a:gridCol w="2604378">
                  <a:extLst>
                    <a:ext uri="{9D8B030D-6E8A-4147-A177-3AD203B41FA5}">
                      <a16:colId xmlns:a16="http://schemas.microsoft.com/office/drawing/2014/main" val="2295907465"/>
                    </a:ext>
                  </a:extLst>
                </a:gridCol>
                <a:gridCol w="3239320">
                  <a:extLst>
                    <a:ext uri="{9D8B030D-6E8A-4147-A177-3AD203B41FA5}">
                      <a16:colId xmlns:a16="http://schemas.microsoft.com/office/drawing/2014/main" val="1814483346"/>
                    </a:ext>
                  </a:extLst>
                </a:gridCol>
              </a:tblGrid>
              <a:tr h="370840">
                <a:tc>
                  <a:txBody>
                    <a:bodyPr/>
                    <a:lstStyle/>
                    <a:p>
                      <a:r>
                        <a:rPr lang="es-CO" b="1" dirty="0"/>
                        <a:t>#</a:t>
                      </a:r>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Afirmación</a:t>
                      </a:r>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Razón</a:t>
                      </a:r>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992406"/>
                  </a:ext>
                </a:extLst>
              </a:tr>
              <a:tr h="370840">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29773306"/>
                  </a:ext>
                </a:extLst>
              </a:tr>
            </a:tbl>
          </a:graphicData>
        </a:graphic>
      </p:graphicFrame>
    </p:spTree>
    <p:extLst>
      <p:ext uri="{BB962C8B-B14F-4D97-AF65-F5344CB8AC3E}">
        <p14:creationId xmlns:p14="http://schemas.microsoft.com/office/powerpoint/2010/main" val="97313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latin typeface="+mj-lt"/>
              </a:rPr>
              <a:t>Validación de argumentos – Enfoque axiomático</a:t>
            </a:r>
            <a:endParaRPr lang="es-CO" dirty="0"/>
          </a:p>
        </p:txBody>
      </p:sp>
      <p:sp>
        <p:nvSpPr>
          <p:cNvPr id="12" name="CuadroTexto 11">
            <a:extLst>
              <a:ext uri="{FF2B5EF4-FFF2-40B4-BE49-F238E27FC236}">
                <a16:creationId xmlns:a16="http://schemas.microsoft.com/office/drawing/2014/main" id="{86124C36-7153-4A0A-AE9D-CDE921828F77}"/>
              </a:ext>
            </a:extLst>
          </p:cNvPr>
          <p:cNvSpPr txBox="1"/>
          <p:nvPr/>
        </p:nvSpPr>
        <p:spPr>
          <a:xfrm>
            <a:off x="370960" y="999702"/>
            <a:ext cx="10947819" cy="40011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Ejemplo 3</a:t>
            </a:r>
            <a:r>
              <a:rPr lang="es-MX" sz="2000" dirty="0">
                <a:latin typeface="Roboto" panose="02000000000000000000" pitchFamily="2" charset="0"/>
                <a:ea typeface="Roboto" panose="02000000000000000000" pitchFamily="2" charset="0"/>
              </a:rPr>
              <a:t>:</a:t>
            </a:r>
          </a:p>
        </p:txBody>
      </p:sp>
      <p:sp>
        <p:nvSpPr>
          <p:cNvPr id="10" name="Google Shape;310;p34">
            <a:extLst>
              <a:ext uri="{FF2B5EF4-FFF2-40B4-BE49-F238E27FC236}">
                <a16:creationId xmlns:a16="http://schemas.microsoft.com/office/drawing/2014/main" id="{C0489D8D-2F95-4BB5-90CB-2D2B1990DF26}"/>
              </a:ext>
            </a:extLst>
          </p:cNvPr>
          <p:cNvSpPr txBox="1">
            <a:spLocks/>
          </p:cNvSpPr>
          <p:nvPr/>
        </p:nvSpPr>
        <p:spPr>
          <a:xfrm>
            <a:off x="707041" y="1399812"/>
            <a:ext cx="10611738" cy="1291475"/>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7150" indent="0">
              <a:buSzPts val="2700"/>
              <a:buNone/>
            </a:pPr>
            <a:r>
              <a:rPr lang="es-MX" sz="1800" dirty="0">
                <a:latin typeface="Roboto" panose="02000000000000000000" pitchFamily="2" charset="0"/>
                <a:ea typeface="Roboto" panose="02000000000000000000" pitchFamily="2" charset="0"/>
              </a:rPr>
              <a:t>“Si la ley no fue aprobada, entonces la constitución del país queda sin modificaciones. Si la constitución del país queda sin modificaciones no se puede elegir nuevos diputados. O se eligen nuevos diputados o el informe del presidente del país se retrasará. El informe no se retrasó un mes. Por lo que la ley fue aprobada”. </a:t>
            </a:r>
          </a:p>
        </p:txBody>
      </p:sp>
    </p:spTree>
    <p:extLst>
      <p:ext uri="{BB962C8B-B14F-4D97-AF65-F5344CB8AC3E}">
        <p14:creationId xmlns:p14="http://schemas.microsoft.com/office/powerpoint/2010/main" val="19008250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latin typeface="+mj-lt"/>
              </a:rPr>
              <a:t>Validación de argumentos – Enfoque axiomático</a:t>
            </a:r>
            <a:endParaRPr lang="es-CO" dirty="0"/>
          </a:p>
        </p:txBody>
      </p:sp>
      <p:sp>
        <p:nvSpPr>
          <p:cNvPr id="12" name="CuadroTexto 11">
            <a:extLst>
              <a:ext uri="{FF2B5EF4-FFF2-40B4-BE49-F238E27FC236}">
                <a16:creationId xmlns:a16="http://schemas.microsoft.com/office/drawing/2014/main" id="{86124C36-7153-4A0A-AE9D-CDE921828F77}"/>
              </a:ext>
            </a:extLst>
          </p:cNvPr>
          <p:cNvSpPr txBox="1"/>
          <p:nvPr/>
        </p:nvSpPr>
        <p:spPr>
          <a:xfrm>
            <a:off x="370960" y="999702"/>
            <a:ext cx="10947819" cy="40011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Ejemplo 3</a:t>
            </a:r>
            <a:r>
              <a:rPr lang="es-MX" sz="2000" dirty="0">
                <a:latin typeface="Roboto" panose="02000000000000000000" pitchFamily="2" charset="0"/>
                <a:ea typeface="Roboto" panose="02000000000000000000" pitchFamily="2" charset="0"/>
              </a:rPr>
              <a:t>: Demuestre que el siguiente argumento lógico es valido:</a:t>
            </a:r>
          </a:p>
        </p:txBody>
      </p:sp>
      <p:pic>
        <p:nvPicPr>
          <p:cNvPr id="7" name="Imagen 6">
            <a:extLst>
              <a:ext uri="{FF2B5EF4-FFF2-40B4-BE49-F238E27FC236}">
                <a16:creationId xmlns:a16="http://schemas.microsoft.com/office/drawing/2014/main" id="{CBBBC04B-B240-4F82-9AF4-12F6830B8486}"/>
              </a:ext>
            </a:extLst>
          </p:cNvPr>
          <p:cNvPicPr>
            <a:picLocks noChangeAspect="1"/>
          </p:cNvPicPr>
          <p:nvPr/>
        </p:nvPicPr>
        <p:blipFill>
          <a:blip r:embed="rId3"/>
          <a:stretch>
            <a:fillRect/>
          </a:stretch>
        </p:blipFill>
        <p:spPr>
          <a:xfrm>
            <a:off x="266442" y="1577428"/>
            <a:ext cx="3772830" cy="2350371"/>
          </a:xfrm>
          <a:prstGeom prst="rect">
            <a:avLst/>
          </a:prstGeom>
        </p:spPr>
      </p:pic>
      <p:pic>
        <p:nvPicPr>
          <p:cNvPr id="8" name="Imagen 7">
            <a:extLst>
              <a:ext uri="{FF2B5EF4-FFF2-40B4-BE49-F238E27FC236}">
                <a16:creationId xmlns:a16="http://schemas.microsoft.com/office/drawing/2014/main" id="{5154AD24-7702-48F0-B9CD-238C9FA4CBBA}"/>
              </a:ext>
            </a:extLst>
          </p:cNvPr>
          <p:cNvPicPr>
            <a:picLocks noChangeAspect="1"/>
          </p:cNvPicPr>
          <p:nvPr/>
        </p:nvPicPr>
        <p:blipFill>
          <a:blip r:embed="rId4"/>
          <a:stretch>
            <a:fillRect/>
          </a:stretch>
        </p:blipFill>
        <p:spPr>
          <a:xfrm>
            <a:off x="266442" y="4094189"/>
            <a:ext cx="5112620" cy="2372766"/>
          </a:xfrm>
          <a:prstGeom prst="rect">
            <a:avLst/>
          </a:prstGeom>
        </p:spPr>
      </p:pic>
      <p:graphicFrame>
        <p:nvGraphicFramePr>
          <p:cNvPr id="9" name="Tabla 6">
            <a:extLst>
              <a:ext uri="{FF2B5EF4-FFF2-40B4-BE49-F238E27FC236}">
                <a16:creationId xmlns:a16="http://schemas.microsoft.com/office/drawing/2014/main" id="{1CD97D00-0F52-46E9-B35B-33EC9261E587}"/>
              </a:ext>
            </a:extLst>
          </p:cNvPr>
          <p:cNvGraphicFramePr>
            <a:graphicFrameLocks noGrp="1"/>
          </p:cNvGraphicFramePr>
          <p:nvPr/>
        </p:nvGraphicFramePr>
        <p:xfrm>
          <a:off x="5692877" y="1668489"/>
          <a:ext cx="6359892" cy="4851400"/>
        </p:xfrm>
        <a:graphic>
          <a:graphicData uri="http://schemas.openxmlformats.org/drawingml/2006/table">
            <a:tbl>
              <a:tblPr firstRow="1" bandRow="1">
                <a:tableStyleId>{5940675A-B579-460E-94D1-54222C63F5DA}</a:tableStyleId>
              </a:tblPr>
              <a:tblGrid>
                <a:gridCol w="516194">
                  <a:extLst>
                    <a:ext uri="{9D8B030D-6E8A-4147-A177-3AD203B41FA5}">
                      <a16:colId xmlns:a16="http://schemas.microsoft.com/office/drawing/2014/main" val="2268520492"/>
                    </a:ext>
                  </a:extLst>
                </a:gridCol>
                <a:gridCol w="2604378">
                  <a:extLst>
                    <a:ext uri="{9D8B030D-6E8A-4147-A177-3AD203B41FA5}">
                      <a16:colId xmlns:a16="http://schemas.microsoft.com/office/drawing/2014/main" val="2295907465"/>
                    </a:ext>
                  </a:extLst>
                </a:gridCol>
                <a:gridCol w="3239320">
                  <a:extLst>
                    <a:ext uri="{9D8B030D-6E8A-4147-A177-3AD203B41FA5}">
                      <a16:colId xmlns:a16="http://schemas.microsoft.com/office/drawing/2014/main" val="1814483346"/>
                    </a:ext>
                  </a:extLst>
                </a:gridCol>
              </a:tblGrid>
              <a:tr h="370840">
                <a:tc>
                  <a:txBody>
                    <a:bodyPr/>
                    <a:lstStyle/>
                    <a:p>
                      <a:r>
                        <a:rPr lang="es-CO" b="1" dirty="0"/>
                        <a:t>#</a:t>
                      </a:r>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Afirmación</a:t>
                      </a:r>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Razón</a:t>
                      </a:r>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992406"/>
                  </a:ext>
                </a:extLst>
              </a:tr>
              <a:tr h="370840">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29773306"/>
                  </a:ext>
                </a:extLst>
              </a:tr>
            </a:tbl>
          </a:graphicData>
        </a:graphic>
      </p:graphicFrame>
    </p:spTree>
    <p:extLst>
      <p:ext uri="{BB962C8B-B14F-4D97-AF65-F5344CB8AC3E}">
        <p14:creationId xmlns:p14="http://schemas.microsoft.com/office/powerpoint/2010/main" val="393041093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14617</TotalTime>
  <Words>2863</Words>
  <Application>Microsoft Office PowerPoint</Application>
  <PresentationFormat>Panorámica</PresentationFormat>
  <Paragraphs>866</Paragraphs>
  <Slides>31</Slides>
  <Notes>30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31</vt:i4>
      </vt:variant>
    </vt:vector>
  </HeadingPairs>
  <TitlesOfParts>
    <vt:vector size="38" baseType="lpstr">
      <vt:lpstr>Roboto Slab</vt:lpstr>
      <vt:lpstr>Arial</vt:lpstr>
      <vt:lpstr>Roboto</vt:lpstr>
      <vt:lpstr>Calibri</vt:lpstr>
      <vt:lpstr>Calibri Light</vt:lpstr>
      <vt:lpstr>Cambria Math</vt:lpstr>
      <vt:lpstr>Tema de Office</vt:lpstr>
      <vt:lpstr>Matemáticas Discretas I</vt:lpstr>
      <vt:lpstr>Repaso clase anterior</vt:lpstr>
      <vt:lpstr>Repaso clase anterior</vt:lpstr>
      <vt:lpstr>Demostraciones</vt:lpstr>
      <vt:lpstr>Validación de argumentos</vt:lpstr>
      <vt:lpstr>Validación de argumentos</vt:lpstr>
      <vt:lpstr>Validación de argumentos</vt:lpstr>
      <vt:lpstr>Validación de argumentos</vt:lpstr>
      <vt:lpstr>Validación de argumentos – Tablas de verdad</vt:lpstr>
      <vt:lpstr>Validación de argumentos – Tablas de verdad</vt:lpstr>
      <vt:lpstr>Validación de argumentos – Tablas de verdad</vt:lpstr>
      <vt:lpstr>Validación de argumentos</vt:lpstr>
      <vt:lpstr>Validación de argumentos – Tablas de verdad</vt:lpstr>
      <vt:lpstr>Validación de argumentos – Tablas de verdad</vt:lpstr>
      <vt:lpstr>Validación de argumentos – Tablas de verdad</vt:lpstr>
      <vt:lpstr>Validación de argumentos – Tablas de verdad</vt:lpstr>
      <vt:lpstr>Validación de argumentos – Tablas de verdad</vt:lpstr>
      <vt:lpstr>Silogismo</vt:lpstr>
      <vt:lpstr>Reglas de inferencia</vt:lpstr>
      <vt:lpstr>Reglas de inferencia</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Matemáticas Discretas I</dc:title>
  <dc:creator>Usuario</dc:creator>
  <cp:lastModifiedBy>HENRY ALBERTO ARCILA RAMIREZ</cp:lastModifiedBy>
  <cp:revision>113</cp:revision>
  <dcterms:modified xsi:type="dcterms:W3CDTF">2026-03-05T06:02:01Z</dcterms:modified>
</cp:coreProperties>
</file>