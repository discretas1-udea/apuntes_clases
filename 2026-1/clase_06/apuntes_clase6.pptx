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0" r:id="rId4"/>
    <p:sldId id="273" r:id="rId5"/>
    <p:sldId id="294" r:id="rId6"/>
    <p:sldId id="307" r:id="rId7"/>
    <p:sldId id="301" r:id="rId8"/>
    <p:sldId id="308" r:id="rId9"/>
    <p:sldId id="302" r:id="rId10"/>
    <p:sldId id="309" r:id="rId11"/>
    <p:sldId id="274" r:id="rId12"/>
    <p:sldId id="295" r:id="rId13"/>
    <p:sldId id="311" r:id="rId14"/>
    <p:sldId id="310" r:id="rId15"/>
    <p:sldId id="303" r:id="rId16"/>
    <p:sldId id="296" r:id="rId17"/>
    <p:sldId id="304" r:id="rId18"/>
    <p:sldId id="313" r:id="rId19"/>
    <p:sldId id="314" r:id="rId20"/>
    <p:sldId id="316" r:id="rId21"/>
    <p:sldId id="315" r:id="rId22"/>
    <p:sldId id="298" r:id="rId2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81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42770-6FBD-4BB4-A2B9-23B83B79F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0A678D-ACF8-42CB-B602-771D3671A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A27A23-4A75-4158-B3E1-3279D54A9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5C36C1-26A3-49BE-A8A8-656951FEA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69EE2A-0423-43AD-9F4C-5952D9F2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44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926FE-A781-4BB8-B275-F95FB8E1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D71A97-A3C2-4295-8826-D28A126AD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06F645-AB27-4911-BCC9-574BF367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A8FE45-F388-46E1-847F-D74F2CDF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E19B6D-4D65-4A9C-873F-E7FFC1C6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438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6E4C1-EE2C-4DF3-B95E-10353CE8F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36596D-34C7-480C-B7C7-AE611D66A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F39E0B-86F6-4DD6-8E06-F04AB91D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028C16-2CC1-490E-9309-92C8F9A0B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EC182E-E5DD-4074-AA33-D149FC81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244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F4A12-1EEC-4400-93DE-671E040E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44AD98-7D87-40F1-9981-C755DC426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3F4873-7AED-4F9D-9103-5818CC36D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EDBBA8-578A-446A-800E-01BDB42C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82B379-A5D7-4342-86D7-62F9B931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451239-35D4-4220-9B22-7EE6E22E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4234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EBB5A-6224-4348-9B94-4161FF843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CF24BE-9C24-4CA6-8A5C-36DBE9285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DEFA7D-A451-44F4-B5C6-2ACBE2F84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EB200E4-6816-4997-87AF-39943A087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501A54D-0CA9-4172-B839-F19F04CFF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98EF700-2071-4D13-B6EE-34550DBEF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078420-F81E-408E-A9AB-0F92562DA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306ED8-BF80-4607-B42A-65A6846C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198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C3652-A105-4D57-9F69-2D3E81B5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5AD369-43CB-4B39-8D56-C54136FF9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DF48D6-33A3-43B8-9361-244B90D5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288C44-51DA-4E62-85C0-E253415A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F7FBCCC-D27A-4A96-85AB-1BAF6493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C6C721-C0F1-483D-97A4-E08FDBE3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EA1B9F-FE52-448D-B841-4A00EEA7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978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02A91-1D28-42A9-B21E-EFA7DDA2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294BA1-5B56-44D0-B843-FE7B2B25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0E838D-4388-42AC-AC13-A32F7F7E4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099FCE-0501-4EC2-A21B-EDDDE2E6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EAC3F1-97ED-4708-B0C0-2A867F739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88FABF-430B-4BBC-AAF0-0C3836E0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69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43730-08F4-474D-BF3B-2673A2E08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1ADB43-4142-4E41-9C02-2EC1C4EE5F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40C94E-B1B0-42F9-8668-259526B6F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67A2EA-ED3A-479F-B942-4062C664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C577A8-F277-4E96-AC0F-E0581A09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59C557-34C4-49D7-B43D-1D70DA147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189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9DA3E-683D-49C3-B835-5DA47B06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2A7221-F084-498B-A2A3-827959A70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26429-F5E6-4B51-8B8E-E05BD785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10D87B-E1BE-4DE4-9F60-CD7364B2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6E0DB5-B959-49A6-9256-FDCF4D4D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011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88A24B-644E-406E-86FA-07F4B0DB5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82AB56-3945-4933-BAEA-72759D362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9CA228-69BD-4106-8570-761E9E57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BA0E29-7829-410A-9C8D-1D51D1C5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341274-8A44-49CB-A1AD-9434CB35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1293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5368ED-5B28-4202-9E33-32EC05B8A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C0C07D-486C-406F-ABEB-E3692C2CE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1E458E-9971-4F89-8F75-BCD52B592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E4E5A-E75E-4899-90F5-DDB39F3E781F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13CD78-927C-4944-A41E-D7C93DAE7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0AC53E-55C5-4980-8039-C8B4C48B2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109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retas1-udea.github.io/discretas1-udea-20261/lessons/mod1/clase4/" TargetMode="External"/><Relationship Id="rId2" Type="http://schemas.openxmlformats.org/officeDocument/2006/relationships/hyperlink" Target="https://discretas1-udea.github.io/discretas1-udea-20261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scretas1-udea.github.io/discretas1-udea-20261/assets/slides/clase4.pd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1E613-42B3-43C2-8E09-AFBF8FB95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dirty="0"/>
              <a:t>Matemáticas Discretas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E98DC3-5DEF-4734-A422-0A017D4D35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sz="4000" b="1" dirty="0"/>
              <a:t>Clase 06</a:t>
            </a:r>
          </a:p>
          <a:p>
            <a:r>
              <a:rPr lang="es-CO" dirty="0"/>
              <a:t>03/03/2026</a:t>
            </a:r>
          </a:p>
        </p:txBody>
      </p:sp>
    </p:spTree>
    <p:extLst>
      <p:ext uri="{BB962C8B-B14F-4D97-AF65-F5344CB8AC3E}">
        <p14:creationId xmlns:p14="http://schemas.microsoft.com/office/powerpoint/2010/main" val="270481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Recursos de esta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93274"/>
            <a:ext cx="11014364" cy="4583690"/>
          </a:xfrm>
        </p:spPr>
        <p:txBody>
          <a:bodyPr>
            <a:normAutofit/>
          </a:bodyPr>
          <a:lstStyle/>
          <a:p>
            <a:r>
              <a:rPr lang="es-CO" b="1" dirty="0"/>
              <a:t>Pagina web</a:t>
            </a:r>
            <a:r>
              <a:rPr lang="es-CO" dirty="0"/>
              <a:t>: </a:t>
            </a:r>
            <a:r>
              <a:rPr lang="es-CO" dirty="0">
                <a:hlinkClick r:id="rId2"/>
              </a:rPr>
              <a:t>https://discretas1-udea.github.io/discretas1-udea-20261/</a:t>
            </a:r>
            <a:endParaRPr lang="es-CO" dirty="0"/>
          </a:p>
          <a:p>
            <a:pPr lvl="1"/>
            <a:r>
              <a:rPr lang="es-CO" b="1" dirty="0"/>
              <a:t>Clase 4</a:t>
            </a:r>
            <a:r>
              <a:rPr lang="es-CO" dirty="0"/>
              <a:t>: </a:t>
            </a:r>
            <a:r>
              <a:rPr lang="es-CO" dirty="0">
                <a:hlinkClick r:id="rId3"/>
              </a:rPr>
              <a:t>https://discretas1-udea.github.io/discretas1-udea-20261/lessons/mod1/clase4/</a:t>
            </a:r>
            <a:endParaRPr lang="es-CO" dirty="0"/>
          </a:p>
          <a:p>
            <a:r>
              <a:rPr lang="es-CO" b="1" dirty="0"/>
              <a:t>Diapositivas</a:t>
            </a:r>
            <a:r>
              <a:rPr lang="es-CO" dirty="0"/>
              <a:t>: </a:t>
            </a:r>
          </a:p>
          <a:p>
            <a:pPr lvl="1"/>
            <a:r>
              <a:rPr lang="es-CO" dirty="0">
                <a:hlinkClick r:id="rId4"/>
              </a:rPr>
              <a:t>https://discretas1-udea.github.io/discretas1-udea-20261/assets/slides/clase4.pdf</a:t>
            </a:r>
            <a:endParaRPr lang="es-CO" dirty="0"/>
          </a:p>
          <a:p>
            <a:pPr marL="0" indent="0">
              <a:buNone/>
            </a:pP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6998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0"/>
            <a:ext cx="11055927" cy="1325563"/>
          </a:xfrm>
        </p:spPr>
        <p:txBody>
          <a:bodyPr/>
          <a:lstStyle/>
          <a:p>
            <a:r>
              <a:rPr lang="es-CO" dirty="0"/>
              <a:t>Clasificación de las proposiciones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213544"/>
            <a:ext cx="11471563" cy="5131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rgbClr val="131314"/>
                </a:solidFill>
              </a:rPr>
              <a:t>Tablas de Verdad</a:t>
            </a:r>
            <a:endParaRPr lang="es-MX" sz="2000" b="1" dirty="0"/>
          </a:p>
          <a:p>
            <a:pPr marL="457200" indent="-457200">
              <a:buFont typeface="+mj-lt"/>
              <a:buAutoNum type="arabicPeriod"/>
            </a:pPr>
            <a:endParaRPr lang="es-MX" sz="2000" dirty="0"/>
          </a:p>
          <a:p>
            <a:pPr marL="457200" indent="-457200">
              <a:buFont typeface="+mj-lt"/>
              <a:buAutoNum type="arabicPeriod"/>
            </a:pPr>
            <a:endParaRPr lang="es-MX" sz="2000" dirty="0"/>
          </a:p>
          <a:p>
            <a:pPr marL="457200" indent="-457200">
              <a:buFont typeface="+mj-lt"/>
              <a:buAutoNum type="arabicPeriod"/>
            </a:pPr>
            <a:endParaRPr lang="es-MX" sz="2000" dirty="0"/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endParaRPr lang="es-MX" sz="2000" b="1" dirty="0"/>
          </a:p>
          <a:p>
            <a:pPr marL="0" indent="0">
              <a:buNone/>
            </a:pPr>
            <a:r>
              <a:rPr lang="es-MX" sz="2000" b="1" dirty="0"/>
              <a:t>Reglas de prioridad y asociatividad</a:t>
            </a:r>
          </a:p>
          <a:p>
            <a:pPr marL="0" indent="0">
              <a:buNone/>
            </a:pPr>
            <a:endParaRPr lang="es-MX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63BB3C40-812C-46D7-81FB-A38FE4576A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428181"/>
                  </p:ext>
                </p:extLst>
              </p:nvPr>
            </p:nvGraphicFramePr>
            <p:xfrm>
              <a:off x="2367782" y="2016936"/>
              <a:ext cx="1135628" cy="105756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67814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567814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525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525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525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63BB3C40-812C-46D7-81FB-A38FE4576A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428181"/>
                  </p:ext>
                </p:extLst>
              </p:nvPr>
            </p:nvGraphicFramePr>
            <p:xfrm>
              <a:off x="2367782" y="2016936"/>
              <a:ext cx="1135628" cy="105756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67814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567814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52522"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525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52522"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5E869312-633E-40D0-86D0-6EF0C3F43C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4597108"/>
                  </p:ext>
                </p:extLst>
              </p:nvPr>
            </p:nvGraphicFramePr>
            <p:xfrm>
              <a:off x="4294909" y="1752817"/>
              <a:ext cx="6261577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44786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544786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5E869312-633E-40D0-86D0-6EF0C3F43C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4597108"/>
                  </p:ext>
                </p:extLst>
              </p:nvPr>
            </p:nvGraphicFramePr>
            <p:xfrm>
              <a:off x="4294909" y="1752817"/>
              <a:ext cx="6261577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44786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544786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3347906918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912474650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4025530010"/>
                        </a:ext>
                      </a:extLst>
                    </a:gridCol>
                    <a:gridCol w="1034401">
                      <a:extLst>
                        <a:ext uri="{9D8B030D-6E8A-4147-A177-3AD203B41FA5}">
                          <a16:colId xmlns:a16="http://schemas.microsoft.com/office/drawing/2014/main" val="217225477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34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2">
                <a:extLst>
                  <a:ext uri="{FF2B5EF4-FFF2-40B4-BE49-F238E27FC236}">
                    <a16:creationId xmlns:a16="http://schemas.microsoft.com/office/drawing/2014/main" id="{FEDA91D7-23FD-416A-86C9-A9A50A25DF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7082114"/>
                  </p:ext>
                </p:extLst>
              </p:nvPr>
            </p:nvGraphicFramePr>
            <p:xfrm>
              <a:off x="958213" y="4173816"/>
              <a:ext cx="10573263" cy="25684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775628">
                      <a:extLst>
                        <a:ext uri="{9D8B030D-6E8A-4147-A177-3AD203B41FA5}">
                          <a16:colId xmlns:a16="http://schemas.microsoft.com/office/drawing/2014/main" val="2912375319"/>
                        </a:ext>
                      </a:extLst>
                    </a:gridCol>
                    <a:gridCol w="1246909">
                      <a:extLst>
                        <a:ext uri="{9D8B030D-6E8A-4147-A177-3AD203B41FA5}">
                          <a16:colId xmlns:a16="http://schemas.microsoft.com/office/drawing/2014/main" val="2830172176"/>
                        </a:ext>
                      </a:extLst>
                    </a:gridCol>
                    <a:gridCol w="3335291">
                      <a:extLst>
                        <a:ext uri="{9D8B030D-6E8A-4147-A177-3AD203B41FA5}">
                          <a16:colId xmlns:a16="http://schemas.microsoft.com/office/drawing/2014/main" val="3163836375"/>
                        </a:ext>
                      </a:extLst>
                    </a:gridCol>
                    <a:gridCol w="4215435">
                      <a:extLst>
                        <a:ext uri="{9D8B030D-6E8A-4147-A177-3AD203B41FA5}">
                          <a16:colId xmlns:a16="http://schemas.microsoft.com/office/drawing/2014/main" val="2124308029"/>
                        </a:ext>
                      </a:extLst>
                    </a:gridCol>
                  </a:tblGrid>
                  <a:tr h="366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Prioridad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Operador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Asociatividad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Ejemplo con paréntesis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4271441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 (la mas alta)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 aplica (unitario)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¬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19328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∧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588756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∨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7133619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4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⨁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⨁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104284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Derecha (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→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0495079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6 (la mas baja)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Derecha (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↔</m:t>
                                    </m:r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↔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153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2">
                <a:extLst>
                  <a:ext uri="{FF2B5EF4-FFF2-40B4-BE49-F238E27FC236}">
                    <a16:creationId xmlns:a16="http://schemas.microsoft.com/office/drawing/2014/main" id="{FEDA91D7-23FD-416A-86C9-A9A50A25DF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7082114"/>
                  </p:ext>
                </p:extLst>
              </p:nvPr>
            </p:nvGraphicFramePr>
            <p:xfrm>
              <a:off x="958213" y="4173816"/>
              <a:ext cx="10573263" cy="25684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775628">
                      <a:extLst>
                        <a:ext uri="{9D8B030D-6E8A-4147-A177-3AD203B41FA5}">
                          <a16:colId xmlns:a16="http://schemas.microsoft.com/office/drawing/2014/main" val="2912375319"/>
                        </a:ext>
                      </a:extLst>
                    </a:gridCol>
                    <a:gridCol w="1246909">
                      <a:extLst>
                        <a:ext uri="{9D8B030D-6E8A-4147-A177-3AD203B41FA5}">
                          <a16:colId xmlns:a16="http://schemas.microsoft.com/office/drawing/2014/main" val="2830172176"/>
                        </a:ext>
                      </a:extLst>
                    </a:gridCol>
                    <a:gridCol w="3335291">
                      <a:extLst>
                        <a:ext uri="{9D8B030D-6E8A-4147-A177-3AD203B41FA5}">
                          <a16:colId xmlns:a16="http://schemas.microsoft.com/office/drawing/2014/main" val="3163836375"/>
                        </a:ext>
                      </a:extLst>
                    </a:gridCol>
                    <a:gridCol w="4215435">
                      <a:extLst>
                        <a:ext uri="{9D8B030D-6E8A-4147-A177-3AD203B41FA5}">
                          <a16:colId xmlns:a16="http://schemas.microsoft.com/office/drawing/2014/main" val="2124308029"/>
                        </a:ext>
                      </a:extLst>
                    </a:gridCol>
                  </a:tblGrid>
                  <a:tr h="366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Prioridad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Operador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Asociatividad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Ejemplo con paréntesis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4271441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 (la mas alta)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 aplica (unitario)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¬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19328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 xmlns:a14="http://schemas.microsoft.com/office/drawing/2010/main"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∧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588756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 xmlns:a14="http://schemas.microsoft.com/office/drawing/2010/main"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∨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7133619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4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Izquierda (</a:t>
                          </a:r>
                          <a14:m xmlns:a14="http://schemas.microsoft.com/office/drawing/2010/main"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⨁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⨁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104284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Derecha (</a:t>
                          </a:r>
                          <a14:m xmlns:a14="http://schemas.microsoft.com/office/drawing/2010/main"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→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0495079"/>
                      </a:ext>
                    </a:extLst>
                  </a:tr>
                  <a:tr h="366920"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6 (la mas baja)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Derecha (</a:t>
                          </a:r>
                          <a14:m xmlns:a14="http://schemas.microsoft.com/office/drawing/2010/main"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𝐷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→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𝑝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↔</m:t>
                                    </m:r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↔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1535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573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0"/>
            <a:ext cx="11055927" cy="1325563"/>
          </a:xfrm>
        </p:spPr>
        <p:txBody>
          <a:bodyPr/>
          <a:lstStyle/>
          <a:p>
            <a:r>
              <a:rPr lang="es-CO" dirty="0"/>
              <a:t>Clasificación de las proposiciones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255108"/>
            <a:ext cx="11471563" cy="39569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>
                <a:solidFill>
                  <a:srgbClr val="131314"/>
                </a:solidFill>
              </a:rPr>
              <a:t>En lógica proposicional, las proposiciones se clasifican según su valor de verdad en todas sus posibles interpretaciones (combinación de valores de la tabla de verdad) en tres tipos.</a:t>
            </a:r>
          </a:p>
          <a:p>
            <a:r>
              <a:rPr lang="es-MX" sz="2000" b="1" i="0" dirty="0">
                <a:solidFill>
                  <a:srgbClr val="131314"/>
                </a:solidFill>
                <a:effectLst/>
                <a:latin typeface="Google Sans Text"/>
              </a:rPr>
              <a:t>Tautología</a:t>
            </a:r>
          </a:p>
          <a:p>
            <a:endParaRPr lang="es-MX" sz="2000" b="1" dirty="0">
              <a:solidFill>
                <a:srgbClr val="131314"/>
              </a:solidFill>
              <a:latin typeface="Google Sans Text"/>
            </a:endParaRPr>
          </a:p>
          <a:p>
            <a:endParaRPr lang="es-MX" sz="2000" b="0" i="0" dirty="0">
              <a:solidFill>
                <a:srgbClr val="131314"/>
              </a:solidFill>
              <a:effectLst/>
              <a:latin typeface="Google Sans Text"/>
            </a:endParaRPr>
          </a:p>
          <a:p>
            <a:r>
              <a:rPr lang="es-MX" sz="2000" b="1" dirty="0">
                <a:solidFill>
                  <a:srgbClr val="131314"/>
                </a:solidFill>
                <a:latin typeface="Google Sans Text"/>
              </a:rPr>
              <a:t>Contradicción</a:t>
            </a:r>
          </a:p>
          <a:p>
            <a:endParaRPr lang="es-MX" sz="2000" b="1" dirty="0">
              <a:solidFill>
                <a:srgbClr val="131314"/>
              </a:solidFill>
              <a:latin typeface="Google Sans Text"/>
            </a:endParaRPr>
          </a:p>
          <a:p>
            <a:endParaRPr lang="es-MX" sz="2000" b="1" dirty="0">
              <a:solidFill>
                <a:srgbClr val="131314"/>
              </a:solidFill>
              <a:latin typeface="Google Sans Text"/>
            </a:endParaRPr>
          </a:p>
          <a:p>
            <a:r>
              <a:rPr lang="es-MX" sz="2000" b="1" i="0" dirty="0">
                <a:solidFill>
                  <a:srgbClr val="131314"/>
                </a:solidFill>
                <a:effectLst/>
                <a:latin typeface="Google Sans Text"/>
              </a:rPr>
              <a:t>Equivalencia</a:t>
            </a:r>
            <a:endParaRPr lang="es-MX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A4628F4F-DFD9-4BDA-B513-51A6088E8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2367484"/>
                  </p:ext>
                </p:extLst>
              </p:nvPr>
            </p:nvGraphicFramePr>
            <p:xfrm>
              <a:off x="2534583" y="2060169"/>
              <a:ext cx="1575865" cy="8229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57409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57409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1047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1473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2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2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MX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∨¬</m:t>
                                </m:r>
                                <m:r>
                                  <a:rPr lang="es-MX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MX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1473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14732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A4628F4F-DFD9-4BDA-B513-51A6088E8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2367484"/>
                  </p:ext>
                </p:extLst>
              </p:nvPr>
            </p:nvGraphicFramePr>
            <p:xfrm>
              <a:off x="2534583" y="2060169"/>
              <a:ext cx="1575865" cy="8229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57409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57409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1047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695" t="-2222" r="-344068" b="-20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1695" t="-2222" r="-244068" b="-20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83803" t="-2222" r="-1408" b="-20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695" t="-100000" r="-344068" b="-1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1695" t="-100000" r="-244068" b="-1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83803" t="-100000" r="-1408" b="-10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695" t="-204444" r="-344068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1695" t="-204444" r="-244068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83803" t="-204444" r="-1408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B303214D-7C7D-4980-B758-2E6C09651B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6453080"/>
                  </p:ext>
                </p:extLst>
              </p:nvPr>
            </p:nvGraphicFramePr>
            <p:xfrm>
              <a:off x="2534583" y="3430384"/>
              <a:ext cx="1575864" cy="8229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51513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51513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872838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</a:tblGrid>
                  <a:tr h="14547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2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2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MX" sz="1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∧¬</m:t>
                                </m:r>
                                <m:r>
                                  <a:rPr lang="es-MX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2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14547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1454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B303214D-7C7D-4980-B758-2E6C09651B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6453080"/>
                  </p:ext>
                </p:extLst>
              </p:nvPr>
            </p:nvGraphicFramePr>
            <p:xfrm>
              <a:off x="2534583" y="3430384"/>
              <a:ext cx="1575864" cy="8229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51513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51513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872838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724" t="-2222" r="-351724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724" t="-2222" r="-251724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81250" t="-2222" r="-1389" b="-2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724" t="-100000" r="-351724" b="-1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724" t="-100000" r="-251724" b="-1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81250" t="-100000" r="-1389" b="-10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724" t="-204444" r="-351724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724" t="-204444" r="-251724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81250" t="-204444" r="-1389" b="-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BC2371CA-8B43-4239-B4C1-DCBC355E4E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3131996"/>
                  </p:ext>
                </p:extLst>
              </p:nvPr>
            </p:nvGraphicFramePr>
            <p:xfrm>
              <a:off x="2534583" y="4982093"/>
              <a:ext cx="2318860" cy="13716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5216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52160">
                      <a:extLst>
                        <a:ext uri="{9D8B030D-6E8A-4147-A177-3AD203B41FA5}">
                          <a16:colId xmlns:a16="http://schemas.microsoft.com/office/drawing/2014/main" val="1921489981"/>
                        </a:ext>
                      </a:extLst>
                    </a:gridCol>
                    <a:gridCol w="1614540">
                      <a:extLst>
                        <a:ext uri="{9D8B030D-6E8A-4147-A177-3AD203B41FA5}">
                          <a16:colId xmlns:a16="http://schemas.microsoft.com/office/drawing/2014/main" val="249873678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MX" sz="12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s-MX" sz="12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2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¬</m:t>
                                        </m:r>
                                        <m:r>
                                          <a:rPr lang="es-MX" sz="1200" b="1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𝒑</m:t>
                                        </m:r>
                                        <m:r>
                                          <a:rPr lang="es-MX" sz="12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∨</m:t>
                                        </m:r>
                                        <m:r>
                                          <m:rPr>
                                            <m:lit/>
                                          </m:rPr>
                                          <a:rPr lang="es-MX" sz="12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s-MX" sz="12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𝒒</m:t>
                                        </m:r>
                                      </m:e>
                                    </m:d>
                                    <m:r>
                                      <a:rPr lang="es-MX" sz="1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→¬</m:t>
                                    </m:r>
                                    <m:r>
                                      <a:rPr lang="es-MX" sz="1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</m:d>
                                <m:r>
                                  <a:rPr lang="es-MX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2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74887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91947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BC2371CA-8B43-4239-B4C1-DCBC355E4E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3131996"/>
                  </p:ext>
                </p:extLst>
              </p:nvPr>
            </p:nvGraphicFramePr>
            <p:xfrm>
              <a:off x="2534583" y="4982093"/>
              <a:ext cx="2318860" cy="13716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5216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52160">
                      <a:extLst>
                        <a:ext uri="{9D8B030D-6E8A-4147-A177-3AD203B41FA5}">
                          <a16:colId xmlns:a16="http://schemas.microsoft.com/office/drawing/2014/main" val="1921489981"/>
                        </a:ext>
                      </a:extLst>
                    </a:gridCol>
                    <a:gridCol w="1614540">
                      <a:extLst>
                        <a:ext uri="{9D8B030D-6E8A-4147-A177-3AD203B41FA5}">
                          <a16:colId xmlns:a16="http://schemas.microsoft.com/office/drawing/2014/main" val="2498736789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724" t="-2222" r="-56206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1724" t="-2222" r="-46206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3985" t="-2222" r="-752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724" t="-102222" r="-562069" b="-3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1724" t="-102222" r="-462069" b="-3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3985" t="-102222" r="-752" b="-3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724" t="-197826" r="-56206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1724" t="-197826" r="-46206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3985" t="-197826" r="-75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724" t="-304444" r="-562069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1724" t="-304444" r="-462069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3985" t="-304444" r="-752" b="-1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748879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724" t="-404444" r="-562069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1724" t="-404444" r="-462069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3985" t="-404444" r="-752" b="-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9194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8173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0"/>
            <a:ext cx="10993581" cy="1325563"/>
          </a:xfrm>
        </p:spPr>
        <p:txBody>
          <a:bodyPr/>
          <a:lstStyle/>
          <a:p>
            <a:r>
              <a:rPr lang="es-CO" dirty="0"/>
              <a:t>Equivalencia lógica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5"/>
                <a:ext cx="11471563" cy="7583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dirty="0">
                    <a:ea typeface="Roboto" panose="02000000000000000000" pitchFamily="2" charset="0"/>
                  </a:rPr>
                  <a:t>Dos proposiciones compuestas 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𝒑</m:t>
                    </m:r>
                  </m:oMath>
                </a14:m>
                <a:r>
                  <a:rPr lang="es-MX" sz="2000" dirty="0"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𝒒</m:t>
                    </m:r>
                  </m:oMath>
                </a14:m>
                <a:r>
                  <a:rPr lang="es-MX" sz="2000" dirty="0">
                    <a:ea typeface="Roboto" panose="02000000000000000000" pitchFamily="2" charset="0"/>
                  </a:rPr>
                  <a:t> son lógicamente equivalentes, o simplemente equivalentes, si 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𝒑</m:t>
                    </m:r>
                    <m:r>
                      <a:rPr lang="es-MX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s-MX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s-MX" sz="2000" dirty="0">
                    <a:ea typeface="Roboto" panose="02000000000000000000" pitchFamily="2" charset="0"/>
                  </a:rPr>
                  <a:t> es una tautología.</a:t>
                </a: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5"/>
                <a:ext cx="11471563" cy="758365"/>
              </a:xfrm>
              <a:blipFill>
                <a:blip r:embed="rId2"/>
                <a:stretch>
                  <a:fillRect l="-531" t="-8871" r="-58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30BA250-E803-4847-BACF-C2EA1E6FD9D4}"/>
                  </a:ext>
                </a:extLst>
              </p:cNvPr>
              <p:cNvSpPr txBox="1"/>
              <p:nvPr/>
            </p:nvSpPr>
            <p:spPr>
              <a:xfrm>
                <a:off x="360218" y="2044396"/>
                <a:ext cx="1133301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s-MX" sz="1800" b="1" dirty="0">
                    <a:solidFill>
                      <a:schemeClr val="accent5"/>
                    </a:solidFill>
                    <a:ea typeface="Roboto" panose="02000000000000000000" pitchFamily="2" charset="0"/>
                  </a:rPr>
                  <a:t>Notación</a:t>
                </a:r>
                <a:r>
                  <a:rPr lang="es-MX" sz="1800" dirty="0">
                    <a:solidFill>
                      <a:schemeClr val="accent5"/>
                    </a:solidFill>
                    <a:ea typeface="Roboto" panose="02000000000000000000" pitchFamily="2" charset="0"/>
                  </a:rPr>
                  <a:t>: </a:t>
                </a:r>
                <a:r>
                  <a:rPr lang="es-MX" sz="1800" dirty="0">
                    <a:ea typeface="Roboto" panose="02000000000000000000" pitchFamily="2" charset="0"/>
                  </a:rPr>
                  <a:t>Una equivalencia se puede escribir como </a:t>
                </a:r>
                <a14:m>
                  <m:oMath xmlns:m="http://schemas.openxmlformats.org/officeDocument/2006/math">
                    <m:r>
                      <a:rPr lang="es-MX" sz="1800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𝒑</m:t>
                    </m:r>
                    <m:r>
                      <a:rPr lang="es-MX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s-MX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s-MX" sz="1800" dirty="0">
                    <a:ea typeface="Roboto" panose="02000000000000000000" pitchFamily="2" charset="0"/>
                  </a:rPr>
                  <a:t> o como </a:t>
                </a:r>
                <a14:m>
                  <m:oMath xmlns:m="http://schemas.openxmlformats.org/officeDocument/2006/math">
                    <m:r>
                      <a:rPr lang="es-MX" sz="1800" b="1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𝒑</m:t>
                    </m:r>
                    <m:r>
                      <a:rPr lang="es-MX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s-MX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endParaRPr lang="es-MX" sz="1800" dirty="0"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30BA250-E803-4847-BACF-C2EA1E6FD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18" y="2044396"/>
                <a:ext cx="11333018" cy="369332"/>
              </a:xfrm>
              <a:prstGeom prst="rect">
                <a:avLst/>
              </a:prstGeom>
              <a:blipFill>
                <a:blip r:embed="rId3"/>
                <a:stretch>
                  <a:fillRect l="-430" t="-8197" b="-2459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Tabla 4">
                <a:extLst>
                  <a:ext uri="{FF2B5EF4-FFF2-40B4-BE49-F238E27FC236}">
                    <a16:creationId xmlns:a16="http://schemas.microsoft.com/office/drawing/2014/main" id="{91CDBF3D-6BC6-4487-B9EE-CA7F011018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6503272"/>
                  </p:ext>
                </p:extLst>
              </p:nvPr>
            </p:nvGraphicFramePr>
            <p:xfrm>
              <a:off x="526472" y="3055535"/>
              <a:ext cx="1721419" cy="914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17364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417364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86691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</a:tblGrid>
                  <a:tr h="1436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4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4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¬(¬</m:t>
                                </m:r>
                                <m:r>
                                  <a:rPr lang="es-MX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MX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4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1436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14362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Tabla 4">
                <a:extLst>
                  <a:ext uri="{FF2B5EF4-FFF2-40B4-BE49-F238E27FC236}">
                    <a16:creationId xmlns:a16="http://schemas.microsoft.com/office/drawing/2014/main" id="{91CDBF3D-6BC6-4487-B9EE-CA7F011018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6503272"/>
                  </p:ext>
                </p:extLst>
              </p:nvPr>
            </p:nvGraphicFramePr>
            <p:xfrm>
              <a:off x="526472" y="3055535"/>
              <a:ext cx="1721419" cy="914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17364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417364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86691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</a:tblGrid>
                  <a:tr h="1436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4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4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¬(¬</m:t>
                                </m:r>
                                <m:r>
                                  <a:rPr lang="es-MX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MX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400" b="1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1436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143629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" name="Tabla 4">
                <a:extLst>
                  <a:ext uri="{FF2B5EF4-FFF2-40B4-BE49-F238E27FC236}">
                    <a16:creationId xmlns:a16="http://schemas.microsoft.com/office/drawing/2014/main" id="{30EA6E2F-32B3-4B14-B99B-405B3A8C9E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0781086"/>
                  </p:ext>
                </p:extLst>
              </p:nvPr>
            </p:nvGraphicFramePr>
            <p:xfrm>
              <a:off x="4447304" y="2996610"/>
              <a:ext cx="5067791" cy="15240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77239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477239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477239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477239">
                      <a:extLst>
                        <a:ext uri="{9D8B030D-6E8A-4147-A177-3AD203B41FA5}">
                          <a16:colId xmlns:a16="http://schemas.microsoft.com/office/drawing/2014/main" val="1202042647"/>
                        </a:ext>
                      </a:extLst>
                    </a:gridCol>
                    <a:gridCol w="1052945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  <a:gridCol w="1052945">
                      <a:extLst>
                        <a:ext uri="{9D8B030D-6E8A-4147-A177-3AD203B41FA5}">
                          <a16:colId xmlns:a16="http://schemas.microsoft.com/office/drawing/2014/main" val="3636147316"/>
                        </a:ext>
                      </a:extLst>
                    </a:gridCol>
                    <a:gridCol w="1052945">
                      <a:extLst>
                        <a:ext uri="{9D8B030D-6E8A-4147-A177-3AD203B41FA5}">
                          <a16:colId xmlns:a16="http://schemas.microsoft.com/office/drawing/2014/main" val="1883770935"/>
                        </a:ext>
                      </a:extLst>
                    </a:gridCol>
                  </a:tblGrid>
                  <a:tr h="27985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MX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  <m:r>
                                      <a:rPr lang="es-MX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928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FF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FF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FF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FF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1764017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13389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" name="Tabla 4">
                <a:extLst>
                  <a:ext uri="{FF2B5EF4-FFF2-40B4-BE49-F238E27FC236}">
                    <a16:creationId xmlns:a16="http://schemas.microsoft.com/office/drawing/2014/main" id="{30EA6E2F-32B3-4B14-B99B-405B3A8C9E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0781086"/>
                  </p:ext>
                </p:extLst>
              </p:nvPr>
            </p:nvGraphicFramePr>
            <p:xfrm>
              <a:off x="4447304" y="2996610"/>
              <a:ext cx="5067791" cy="15240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77239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477239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477239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  <a:gridCol w="477239">
                      <a:extLst>
                        <a:ext uri="{9D8B030D-6E8A-4147-A177-3AD203B41FA5}">
                          <a16:colId xmlns:a16="http://schemas.microsoft.com/office/drawing/2014/main" val="1202042647"/>
                        </a:ext>
                      </a:extLst>
                    </a:gridCol>
                    <a:gridCol w="1052945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  <a:gridCol w="1052945">
                      <a:extLst>
                        <a:ext uri="{9D8B030D-6E8A-4147-A177-3AD203B41FA5}">
                          <a16:colId xmlns:a16="http://schemas.microsoft.com/office/drawing/2014/main" val="3636147316"/>
                        </a:ext>
                      </a:extLst>
                    </a:gridCol>
                    <a:gridCol w="1052945">
                      <a:extLst>
                        <a:ext uri="{9D8B030D-6E8A-4147-A177-3AD203B41FA5}">
                          <a16:colId xmlns:a16="http://schemas.microsoft.com/office/drawing/2014/main" val="1883770935"/>
                        </a:ext>
                      </a:extLst>
                    </a:gridCol>
                  </a:tblGrid>
                  <a:tr h="27985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MX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  <m:r>
                                      <a:rPr lang="es-MX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MX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928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FF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FF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FF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FF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1764017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13389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9D20B9EC-A42B-4415-A013-B61280368621}"/>
                  </a:ext>
                </a:extLst>
              </p:cNvPr>
              <p:cNvSpPr txBox="1"/>
              <p:nvPr/>
            </p:nvSpPr>
            <p:spPr>
              <a:xfrm>
                <a:off x="659662" y="2625853"/>
                <a:ext cx="1455040" cy="27699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smtClean="0"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lang="es-MX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1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s-MX" sz="1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s-MX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s-MX" sz="1800" b="1" i="1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s-CO" sz="1800" b="1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9D20B9EC-A42B-4415-A013-B61280368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62" y="2625853"/>
                <a:ext cx="1455040" cy="276999"/>
              </a:xfrm>
              <a:prstGeom prst="rect">
                <a:avLst/>
              </a:prstGeom>
              <a:blipFill>
                <a:blip r:embed="rId4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A38BFBEE-E724-4262-B3F0-1ABA54203674}"/>
                  </a:ext>
                </a:extLst>
              </p:cNvPr>
              <p:cNvSpPr txBox="1"/>
              <p:nvPr/>
            </p:nvSpPr>
            <p:spPr>
              <a:xfrm>
                <a:off x="5595746" y="2624923"/>
                <a:ext cx="2770909" cy="27699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lang="es-MX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s-MX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s-MX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s-MX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≢</m:t>
                      </m:r>
                      <m:r>
                        <a:rPr lang="es-MX" sz="1800" b="1" i="1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s-MX" sz="18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s-MX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s-MX" sz="1800" b="1" i="1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s-MX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s-CO" sz="1800" b="1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A38BFBEE-E724-4262-B3F0-1ABA54203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746" y="2624923"/>
                <a:ext cx="2770909" cy="276999"/>
              </a:xfrm>
              <a:prstGeom prst="rect">
                <a:avLst/>
              </a:prstGeom>
              <a:blipFill>
                <a:blip r:embed="rId5"/>
                <a:stretch>
                  <a:fillRect b="-2888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480D542D-6A6B-4714-90D8-C0F308F00E58}"/>
              </a:ext>
            </a:extLst>
          </p:cNvPr>
          <p:cNvSpPr txBox="1"/>
          <p:nvPr/>
        </p:nvSpPr>
        <p:spPr>
          <a:xfrm>
            <a:off x="526472" y="4986468"/>
            <a:ext cx="11166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Mediante el uso de tablas de verdad se demuestra si dos (o mas) proposiciones son equivalentes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¿Es practico? _____</a:t>
            </a:r>
          </a:p>
        </p:txBody>
      </p:sp>
    </p:spTree>
    <p:extLst>
      <p:ext uri="{BB962C8B-B14F-4D97-AF65-F5344CB8AC3E}">
        <p14:creationId xmlns:p14="http://schemas.microsoft.com/office/powerpoint/2010/main" val="738706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0"/>
            <a:ext cx="10993581" cy="1325563"/>
          </a:xfrm>
        </p:spPr>
        <p:txBody>
          <a:bodyPr/>
          <a:lstStyle/>
          <a:p>
            <a:r>
              <a:rPr lang="es-CO" dirty="0"/>
              <a:t>Algunas equivalencias lógicas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AA62499-0A79-4DB4-96F0-1187366C5807}"/>
              </a:ext>
            </a:extLst>
          </p:cNvPr>
          <p:cNvSpPr txBox="1"/>
          <p:nvPr/>
        </p:nvSpPr>
        <p:spPr>
          <a:xfrm>
            <a:off x="305879" y="1226923"/>
            <a:ext cx="11305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ea typeface="Roboto" panose="02000000000000000000" pitchFamily="2" charset="0"/>
              </a:rPr>
              <a:t>Ejemplos</a:t>
            </a:r>
            <a:r>
              <a:rPr lang="es-MX" sz="2000" dirty="0">
                <a:ea typeface="Roboto" panose="02000000000000000000" pitchFamily="2" charset="0"/>
              </a:rPr>
              <a:t>: Mediante el uso de tablas de verdad demostramos que las siguientes equivalencias eran validas: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714CE02-109B-4317-B705-48B5B2D92E9D}"/>
                  </a:ext>
                </a:extLst>
              </p:cNvPr>
              <p:cNvSpPr txBox="1"/>
              <p:nvPr/>
            </p:nvSpPr>
            <p:spPr>
              <a:xfrm>
                <a:off x="603472" y="2321219"/>
                <a:ext cx="143308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𝑝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𝑝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𝑞</m:t>
                      </m:r>
                    </m:oMath>
                  </m:oMathPara>
                </a14:m>
                <a:endParaRPr lang="es-CO" sz="16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714CE02-109B-4317-B705-48B5B2D92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72" y="2321219"/>
                <a:ext cx="1433085" cy="246221"/>
              </a:xfrm>
              <a:prstGeom prst="rect">
                <a:avLst/>
              </a:prstGeom>
              <a:blipFill>
                <a:blip r:embed="rId2"/>
                <a:stretch>
                  <a:fillRect l="-426" r="-2553" b="-25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1FF6CC6-30E5-49C4-8CFD-22CC1B2F26C7}"/>
                  </a:ext>
                </a:extLst>
              </p:cNvPr>
              <p:cNvSpPr txBox="1"/>
              <p:nvPr/>
            </p:nvSpPr>
            <p:spPr>
              <a:xfrm>
                <a:off x="4086384" y="2725839"/>
                <a:ext cx="183864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𝑝</m:t>
                          </m:r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s-MX" sz="1600" i="1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𝑝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s-MX" sz="1600" i="1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s-CO" sz="16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1FF6CC6-30E5-49C4-8CFD-22CC1B2F2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384" y="2725839"/>
                <a:ext cx="1838645" cy="246221"/>
              </a:xfrm>
              <a:prstGeom prst="rect">
                <a:avLst/>
              </a:prstGeom>
              <a:blipFill>
                <a:blip r:embed="rId3"/>
                <a:stretch>
                  <a:fillRect l="-331" r="-1656" b="-2195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E0D49F3-68CC-4CD1-A740-5F994B6AE03E}"/>
                  </a:ext>
                </a:extLst>
              </p:cNvPr>
              <p:cNvSpPr txBox="1"/>
              <p:nvPr/>
            </p:nvSpPr>
            <p:spPr>
              <a:xfrm>
                <a:off x="4086384" y="2332145"/>
                <a:ext cx="183864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𝑝</m:t>
                          </m:r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s-MX" sz="1600" i="1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𝑝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MX" sz="1600" i="1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s-CO" sz="160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E0D49F3-68CC-4CD1-A740-5F994B6AE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384" y="2332145"/>
                <a:ext cx="1838645" cy="246221"/>
              </a:xfrm>
              <a:prstGeom prst="rect">
                <a:avLst/>
              </a:prstGeom>
              <a:blipFill>
                <a:blip r:embed="rId4"/>
                <a:stretch>
                  <a:fillRect l="-331" r="-1656" b="-25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08A2D5F-2CD2-4D43-816C-22A571FA478C}"/>
                  </a:ext>
                </a:extLst>
              </p:cNvPr>
              <p:cNvSpPr txBox="1"/>
              <p:nvPr/>
            </p:nvSpPr>
            <p:spPr>
              <a:xfrm>
                <a:off x="7974856" y="2300789"/>
                <a:ext cx="22183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¬</m:t>
                      </m:r>
                      <m:r>
                        <a:rPr lang="es-MX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𝑝</m:t>
                      </m:r>
                      <m:r>
                        <a:rPr lang="es-MX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s-MX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𝑞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≡¬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𝑞</m:t>
                      </m:r>
                      <m:r>
                        <a:rPr lang="es-MX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𝑝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08A2D5F-2CD2-4D43-816C-22A571FA4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856" y="2300789"/>
                <a:ext cx="2218300" cy="276999"/>
              </a:xfrm>
              <a:prstGeom prst="rect">
                <a:avLst/>
              </a:prstGeom>
              <a:blipFill>
                <a:blip r:embed="rId5"/>
                <a:stretch>
                  <a:fillRect l="-275" r="-1923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uadroTexto 12">
            <a:extLst>
              <a:ext uri="{FF2B5EF4-FFF2-40B4-BE49-F238E27FC236}">
                <a16:creationId xmlns:a16="http://schemas.microsoft.com/office/drawing/2014/main" id="{9251405A-24D6-45CC-A74B-58C118E75E74}"/>
              </a:ext>
            </a:extLst>
          </p:cNvPr>
          <p:cNvSpPr txBox="1"/>
          <p:nvPr/>
        </p:nvSpPr>
        <p:spPr>
          <a:xfrm>
            <a:off x="305879" y="3429000"/>
            <a:ext cx="1130531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ea typeface="Roboto" panose="02000000000000000000" pitchFamily="2" charset="0"/>
              </a:rPr>
              <a:t>Para que usar equivalencias como las anteriores</a:t>
            </a:r>
            <a:r>
              <a:rPr lang="es-MX" sz="2000" dirty="0">
                <a:ea typeface="Roboto" panose="02000000000000000000" pitchFamily="2" charset="0"/>
              </a:rPr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ea typeface="Roboto" panose="02000000000000000000" pitchFamily="2" charset="0"/>
              </a:rPr>
              <a:t>Para hacer demostraciones.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ea typeface="Roboto" panose="02000000000000000000" pitchFamily="2" charset="0"/>
              </a:rPr>
              <a:t>Para simplificar expresiones lógicas.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ea typeface="Roboto" panose="02000000000000000000" pitchFamily="2" charset="0"/>
              </a:rPr>
              <a:t>Verificar la validez de argumentos.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ea typeface="Roboto" panose="02000000000000000000" pitchFamily="2" charset="0"/>
              </a:rPr>
              <a:t>Derivar nuevas proposiciones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56D673B-0894-4438-B6C2-178A26E825E8}"/>
              </a:ext>
            </a:extLst>
          </p:cNvPr>
          <p:cNvSpPr txBox="1"/>
          <p:nvPr/>
        </p:nvSpPr>
        <p:spPr>
          <a:xfrm>
            <a:off x="765645" y="1789460"/>
            <a:ext cx="1270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Implicación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A6F69C4-F29B-4AD5-ABD2-D5CE084DF32C}"/>
              </a:ext>
            </a:extLst>
          </p:cNvPr>
          <p:cNvSpPr txBox="1"/>
          <p:nvPr/>
        </p:nvSpPr>
        <p:spPr>
          <a:xfrm>
            <a:off x="4187005" y="1791500"/>
            <a:ext cx="1908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Leyes de Morgan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224ECE8-A5EC-4EA1-BCA2-EB7C3E4F5ACF}"/>
              </a:ext>
            </a:extLst>
          </p:cNvPr>
          <p:cNvSpPr txBox="1"/>
          <p:nvPr/>
        </p:nvSpPr>
        <p:spPr>
          <a:xfrm>
            <a:off x="8246448" y="1789460"/>
            <a:ext cx="1908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Contrarrecíproco</a:t>
            </a:r>
          </a:p>
        </p:txBody>
      </p:sp>
    </p:spTree>
    <p:extLst>
      <p:ext uri="{BB962C8B-B14F-4D97-AF65-F5344CB8AC3E}">
        <p14:creationId xmlns:p14="http://schemas.microsoft.com/office/powerpoint/2010/main" val="1106374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7" y="173513"/>
            <a:ext cx="10993581" cy="1325563"/>
          </a:xfrm>
        </p:spPr>
        <p:txBody>
          <a:bodyPr/>
          <a:lstStyle/>
          <a:p>
            <a:r>
              <a:rPr lang="es-CO" dirty="0"/>
              <a:t>Demostraciones - Contexto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523E4FC-0164-4994-8822-C965004E9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333" y="1228095"/>
            <a:ext cx="3001773" cy="24641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895ECEA-CAFC-4702-9191-B2A0A33DD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019" y="3899378"/>
            <a:ext cx="2438400" cy="271462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AD4D327-3589-49F3-8263-47FA45A0A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311" y="1762313"/>
            <a:ext cx="1809750" cy="43719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41BD50B-2B68-436C-80FD-A3E6522E3086}"/>
                  </a:ext>
                </a:extLst>
              </p:cNvPr>
              <p:cNvSpPr txBox="1"/>
              <p:nvPr/>
            </p:nvSpPr>
            <p:spPr>
              <a:xfrm>
                <a:off x="360217" y="1328659"/>
                <a:ext cx="5408474" cy="1188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2000" b="1" dirty="0">
                    <a:ea typeface="Roboto" panose="02000000000000000000" pitchFamily="2" charset="0"/>
                  </a:rPr>
                  <a:t>Ejemplo</a:t>
                </a:r>
                <a:r>
                  <a:rPr lang="es-MX" sz="2000" dirty="0">
                    <a:ea typeface="Roboto" panose="02000000000000000000" pitchFamily="2" charset="0"/>
                  </a:rPr>
                  <a:t>: Simplifique la siguiente expresión:</a:t>
                </a:r>
              </a:p>
              <a:p>
                <a:endParaRPr lang="es-MX" sz="2000" dirty="0">
                  <a:ea typeface="Roboto" panose="02000000000000000000" pitchFamily="2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fPr>
                      <m:num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  <m:sSup>
                          <m:sSup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p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sup>
                        </m:sSup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+7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𝑧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+3</m:t>
                        </m:r>
                      </m:num>
                      <m:den>
                        <m:sSup>
                          <m:sSup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p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sup>
                        </m:sSup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+9</m:t>
                        </m:r>
                      </m:den>
                    </m:f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−15+9</m:t>
                        </m:r>
                      </m:num>
                      <m:den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s-MX" sz="2000" dirty="0">
                    <a:ea typeface="Roboto" panose="02000000000000000000" pitchFamily="2" charset="0"/>
                  </a:rPr>
                  <a:t> </a:t>
                </a:r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41BD50B-2B68-436C-80FD-A3E6522E3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17" y="1328659"/>
                <a:ext cx="5408474" cy="1188018"/>
              </a:xfrm>
              <a:prstGeom prst="rect">
                <a:avLst/>
              </a:prstGeom>
              <a:blipFill>
                <a:blip r:embed="rId5"/>
                <a:stretch>
                  <a:fillRect l="-1127" t="-307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631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7" y="173513"/>
            <a:ext cx="10993581" cy="1325563"/>
          </a:xfrm>
        </p:spPr>
        <p:txBody>
          <a:bodyPr/>
          <a:lstStyle/>
          <a:p>
            <a:r>
              <a:rPr lang="es-CO" dirty="0"/>
              <a:t>Demostraciones - Contexto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41BD50B-2B68-436C-80FD-A3E6522E3086}"/>
                  </a:ext>
                </a:extLst>
              </p:cNvPr>
              <p:cNvSpPr txBox="1"/>
              <p:nvPr/>
            </p:nvSpPr>
            <p:spPr>
              <a:xfrm>
                <a:off x="360217" y="1328659"/>
                <a:ext cx="6567056" cy="1484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2000" b="1" dirty="0">
                    <a:ea typeface="Roboto" panose="02000000000000000000" pitchFamily="2" charset="0"/>
                  </a:rPr>
                  <a:t>Demuestre</a:t>
                </a:r>
                <a:r>
                  <a:rPr lang="es-MX" sz="2000" dirty="0">
                    <a:ea typeface="Roboto" panose="02000000000000000000" pitchFamily="2" charset="0"/>
                  </a:rPr>
                  <a:t>: Verifique la identidad:</a:t>
                </a:r>
              </a:p>
              <a:p>
                <a:endParaRPr lang="es-MX" sz="2000" dirty="0">
                  <a:ea typeface="Roboto" panose="02000000000000000000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MX" sz="1600" b="0" i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sec</m:t>
                              </m:r>
                            </m:fName>
                            <m:e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MX" sz="1600" b="0" i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s-MX" sz="16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MX" sz="1600" b="0" i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cot</m:t>
                              </m:r>
                            </m:fName>
                            <m:e>
                              <m:r>
                                <a:rPr lang="es-MX" sz="16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MX" sz="1600" b="0" i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s-MX" sz="16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MX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sec</m:t>
                              </m:r>
                            </m:e>
                            <m:sup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s-MX" sz="1600" dirty="0">
                  <a:ea typeface="Roboto" panose="02000000000000000000" pitchFamily="2" charset="0"/>
                </a:endParaRPr>
              </a:p>
              <a:p>
                <a:pPr algn="ctr"/>
                <a:endParaRPr lang="es-MX" sz="2000" dirty="0"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41BD50B-2B68-436C-80FD-A3E6522E3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17" y="1328659"/>
                <a:ext cx="6567056" cy="1484509"/>
              </a:xfrm>
              <a:prstGeom prst="rect">
                <a:avLst/>
              </a:prstGeom>
              <a:blipFill>
                <a:blip r:embed="rId2"/>
                <a:stretch>
                  <a:fillRect l="-929" t="-246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C7BD5A56-A037-49A5-A29E-72FB2F16B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535" y="1540229"/>
            <a:ext cx="1876425" cy="14923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F8D4168-2826-4576-AC30-B3E62436F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857" y="3229985"/>
            <a:ext cx="2573782" cy="14923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04BE929-1221-452D-9FA3-B68357128F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0322" y="4919741"/>
            <a:ext cx="2186852" cy="150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61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1"/>
            <a:ext cx="10993581" cy="1015664"/>
          </a:xfrm>
        </p:spPr>
        <p:txBody>
          <a:bodyPr/>
          <a:lstStyle/>
          <a:p>
            <a:r>
              <a:rPr lang="es-CO" dirty="0"/>
              <a:t>Demostraciones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AA62499-0A79-4DB4-96F0-1187366C5807}"/>
              </a:ext>
            </a:extLst>
          </p:cNvPr>
          <p:cNvSpPr txBox="1"/>
          <p:nvPr/>
        </p:nvSpPr>
        <p:spPr>
          <a:xfrm>
            <a:off x="360218" y="1122130"/>
            <a:ext cx="113053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000" dirty="0">
                <a:ea typeface="Roboto" panose="02000000000000000000" pitchFamily="2" charset="0"/>
              </a:rPr>
              <a:t>Para nuestro caso, las cosas no cambian demasiado con respecto a lo que ya sabemos. Solo cambia el dominio y las reglas de ese dominio.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000" dirty="0">
                <a:ea typeface="Roboto" panose="02000000000000000000" pitchFamily="2" charset="0"/>
              </a:rPr>
              <a:t>Identidades lógicas (Tabla que será nuestra </a:t>
            </a:r>
            <a:r>
              <a:rPr lang="es-MX" sz="2000" b="1" dirty="0">
                <a:ea typeface="Roboto" panose="02000000000000000000" pitchFamily="2" charset="0"/>
              </a:rPr>
              <a:t>fuente de verdad</a:t>
            </a:r>
            <a:r>
              <a:rPr lang="es-MX" sz="2000" dirty="0">
                <a:ea typeface="Roboto" panose="02000000000000000000" pitchFamily="2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a 3">
                <a:extLst>
                  <a:ext uri="{FF2B5EF4-FFF2-40B4-BE49-F238E27FC236}">
                    <a16:creationId xmlns:a16="http://schemas.microsoft.com/office/drawing/2014/main" id="{8B856B17-6589-4F1E-A049-8A5AF1216B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2864471"/>
                  </p:ext>
                </p:extLst>
              </p:nvPr>
            </p:nvGraphicFramePr>
            <p:xfrm>
              <a:off x="5048180" y="2137793"/>
              <a:ext cx="6908291" cy="42976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568140">
                      <a:extLst>
                        <a:ext uri="{9D8B030D-6E8A-4147-A177-3AD203B41FA5}">
                          <a16:colId xmlns:a16="http://schemas.microsoft.com/office/drawing/2014/main" val="2419793140"/>
                        </a:ext>
                      </a:extLst>
                    </a:gridCol>
                    <a:gridCol w="2610807">
                      <a:extLst>
                        <a:ext uri="{9D8B030D-6E8A-4147-A177-3AD203B41FA5}">
                          <a16:colId xmlns:a16="http://schemas.microsoft.com/office/drawing/2014/main" val="2761119023"/>
                        </a:ext>
                      </a:extLst>
                    </a:gridCol>
                    <a:gridCol w="2729344">
                      <a:extLst>
                        <a:ext uri="{9D8B030D-6E8A-4147-A177-3AD203B41FA5}">
                          <a16:colId xmlns:a16="http://schemas.microsoft.com/office/drawing/2014/main" val="180266477"/>
                        </a:ext>
                      </a:extLst>
                    </a:gridCol>
                  </a:tblGrid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Equivalencia lógica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526593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Conmutatividad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54515760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Asociatividad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3743916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Distributividad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7401643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Idempotencia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6818852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Doble negación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¬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49062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Leyes de Morgan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3060234"/>
                      </a:ext>
                    </a:extLst>
                  </a:tr>
                  <a:tr h="228517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Identidad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4965197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Dominación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485840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Absorción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2652958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Complemento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0911309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Implicación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→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3938044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Contrarrecíproco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→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5506134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Equivalencia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≡(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)∧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571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a 3">
                <a:extLst>
                  <a:ext uri="{FF2B5EF4-FFF2-40B4-BE49-F238E27FC236}">
                    <a16:creationId xmlns:a16="http://schemas.microsoft.com/office/drawing/2014/main" id="{8B856B17-6589-4F1E-A049-8A5AF1216B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2864471"/>
                  </p:ext>
                </p:extLst>
              </p:nvPr>
            </p:nvGraphicFramePr>
            <p:xfrm>
              <a:off x="5048180" y="2137793"/>
              <a:ext cx="6908291" cy="429768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568140">
                      <a:extLst>
                        <a:ext uri="{9D8B030D-6E8A-4147-A177-3AD203B41FA5}">
                          <a16:colId xmlns:a16="http://schemas.microsoft.com/office/drawing/2014/main" val="2419793140"/>
                        </a:ext>
                      </a:extLst>
                    </a:gridCol>
                    <a:gridCol w="2610807">
                      <a:extLst>
                        <a:ext uri="{9D8B030D-6E8A-4147-A177-3AD203B41FA5}">
                          <a16:colId xmlns:a16="http://schemas.microsoft.com/office/drawing/2014/main" val="2761119023"/>
                        </a:ext>
                      </a:extLst>
                    </a:gridCol>
                    <a:gridCol w="2729344">
                      <a:extLst>
                        <a:ext uri="{9D8B030D-6E8A-4147-A177-3AD203B41FA5}">
                          <a16:colId xmlns:a16="http://schemas.microsoft.com/office/drawing/2014/main" val="180266477"/>
                        </a:ext>
                      </a:extLst>
                    </a:gridCol>
                  </a:tblGrid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Equivalencia lógica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526593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Conmutatividad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54515760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Asociatividad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3743916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Distributividad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7401643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Idempotencia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6818852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Doble negación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¬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49062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Leyes de Morgan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3060234"/>
                      </a:ext>
                    </a:extLst>
                  </a:tr>
                  <a:tr h="228517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Identidad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4965197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Dominación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485840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Absorción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2652958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Complemento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0911309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Implicación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→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3938044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Contrarrecíproco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→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→¬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5506134"/>
                      </a:ext>
                    </a:extLst>
                  </a:tr>
                  <a:tr h="21358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Equivalencia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≡(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)∧</m:t>
                                </m:r>
                                <m:d>
                                  <m:d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5713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Imagen 6">
            <a:extLst>
              <a:ext uri="{FF2B5EF4-FFF2-40B4-BE49-F238E27FC236}">
                <a16:creationId xmlns:a16="http://schemas.microsoft.com/office/drawing/2014/main" id="{AF11A50A-AB96-4CB0-BE85-CD161F158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45" y="2707763"/>
            <a:ext cx="4480144" cy="286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717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26581"/>
            <a:ext cx="10993581" cy="1015664"/>
          </a:xfrm>
        </p:spPr>
        <p:txBody>
          <a:bodyPr/>
          <a:lstStyle/>
          <a:p>
            <a:r>
              <a:rPr lang="es-CO" dirty="0"/>
              <a:t>Demostraciones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AA62499-0A79-4DB4-96F0-1187366C5807}"/>
              </a:ext>
            </a:extLst>
          </p:cNvPr>
          <p:cNvSpPr txBox="1"/>
          <p:nvPr/>
        </p:nvSpPr>
        <p:spPr>
          <a:xfrm>
            <a:off x="360218" y="1122130"/>
            <a:ext cx="113053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000" dirty="0">
                <a:ea typeface="Roboto" panose="02000000000000000000" pitchFamily="2" charset="0"/>
              </a:rPr>
              <a:t>Para nuestro caso, las cosas no cambian demasiado con respecto a lo que ya sabemos. Solo cambia el dominio y las reglas de ese dominio.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000" dirty="0">
                <a:ea typeface="Roboto" panose="02000000000000000000" pitchFamily="2" charset="0"/>
              </a:rPr>
              <a:t>Identidades lógicas (Viene a ser el equivalente a nuestra carta magna)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DDBE47A-9E26-4855-BFEC-780A96F342D5}"/>
              </a:ext>
            </a:extLst>
          </p:cNvPr>
          <p:cNvSpPr txBox="1"/>
          <p:nvPr/>
        </p:nvSpPr>
        <p:spPr>
          <a:xfrm>
            <a:off x="5053442" y="3990213"/>
            <a:ext cx="2535382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/>
              <a:t>Demostración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0D18EE-C7E7-4E68-AB4F-6DDC19F3C333}"/>
              </a:ext>
            </a:extLst>
          </p:cNvPr>
          <p:cNvSpPr txBox="1"/>
          <p:nvPr/>
        </p:nvSpPr>
        <p:spPr>
          <a:xfrm>
            <a:off x="8998527" y="3089852"/>
            <a:ext cx="235527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Enfoque Axiomático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56286FF-C217-4120-B681-AAAC4E7D2540}"/>
              </a:ext>
            </a:extLst>
          </p:cNvPr>
          <p:cNvSpPr txBox="1"/>
          <p:nvPr/>
        </p:nvSpPr>
        <p:spPr>
          <a:xfrm>
            <a:off x="8998527" y="4989032"/>
            <a:ext cx="235527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Enfoque Basado en modelos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79E6209-1BA3-4576-8282-10C6B8E96120}"/>
              </a:ext>
            </a:extLst>
          </p:cNvPr>
          <p:cNvSpPr txBox="1"/>
          <p:nvPr/>
        </p:nvSpPr>
        <p:spPr>
          <a:xfrm>
            <a:off x="1724889" y="3028890"/>
            <a:ext cx="1901534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Equivalencia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0650F18-5FD9-4A15-8269-5651D3AB4F84}"/>
              </a:ext>
            </a:extLst>
          </p:cNvPr>
          <p:cNvSpPr txBox="1"/>
          <p:nvPr/>
        </p:nvSpPr>
        <p:spPr>
          <a:xfrm>
            <a:off x="1724888" y="5119724"/>
            <a:ext cx="1901535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Validez</a:t>
            </a:r>
          </a:p>
        </p:txBody>
      </p: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2CADB8DB-1EB0-4945-856A-F4E8E6AA4664}"/>
              </a:ext>
            </a:extLst>
          </p:cNvPr>
          <p:cNvCxnSpPr>
            <a:cxnSpLocks/>
            <a:stCxn id="3" idx="1"/>
            <a:endCxn id="12" idx="3"/>
          </p:cNvCxnSpPr>
          <p:nvPr/>
        </p:nvCxnSpPr>
        <p:spPr>
          <a:xfrm rot="10800000" flipV="1">
            <a:off x="3626424" y="4251823"/>
            <a:ext cx="1427019" cy="106795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2D4294A9-A916-441B-895B-92E69ABAAFC0}"/>
              </a:ext>
            </a:extLst>
          </p:cNvPr>
          <p:cNvCxnSpPr>
            <a:cxnSpLocks/>
            <a:stCxn id="3" idx="1"/>
            <a:endCxn id="11" idx="3"/>
          </p:cNvCxnSpPr>
          <p:nvPr/>
        </p:nvCxnSpPr>
        <p:spPr>
          <a:xfrm rot="10800000">
            <a:off x="3626424" y="3228945"/>
            <a:ext cx="1427019" cy="102287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E1E755EF-B95B-4F08-B265-1F1747DD8DD4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 flipV="1">
            <a:off x="7588824" y="3274518"/>
            <a:ext cx="1409703" cy="97730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14E11DA7-C269-4A21-B228-5311BE906572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7588824" y="4251823"/>
            <a:ext cx="1409703" cy="106037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D43B1F2-E879-471E-87F0-782FC0ECA421}"/>
              </a:ext>
            </a:extLst>
          </p:cNvPr>
          <p:cNvSpPr txBox="1"/>
          <p:nvPr/>
        </p:nvSpPr>
        <p:spPr>
          <a:xfrm>
            <a:off x="9752335" y="3559325"/>
            <a:ext cx="160146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CO" dirty="0"/>
              <a:t>Tablas de verdad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CC61D66-EB50-4F13-BC33-AB41E5DC09AF}"/>
              </a:ext>
            </a:extLst>
          </p:cNvPr>
          <p:cNvSpPr txBox="1"/>
          <p:nvPr/>
        </p:nvSpPr>
        <p:spPr>
          <a:xfrm>
            <a:off x="9421475" y="5766054"/>
            <a:ext cx="1932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CO" dirty="0"/>
              <a:t>Tabla de identidades</a:t>
            </a:r>
          </a:p>
        </p:txBody>
      </p:sp>
      <p:sp>
        <p:nvSpPr>
          <p:cNvPr id="37" name="Explosión: 14 puntos 36">
            <a:extLst>
              <a:ext uri="{FF2B5EF4-FFF2-40B4-BE49-F238E27FC236}">
                <a16:creationId xmlns:a16="http://schemas.microsoft.com/office/drawing/2014/main" id="{9BB0D624-A274-4030-B154-B48D4C2B9244}"/>
              </a:ext>
            </a:extLst>
          </p:cNvPr>
          <p:cNvSpPr/>
          <p:nvPr/>
        </p:nvSpPr>
        <p:spPr>
          <a:xfrm>
            <a:off x="330310" y="2678984"/>
            <a:ext cx="1281541" cy="1191067"/>
          </a:xfrm>
          <a:prstGeom prst="irregularSeal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b="1" dirty="0">
                <a:solidFill>
                  <a:srgbClr val="FF0000"/>
                </a:solidFill>
              </a:rPr>
              <a:t>Esta clase</a:t>
            </a:r>
          </a:p>
        </p:txBody>
      </p:sp>
    </p:spTree>
    <p:extLst>
      <p:ext uri="{BB962C8B-B14F-4D97-AF65-F5344CB8AC3E}">
        <p14:creationId xmlns:p14="http://schemas.microsoft.com/office/powerpoint/2010/main" val="11062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486" y="226580"/>
            <a:ext cx="11471563" cy="1325563"/>
          </a:xfrm>
        </p:spPr>
        <p:txBody>
          <a:bodyPr/>
          <a:lstStyle/>
          <a:p>
            <a:r>
              <a:rPr lang="es-CO" dirty="0"/>
              <a:t>Demostración - Enfoque basado en modelos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745173"/>
                <a:ext cx="11471563" cy="4152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b="1" i="0" dirty="0">
                    <a:effectLst/>
                  </a:rPr>
                  <a:t>Repaso</a:t>
                </a:r>
                <a:r>
                  <a:rPr lang="es-MX" sz="2000" b="0" i="0" dirty="0">
                    <a:effectLst/>
                  </a:rPr>
                  <a:t>: Demostrar que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s-MX" sz="2000" b="0" i="0" dirty="0">
                  <a:effectLst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745173"/>
                <a:ext cx="11471563" cy="415202"/>
              </a:xfrm>
              <a:blipFill>
                <a:blip r:embed="rId2"/>
                <a:stretch>
                  <a:fillRect l="-531" t="-14706" b="-1470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Marcador de contenido 2">
                <a:extLst>
                  <a:ext uri="{FF2B5EF4-FFF2-40B4-BE49-F238E27FC236}">
                    <a16:creationId xmlns:a16="http://schemas.microsoft.com/office/drawing/2014/main" id="{2360356B-BEE7-4FE7-B045-24A9AEFB93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0218" y="2289900"/>
                <a:ext cx="11471563" cy="157898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s-MX" sz="2000" b="1" dirty="0"/>
                  <a:t>Solución</a:t>
                </a:r>
                <a:r>
                  <a:rPr lang="es-MX" sz="2000" dirty="0"/>
                  <a:t>:</a:t>
                </a:r>
              </a:p>
              <a:p>
                <a:r>
                  <a:rPr lang="es-MX" sz="2000" dirty="0"/>
                  <a:t>Variables: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dirty="0"/>
                  <a:t>,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s-MX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s-MX" sz="1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MX" sz="1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endParaRPr lang="es-MX" sz="1800" dirty="0"/>
              </a:p>
              <a:p>
                <a:r>
                  <a:rPr lang="es-MX" sz="2000" dirty="0"/>
                  <a:t>Numero de filas: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MX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s-MX" sz="1600" dirty="0"/>
              </a:p>
            </p:txBody>
          </p:sp>
        </mc:Choice>
        <mc:Fallback>
          <p:sp>
            <p:nvSpPr>
              <p:cNvPr id="7" name="Marcador de contenido 2">
                <a:extLst>
                  <a:ext uri="{FF2B5EF4-FFF2-40B4-BE49-F238E27FC236}">
                    <a16:creationId xmlns:a16="http://schemas.microsoft.com/office/drawing/2014/main" id="{2360356B-BEE7-4FE7-B045-24A9AEFB9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18" y="2289900"/>
                <a:ext cx="11471563" cy="1578984"/>
              </a:xfrm>
              <a:prstGeom prst="rect">
                <a:avLst/>
              </a:prstGeom>
              <a:blipFill>
                <a:blip r:embed="rId3"/>
                <a:stretch>
                  <a:fillRect l="-478" t="-656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a 4">
                <a:extLst>
                  <a:ext uri="{FF2B5EF4-FFF2-40B4-BE49-F238E27FC236}">
                    <a16:creationId xmlns:a16="http://schemas.microsoft.com/office/drawing/2014/main" id="{A527C4A8-B9DF-4F2B-9959-665A86DB83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2226897"/>
                  </p:ext>
                </p:extLst>
              </p:nvPr>
            </p:nvGraphicFramePr>
            <p:xfrm>
              <a:off x="2098963" y="4073236"/>
              <a:ext cx="2286001" cy="15240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8100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524001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</a:tblGrid>
                  <a:tr h="27985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𝑸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𝑷</m:t>
                                    </m:r>
                                    <m: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928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1764017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13389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a 4">
                <a:extLst>
                  <a:ext uri="{FF2B5EF4-FFF2-40B4-BE49-F238E27FC236}">
                    <a16:creationId xmlns:a16="http://schemas.microsoft.com/office/drawing/2014/main" id="{A527C4A8-B9DF-4F2B-9959-665A86DB83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2226897"/>
                  </p:ext>
                </p:extLst>
              </p:nvPr>
            </p:nvGraphicFramePr>
            <p:xfrm>
              <a:off x="2098963" y="4073236"/>
              <a:ext cx="2286001" cy="15240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8100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524001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</a:tblGrid>
                  <a:tr h="27985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𝑸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𝑷</m:t>
                                    </m:r>
                                    <m: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928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1764017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13389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a 4">
                <a:extLst>
                  <a:ext uri="{FF2B5EF4-FFF2-40B4-BE49-F238E27FC236}">
                    <a16:creationId xmlns:a16="http://schemas.microsoft.com/office/drawing/2014/main" id="{98E1D196-E0BB-4743-B4D6-A67F7ACB96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3721481"/>
                  </p:ext>
                </p:extLst>
              </p:nvPr>
            </p:nvGraphicFramePr>
            <p:xfrm>
              <a:off x="6047507" y="4073236"/>
              <a:ext cx="4185713" cy="15240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87061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8706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663511">
                      <a:extLst>
                        <a:ext uri="{9D8B030D-6E8A-4147-A177-3AD203B41FA5}">
                          <a16:colId xmlns:a16="http://schemas.microsoft.com/office/drawing/2014/main" val="3144753678"/>
                        </a:ext>
                      </a:extLst>
                    </a:gridCol>
                    <a:gridCol w="1199833">
                      <a:extLst>
                        <a:ext uri="{9D8B030D-6E8A-4147-A177-3AD203B41FA5}">
                          <a16:colId xmlns:a16="http://schemas.microsoft.com/office/drawing/2014/main" val="2593877112"/>
                        </a:ext>
                      </a:extLst>
                    </a:gridCol>
                    <a:gridCol w="1548247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</a:tblGrid>
                  <a:tr h="2007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𝑸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𝑷</m:t>
                                </m:r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𝑸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400" b="1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1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𝑷</m:t>
                                    </m:r>
                                    <m: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𝑷</m:t>
                                    </m:r>
                                    <m: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928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s-CO" sz="1400" b="1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s-CO" sz="1400" b="1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s-CO" sz="1400" b="1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1764017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s-CO" sz="1400" b="1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13389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a 4">
                <a:extLst>
                  <a:ext uri="{FF2B5EF4-FFF2-40B4-BE49-F238E27FC236}">
                    <a16:creationId xmlns:a16="http://schemas.microsoft.com/office/drawing/2014/main" id="{98E1D196-E0BB-4743-B4D6-A67F7ACB96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3721481"/>
                  </p:ext>
                </p:extLst>
              </p:nvPr>
            </p:nvGraphicFramePr>
            <p:xfrm>
              <a:off x="6047507" y="4073236"/>
              <a:ext cx="4185713" cy="15240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87061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38706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663511">
                      <a:extLst>
                        <a:ext uri="{9D8B030D-6E8A-4147-A177-3AD203B41FA5}">
                          <a16:colId xmlns:a16="http://schemas.microsoft.com/office/drawing/2014/main" val="3144753678"/>
                        </a:ext>
                      </a:extLst>
                    </a:gridCol>
                    <a:gridCol w="1199833">
                      <a:extLst>
                        <a:ext uri="{9D8B030D-6E8A-4147-A177-3AD203B41FA5}">
                          <a16:colId xmlns:a16="http://schemas.microsoft.com/office/drawing/2014/main" val="2593877112"/>
                        </a:ext>
                      </a:extLst>
                    </a:gridCol>
                    <a:gridCol w="1548247">
                      <a:extLst>
                        <a:ext uri="{9D8B030D-6E8A-4147-A177-3AD203B41FA5}">
                          <a16:colId xmlns:a16="http://schemas.microsoft.com/office/drawing/2014/main" val="1121803805"/>
                        </a:ext>
                      </a:extLst>
                    </a:gridCol>
                  </a:tblGrid>
                  <a:tr h="2007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𝑸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𝑷</m:t>
                                </m:r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𝑸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400" b="1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1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𝑷</m:t>
                                    </m:r>
                                    <m: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𝑷</m:t>
                                    </m:r>
                                    <m: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4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4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928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s-CO" sz="1400" b="1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s-CO" sz="1400" b="1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s-CO" sz="1400" b="1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1764017"/>
                      </a:ext>
                    </a:extLst>
                  </a:tr>
                  <a:tr h="279855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4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s-CO" sz="1400" b="1" dirty="0">
                            <a:solidFill>
                              <a:srgbClr val="00B05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13389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61D7FD3B-C991-4EAD-95CE-68193207EEFC}"/>
              </a:ext>
            </a:extLst>
          </p:cNvPr>
          <p:cNvSpPr/>
          <p:nvPr/>
        </p:nvSpPr>
        <p:spPr>
          <a:xfrm>
            <a:off x="4932219" y="4734225"/>
            <a:ext cx="678872" cy="26323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E65716E-E9D7-4E5C-AF20-D76D050CE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1091" y="1552143"/>
            <a:ext cx="5231080" cy="108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583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4796"/>
            <a:ext cx="10515600" cy="1325563"/>
          </a:xfrm>
        </p:spPr>
        <p:txBody>
          <a:bodyPr/>
          <a:lstStyle/>
          <a:p>
            <a:r>
              <a:rPr lang="es-CO" dirty="0"/>
              <a:t>Demostración - Enfoque Axiomático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8165" y="1042912"/>
                <a:ext cx="11715667" cy="22533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i="0" dirty="0">
                    <a:effectLst/>
                  </a:rPr>
                  <a:t>El objetivo consiste en demostrar la equivalencia mediante un proceso deductivo que hace uso de Axiomas (Identidades lógicas) (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effectLst/>
                        <a:latin typeface="Cambria Math" panose="02040503050406030204" pitchFamily="18" charset="0"/>
                      </a:rPr>
                      <m:t>𝑨</m:t>
                    </m:r>
                    <m:r>
                      <a:rPr lang="es-MX" sz="2000" b="1" i="1" smtClean="0">
                        <a:effectLst/>
                        <a:latin typeface="Cambria Math" panose="02040503050406030204" pitchFamily="18" charset="0"/>
                      </a:rPr>
                      <m:t>≡</m:t>
                    </m:r>
                    <m:r>
                      <a:rPr lang="es-MX" sz="2000" b="1" i="1" smtClean="0">
                        <a:effectLst/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s-MX" sz="2000" i="0" dirty="0">
                    <a:effectLst/>
                  </a:rPr>
                  <a:t>).</a:t>
                </a:r>
              </a:p>
              <a:p>
                <a:r>
                  <a:rPr lang="es-MX" sz="2000" b="0" i="0" dirty="0">
                    <a:effectLst/>
                  </a:rPr>
                  <a:t>Se parte de un lado de la expresión lógica inicial (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effectLst/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s-MX" sz="2000" b="0" i="0" dirty="0">
                    <a:effectLst/>
                  </a:rPr>
                  <a:t> o viceversa)</a:t>
                </a:r>
              </a:p>
              <a:p>
                <a:r>
                  <a:rPr lang="es-MX" sz="2000" dirty="0"/>
                  <a:t>Mediante el uso de identidades lógicas se transforma la expresión inicial en expresiones equivalentes hasta llegar a la expresión del lado opuesto (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effectLst/>
                        <a:latin typeface="Cambria Math" panose="02040503050406030204" pitchFamily="18" charset="0"/>
                      </a:rPr>
                      <m:t>𝑨</m:t>
                    </m:r>
                    <m:r>
                      <a:rPr lang="es-MX" sz="2000" b="1" i="1" smtClean="0">
                        <a:effectLst/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s-MX" sz="20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 smtClean="0">
                            <a:effectLst/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s-MX" sz="2000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s-MX" sz="2000" b="1" i="1" smtClean="0">
                        <a:effectLst/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s-MX" sz="20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 smtClean="0">
                            <a:effectLst/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s-MX" sz="2000" b="1" i="1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s-MX" sz="2000" b="1" i="1" smtClean="0">
                        <a:effectLst/>
                        <a:latin typeface="Cambria Math" panose="02040503050406030204" pitchFamily="18" charset="0"/>
                      </a:rPr>
                      <m:t>→…→</m:t>
                    </m:r>
                    <m:sSub>
                      <m:sSubPr>
                        <m:ctrlPr>
                          <a:rPr lang="es-MX" sz="20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 smtClean="0">
                            <a:effectLst/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s-MX" sz="2000" b="1" i="1" smtClean="0"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s-MX" sz="2000" b="1" dirty="0"/>
                  <a:t> </a:t>
                </a:r>
                <a14:m>
                  <m:oMath xmlns:m="http://schemas.openxmlformats.org/officeDocument/2006/math">
                    <m:r>
                      <a:rPr lang="es-MX" sz="2000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s-MX" sz="2000" dirty="0"/>
                  <a:t>) </a:t>
                </a:r>
              </a:p>
              <a:p>
                <a:r>
                  <a:rPr lang="es-MX" sz="2000" b="0" i="0" dirty="0">
                    <a:effectLst/>
                  </a:rPr>
                  <a:t>Cuando de llega a la expresión del otro lado se ha logrado demostrar que 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effectLst/>
                        <a:latin typeface="Cambria Math" panose="02040503050406030204" pitchFamily="18" charset="0"/>
                      </a:rPr>
                      <m:t>𝑨</m:t>
                    </m:r>
                    <m:r>
                      <a:rPr lang="es-MX" sz="2000" b="1" i="1" smtClean="0">
                        <a:effectLst/>
                        <a:latin typeface="Cambria Math" panose="02040503050406030204" pitchFamily="18" charset="0"/>
                      </a:rPr>
                      <m:t>≡</m:t>
                    </m:r>
                    <m:r>
                      <a:rPr lang="es-MX" sz="2000" b="1" i="1" smtClean="0">
                        <a:effectLst/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s-MX" sz="2000" b="0" i="0" dirty="0">
                    <a:effectLst/>
                  </a:rPr>
                  <a:t> y por tanto el proceso acaba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165" y="1042912"/>
                <a:ext cx="11715667" cy="2253336"/>
              </a:xfrm>
              <a:blipFill>
                <a:blip r:embed="rId2"/>
                <a:stretch>
                  <a:fillRect l="-520" t="-2703" r="-5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upo 15">
            <a:extLst>
              <a:ext uri="{FF2B5EF4-FFF2-40B4-BE49-F238E27FC236}">
                <a16:creationId xmlns:a16="http://schemas.microsoft.com/office/drawing/2014/main" id="{C02F86B9-91A5-4D08-92A0-59FE33D98514}"/>
              </a:ext>
            </a:extLst>
          </p:cNvPr>
          <p:cNvGrpSpPr/>
          <p:nvPr/>
        </p:nvGrpSpPr>
        <p:grpSpPr>
          <a:xfrm>
            <a:off x="1113971" y="3942582"/>
            <a:ext cx="3614055" cy="1754326"/>
            <a:chOff x="838199" y="4060762"/>
            <a:chExt cx="3614055" cy="1754326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BBBCB054-BC53-4610-B73B-441346BACC40}"/>
                </a:ext>
              </a:extLst>
            </p:cNvPr>
            <p:cNvGrpSpPr/>
            <p:nvPr/>
          </p:nvGrpSpPr>
          <p:grpSpPr>
            <a:xfrm>
              <a:off x="838199" y="4060762"/>
              <a:ext cx="1132114" cy="1754326"/>
              <a:chOff x="1059544" y="4002705"/>
              <a:chExt cx="1132114" cy="1754326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CuadroTexto 5">
                    <a:extLst>
                      <a:ext uri="{FF2B5EF4-FFF2-40B4-BE49-F238E27FC236}">
                        <a16:creationId xmlns:a16="http://schemas.microsoft.com/office/drawing/2014/main" id="{ED20F18C-E455-426E-A83B-217DBCC463B3}"/>
                      </a:ext>
                    </a:extLst>
                  </p:cNvPr>
                  <p:cNvSpPr txBox="1"/>
                  <p:nvPr/>
                </p:nvSpPr>
                <p:spPr>
                  <a:xfrm>
                    <a:off x="1059544" y="4002705"/>
                    <a:ext cx="1132114" cy="175432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 xmlns:m="http://schemas.openxmlformats.org/officeDocument/2006/math">
                        <m:r>
                          <a:rPr lang="es-MX" sz="18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MX" sz="1800" b="0" i="1" smtClean="0">
                            <a:effectLst/>
                            <a:latin typeface="Cambria Math" panose="02040503050406030204" pitchFamily="18" charset="0"/>
                          </a:rPr>
                          <m:t>≡</m:t>
                        </m:r>
                        <m:sSub>
                          <m:sSubPr>
                            <m:ctrlPr>
                              <a:rPr lang="es-MX" sz="1800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1800" b="0" i="1" smtClean="0">
                                <a:effectLst/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MX" sz="1800" b="0" i="1" smtClean="0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lang="es-MX" sz="1800" b="0" i="0" dirty="0">
                        <a:effectLst/>
                      </a:rPr>
                      <a:t> </a:t>
                    </a:r>
                    <a:endParaRPr lang="es-MX" i="1" dirty="0">
                      <a:latin typeface="Cambria Math" panose="02040503050406030204" pitchFamily="18" charset="0"/>
                    </a:endParaRPr>
                  </a:p>
                  <a:p>
                    <a:pPr/>
                    <a:r>
                      <a:rPr lang="es-MX" dirty="0"/>
                      <a:t>    </a:t>
                    </a:r>
                    <a14:m>
                      <m:oMath xmlns:m="http://schemas.openxmlformats.org/officeDocument/2006/math">
                        <m:r>
                          <a:rPr lang="es-MX" i="1">
                            <a:latin typeface="Cambria Math" panose="02040503050406030204" pitchFamily="18" charset="0"/>
                          </a:rPr>
                          <m:t>≡</m:t>
                        </m:r>
                        <m:sSub>
                          <m:sSub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s-MX" dirty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⋮</m:t>
                          </m:r>
                        </m:oMath>
                      </m:oMathPara>
                    </a14:m>
                    <a:endParaRPr lang="es-MX" dirty="0"/>
                  </a:p>
                  <a:p>
                    <a:pPr/>
                    <a:r>
                      <a:rPr lang="es-MX" sz="1800" b="0" dirty="0">
                        <a:effectLst/>
                      </a:rPr>
                      <a:t>    </a:t>
                    </a:r>
                    <a14:m>
                      <m:oMath xmlns:m="http://schemas.openxmlformats.org/officeDocument/2006/math">
                        <m:r>
                          <a:rPr lang="es-MX" sz="1800" b="0" i="1" smtClean="0">
                            <a:effectLst/>
                            <a:latin typeface="Cambria Math" panose="02040503050406030204" pitchFamily="18" charset="0"/>
                          </a:rPr>
                          <m:t>≡</m:t>
                        </m:r>
                        <m:sSub>
                          <m:sSubPr>
                            <m:ctrlPr>
                              <a:rPr lang="es-MX" sz="1800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1800" b="0" i="1" smtClean="0">
                                <a:effectLst/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MX" sz="18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a14:m>
                    <a:endParaRPr lang="es-MX" sz="1800" b="0" i="0" dirty="0">
                      <a:effectLst/>
                    </a:endParaRPr>
                  </a:p>
                  <a:p>
                    <a:pPr/>
                    <a:r>
                      <a:rPr lang="es-MX" sz="1800" b="0" dirty="0">
                        <a:effectLst/>
                      </a:rPr>
                      <a:t>    </a:t>
                    </a:r>
                    <a14:m>
                      <m:oMath xmlns:m="http://schemas.openxmlformats.org/officeDocument/2006/math">
                        <m:r>
                          <a:rPr lang="es-MX" sz="1800" b="0" i="1" smtClean="0">
                            <a:effectLst/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s-MX" sz="1800" b="0" i="1" smtClean="0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  <a:endParaRPr lang="es-MX" sz="1800" b="0" i="1" dirty="0">
                      <a:effectLst/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 xmlns:m="http://schemas.openxmlformats.org/officeDocument/2006/math">
                        <m:r>
                          <a:rPr lang="es-MX" sz="18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MX" sz="1800" b="0" i="1" smtClean="0">
                            <a:effectLst/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s-MX" sz="1800" b="0" i="1" smtClean="0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  <a:r>
                      <a:rPr lang="es-MX" sz="1800" b="0" i="0" dirty="0">
                        <a:effectLst/>
                      </a:rPr>
                      <a:t> </a:t>
                    </a:r>
                    <a:endParaRPr lang="es-CO" dirty="0"/>
                  </a:p>
                </p:txBody>
              </p:sp>
            </mc:Choice>
            <mc:Fallback>
              <p:sp>
                <p:nvSpPr>
                  <p:cNvPr id="6" name="CuadroTexto 5">
                    <a:extLst>
                      <a:ext uri="{FF2B5EF4-FFF2-40B4-BE49-F238E27FC236}">
                        <a16:creationId xmlns:a16="http://schemas.microsoft.com/office/drawing/2014/main" id="{ED20F18C-E455-426E-A83B-217DBCC463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9544" y="4002705"/>
                    <a:ext cx="1132114" cy="175432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" name="Conector recto 7">
                <a:extLst>
                  <a:ext uri="{FF2B5EF4-FFF2-40B4-BE49-F238E27FC236}">
                    <a16:creationId xmlns:a16="http://schemas.microsoft.com/office/drawing/2014/main" id="{9BB073AF-3508-4461-A0ED-B84C793D8A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9544" y="5413829"/>
                <a:ext cx="113211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95FA1C46-198A-44F1-9454-0256D6DF2DB9}"/>
                </a:ext>
              </a:extLst>
            </p:cNvPr>
            <p:cNvCxnSpPr>
              <a:cxnSpLocks/>
            </p:cNvCxnSpPr>
            <p:nvPr/>
          </p:nvCxnSpPr>
          <p:spPr>
            <a:xfrm>
              <a:off x="2144483" y="4296228"/>
              <a:ext cx="0" cy="1074058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BC21B85B-6A52-40A7-9B04-B980352980AF}"/>
                </a:ext>
              </a:extLst>
            </p:cNvPr>
            <p:cNvSpPr txBox="1"/>
            <p:nvPr/>
          </p:nvSpPr>
          <p:spPr>
            <a:xfrm>
              <a:off x="2318654" y="4417758"/>
              <a:ext cx="21336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600" dirty="0">
                  <a:solidFill>
                    <a:schemeClr val="accent2"/>
                  </a:solidFill>
                </a:rPr>
                <a:t>Transformaciones usando axiomas (Identidades Lógicas)</a:t>
              </a:r>
            </a:p>
          </p:txBody>
        </p:sp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DD87AC11-DF53-49C5-B9A8-0BD088123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185" y="3296248"/>
            <a:ext cx="5057181" cy="320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95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4796"/>
            <a:ext cx="10515600" cy="1325563"/>
          </a:xfrm>
        </p:spPr>
        <p:txBody>
          <a:bodyPr/>
          <a:lstStyle/>
          <a:p>
            <a:r>
              <a:rPr lang="es-CO" dirty="0"/>
              <a:t>Demostración – Escritura de demostraciones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65" y="1042911"/>
            <a:ext cx="11715667" cy="30873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i="0" dirty="0">
                <a:effectLst/>
              </a:rPr>
              <a:t>Existen dos formas de escribir demostraciones: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b="1" i="0" dirty="0">
                <a:effectLst/>
              </a:rPr>
              <a:t>Demostración en prosa / narrativa (Paragraph Proof</a:t>
            </a:r>
            <a:r>
              <a:rPr lang="es-MX" sz="2000" b="1" dirty="0"/>
              <a:t>)</a:t>
            </a:r>
            <a:endParaRPr lang="es-MX" sz="2000" b="1" i="0" dirty="0">
              <a:effectLst/>
            </a:endParaRPr>
          </a:p>
          <a:p>
            <a:pPr lvl="1"/>
            <a:r>
              <a:rPr lang="es-MX" sz="1800" b="0" i="0" dirty="0">
                <a:effectLst/>
              </a:rPr>
              <a:t>Se escribe en párrafos continuos</a:t>
            </a:r>
          </a:p>
          <a:p>
            <a:pPr lvl="1"/>
            <a:r>
              <a:rPr lang="es-MX" sz="1800" b="0" i="0" dirty="0">
                <a:effectLst/>
              </a:rPr>
              <a:t>Es la forma estándar en libros universitarios</a:t>
            </a:r>
          </a:p>
          <a:p>
            <a:pPr lvl="1"/>
            <a:r>
              <a:rPr lang="es-MX" sz="1800" b="0" i="0" dirty="0">
                <a:effectLst/>
              </a:rPr>
              <a:t>Requiere mayor claridad conceptual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b="0" i="0" dirty="0">
                <a:effectLst/>
              </a:rPr>
              <a:t> </a:t>
            </a:r>
            <a:r>
              <a:rPr lang="es-MX" sz="2000" b="1" i="0" dirty="0">
                <a:effectLst/>
              </a:rPr>
              <a:t>Afirmación–Razón (Two-Column Proof)</a:t>
            </a:r>
          </a:p>
          <a:p>
            <a:pPr lvl="1"/>
            <a:r>
              <a:rPr lang="es-MX" sz="1800" b="0" i="0" dirty="0">
                <a:effectLst/>
              </a:rPr>
              <a:t>Cada paso va numerado</a:t>
            </a:r>
          </a:p>
          <a:p>
            <a:pPr lvl="1"/>
            <a:r>
              <a:rPr lang="es-MX" sz="1800" b="0" i="0" dirty="0">
                <a:effectLst/>
              </a:rPr>
              <a:t>Se indica explícitamente la regla usada</a:t>
            </a:r>
          </a:p>
          <a:p>
            <a:pPr lvl="1"/>
            <a:r>
              <a:rPr lang="es-MX" sz="1800" b="0" i="0" dirty="0">
                <a:effectLst/>
              </a:rPr>
              <a:t>Muy común en cursos introductorios de lógica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BF4A58-784C-4B0D-94B2-2BC1D7463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133334"/>
            <a:ext cx="5105400" cy="24003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3253576-8DF2-44B1-8975-6909D6F7B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309" y="4138615"/>
            <a:ext cx="3706813" cy="239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600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Demostración (Afirmación-Razón)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7" y="1375235"/>
            <a:ext cx="11471563" cy="4390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i="0" dirty="0">
                <a:effectLst/>
              </a:rPr>
              <a:t>Plantilla para realizar las demostraciones</a:t>
            </a:r>
            <a:endParaRPr lang="es-MX" sz="2000" b="1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85860F7-4D68-4E1D-9323-2E9A32B28AB2}"/>
              </a:ext>
            </a:extLst>
          </p:cNvPr>
          <p:cNvGrpSpPr/>
          <p:nvPr/>
        </p:nvGrpSpPr>
        <p:grpSpPr>
          <a:xfrm>
            <a:off x="360217" y="1823635"/>
            <a:ext cx="3614055" cy="1754326"/>
            <a:chOff x="838199" y="4060762"/>
            <a:chExt cx="3614055" cy="1754326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361D0F37-DC68-447F-AC1D-9464BAE46184}"/>
                </a:ext>
              </a:extLst>
            </p:cNvPr>
            <p:cNvGrpSpPr/>
            <p:nvPr/>
          </p:nvGrpSpPr>
          <p:grpSpPr>
            <a:xfrm>
              <a:off x="838199" y="4060762"/>
              <a:ext cx="1132114" cy="1754326"/>
              <a:chOff x="1059544" y="4002705"/>
              <a:chExt cx="1132114" cy="1754326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CuadroTexto 19">
                    <a:extLst>
                      <a:ext uri="{FF2B5EF4-FFF2-40B4-BE49-F238E27FC236}">
                        <a16:creationId xmlns:a16="http://schemas.microsoft.com/office/drawing/2014/main" id="{535D76EA-CE64-491A-94BA-BC3A26626D24}"/>
                      </a:ext>
                    </a:extLst>
                  </p:cNvPr>
                  <p:cNvSpPr txBox="1"/>
                  <p:nvPr/>
                </p:nvSpPr>
                <p:spPr>
                  <a:xfrm>
                    <a:off x="1059544" y="4002705"/>
                    <a:ext cx="1132114" cy="175432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 xmlns:m="http://schemas.openxmlformats.org/officeDocument/2006/math">
                        <m:r>
                          <a:rPr lang="es-MX" sz="18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MX" sz="1800" b="0" i="1" smtClean="0">
                            <a:effectLst/>
                            <a:latin typeface="Cambria Math" panose="02040503050406030204" pitchFamily="18" charset="0"/>
                          </a:rPr>
                          <m:t>≡</m:t>
                        </m:r>
                        <m:sSub>
                          <m:sSubPr>
                            <m:ctrlPr>
                              <a:rPr lang="es-MX" sz="1800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1800" b="0" i="1" smtClean="0">
                                <a:effectLst/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MX" sz="1800" b="0" i="1" smtClean="0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lang="es-MX" sz="1800" b="0" i="0" dirty="0">
                        <a:effectLst/>
                      </a:rPr>
                      <a:t> </a:t>
                    </a:r>
                    <a:endParaRPr lang="es-MX" i="1" dirty="0">
                      <a:latin typeface="Cambria Math" panose="02040503050406030204" pitchFamily="18" charset="0"/>
                    </a:endParaRPr>
                  </a:p>
                  <a:p>
                    <a:pPr/>
                    <a:r>
                      <a:rPr lang="es-MX" dirty="0"/>
                      <a:t>    </a:t>
                    </a:r>
                    <a14:m>
                      <m:oMath xmlns:m="http://schemas.openxmlformats.org/officeDocument/2006/math">
                        <m:r>
                          <a:rPr lang="es-MX" i="1">
                            <a:latin typeface="Cambria Math" panose="02040503050406030204" pitchFamily="18" charset="0"/>
                          </a:rPr>
                          <m:t>≡</m:t>
                        </m:r>
                        <m:sSub>
                          <m:sSub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s-MX" dirty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⋮</m:t>
                          </m:r>
                        </m:oMath>
                      </m:oMathPara>
                    </a14:m>
                    <a:endParaRPr lang="es-MX" dirty="0"/>
                  </a:p>
                  <a:p>
                    <a:pPr/>
                    <a:r>
                      <a:rPr lang="es-MX" sz="1800" b="0" dirty="0">
                        <a:effectLst/>
                      </a:rPr>
                      <a:t>    </a:t>
                    </a:r>
                    <a14:m>
                      <m:oMath xmlns:m="http://schemas.openxmlformats.org/officeDocument/2006/math">
                        <m:r>
                          <a:rPr lang="es-MX" sz="1800" b="0" i="1" smtClean="0">
                            <a:effectLst/>
                            <a:latin typeface="Cambria Math" panose="02040503050406030204" pitchFamily="18" charset="0"/>
                          </a:rPr>
                          <m:t>≡</m:t>
                        </m:r>
                        <m:sSub>
                          <m:sSubPr>
                            <m:ctrlPr>
                              <a:rPr lang="es-MX" sz="1800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1800" b="0" i="1" smtClean="0">
                                <a:effectLst/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MX" sz="18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a14:m>
                    <a:endParaRPr lang="es-MX" sz="1800" b="0" i="0" dirty="0">
                      <a:effectLst/>
                    </a:endParaRPr>
                  </a:p>
                  <a:p>
                    <a:pPr/>
                    <a:r>
                      <a:rPr lang="es-MX" sz="1800" b="0" dirty="0">
                        <a:effectLst/>
                      </a:rPr>
                      <a:t>    </a:t>
                    </a:r>
                    <a14:m>
                      <m:oMath xmlns:m="http://schemas.openxmlformats.org/officeDocument/2006/math">
                        <m:r>
                          <a:rPr lang="es-MX" sz="1800" b="0" i="1" smtClean="0">
                            <a:effectLst/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s-MX" sz="1800" b="0" i="1" smtClean="0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  <a:endParaRPr lang="es-MX" sz="1800" b="0" i="1" dirty="0">
                      <a:effectLst/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 xmlns:m="http://schemas.openxmlformats.org/officeDocument/2006/math">
                        <m:r>
                          <a:rPr lang="es-MX" sz="18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MX" sz="1800" b="0" i="1" smtClean="0">
                            <a:effectLst/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s-MX" sz="1800" b="0" i="1" smtClean="0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  <a:r>
                      <a:rPr lang="es-MX" sz="1800" b="0" i="0" dirty="0">
                        <a:effectLst/>
                      </a:rPr>
                      <a:t> </a:t>
                    </a:r>
                    <a:endParaRPr lang="es-CO" dirty="0"/>
                  </a:p>
                </p:txBody>
              </p:sp>
            </mc:Choice>
            <mc:Fallback>
              <p:sp>
                <p:nvSpPr>
                  <p:cNvPr id="20" name="CuadroTexto 19">
                    <a:extLst>
                      <a:ext uri="{FF2B5EF4-FFF2-40B4-BE49-F238E27FC236}">
                        <a16:creationId xmlns:a16="http://schemas.microsoft.com/office/drawing/2014/main" id="{535D76EA-CE64-491A-94BA-BC3A26626D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9544" y="4002705"/>
                    <a:ext cx="1132114" cy="175432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0E2775BB-DEEF-4473-B6DE-ACCA52E004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9544" y="5413829"/>
                <a:ext cx="113211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6CF16F2B-85DE-4361-94E6-555D1C68DE71}"/>
                </a:ext>
              </a:extLst>
            </p:cNvPr>
            <p:cNvCxnSpPr>
              <a:cxnSpLocks/>
            </p:cNvCxnSpPr>
            <p:nvPr/>
          </p:nvCxnSpPr>
          <p:spPr>
            <a:xfrm>
              <a:off x="2144483" y="4296228"/>
              <a:ext cx="0" cy="1074058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0E74F81-BCFD-4A8D-973C-B8B4C16A780E}"/>
                </a:ext>
              </a:extLst>
            </p:cNvPr>
            <p:cNvSpPr txBox="1"/>
            <p:nvPr/>
          </p:nvSpPr>
          <p:spPr>
            <a:xfrm>
              <a:off x="2318654" y="4417758"/>
              <a:ext cx="21336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600" dirty="0">
                  <a:solidFill>
                    <a:schemeClr val="accent2"/>
                  </a:solidFill>
                </a:rPr>
                <a:t>Transformaciones usando axiomas (Identidades Lógicas)</a:t>
              </a:r>
            </a:p>
          </p:txBody>
        </p:sp>
      </p:grpSp>
      <p:pic>
        <p:nvPicPr>
          <p:cNvPr id="22" name="Imagen 21">
            <a:extLst>
              <a:ext uri="{FF2B5EF4-FFF2-40B4-BE49-F238E27FC236}">
                <a16:creationId xmlns:a16="http://schemas.microsoft.com/office/drawing/2014/main" id="{8FE84361-F9EF-4E9A-AC6A-95C6A99E6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08" y="3749226"/>
            <a:ext cx="4377378" cy="2771939"/>
          </a:xfrm>
          <a:prstGeom prst="rect">
            <a:avLst/>
          </a:prstGeom>
        </p:spPr>
      </p:pic>
      <p:graphicFrame>
        <p:nvGraphicFramePr>
          <p:cNvPr id="5" name="Tabla 6">
            <a:extLst>
              <a:ext uri="{FF2B5EF4-FFF2-40B4-BE49-F238E27FC236}">
                <a16:creationId xmlns:a16="http://schemas.microsoft.com/office/drawing/2014/main" id="{170FF77A-5384-4F93-A1C8-B6276A7D0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597219"/>
              </p:ext>
            </p:extLst>
          </p:nvPr>
        </p:nvGraphicFramePr>
        <p:xfrm>
          <a:off x="5225143" y="2476771"/>
          <a:ext cx="6359892" cy="3479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3143">
                  <a:extLst>
                    <a:ext uri="{9D8B030D-6E8A-4147-A177-3AD203B41FA5}">
                      <a16:colId xmlns:a16="http://schemas.microsoft.com/office/drawing/2014/main" val="2268520492"/>
                    </a:ext>
                  </a:extLst>
                </a:gridCol>
                <a:gridCol w="2467429">
                  <a:extLst>
                    <a:ext uri="{9D8B030D-6E8A-4147-A177-3AD203B41FA5}">
                      <a16:colId xmlns:a16="http://schemas.microsoft.com/office/drawing/2014/main" val="2295907465"/>
                    </a:ext>
                  </a:extLst>
                </a:gridCol>
                <a:gridCol w="3239320">
                  <a:extLst>
                    <a:ext uri="{9D8B030D-6E8A-4147-A177-3AD203B41FA5}">
                      <a16:colId xmlns:a16="http://schemas.microsoft.com/office/drawing/2014/main" val="18144833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b="1" dirty="0"/>
                        <a:t>#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Justificación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Razón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6992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773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128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Demostración (Afirmación-Razón)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404262"/>
                <a:ext cx="11471563" cy="119379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b="1" i="0" dirty="0">
                    <a:effectLst/>
                  </a:rPr>
                  <a:t>Repaso</a:t>
                </a:r>
                <a:r>
                  <a:rPr lang="es-MX" sz="2000" b="0" i="0" dirty="0">
                    <a:effectLst/>
                  </a:rPr>
                  <a:t>: Demostrar que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s-MX" sz="2000" b="0" i="0" dirty="0">
                  <a:effectLst/>
                </a:endParaRPr>
              </a:p>
              <a:p>
                <a:r>
                  <a:rPr lang="es-MX" sz="2000" b="1" dirty="0"/>
                  <a:t>Empleando el enfoque basado en modelos</a:t>
                </a:r>
                <a:r>
                  <a:rPr lang="es-MX" sz="2000" dirty="0"/>
                  <a:t>: tablas de verdad.</a:t>
                </a:r>
              </a:p>
              <a:p>
                <a:r>
                  <a:rPr lang="es-MX" sz="2000" b="1" i="0" dirty="0">
                    <a:effectLst/>
                  </a:rPr>
                  <a:t>Empleando el enfoque axiomático</a:t>
                </a:r>
                <a:r>
                  <a:rPr lang="es-MX" sz="2000" b="0" i="0" dirty="0">
                    <a:effectLst/>
                  </a:rPr>
                  <a:t>: Uso de identidades lógicas (axiomas)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404262"/>
                <a:ext cx="11471563" cy="1193795"/>
              </a:xfrm>
              <a:blipFill>
                <a:blip r:embed="rId2"/>
                <a:stretch>
                  <a:fillRect l="-531" t="-5102" b="-71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62D9A3F7-C0F0-46B8-B580-571ACF3D5984}"/>
              </a:ext>
            </a:extLst>
          </p:cNvPr>
          <p:cNvSpPr txBox="1">
            <a:spLocks/>
          </p:cNvSpPr>
          <p:nvPr/>
        </p:nvSpPr>
        <p:spPr>
          <a:xfrm>
            <a:off x="360217" y="2729824"/>
            <a:ext cx="11471563" cy="419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2000" b="1" dirty="0"/>
              <a:t>Solución</a:t>
            </a:r>
            <a:r>
              <a:rPr lang="es-MX" sz="2000" dirty="0"/>
              <a:t>: El primer enfoque ya se realizó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a 2">
                <a:extLst>
                  <a:ext uri="{FF2B5EF4-FFF2-40B4-BE49-F238E27FC236}">
                    <a16:creationId xmlns:a16="http://schemas.microsoft.com/office/drawing/2014/main" id="{64D73A5B-76AD-4CDF-A10A-475C5F166D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6472844"/>
                  </p:ext>
                </p:extLst>
              </p:nvPr>
            </p:nvGraphicFramePr>
            <p:xfrm>
              <a:off x="5035468" y="3409854"/>
              <a:ext cx="6796312" cy="299212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64708">
                      <a:extLst>
                        <a:ext uri="{9D8B030D-6E8A-4147-A177-3AD203B41FA5}">
                          <a16:colId xmlns:a16="http://schemas.microsoft.com/office/drawing/2014/main" val="847383059"/>
                        </a:ext>
                      </a:extLst>
                    </a:gridCol>
                    <a:gridCol w="1804211">
                      <a:extLst>
                        <a:ext uri="{9D8B030D-6E8A-4147-A177-3AD203B41FA5}">
                          <a16:colId xmlns:a16="http://schemas.microsoft.com/office/drawing/2014/main" val="2194526293"/>
                        </a:ext>
                      </a:extLst>
                    </a:gridCol>
                    <a:gridCol w="4327393">
                      <a:extLst>
                        <a:ext uri="{9D8B030D-6E8A-4147-A177-3AD203B41FA5}">
                          <a16:colId xmlns:a16="http://schemas.microsoft.com/office/drawing/2014/main" val="4281859008"/>
                        </a:ext>
                      </a:extLst>
                    </a:gridCol>
                  </a:tblGrid>
                  <a:tr h="336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#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Afirmación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Razón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837884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dirty="0"/>
                            <a:t>1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∧(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+mn-lt"/>
                              <a:ea typeface="Roboto" panose="02000000000000000000" pitchFamily="2" charset="0"/>
                            </a:rPr>
                            <a:t>Hipotesis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434701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dirty="0"/>
                            <a:t>2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)∨(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+mn-lt"/>
                              <a:ea typeface="Roboto" panose="02000000000000000000" pitchFamily="2" charset="0"/>
                            </a:rPr>
                            <a:t>Distributividad para el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Y </a:t>
                          </a:r>
                          <a:r>
                            <a:rPr lang="es-CO" sz="1600" b="0" dirty="0">
                              <a:latin typeface="+mn-lt"/>
                              <a:ea typeface="Roboto" panose="02000000000000000000" pitchFamily="2" charset="0"/>
                            </a:rPr>
                            <a:t>en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(1)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2216696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dirty="0"/>
                            <a:t>3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∨(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+mn-lt"/>
                              <a:ea typeface="Roboto" panose="02000000000000000000" pitchFamily="2" charset="0"/>
                            </a:rPr>
                            <a:t>Idempotencia para el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Y </a:t>
                          </a:r>
                          <a:r>
                            <a:rPr lang="es-CO" sz="1600" b="0" dirty="0">
                              <a:latin typeface="+mn-lt"/>
                              <a:ea typeface="Roboto" panose="02000000000000000000" pitchFamily="2" charset="0"/>
                            </a:rPr>
                            <a:t>en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(2)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7809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dirty="0"/>
                            <a:t>4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∨(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+mn-lt"/>
                              <a:ea typeface="Roboto" panose="02000000000000000000" pitchFamily="2" charset="0"/>
                            </a:rPr>
                            <a:t>Identidad para el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Y </a:t>
                          </a:r>
                          <a:r>
                            <a:rPr lang="es-CO" sz="1600" b="0" dirty="0">
                              <a:latin typeface="+mn-lt"/>
                              <a:ea typeface="Roboto" panose="02000000000000000000" pitchFamily="2" charset="0"/>
                            </a:rPr>
                            <a:t>en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(3)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743969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dirty="0"/>
                            <a:t>5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+mn-lt"/>
                              <a:ea typeface="Roboto" panose="02000000000000000000" pitchFamily="2" charset="0"/>
                            </a:rPr>
                            <a:t>Distributividad para el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Y </a:t>
                          </a:r>
                          <a:r>
                            <a:rPr lang="es-CO" sz="1600" b="0" dirty="0">
                              <a:latin typeface="+mn-lt"/>
                              <a:ea typeface="Roboto" panose="02000000000000000000" pitchFamily="2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+mn-lt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1600" b="0" i="1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r>
                                <a:rPr lang="es-MX" sz="1600" b="0" i="1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1600" b="0" dirty="0">
                              <a:latin typeface="+mn-lt"/>
                              <a:ea typeface="Roboto" panose="02000000000000000000" pitchFamily="2" charset="0"/>
                            </a:rPr>
                            <a:t>) en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(4)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879125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dirty="0"/>
                            <a:t>6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600" dirty="0">
                              <a:latin typeface="+mn-lt"/>
                              <a:ea typeface="Roboto" panose="02000000000000000000" pitchFamily="2" charset="0"/>
                            </a:rPr>
                            <a:t>Dominación para el </a:t>
                          </a:r>
                          <a:r>
                            <a:rPr lang="es-MX" sz="1600" b="1" dirty="0">
                              <a:latin typeface="+mn-lt"/>
                              <a:ea typeface="Roboto" panose="02000000000000000000" pitchFamily="2" charset="0"/>
                            </a:rPr>
                            <a:t>O </a:t>
                          </a:r>
                          <a:r>
                            <a:rPr lang="es-CO" sz="1600" b="0" dirty="0">
                              <a:latin typeface="+mn-lt"/>
                              <a:ea typeface="Roboto" panose="02000000000000000000" pitchFamily="2" charset="0"/>
                            </a:rPr>
                            <a:t>en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(5)</a:t>
                          </a:r>
                          <a:endParaRPr lang="es-CO" sz="1600" b="1" i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90062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dirty="0"/>
                            <a:t>7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+mn-lt"/>
                              <a:ea typeface="Roboto" panose="02000000000000000000" pitchFamily="2" charset="0"/>
                            </a:rPr>
                            <a:t>Identidad para el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Y </a:t>
                          </a:r>
                          <a:r>
                            <a:rPr lang="es-CO" sz="1600" b="0" dirty="0">
                              <a:latin typeface="+mn-lt"/>
                              <a:ea typeface="Roboto" panose="02000000000000000000" pitchFamily="2" charset="0"/>
                            </a:rPr>
                            <a:t>en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(6)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502610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a 2">
                <a:extLst>
                  <a:ext uri="{FF2B5EF4-FFF2-40B4-BE49-F238E27FC236}">
                    <a16:creationId xmlns:a16="http://schemas.microsoft.com/office/drawing/2014/main" id="{64D73A5B-76AD-4CDF-A10A-475C5F166D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6472844"/>
                  </p:ext>
                </p:extLst>
              </p:nvPr>
            </p:nvGraphicFramePr>
            <p:xfrm>
              <a:off x="5035468" y="3409854"/>
              <a:ext cx="6796312" cy="299212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64708">
                      <a:extLst>
                        <a:ext uri="{9D8B030D-6E8A-4147-A177-3AD203B41FA5}">
                          <a16:colId xmlns:a16="http://schemas.microsoft.com/office/drawing/2014/main" val="847383059"/>
                        </a:ext>
                      </a:extLst>
                    </a:gridCol>
                    <a:gridCol w="1804211">
                      <a:extLst>
                        <a:ext uri="{9D8B030D-6E8A-4147-A177-3AD203B41FA5}">
                          <a16:colId xmlns:a16="http://schemas.microsoft.com/office/drawing/2014/main" val="2194526293"/>
                        </a:ext>
                      </a:extLst>
                    </a:gridCol>
                    <a:gridCol w="4327393">
                      <a:extLst>
                        <a:ext uri="{9D8B030D-6E8A-4147-A177-3AD203B41FA5}">
                          <a16:colId xmlns:a16="http://schemas.microsoft.com/office/drawing/2014/main" val="4281859008"/>
                        </a:ext>
                      </a:extLst>
                    </a:gridCol>
                  </a:tblGrid>
                  <a:tr h="336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#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Afirmación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Razón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837884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dirty="0"/>
                            <a:t>1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∧(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+mn-lt"/>
                              <a:ea typeface="Roboto" panose="02000000000000000000" pitchFamily="2" charset="0"/>
                            </a:rPr>
                            <a:t>Hipotesis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434701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dirty="0"/>
                            <a:t>2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)∨(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+mn-lt"/>
                              <a:ea typeface="Roboto" panose="02000000000000000000" pitchFamily="2" charset="0"/>
                            </a:rPr>
                            <a:t>Distributividad para el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Y </a:t>
                          </a:r>
                          <a:r>
                            <a:rPr lang="es-CO" sz="1600" b="0" dirty="0">
                              <a:latin typeface="+mn-lt"/>
                              <a:ea typeface="Roboto" panose="02000000000000000000" pitchFamily="2" charset="0"/>
                            </a:rPr>
                            <a:t>en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(1)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2216696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dirty="0"/>
                            <a:t>3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∨(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+mn-lt"/>
                              <a:ea typeface="Roboto" panose="02000000000000000000" pitchFamily="2" charset="0"/>
                            </a:rPr>
                            <a:t>Idempotencia para el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Y </a:t>
                          </a:r>
                          <a:r>
                            <a:rPr lang="es-CO" sz="1600" b="0" dirty="0">
                              <a:latin typeface="+mn-lt"/>
                              <a:ea typeface="Roboto" panose="02000000000000000000" pitchFamily="2" charset="0"/>
                            </a:rPr>
                            <a:t>en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(2)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7809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dirty="0"/>
                            <a:t>4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∨(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+mn-lt"/>
                              <a:ea typeface="Roboto" panose="02000000000000000000" pitchFamily="2" charset="0"/>
                            </a:rPr>
                            <a:t>Identidad para el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Y </a:t>
                          </a:r>
                          <a:r>
                            <a:rPr lang="es-CO" sz="1600" b="0" dirty="0">
                              <a:latin typeface="+mn-lt"/>
                              <a:ea typeface="Roboto" panose="02000000000000000000" pitchFamily="2" charset="0"/>
                            </a:rPr>
                            <a:t>en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(3)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743969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dirty="0"/>
                            <a:t>5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+mn-lt"/>
                              <a:ea typeface="Roboto" panose="02000000000000000000" pitchFamily="2" charset="0"/>
                            </a:rPr>
                            <a:t>Distributividad para el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Y </a:t>
                          </a:r>
                          <a:r>
                            <a:rPr lang="es-CO" sz="1600" b="0" dirty="0">
                              <a:latin typeface="+mn-lt"/>
                              <a:ea typeface="Roboto" panose="02000000000000000000" pitchFamily="2" charset="0"/>
                            </a:rPr>
                            <a:t>(</a:t>
                          </a:r>
                          <a14:m xmlns:a14="http://schemas.microsoft.com/office/drawing/2010/main"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+mn-lt"/>
                                  <a:ea typeface="Roboto" panose="02000000000000000000" pitchFamily="2" charset="0"/>
                                </a:rPr>
                                <m:t>𝐼</m:t>
                              </m:r>
                              <m:r>
                                <a:rPr lang="es-MX" sz="1600" b="0" i="1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r>
                                <a:rPr lang="es-MX" sz="1600" b="0" i="1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sz="1600" b="0" dirty="0">
                              <a:latin typeface="+mn-lt"/>
                              <a:ea typeface="Roboto" panose="02000000000000000000" pitchFamily="2" charset="0"/>
                            </a:rPr>
                            <a:t>) en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(4)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879125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dirty="0"/>
                            <a:t>6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600" dirty="0">
                              <a:latin typeface="+mn-lt"/>
                              <a:ea typeface="Roboto" panose="02000000000000000000" pitchFamily="2" charset="0"/>
                            </a:rPr>
                            <a:t>Dominación para el </a:t>
                          </a:r>
                          <a:r>
                            <a:rPr lang="es-MX" sz="1600" b="1" dirty="0">
                              <a:latin typeface="+mn-lt"/>
                              <a:ea typeface="Roboto" panose="02000000000000000000" pitchFamily="2" charset="0"/>
                            </a:rPr>
                            <a:t>O </a:t>
                          </a:r>
                          <a:r>
                            <a:rPr lang="es-CO" sz="1600" b="0" dirty="0">
                              <a:latin typeface="+mn-lt"/>
                              <a:ea typeface="Roboto" panose="02000000000000000000" pitchFamily="2" charset="0"/>
                            </a:rPr>
                            <a:t>en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(5)</a:t>
                          </a:r>
                          <a:endParaRPr lang="es-CO" sz="1600" b="1" i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90062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600" dirty="0"/>
                            <a:t>7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+mn-lt"/>
                              <a:ea typeface="Roboto" panose="02000000000000000000" pitchFamily="2" charset="0"/>
                            </a:rPr>
                            <a:t>Identidad para el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Y </a:t>
                          </a:r>
                          <a:r>
                            <a:rPr lang="es-CO" sz="1600" b="0" dirty="0">
                              <a:latin typeface="+mn-lt"/>
                              <a:ea typeface="Roboto" panose="02000000000000000000" pitchFamily="2" charset="0"/>
                            </a:rPr>
                            <a:t>en </a:t>
                          </a:r>
                          <a:r>
                            <a:rPr lang="es-CO" sz="1600" b="1" dirty="0">
                              <a:latin typeface="+mn-lt"/>
                              <a:ea typeface="Roboto" panose="02000000000000000000" pitchFamily="2" charset="0"/>
                            </a:rPr>
                            <a:t>(6)</a:t>
                          </a: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502610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32860F1-8328-4456-A6EA-2EF84699E940}"/>
                  </a:ext>
                </a:extLst>
              </p:cNvPr>
              <p:cNvSpPr txBox="1"/>
              <p:nvPr/>
            </p:nvSpPr>
            <p:spPr>
              <a:xfrm>
                <a:off x="1666813" y="3307939"/>
                <a:ext cx="1810367" cy="3077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32860F1-8328-4456-A6EA-2EF84699E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13" y="3307939"/>
                <a:ext cx="1810367" cy="307777"/>
              </a:xfrm>
              <a:prstGeom prst="rect">
                <a:avLst/>
              </a:prstGeom>
              <a:blipFill>
                <a:blip r:embed="rId3"/>
                <a:stretch>
                  <a:fillRect l="-2694" r="-2694" b="-28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n 9">
            <a:extLst>
              <a:ext uri="{FF2B5EF4-FFF2-40B4-BE49-F238E27FC236}">
                <a16:creationId xmlns:a16="http://schemas.microsoft.com/office/drawing/2014/main" id="{505A5D67-7BCE-4C6B-BA59-01FB2C4A6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707" y="3859481"/>
            <a:ext cx="4377378" cy="277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416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Ejemplos de repaso - Demostraciones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4"/>
                <a:ext cx="11471563" cy="4923965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s-MX" sz="2000" i="0" dirty="0">
                    <a:effectLst/>
                    <a:latin typeface="Google Sans Text"/>
                    <a:ea typeface="Cambria Math" panose="02040503050406030204" pitchFamily="18" charset="0"/>
                  </a:rPr>
                  <a:t>Demuestre que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s-MX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d>
                          <m:dPr>
                            <m:ctrlPr>
                              <a:rPr lang="es-MX" sz="20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s-MX" sz="20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d>
                  </m:oMath>
                </a14:m>
                <a:r>
                  <a:rPr lang="es-MX" sz="2000" dirty="0">
                    <a:ea typeface="Cambria Math" panose="02040503050406030204" pitchFamily="18" charset="0"/>
                  </a:rPr>
                  <a:t> es lógicamente equivalente a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s-MX" sz="200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000" dirty="0">
                    <a:ea typeface="Cambria Math" panose="02040503050406030204" pitchFamily="18" charset="0"/>
                  </a:rPr>
                  <a:t>Demuestre que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s-MX" sz="2000" dirty="0">
                    <a:ea typeface="Cambria Math" panose="02040503050406030204" pitchFamily="18" charset="0"/>
                  </a:rPr>
                  <a:t> es una tautología.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000" dirty="0">
                    <a:ea typeface="Cambria Math" panose="02040503050406030204" pitchFamily="18" charset="0"/>
                  </a:rPr>
                  <a:t>Demostrar que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MX" sz="20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s-MX" sz="200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000" dirty="0">
                    <a:ea typeface="Cambria Math" panose="02040503050406030204" pitchFamily="18" charset="0"/>
                  </a:rPr>
                  <a:t>Demostrar que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→(</m:t>
                        </m:r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d>
                      <m:dPr>
                        <m:begChr m:val="["/>
                        <m:endChr m:val="]"/>
                        <m:ctrlP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0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0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endParaRPr lang="es-MX" sz="2000" dirty="0">
                  <a:latin typeface="Google Sans Text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000" b="1" dirty="0">
                    <a:latin typeface="Google Sans Text"/>
                    <a:ea typeface="Cambria Math" panose="02040503050406030204" pitchFamily="18" charset="0"/>
                  </a:rPr>
                  <a:t>Verdadero o falso</a:t>
                </a:r>
                <a:r>
                  <a:rPr lang="es-MX" sz="2000" dirty="0">
                    <a:latin typeface="Google Sans Text"/>
                    <a:ea typeface="Cambria Math" panose="02040503050406030204" pitchFamily="18" charset="0"/>
                  </a:rPr>
                  <a:t>: La negación de “Si Susana es la madre de Luis, entonces, Ali es su primo” es “Si Susana es la madre de Luis, entonces, Ali no es su primo”.</a:t>
                </a:r>
              </a:p>
              <a:p>
                <a:pPr lvl="1"/>
                <a:endParaRPr lang="es-MX" sz="2000" b="0" i="0" dirty="0">
                  <a:solidFill>
                    <a:srgbClr val="131314"/>
                  </a:solidFill>
                  <a:effectLst/>
                  <a:latin typeface="Google Sans Text"/>
                </a:endParaRPr>
              </a:p>
              <a:p>
                <a:pPr marL="0" indent="0">
                  <a:buNone/>
                </a:pPr>
                <a:endParaRPr lang="es-MX" sz="200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4"/>
                <a:ext cx="11471563" cy="4923965"/>
              </a:xfrm>
              <a:blipFill>
                <a:blip r:embed="rId2"/>
                <a:stretch>
                  <a:fillRect l="-584" t="-99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652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Condiciones de suficiencia y necesidad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4"/>
                <a:ext cx="11471563" cy="395509"/>
              </a:xfrm>
            </p:spPr>
            <p:txBody>
              <a:bodyPr>
                <a:normAutofit lnSpcReduction="10000"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s-MX" sz="2000" i="0" dirty="0">
                    <a:effectLst/>
                    <a:latin typeface="Google Sans Text"/>
                    <a:ea typeface="Cambria Math" panose="02040503050406030204" pitchFamily="18" charset="0"/>
                  </a:rPr>
                  <a:t>Demuestre que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effectLst/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s-MX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d>
                          <m:dPr>
                            <m:ctrlPr>
                              <a:rPr lang="es-MX" sz="20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s-MX" sz="20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d>
                  </m:oMath>
                </a14:m>
                <a:r>
                  <a:rPr lang="es-MX" sz="2000" dirty="0">
                    <a:ea typeface="Cambria Math" panose="02040503050406030204" pitchFamily="18" charset="0"/>
                  </a:rPr>
                  <a:t> es lógicamente equivalente a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s-MX" sz="200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4"/>
                <a:ext cx="11471563" cy="395509"/>
              </a:xfrm>
              <a:blipFill>
                <a:blip r:embed="rId2"/>
                <a:stretch>
                  <a:fillRect l="-584" t="-18750" b="-2187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1D3912C2-3697-471A-82B3-BAD9EDE84B34}"/>
              </a:ext>
            </a:extLst>
          </p:cNvPr>
          <p:cNvSpPr txBox="1"/>
          <p:nvPr/>
        </p:nvSpPr>
        <p:spPr>
          <a:xfrm>
            <a:off x="360218" y="1770743"/>
            <a:ext cx="1628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rgbClr val="00B050"/>
                </a:solidFill>
              </a:rPr>
              <a:t>Solución</a:t>
            </a:r>
          </a:p>
        </p:txBody>
      </p:sp>
      <p:graphicFrame>
        <p:nvGraphicFramePr>
          <p:cNvPr id="5" name="Tabla 2">
            <a:extLst>
              <a:ext uri="{FF2B5EF4-FFF2-40B4-BE49-F238E27FC236}">
                <a16:creationId xmlns:a16="http://schemas.microsoft.com/office/drawing/2014/main" id="{BDC7B22B-D7CC-45D7-94CD-69736AA79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268847"/>
              </p:ext>
            </p:extLst>
          </p:nvPr>
        </p:nvGraphicFramePr>
        <p:xfrm>
          <a:off x="5035469" y="2170853"/>
          <a:ext cx="6796312" cy="4145280"/>
        </p:xfrm>
        <a:graphic>
          <a:graphicData uri="http://schemas.openxmlformats.org/drawingml/2006/table">
            <a:tbl>
              <a:tblPr firstRow="1" bandRow="1"/>
              <a:tblGrid>
                <a:gridCol w="664708">
                  <a:extLst>
                    <a:ext uri="{9D8B030D-6E8A-4147-A177-3AD203B41FA5}">
                      <a16:colId xmlns:a16="http://schemas.microsoft.com/office/drawing/2014/main" val="847383059"/>
                    </a:ext>
                  </a:extLst>
                </a:gridCol>
                <a:gridCol w="1804211">
                  <a:extLst>
                    <a:ext uri="{9D8B030D-6E8A-4147-A177-3AD203B41FA5}">
                      <a16:colId xmlns:a16="http://schemas.microsoft.com/office/drawing/2014/main" val="2194526293"/>
                    </a:ext>
                  </a:extLst>
                </a:gridCol>
                <a:gridCol w="4327393">
                  <a:extLst>
                    <a:ext uri="{9D8B030D-6E8A-4147-A177-3AD203B41FA5}">
                      <a16:colId xmlns:a16="http://schemas.microsoft.com/office/drawing/2014/main" val="4281859008"/>
                    </a:ext>
                  </a:extLst>
                </a:gridCol>
              </a:tblGrid>
              <a:tr h="336320">
                <a:tc>
                  <a:txBody>
                    <a:bodyPr/>
                    <a:lstStyle/>
                    <a:p>
                      <a:pPr algn="ctr"/>
                      <a:r>
                        <a:rPr lang="es-CO" sz="2000" b="1" dirty="0">
                          <a:latin typeface="+mn-lt"/>
                          <a:ea typeface="Roboto" panose="02000000000000000000" pitchFamily="2" charset="0"/>
                        </a:rPr>
                        <a:t>#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b="1" dirty="0">
                          <a:latin typeface="+mn-lt"/>
                          <a:ea typeface="Roboto" panose="02000000000000000000" pitchFamily="2" charset="0"/>
                        </a:rPr>
                        <a:t>Afirmación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b="1" dirty="0">
                          <a:latin typeface="+mn-lt"/>
                          <a:ea typeface="Roboto" panose="02000000000000000000" pitchFamily="2" charset="0"/>
                        </a:rPr>
                        <a:t>Razón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378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600" dirty="0"/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O" sz="1600" b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3470127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92D7854E-E368-40F7-BDAD-3055BA9A7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18" y="3429000"/>
            <a:ext cx="4377378" cy="277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17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Condiciones de suficiencia y necesidad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4"/>
                <a:ext cx="11471563" cy="395509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s-MX" sz="2000" dirty="0">
                    <a:ea typeface="Cambria Math" panose="02040503050406030204" pitchFamily="18" charset="0"/>
                  </a:rPr>
                  <a:t>Demuestre que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s-MX" sz="2000" dirty="0">
                    <a:ea typeface="Cambria Math" panose="02040503050406030204" pitchFamily="18" charset="0"/>
                  </a:rPr>
                  <a:t> es una tautología.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4"/>
                <a:ext cx="11471563" cy="395509"/>
              </a:xfrm>
              <a:blipFill>
                <a:blip r:embed="rId2"/>
                <a:stretch>
                  <a:fillRect l="-584" t="-18750" b="-2187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3D757A1C-E5AA-4D60-B67F-76F1847BBBB4}"/>
              </a:ext>
            </a:extLst>
          </p:cNvPr>
          <p:cNvSpPr txBox="1"/>
          <p:nvPr/>
        </p:nvSpPr>
        <p:spPr>
          <a:xfrm>
            <a:off x="360218" y="1770743"/>
            <a:ext cx="1628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rgbClr val="00B050"/>
                </a:solidFill>
              </a:rPr>
              <a:t>Solución</a:t>
            </a:r>
          </a:p>
        </p:txBody>
      </p:sp>
      <p:graphicFrame>
        <p:nvGraphicFramePr>
          <p:cNvPr id="5" name="Tabla 2">
            <a:extLst>
              <a:ext uri="{FF2B5EF4-FFF2-40B4-BE49-F238E27FC236}">
                <a16:creationId xmlns:a16="http://schemas.microsoft.com/office/drawing/2014/main" id="{B518259D-F1D6-4563-8C5D-BA5505304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674489"/>
              </p:ext>
            </p:extLst>
          </p:nvPr>
        </p:nvGraphicFramePr>
        <p:xfrm>
          <a:off x="5035469" y="2389453"/>
          <a:ext cx="6796312" cy="4145280"/>
        </p:xfrm>
        <a:graphic>
          <a:graphicData uri="http://schemas.openxmlformats.org/drawingml/2006/table">
            <a:tbl>
              <a:tblPr firstRow="1" bandRow="1"/>
              <a:tblGrid>
                <a:gridCol w="664708">
                  <a:extLst>
                    <a:ext uri="{9D8B030D-6E8A-4147-A177-3AD203B41FA5}">
                      <a16:colId xmlns:a16="http://schemas.microsoft.com/office/drawing/2014/main" val="847383059"/>
                    </a:ext>
                  </a:extLst>
                </a:gridCol>
                <a:gridCol w="1804211">
                  <a:extLst>
                    <a:ext uri="{9D8B030D-6E8A-4147-A177-3AD203B41FA5}">
                      <a16:colId xmlns:a16="http://schemas.microsoft.com/office/drawing/2014/main" val="2194526293"/>
                    </a:ext>
                  </a:extLst>
                </a:gridCol>
                <a:gridCol w="4327393">
                  <a:extLst>
                    <a:ext uri="{9D8B030D-6E8A-4147-A177-3AD203B41FA5}">
                      <a16:colId xmlns:a16="http://schemas.microsoft.com/office/drawing/2014/main" val="4281859008"/>
                    </a:ext>
                  </a:extLst>
                </a:gridCol>
              </a:tblGrid>
              <a:tr h="336320">
                <a:tc>
                  <a:txBody>
                    <a:bodyPr/>
                    <a:lstStyle/>
                    <a:p>
                      <a:pPr algn="ctr"/>
                      <a:r>
                        <a:rPr lang="es-CO" sz="2000" b="1" dirty="0">
                          <a:latin typeface="+mn-lt"/>
                          <a:ea typeface="Roboto" panose="02000000000000000000" pitchFamily="2" charset="0"/>
                        </a:rPr>
                        <a:t>#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b="1" dirty="0">
                          <a:latin typeface="+mn-lt"/>
                          <a:ea typeface="Roboto" panose="02000000000000000000" pitchFamily="2" charset="0"/>
                        </a:rPr>
                        <a:t>Afirmación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b="1" dirty="0">
                          <a:latin typeface="+mn-lt"/>
                          <a:ea typeface="Roboto" panose="02000000000000000000" pitchFamily="2" charset="0"/>
                        </a:rPr>
                        <a:t>Razón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378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600" dirty="0"/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O" sz="1600" b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3470127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B13CC31A-400F-4500-BE15-C11218474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18" y="3647600"/>
            <a:ext cx="4377378" cy="277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77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Condiciones de suficiencia y necesidad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4"/>
                <a:ext cx="11471563" cy="395509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s-MX" sz="2000" dirty="0">
                    <a:ea typeface="Cambria Math" panose="02040503050406030204" pitchFamily="18" charset="0"/>
                  </a:rPr>
                  <a:t>Demostrar que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MX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s-MX" sz="200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4"/>
                <a:ext cx="11471563" cy="395509"/>
              </a:xfrm>
              <a:blipFill>
                <a:blip r:embed="rId2"/>
                <a:stretch>
                  <a:fillRect l="-584" t="-18750" b="-2187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0C41474D-8989-421D-8F81-4C11EB038484}"/>
              </a:ext>
            </a:extLst>
          </p:cNvPr>
          <p:cNvSpPr txBox="1"/>
          <p:nvPr/>
        </p:nvSpPr>
        <p:spPr>
          <a:xfrm>
            <a:off x="360218" y="1770743"/>
            <a:ext cx="1628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rgbClr val="00B050"/>
                </a:solidFill>
              </a:rPr>
              <a:t>Solución</a:t>
            </a:r>
          </a:p>
        </p:txBody>
      </p:sp>
      <p:graphicFrame>
        <p:nvGraphicFramePr>
          <p:cNvPr id="5" name="Tabla 2">
            <a:extLst>
              <a:ext uri="{FF2B5EF4-FFF2-40B4-BE49-F238E27FC236}">
                <a16:creationId xmlns:a16="http://schemas.microsoft.com/office/drawing/2014/main" id="{1690558F-51F4-407B-8DBC-DD1A24FBF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141806"/>
              </p:ext>
            </p:extLst>
          </p:nvPr>
        </p:nvGraphicFramePr>
        <p:xfrm>
          <a:off x="5035469" y="2443141"/>
          <a:ext cx="6796312" cy="4145280"/>
        </p:xfrm>
        <a:graphic>
          <a:graphicData uri="http://schemas.openxmlformats.org/drawingml/2006/table">
            <a:tbl>
              <a:tblPr firstRow="1" bandRow="1"/>
              <a:tblGrid>
                <a:gridCol w="664708">
                  <a:extLst>
                    <a:ext uri="{9D8B030D-6E8A-4147-A177-3AD203B41FA5}">
                      <a16:colId xmlns:a16="http://schemas.microsoft.com/office/drawing/2014/main" val="847383059"/>
                    </a:ext>
                  </a:extLst>
                </a:gridCol>
                <a:gridCol w="1804211">
                  <a:extLst>
                    <a:ext uri="{9D8B030D-6E8A-4147-A177-3AD203B41FA5}">
                      <a16:colId xmlns:a16="http://schemas.microsoft.com/office/drawing/2014/main" val="2194526293"/>
                    </a:ext>
                  </a:extLst>
                </a:gridCol>
                <a:gridCol w="4327393">
                  <a:extLst>
                    <a:ext uri="{9D8B030D-6E8A-4147-A177-3AD203B41FA5}">
                      <a16:colId xmlns:a16="http://schemas.microsoft.com/office/drawing/2014/main" val="4281859008"/>
                    </a:ext>
                  </a:extLst>
                </a:gridCol>
              </a:tblGrid>
              <a:tr h="336320">
                <a:tc>
                  <a:txBody>
                    <a:bodyPr/>
                    <a:lstStyle/>
                    <a:p>
                      <a:pPr algn="ctr"/>
                      <a:r>
                        <a:rPr lang="es-CO" sz="2000" b="1" dirty="0">
                          <a:latin typeface="+mn-lt"/>
                          <a:ea typeface="Roboto" panose="02000000000000000000" pitchFamily="2" charset="0"/>
                        </a:rPr>
                        <a:t>#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b="1" dirty="0">
                          <a:latin typeface="+mn-lt"/>
                          <a:ea typeface="Roboto" panose="02000000000000000000" pitchFamily="2" charset="0"/>
                        </a:rPr>
                        <a:t>Afirmación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b="1" dirty="0">
                          <a:latin typeface="+mn-lt"/>
                          <a:ea typeface="Roboto" panose="02000000000000000000" pitchFamily="2" charset="0"/>
                        </a:rPr>
                        <a:t>Razón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378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600" dirty="0"/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O" sz="1600" b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3470127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9BB833B2-6098-449E-870F-5F4E0718B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18" y="3701288"/>
            <a:ext cx="4377378" cy="277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28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Condiciones de suficiencia y necesidad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4"/>
                <a:ext cx="11471563" cy="395509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s-MX" sz="2000" dirty="0">
                    <a:ea typeface="Cambria Math" panose="02040503050406030204" pitchFamily="18" charset="0"/>
                  </a:rPr>
                  <a:t>Demostrar que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→(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d>
                      <m:dPr>
                        <m:begChr m:val="["/>
                        <m:endChr m:val="]"/>
                        <m:ctrlP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endParaRPr lang="es-MX" sz="2000" dirty="0">
                  <a:latin typeface="Google Sans Text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4"/>
                <a:ext cx="11471563" cy="395509"/>
              </a:xfrm>
              <a:blipFill>
                <a:blip r:embed="rId2"/>
                <a:stretch>
                  <a:fillRect l="-584" t="-18750" b="-2187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DEF38AC1-BCAC-4803-99A8-3611AF34389A}"/>
              </a:ext>
            </a:extLst>
          </p:cNvPr>
          <p:cNvSpPr txBox="1"/>
          <p:nvPr/>
        </p:nvSpPr>
        <p:spPr>
          <a:xfrm>
            <a:off x="360218" y="1770743"/>
            <a:ext cx="1628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rgbClr val="00B050"/>
                </a:solidFill>
              </a:rPr>
              <a:t>Solución</a:t>
            </a:r>
          </a:p>
        </p:txBody>
      </p:sp>
      <p:graphicFrame>
        <p:nvGraphicFramePr>
          <p:cNvPr id="5" name="Tabla 2">
            <a:extLst>
              <a:ext uri="{FF2B5EF4-FFF2-40B4-BE49-F238E27FC236}">
                <a16:creationId xmlns:a16="http://schemas.microsoft.com/office/drawing/2014/main" id="{7F15AF66-735C-4553-B164-AE84F1F5F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094"/>
              </p:ext>
            </p:extLst>
          </p:nvPr>
        </p:nvGraphicFramePr>
        <p:xfrm>
          <a:off x="5035469" y="2170853"/>
          <a:ext cx="6796312" cy="4145280"/>
        </p:xfrm>
        <a:graphic>
          <a:graphicData uri="http://schemas.openxmlformats.org/drawingml/2006/table">
            <a:tbl>
              <a:tblPr firstRow="1" bandRow="1"/>
              <a:tblGrid>
                <a:gridCol w="664708">
                  <a:extLst>
                    <a:ext uri="{9D8B030D-6E8A-4147-A177-3AD203B41FA5}">
                      <a16:colId xmlns:a16="http://schemas.microsoft.com/office/drawing/2014/main" val="847383059"/>
                    </a:ext>
                  </a:extLst>
                </a:gridCol>
                <a:gridCol w="1804211">
                  <a:extLst>
                    <a:ext uri="{9D8B030D-6E8A-4147-A177-3AD203B41FA5}">
                      <a16:colId xmlns:a16="http://schemas.microsoft.com/office/drawing/2014/main" val="2194526293"/>
                    </a:ext>
                  </a:extLst>
                </a:gridCol>
                <a:gridCol w="4327393">
                  <a:extLst>
                    <a:ext uri="{9D8B030D-6E8A-4147-A177-3AD203B41FA5}">
                      <a16:colId xmlns:a16="http://schemas.microsoft.com/office/drawing/2014/main" val="4281859008"/>
                    </a:ext>
                  </a:extLst>
                </a:gridCol>
              </a:tblGrid>
              <a:tr h="336320">
                <a:tc>
                  <a:txBody>
                    <a:bodyPr/>
                    <a:lstStyle/>
                    <a:p>
                      <a:pPr algn="ctr"/>
                      <a:r>
                        <a:rPr lang="es-CO" sz="2000" b="1" dirty="0">
                          <a:latin typeface="+mn-lt"/>
                          <a:ea typeface="Roboto" panose="02000000000000000000" pitchFamily="2" charset="0"/>
                        </a:rPr>
                        <a:t>#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b="1" dirty="0">
                          <a:latin typeface="+mn-lt"/>
                          <a:ea typeface="Roboto" panose="02000000000000000000" pitchFamily="2" charset="0"/>
                        </a:rPr>
                        <a:t>Afirmación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b="1" dirty="0">
                          <a:latin typeface="+mn-lt"/>
                          <a:ea typeface="Roboto" panose="02000000000000000000" pitchFamily="2" charset="0"/>
                        </a:rPr>
                        <a:t>Razón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378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  <a:p>
                      <a:pPr algn="ctr"/>
                      <a:endParaRPr lang="es-CO" sz="1600" dirty="0"/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CO" sz="1600" dirty="0"/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O" sz="1600" b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3470127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35D07D19-B7B6-4C24-B857-75646E413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18" y="3429000"/>
            <a:ext cx="4377378" cy="277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00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Condiciones de suficiencia y necesidad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375235"/>
            <a:ext cx="11471563" cy="67128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s-MX" sz="2000" dirty="0">
                <a:latin typeface="Google Sans Text"/>
                <a:ea typeface="Cambria Math" panose="02040503050406030204" pitchFamily="18" charset="0"/>
              </a:rPr>
              <a:t>La negación de “Si Susana es la madre de Luis, entonces, Ali es su primo” es “Si Susana es la madre de Luis, entonces, Ali no es su primo”.</a:t>
            </a:r>
          </a:p>
          <a:p>
            <a:pPr lvl="1"/>
            <a:endParaRPr lang="es-MX" sz="2000" dirty="0">
              <a:solidFill>
                <a:srgbClr val="131314"/>
              </a:solidFill>
              <a:latin typeface="Google Sans Text"/>
            </a:endParaRPr>
          </a:p>
          <a:p>
            <a:pPr marL="0" indent="0">
              <a:buNone/>
            </a:pPr>
            <a:endParaRPr lang="es-MX" sz="2000" dirty="0">
              <a:ea typeface="Cambria Math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5D6F29E-B8E8-48EE-A36F-AE6E71C2148D}"/>
              </a:ext>
            </a:extLst>
          </p:cNvPr>
          <p:cNvSpPr txBox="1"/>
          <p:nvPr/>
        </p:nvSpPr>
        <p:spPr>
          <a:xfrm>
            <a:off x="360218" y="2046515"/>
            <a:ext cx="1628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rgbClr val="00B050"/>
                </a:solidFill>
              </a:rPr>
              <a:t>Solución</a:t>
            </a:r>
          </a:p>
        </p:txBody>
      </p:sp>
    </p:spTree>
    <p:extLst>
      <p:ext uri="{BB962C8B-B14F-4D97-AF65-F5344CB8AC3E}">
        <p14:creationId xmlns:p14="http://schemas.microsoft.com/office/powerpoint/2010/main" val="1645723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Descargar fondos de Looneytunes, Eso Es Todo Amigos. | Wallpapers.com">
            <a:extLst>
              <a:ext uri="{FF2B5EF4-FFF2-40B4-BE49-F238E27FC236}">
                <a16:creationId xmlns:a16="http://schemas.microsoft.com/office/drawing/2014/main" id="{80E56D42-6B08-45CB-A8AD-5B69CC1FD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189" y="1300595"/>
            <a:ext cx="8043676" cy="4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409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1473</Words>
  <Application>Microsoft Office PowerPoint</Application>
  <PresentationFormat>Panorámica</PresentationFormat>
  <Paragraphs>457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Google Sans Text</vt:lpstr>
      <vt:lpstr>Roboto</vt:lpstr>
      <vt:lpstr>Tema de Office</vt:lpstr>
      <vt:lpstr>Matemáticas Discretas 1</vt:lpstr>
      <vt:lpstr>Recursos de esta clase</vt:lpstr>
      <vt:lpstr>Clasificación de las proposiciones</vt:lpstr>
      <vt:lpstr>Clasificación de las proposiciones</vt:lpstr>
      <vt:lpstr>Equivalencia lógica</vt:lpstr>
      <vt:lpstr>Algunas equivalencias lógicas</vt:lpstr>
      <vt:lpstr>Demostraciones - Contexto</vt:lpstr>
      <vt:lpstr>Demostraciones - Contexto</vt:lpstr>
      <vt:lpstr>Demostraciones</vt:lpstr>
      <vt:lpstr>Demostraciones</vt:lpstr>
      <vt:lpstr>Demostración - Enfoque basado en modelos</vt:lpstr>
      <vt:lpstr>Demostración - Enfoque Axiomático</vt:lpstr>
      <vt:lpstr>Demostración – Escritura de demostraciones</vt:lpstr>
      <vt:lpstr>Demostración (Afirmación-Razón)</vt:lpstr>
      <vt:lpstr>Demostración (Afirmación-Razón)</vt:lpstr>
      <vt:lpstr>Ejemplos de repaso - Demostraciones</vt:lpstr>
      <vt:lpstr>Condiciones de suficiencia y necesidad</vt:lpstr>
      <vt:lpstr>Condiciones de suficiencia y necesidad</vt:lpstr>
      <vt:lpstr>Condiciones de suficiencia y necesidad</vt:lpstr>
      <vt:lpstr>Condiciones de suficiencia y necesidad</vt:lpstr>
      <vt:lpstr>Condiciones de suficiencia y necesidad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Matemáticas Discretas 1</dc:title>
  <dc:creator>Henry Arcila</dc:creator>
  <cp:lastModifiedBy>HENRY ALBERTO ARCILA RAMIREZ</cp:lastModifiedBy>
  <cp:revision>24</cp:revision>
  <dcterms:created xsi:type="dcterms:W3CDTF">2026-02-16T23:39:43Z</dcterms:created>
  <dcterms:modified xsi:type="dcterms:W3CDTF">2026-03-03T05:25:54Z</dcterms:modified>
</cp:coreProperties>
</file>