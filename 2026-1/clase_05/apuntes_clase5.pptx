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00" r:id="rId4"/>
    <p:sldId id="273" r:id="rId5"/>
    <p:sldId id="299" r:id="rId6"/>
    <p:sldId id="294" r:id="rId7"/>
    <p:sldId id="301" r:id="rId8"/>
    <p:sldId id="302" r:id="rId9"/>
    <p:sldId id="274" r:id="rId10"/>
    <p:sldId id="295" r:id="rId11"/>
    <p:sldId id="303" r:id="rId12"/>
    <p:sldId id="296" r:id="rId13"/>
    <p:sldId id="297" r:id="rId14"/>
    <p:sldId id="304" r:id="rId15"/>
    <p:sldId id="305" r:id="rId16"/>
    <p:sldId id="306" r:id="rId17"/>
    <p:sldId id="298" r:id="rId1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142770-6FBD-4BB4-A2B9-23B83B79FB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90A678D-ACF8-42CB-B602-771D3671A8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CA27A23-4A75-4158-B3E1-3279D54A9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26/02/2026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85C36C1-26A3-49BE-A8A8-656951FEA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69EE2A-0423-43AD-9F4C-5952D9F2F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0449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5926FE-A781-4BB8-B275-F95FB8E13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D71A97-A3C2-4295-8826-D28A126AD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06F645-AB27-4911-BCC9-574BF3670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26/02/2026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A8FE45-F388-46E1-847F-D74F2CDFD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E19B6D-4D65-4A9C-873F-E7FFC1C65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24382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96E4C1-EE2C-4DF3-B95E-10353CE8F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936596D-34C7-480C-B7C7-AE611D66A8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F39E0B-86F6-4DD6-8E06-F04AB91D8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26/02/2026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F028C16-2CC1-490E-9309-92C8F9A0B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EC182E-E5DD-4074-AA33-D149FC815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12443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6F4A12-1EEC-4400-93DE-671E040EA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44AD98-7D87-40F1-9981-C755DC4260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43F4873-7AED-4F9D-9103-5818CC36D2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FEDBBA8-578A-446A-800E-01BDB42C0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26/02/2026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082B379-A5D7-4342-86D7-62F9B931F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1451239-35D4-4220-9B22-7EE6E22E4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04234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7EBB5A-6224-4348-9B94-4161FF843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ECF24BE-9C24-4CA6-8A5C-36DBE9285B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ADEFA7D-A451-44F4-B5C6-2ACBE2F847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EB200E4-6816-4997-87AF-39943A0870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501A54D-0CA9-4172-B839-F19F04CFF5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98EF700-2071-4D13-B6EE-34550DBEF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26/02/2026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3078420-F81E-408E-A9AB-0F92562DA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4306ED8-BF80-4607-B42A-65A6846C6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41987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1C3652-A105-4D57-9F69-2D3E81B53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F5AD369-43CB-4B39-8D56-C54136FF9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26/02/2026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1DF48D6-33A3-43B8-9361-244B90D5F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7288C44-51DA-4E62-85C0-E253415A6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281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F7FBCCC-D27A-4A96-85AB-1BAF64934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26/02/2026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1C6C721-C0F1-483D-97A4-E08FDBE34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2EA1B9F-FE52-448D-B841-4A00EEA73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09782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A02A91-1D28-42A9-B21E-EFA7DDA2B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294BA1-5B56-44D0-B843-FE7B2B25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F0E838D-4388-42AC-AC13-A32F7F7E46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8099FCE-0501-4EC2-A21B-EDDDE2E64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26/02/2026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2EAC3F1-97ED-4708-B0C0-2A867F739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388FABF-430B-4BBC-AAF0-0C3836E0A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2699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943730-08F4-474D-BF3B-2673A2E08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31ADB43-4142-4E41-9C02-2EC1C4EE5F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D40C94E-B1B0-42F9-8668-259526B6F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E67A2EA-ED3A-479F-B942-4062C6647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26/02/2026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C577A8-F277-4E96-AC0F-E0581A09E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559C557-34C4-49D7-B43D-1D70DA147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1898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59DA3E-683D-49C3-B835-5DA47B061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82A7221-F084-498B-A2A3-827959A704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E26429-F5E6-4B51-8B8E-E05BD7856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26/02/2026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10D87B-E1BE-4DE4-9F60-CD7364B24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6E0DB5-B959-49A6-9256-FDCF4D4DF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50115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088A24B-644E-406E-86FA-07F4B0DB5A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082AB56-3945-4933-BAEA-72759D3625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F9CA228-69BD-4106-8570-761E9E57B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26/02/2026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BA0E29-7829-410A-9C8D-1D51D1C56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341274-8A44-49CB-A1AD-9434CB354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71293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15368ED-5B28-4202-9E33-32EC05B8A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2C0C07D-486C-406F-ABEB-E3692C2CE8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61E458E-9971-4F89-8F75-BCD52B5927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3E4E5A-E75E-4899-90F5-DDB39F3E781F}" type="datetimeFigureOut">
              <a:rPr lang="es-CO" smtClean="0"/>
              <a:t>26/02/2026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13CD78-927C-4944-A41E-D7C93DAE7B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B0AC53E-55C5-4980-8039-C8B4C48B2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91097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retas1-udea.github.io/discretas1-udea-20261/lessons/mod1/clase2/" TargetMode="External"/><Relationship Id="rId2" Type="http://schemas.openxmlformats.org/officeDocument/2006/relationships/hyperlink" Target="https://discretas1-udea.github.io/discretas1-udea-20261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iscretas1-udea.github.io/discretas1-udea-20261/assets/slides/clase2.pdf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51E613-42B3-43C2-8E09-AFBF8FB95B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b="1" dirty="0"/>
              <a:t>Matemáticas Discretas 1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EE98DC3-5DEF-4734-A422-0A017D4D35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O" sz="4000" b="1" dirty="0"/>
              <a:t>Clase 05</a:t>
            </a:r>
          </a:p>
          <a:p>
            <a:r>
              <a:rPr lang="es-CO" dirty="0"/>
              <a:t>26/02/2025</a:t>
            </a:r>
          </a:p>
        </p:txBody>
      </p:sp>
    </p:spTree>
    <p:extLst>
      <p:ext uri="{BB962C8B-B14F-4D97-AF65-F5344CB8AC3E}">
        <p14:creationId xmlns:p14="http://schemas.microsoft.com/office/powerpoint/2010/main" val="2704810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Recursos de esta clase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93274"/>
            <a:ext cx="11014364" cy="4583690"/>
          </a:xfrm>
        </p:spPr>
        <p:txBody>
          <a:bodyPr>
            <a:normAutofit/>
          </a:bodyPr>
          <a:lstStyle/>
          <a:p>
            <a:r>
              <a:rPr lang="es-CO" b="1" dirty="0"/>
              <a:t>Pagina web</a:t>
            </a:r>
            <a:r>
              <a:rPr lang="es-CO" dirty="0"/>
              <a:t>: </a:t>
            </a:r>
            <a:r>
              <a:rPr lang="es-CO" dirty="0">
                <a:hlinkClick r:id="rId2"/>
              </a:rPr>
              <a:t>https://discretas1-udea.github.io/discretas1-udea-20261/</a:t>
            </a:r>
            <a:endParaRPr lang="es-CO" dirty="0"/>
          </a:p>
          <a:p>
            <a:pPr lvl="1"/>
            <a:r>
              <a:rPr lang="es-CO" b="1" dirty="0"/>
              <a:t>Clase 2</a:t>
            </a:r>
            <a:r>
              <a:rPr lang="es-CO" dirty="0"/>
              <a:t>: </a:t>
            </a:r>
            <a:r>
              <a:rPr lang="es-CO" dirty="0">
                <a:hlinkClick r:id="rId3"/>
              </a:rPr>
              <a:t>https://discretas1-udea.github.io/discretas1-udea-20261/lessons/mod1/clase2/</a:t>
            </a:r>
            <a:endParaRPr lang="es-CO" dirty="0"/>
          </a:p>
          <a:p>
            <a:pPr lvl="1"/>
            <a:r>
              <a:rPr lang="es-CO" b="1" dirty="0"/>
              <a:t>Clase 3</a:t>
            </a:r>
            <a:r>
              <a:rPr lang="es-CO" dirty="0"/>
              <a:t>: </a:t>
            </a:r>
            <a:r>
              <a:rPr lang="es-CO" dirty="0">
                <a:hlinkClick r:id="rId3"/>
              </a:rPr>
              <a:t>https://discretas1-udea.github.io/discretas1-udea-20261/lessons/mod1/clase3/</a:t>
            </a:r>
            <a:endParaRPr lang="es-CO" dirty="0"/>
          </a:p>
          <a:p>
            <a:r>
              <a:rPr lang="es-CO" b="1" dirty="0"/>
              <a:t>Diapositivas</a:t>
            </a:r>
            <a:r>
              <a:rPr lang="es-CO" dirty="0"/>
              <a:t>: </a:t>
            </a:r>
          </a:p>
          <a:p>
            <a:pPr lvl="1"/>
            <a:r>
              <a:rPr lang="es-CO" dirty="0">
                <a:hlinkClick r:id="rId4"/>
              </a:rPr>
              <a:t>https://discretas1-udea.github.io/discretas1-udea-20261/assets/slides/clase1.pdf</a:t>
            </a:r>
            <a:endParaRPr lang="es-CO" dirty="0"/>
          </a:p>
          <a:p>
            <a:pPr lvl="1"/>
            <a:r>
              <a:rPr lang="es-CO" dirty="0">
                <a:hlinkClick r:id="rId4"/>
              </a:rPr>
              <a:t>https://discretas1-udea.github.io/discretas1-udea-20261/assets/slides/clase2.pdf</a:t>
            </a:r>
            <a:endParaRPr lang="es-CO" dirty="0"/>
          </a:p>
          <a:p>
            <a:pPr marL="0" indent="0">
              <a:buNone/>
            </a:pPr>
            <a:r>
              <a:rPr lang="es-CO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76998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218" y="226580"/>
            <a:ext cx="11055927" cy="1325563"/>
          </a:xfrm>
        </p:spPr>
        <p:txBody>
          <a:bodyPr/>
          <a:lstStyle/>
          <a:p>
            <a:r>
              <a:rPr lang="es-CO" dirty="0"/>
              <a:t>Clasificación de las proposiciones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218" y="1213544"/>
            <a:ext cx="11471563" cy="40927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000" b="1" dirty="0">
                <a:solidFill>
                  <a:srgbClr val="131314"/>
                </a:solidFill>
              </a:rPr>
              <a:t>Tablas de Verdad</a:t>
            </a:r>
            <a:endParaRPr lang="es-MX" sz="2000" b="1" dirty="0"/>
          </a:p>
          <a:p>
            <a:pPr marL="457200" indent="-457200">
              <a:buFont typeface="+mj-lt"/>
              <a:buAutoNum type="arabicPeriod"/>
            </a:pPr>
            <a:endParaRPr lang="es-MX" sz="2000" dirty="0"/>
          </a:p>
          <a:p>
            <a:pPr marL="457200" indent="-457200">
              <a:buFont typeface="+mj-lt"/>
              <a:buAutoNum type="arabicPeriod"/>
            </a:pPr>
            <a:endParaRPr lang="es-MX" sz="2000" dirty="0"/>
          </a:p>
          <a:p>
            <a:pPr marL="457200" indent="-457200">
              <a:buFont typeface="+mj-lt"/>
              <a:buAutoNum type="arabicPeriod"/>
            </a:pPr>
            <a:endParaRPr lang="es-MX" sz="2000" dirty="0"/>
          </a:p>
          <a:p>
            <a:pPr marL="0" indent="0">
              <a:buNone/>
            </a:pPr>
            <a:endParaRPr lang="es-MX" sz="2000" dirty="0"/>
          </a:p>
          <a:p>
            <a:pPr marL="0" indent="0">
              <a:buNone/>
            </a:pPr>
            <a:endParaRPr lang="es-MX" sz="2000" b="1" dirty="0"/>
          </a:p>
          <a:p>
            <a:pPr marL="0" indent="0">
              <a:buNone/>
            </a:pPr>
            <a:r>
              <a:rPr lang="es-MX" sz="2000" b="1" dirty="0"/>
              <a:t>Reglas de prioridad y asociatividad</a:t>
            </a:r>
          </a:p>
          <a:p>
            <a:pPr marL="0" indent="0">
              <a:buNone/>
            </a:pPr>
            <a:endParaRPr lang="es-MX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a 3">
                <a:extLst>
                  <a:ext uri="{FF2B5EF4-FFF2-40B4-BE49-F238E27FC236}">
                    <a16:creationId xmlns:a16="http://schemas.microsoft.com/office/drawing/2014/main" id="{63BB3C40-812C-46D7-81FB-A38FE4576A7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9428181"/>
                  </p:ext>
                </p:extLst>
              </p:nvPr>
            </p:nvGraphicFramePr>
            <p:xfrm>
              <a:off x="2367782" y="2016936"/>
              <a:ext cx="1135628" cy="1057566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567814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567814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3525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35252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3525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a 3">
                <a:extLst>
                  <a:ext uri="{FF2B5EF4-FFF2-40B4-BE49-F238E27FC236}">
                    <a16:creationId xmlns:a16="http://schemas.microsoft.com/office/drawing/2014/main" id="{63BB3C40-812C-46D7-81FB-A38FE4576A7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9428181"/>
                  </p:ext>
                </p:extLst>
              </p:nvPr>
            </p:nvGraphicFramePr>
            <p:xfrm>
              <a:off x="2367782" y="2016936"/>
              <a:ext cx="1135628" cy="1057566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567814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567814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352522"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35252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352522"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4">
                <a:extLst>
                  <a:ext uri="{FF2B5EF4-FFF2-40B4-BE49-F238E27FC236}">
                    <a16:creationId xmlns:a16="http://schemas.microsoft.com/office/drawing/2014/main" id="{5E869312-633E-40D0-86D0-6EF0C3F43C0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14597108"/>
                  </p:ext>
                </p:extLst>
              </p:nvPr>
            </p:nvGraphicFramePr>
            <p:xfrm>
              <a:off x="4294909" y="1752817"/>
              <a:ext cx="6261577" cy="16764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544786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544786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1034401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  <a:gridCol w="1034401">
                      <a:extLst>
                        <a:ext uri="{9D8B030D-6E8A-4147-A177-3AD203B41FA5}">
                          <a16:colId xmlns:a16="http://schemas.microsoft.com/office/drawing/2014/main" val="3347906918"/>
                        </a:ext>
                      </a:extLst>
                    </a:gridCol>
                    <a:gridCol w="1034401">
                      <a:extLst>
                        <a:ext uri="{9D8B030D-6E8A-4147-A177-3AD203B41FA5}">
                          <a16:colId xmlns:a16="http://schemas.microsoft.com/office/drawing/2014/main" val="912474650"/>
                        </a:ext>
                      </a:extLst>
                    </a:gridCol>
                    <a:gridCol w="1034401">
                      <a:extLst>
                        <a:ext uri="{9D8B030D-6E8A-4147-A177-3AD203B41FA5}">
                          <a16:colId xmlns:a16="http://schemas.microsoft.com/office/drawing/2014/main" val="4025530010"/>
                        </a:ext>
                      </a:extLst>
                    </a:gridCol>
                    <a:gridCol w="1034401">
                      <a:extLst>
                        <a:ext uri="{9D8B030D-6E8A-4147-A177-3AD203B41FA5}">
                          <a16:colId xmlns:a16="http://schemas.microsoft.com/office/drawing/2014/main" val="2172254775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⊕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↔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33480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334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33480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33480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4">
                <a:extLst>
                  <a:ext uri="{FF2B5EF4-FFF2-40B4-BE49-F238E27FC236}">
                    <a16:creationId xmlns:a16="http://schemas.microsoft.com/office/drawing/2014/main" id="{5E869312-633E-40D0-86D0-6EF0C3F43C0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14597108"/>
                  </p:ext>
                </p:extLst>
              </p:nvPr>
            </p:nvGraphicFramePr>
            <p:xfrm>
              <a:off x="4294909" y="1752817"/>
              <a:ext cx="6261577" cy="16764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544786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544786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1034401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  <a:gridCol w="1034401">
                      <a:extLst>
                        <a:ext uri="{9D8B030D-6E8A-4147-A177-3AD203B41FA5}">
                          <a16:colId xmlns:a16="http://schemas.microsoft.com/office/drawing/2014/main" val="3347906918"/>
                        </a:ext>
                      </a:extLst>
                    </a:gridCol>
                    <a:gridCol w="1034401">
                      <a:extLst>
                        <a:ext uri="{9D8B030D-6E8A-4147-A177-3AD203B41FA5}">
                          <a16:colId xmlns:a16="http://schemas.microsoft.com/office/drawing/2014/main" val="912474650"/>
                        </a:ext>
                      </a:extLst>
                    </a:gridCol>
                    <a:gridCol w="1034401">
                      <a:extLst>
                        <a:ext uri="{9D8B030D-6E8A-4147-A177-3AD203B41FA5}">
                          <a16:colId xmlns:a16="http://schemas.microsoft.com/office/drawing/2014/main" val="4025530010"/>
                        </a:ext>
                      </a:extLst>
                    </a:gridCol>
                    <a:gridCol w="1034401">
                      <a:extLst>
                        <a:ext uri="{9D8B030D-6E8A-4147-A177-3AD203B41FA5}">
                          <a16:colId xmlns:a16="http://schemas.microsoft.com/office/drawing/2014/main" val="2172254775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⊕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↔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33480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334807"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33480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33480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a 2">
                <a:extLst>
                  <a:ext uri="{FF2B5EF4-FFF2-40B4-BE49-F238E27FC236}">
                    <a16:creationId xmlns:a16="http://schemas.microsoft.com/office/drawing/2014/main" id="{FEDA91D7-23FD-416A-86C9-A9A50A25DFA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87082114"/>
                  </p:ext>
                </p:extLst>
              </p:nvPr>
            </p:nvGraphicFramePr>
            <p:xfrm>
              <a:off x="958213" y="4173816"/>
              <a:ext cx="10573263" cy="256844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1775628">
                      <a:extLst>
                        <a:ext uri="{9D8B030D-6E8A-4147-A177-3AD203B41FA5}">
                          <a16:colId xmlns:a16="http://schemas.microsoft.com/office/drawing/2014/main" val="2912375319"/>
                        </a:ext>
                      </a:extLst>
                    </a:gridCol>
                    <a:gridCol w="1246909">
                      <a:extLst>
                        <a:ext uri="{9D8B030D-6E8A-4147-A177-3AD203B41FA5}">
                          <a16:colId xmlns:a16="http://schemas.microsoft.com/office/drawing/2014/main" val="2830172176"/>
                        </a:ext>
                      </a:extLst>
                    </a:gridCol>
                    <a:gridCol w="3335291">
                      <a:extLst>
                        <a:ext uri="{9D8B030D-6E8A-4147-A177-3AD203B41FA5}">
                          <a16:colId xmlns:a16="http://schemas.microsoft.com/office/drawing/2014/main" val="3163836375"/>
                        </a:ext>
                      </a:extLst>
                    </a:gridCol>
                    <a:gridCol w="4215435">
                      <a:extLst>
                        <a:ext uri="{9D8B030D-6E8A-4147-A177-3AD203B41FA5}">
                          <a16:colId xmlns:a16="http://schemas.microsoft.com/office/drawing/2014/main" val="2124308029"/>
                        </a:ext>
                      </a:extLst>
                    </a:gridCol>
                  </a:tblGrid>
                  <a:tr h="3669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6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Prioridad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6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Operador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6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Asociatividad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6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Ejemplo con paréntesis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84271441"/>
                      </a:ext>
                    </a:extLst>
                  </a:tr>
                  <a:tr h="366920">
                    <a:tc>
                      <a:txBody>
                        <a:bodyPr/>
                        <a:lstStyle/>
                        <a:p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1 (la mas alta)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No aplica (unitario)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𝑝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¬</m:t>
                                        </m:r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</m:d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2419328"/>
                      </a:ext>
                    </a:extLst>
                  </a:tr>
                  <a:tr h="366920">
                    <a:tc>
                      <a:txBody>
                        <a:bodyPr/>
                        <a:lstStyle/>
                        <a:p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Izquierda (</a:t>
                          </a:r>
                          <a14:m>
                            <m:oMath xmlns:m="http://schemas.openxmlformats.org/officeDocument/2006/math"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𝐼</m:t>
                              </m:r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→</m:t>
                              </m:r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𝑝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∧</m:t>
                                        </m:r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</m:d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2588756"/>
                      </a:ext>
                    </a:extLst>
                  </a:tr>
                  <a:tr h="366920">
                    <a:tc>
                      <a:txBody>
                        <a:bodyPr/>
                        <a:lstStyle/>
                        <a:p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Izquierda (</a:t>
                          </a:r>
                          <a14:m>
                            <m:oMath xmlns:m="http://schemas.openxmlformats.org/officeDocument/2006/math"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𝐼</m:t>
                              </m:r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→</m:t>
                              </m:r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𝑝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∨</m:t>
                                        </m:r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</m:d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∨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7133619"/>
                      </a:ext>
                    </a:extLst>
                  </a:tr>
                  <a:tr h="366920">
                    <a:tc>
                      <a:txBody>
                        <a:bodyPr/>
                        <a:lstStyle/>
                        <a:p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4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⨁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Izquierda (</a:t>
                          </a:r>
                          <a14:m>
                            <m:oMath xmlns:m="http://schemas.openxmlformats.org/officeDocument/2006/math"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𝐼</m:t>
                              </m:r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→</m:t>
                              </m:r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𝑝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⨁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⨁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⨁</m:t>
                                        </m:r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</m:d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⨁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3104284"/>
                      </a:ext>
                    </a:extLst>
                  </a:tr>
                  <a:tr h="366920">
                    <a:tc>
                      <a:txBody>
                        <a:bodyPr/>
                        <a:lstStyle/>
                        <a:p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5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Derecha (</a:t>
                          </a:r>
                          <a14:m>
                            <m:oMath xmlns:m="http://schemas.openxmlformats.org/officeDocument/2006/math"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𝐷</m:t>
                              </m:r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→</m:t>
                              </m:r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𝐼</m:t>
                              </m:r>
                            </m:oMath>
                          </a14:m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𝑝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→</m:t>
                                    </m:r>
                                    <m:d>
                                      <m:dPr>
                                        <m:ctrlP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→</m:t>
                                        </m:r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50495079"/>
                      </a:ext>
                    </a:extLst>
                  </a:tr>
                  <a:tr h="366920">
                    <a:tc>
                      <a:txBody>
                        <a:bodyPr/>
                        <a:lstStyle/>
                        <a:p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6 (la mas baja)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↔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Derecha (</a:t>
                          </a:r>
                          <a14:m>
                            <m:oMath xmlns:m="http://schemas.openxmlformats.org/officeDocument/2006/math"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𝐷</m:t>
                              </m:r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→</m:t>
                              </m:r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𝐼</m:t>
                              </m:r>
                            </m:oMath>
                          </a14:m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𝑝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↔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↔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↔</m:t>
                                    </m:r>
                                    <m:d>
                                      <m:dPr>
                                        <m:ctrlP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↔</m:t>
                                        </m:r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41535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a 2">
                <a:extLst>
                  <a:ext uri="{FF2B5EF4-FFF2-40B4-BE49-F238E27FC236}">
                    <a16:creationId xmlns:a16="http://schemas.microsoft.com/office/drawing/2014/main" id="{FEDA91D7-23FD-416A-86C9-A9A50A25DFA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87082114"/>
                  </p:ext>
                </p:extLst>
              </p:nvPr>
            </p:nvGraphicFramePr>
            <p:xfrm>
              <a:off x="958213" y="4173816"/>
              <a:ext cx="10573263" cy="256844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1775628">
                      <a:extLst>
                        <a:ext uri="{9D8B030D-6E8A-4147-A177-3AD203B41FA5}">
                          <a16:colId xmlns:a16="http://schemas.microsoft.com/office/drawing/2014/main" val="2912375319"/>
                        </a:ext>
                      </a:extLst>
                    </a:gridCol>
                    <a:gridCol w="1246909">
                      <a:extLst>
                        <a:ext uri="{9D8B030D-6E8A-4147-A177-3AD203B41FA5}">
                          <a16:colId xmlns:a16="http://schemas.microsoft.com/office/drawing/2014/main" val="2830172176"/>
                        </a:ext>
                      </a:extLst>
                    </a:gridCol>
                    <a:gridCol w="3335291">
                      <a:extLst>
                        <a:ext uri="{9D8B030D-6E8A-4147-A177-3AD203B41FA5}">
                          <a16:colId xmlns:a16="http://schemas.microsoft.com/office/drawing/2014/main" val="3163836375"/>
                        </a:ext>
                      </a:extLst>
                    </a:gridCol>
                    <a:gridCol w="4215435">
                      <a:extLst>
                        <a:ext uri="{9D8B030D-6E8A-4147-A177-3AD203B41FA5}">
                          <a16:colId xmlns:a16="http://schemas.microsoft.com/office/drawing/2014/main" val="2124308029"/>
                        </a:ext>
                      </a:extLst>
                    </a:gridCol>
                  </a:tblGrid>
                  <a:tr h="3669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6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Prioridad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6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Operador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6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Asociatividad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6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Ejemplo con paréntesis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84271441"/>
                      </a:ext>
                    </a:extLst>
                  </a:tr>
                  <a:tr h="366920">
                    <a:tc>
                      <a:txBody>
                        <a:bodyPr/>
                        <a:lstStyle/>
                        <a:p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1 (la mas alta)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No aplica (unitario)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𝑝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¬</m:t>
                                        </m:r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</m:d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2419328"/>
                      </a:ext>
                    </a:extLst>
                  </a:tr>
                  <a:tr h="366920">
                    <a:tc>
                      <a:txBody>
                        <a:bodyPr/>
                        <a:lstStyle/>
                        <a:p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Izquierda (</a:t>
                          </a:r>
                          <a14:m xmlns:a14="http://schemas.microsoft.com/office/drawing/2010/main">
                            <m:oMath xmlns:m="http://schemas.openxmlformats.org/officeDocument/2006/math"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𝐼</m:t>
                              </m:r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→</m:t>
                              </m:r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𝑝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∧</m:t>
                                        </m:r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</m:d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2588756"/>
                      </a:ext>
                    </a:extLst>
                  </a:tr>
                  <a:tr h="366920">
                    <a:tc>
                      <a:txBody>
                        <a:bodyPr/>
                        <a:lstStyle/>
                        <a:p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Izquierda (</a:t>
                          </a:r>
                          <a14:m xmlns:a14="http://schemas.microsoft.com/office/drawing/2010/main">
                            <m:oMath xmlns:m="http://schemas.openxmlformats.org/officeDocument/2006/math"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𝐼</m:t>
                              </m:r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→</m:t>
                              </m:r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𝑝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∨</m:t>
                                        </m:r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</m:d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∨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7133619"/>
                      </a:ext>
                    </a:extLst>
                  </a:tr>
                  <a:tr h="366920">
                    <a:tc>
                      <a:txBody>
                        <a:bodyPr/>
                        <a:lstStyle/>
                        <a:p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4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⨁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Izquierda (</a:t>
                          </a:r>
                          <a14:m xmlns:a14="http://schemas.microsoft.com/office/drawing/2010/main">
                            <m:oMath xmlns:m="http://schemas.openxmlformats.org/officeDocument/2006/math"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𝐼</m:t>
                              </m:r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→</m:t>
                              </m:r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𝑝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⨁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⨁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⨁</m:t>
                                        </m:r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</m:d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⨁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3104284"/>
                      </a:ext>
                    </a:extLst>
                  </a:tr>
                  <a:tr h="366920">
                    <a:tc>
                      <a:txBody>
                        <a:bodyPr/>
                        <a:lstStyle/>
                        <a:p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5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Derecha (</a:t>
                          </a:r>
                          <a14:m xmlns:a14="http://schemas.microsoft.com/office/drawing/2010/main">
                            <m:oMath xmlns:m="http://schemas.openxmlformats.org/officeDocument/2006/math"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𝐷</m:t>
                              </m:r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→</m:t>
                              </m:r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𝐼</m:t>
                              </m:r>
                            </m:oMath>
                          </a14:m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𝑝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→</m:t>
                                    </m:r>
                                    <m:d>
                                      <m:dPr>
                                        <m:ctrlP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→</m:t>
                                        </m:r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50495079"/>
                      </a:ext>
                    </a:extLst>
                  </a:tr>
                  <a:tr h="366920">
                    <a:tc>
                      <a:txBody>
                        <a:bodyPr/>
                        <a:lstStyle/>
                        <a:p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6 (la mas baja)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↔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Derecha (</a:t>
                          </a:r>
                          <a14:m xmlns:a14="http://schemas.microsoft.com/office/drawing/2010/main">
                            <m:oMath xmlns:m="http://schemas.openxmlformats.org/officeDocument/2006/math"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𝐷</m:t>
                              </m:r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→</m:t>
                              </m:r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𝐼</m:t>
                              </m:r>
                            </m:oMath>
                          </a14:m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𝑝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↔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↔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↔</m:t>
                                    </m:r>
                                    <m:d>
                                      <m:dPr>
                                        <m:ctrlP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↔</m:t>
                                        </m:r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415350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3573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218" y="226580"/>
            <a:ext cx="11055927" cy="1325563"/>
          </a:xfrm>
        </p:spPr>
        <p:txBody>
          <a:bodyPr/>
          <a:lstStyle/>
          <a:p>
            <a:r>
              <a:rPr lang="es-CO" dirty="0"/>
              <a:t>Clasificación de las proposiciones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0218" y="1213544"/>
                <a:ext cx="11471563" cy="409274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MX" sz="2000" dirty="0">
                    <a:solidFill>
                      <a:srgbClr val="131314"/>
                    </a:solidFill>
                  </a:rPr>
                  <a:t>En lógica proposicional, las proposiciones se clasifican según su valor de verdad en todas sus posibles interpretaciones (combinación de valores de la tabla de verdad) en tres tipos.</a:t>
                </a:r>
              </a:p>
              <a:p>
                <a:r>
                  <a:rPr lang="es-MX" sz="2000" b="1" i="0" dirty="0">
                    <a:solidFill>
                      <a:srgbClr val="131314"/>
                    </a:solidFill>
                    <a:effectLst/>
                    <a:latin typeface="Google Sans Text"/>
                  </a:rPr>
                  <a:t>Tautología</a:t>
                </a:r>
                <a:r>
                  <a:rPr lang="es-MX" sz="2000" b="0" i="0" dirty="0">
                    <a:solidFill>
                      <a:srgbClr val="131314"/>
                    </a:solidFill>
                    <a:effectLst/>
                    <a:latin typeface="Google Sans Text"/>
                  </a:rPr>
                  <a:t>: Es una proposición que es verdadera en todos los casos posibles.</a:t>
                </a:r>
              </a:p>
              <a:p>
                <a:r>
                  <a:rPr lang="es-MX" sz="2000" b="1" dirty="0">
                    <a:solidFill>
                      <a:srgbClr val="131314"/>
                    </a:solidFill>
                    <a:latin typeface="Google Sans Text"/>
                  </a:rPr>
                  <a:t>Contradicción</a:t>
                </a:r>
                <a:r>
                  <a:rPr lang="es-MX" sz="2000" dirty="0">
                    <a:solidFill>
                      <a:srgbClr val="131314"/>
                    </a:solidFill>
                    <a:latin typeface="Google Sans Text"/>
                  </a:rPr>
                  <a:t>: Es una proposición que es falsa en todos los casos posibles.</a:t>
                </a:r>
              </a:p>
              <a:p>
                <a:r>
                  <a:rPr lang="es-MX" sz="2000" b="1" i="0" dirty="0">
                    <a:solidFill>
                      <a:srgbClr val="131314"/>
                    </a:solidFill>
                    <a:effectLst/>
                    <a:latin typeface="Google Sans Text"/>
                  </a:rPr>
                  <a:t>Equivalencia</a:t>
                </a:r>
                <a:r>
                  <a:rPr lang="es-MX" sz="2000" b="0" i="0" dirty="0">
                    <a:solidFill>
                      <a:srgbClr val="131314"/>
                    </a:solidFill>
                    <a:effectLst/>
                    <a:latin typeface="Google Sans Text"/>
                  </a:rPr>
                  <a:t>: Proposición que es verdadera para ciertas combinaciones y falsa para otras.</a:t>
                </a:r>
              </a:p>
              <a:p>
                <a:pPr marL="0" indent="0">
                  <a:buNone/>
                </a:pPr>
                <a:endParaRPr lang="es-MX" sz="1600" b="0" i="0" dirty="0">
                  <a:solidFill>
                    <a:srgbClr val="131314"/>
                  </a:solidFill>
                  <a:effectLst/>
                  <a:latin typeface="Google Sans Text"/>
                </a:endParaRPr>
              </a:p>
              <a:p>
                <a:pPr marL="0" indent="0">
                  <a:buNone/>
                </a:pPr>
                <a:r>
                  <a:rPr lang="es-MX" sz="2000" dirty="0"/>
                  <a:t>Ejemplo: Dadas las siguientes proposiciones, a que tipo pertenecen.</a:t>
                </a: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∨¬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endParaRPr lang="es-MX" sz="2000" b="0" dirty="0"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∧¬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endParaRPr lang="es-MX" sz="2000" dirty="0"/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MX" sz="200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s-MX" sz="200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</m:ctrlPr>
                          </m:dPr>
                          <m:e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¬</m:t>
                            </m:r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𝑞</m:t>
                            </m:r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∨</m:t>
                            </m:r>
                            <m:r>
                              <m:rPr>
                                <m:lit/>
                              </m:rPr>
                              <a:rPr lang="es-MX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→¬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endParaRPr lang="es-MX" sz="2000" dirty="0"/>
              </a:p>
              <a:p>
                <a:pPr marL="457200" indent="-457200">
                  <a:buFont typeface="+mj-lt"/>
                  <a:buAutoNum type="arabicPeriod"/>
                </a:pPr>
                <a:endParaRPr lang="es-MX" sz="200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218" y="1213544"/>
                <a:ext cx="11471563" cy="4092747"/>
              </a:xfrm>
              <a:blipFill>
                <a:blip r:embed="rId2"/>
                <a:stretch>
                  <a:fillRect l="-531" t="-149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1733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218" y="226580"/>
            <a:ext cx="11055927" cy="1325563"/>
          </a:xfrm>
        </p:spPr>
        <p:txBody>
          <a:bodyPr/>
          <a:lstStyle/>
          <a:p>
            <a:r>
              <a:rPr lang="es-CO" dirty="0"/>
              <a:t>Clasificación de las proposiciones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0218" y="1213544"/>
                <a:ext cx="11471563" cy="54498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MX" sz="2000" dirty="0"/>
                  <a:t>Ejemplo: Dadas las siguientes proposiciones, a que tipo pertenecen.</a:t>
                </a: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∨¬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endParaRPr lang="es-MX" sz="2000" b="0" dirty="0"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s-MX" sz="2000" dirty="0"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s-MX" sz="2000" b="0" dirty="0"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s-MX" sz="2000" b="0" dirty="0"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∧¬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endParaRPr lang="es-MX" sz="2000" b="0" dirty="0"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s-MX" sz="2000" dirty="0"/>
              </a:p>
              <a:p>
                <a:pPr marL="457200" indent="-457200">
                  <a:buFont typeface="+mj-lt"/>
                  <a:buAutoNum type="arabicPeriod"/>
                </a:pPr>
                <a:endParaRPr lang="es-MX" sz="2000" dirty="0"/>
              </a:p>
              <a:p>
                <a:pPr marL="457200" indent="-457200">
                  <a:buFont typeface="+mj-lt"/>
                  <a:buAutoNum type="arabicPeriod"/>
                </a:pPr>
                <a:endParaRPr lang="es-MX" sz="2000" dirty="0"/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MX" sz="200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s-MX" sz="200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</m:ctrlPr>
                          </m:dPr>
                          <m:e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¬</m:t>
                            </m:r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𝑞</m:t>
                            </m:r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∨</m:t>
                            </m:r>
                            <m:r>
                              <m:rPr>
                                <m:lit/>
                              </m:rPr>
                              <a:rPr lang="es-MX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→¬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endParaRPr lang="es-MX" sz="2000" dirty="0"/>
              </a:p>
              <a:p>
                <a:pPr marL="457200" indent="-457200">
                  <a:buFont typeface="+mj-lt"/>
                  <a:buAutoNum type="arabicPeriod"/>
                </a:pPr>
                <a:endParaRPr lang="es-MX" sz="200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218" y="1213544"/>
                <a:ext cx="11471563" cy="5449800"/>
              </a:xfrm>
              <a:blipFill>
                <a:blip r:embed="rId2"/>
                <a:stretch>
                  <a:fillRect l="-531" t="-111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a 4">
                <a:extLst>
                  <a:ext uri="{FF2B5EF4-FFF2-40B4-BE49-F238E27FC236}">
                    <a16:creationId xmlns:a16="http://schemas.microsoft.com/office/drawing/2014/main" id="{13CF5809-582D-4F07-A5EE-35FC34C3EA3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98550417"/>
                  </p:ext>
                </p:extLst>
              </p:nvPr>
            </p:nvGraphicFramePr>
            <p:xfrm>
              <a:off x="3065409" y="1990467"/>
              <a:ext cx="2143900" cy="100584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486240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486240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1171420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Font typeface="+mj-lt"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∨¬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MX" sz="16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b="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b="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b="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b="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b="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b="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a 4">
                <a:extLst>
                  <a:ext uri="{FF2B5EF4-FFF2-40B4-BE49-F238E27FC236}">
                    <a16:creationId xmlns:a16="http://schemas.microsoft.com/office/drawing/2014/main" id="{13CF5809-582D-4F07-A5EE-35FC34C3EA3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98550417"/>
                  </p:ext>
                </p:extLst>
              </p:nvPr>
            </p:nvGraphicFramePr>
            <p:xfrm>
              <a:off x="3065409" y="1990467"/>
              <a:ext cx="2143900" cy="100584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486240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486240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1171420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Font typeface="+mj-lt"/>
                            <a:buNone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∨¬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MX" sz="16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b="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b="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b="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b="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b="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b="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4">
                <a:extLst>
                  <a:ext uri="{FF2B5EF4-FFF2-40B4-BE49-F238E27FC236}">
                    <a16:creationId xmlns:a16="http://schemas.microsoft.com/office/drawing/2014/main" id="{0550F5F5-51C8-429A-AC26-25BD0D6B35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22312314"/>
                  </p:ext>
                </p:extLst>
              </p:nvPr>
            </p:nvGraphicFramePr>
            <p:xfrm>
              <a:off x="3065409" y="3429000"/>
              <a:ext cx="2143899" cy="100584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486240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535442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  <a:gridCol w="1122217">
                      <a:extLst>
                        <a:ext uri="{9D8B030D-6E8A-4147-A177-3AD203B41FA5}">
                          <a16:colId xmlns:a16="http://schemas.microsoft.com/office/drawing/2014/main" val="1121803805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∧¬</m:t>
                                </m:r>
                                <m:r>
                                  <a:rPr lang="es-MX" sz="16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b="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b="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b="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b="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b="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b="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4">
                <a:extLst>
                  <a:ext uri="{FF2B5EF4-FFF2-40B4-BE49-F238E27FC236}">
                    <a16:creationId xmlns:a16="http://schemas.microsoft.com/office/drawing/2014/main" id="{0550F5F5-51C8-429A-AC26-25BD0D6B35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22312314"/>
                  </p:ext>
                </p:extLst>
              </p:nvPr>
            </p:nvGraphicFramePr>
            <p:xfrm>
              <a:off x="3065409" y="3429000"/>
              <a:ext cx="2143899" cy="100584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486240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535442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  <a:gridCol w="1122217">
                      <a:extLst>
                        <a:ext uri="{9D8B030D-6E8A-4147-A177-3AD203B41FA5}">
                          <a16:colId xmlns:a16="http://schemas.microsoft.com/office/drawing/2014/main" val="1121803805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∧¬</m:t>
                                </m:r>
                                <m:r>
                                  <a:rPr lang="es-MX" sz="16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b="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b="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b="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b="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b="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b="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a 4">
                <a:extLst>
                  <a:ext uri="{FF2B5EF4-FFF2-40B4-BE49-F238E27FC236}">
                    <a16:creationId xmlns:a16="http://schemas.microsoft.com/office/drawing/2014/main" id="{C1143585-A3F4-4CDF-8A23-240A916C24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35312721"/>
                  </p:ext>
                </p:extLst>
              </p:nvPr>
            </p:nvGraphicFramePr>
            <p:xfrm>
              <a:off x="4137357" y="4986944"/>
              <a:ext cx="6544497" cy="16764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448085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448085">
                      <a:extLst>
                        <a:ext uri="{9D8B030D-6E8A-4147-A177-3AD203B41FA5}">
                          <a16:colId xmlns:a16="http://schemas.microsoft.com/office/drawing/2014/main" val="1921489981"/>
                        </a:ext>
                      </a:extLst>
                    </a:gridCol>
                    <a:gridCol w="448085">
                      <a:extLst>
                        <a:ext uri="{9D8B030D-6E8A-4147-A177-3AD203B41FA5}">
                          <a16:colId xmlns:a16="http://schemas.microsoft.com/office/drawing/2014/main" val="331983888"/>
                        </a:ext>
                      </a:extLst>
                    </a:gridCol>
                    <a:gridCol w="448085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  <a:gridCol w="953720">
                      <a:extLst>
                        <a:ext uri="{9D8B030D-6E8A-4147-A177-3AD203B41FA5}">
                          <a16:colId xmlns:a16="http://schemas.microsoft.com/office/drawing/2014/main" val="1121803805"/>
                        </a:ext>
                      </a:extLst>
                    </a:gridCol>
                    <a:gridCol w="1744113">
                      <a:extLst>
                        <a:ext uri="{9D8B030D-6E8A-4147-A177-3AD203B41FA5}">
                          <a16:colId xmlns:a16="http://schemas.microsoft.com/office/drawing/2014/main" val="278034474"/>
                        </a:ext>
                      </a:extLst>
                    </a:gridCol>
                    <a:gridCol w="2054324">
                      <a:extLst>
                        <a:ext uri="{9D8B030D-6E8A-4147-A177-3AD203B41FA5}">
                          <a16:colId xmlns:a16="http://schemas.microsoft.com/office/drawing/2014/main" val="2498736789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s-MX" sz="16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¬</m:t>
                                    </m:r>
                                    <m:r>
                                      <a:rPr lang="es-MX" sz="1600" b="1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𝒑</m:t>
                                    </m:r>
                                    <m:r>
                                      <a:rPr lang="es-MX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∨</m:t>
                                    </m:r>
                                    <m:r>
                                      <m:rPr>
                                        <m:lit/>
                                      </m:rPr>
                                      <a:rPr lang="es-MX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s-MX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</m:d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→¬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¬</m:t>
                                        </m:r>
                                        <m:r>
                                          <a:rPr lang="es-MX" sz="1600" b="1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𝒑</m:t>
                                        </m:r>
                                        <m:r>
                                          <a:rPr lang="es-MX" sz="1600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∨</m:t>
                                        </m:r>
                                        <m:r>
                                          <m:rPr>
                                            <m:lit/>
                                          </m:rPr>
                                          <a:rPr lang="es-MX" sz="1600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s-MX" sz="1600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𝒒</m:t>
                                        </m:r>
                                      </m:e>
                                    </m:d>
                                    <m:r>
                                      <a:rPr lang="es-MX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→¬</m:t>
                                    </m:r>
                                    <m:r>
                                      <a:rPr lang="es-MX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𝒑</m:t>
                                    </m:r>
                                  </m:e>
                                </m:d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b="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b="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b="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1748879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b="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49194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a 4">
                <a:extLst>
                  <a:ext uri="{FF2B5EF4-FFF2-40B4-BE49-F238E27FC236}">
                    <a16:creationId xmlns:a16="http://schemas.microsoft.com/office/drawing/2014/main" id="{C1143585-A3F4-4CDF-8A23-240A916C24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35312721"/>
                  </p:ext>
                </p:extLst>
              </p:nvPr>
            </p:nvGraphicFramePr>
            <p:xfrm>
              <a:off x="4137357" y="4986944"/>
              <a:ext cx="6544497" cy="16764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448085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448085">
                      <a:extLst>
                        <a:ext uri="{9D8B030D-6E8A-4147-A177-3AD203B41FA5}">
                          <a16:colId xmlns:a16="http://schemas.microsoft.com/office/drawing/2014/main" val="1921489981"/>
                        </a:ext>
                      </a:extLst>
                    </a:gridCol>
                    <a:gridCol w="448085">
                      <a:extLst>
                        <a:ext uri="{9D8B030D-6E8A-4147-A177-3AD203B41FA5}">
                          <a16:colId xmlns:a16="http://schemas.microsoft.com/office/drawing/2014/main" val="331983888"/>
                        </a:ext>
                      </a:extLst>
                    </a:gridCol>
                    <a:gridCol w="448085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  <a:gridCol w="953720">
                      <a:extLst>
                        <a:ext uri="{9D8B030D-6E8A-4147-A177-3AD203B41FA5}">
                          <a16:colId xmlns:a16="http://schemas.microsoft.com/office/drawing/2014/main" val="1121803805"/>
                        </a:ext>
                      </a:extLst>
                    </a:gridCol>
                    <a:gridCol w="1744113">
                      <a:extLst>
                        <a:ext uri="{9D8B030D-6E8A-4147-A177-3AD203B41FA5}">
                          <a16:colId xmlns:a16="http://schemas.microsoft.com/office/drawing/2014/main" val="278034474"/>
                        </a:ext>
                      </a:extLst>
                    </a:gridCol>
                    <a:gridCol w="2054324">
                      <a:extLst>
                        <a:ext uri="{9D8B030D-6E8A-4147-A177-3AD203B41FA5}">
                          <a16:colId xmlns:a16="http://schemas.microsoft.com/office/drawing/2014/main" val="2498736789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s-MX" sz="16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¬</m:t>
                                    </m:r>
                                    <m:r>
                                      <a:rPr lang="es-MX" sz="1600" b="1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𝒑</m:t>
                                    </m:r>
                                    <m:r>
                                      <a:rPr lang="es-MX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∨</m:t>
                                    </m:r>
                                    <m:r>
                                      <m:rPr>
                                        <m:lit/>
                                      </m:rPr>
                                      <a:rPr lang="es-MX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s-MX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</m:d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→¬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¬</m:t>
                                        </m:r>
                                        <m:r>
                                          <a:rPr lang="es-MX" sz="1600" b="1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𝒑</m:t>
                                        </m:r>
                                        <m:r>
                                          <a:rPr lang="es-MX" sz="1600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∨</m:t>
                                        </m:r>
                                        <m:r>
                                          <m:rPr>
                                            <m:lit/>
                                          </m:rPr>
                                          <a:rPr lang="es-MX" sz="1600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s-MX" sz="1600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𝒒</m:t>
                                        </m:r>
                                      </m:e>
                                    </m:d>
                                    <m:r>
                                      <a:rPr lang="es-MX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→¬</m:t>
                                    </m:r>
                                    <m:r>
                                      <a:rPr lang="es-MX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𝒑</m:t>
                                    </m:r>
                                  </m:e>
                                </m:d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b="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b="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b="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1748879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b="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491947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37588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218" y="226580"/>
            <a:ext cx="10993581" cy="1325563"/>
          </a:xfrm>
        </p:spPr>
        <p:txBody>
          <a:bodyPr/>
          <a:lstStyle/>
          <a:p>
            <a:r>
              <a:rPr lang="es-CO" dirty="0"/>
              <a:t>Equivalencia lógica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0218" y="1375235"/>
                <a:ext cx="11471563" cy="75836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MX" sz="2000" dirty="0">
                    <a:ea typeface="Roboto" panose="02000000000000000000" pitchFamily="2" charset="0"/>
                  </a:rPr>
                  <a:t>Dos proposiciones compuestas </a:t>
                </a:r>
                <a14:m>
                  <m:oMath xmlns:m="http://schemas.openxmlformats.org/officeDocument/2006/math">
                    <m:r>
                      <a:rPr lang="es-MX" sz="2000" b="1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𝒑</m:t>
                    </m:r>
                  </m:oMath>
                </a14:m>
                <a:r>
                  <a:rPr lang="es-MX" sz="2000" dirty="0">
                    <a:ea typeface="Roboto" panose="02000000000000000000" pitchFamily="2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s-MX" sz="2000" b="1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𝒒</m:t>
                    </m:r>
                  </m:oMath>
                </a14:m>
                <a:r>
                  <a:rPr lang="es-MX" sz="2000" dirty="0">
                    <a:ea typeface="Roboto" panose="02000000000000000000" pitchFamily="2" charset="0"/>
                  </a:rPr>
                  <a:t> son lógicamente equivalentes, o simplemente equivalentes, si </a:t>
                </a:r>
                <a14:m>
                  <m:oMath xmlns:m="http://schemas.openxmlformats.org/officeDocument/2006/math">
                    <m:r>
                      <a:rPr lang="es-MX" sz="2000" b="1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𝒑</m:t>
                    </m:r>
                    <m:r>
                      <a:rPr lang="es-MX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r>
                      <a:rPr lang="es-MX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s-MX" sz="2000" dirty="0">
                    <a:ea typeface="Roboto" panose="02000000000000000000" pitchFamily="2" charset="0"/>
                  </a:rPr>
                  <a:t> es una tautología.</a:t>
                </a:r>
              </a:p>
              <a:p>
                <a:pPr marL="0" indent="0">
                  <a:buNone/>
                </a:pPr>
                <a:endParaRPr lang="es-MX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218" y="1375235"/>
                <a:ext cx="11471563" cy="758365"/>
              </a:xfrm>
              <a:blipFill>
                <a:blip r:embed="rId2"/>
                <a:stretch>
                  <a:fillRect l="-531" t="-8871" r="-584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B30BA250-E803-4847-BACF-C2EA1E6FD9D4}"/>
                  </a:ext>
                </a:extLst>
              </p:cNvPr>
              <p:cNvSpPr txBox="1"/>
              <p:nvPr/>
            </p:nvSpPr>
            <p:spPr>
              <a:xfrm>
                <a:off x="526471" y="2160471"/>
                <a:ext cx="11152911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s-MX" sz="1800" b="1" dirty="0">
                    <a:solidFill>
                      <a:schemeClr val="accent5"/>
                    </a:solidFill>
                    <a:ea typeface="Roboto" panose="02000000000000000000" pitchFamily="2" charset="0"/>
                  </a:rPr>
                  <a:t>Notación</a:t>
                </a:r>
                <a:r>
                  <a:rPr lang="es-MX" sz="1800" dirty="0">
                    <a:solidFill>
                      <a:schemeClr val="accent5"/>
                    </a:solidFill>
                    <a:ea typeface="Roboto" panose="02000000000000000000" pitchFamily="2" charset="0"/>
                  </a:rPr>
                  <a:t>: </a:t>
                </a:r>
                <a:r>
                  <a:rPr lang="es-MX" sz="1800" dirty="0">
                    <a:ea typeface="Roboto" panose="02000000000000000000" pitchFamily="2" charset="0"/>
                  </a:rPr>
                  <a:t>Una equivalencia se puede escribir como </a:t>
                </a:r>
                <a14:m>
                  <m:oMath xmlns:m="http://schemas.openxmlformats.org/officeDocument/2006/math">
                    <m:r>
                      <a:rPr lang="es-MX" sz="1800" b="1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𝒑</m:t>
                    </m:r>
                    <m:r>
                      <a:rPr lang="es-MX" sz="1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r>
                      <a:rPr lang="es-MX" sz="1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s-MX" sz="1800" dirty="0">
                    <a:ea typeface="Roboto" panose="02000000000000000000" pitchFamily="2" charset="0"/>
                  </a:rPr>
                  <a:t> o como </a:t>
                </a:r>
                <a14:m>
                  <m:oMath xmlns:m="http://schemas.openxmlformats.org/officeDocument/2006/math">
                    <m:r>
                      <a:rPr lang="es-MX" sz="1800" b="1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𝒑</m:t>
                    </m:r>
                    <m:r>
                      <a:rPr lang="es-MX" sz="1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s-MX" sz="1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𝒒</m:t>
                    </m:r>
                  </m:oMath>
                </a14:m>
                <a:endParaRPr lang="es-MX" sz="1800" dirty="0"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B30BA250-E803-4847-BACF-C2EA1E6FD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471" y="2160471"/>
                <a:ext cx="11152911" cy="369332"/>
              </a:xfrm>
              <a:prstGeom prst="rect">
                <a:avLst/>
              </a:prstGeom>
              <a:blipFill>
                <a:blip r:embed="rId3"/>
                <a:stretch>
                  <a:fillRect l="-437" t="-8197" b="-2459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4AA62499-0A79-4DB4-96F0-1187366C5807}"/>
                  </a:ext>
                </a:extLst>
              </p:cNvPr>
              <p:cNvSpPr txBox="1"/>
              <p:nvPr/>
            </p:nvSpPr>
            <p:spPr>
              <a:xfrm>
                <a:off x="526471" y="2721114"/>
                <a:ext cx="1130531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MX" sz="2000" b="1" dirty="0">
                    <a:ea typeface="Roboto" panose="02000000000000000000" pitchFamily="2" charset="0"/>
                  </a:rPr>
                  <a:t>Ejemplos</a:t>
                </a:r>
                <a:r>
                  <a:rPr lang="es-MX" sz="2000" dirty="0">
                    <a:ea typeface="Roboto" panose="02000000000000000000" pitchFamily="2" charset="0"/>
                  </a:rPr>
                  <a:t>: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s-MX" sz="2000" dirty="0">
                    <a:ea typeface="Roboto" panose="02000000000000000000" pitchFamily="2" charset="0"/>
                  </a:rPr>
                  <a:t>Demuestre que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¬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𝑝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s-MX" sz="2000" dirty="0">
                    <a:ea typeface="Roboto" panose="02000000000000000000" pitchFamily="2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𝑝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𝑞</m:t>
                    </m:r>
                  </m:oMath>
                </a14:m>
                <a:r>
                  <a:rPr lang="es-MX" sz="2000" dirty="0">
                    <a:ea typeface="Roboto" panose="02000000000000000000" pitchFamily="2" charset="0"/>
                  </a:rPr>
                  <a:t> son equivalentes.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s-MX" sz="2000" dirty="0">
                    <a:ea typeface="Roboto" panose="02000000000000000000" pitchFamily="2" charset="0"/>
                  </a:rPr>
                  <a:t>Demuestre las leyes de Morgan</a:t>
                </a: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s-MX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MX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s-MX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s-MX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s-MX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s-MX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¬</m:t>
                    </m:r>
                    <m:r>
                      <a:rPr lang="es-MX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𝑝</m:t>
                    </m:r>
                    <m:r>
                      <a:rPr lang="es-MX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s-MX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¬</m:t>
                    </m:r>
                    <m:r>
                      <a:rPr lang="es-MX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endParaRPr lang="es-CO" sz="2000" dirty="0">
                  <a:solidFill>
                    <a:schemeClr val="tx1"/>
                  </a:solidFill>
                  <a:ea typeface="Roboto" panose="02000000000000000000" pitchFamily="2" charset="0"/>
                </a:endParaRP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s-MX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MX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s-MX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s-MX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s-MX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s-MX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¬</m:t>
                    </m:r>
                    <m:r>
                      <a:rPr lang="es-MX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𝑝</m:t>
                    </m:r>
                    <m:r>
                      <a:rPr lang="es-MX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s-MX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¬</m:t>
                    </m:r>
                    <m:r>
                      <a:rPr lang="es-MX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endParaRPr lang="es-MX" sz="2000" dirty="0">
                  <a:ea typeface="Roboto" panose="02000000000000000000" pitchFamily="2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s-MX" sz="2000" dirty="0">
                    <a:ea typeface="Roboto" panose="02000000000000000000" pitchFamily="2" charset="0"/>
                  </a:rPr>
                  <a:t>Dada la siguiente tabla de verdad, cuales expresiones son </a:t>
                </a:r>
                <a:r>
                  <a:rPr lang="es-MX" sz="2000" dirty="0" err="1">
                    <a:ea typeface="Roboto" panose="02000000000000000000" pitchFamily="2" charset="0"/>
                  </a:rPr>
                  <a:t>logicamente</a:t>
                </a:r>
                <a:r>
                  <a:rPr lang="es-MX" sz="2000" dirty="0">
                    <a:ea typeface="Roboto" panose="02000000000000000000" pitchFamily="2" charset="0"/>
                  </a:rPr>
                  <a:t> equivalentes</a:t>
                </a:r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4AA62499-0A79-4DB4-96F0-1187366C58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471" y="2721114"/>
                <a:ext cx="11305310" cy="1938992"/>
              </a:xfrm>
              <a:prstGeom prst="rect">
                <a:avLst/>
              </a:prstGeom>
              <a:blipFill>
                <a:blip r:embed="rId4"/>
                <a:stretch>
                  <a:fillRect l="-593" t="-1572" b="-503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a 4">
                <a:extLst>
                  <a:ext uri="{FF2B5EF4-FFF2-40B4-BE49-F238E27FC236}">
                    <a16:creationId xmlns:a16="http://schemas.microsoft.com/office/drawing/2014/main" id="{5EC0C9EF-C3DF-45AE-896C-3E054BABFD3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60954912"/>
                  </p:ext>
                </p:extLst>
              </p:nvPr>
            </p:nvGraphicFramePr>
            <p:xfrm>
              <a:off x="1052310" y="4665686"/>
              <a:ext cx="10427116" cy="201168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24137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824137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824137">
                      <a:extLst>
                        <a:ext uri="{9D8B030D-6E8A-4147-A177-3AD203B41FA5}">
                          <a16:colId xmlns:a16="http://schemas.microsoft.com/office/drawing/2014/main" val="1916493968"/>
                        </a:ext>
                      </a:extLst>
                    </a:gridCol>
                    <a:gridCol w="824137">
                      <a:extLst>
                        <a:ext uri="{9D8B030D-6E8A-4147-A177-3AD203B41FA5}">
                          <a16:colId xmlns:a16="http://schemas.microsoft.com/office/drawing/2014/main" val="2559379939"/>
                        </a:ext>
                      </a:extLst>
                    </a:gridCol>
                    <a:gridCol w="1782642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  <a:gridCol w="1568743">
                      <a:extLst>
                        <a:ext uri="{9D8B030D-6E8A-4147-A177-3AD203B41FA5}">
                          <a16:colId xmlns:a16="http://schemas.microsoft.com/office/drawing/2014/main" val="3347906918"/>
                        </a:ext>
                      </a:extLst>
                    </a:gridCol>
                    <a:gridCol w="2410691">
                      <a:extLst>
                        <a:ext uri="{9D8B030D-6E8A-4147-A177-3AD203B41FA5}">
                          <a16:colId xmlns:a16="http://schemas.microsoft.com/office/drawing/2014/main" val="912474650"/>
                        </a:ext>
                      </a:extLst>
                    </a:gridCol>
                    <a:gridCol w="1368492">
                      <a:extLst>
                        <a:ext uri="{9D8B030D-6E8A-4147-A177-3AD203B41FA5}">
                          <a16:colId xmlns:a16="http://schemas.microsoft.com/office/drawing/2014/main" val="4025530010"/>
                        </a:ext>
                      </a:extLst>
                    </a:gridCol>
                  </a:tblGrid>
                  <a:tr h="25373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marL="0" marR="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marL="0" marR="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marL="0" marR="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marL="0" marR="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6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Condicional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6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Reciproco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6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Contrarrecíproco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6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Inverso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92954507"/>
                      </a:ext>
                    </a:extLst>
                  </a:tr>
                  <a:tr h="25373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→¬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25373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25373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25373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25373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a 4">
                <a:extLst>
                  <a:ext uri="{FF2B5EF4-FFF2-40B4-BE49-F238E27FC236}">
                    <a16:creationId xmlns:a16="http://schemas.microsoft.com/office/drawing/2014/main" id="{5EC0C9EF-C3DF-45AE-896C-3E054BABFD3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60954912"/>
                  </p:ext>
                </p:extLst>
              </p:nvPr>
            </p:nvGraphicFramePr>
            <p:xfrm>
              <a:off x="1052310" y="4665686"/>
              <a:ext cx="10427116" cy="201168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24137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824137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824137">
                      <a:extLst>
                        <a:ext uri="{9D8B030D-6E8A-4147-A177-3AD203B41FA5}">
                          <a16:colId xmlns:a16="http://schemas.microsoft.com/office/drawing/2014/main" val="1916493968"/>
                        </a:ext>
                      </a:extLst>
                    </a:gridCol>
                    <a:gridCol w="824137">
                      <a:extLst>
                        <a:ext uri="{9D8B030D-6E8A-4147-A177-3AD203B41FA5}">
                          <a16:colId xmlns:a16="http://schemas.microsoft.com/office/drawing/2014/main" val="2559379939"/>
                        </a:ext>
                      </a:extLst>
                    </a:gridCol>
                    <a:gridCol w="1782642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  <a:gridCol w="1568743">
                      <a:extLst>
                        <a:ext uri="{9D8B030D-6E8A-4147-A177-3AD203B41FA5}">
                          <a16:colId xmlns:a16="http://schemas.microsoft.com/office/drawing/2014/main" val="3347906918"/>
                        </a:ext>
                      </a:extLst>
                    </a:gridCol>
                    <a:gridCol w="2410691">
                      <a:extLst>
                        <a:ext uri="{9D8B030D-6E8A-4147-A177-3AD203B41FA5}">
                          <a16:colId xmlns:a16="http://schemas.microsoft.com/office/drawing/2014/main" val="912474650"/>
                        </a:ext>
                      </a:extLst>
                    </a:gridCol>
                    <a:gridCol w="1368492">
                      <a:extLst>
                        <a:ext uri="{9D8B030D-6E8A-4147-A177-3AD203B41FA5}">
                          <a16:colId xmlns:a16="http://schemas.microsoft.com/office/drawing/2014/main" val="4025530010"/>
                        </a:ext>
                      </a:extLst>
                    </a:gridCol>
                  </a:tblGrid>
                  <a:tr h="25373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marL="0" marR="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marL="0" marR="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marL="0" marR="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marL="0" marR="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6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Condicional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6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Reciproco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6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Contrarrecíproco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6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Inverso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92954507"/>
                      </a:ext>
                    </a:extLst>
                  </a:tr>
                  <a:tr h="25373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→¬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25373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253739"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25373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25373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38706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218" y="226580"/>
            <a:ext cx="10993581" cy="1325563"/>
          </a:xfrm>
        </p:spPr>
        <p:txBody>
          <a:bodyPr/>
          <a:lstStyle/>
          <a:p>
            <a:r>
              <a:rPr lang="es-CO" dirty="0"/>
              <a:t>Equivalencia lógica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4AA62499-0A79-4DB4-96F0-1187366C5807}"/>
                  </a:ext>
                </a:extLst>
              </p:cNvPr>
              <p:cNvSpPr txBox="1"/>
              <p:nvPr/>
            </p:nvSpPr>
            <p:spPr>
              <a:xfrm>
                <a:off x="443345" y="1169922"/>
                <a:ext cx="11305310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MX" sz="2000" b="1" dirty="0">
                    <a:ea typeface="Roboto" panose="02000000000000000000" pitchFamily="2" charset="0"/>
                  </a:rPr>
                  <a:t>Ejemplos</a:t>
                </a:r>
                <a:r>
                  <a:rPr lang="es-MX" sz="2000" dirty="0">
                    <a:ea typeface="Roboto" panose="02000000000000000000" pitchFamily="2" charset="0"/>
                  </a:rPr>
                  <a:t>: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s-MX" sz="2000" dirty="0">
                    <a:ea typeface="Roboto" panose="02000000000000000000" pitchFamily="2" charset="0"/>
                  </a:rPr>
                  <a:t>Demuestre que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¬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𝑝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s-MX" sz="2000" dirty="0">
                    <a:ea typeface="Roboto" panose="02000000000000000000" pitchFamily="2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𝑝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𝑞</m:t>
                    </m:r>
                  </m:oMath>
                </a14:m>
                <a:r>
                  <a:rPr lang="es-MX" sz="2000" dirty="0">
                    <a:ea typeface="Roboto" panose="02000000000000000000" pitchFamily="2" charset="0"/>
                  </a:rPr>
                  <a:t> son equivalentes.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s-MX" sz="2000" dirty="0">
                  <a:ea typeface="Roboto" panose="02000000000000000000" pitchFamily="2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s-MX" sz="2000" dirty="0">
                  <a:ea typeface="Roboto" panose="02000000000000000000" pitchFamily="2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s-MX" sz="2000" dirty="0">
                  <a:ea typeface="Roboto" panose="02000000000000000000" pitchFamily="2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s-MX" sz="2000" dirty="0">
                  <a:ea typeface="Roboto" panose="02000000000000000000" pitchFamily="2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s-MX" sz="2000" dirty="0">
                    <a:ea typeface="Roboto" panose="02000000000000000000" pitchFamily="2" charset="0"/>
                  </a:rPr>
                  <a:t>Demuestre las leyes de Morgan</a:t>
                </a: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s-MX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MX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s-MX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s-MX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s-MX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s-MX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¬</m:t>
                    </m:r>
                    <m:r>
                      <a:rPr lang="es-MX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𝑝</m:t>
                    </m:r>
                    <m:r>
                      <a:rPr lang="es-MX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s-MX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¬</m:t>
                    </m:r>
                    <m:r>
                      <a:rPr lang="es-MX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endParaRPr lang="es-CO" sz="2000" dirty="0">
                  <a:solidFill>
                    <a:schemeClr val="tx1"/>
                  </a:solidFill>
                  <a:ea typeface="Roboto" panose="02000000000000000000" pitchFamily="2" charset="0"/>
                </a:endParaRP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s-MX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MX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s-MX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s-MX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s-MX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s-MX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¬</m:t>
                    </m:r>
                    <m:r>
                      <a:rPr lang="es-MX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𝑝</m:t>
                    </m:r>
                    <m:r>
                      <a:rPr lang="es-MX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s-MX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¬</m:t>
                    </m:r>
                    <m:r>
                      <a:rPr lang="es-MX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endParaRPr lang="es-MX" sz="2000" dirty="0"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4AA62499-0A79-4DB4-96F0-1187366C58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345" y="1169922"/>
                <a:ext cx="11305310" cy="2862322"/>
              </a:xfrm>
              <a:prstGeom prst="rect">
                <a:avLst/>
              </a:prstGeom>
              <a:blipFill>
                <a:blip r:embed="rId2"/>
                <a:stretch>
                  <a:fillRect l="-593" t="-1279" b="-213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4631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218" y="226580"/>
            <a:ext cx="10993581" cy="1325563"/>
          </a:xfrm>
        </p:spPr>
        <p:txBody>
          <a:bodyPr/>
          <a:lstStyle/>
          <a:p>
            <a:r>
              <a:rPr lang="es-CO" dirty="0"/>
              <a:t>Equivalencia lógica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AA62499-0A79-4DB4-96F0-1187366C5807}"/>
              </a:ext>
            </a:extLst>
          </p:cNvPr>
          <p:cNvSpPr txBox="1"/>
          <p:nvPr/>
        </p:nvSpPr>
        <p:spPr>
          <a:xfrm>
            <a:off x="443345" y="1169922"/>
            <a:ext cx="113053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>
                <a:ea typeface="Roboto" panose="02000000000000000000" pitchFamily="2" charset="0"/>
              </a:rPr>
              <a:t>Ejemplos</a:t>
            </a:r>
            <a:r>
              <a:rPr lang="es-MX" sz="2000" dirty="0">
                <a:ea typeface="Roboto" panose="02000000000000000000" pitchFamily="2" charset="0"/>
              </a:rPr>
              <a:t>: 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es-MX" sz="2000" dirty="0">
                <a:ea typeface="Roboto" panose="02000000000000000000" pitchFamily="2" charset="0"/>
              </a:rPr>
              <a:t>Dada la siguiente tabla de verdad, cuales expresiones son lógicamente equivalentes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a 4">
                <a:extLst>
                  <a:ext uri="{FF2B5EF4-FFF2-40B4-BE49-F238E27FC236}">
                    <a16:creationId xmlns:a16="http://schemas.microsoft.com/office/drawing/2014/main" id="{5EC0C9EF-C3DF-45AE-896C-3E054BABFD3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98769197"/>
                  </p:ext>
                </p:extLst>
              </p:nvPr>
            </p:nvGraphicFramePr>
            <p:xfrm>
              <a:off x="643450" y="2005614"/>
              <a:ext cx="10427116" cy="201168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24137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824137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824137">
                      <a:extLst>
                        <a:ext uri="{9D8B030D-6E8A-4147-A177-3AD203B41FA5}">
                          <a16:colId xmlns:a16="http://schemas.microsoft.com/office/drawing/2014/main" val="1916493968"/>
                        </a:ext>
                      </a:extLst>
                    </a:gridCol>
                    <a:gridCol w="824137">
                      <a:extLst>
                        <a:ext uri="{9D8B030D-6E8A-4147-A177-3AD203B41FA5}">
                          <a16:colId xmlns:a16="http://schemas.microsoft.com/office/drawing/2014/main" val="2559379939"/>
                        </a:ext>
                      </a:extLst>
                    </a:gridCol>
                    <a:gridCol w="1782642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  <a:gridCol w="1568743">
                      <a:extLst>
                        <a:ext uri="{9D8B030D-6E8A-4147-A177-3AD203B41FA5}">
                          <a16:colId xmlns:a16="http://schemas.microsoft.com/office/drawing/2014/main" val="3347906918"/>
                        </a:ext>
                      </a:extLst>
                    </a:gridCol>
                    <a:gridCol w="2410691">
                      <a:extLst>
                        <a:ext uri="{9D8B030D-6E8A-4147-A177-3AD203B41FA5}">
                          <a16:colId xmlns:a16="http://schemas.microsoft.com/office/drawing/2014/main" val="912474650"/>
                        </a:ext>
                      </a:extLst>
                    </a:gridCol>
                    <a:gridCol w="1368492">
                      <a:extLst>
                        <a:ext uri="{9D8B030D-6E8A-4147-A177-3AD203B41FA5}">
                          <a16:colId xmlns:a16="http://schemas.microsoft.com/office/drawing/2014/main" val="4025530010"/>
                        </a:ext>
                      </a:extLst>
                    </a:gridCol>
                  </a:tblGrid>
                  <a:tr h="25373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marL="0" marR="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marL="0" marR="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marL="0" marR="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marL="0" marR="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6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Condicional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6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Reciproco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6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Contrarrecíproco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6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Inverso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92954507"/>
                      </a:ext>
                    </a:extLst>
                  </a:tr>
                  <a:tr h="25373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→¬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25373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25373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25373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25373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a 4">
                <a:extLst>
                  <a:ext uri="{FF2B5EF4-FFF2-40B4-BE49-F238E27FC236}">
                    <a16:creationId xmlns:a16="http://schemas.microsoft.com/office/drawing/2014/main" id="{5EC0C9EF-C3DF-45AE-896C-3E054BABFD3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98769197"/>
                  </p:ext>
                </p:extLst>
              </p:nvPr>
            </p:nvGraphicFramePr>
            <p:xfrm>
              <a:off x="643450" y="2005614"/>
              <a:ext cx="10427116" cy="201168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24137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824137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824137">
                      <a:extLst>
                        <a:ext uri="{9D8B030D-6E8A-4147-A177-3AD203B41FA5}">
                          <a16:colId xmlns:a16="http://schemas.microsoft.com/office/drawing/2014/main" val="1916493968"/>
                        </a:ext>
                      </a:extLst>
                    </a:gridCol>
                    <a:gridCol w="824137">
                      <a:extLst>
                        <a:ext uri="{9D8B030D-6E8A-4147-A177-3AD203B41FA5}">
                          <a16:colId xmlns:a16="http://schemas.microsoft.com/office/drawing/2014/main" val="2559379939"/>
                        </a:ext>
                      </a:extLst>
                    </a:gridCol>
                    <a:gridCol w="1782642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  <a:gridCol w="1568743">
                      <a:extLst>
                        <a:ext uri="{9D8B030D-6E8A-4147-A177-3AD203B41FA5}">
                          <a16:colId xmlns:a16="http://schemas.microsoft.com/office/drawing/2014/main" val="3347906918"/>
                        </a:ext>
                      </a:extLst>
                    </a:gridCol>
                    <a:gridCol w="2410691">
                      <a:extLst>
                        <a:ext uri="{9D8B030D-6E8A-4147-A177-3AD203B41FA5}">
                          <a16:colId xmlns:a16="http://schemas.microsoft.com/office/drawing/2014/main" val="912474650"/>
                        </a:ext>
                      </a:extLst>
                    </a:gridCol>
                    <a:gridCol w="1368492">
                      <a:extLst>
                        <a:ext uri="{9D8B030D-6E8A-4147-A177-3AD203B41FA5}">
                          <a16:colId xmlns:a16="http://schemas.microsoft.com/office/drawing/2014/main" val="4025530010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marL="0" marR="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marL="0" marR="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marL="0" marR="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marL="0" marR="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6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Condicional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6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Reciproco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6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Contrarrecíproco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6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Inverso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92954507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41" t="-105455" r="-1169630" b="-4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05455" r="-1061029" b="-4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481" t="-105455" r="-968889" b="-4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481" t="-105455" r="-868889" b="-4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84983" t="-105455" r="-300341" b="-4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23643" t="-105455" r="-241085" b="-4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6709" t="-105455" r="-57468" b="-4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61333" t="-105455" r="-889" b="-4054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41" t="-201786" r="-1169630" b="-2982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201786" r="-1061029" b="-2982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481" t="-201786" r="-968889" b="-2982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481" t="-201786" r="-868889" b="-2982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84983" t="-201786" r="-300341" b="-2982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23643" t="-201786" r="-241085" b="-2982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6709" t="-201786" r="-57468" b="-2982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61333" t="-201786" r="-889" b="-2982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41" t="-307273" r="-1169630" b="-2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307273" r="-1061029" b="-2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481" t="-307273" r="-968889" b="-2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481" t="-307273" r="-868889" b="-2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84983" t="-307273" r="-300341" b="-2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23643" t="-307273" r="-241085" b="-2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6709" t="-307273" r="-57468" b="-2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61333" t="-307273" r="-889" b="-20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41" t="-407273" r="-1169630" b="-1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407273" r="-1061029" b="-1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481" t="-407273" r="-968889" b="-1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481" t="-407273" r="-868889" b="-1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84983" t="-407273" r="-300341" b="-1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23643" t="-407273" r="-241085" b="-1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6709" t="-407273" r="-57468" b="-1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61333" t="-407273" r="-889" b="-10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41" t="-507273" r="-1169630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507273" r="-1061029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481" t="-507273" r="-968889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481" t="-507273" r="-868889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84983" t="-507273" r="-300341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23643" t="-507273" r="-241085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6709" t="-507273" r="-57468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61333" t="-507273" r="-889" b="-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447176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26580"/>
            <a:ext cx="10515600" cy="1325563"/>
          </a:xfrm>
        </p:spPr>
        <p:txBody>
          <a:bodyPr/>
          <a:lstStyle/>
          <a:p>
            <a:r>
              <a:rPr lang="es-CO" dirty="0"/>
              <a:t>Expresiones condicionales y sus variantes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0218" y="1375234"/>
                <a:ext cx="11471563" cy="68909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MX" sz="2000" b="0" i="0" dirty="0">
                    <a:solidFill>
                      <a:srgbClr val="5C5962"/>
                    </a:solidFill>
                    <a:effectLst/>
                  </a:rPr>
                  <a:t>A partir de una proposición original 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</a:rPr>
                      <m:t>→</m:t>
                    </m:r>
                    <m:r>
                      <a:rPr lang="es-MX" sz="2000" b="0" i="1" smtClean="0">
                        <a:solidFill>
                          <a:srgbClr val="5C5962"/>
                        </a:solidFill>
                        <a:effectLst/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s-MX" sz="2000" b="0" i="0" dirty="0">
                    <a:solidFill>
                      <a:srgbClr val="5C5962"/>
                    </a:solidFill>
                    <a:effectLst/>
                  </a:rPr>
                  <a:t>, podemos derivar otras tres formas lógicas cambiando el orden y aplicando operaciones de negación:</a:t>
                </a:r>
                <a:endParaRPr lang="es-MX" sz="360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218" y="1375234"/>
                <a:ext cx="11471563" cy="689093"/>
              </a:xfrm>
              <a:blipFill>
                <a:blip r:embed="rId2"/>
                <a:stretch>
                  <a:fillRect l="-531" t="-9735" b="-885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n 4">
            <a:extLst>
              <a:ext uri="{FF2B5EF4-FFF2-40B4-BE49-F238E27FC236}">
                <a16:creationId xmlns:a16="http://schemas.microsoft.com/office/drawing/2014/main" id="{644E8626-B37B-45E3-B81D-C9DDF6250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7954" y="2233180"/>
            <a:ext cx="7207827" cy="414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583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26580"/>
            <a:ext cx="10515600" cy="1325563"/>
          </a:xfrm>
        </p:spPr>
        <p:txBody>
          <a:bodyPr/>
          <a:lstStyle/>
          <a:p>
            <a:r>
              <a:rPr lang="es-CO" dirty="0"/>
              <a:t>Expresiones condicionales y sus variantes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218" y="1375234"/>
            <a:ext cx="11471563" cy="20537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000" b="1" i="0" dirty="0">
                <a:effectLst/>
              </a:rPr>
              <a:t>Ejemplo</a:t>
            </a:r>
            <a:r>
              <a:rPr lang="es-MX" sz="2000" i="0" dirty="0">
                <a:effectLst/>
              </a:rPr>
              <a:t>: Dado el enunciado</a:t>
            </a:r>
          </a:p>
          <a:p>
            <a:pPr marL="0" indent="0">
              <a:buNone/>
            </a:pPr>
            <a:endParaRPr lang="es-MX" sz="2000" b="0" i="0" dirty="0">
              <a:effectLst/>
            </a:endParaRPr>
          </a:p>
          <a:p>
            <a:pPr marL="0" indent="0" algn="ctr">
              <a:buNone/>
            </a:pPr>
            <a:r>
              <a:rPr lang="es-MX" sz="2000" dirty="0"/>
              <a:t>“Si llueve, entonces el patio esta mojado”</a:t>
            </a:r>
          </a:p>
          <a:p>
            <a:pPr marL="0" indent="0">
              <a:buNone/>
            </a:pPr>
            <a:endParaRPr lang="es-MX" sz="2000" dirty="0"/>
          </a:p>
          <a:p>
            <a:pPr marL="0" indent="0">
              <a:buNone/>
            </a:pPr>
            <a:r>
              <a:rPr lang="es-MX" sz="2000" dirty="0"/>
              <a:t>Obtenga la expresión lógica asociada proposición original y llene la siguiente tabla de acuerdo </a:t>
            </a:r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D0DF55A3-16A4-4AFC-9103-A7E5BECBE3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0284711"/>
              </p:ext>
            </p:extLst>
          </p:nvPr>
        </p:nvGraphicFramePr>
        <p:xfrm>
          <a:off x="453341" y="3738068"/>
          <a:ext cx="11285315" cy="2651760"/>
        </p:xfrm>
        <a:graphic>
          <a:graphicData uri="http://schemas.openxmlformats.org/drawingml/2006/table">
            <a:tbl>
              <a:tblPr firstRow="1" bandRow="1"/>
              <a:tblGrid>
                <a:gridCol w="1804911">
                  <a:extLst>
                    <a:ext uri="{9D8B030D-6E8A-4147-A177-3AD203B41FA5}">
                      <a16:colId xmlns:a16="http://schemas.microsoft.com/office/drawing/2014/main" val="79869298"/>
                    </a:ext>
                  </a:extLst>
                </a:gridCol>
                <a:gridCol w="1768732">
                  <a:extLst>
                    <a:ext uri="{9D8B030D-6E8A-4147-A177-3AD203B41FA5}">
                      <a16:colId xmlns:a16="http://schemas.microsoft.com/office/drawing/2014/main" val="3347906918"/>
                    </a:ext>
                  </a:extLst>
                </a:gridCol>
                <a:gridCol w="4012508">
                  <a:extLst>
                    <a:ext uri="{9D8B030D-6E8A-4147-A177-3AD203B41FA5}">
                      <a16:colId xmlns:a16="http://schemas.microsoft.com/office/drawing/2014/main" val="912474650"/>
                    </a:ext>
                  </a:extLst>
                </a:gridCol>
                <a:gridCol w="3699164">
                  <a:extLst>
                    <a:ext uri="{9D8B030D-6E8A-4147-A177-3AD203B41FA5}">
                      <a16:colId xmlns:a16="http://schemas.microsoft.com/office/drawing/2014/main" val="4025530010"/>
                    </a:ext>
                  </a:extLst>
                </a:gridCol>
              </a:tblGrid>
              <a:tr h="253739">
                <a:tc>
                  <a:txBody>
                    <a:bodyPr/>
                    <a:lstStyle/>
                    <a:p>
                      <a:r>
                        <a:rPr lang="es-CO" sz="16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Caso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Expresión lógica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Expresión en lenguaje natural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Equivalencia respecto al caso original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2954507"/>
                  </a:ext>
                </a:extLst>
              </a:tr>
              <a:tr h="331213">
                <a:tc>
                  <a:txBody>
                    <a:bodyPr/>
                    <a:lstStyle/>
                    <a:p>
                      <a:r>
                        <a:rPr lang="es-CO" sz="1600" b="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Original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O" sz="1600" b="1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O" sz="1600" b="1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  <a:p>
                      <a:endParaRPr lang="es-CO" sz="1600" b="1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O" sz="1600" b="1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670299"/>
                  </a:ext>
                </a:extLst>
              </a:tr>
              <a:tr h="2537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Reciproco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s-CO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s-CO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s-CO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s-CO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5549228"/>
                  </a:ext>
                </a:extLst>
              </a:tr>
              <a:tr h="2537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Inverso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s-CO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s-CO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s-CO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s-CO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3127006"/>
                  </a:ext>
                </a:extLst>
              </a:tr>
              <a:tr h="2537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Contrareciproco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s-CO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s-CO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s-CO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s-CO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48681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76953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26580"/>
            <a:ext cx="10515600" cy="1325563"/>
          </a:xfrm>
        </p:spPr>
        <p:txBody>
          <a:bodyPr/>
          <a:lstStyle/>
          <a:p>
            <a:r>
              <a:rPr lang="es-CO" dirty="0"/>
              <a:t>Expresiones condicionales y sus variantes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218" y="1375234"/>
            <a:ext cx="11471563" cy="27949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000" b="1" i="0" dirty="0">
                <a:effectLst/>
              </a:rPr>
              <a:t>Ejemplo</a:t>
            </a:r>
            <a:r>
              <a:rPr lang="es-MX" sz="2000" i="0" dirty="0">
                <a:effectLst/>
              </a:rPr>
              <a:t>: Se tiene la siguiente proposición</a:t>
            </a:r>
          </a:p>
          <a:p>
            <a:pPr marL="0" indent="0">
              <a:buNone/>
            </a:pPr>
            <a:endParaRPr lang="es-MX" sz="2000" b="0" i="0" dirty="0">
              <a:effectLst/>
            </a:endParaRPr>
          </a:p>
          <a:p>
            <a:pPr marL="0" indent="0" algn="ctr">
              <a:buNone/>
            </a:pPr>
            <a:r>
              <a:rPr lang="es-MX" sz="2000" dirty="0"/>
              <a:t>“Si gano la lotería, entonces seré feliz”</a:t>
            </a:r>
          </a:p>
          <a:p>
            <a:pPr marL="0" indent="0">
              <a:buNone/>
            </a:pPr>
            <a:endParaRPr lang="es-MX" sz="2000" dirty="0"/>
          </a:p>
          <a:p>
            <a:pPr marL="457200" indent="-457200">
              <a:buFont typeface="+mj-lt"/>
              <a:buAutoNum type="arabicPeriod"/>
            </a:pPr>
            <a:r>
              <a:rPr lang="es-MX" sz="2000" dirty="0"/>
              <a:t>Determine las proposiciones simples y la expresión lógica asociada.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000" dirty="0"/>
              <a:t>Obtenga el reciproco, el contrarrecíproco y el contrario</a:t>
            </a:r>
          </a:p>
        </p:txBody>
      </p:sp>
    </p:spTree>
    <p:extLst>
      <p:ext uri="{BB962C8B-B14F-4D97-AF65-F5344CB8AC3E}">
        <p14:creationId xmlns:p14="http://schemas.microsoft.com/office/powerpoint/2010/main" val="7894169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26580"/>
            <a:ext cx="10515600" cy="1325563"/>
          </a:xfrm>
        </p:spPr>
        <p:txBody>
          <a:bodyPr/>
          <a:lstStyle/>
          <a:p>
            <a:r>
              <a:rPr lang="es-CO" dirty="0"/>
              <a:t>Condiciones de suficiencia y necesidad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218" y="1375235"/>
            <a:ext cx="11471563" cy="26148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000" i="0" dirty="0">
                <a:effectLst/>
                <a:latin typeface="Google Sans Text"/>
                <a:ea typeface="Cambria Math" panose="02040503050406030204" pitchFamily="18" charset="0"/>
              </a:rPr>
              <a:t>En matemáticas discretas, y en la vida profesional (derecho, programación, ingeniería), confundir lo que es </a:t>
            </a:r>
            <a:r>
              <a:rPr lang="es-MX" sz="2000" b="1" i="0" dirty="0">
                <a:effectLst/>
                <a:latin typeface="Google Sans Text"/>
                <a:ea typeface="Cambria Math" panose="02040503050406030204" pitchFamily="18" charset="0"/>
              </a:rPr>
              <a:t>necesario</a:t>
            </a:r>
            <a:r>
              <a:rPr lang="es-MX" sz="2000" i="0" dirty="0">
                <a:effectLst/>
                <a:latin typeface="Google Sans Text"/>
                <a:ea typeface="Cambria Math" panose="02040503050406030204" pitchFamily="18" charset="0"/>
              </a:rPr>
              <a:t> con lo que es </a:t>
            </a:r>
            <a:r>
              <a:rPr lang="es-MX" sz="2000" b="1" i="0" dirty="0">
                <a:effectLst/>
                <a:latin typeface="Google Sans Text"/>
                <a:ea typeface="Cambria Math" panose="02040503050406030204" pitchFamily="18" charset="0"/>
              </a:rPr>
              <a:t>suficiente</a:t>
            </a:r>
            <a:r>
              <a:rPr lang="es-MX" sz="2000" i="0" dirty="0">
                <a:effectLst/>
                <a:latin typeface="Google Sans Text"/>
                <a:ea typeface="Cambria Math" panose="02040503050406030204" pitchFamily="18" charset="0"/>
              </a:rPr>
              <a:t> puede llevar a pérdidas de dinero, bugs en el código o demandas legales.</a:t>
            </a:r>
          </a:p>
          <a:p>
            <a:r>
              <a:rPr lang="es-MX" sz="2000" b="1" dirty="0">
                <a:ea typeface="Cambria Math" panose="02040503050406030204" pitchFamily="18" charset="0"/>
              </a:rPr>
              <a:t>Condición necesaria</a:t>
            </a:r>
            <a:r>
              <a:rPr lang="es-MX" sz="2000" dirty="0">
                <a:ea typeface="Cambria Math" panose="02040503050406030204" pitchFamily="18" charset="0"/>
              </a:rPr>
              <a:t>: Si 𝒑 es </a:t>
            </a:r>
            <a:r>
              <a:rPr lang="es-MX" sz="2000" u="sng" dirty="0">
                <a:ea typeface="Cambria Math" panose="02040503050406030204" pitchFamily="18" charset="0"/>
              </a:rPr>
              <a:t>condición necesaria</a:t>
            </a:r>
            <a:r>
              <a:rPr lang="es-MX" sz="2000" dirty="0">
                <a:ea typeface="Cambria Math" panose="02040503050406030204" pitchFamily="18" charset="0"/>
              </a:rPr>
              <a:t> para 𝒒, significa que para que 𝒒 sea cierta, 𝒑 debe ser cierta.</a:t>
            </a:r>
          </a:p>
          <a:p>
            <a:r>
              <a:rPr lang="es-MX" sz="2000" b="1" dirty="0">
                <a:ea typeface="Cambria Math" panose="02040503050406030204" pitchFamily="18" charset="0"/>
              </a:rPr>
              <a:t>Condición suficiente</a:t>
            </a:r>
            <a:r>
              <a:rPr lang="es-MX" sz="2000" dirty="0">
                <a:ea typeface="Cambria Math" panose="02040503050406030204" pitchFamily="18" charset="0"/>
              </a:rPr>
              <a:t>: Si 𝒑 es </a:t>
            </a:r>
            <a:r>
              <a:rPr lang="es-MX" sz="2000" u="sng" dirty="0">
                <a:ea typeface="Cambria Math" panose="02040503050406030204" pitchFamily="18" charset="0"/>
              </a:rPr>
              <a:t>condición suficiente</a:t>
            </a:r>
            <a:r>
              <a:rPr lang="es-MX" sz="2000" dirty="0">
                <a:ea typeface="Cambria Math" panose="02040503050406030204" pitchFamily="18" charset="0"/>
              </a:rPr>
              <a:t> para 𝒒, significa que cuando 𝒑 ocurre, 𝒒 también ocurre.</a:t>
            </a:r>
          </a:p>
          <a:p>
            <a:r>
              <a:rPr lang="es-MX" sz="2000" b="1" dirty="0">
                <a:ea typeface="Cambria Math" panose="02040503050406030204" pitchFamily="18" charset="0"/>
              </a:rPr>
              <a:t>Condición necesaria y suficiente</a:t>
            </a:r>
            <a:r>
              <a:rPr lang="es-MX" sz="2000" dirty="0">
                <a:ea typeface="Cambria Math" panose="02040503050406030204" pitchFamily="18" charset="0"/>
              </a:rPr>
              <a:t>: Si 𝒑 es </a:t>
            </a:r>
            <a:r>
              <a:rPr lang="es-MX" sz="2000" u="sng" dirty="0">
                <a:ea typeface="Cambria Math" panose="02040503050406030204" pitchFamily="18" charset="0"/>
              </a:rPr>
              <a:t>necesaria y suficiente</a:t>
            </a:r>
            <a:r>
              <a:rPr lang="es-MX" sz="2000" dirty="0">
                <a:ea typeface="Cambria Math" panose="02040503050406030204" pitchFamily="18" charset="0"/>
              </a:rPr>
              <a:t> para 𝒒, significa que 𝒑 ocurre si y solo si 𝒒 ocurre (doble implicación)</a:t>
            </a:r>
          </a:p>
          <a:p>
            <a:endParaRPr lang="es-MX" sz="2000" dirty="0">
              <a:latin typeface="Google Sans Text"/>
              <a:ea typeface="Cambria Math" panose="02040503050406030204" pitchFamily="18" charset="0"/>
            </a:endParaRPr>
          </a:p>
          <a:p>
            <a:endParaRPr lang="es-MX" sz="2000" dirty="0">
              <a:latin typeface="Google Sans Text"/>
              <a:ea typeface="Cambria Math" panose="02040503050406030204" pitchFamily="18" charset="0"/>
            </a:endParaRPr>
          </a:p>
          <a:p>
            <a:pPr lvl="1"/>
            <a:endParaRPr lang="es-MX" sz="2000" b="0" i="0" dirty="0">
              <a:solidFill>
                <a:srgbClr val="131314"/>
              </a:solidFill>
              <a:effectLst/>
              <a:latin typeface="Google Sans Text"/>
            </a:endParaRPr>
          </a:p>
          <a:p>
            <a:pPr marL="0" indent="0">
              <a:buNone/>
            </a:pPr>
            <a:endParaRPr lang="es-MX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51F100D3-A891-4818-B231-29601CDE1461}"/>
                  </a:ext>
                </a:extLst>
              </p:cNvPr>
              <p:cNvSpPr txBox="1"/>
              <p:nvPr/>
            </p:nvSpPr>
            <p:spPr>
              <a:xfrm>
                <a:off x="540327" y="4323096"/>
                <a:ext cx="11097491" cy="1323439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>
                <a:spAutoFit/>
              </a:bodyPr>
              <a:lstStyle/>
              <a:p>
                <a:pPr algn="l"/>
                <a:r>
                  <a:rPr lang="es-MX" sz="2000" b="1" i="0" dirty="0">
                    <a:effectLst/>
                  </a:rPr>
                  <a:t>Regla practica para la identificación de condiciones de suficiencia y necesidad:</a:t>
                </a:r>
              </a:p>
              <a:p>
                <a:pPr algn="l"/>
                <a:r>
                  <a:rPr lang="es-MX" sz="2000" b="0" i="0" dirty="0">
                    <a:effectLst/>
                  </a:rPr>
                  <a:t>Cuando tenga dudas, hágase estas dos preguntas (la respuesta debe ser </a:t>
                </a:r>
                <a:r>
                  <a:rPr lang="es-MX" sz="2000" b="1" i="0" dirty="0">
                    <a:effectLst/>
                  </a:rPr>
                  <a:t>SÍ</a:t>
                </a:r>
                <a:r>
                  <a:rPr lang="es-MX" sz="2000" b="0" i="0" dirty="0">
                    <a:effectLst/>
                  </a:rPr>
                  <a:t>):</a:t>
                </a:r>
              </a:p>
              <a:p>
                <a:pPr algn="l">
                  <a:buFont typeface="+mj-lt"/>
                  <a:buAutoNum type="arabicPeriod"/>
                </a:pPr>
                <a:r>
                  <a:rPr lang="es-MX" sz="2000" b="1" i="0" dirty="0">
                    <a:effectLst/>
                  </a:rPr>
                  <a:t>Para Suficiencia (</a:t>
                </a:r>
                <a14:m>
                  <m:oMath xmlns:m="http://schemas.openxmlformats.org/officeDocument/2006/math">
                    <m:r>
                      <a:rPr lang="es-MX" sz="2000" b="1" i="1" smtClean="0">
                        <a:effectLst/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s-MX" sz="2000" b="1" i="0" dirty="0">
                    <a:effectLst/>
                  </a:rPr>
                  <a:t>):</a:t>
                </a:r>
                <a:r>
                  <a:rPr lang="es-MX" sz="2000" b="0" i="0" dirty="0">
                    <a:effectLst/>
                  </a:rPr>
                  <a:t> </a:t>
                </a:r>
                <a:r>
                  <a:rPr lang="es-MX" sz="2000" b="0" i="1" dirty="0">
                    <a:effectLst/>
                  </a:rPr>
                  <a:t>“Si tengo esto, ¿el resultado está 100% garantizado?”</a:t>
                </a:r>
                <a:endParaRPr lang="es-MX" sz="2000" b="0" i="0" dirty="0">
                  <a:effectLst/>
                </a:endParaRPr>
              </a:p>
              <a:p>
                <a:pPr algn="l">
                  <a:buFont typeface="+mj-lt"/>
                  <a:buAutoNum type="arabicPeriod"/>
                </a:pPr>
                <a:r>
                  <a:rPr lang="es-MX" sz="2000" b="1" i="0" dirty="0">
                    <a:effectLst/>
                  </a:rPr>
                  <a:t>Para Necesidad (</a:t>
                </a:r>
                <a14:m>
                  <m:oMath xmlns:m="http://schemas.openxmlformats.org/officeDocument/2006/math">
                    <m:r>
                      <a:rPr lang="es-MX" sz="2000" b="1" i="1" smtClean="0">
                        <a:effectLst/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s-MX" sz="2000" b="1" i="0" dirty="0">
                    <a:effectLst/>
                  </a:rPr>
                  <a:t>):</a:t>
                </a:r>
                <a:r>
                  <a:rPr lang="es-MX" sz="2000" b="0" i="0" dirty="0">
                    <a:effectLst/>
                  </a:rPr>
                  <a:t> </a:t>
                </a:r>
                <a:r>
                  <a:rPr lang="es-MX" sz="2000" b="0" i="1" dirty="0">
                    <a:effectLst/>
                  </a:rPr>
                  <a:t>“Si NO tengo esto, ¿el resultado es imposible?”</a:t>
                </a:r>
                <a:endParaRPr lang="es-CO" sz="2000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51F100D3-A891-4818-B231-29601CDE1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327" y="4323096"/>
                <a:ext cx="11097491" cy="1323439"/>
              </a:xfrm>
              <a:prstGeom prst="rect">
                <a:avLst/>
              </a:prstGeom>
              <a:blipFill>
                <a:blip r:embed="rId2"/>
                <a:stretch>
                  <a:fillRect l="-604" t="-2304" b="-7834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6521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26580"/>
            <a:ext cx="10515600" cy="1325563"/>
          </a:xfrm>
        </p:spPr>
        <p:txBody>
          <a:bodyPr/>
          <a:lstStyle/>
          <a:p>
            <a:r>
              <a:rPr lang="es-CO" dirty="0"/>
              <a:t>Condiciones de suficiencia y necesidad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a 5">
                <a:extLst>
                  <a:ext uri="{FF2B5EF4-FFF2-40B4-BE49-F238E27FC236}">
                    <a16:creationId xmlns:a16="http://schemas.microsoft.com/office/drawing/2014/main" id="{A5214A37-EE04-447C-B89B-90E385096CE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38073964"/>
                  </p:ext>
                </p:extLst>
              </p:nvPr>
            </p:nvGraphicFramePr>
            <p:xfrm>
              <a:off x="554182" y="2217161"/>
              <a:ext cx="10958946" cy="3291840"/>
            </p:xfrm>
            <a:graphic>
              <a:graphicData uri="http://schemas.openxmlformats.org/drawingml/2006/table">
                <a:tbl>
                  <a:tblPr/>
                  <a:tblGrid>
                    <a:gridCol w="5479473">
                      <a:extLst>
                        <a:ext uri="{9D8B030D-6E8A-4147-A177-3AD203B41FA5}">
                          <a16:colId xmlns:a16="http://schemas.microsoft.com/office/drawing/2014/main" val="2871631424"/>
                        </a:ext>
                      </a:extLst>
                    </a:gridCol>
                    <a:gridCol w="5479473">
                      <a:extLst>
                        <a:ext uri="{9D8B030D-6E8A-4147-A177-3AD203B41FA5}">
                          <a16:colId xmlns:a16="http://schemas.microsoft.com/office/drawing/2014/main" val="17643886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CO" b="1" dirty="0">
                              <a:effectLst/>
                            </a:rPr>
                            <a:t>Indicadores de suficiencia (</a:t>
                          </a:r>
                          <a14:m>
                            <m:oMath xmlns:m="http://schemas.openxmlformats.org/officeDocument/2006/math">
                              <m:r>
                                <a:rPr lang="es-MX" b="1" i="1" smtClean="0">
                                  <a:effectLst/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oMath>
                          </a14:m>
                          <a:r>
                            <a:rPr lang="es-CO" b="1" dirty="0">
                              <a:effectLst/>
                            </a:rPr>
                            <a:t>)</a:t>
                          </a:r>
                          <a:endParaRPr lang="es-CO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CO" b="1" dirty="0">
                              <a:effectLst/>
                            </a:rPr>
                            <a:t>Indicadores de necesidad (</a:t>
                          </a:r>
                          <a14:m>
                            <m:oMath xmlns:m="http://schemas.openxmlformats.org/officeDocument/2006/math">
                              <m:r>
                                <a:rPr lang="es-MX" b="1" i="1" smtClean="0">
                                  <a:effectLst/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oMath>
                          </a14:m>
                          <a:r>
                            <a:rPr lang="es-CO" b="1" dirty="0">
                              <a:effectLst/>
                            </a:rPr>
                            <a:t>)</a:t>
                          </a:r>
                          <a:endParaRPr lang="es-CO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331303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CO" i="1" dirty="0">
                              <a:effectLst/>
                            </a:rPr>
                            <a:t>Introducen el Antecedente (</a:t>
                          </a:r>
                          <a14:m>
                            <m:oMath xmlns:m="http://schemas.openxmlformats.org/officeDocument/2006/math">
                              <m:r>
                                <a:rPr lang="es-MX" b="1" i="1" smtClean="0">
                                  <a:effectLst/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  <m:r>
                                <a:rPr lang="es-MX" b="1" i="1" smtClean="0">
                                  <a:effectLst/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es-CO" i="1" dirty="0">
                              <a:effectLst/>
                            </a:rPr>
                            <a:t>)</a:t>
                          </a:r>
                          <a:endParaRPr lang="es-CO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CO" i="1" dirty="0">
                              <a:effectLst/>
                            </a:rPr>
                            <a:t>Introducen el Consecuente (</a:t>
                          </a:r>
                          <a14:m>
                            <m:oMath xmlns:m="http://schemas.openxmlformats.org/officeDocument/2006/math">
                              <m:r>
                                <a:rPr lang="es-MX" b="1" i="1" smtClean="0">
                                  <a:effectLst/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s-MX" b="1" i="1" smtClean="0">
                                  <a:effectLst/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oMath>
                          </a14:m>
                          <a:r>
                            <a:rPr lang="es-CO" i="1" dirty="0">
                              <a:effectLst/>
                            </a:rPr>
                            <a:t>)</a:t>
                          </a:r>
                          <a:endParaRPr lang="es-CO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4845543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CO" b="0" dirty="0">
                              <a:effectLst/>
                            </a:rPr>
                            <a:t>Si… (</a:t>
                          </a:r>
                          <a:r>
                            <a:rPr lang="es-CO" b="0" i="1" dirty="0">
                              <a:effectLst/>
                            </a:rPr>
                            <a:t>Si </a:t>
                          </a:r>
                          <a14:m>
                            <m:oMath xmlns:m="http://schemas.openxmlformats.org/officeDocument/2006/math">
                              <m:r>
                                <a:rPr lang="es-MX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es-CO" b="0" i="1" dirty="0">
                              <a:effectLst/>
                            </a:rPr>
                            <a:t>, entonces </a:t>
                          </a:r>
                          <a14:m>
                            <m:oMath xmlns:m="http://schemas.openxmlformats.org/officeDocument/2006/math">
                              <m:r>
                                <a:rPr lang="es-MX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es-CO" b="0" dirty="0">
                              <a:effectLst/>
                            </a:rPr>
                            <a:t>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CO" b="0">
                              <a:effectLst/>
                            </a:rPr>
                            <a:t>…solo si…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72154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CO" b="0" dirty="0">
                              <a:effectLst/>
                            </a:rPr>
                            <a:t>Cuando…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CO" b="0" dirty="0">
                              <a:effectLst/>
                            </a:rPr>
                            <a:t>…solamente si…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1691079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CO" b="0">
                              <a:effectLst/>
                            </a:rPr>
                            <a:t>Cada vez que…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CO" b="0">
                              <a:effectLst/>
                            </a:rPr>
                            <a:t>…únicamente si…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833758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CO" b="0">
                              <a:effectLst/>
                            </a:rPr>
                            <a:t>Siempre que…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MX" b="0" dirty="0">
                              <a:effectLst/>
                            </a:rPr>
                            <a:t>…es una condición necesaria para…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021435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CO" b="0">
                              <a:effectLst/>
                            </a:rPr>
                            <a:t>Basta que…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CO" b="0">
                              <a:effectLst/>
                            </a:rPr>
                            <a:t>…es un requisito para…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2697264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CO" b="0">
                              <a:effectLst/>
                            </a:rPr>
                            <a:t>Es suficiente que…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CO" b="0">
                              <a:effectLst/>
                            </a:rPr>
                            <a:t>…implica…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131348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CO" b="0" dirty="0">
                              <a:effectLst/>
                            </a:rPr>
                            <a:t>Dado que…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CO" b="0" dirty="0">
                              <a:effectLst/>
                            </a:rPr>
                            <a:t>…conlleva…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263825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a 5">
                <a:extLst>
                  <a:ext uri="{FF2B5EF4-FFF2-40B4-BE49-F238E27FC236}">
                    <a16:creationId xmlns:a16="http://schemas.microsoft.com/office/drawing/2014/main" id="{A5214A37-EE04-447C-B89B-90E385096CE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38073964"/>
                  </p:ext>
                </p:extLst>
              </p:nvPr>
            </p:nvGraphicFramePr>
            <p:xfrm>
              <a:off x="554182" y="2217161"/>
              <a:ext cx="10958946" cy="3291840"/>
            </p:xfrm>
            <a:graphic>
              <a:graphicData uri="http://schemas.openxmlformats.org/drawingml/2006/table">
                <a:tbl>
                  <a:tblPr/>
                  <a:tblGrid>
                    <a:gridCol w="5479473">
                      <a:extLst>
                        <a:ext uri="{9D8B030D-6E8A-4147-A177-3AD203B41FA5}">
                          <a16:colId xmlns:a16="http://schemas.microsoft.com/office/drawing/2014/main" val="2871631424"/>
                        </a:ext>
                      </a:extLst>
                    </a:gridCol>
                    <a:gridCol w="5479473">
                      <a:extLst>
                        <a:ext uri="{9D8B030D-6E8A-4147-A177-3AD203B41FA5}">
                          <a16:colId xmlns:a16="http://schemas.microsoft.com/office/drawing/2014/main" val="17643886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11" t="-8333" r="-100111" b="-8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22" t="-8333" r="-222" b="-82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331303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11" t="-108333" r="-100111" b="-7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22" t="-108333" r="-222" b="-72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4845543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11" t="-208333" r="-100111" b="-6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CO" b="0">
                              <a:effectLst/>
                            </a:rPr>
                            <a:t>…solo si…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72154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CO" b="0" dirty="0">
                              <a:effectLst/>
                            </a:rPr>
                            <a:t>Cuando…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CO" b="0" dirty="0">
                              <a:effectLst/>
                            </a:rPr>
                            <a:t>…solamente si…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1691079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CO" b="0">
                              <a:effectLst/>
                            </a:rPr>
                            <a:t>Cada vez que…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CO" b="0">
                              <a:effectLst/>
                            </a:rPr>
                            <a:t>…únicamente si…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833758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CO" b="0">
                              <a:effectLst/>
                            </a:rPr>
                            <a:t>Siempre que…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MX" b="0" dirty="0">
                              <a:effectLst/>
                            </a:rPr>
                            <a:t>…es una condición necesaria para…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021435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CO" b="0">
                              <a:effectLst/>
                            </a:rPr>
                            <a:t>Basta que…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CO" b="0">
                              <a:effectLst/>
                            </a:rPr>
                            <a:t>…es un requisito para…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2697264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CO" b="0">
                              <a:effectLst/>
                            </a:rPr>
                            <a:t>Es suficiente que…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CO" b="0">
                              <a:effectLst/>
                            </a:rPr>
                            <a:t>…implica…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131348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CO" b="0" dirty="0">
                              <a:effectLst/>
                            </a:rPr>
                            <a:t>Dado que…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CO" b="0" dirty="0">
                              <a:effectLst/>
                            </a:rPr>
                            <a:t>…conlleva…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263825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22B48A51-3A1C-4844-887E-7B086FCCC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218" y="1375235"/>
            <a:ext cx="11471563" cy="34272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MX" sz="2000" i="0" dirty="0">
                <a:effectLst/>
                <a:latin typeface="Google Sans Text"/>
                <a:ea typeface="Cambria Math" panose="02040503050406030204" pitchFamily="18" charset="0"/>
              </a:rPr>
              <a:t>A continuación, se listan algunos conectores para identificar condiciones de suficiencia y necesidad</a:t>
            </a:r>
            <a:endParaRPr lang="es-MX" sz="2000" dirty="0">
              <a:ea typeface="Cambria Math" panose="02040503050406030204" pitchFamily="18" charset="0"/>
            </a:endParaRPr>
          </a:p>
          <a:p>
            <a:endParaRPr lang="es-MX" sz="2000" dirty="0">
              <a:latin typeface="Google Sans Text"/>
              <a:ea typeface="Cambria Math" panose="02040503050406030204" pitchFamily="18" charset="0"/>
            </a:endParaRPr>
          </a:p>
          <a:p>
            <a:endParaRPr lang="es-MX" sz="2000" dirty="0">
              <a:latin typeface="Google Sans Text"/>
              <a:ea typeface="Cambria Math" panose="02040503050406030204" pitchFamily="18" charset="0"/>
            </a:endParaRPr>
          </a:p>
          <a:p>
            <a:pPr lvl="1"/>
            <a:endParaRPr lang="es-MX" sz="2000" b="0" i="0" dirty="0">
              <a:solidFill>
                <a:srgbClr val="131314"/>
              </a:solidFill>
              <a:effectLst/>
              <a:latin typeface="Google Sans Text"/>
            </a:endParaRPr>
          </a:p>
          <a:p>
            <a:pPr marL="0" indent="0">
              <a:buNone/>
            </a:pPr>
            <a:endParaRPr lang="es-MX" sz="2000" dirty="0"/>
          </a:p>
        </p:txBody>
      </p:sp>
    </p:spTree>
    <p:extLst>
      <p:ext uri="{BB962C8B-B14F-4D97-AF65-F5344CB8AC3E}">
        <p14:creationId xmlns:p14="http://schemas.microsoft.com/office/powerpoint/2010/main" val="2811868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26580"/>
            <a:ext cx="10515600" cy="1325563"/>
          </a:xfrm>
        </p:spPr>
        <p:txBody>
          <a:bodyPr/>
          <a:lstStyle/>
          <a:p>
            <a:r>
              <a:rPr lang="es-CO" dirty="0"/>
              <a:t>Condiciones de suficiencia y necesidad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218" y="1375234"/>
            <a:ext cx="11471563" cy="35431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000" b="1" i="0" dirty="0">
                <a:effectLst/>
              </a:rPr>
              <a:t>Ejemplo</a:t>
            </a:r>
            <a:r>
              <a:rPr lang="es-MX" sz="2000" i="0" dirty="0">
                <a:effectLst/>
              </a:rPr>
              <a:t>: Determine si las siguientes condiciones son: necesarias, suficientes o ambas (necesarias y suficientes)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000" dirty="0"/>
              <a:t>“Si un </a:t>
            </a:r>
            <a:r>
              <a:rPr lang="es-MX" sz="2000" dirty="0" err="1"/>
              <a:t>cuadrilatero</a:t>
            </a:r>
            <a:r>
              <a:rPr lang="es-MX" sz="2000" dirty="0"/>
              <a:t> es un cuadrado, entonces es un </a:t>
            </a:r>
            <a:r>
              <a:rPr lang="es-MX" sz="2000" dirty="0" err="1"/>
              <a:t>rectangulo</a:t>
            </a:r>
            <a:r>
              <a:rPr lang="es-MX" sz="2000" dirty="0"/>
              <a:t>”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000" dirty="0"/>
              <a:t>“Si un numero es divisible por 2, entonces es divisible por 6”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000" dirty="0"/>
              <a:t>“Un numero es divisible por 3 si la suma de los dígitos es un </a:t>
            </a:r>
            <a:r>
              <a:rPr lang="es-MX" sz="2000" dirty="0" err="1"/>
              <a:t>multiplo</a:t>
            </a:r>
            <a:r>
              <a:rPr lang="es-MX" sz="2000" dirty="0"/>
              <a:t> de 3”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000" dirty="0"/>
              <a:t>Si quieres ser su esposo tienes que decirle.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000" dirty="0"/>
              <a:t>Si haces la fila, serás atendido.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000" dirty="0"/>
              <a:t>Para ser atendido, solo tienes que hacer la fila</a:t>
            </a:r>
          </a:p>
        </p:txBody>
      </p:sp>
    </p:spTree>
    <p:extLst>
      <p:ext uri="{BB962C8B-B14F-4D97-AF65-F5344CB8AC3E}">
        <p14:creationId xmlns:p14="http://schemas.microsoft.com/office/powerpoint/2010/main" val="24595176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26580"/>
            <a:ext cx="10515600" cy="1325563"/>
          </a:xfrm>
        </p:spPr>
        <p:txBody>
          <a:bodyPr/>
          <a:lstStyle/>
          <a:p>
            <a:r>
              <a:rPr lang="es-CO" dirty="0"/>
              <a:t>Condiciones de suficiencia y necesidad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218" y="1375233"/>
            <a:ext cx="11471563" cy="49978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000" b="1" i="0" dirty="0">
                <a:effectLst/>
              </a:rPr>
              <a:t>Ejemplo</a:t>
            </a:r>
            <a:r>
              <a:rPr lang="es-MX" sz="2000" i="0" dirty="0">
                <a:effectLst/>
              </a:rPr>
              <a:t>: Determine si las siguientes condiciones son: necesarias, suficientes o ambas (necesarias y suficientes)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000" dirty="0"/>
              <a:t>“Si un </a:t>
            </a:r>
            <a:r>
              <a:rPr lang="es-MX" sz="2000" dirty="0" err="1"/>
              <a:t>cuadrilatero</a:t>
            </a:r>
            <a:r>
              <a:rPr lang="es-MX" sz="2000" dirty="0"/>
              <a:t> es un cuadrado, entonces es un </a:t>
            </a:r>
            <a:r>
              <a:rPr lang="es-MX" sz="2000" dirty="0" err="1"/>
              <a:t>rectangulo</a:t>
            </a:r>
            <a:r>
              <a:rPr lang="es-MX" sz="2000" dirty="0"/>
              <a:t>”</a:t>
            </a:r>
          </a:p>
          <a:p>
            <a:pPr marL="457200" indent="-457200">
              <a:buFont typeface="+mj-lt"/>
              <a:buAutoNum type="arabicPeriod"/>
            </a:pPr>
            <a:endParaRPr lang="es-MX" sz="2000" dirty="0"/>
          </a:p>
          <a:p>
            <a:pPr marL="457200" indent="-457200">
              <a:buFont typeface="+mj-lt"/>
              <a:buAutoNum type="arabicPeriod"/>
            </a:pPr>
            <a:endParaRPr lang="es-MX" sz="2000" dirty="0"/>
          </a:p>
          <a:p>
            <a:pPr marL="457200" indent="-457200">
              <a:buFont typeface="+mj-lt"/>
              <a:buAutoNum type="arabicPeriod"/>
            </a:pPr>
            <a:endParaRPr lang="es-MX" sz="2000" dirty="0"/>
          </a:p>
          <a:p>
            <a:pPr marL="457200" indent="-457200">
              <a:buFont typeface="+mj-lt"/>
              <a:buAutoNum type="arabicPeriod"/>
            </a:pPr>
            <a:r>
              <a:rPr lang="es-MX" sz="2000" dirty="0"/>
              <a:t>“Si un numero es divisible por 2, entonces es divisible por 6”</a:t>
            </a:r>
          </a:p>
          <a:p>
            <a:pPr marL="457200" indent="-457200">
              <a:buFont typeface="+mj-lt"/>
              <a:buAutoNum type="arabicPeriod"/>
            </a:pPr>
            <a:endParaRPr lang="es-MX" sz="2000" dirty="0"/>
          </a:p>
          <a:p>
            <a:pPr marL="457200" indent="-457200">
              <a:buFont typeface="+mj-lt"/>
              <a:buAutoNum type="arabicPeriod"/>
            </a:pPr>
            <a:endParaRPr lang="es-MX" sz="2000" dirty="0"/>
          </a:p>
          <a:p>
            <a:pPr marL="457200" indent="-457200">
              <a:buFont typeface="+mj-lt"/>
              <a:buAutoNum type="arabicPeriod"/>
            </a:pPr>
            <a:endParaRPr lang="es-MX" sz="2000" dirty="0"/>
          </a:p>
          <a:p>
            <a:pPr marL="457200" indent="-457200">
              <a:buFont typeface="+mj-lt"/>
              <a:buAutoNum type="arabicPeriod"/>
            </a:pPr>
            <a:r>
              <a:rPr lang="es-MX" sz="2000" dirty="0"/>
              <a:t>“Un numero es divisible por 3 si la suma de los dígitos es un </a:t>
            </a:r>
            <a:r>
              <a:rPr lang="es-MX" sz="2000" dirty="0" err="1"/>
              <a:t>multiplo</a:t>
            </a:r>
            <a:r>
              <a:rPr lang="es-MX" sz="2000" dirty="0"/>
              <a:t> de 3”</a:t>
            </a:r>
          </a:p>
        </p:txBody>
      </p:sp>
    </p:spTree>
    <p:extLst>
      <p:ext uri="{BB962C8B-B14F-4D97-AF65-F5344CB8AC3E}">
        <p14:creationId xmlns:p14="http://schemas.microsoft.com/office/powerpoint/2010/main" val="36946148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26580"/>
            <a:ext cx="10515600" cy="1325563"/>
          </a:xfrm>
        </p:spPr>
        <p:txBody>
          <a:bodyPr/>
          <a:lstStyle/>
          <a:p>
            <a:r>
              <a:rPr lang="es-CO" dirty="0"/>
              <a:t>Condiciones de suficiencia y necesidad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218" y="1375234"/>
            <a:ext cx="11471563" cy="52561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000" b="1" i="0" dirty="0">
                <a:effectLst/>
              </a:rPr>
              <a:t>Ejemplo</a:t>
            </a:r>
            <a:r>
              <a:rPr lang="es-MX" sz="2000" i="0" dirty="0">
                <a:effectLst/>
              </a:rPr>
              <a:t>: Determine si las siguientes condiciones son: necesarias, suficientes o ambas (necesarias y suficientes)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es-MX" sz="2000" dirty="0"/>
              <a:t>Si quieres ser su esposo tienes que decirle.</a:t>
            </a:r>
          </a:p>
          <a:p>
            <a:pPr marL="457200" indent="-457200">
              <a:buFont typeface="+mj-lt"/>
              <a:buAutoNum type="arabicPeriod" startAt="4"/>
            </a:pPr>
            <a:endParaRPr lang="es-MX" sz="2000" dirty="0"/>
          </a:p>
          <a:p>
            <a:pPr marL="457200" indent="-457200">
              <a:buFont typeface="+mj-lt"/>
              <a:buAutoNum type="arabicPeriod" startAt="4"/>
            </a:pPr>
            <a:endParaRPr lang="es-MX" sz="2000" dirty="0"/>
          </a:p>
          <a:p>
            <a:pPr marL="457200" indent="-457200">
              <a:buFont typeface="+mj-lt"/>
              <a:buAutoNum type="arabicPeriod" startAt="4"/>
            </a:pPr>
            <a:endParaRPr lang="es-MX" sz="2000" dirty="0"/>
          </a:p>
          <a:p>
            <a:pPr marL="457200" indent="-457200">
              <a:buFont typeface="+mj-lt"/>
              <a:buAutoNum type="arabicPeriod" startAt="4"/>
            </a:pPr>
            <a:r>
              <a:rPr lang="es-MX" sz="2000" dirty="0"/>
              <a:t>Si haces la fila, serás atendido.</a:t>
            </a:r>
          </a:p>
          <a:p>
            <a:pPr marL="457200" indent="-457200">
              <a:buFont typeface="+mj-lt"/>
              <a:buAutoNum type="arabicPeriod" startAt="4"/>
            </a:pPr>
            <a:endParaRPr lang="es-MX" sz="2000" dirty="0"/>
          </a:p>
          <a:p>
            <a:pPr marL="457200" indent="-457200">
              <a:buFont typeface="+mj-lt"/>
              <a:buAutoNum type="arabicPeriod" startAt="4"/>
            </a:pPr>
            <a:endParaRPr lang="es-MX" sz="2000" dirty="0"/>
          </a:p>
          <a:p>
            <a:pPr marL="457200" indent="-457200">
              <a:buFont typeface="+mj-lt"/>
              <a:buAutoNum type="arabicPeriod" startAt="4"/>
            </a:pPr>
            <a:endParaRPr lang="es-MX" sz="2000" dirty="0"/>
          </a:p>
          <a:p>
            <a:pPr marL="457200" indent="-457200">
              <a:buFont typeface="+mj-lt"/>
              <a:buAutoNum type="arabicPeriod" startAt="4"/>
            </a:pPr>
            <a:r>
              <a:rPr lang="es-MX" sz="2000" dirty="0"/>
              <a:t>Para ser atendido, solo tienes que hacer la fila</a:t>
            </a:r>
          </a:p>
        </p:txBody>
      </p:sp>
    </p:spTree>
    <p:extLst>
      <p:ext uri="{BB962C8B-B14F-4D97-AF65-F5344CB8AC3E}">
        <p14:creationId xmlns:p14="http://schemas.microsoft.com/office/powerpoint/2010/main" val="9571043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Descargar fondos de Looneytunes, Eso Es Todo Amigos. | Wallpapers.com">
            <a:extLst>
              <a:ext uri="{FF2B5EF4-FFF2-40B4-BE49-F238E27FC236}">
                <a16:creationId xmlns:a16="http://schemas.microsoft.com/office/drawing/2014/main" id="{80E56D42-6B08-45CB-A8AD-5B69CC1FD1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189" y="1300595"/>
            <a:ext cx="8043676" cy="450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74094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1361</Words>
  <Application>Microsoft Office PowerPoint</Application>
  <PresentationFormat>Panorámica</PresentationFormat>
  <Paragraphs>358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Google Sans Text</vt:lpstr>
      <vt:lpstr>Roboto</vt:lpstr>
      <vt:lpstr>Tema de Office</vt:lpstr>
      <vt:lpstr>Matemáticas Discretas 1</vt:lpstr>
      <vt:lpstr>Recursos de esta clase</vt:lpstr>
      <vt:lpstr>Clasificación de las proposiciones</vt:lpstr>
      <vt:lpstr>Clasificación de las proposiciones</vt:lpstr>
      <vt:lpstr>Clasificación de las proposiciones</vt:lpstr>
      <vt:lpstr>Equivalencia lógica</vt:lpstr>
      <vt:lpstr>Equivalencia lógica</vt:lpstr>
      <vt:lpstr>Equivalencia lógica</vt:lpstr>
      <vt:lpstr>Expresiones condicionales y sus variantes</vt:lpstr>
      <vt:lpstr>Expresiones condicionales y sus variantes</vt:lpstr>
      <vt:lpstr>Expresiones condicionales y sus variantes</vt:lpstr>
      <vt:lpstr>Condiciones de suficiencia y necesidad</vt:lpstr>
      <vt:lpstr>Condiciones de suficiencia y necesidad</vt:lpstr>
      <vt:lpstr>Condiciones de suficiencia y necesidad</vt:lpstr>
      <vt:lpstr>Condiciones de suficiencia y necesidad</vt:lpstr>
      <vt:lpstr>Condiciones de suficiencia y necesidad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Matemáticas Discretas 1</dc:title>
  <dc:creator>Henry Arcila</dc:creator>
  <cp:lastModifiedBy>HENRY ALBERTO ARCILA RAMIREZ</cp:lastModifiedBy>
  <cp:revision>9</cp:revision>
  <dcterms:created xsi:type="dcterms:W3CDTF">2026-02-16T23:39:43Z</dcterms:created>
  <dcterms:modified xsi:type="dcterms:W3CDTF">2026-02-26T13:08:27Z</dcterms:modified>
</cp:coreProperties>
</file>