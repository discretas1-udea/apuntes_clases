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5" r:id="rId1"/>
  </p:sldMasterIdLst>
  <p:notesMasterIdLst>
    <p:notesMasterId r:id="rId31"/>
  </p:notesMasterIdLst>
  <p:sldIdLst>
    <p:sldId id="256" r:id="rId2"/>
    <p:sldId id="583" r:id="rId3"/>
    <p:sldId id="584" r:id="rId4"/>
    <p:sldId id="585" r:id="rId5"/>
    <p:sldId id="604" r:id="rId6"/>
    <p:sldId id="469" r:id="rId7"/>
    <p:sldId id="443" r:id="rId8"/>
    <p:sldId id="472" r:id="rId9"/>
    <p:sldId id="474" r:id="rId10"/>
    <p:sldId id="475" r:id="rId11"/>
    <p:sldId id="476" r:id="rId12"/>
    <p:sldId id="605" r:id="rId13"/>
    <p:sldId id="607" r:id="rId14"/>
    <p:sldId id="606" r:id="rId15"/>
    <p:sldId id="482" r:id="rId16"/>
    <p:sldId id="483" r:id="rId17"/>
    <p:sldId id="434" r:id="rId18"/>
    <p:sldId id="477" r:id="rId19"/>
    <p:sldId id="478" r:id="rId20"/>
    <p:sldId id="479" r:id="rId21"/>
    <p:sldId id="608" r:id="rId22"/>
    <p:sldId id="609" r:id="rId23"/>
    <p:sldId id="610" r:id="rId24"/>
    <p:sldId id="612" r:id="rId25"/>
    <p:sldId id="613" r:id="rId26"/>
    <p:sldId id="611" r:id="rId27"/>
    <p:sldId id="615" r:id="rId28"/>
    <p:sldId id="616" r:id="rId29"/>
    <p:sldId id="614" r:id="rId30"/>
  </p:sldIdLst>
  <p:sldSz cx="12192000" cy="6858000"/>
  <p:notesSz cx="6858000" cy="9144000"/>
  <p:embeddedFontLst>
    <p:embeddedFont>
      <p:font typeface="Calibri" panose="020F0502020204030204" pitchFamily="34" charset="0"/>
      <p:regular r:id="rId32"/>
      <p:bold r:id="rId33"/>
      <p:italic r:id="rId34"/>
      <p:boldItalic r:id="rId35"/>
    </p:embeddedFont>
    <p:embeddedFont>
      <p:font typeface="Calibri Light" panose="020F0302020204030204" pitchFamily="34" charset="0"/>
      <p:regular r:id="rId36"/>
      <p:italic r:id="rId37"/>
    </p:embeddedFont>
    <p:embeddedFont>
      <p:font typeface="Cambria Math" panose="02040503050406030204" pitchFamily="18" charset="0"/>
      <p:regular r:id="rId38"/>
    </p:embeddedFont>
    <p:embeddedFont>
      <p:font typeface="Roboto" panose="02000000000000000000" pitchFamily="2" charset="0"/>
      <p:regular r:id="rId39"/>
      <p:bold r:id="rId40"/>
      <p:italic r:id="rId41"/>
      <p:boldItalic r:id="rId42"/>
    </p:embeddedFont>
    <p:embeddedFont>
      <p:font typeface="Roboto Slab" panose="020B0604020202020204" charset="0"/>
      <p:regular r:id="rId43"/>
      <p:bold r:id="rId44"/>
    </p:embeddedFont>
  </p:embeddedFontLst>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D6A3598-7CB8-4345-8D95-17CE05F158A0}">
  <a:tblStyle styleId="{AD6A3598-7CB8-4345-8D95-17CE05F158A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4" autoAdjust="0"/>
    <p:restoredTop sz="94291" autoAdjust="0"/>
  </p:normalViewPr>
  <p:slideViewPr>
    <p:cSldViewPr snapToGrid="0">
      <p:cViewPr varScale="1">
        <p:scale>
          <a:sx n="65" d="100"/>
          <a:sy n="65" d="100"/>
        </p:scale>
        <p:origin x="77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8.fntdata"/><Relationship Id="rId21" Type="http://schemas.openxmlformats.org/officeDocument/2006/relationships/slide" Target="slides/slide20.xml"/><Relationship Id="rId34" Type="http://schemas.openxmlformats.org/officeDocument/2006/relationships/font" Target="fonts/font3.fntdata"/><Relationship Id="rId42" Type="http://schemas.openxmlformats.org/officeDocument/2006/relationships/font" Target="fonts/font11.fntdata"/><Relationship Id="rId47"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1.fntdata"/><Relationship Id="rId37" Type="http://schemas.openxmlformats.org/officeDocument/2006/relationships/font" Target="fonts/font6.fntdata"/><Relationship Id="rId40" Type="http://schemas.openxmlformats.org/officeDocument/2006/relationships/font" Target="fonts/font9.fntdata"/><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4"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4.fntdata"/><Relationship Id="rId43" Type="http://schemas.openxmlformats.org/officeDocument/2006/relationships/font" Target="fonts/font12.fntdata"/><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2.fntdata"/><Relationship Id="rId38" Type="http://schemas.openxmlformats.org/officeDocument/2006/relationships/font" Target="fonts/font7.fntdata"/><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78358aba08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78358aba08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401872700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0552361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910107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5847274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g926a7ab31e_0_4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90000"/>
              </a:lnSpc>
              <a:spcBef>
                <a:spcPts val="1000"/>
              </a:spcBef>
              <a:spcAft>
                <a:spcPts val="0"/>
              </a:spcAft>
              <a:buNone/>
            </a:pPr>
            <a:endParaRPr sz="2400" dirty="0">
              <a:solidFill>
                <a:schemeClr val="dk1"/>
              </a:solidFill>
              <a:latin typeface="Roboto"/>
              <a:ea typeface="Roboto"/>
              <a:cs typeface="Roboto"/>
              <a:sym typeface="Roboto"/>
            </a:endParaRPr>
          </a:p>
          <a:p>
            <a:pPr marL="457200" lvl="0" indent="-381000" algn="l" rtl="0">
              <a:lnSpc>
                <a:spcPct val="90000"/>
              </a:lnSpc>
              <a:spcBef>
                <a:spcPts val="500"/>
              </a:spcBef>
              <a:spcAft>
                <a:spcPts val="0"/>
              </a:spcAft>
              <a:buClr>
                <a:schemeClr val="dk1"/>
              </a:buClr>
              <a:buSzPts val="2400"/>
              <a:buFont typeface="Roboto"/>
              <a:buChar char="●"/>
            </a:pPr>
            <a:endParaRPr sz="2400" dirty="0">
              <a:solidFill>
                <a:schemeClr val="dk1"/>
              </a:solidFill>
              <a:latin typeface="Roboto"/>
              <a:ea typeface="Roboto"/>
              <a:cs typeface="Roboto"/>
              <a:sym typeface="Roboto"/>
            </a:endParaRPr>
          </a:p>
          <a:p>
            <a:pPr marL="0" lvl="0" indent="0" algn="l" rtl="0">
              <a:spcBef>
                <a:spcPts val="0"/>
              </a:spcBef>
              <a:spcAft>
                <a:spcPts val="0"/>
              </a:spcAft>
              <a:buNone/>
            </a:pPr>
            <a:endParaRPr sz="2400" dirty="0"/>
          </a:p>
        </p:txBody>
      </p:sp>
      <p:sp>
        <p:nvSpPr>
          <p:cNvPr id="664" name="Google Shape;664;g926a7ab31e_0_4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8594876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6479632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25301482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403332746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9865662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g78358aba08_0_18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7" name="Google Shape;307;g78358aba08_0_1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457200" lvl="0" indent="-381000" algn="l" rtl="0">
              <a:lnSpc>
                <a:spcPct val="90000"/>
              </a:lnSpc>
              <a:spcBef>
                <a:spcPts val="1000"/>
              </a:spcBef>
              <a:spcAft>
                <a:spcPts val="0"/>
              </a:spcAft>
              <a:buClr>
                <a:schemeClr val="dk1"/>
              </a:buClr>
              <a:buSzPts val="2400"/>
              <a:buFont typeface="Roboto"/>
              <a:buChar char="●"/>
            </a:pPr>
            <a:r>
              <a:rPr lang="es-ES" sz="2400" b="1">
                <a:solidFill>
                  <a:schemeClr val="dk1"/>
                </a:solidFill>
                <a:latin typeface="Roboto"/>
                <a:ea typeface="Roboto"/>
                <a:cs typeface="Roboto"/>
                <a:sym typeface="Roboto"/>
              </a:rPr>
              <a:t>Librería pthreads</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rgbClr val="F8A02B"/>
              </a:buClr>
              <a:buSzPts val="2400"/>
              <a:buFont typeface="Roboto"/>
              <a:buChar char="●"/>
            </a:pPr>
            <a:r>
              <a:rPr lang="es-ES" sz="2400" b="1">
                <a:solidFill>
                  <a:srgbClr val="F8A02B"/>
                </a:solidFill>
                <a:latin typeface="Roboto"/>
                <a:ea typeface="Roboto"/>
                <a:cs typeface="Roboto"/>
                <a:sym typeface="Roboto"/>
              </a:rPr>
              <a:t>OpenMP</a:t>
            </a:r>
            <a:endParaRPr sz="2400">
              <a:solidFill>
                <a:schemeClr val="dk1"/>
              </a:solidFill>
              <a:latin typeface="Roboto"/>
              <a:ea typeface="Roboto"/>
              <a:cs typeface="Roboto"/>
              <a:sym typeface="Roboto"/>
            </a:endParaRPr>
          </a:p>
          <a:p>
            <a:pPr marL="457200" lvl="0" indent="-381000" algn="l" rtl="0">
              <a:lnSpc>
                <a:spcPct val="90000"/>
              </a:lnSpc>
              <a:spcBef>
                <a:spcPts val="0"/>
              </a:spcBef>
              <a:spcAft>
                <a:spcPts val="0"/>
              </a:spcAft>
              <a:buClr>
                <a:schemeClr val="dk1"/>
              </a:buClr>
              <a:buSzPts val="2400"/>
              <a:buFont typeface="Roboto"/>
              <a:buChar char="●"/>
            </a:pPr>
            <a:r>
              <a:rPr lang="es-ES" sz="2400">
                <a:solidFill>
                  <a:schemeClr val="dk1"/>
                </a:solidFill>
                <a:latin typeface="Roboto"/>
                <a:ea typeface="Roboto"/>
                <a:cs typeface="Roboto"/>
                <a:sym typeface="Roboto"/>
              </a:rPr>
              <a:t>Cilk, TBB, ...</a:t>
            </a:r>
            <a:endParaRPr sz="2400">
              <a:solidFill>
                <a:schemeClr val="dk1"/>
              </a:solidFill>
              <a:latin typeface="Roboto"/>
              <a:ea typeface="Roboto"/>
              <a:cs typeface="Roboto"/>
              <a:sym typeface="Roboto"/>
            </a:endParaRPr>
          </a:p>
          <a:p>
            <a:pPr marL="0" lvl="0" indent="0" algn="l" rtl="0">
              <a:spcBef>
                <a:spcPts val="0"/>
              </a:spcBef>
              <a:spcAft>
                <a:spcPts val="0"/>
              </a:spcAft>
              <a:buNone/>
            </a:pPr>
            <a:endParaRPr sz="2400"/>
          </a:p>
        </p:txBody>
      </p:sp>
    </p:spTree>
    <p:extLst>
      <p:ext uri="{BB962C8B-B14F-4D97-AF65-F5344CB8AC3E}">
        <p14:creationId xmlns:p14="http://schemas.microsoft.com/office/powerpoint/2010/main" val="18723633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2044310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9133918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g78358aba08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6" name="Google Shape;206;g78358aba08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8467490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724471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7802883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0102864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762268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2595483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78394932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8337241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38374214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501535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31337088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7096677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10510434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70994399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214046182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78358aba08_0_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78358aba08_0_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dirty="0"/>
          </a:p>
        </p:txBody>
      </p:sp>
    </p:spTree>
    <p:extLst>
      <p:ext uri="{BB962C8B-B14F-4D97-AF65-F5344CB8AC3E}">
        <p14:creationId xmlns:p14="http://schemas.microsoft.com/office/powerpoint/2010/main" val="35530579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197931-88D2-48EC-BDFD-C8C3C5166BDE}"/>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CO"/>
          </a:p>
        </p:txBody>
      </p:sp>
      <p:sp>
        <p:nvSpPr>
          <p:cNvPr id="3" name="Subtítulo 2">
            <a:extLst>
              <a:ext uri="{FF2B5EF4-FFF2-40B4-BE49-F238E27FC236}">
                <a16:creationId xmlns:a16="http://schemas.microsoft.com/office/drawing/2014/main" id="{38679D90-F057-4BD5-83C0-DDC6EE2119B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CO"/>
          </a:p>
        </p:txBody>
      </p:sp>
      <p:sp>
        <p:nvSpPr>
          <p:cNvPr id="4" name="Marcador de fecha 3">
            <a:extLst>
              <a:ext uri="{FF2B5EF4-FFF2-40B4-BE49-F238E27FC236}">
                <a16:creationId xmlns:a16="http://schemas.microsoft.com/office/drawing/2014/main" id="{22C13BD3-4696-4B09-8A88-F3994E7C744A}"/>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FF285628-4B07-48C3-A0F4-63457190B13E}"/>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72DA6BEC-6DF4-4166-BD89-B2E0A39B701A}"/>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8165647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D74B2C-17C9-4AA4-9668-F80AC962E695}"/>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0258D9D8-9866-4269-8D7D-807856891CCA}"/>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9E009FBE-E524-4470-9FCD-AEB4BE306994}"/>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944FB710-71F8-4468-A8D3-4E66EDFF9019}"/>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33AD742D-28B3-4CCB-96B9-49F1E45104F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918048773"/>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24E514-96C5-4BA6-8853-8FD23DBA49B2}"/>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CB46064-8B93-4EDC-9C8C-E62E5E204D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B64F67B-C4F9-4EEE-B654-135E40590AE6}"/>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D642D2EB-0949-472E-B96E-7077F243965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B48BF961-D28F-480C-A33B-2D90830F3586}"/>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8556077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6D49851-BE79-4814-B324-7A715144F002}"/>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FB8196A1-DDE1-4352-9C3D-A0CD29769B44}"/>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contenido 3">
            <a:extLst>
              <a:ext uri="{FF2B5EF4-FFF2-40B4-BE49-F238E27FC236}">
                <a16:creationId xmlns:a16="http://schemas.microsoft.com/office/drawing/2014/main" id="{370082F4-C4BC-4497-8E38-2AAC216C98E3}"/>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fecha 4">
            <a:extLst>
              <a:ext uri="{FF2B5EF4-FFF2-40B4-BE49-F238E27FC236}">
                <a16:creationId xmlns:a16="http://schemas.microsoft.com/office/drawing/2014/main" id="{41CBF39F-7AC4-42AD-8BED-FB13480278B0}"/>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32CD1E40-2EDD-42B2-8717-B610AA70C44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2C650591-7D21-4F93-B6A8-04637AA5290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2587911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A18ABB-EB85-46DB-94FC-5071555A8DDC}"/>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A20E644E-2C94-4905-A3B3-39494B91F8C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691FDA4E-3792-47ED-A324-BE4AB193A7A7}"/>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5" name="Marcador de texto 4">
            <a:extLst>
              <a:ext uri="{FF2B5EF4-FFF2-40B4-BE49-F238E27FC236}">
                <a16:creationId xmlns:a16="http://schemas.microsoft.com/office/drawing/2014/main" id="{7BAA52EB-49DC-417B-A1D3-7E5D77F55D4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56D28227-5811-416F-8EB6-975798573498}"/>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7" name="Marcador de fecha 6">
            <a:extLst>
              <a:ext uri="{FF2B5EF4-FFF2-40B4-BE49-F238E27FC236}">
                <a16:creationId xmlns:a16="http://schemas.microsoft.com/office/drawing/2014/main" id="{13328A4A-DB4B-4AF3-A5E0-7FDD49D01449}"/>
              </a:ext>
            </a:extLst>
          </p:cNvPr>
          <p:cNvSpPr>
            <a:spLocks noGrp="1"/>
          </p:cNvSpPr>
          <p:nvPr>
            <p:ph type="dt" sz="half" idx="10"/>
          </p:nvPr>
        </p:nvSpPr>
        <p:spPr/>
        <p:txBody>
          <a:bodyPr/>
          <a:lstStyle/>
          <a:p>
            <a:endParaRPr lang="es-CO"/>
          </a:p>
        </p:txBody>
      </p:sp>
      <p:sp>
        <p:nvSpPr>
          <p:cNvPr id="8" name="Marcador de pie de página 7">
            <a:extLst>
              <a:ext uri="{FF2B5EF4-FFF2-40B4-BE49-F238E27FC236}">
                <a16:creationId xmlns:a16="http://schemas.microsoft.com/office/drawing/2014/main" id="{8760E545-7BCF-40CB-8EA9-E2B4649257ED}"/>
              </a:ext>
            </a:extLst>
          </p:cNvPr>
          <p:cNvSpPr>
            <a:spLocks noGrp="1"/>
          </p:cNvSpPr>
          <p:nvPr>
            <p:ph type="ftr" sz="quarter" idx="11"/>
          </p:nvPr>
        </p:nvSpPr>
        <p:spPr/>
        <p:txBody>
          <a:bodyPr/>
          <a:lstStyle/>
          <a:p>
            <a:endParaRPr lang="es-CO"/>
          </a:p>
        </p:txBody>
      </p:sp>
      <p:sp>
        <p:nvSpPr>
          <p:cNvPr id="9" name="Marcador de número de diapositiva 8">
            <a:extLst>
              <a:ext uri="{FF2B5EF4-FFF2-40B4-BE49-F238E27FC236}">
                <a16:creationId xmlns:a16="http://schemas.microsoft.com/office/drawing/2014/main" id="{3089E4DE-3B1B-4798-B272-2678EA5F2ED9}"/>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1935449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D87F13F-4B41-424E-B1EA-AD2F1961BB70}"/>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fecha 2">
            <a:extLst>
              <a:ext uri="{FF2B5EF4-FFF2-40B4-BE49-F238E27FC236}">
                <a16:creationId xmlns:a16="http://schemas.microsoft.com/office/drawing/2014/main" id="{A0B4F20C-7C18-429B-BBC6-F1E1923258DF}"/>
              </a:ext>
            </a:extLst>
          </p:cNvPr>
          <p:cNvSpPr>
            <a:spLocks noGrp="1"/>
          </p:cNvSpPr>
          <p:nvPr>
            <p:ph type="dt" sz="half" idx="10"/>
          </p:nvPr>
        </p:nvSpPr>
        <p:spPr/>
        <p:txBody>
          <a:bodyPr/>
          <a:lstStyle/>
          <a:p>
            <a:endParaRPr lang="es-CO"/>
          </a:p>
        </p:txBody>
      </p:sp>
      <p:sp>
        <p:nvSpPr>
          <p:cNvPr id="4" name="Marcador de pie de página 3">
            <a:extLst>
              <a:ext uri="{FF2B5EF4-FFF2-40B4-BE49-F238E27FC236}">
                <a16:creationId xmlns:a16="http://schemas.microsoft.com/office/drawing/2014/main" id="{D3DD1AD9-50A0-4CE3-8023-232BC37E16F2}"/>
              </a:ext>
            </a:extLst>
          </p:cNvPr>
          <p:cNvSpPr>
            <a:spLocks noGrp="1"/>
          </p:cNvSpPr>
          <p:nvPr>
            <p:ph type="ftr" sz="quarter" idx="11"/>
          </p:nvPr>
        </p:nvSpPr>
        <p:spPr/>
        <p:txBody>
          <a:bodyPr/>
          <a:lstStyle/>
          <a:p>
            <a:endParaRPr lang="es-CO"/>
          </a:p>
        </p:txBody>
      </p:sp>
      <p:sp>
        <p:nvSpPr>
          <p:cNvPr id="5" name="Marcador de número de diapositiva 4">
            <a:extLst>
              <a:ext uri="{FF2B5EF4-FFF2-40B4-BE49-F238E27FC236}">
                <a16:creationId xmlns:a16="http://schemas.microsoft.com/office/drawing/2014/main" id="{50C54793-A555-45AF-9D0F-A5E36048093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0695830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E0C75C98-5CC7-41D3-8B42-1FBCC7B8604E}"/>
              </a:ext>
            </a:extLst>
          </p:cNvPr>
          <p:cNvSpPr>
            <a:spLocks noGrp="1"/>
          </p:cNvSpPr>
          <p:nvPr>
            <p:ph type="dt" sz="half" idx="10"/>
          </p:nvPr>
        </p:nvSpPr>
        <p:spPr/>
        <p:txBody>
          <a:bodyPr/>
          <a:lstStyle/>
          <a:p>
            <a:endParaRPr lang="es-CO"/>
          </a:p>
        </p:txBody>
      </p:sp>
      <p:sp>
        <p:nvSpPr>
          <p:cNvPr id="3" name="Marcador de pie de página 2">
            <a:extLst>
              <a:ext uri="{FF2B5EF4-FFF2-40B4-BE49-F238E27FC236}">
                <a16:creationId xmlns:a16="http://schemas.microsoft.com/office/drawing/2014/main" id="{A4F9A19D-8546-4DB7-943E-A6C40975FE65}"/>
              </a:ext>
            </a:extLst>
          </p:cNvPr>
          <p:cNvSpPr>
            <a:spLocks noGrp="1"/>
          </p:cNvSpPr>
          <p:nvPr>
            <p:ph type="ftr" sz="quarter" idx="11"/>
          </p:nvPr>
        </p:nvSpPr>
        <p:spPr/>
        <p:txBody>
          <a:bodyPr/>
          <a:lstStyle/>
          <a:p>
            <a:endParaRPr lang="es-CO"/>
          </a:p>
        </p:txBody>
      </p:sp>
      <p:sp>
        <p:nvSpPr>
          <p:cNvPr id="4" name="Marcador de número de diapositiva 3">
            <a:extLst>
              <a:ext uri="{FF2B5EF4-FFF2-40B4-BE49-F238E27FC236}">
                <a16:creationId xmlns:a16="http://schemas.microsoft.com/office/drawing/2014/main" id="{FE834467-C085-4B5F-A2D6-1D111E7B63C3}"/>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297404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4815EE5-EEA6-4207-BAC5-8F00A701829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1FEC8231-695B-4518-9BF7-E97F5123873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texto 3">
            <a:extLst>
              <a:ext uri="{FF2B5EF4-FFF2-40B4-BE49-F238E27FC236}">
                <a16:creationId xmlns:a16="http://schemas.microsoft.com/office/drawing/2014/main" id="{92354B8A-1CBC-41E0-A9E8-5FB2EDDB22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64F94055-E401-4C0E-938D-614524727DC5}"/>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83E66432-8574-4009-93CD-B90204AD67CC}"/>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C6F7A7D2-9509-468B-B64D-B399F9DB324C}"/>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344909339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1E419B6-6D50-4A22-8E95-82EE8602FE75}"/>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CO"/>
          </a:p>
        </p:txBody>
      </p:sp>
      <p:sp>
        <p:nvSpPr>
          <p:cNvPr id="3" name="Marcador de posición de imagen 2">
            <a:extLst>
              <a:ext uri="{FF2B5EF4-FFF2-40B4-BE49-F238E27FC236}">
                <a16:creationId xmlns:a16="http://schemas.microsoft.com/office/drawing/2014/main" id="{FEF31C67-83EC-4E09-A025-68611B0A313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CO"/>
          </a:p>
        </p:txBody>
      </p:sp>
      <p:sp>
        <p:nvSpPr>
          <p:cNvPr id="4" name="Marcador de texto 3">
            <a:extLst>
              <a:ext uri="{FF2B5EF4-FFF2-40B4-BE49-F238E27FC236}">
                <a16:creationId xmlns:a16="http://schemas.microsoft.com/office/drawing/2014/main" id="{88D1882C-D761-4343-B07D-229B12E86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1EC2773-E284-4FB7-96DB-FA2355335C55}"/>
              </a:ext>
            </a:extLst>
          </p:cNvPr>
          <p:cNvSpPr>
            <a:spLocks noGrp="1"/>
          </p:cNvSpPr>
          <p:nvPr>
            <p:ph type="dt" sz="half" idx="10"/>
          </p:nvPr>
        </p:nvSpPr>
        <p:spPr/>
        <p:txBody>
          <a:bodyPr/>
          <a:lstStyle/>
          <a:p>
            <a:endParaRPr lang="es-CO"/>
          </a:p>
        </p:txBody>
      </p:sp>
      <p:sp>
        <p:nvSpPr>
          <p:cNvPr id="6" name="Marcador de pie de página 5">
            <a:extLst>
              <a:ext uri="{FF2B5EF4-FFF2-40B4-BE49-F238E27FC236}">
                <a16:creationId xmlns:a16="http://schemas.microsoft.com/office/drawing/2014/main" id="{D2179AA4-7DC2-4E0C-97DC-8A68C1379C78}"/>
              </a:ext>
            </a:extLst>
          </p:cNvPr>
          <p:cNvSpPr>
            <a:spLocks noGrp="1"/>
          </p:cNvSpPr>
          <p:nvPr>
            <p:ph type="ftr" sz="quarter" idx="11"/>
          </p:nvPr>
        </p:nvSpPr>
        <p:spPr/>
        <p:txBody>
          <a:bodyPr/>
          <a:lstStyle/>
          <a:p>
            <a:endParaRPr lang="es-CO"/>
          </a:p>
        </p:txBody>
      </p:sp>
      <p:sp>
        <p:nvSpPr>
          <p:cNvPr id="7" name="Marcador de número de diapositiva 6">
            <a:extLst>
              <a:ext uri="{FF2B5EF4-FFF2-40B4-BE49-F238E27FC236}">
                <a16:creationId xmlns:a16="http://schemas.microsoft.com/office/drawing/2014/main" id="{9407F01C-D4A8-4D86-8512-8420DA1E1638}"/>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200138504"/>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D3C9AA4-F3E2-4CC2-A284-905F19ECAC4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A6CBEBAE-E35C-4899-864F-A5E0E8FF5631}"/>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2D92D712-9AB0-4144-8F48-C505B6253E04}"/>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CD14778D-63AC-4546-B99B-D4A982BAA4F6}"/>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CB497614-F0BD-4E0B-BF9D-789914892DD1}"/>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131504151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BDCF5863-9BB8-4C9A-9E37-8A7D97BE2D61}"/>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CO"/>
          </a:p>
        </p:txBody>
      </p:sp>
      <p:sp>
        <p:nvSpPr>
          <p:cNvPr id="3" name="Marcador de texto vertical 2">
            <a:extLst>
              <a:ext uri="{FF2B5EF4-FFF2-40B4-BE49-F238E27FC236}">
                <a16:creationId xmlns:a16="http://schemas.microsoft.com/office/drawing/2014/main" id="{736A67F6-87AB-4DD7-B3BC-A39896F4C89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7C8C0A3-B3A6-4C11-B5E9-3F6DDA9113A6}"/>
              </a:ext>
            </a:extLst>
          </p:cNvPr>
          <p:cNvSpPr>
            <a:spLocks noGrp="1"/>
          </p:cNvSpPr>
          <p:nvPr>
            <p:ph type="dt" sz="half" idx="10"/>
          </p:nvPr>
        </p:nvSpPr>
        <p:spPr/>
        <p:txBody>
          <a:bodyPr/>
          <a:lstStyle/>
          <a:p>
            <a:endParaRPr lang="es-CO"/>
          </a:p>
        </p:txBody>
      </p:sp>
      <p:sp>
        <p:nvSpPr>
          <p:cNvPr id="5" name="Marcador de pie de página 4">
            <a:extLst>
              <a:ext uri="{FF2B5EF4-FFF2-40B4-BE49-F238E27FC236}">
                <a16:creationId xmlns:a16="http://schemas.microsoft.com/office/drawing/2014/main" id="{30C6C295-0416-473F-848C-AC3B030A9B14}"/>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09718280-2589-4855-81D4-C63D086CD722}"/>
              </a:ext>
            </a:extLst>
          </p:cNvPr>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87514633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UdeA-Nueva 1 1">
  <p:cSld name="UdeA-Nueva 1 1">
    <p:spTree>
      <p:nvGrpSpPr>
        <p:cNvPr id="1" name="Shape 36"/>
        <p:cNvGrpSpPr/>
        <p:nvPr/>
      </p:nvGrpSpPr>
      <p:grpSpPr>
        <a:xfrm>
          <a:off x="0" y="0"/>
          <a:ext cx="0" cy="0"/>
          <a:chOff x="0" y="0"/>
          <a:chExt cx="0" cy="0"/>
        </a:xfrm>
      </p:grpSpPr>
      <p:sp>
        <p:nvSpPr>
          <p:cNvPr id="37" name="Google Shape;37;p4"/>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8CC63E"/>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8" name="Google Shape;38;p4"/>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39" name="Google Shape;39;p4"/>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4"/>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4"/>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32609506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UdeA-Nueva 1 1 1">
  <p:cSld name="UdeA-Nueva 1 1 1">
    <p:spTree>
      <p:nvGrpSpPr>
        <p:cNvPr id="1" name="Shape 48"/>
        <p:cNvGrpSpPr/>
        <p:nvPr/>
      </p:nvGrpSpPr>
      <p:grpSpPr>
        <a:xfrm>
          <a:off x="0" y="0"/>
          <a:ext cx="0" cy="0"/>
          <a:chOff x="0" y="0"/>
          <a:chExt cx="0" cy="0"/>
        </a:xfrm>
      </p:grpSpPr>
      <p:sp>
        <p:nvSpPr>
          <p:cNvPr id="49" name="Google Shape;49;p5"/>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701E5C"/>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0" name="Google Shape;50;p5"/>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51" name="Google Shape;51;p5"/>
          <p:cNvSpPr txBox="1">
            <a:spLocks noGrp="1"/>
          </p:cNvSpPr>
          <p:nvPr>
            <p:ph type="dt" idx="10"/>
          </p:nvPr>
        </p:nvSpPr>
        <p:spPr>
          <a:xfrm>
            <a:off x="1264600" y="62801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2" name="Google Shape;52;p5"/>
          <p:cNvSpPr txBox="1">
            <a:spLocks noGrp="1"/>
          </p:cNvSpPr>
          <p:nvPr>
            <p:ph type="ftr" idx="11"/>
          </p:nvPr>
        </p:nvSpPr>
        <p:spPr>
          <a:xfrm>
            <a:off x="47557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3" name="Google Shape;53;p5"/>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16953774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UdeA-Nueva 1">
  <p:cSld name="UdeA-Nueva 1">
    <p:spTree>
      <p:nvGrpSpPr>
        <p:cNvPr id="1" name="Shape 23"/>
        <p:cNvGrpSpPr/>
        <p:nvPr/>
      </p:nvGrpSpPr>
      <p:grpSpPr>
        <a:xfrm>
          <a:off x="0" y="0"/>
          <a:ext cx="0" cy="0"/>
          <a:chOff x="0" y="0"/>
          <a:chExt cx="0" cy="0"/>
        </a:xfrm>
      </p:grpSpPr>
      <p:sp>
        <p:nvSpPr>
          <p:cNvPr id="24" name="Google Shape;24;p3"/>
          <p:cNvSpPr txBox="1">
            <a:spLocks noGrp="1"/>
          </p:cNvSpPr>
          <p:nvPr>
            <p:ph type="title"/>
          </p:nvPr>
        </p:nvSpPr>
        <p:spPr>
          <a:xfrm>
            <a:off x="916650" y="96038"/>
            <a:ext cx="8304000" cy="949500"/>
          </a:xfrm>
          <a:prstGeom prst="rect">
            <a:avLst/>
          </a:prstGeom>
          <a:noFill/>
          <a:ln>
            <a:noFill/>
          </a:ln>
        </p:spPr>
        <p:txBody>
          <a:bodyPr spcFirstLastPara="1" wrap="square" lIns="91425" tIns="45700" rIns="91425" bIns="45700" anchor="ctr" anchorCtr="0">
            <a:noAutofit/>
          </a:bodyPr>
          <a:lstStyle>
            <a:lvl1pPr marL="0" marR="0" lvl="0" indent="0" algn="l" rtl="0">
              <a:lnSpc>
                <a:spcPct val="90000"/>
              </a:lnSpc>
              <a:spcBef>
                <a:spcPts val="0"/>
              </a:spcBef>
              <a:spcAft>
                <a:spcPts val="0"/>
              </a:spcAft>
              <a:buNone/>
              <a:defRPr b="1">
                <a:solidFill>
                  <a:srgbClr val="F8A02B"/>
                </a:solidFill>
                <a:latin typeface="Roboto Slab"/>
                <a:ea typeface="Roboto Slab"/>
                <a:cs typeface="Roboto Slab"/>
                <a:sym typeface="Roboto Slab"/>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3"/>
          <p:cNvSpPr txBox="1">
            <a:spLocks noGrp="1"/>
          </p:cNvSpPr>
          <p:nvPr>
            <p:ph type="body" idx="1"/>
          </p:nvPr>
        </p:nvSpPr>
        <p:spPr>
          <a:xfrm>
            <a:off x="838200" y="1318001"/>
            <a:ext cx="10515600" cy="4859100"/>
          </a:xfrm>
          <a:prstGeom prst="rect">
            <a:avLst/>
          </a:prstGeom>
          <a:noFill/>
          <a:ln>
            <a:noFill/>
          </a:ln>
        </p:spPr>
        <p:txBody>
          <a:bodyPr spcFirstLastPara="1" wrap="square" lIns="91425" tIns="45700" rIns="91425" bIns="45700" anchor="t" anchorCtr="0">
            <a:noAutofit/>
          </a:bodyPr>
          <a:lstStyle>
            <a:lvl1pPr marL="457200" lvl="0" indent="-342900" algn="l" rtl="0">
              <a:lnSpc>
                <a:spcPct val="90000"/>
              </a:lnSpc>
              <a:spcBef>
                <a:spcPts val="1000"/>
              </a:spcBef>
              <a:spcAft>
                <a:spcPts val="0"/>
              </a:spcAft>
              <a:buClr>
                <a:schemeClr val="dk1"/>
              </a:buClr>
              <a:buSzPts val="1800"/>
              <a:buFont typeface="Roboto"/>
              <a:buChar char="●"/>
              <a:defRPr>
                <a:latin typeface="Roboto"/>
                <a:ea typeface="Roboto"/>
                <a:cs typeface="Roboto"/>
                <a:sym typeface="Roboto"/>
              </a:defRPr>
            </a:lvl1pPr>
            <a:lvl2pPr marL="914400" lvl="1"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2pPr>
            <a:lvl3pPr marL="1371600" lvl="2"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3pPr>
            <a:lvl4pPr marL="1828800" lvl="3"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4pPr>
            <a:lvl5pPr marL="2286000" lvl="4"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5pPr>
            <a:lvl6pPr marL="2743200" lvl="5"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6pPr>
            <a:lvl7pPr marL="3200400" lvl="6"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7pPr>
            <a:lvl8pPr marL="3657600" lvl="7"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8pPr>
            <a:lvl9pPr marL="4114800" lvl="8" indent="-342900" algn="l" rtl="0">
              <a:lnSpc>
                <a:spcPct val="90000"/>
              </a:lnSpc>
              <a:spcBef>
                <a:spcPts val="500"/>
              </a:spcBef>
              <a:spcAft>
                <a:spcPts val="0"/>
              </a:spcAft>
              <a:buClr>
                <a:schemeClr val="dk1"/>
              </a:buClr>
              <a:buSzPts val="1800"/>
              <a:buFont typeface="Roboto"/>
              <a:buChar char="■"/>
              <a:defRPr>
                <a:latin typeface="Roboto"/>
                <a:ea typeface="Roboto"/>
                <a:cs typeface="Roboto"/>
                <a:sym typeface="Roboto"/>
              </a:defRPr>
            </a:lvl9pPr>
          </a:lstStyle>
          <a:p>
            <a:endParaRPr/>
          </a:p>
        </p:txBody>
      </p:sp>
      <p:sp>
        <p:nvSpPr>
          <p:cNvPr id="26" name="Google Shape;26;p3"/>
          <p:cNvSpPr txBox="1">
            <a:spLocks noGrp="1"/>
          </p:cNvSpPr>
          <p:nvPr>
            <p:ph type="dt" idx="10"/>
          </p:nvPr>
        </p:nvSpPr>
        <p:spPr>
          <a:xfrm>
            <a:off x="1204075" y="6297450"/>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3"/>
          <p:cNvSpPr txBox="1">
            <a:spLocks noGrp="1"/>
          </p:cNvSpPr>
          <p:nvPr>
            <p:ph type="ftr" idx="11"/>
          </p:nvPr>
        </p:nvSpPr>
        <p:spPr>
          <a:xfrm>
            <a:off x="4861675" y="6280150"/>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3"/>
          <p:cNvSpPr txBox="1">
            <a:spLocks noGrp="1"/>
          </p:cNvSpPr>
          <p:nvPr>
            <p:ph type="sldNum" idx="12"/>
          </p:nvPr>
        </p:nvSpPr>
        <p:spPr>
          <a:xfrm>
            <a:off x="9144000" y="6280150"/>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lvl1pPr>
            <a:lvl2pPr marL="0" lvl="1" indent="0" algn="r" rtl="0">
              <a:spcBef>
                <a:spcPts val="0"/>
              </a:spcBef>
              <a:buNone/>
              <a:defRPr/>
            </a:lvl2pPr>
            <a:lvl3pPr marL="0" lvl="2" indent="0" algn="r" rtl="0">
              <a:spcBef>
                <a:spcPts val="0"/>
              </a:spcBef>
              <a:buNone/>
              <a:defRPr/>
            </a:lvl3pPr>
            <a:lvl4pPr marL="0" lvl="3" indent="0" algn="r" rtl="0">
              <a:spcBef>
                <a:spcPts val="0"/>
              </a:spcBef>
              <a:buNone/>
              <a:defRPr/>
            </a:lvl4pPr>
            <a:lvl5pPr marL="0" lvl="4" indent="0" algn="r" rtl="0">
              <a:spcBef>
                <a:spcPts val="0"/>
              </a:spcBef>
              <a:buNone/>
              <a:defRPr/>
            </a:lvl5pPr>
            <a:lvl6pPr marL="0" lvl="5" indent="0" algn="r" rtl="0">
              <a:spcBef>
                <a:spcPts val="0"/>
              </a:spcBef>
              <a:buNone/>
              <a:defRPr/>
            </a:lvl6pPr>
            <a:lvl7pPr marL="0" lvl="6" indent="0" algn="r" rtl="0">
              <a:spcBef>
                <a:spcPts val="0"/>
              </a:spcBef>
              <a:buNone/>
              <a:defRPr/>
            </a:lvl7pPr>
            <a:lvl8pPr marL="0" lvl="7" indent="0" algn="r" rtl="0">
              <a:spcBef>
                <a:spcPts val="0"/>
              </a:spcBef>
              <a:buNone/>
              <a:defRPr/>
            </a:lvl8pPr>
            <a:lvl9pPr marL="0" lvl="8" indent="0" algn="r" rtl="0">
              <a:spcBef>
                <a:spcPts val="0"/>
              </a:spcBef>
              <a:buNone/>
              <a:defRPr/>
            </a:lvl9pPr>
          </a:lstStyle>
          <a:p>
            <a:pPr marL="0" lvl="0" indent="0" algn="r" rtl="0">
              <a:spcBef>
                <a:spcPts val="0"/>
              </a:spcBef>
              <a:spcAft>
                <a:spcPts val="0"/>
              </a:spcAft>
              <a:buNone/>
            </a:pPr>
            <a:fld id="{00000000-1234-1234-1234-123412341234}" type="slidenum">
              <a:rPr lang="es-ES"/>
              <a:t>‹Nº›</a:t>
            </a:fld>
            <a:endParaRPr/>
          </a:p>
        </p:txBody>
      </p:sp>
    </p:spTree>
    <p:extLst>
      <p:ext uri="{BB962C8B-B14F-4D97-AF65-F5344CB8AC3E}">
        <p14:creationId xmlns:p14="http://schemas.microsoft.com/office/powerpoint/2010/main" val="17258388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C1E7B29E-FD20-45CE-B6B9-11DBA95B443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CO"/>
          </a:p>
        </p:txBody>
      </p:sp>
      <p:sp>
        <p:nvSpPr>
          <p:cNvPr id="3" name="Marcador de texto 2">
            <a:extLst>
              <a:ext uri="{FF2B5EF4-FFF2-40B4-BE49-F238E27FC236}">
                <a16:creationId xmlns:a16="http://schemas.microsoft.com/office/drawing/2014/main" id="{D26E3B48-B3F4-480E-AA13-7F98C293F85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BC5C6A56-744E-406A-A3F4-EB0DB79BFC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s-CO"/>
          </a:p>
        </p:txBody>
      </p:sp>
      <p:sp>
        <p:nvSpPr>
          <p:cNvPr id="5" name="Marcador de pie de página 4">
            <a:extLst>
              <a:ext uri="{FF2B5EF4-FFF2-40B4-BE49-F238E27FC236}">
                <a16:creationId xmlns:a16="http://schemas.microsoft.com/office/drawing/2014/main" id="{6AFCF1F0-6C88-47BC-ABAB-E51E4065695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687FB6FA-3336-4974-922C-505465D6334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lvl="0" indent="0" algn="r" rtl="0">
              <a:spcBef>
                <a:spcPts val="0"/>
              </a:spcBef>
              <a:spcAft>
                <a:spcPts val="0"/>
              </a:spcAft>
              <a:buNone/>
            </a:pPr>
            <a:fld id="{00000000-1234-1234-1234-123412341234}" type="slidenum">
              <a:rPr lang="es-ES" smtClean="0"/>
              <a:t>‹Nº›</a:t>
            </a:fld>
            <a:endParaRPr lang="es-ES"/>
          </a:p>
        </p:txBody>
      </p:sp>
    </p:spTree>
    <p:extLst>
      <p:ext uri="{BB962C8B-B14F-4D97-AF65-F5344CB8AC3E}">
        <p14:creationId xmlns:p14="http://schemas.microsoft.com/office/powerpoint/2010/main" val="2819279301"/>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13.xml"/><Relationship Id="rId6" Type="http://schemas.openxmlformats.org/officeDocument/2006/relationships/image" Target="../media/image410.png"/><Relationship Id="rId5" Type="http://schemas.openxmlformats.org/officeDocument/2006/relationships/image" Target="../media/image400.png"/><Relationship Id="rId4" Type="http://schemas.openxmlformats.org/officeDocument/2006/relationships/image" Target="../media/image390.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12.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image" Target="../media/image20.png"/><Relationship Id="rId5" Type="http://schemas.openxmlformats.org/officeDocument/2006/relationships/image" Target="../media/image11.png"/><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5.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5.xml"/><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14.xml"/><Relationship Id="rId6" Type="http://schemas.openxmlformats.org/officeDocument/2006/relationships/image" Target="../media/image26.png"/><Relationship Id="rId5" Type="http://schemas.openxmlformats.org/officeDocument/2006/relationships/image" Target="../media/image33.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14.xml"/><Relationship Id="rId6" Type="http://schemas.openxmlformats.org/officeDocument/2006/relationships/image" Target="../media/image29.png"/><Relationship Id="rId5" Type="http://schemas.openxmlformats.org/officeDocument/2006/relationships/image" Target="../media/image37.png"/><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4.xml"/></Relationships>
</file>

<file path=ppt/slides/_rels/slide2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0.xml"/><Relationship Id="rId1" Type="http://schemas.openxmlformats.org/officeDocument/2006/relationships/slideLayout" Target="../slideLayouts/slideLayout14.xml"/><Relationship Id="rId6" Type="http://schemas.openxmlformats.org/officeDocument/2006/relationships/image" Target="../media/image32.png"/><Relationship Id="rId5" Type="http://schemas.openxmlformats.org/officeDocument/2006/relationships/image" Target="../media/image41.png"/><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1.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2.xml"/><Relationship Id="rId1" Type="http://schemas.openxmlformats.org/officeDocument/2006/relationships/slideLayout" Target="../slideLayouts/slideLayout14.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4.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4.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17"/>
          <p:cNvSpPr txBox="1">
            <a:spLocks noGrp="1"/>
          </p:cNvSpPr>
          <p:nvPr>
            <p:ph type="ctrTitle"/>
          </p:nvPr>
        </p:nvSpPr>
        <p:spPr>
          <a:xfrm>
            <a:off x="408724" y="2964875"/>
            <a:ext cx="11021275" cy="922200"/>
          </a:xfrm>
          <a:prstGeom prst="rect">
            <a:avLst/>
          </a:prstGeom>
        </p:spPr>
        <p:txBody>
          <a:bodyPr spcFirstLastPara="1" wrap="square" lIns="91425" tIns="45700" rIns="91425" bIns="45700" anchor="b" anchorCtr="0">
            <a:noAutofit/>
          </a:bodyPr>
          <a:lstStyle/>
          <a:p>
            <a:pPr marL="0" lvl="0" indent="0" rtl="0">
              <a:spcBef>
                <a:spcPts val="0"/>
              </a:spcBef>
              <a:spcAft>
                <a:spcPts val="0"/>
              </a:spcAft>
              <a:buClr>
                <a:schemeClr val="lt1"/>
              </a:buClr>
              <a:buSzPts val="2800"/>
              <a:buFont typeface="Roboto Slab"/>
              <a:buNone/>
            </a:pPr>
            <a:endParaRPr sz="3200" dirty="0">
              <a:solidFill>
                <a:schemeClr val="dk1"/>
              </a:solidFill>
              <a:latin typeface="Arial"/>
              <a:ea typeface="Arial"/>
              <a:cs typeface="Arial"/>
              <a:sym typeface="Arial"/>
            </a:endParaRPr>
          </a:p>
          <a:p>
            <a:pPr marL="0" lvl="0" indent="0" rtl="0">
              <a:spcBef>
                <a:spcPts val="0"/>
              </a:spcBef>
              <a:spcAft>
                <a:spcPts val="0"/>
              </a:spcAft>
              <a:buClr>
                <a:schemeClr val="lt1"/>
              </a:buClr>
              <a:buSzPts val="2800"/>
              <a:buFont typeface="Roboto Slab"/>
              <a:buNone/>
            </a:pPr>
            <a:r>
              <a:rPr lang="es-ES" b="1" dirty="0"/>
              <a:t>Matemáticas Discretas I</a:t>
            </a:r>
            <a:endParaRPr sz="3200" dirty="0"/>
          </a:p>
        </p:txBody>
      </p:sp>
      <p:sp>
        <p:nvSpPr>
          <p:cNvPr id="140" name="Google Shape;140;p17"/>
          <p:cNvSpPr txBox="1">
            <a:spLocks noGrp="1"/>
          </p:cNvSpPr>
          <p:nvPr>
            <p:ph type="subTitle" idx="1"/>
          </p:nvPr>
        </p:nvSpPr>
        <p:spPr>
          <a:prstGeom prst="rect">
            <a:avLst/>
          </a:prstGeom>
        </p:spPr>
        <p:txBody>
          <a:bodyPr spcFirstLastPara="1" wrap="square" lIns="91425" tIns="45700" rIns="91425" bIns="45700" anchor="t" anchorCtr="0">
            <a:noAutofit/>
          </a:bodyPr>
          <a:lstStyle/>
          <a:p>
            <a:pPr marL="0" lvl="0" indent="0" algn="ctr" rtl="0">
              <a:spcBef>
                <a:spcPts val="1000"/>
              </a:spcBef>
              <a:spcAft>
                <a:spcPts val="0"/>
              </a:spcAft>
              <a:buNone/>
            </a:pPr>
            <a:r>
              <a:rPr lang="es-ES" sz="3600" b="1" dirty="0"/>
              <a:t>Clase 12</a:t>
            </a:r>
          </a:p>
          <a:p>
            <a:pPr marL="0" lvl="0" indent="0" algn="ctr" rtl="0">
              <a:spcBef>
                <a:spcPts val="1000"/>
              </a:spcBef>
              <a:spcAft>
                <a:spcPts val="0"/>
              </a:spcAft>
              <a:buNone/>
            </a:pPr>
            <a:r>
              <a:rPr lang="es-ES" dirty="0">
                <a:ea typeface="Roboto"/>
                <a:cs typeface="Roboto"/>
                <a:sym typeface="Roboto"/>
              </a:rPr>
              <a:t>22/04/2026</a:t>
            </a:r>
            <a:endParaRPr dirty="0">
              <a:ea typeface="Roboto"/>
              <a:cs typeface="Roboto"/>
              <a:sym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60659" y="96038"/>
            <a:ext cx="8859991"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Equivalencias en lógica de predicados</a:t>
            </a:r>
            <a:endParaRPr dirty="0">
              <a:latin typeface="+mj-lt"/>
            </a:endParaRPr>
          </a:p>
        </p:txBody>
      </p:sp>
      <p:sp>
        <p:nvSpPr>
          <p:cNvPr id="37" name="CuadroTexto 36">
            <a:extLst>
              <a:ext uri="{FF2B5EF4-FFF2-40B4-BE49-F238E27FC236}">
                <a16:creationId xmlns:a16="http://schemas.microsoft.com/office/drawing/2014/main" id="{BBCE741C-2A86-407D-9A6F-C50DEB856409}"/>
              </a:ext>
            </a:extLst>
          </p:cNvPr>
          <p:cNvSpPr txBox="1"/>
          <p:nvPr/>
        </p:nvSpPr>
        <p:spPr>
          <a:xfrm>
            <a:off x="428901" y="799316"/>
            <a:ext cx="11329896" cy="492443"/>
          </a:xfrm>
          <a:prstGeom prst="rect">
            <a:avLst/>
          </a:prstGeom>
          <a:noFill/>
        </p:spPr>
        <p:txBody>
          <a:bodyPr wrap="square" rtlCol="0">
            <a:spAutoFit/>
          </a:bodyPr>
          <a:lstStyle/>
          <a:p>
            <a:r>
              <a:rPr lang="es-MX" sz="2600" b="1" dirty="0">
                <a:solidFill>
                  <a:schemeClr val="accent2"/>
                </a:solidFill>
                <a:ea typeface="Roboto" panose="02000000000000000000" pitchFamily="2" charset="0"/>
              </a:rPr>
              <a:t>Formas Aristotélicas</a:t>
            </a:r>
          </a:p>
        </p:txBody>
      </p:sp>
      <p:sp>
        <p:nvSpPr>
          <p:cNvPr id="14" name="Google Shape;310;p34">
            <a:extLst>
              <a:ext uri="{FF2B5EF4-FFF2-40B4-BE49-F238E27FC236}">
                <a16:creationId xmlns:a16="http://schemas.microsoft.com/office/drawing/2014/main" id="{44AC130B-3A31-42BD-A7D5-934CE25E5DD0}"/>
              </a:ext>
            </a:extLst>
          </p:cNvPr>
          <p:cNvSpPr txBox="1">
            <a:spLocks/>
          </p:cNvSpPr>
          <p:nvPr/>
        </p:nvSpPr>
        <p:spPr>
          <a:xfrm>
            <a:off x="316414" y="1040135"/>
            <a:ext cx="11329896" cy="763826"/>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Las cuatro formas aristotélicas son proposiciones categóricas básicas que forman la base del silogismo clásico en la lógica aristotélica:</a:t>
            </a:r>
          </a:p>
          <a:p>
            <a:endParaRPr lang="es-MX" sz="2000" dirty="0">
              <a:latin typeface="+mn-lt"/>
              <a:ea typeface="Roboto" panose="02000000000000000000" pitchFamily="2" charset="0"/>
            </a:endParaRPr>
          </a:p>
        </p:txBody>
      </p:sp>
      <mc:AlternateContent xmlns:mc="http://schemas.openxmlformats.org/markup-compatibility/2006" xmlns:a14="http://schemas.microsoft.com/office/drawing/2010/main">
        <mc:Choice Requires="a14">
          <p:graphicFrame>
            <p:nvGraphicFramePr>
              <p:cNvPr id="5" name="Tabla 5">
                <a:extLst>
                  <a:ext uri="{FF2B5EF4-FFF2-40B4-BE49-F238E27FC236}">
                    <a16:creationId xmlns:a16="http://schemas.microsoft.com/office/drawing/2014/main" id="{567B3890-BEE3-4114-BD50-4F8AFFD8D302}"/>
                  </a:ext>
                </a:extLst>
              </p:cNvPr>
              <p:cNvGraphicFramePr>
                <a:graphicFrameLocks noGrp="1"/>
              </p:cNvGraphicFramePr>
              <p:nvPr>
                <p:extLst>
                  <p:ext uri="{D42A27DB-BD31-4B8C-83A1-F6EECF244321}">
                    <p14:modId xmlns:p14="http://schemas.microsoft.com/office/powerpoint/2010/main" val="2916919986"/>
                  </p:ext>
                </p:extLst>
              </p:nvPr>
            </p:nvGraphicFramePr>
            <p:xfrm>
              <a:off x="634181" y="1803963"/>
              <a:ext cx="11124616" cy="4971036"/>
            </p:xfrm>
            <a:graphic>
              <a:graphicData uri="http://schemas.openxmlformats.org/drawingml/2006/table">
                <a:tbl>
                  <a:tblPr firstRow="1" bandRow="1">
                    <a:tableStyleId>{AD6A3598-7CB8-4345-8D95-17CE05F158A0}</a:tableStyleId>
                  </a:tblPr>
                  <a:tblGrid>
                    <a:gridCol w="1814051">
                      <a:extLst>
                        <a:ext uri="{9D8B030D-6E8A-4147-A177-3AD203B41FA5}">
                          <a16:colId xmlns:a16="http://schemas.microsoft.com/office/drawing/2014/main" val="1182511114"/>
                        </a:ext>
                      </a:extLst>
                    </a:gridCol>
                    <a:gridCol w="1666568">
                      <a:extLst>
                        <a:ext uri="{9D8B030D-6E8A-4147-A177-3AD203B41FA5}">
                          <a16:colId xmlns:a16="http://schemas.microsoft.com/office/drawing/2014/main" val="37487"/>
                        </a:ext>
                      </a:extLst>
                    </a:gridCol>
                    <a:gridCol w="1651819">
                      <a:extLst>
                        <a:ext uri="{9D8B030D-6E8A-4147-A177-3AD203B41FA5}">
                          <a16:colId xmlns:a16="http://schemas.microsoft.com/office/drawing/2014/main" val="3055286892"/>
                        </a:ext>
                      </a:extLst>
                    </a:gridCol>
                    <a:gridCol w="3008659">
                      <a:extLst>
                        <a:ext uri="{9D8B030D-6E8A-4147-A177-3AD203B41FA5}">
                          <a16:colId xmlns:a16="http://schemas.microsoft.com/office/drawing/2014/main" val="4284222693"/>
                        </a:ext>
                      </a:extLst>
                    </a:gridCol>
                    <a:gridCol w="2983519">
                      <a:extLst>
                        <a:ext uri="{9D8B030D-6E8A-4147-A177-3AD203B41FA5}">
                          <a16:colId xmlns:a16="http://schemas.microsoft.com/office/drawing/2014/main" val="558989908"/>
                        </a:ext>
                      </a:extLst>
                    </a:gridCol>
                  </a:tblGrid>
                  <a:tr h="127807">
                    <a:tc>
                      <a:txBody>
                        <a:bodyPr/>
                        <a:lstStyle/>
                        <a:p>
                          <a:r>
                            <a:rPr lang="es-CO" sz="1400" b="1" dirty="0">
                              <a:latin typeface="+mn-lt"/>
                              <a:ea typeface="Roboto" panose="02000000000000000000" pitchFamily="2" charset="0"/>
                            </a:rPr>
                            <a:t>Forma</a:t>
                          </a:r>
                        </a:p>
                      </a:txBody>
                      <a:tcPr/>
                    </a:tc>
                    <a:tc>
                      <a:txBody>
                        <a:bodyPr/>
                        <a:lstStyle/>
                        <a:p>
                          <a:r>
                            <a:rPr lang="es-CO" sz="1400" b="1" dirty="0">
                              <a:latin typeface="+mn-lt"/>
                              <a:ea typeface="Roboto" panose="02000000000000000000" pitchFamily="2" charset="0"/>
                            </a:rPr>
                            <a:t>Enunciado</a:t>
                          </a:r>
                        </a:p>
                      </a:txBody>
                      <a:tcPr/>
                    </a:tc>
                    <a:tc>
                      <a:txBody>
                        <a:bodyPr/>
                        <a:lstStyle/>
                        <a:p>
                          <a:r>
                            <a:rPr lang="es-CO" sz="1400" b="1" dirty="0">
                              <a:latin typeface="+mn-lt"/>
                              <a:ea typeface="Roboto" panose="02000000000000000000" pitchFamily="2" charset="0"/>
                            </a:rPr>
                            <a:t>Forma Aristotélica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400" b="1" dirty="0">
                              <a:latin typeface="+mn-lt"/>
                              <a:ea typeface="Roboto" panose="02000000000000000000" pitchFamily="2" charset="0"/>
                            </a:rPr>
                            <a:t>Lógica de predicados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400" b="1" dirty="0">
                              <a:latin typeface="+mn-lt"/>
                              <a:ea typeface="Roboto" panose="02000000000000000000" pitchFamily="2" charset="0"/>
                            </a:rPr>
                            <a:t>Ejemplo</a:t>
                          </a:r>
                        </a:p>
                      </a:txBody>
                      <a:tcPr/>
                    </a:tc>
                    <a:extLst>
                      <a:ext uri="{0D108BD9-81ED-4DB2-BD59-A6C34878D82A}">
                        <a16:rowId xmlns:a16="http://schemas.microsoft.com/office/drawing/2014/main" val="557287797"/>
                      </a:ext>
                    </a:extLst>
                  </a:tr>
                  <a:tr h="127807">
                    <a:tc>
                      <a:txBody>
                        <a:bodyPr/>
                        <a:lstStyle/>
                        <a:p>
                          <a:r>
                            <a:rPr lang="es-MX" sz="1600" b="1" dirty="0">
                              <a:latin typeface="+mn-lt"/>
                              <a:ea typeface="Roboto" panose="02000000000000000000" pitchFamily="2" charset="0"/>
                            </a:rPr>
                            <a:t>Forma A</a:t>
                          </a:r>
                          <a:r>
                            <a:rPr lang="es-MX" sz="1600" b="0" dirty="0">
                              <a:latin typeface="+mn-lt"/>
                              <a:ea typeface="Roboto" panose="02000000000000000000" pitchFamily="2" charset="0"/>
                            </a:rPr>
                            <a:t>: Universal afirmativa</a:t>
                          </a:r>
                          <a:endParaRPr lang="es-CO" sz="1600" b="0" dirty="0">
                            <a:latin typeface="+mn-lt"/>
                            <a:ea typeface="Roboto" panose="02000000000000000000"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Todos los S son P</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𝐴</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𝑆</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𝑃</m:t>
                                    </m:r>
                                  </m:e>
                                </m:d>
                              </m:oMath>
                            </m:oMathPara>
                          </a14:m>
                          <a:endParaRPr lang="es-MX" sz="1600" dirty="0">
                            <a:latin typeface="+mn-lt"/>
                            <a:ea typeface="Roboto" panose="02000000000000000000"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𝑆</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e>
                                </m:d>
                              </m:oMath>
                            </m:oMathPara>
                          </a14:m>
                          <a:endParaRPr lang="es-MX" sz="1600"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MX" sz="2000" b="1" dirty="0">
                            <a:latin typeface="+mn-lt"/>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1" dirty="0">
                              <a:latin typeface="+mn-lt"/>
                            </a:rPr>
                            <a:t>Interpretación:</a:t>
                          </a:r>
                          <a:r>
                            <a:rPr lang="es-MX" sz="1400" dirty="0">
                              <a:latin typeface="+mn-lt"/>
                            </a:rPr>
                            <a:t> Para todo x, si x es un S, entonces x es un P.</a:t>
                          </a:r>
                          <a:endParaRPr lang="es-MX" sz="1400" dirty="0">
                            <a:latin typeface="+mn-lt"/>
                            <a:ea typeface="Roboto" panose="02000000000000000000" pitchFamily="2" charset="0"/>
                          </a:endParaRPr>
                        </a:p>
                      </a:txBody>
                      <a:tcPr anchor="ctr"/>
                    </a:tc>
                    <a:tc>
                      <a:txBody>
                        <a:bodyPr/>
                        <a:lstStyle/>
                        <a:p>
                          <a:r>
                            <a:rPr lang="es-CO" sz="1200" b="1" dirty="0">
                              <a:latin typeface="+mn-lt"/>
                              <a:ea typeface="Roboto" panose="02000000000000000000" pitchFamily="2" charset="0"/>
                            </a:rPr>
                            <a:t>Ejemplo</a:t>
                          </a:r>
                          <a:r>
                            <a:rPr lang="es-CO" sz="1200" dirty="0">
                              <a:latin typeface="+mn-lt"/>
                              <a:ea typeface="Roboto" panose="02000000000000000000" pitchFamily="2" charset="0"/>
                            </a:rPr>
                            <a:t>: Todos los hombres son mortales.</a:t>
                          </a:r>
                        </a:p>
                        <a:p>
                          <a:endParaRPr lang="es-CO" sz="1200" dirty="0">
                            <a:latin typeface="+mn-lt"/>
                            <a:ea typeface="Roboto" panose="02000000000000000000" pitchFamily="2" charset="0"/>
                          </a:endParaRPr>
                        </a:p>
                        <a:p>
                          <a:r>
                            <a:rPr lang="es-CO" sz="1200" b="1" dirty="0">
                              <a:latin typeface="+mn-lt"/>
                              <a:ea typeface="Roboto" panose="02000000000000000000" pitchFamily="2" charset="0"/>
                            </a:rPr>
                            <a:t>Expresión</a:t>
                          </a:r>
                          <a:r>
                            <a:rPr lang="es-CO" sz="1200" dirty="0">
                              <a:latin typeface="+mn-lt"/>
                              <a:ea typeface="Roboto" panose="02000000000000000000" pitchFamily="2" charset="0"/>
                            </a:rPr>
                            <a:t>:</a:t>
                          </a:r>
                        </a:p>
                        <a:p>
                          <a:endParaRPr lang="es-CO" sz="1200" dirty="0">
                            <a:latin typeface="+mn-lt"/>
                            <a:ea typeface="Roboto" panose="02000000000000000000" pitchFamily="2" charset="0"/>
                          </a:endParaRPr>
                        </a:p>
                        <a:p>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ea typeface="Roboto" panose="02000000000000000000" pitchFamily="2" charset="0"/>
                                  </a:rPr>
                                  <m:t>∀</m:t>
                                </m:r>
                                <m:r>
                                  <a:rPr lang="es-MX" sz="1200" b="0" i="1" smtClean="0">
                                    <a:latin typeface="Cambria Math" panose="02040503050406030204" pitchFamily="18" charset="0"/>
                                    <a:ea typeface="Roboto" panose="02000000000000000000" pitchFamily="2" charset="0"/>
                                  </a:rPr>
                                  <m:t>𝑥</m:t>
                                </m:r>
                                <m:d>
                                  <m:dPr>
                                    <m:ctrlPr>
                                      <a:rPr lang="es-MX" sz="1200" b="0" i="1" smtClean="0">
                                        <a:latin typeface="Cambria Math" panose="02040503050406030204" pitchFamily="18" charset="0"/>
                                        <a:ea typeface="Roboto" panose="02000000000000000000" pitchFamily="2" charset="0"/>
                                      </a:rPr>
                                    </m:ctrlPr>
                                  </m:dPr>
                                  <m:e>
                                    <m:r>
                                      <a:rPr lang="es-MX" sz="1200" b="0" i="1" smtClean="0">
                                        <a:latin typeface="Cambria Math" panose="02040503050406030204" pitchFamily="18" charset="0"/>
                                        <a:ea typeface="Roboto" panose="02000000000000000000" pitchFamily="2" charset="0"/>
                                      </a:rPr>
                                      <m:t>h𝑜𝑚𝑏𝑟𝑒</m:t>
                                    </m:r>
                                    <m:d>
                                      <m:dPr>
                                        <m:ctrlPr>
                                          <a:rPr lang="es-MX" sz="1200" b="0" i="1" smtClean="0">
                                            <a:latin typeface="Cambria Math" panose="02040503050406030204" pitchFamily="18" charset="0"/>
                                            <a:ea typeface="Roboto" panose="02000000000000000000" pitchFamily="2" charset="0"/>
                                          </a:rPr>
                                        </m:ctrlPr>
                                      </m:dPr>
                                      <m:e>
                                        <m:r>
                                          <a:rPr lang="es-MX" sz="1200" b="0" i="1" smtClean="0">
                                            <a:latin typeface="Cambria Math" panose="02040503050406030204" pitchFamily="18" charset="0"/>
                                            <a:ea typeface="Roboto" panose="02000000000000000000" pitchFamily="2" charset="0"/>
                                          </a:rPr>
                                          <m:t>𝑥</m:t>
                                        </m:r>
                                      </m:e>
                                    </m:d>
                                    <m:r>
                                      <a:rPr lang="es-MX" sz="1200" b="0" i="1" smtClean="0">
                                        <a:latin typeface="Cambria Math" panose="02040503050406030204" pitchFamily="18" charset="0"/>
                                        <a:ea typeface="Cambria Math" panose="02040503050406030204" pitchFamily="18" charset="0"/>
                                      </a:rPr>
                                      <m:t>→</m:t>
                                    </m:r>
                                    <m:r>
                                      <a:rPr lang="es-MX" sz="1200" b="0" i="1" smtClean="0">
                                        <a:latin typeface="Cambria Math" panose="02040503050406030204" pitchFamily="18" charset="0"/>
                                        <a:ea typeface="Cambria Math" panose="02040503050406030204" pitchFamily="18" charset="0"/>
                                      </a:rPr>
                                      <m:t>𝑚𝑜𝑟𝑡𝑎𝑙</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𝑥</m:t>
                                        </m:r>
                                      </m:e>
                                    </m:d>
                                  </m:e>
                                </m:d>
                              </m:oMath>
                            </m:oMathPara>
                          </a14:m>
                          <a:endParaRPr lang="es-CO" sz="1200"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200" dirty="0">
                            <a:latin typeface="+mn-lt"/>
                            <a:ea typeface="Roboto" panose="02000000000000000000" pitchFamily="2" charset="0"/>
                          </a:endParaRPr>
                        </a:p>
                      </a:txBody>
                      <a:tcPr anchor="ctr">
                        <a:solidFill>
                          <a:schemeClr val="bg1"/>
                        </a:solidFill>
                      </a:tcPr>
                    </a:tc>
                    <a:extLst>
                      <a:ext uri="{0D108BD9-81ED-4DB2-BD59-A6C34878D82A}">
                        <a16:rowId xmlns:a16="http://schemas.microsoft.com/office/drawing/2014/main" val="625442380"/>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b="1" dirty="0">
                              <a:latin typeface="+mn-lt"/>
                              <a:ea typeface="Roboto" panose="02000000000000000000" pitchFamily="2" charset="0"/>
                            </a:rPr>
                            <a:t>Forma E</a:t>
                          </a:r>
                          <a:r>
                            <a:rPr lang="es-MX" sz="1600" b="0" dirty="0">
                              <a:latin typeface="+mn-lt"/>
                              <a:ea typeface="Roboto" panose="02000000000000000000" pitchFamily="2" charset="0"/>
                            </a:rPr>
                            <a:t>: Universal negativa</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Ningún S es P</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𝐸</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𝑆</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𝑃</m:t>
                                    </m:r>
                                  </m:e>
                                </m:d>
                              </m:oMath>
                            </m:oMathPara>
                          </a14:m>
                          <a:endParaRPr lang="es-MX" sz="1600" dirty="0">
                            <a:latin typeface="+mn-lt"/>
                            <a:ea typeface="Roboto" panose="02000000000000000000"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𝑆</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e>
                                </m:d>
                              </m:oMath>
                            </m:oMathPara>
                          </a14:m>
                          <a:endParaRPr lang="es-MX" sz="1600"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MX" sz="1400" b="1" dirty="0">
                            <a:latin typeface="+mn-lt"/>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1" dirty="0">
                              <a:latin typeface="+mn-lt"/>
                            </a:rPr>
                            <a:t>Interpretación:</a:t>
                          </a:r>
                          <a:r>
                            <a:rPr lang="es-MX" sz="1400" dirty="0">
                              <a:latin typeface="+mn-lt"/>
                            </a:rPr>
                            <a:t> Para todo x, si x es un S, entonces x no es un P.</a:t>
                          </a:r>
                          <a:endParaRPr lang="es-MX" sz="1400" dirty="0">
                            <a:latin typeface="+mn-lt"/>
                            <a:ea typeface="Roboto" panose="02000000000000000000" pitchFamily="2" charset="0"/>
                          </a:endParaRPr>
                        </a:p>
                      </a:txBody>
                      <a:tcPr anchor="ctr"/>
                    </a:tc>
                    <a:tc>
                      <a:txBody>
                        <a:bodyPr/>
                        <a:lstStyle/>
                        <a:p>
                          <a:r>
                            <a:rPr lang="es-CO" sz="1200" b="1" dirty="0">
                              <a:latin typeface="+mn-lt"/>
                              <a:ea typeface="Roboto" panose="02000000000000000000" pitchFamily="2" charset="0"/>
                            </a:rPr>
                            <a:t>Ejemplo</a:t>
                          </a:r>
                          <a:r>
                            <a:rPr lang="es-CO" sz="1200" dirty="0">
                              <a:latin typeface="+mn-lt"/>
                              <a:ea typeface="Roboto" panose="02000000000000000000" pitchFamily="2" charset="0"/>
                            </a:rPr>
                            <a:t>: Ningún cuadrado es circulo.</a:t>
                          </a:r>
                        </a:p>
                        <a:p>
                          <a:endParaRPr lang="es-CO" sz="1200" dirty="0">
                            <a:latin typeface="+mn-lt"/>
                            <a:ea typeface="Roboto" panose="02000000000000000000" pitchFamily="2" charset="0"/>
                          </a:endParaRPr>
                        </a:p>
                        <a:p>
                          <a:r>
                            <a:rPr lang="es-CO" sz="1200" b="1" dirty="0">
                              <a:latin typeface="+mn-lt"/>
                              <a:ea typeface="Roboto" panose="02000000000000000000" pitchFamily="2" charset="0"/>
                            </a:rPr>
                            <a:t>Expresión</a:t>
                          </a:r>
                          <a:r>
                            <a:rPr lang="es-CO" sz="1200" dirty="0">
                              <a:latin typeface="+mn-lt"/>
                              <a:ea typeface="Roboto" panose="02000000000000000000" pitchFamily="2" charset="0"/>
                            </a:rPr>
                            <a:t>:</a:t>
                          </a:r>
                        </a:p>
                        <a:p>
                          <a:endParaRPr lang="es-CO" sz="1200" dirty="0">
                            <a:latin typeface="+mn-lt"/>
                            <a:ea typeface="Roboto" panose="02000000000000000000" pitchFamily="2" charset="0"/>
                          </a:endParaRPr>
                        </a:p>
                        <a:p>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ea typeface="Roboto" panose="02000000000000000000" pitchFamily="2" charset="0"/>
                                  </a:rPr>
                                  <m:t>∀</m:t>
                                </m:r>
                                <m:r>
                                  <a:rPr lang="es-MX" sz="1200" b="0" i="1" smtClean="0">
                                    <a:latin typeface="Cambria Math" panose="02040503050406030204" pitchFamily="18" charset="0"/>
                                    <a:ea typeface="Roboto" panose="02000000000000000000" pitchFamily="2" charset="0"/>
                                  </a:rPr>
                                  <m:t>𝑥</m:t>
                                </m:r>
                                <m:d>
                                  <m:dPr>
                                    <m:ctrlPr>
                                      <a:rPr lang="es-MX" sz="1200" b="0" i="1" smtClean="0">
                                        <a:latin typeface="Cambria Math" panose="02040503050406030204" pitchFamily="18" charset="0"/>
                                        <a:ea typeface="Roboto" panose="02000000000000000000" pitchFamily="2" charset="0"/>
                                      </a:rPr>
                                    </m:ctrlPr>
                                  </m:dPr>
                                  <m:e>
                                    <m:r>
                                      <a:rPr lang="es-MX" sz="1200" b="0" i="1" smtClean="0">
                                        <a:latin typeface="Cambria Math" panose="02040503050406030204" pitchFamily="18" charset="0"/>
                                        <a:ea typeface="Roboto" panose="02000000000000000000" pitchFamily="2" charset="0"/>
                                      </a:rPr>
                                      <m:t>𝑐𝑢𝑎𝑑𝑟𝑎𝑑𝑜</m:t>
                                    </m:r>
                                    <m:d>
                                      <m:dPr>
                                        <m:ctrlPr>
                                          <a:rPr lang="es-MX" sz="1200" b="0" i="1" smtClean="0">
                                            <a:latin typeface="Cambria Math" panose="02040503050406030204" pitchFamily="18" charset="0"/>
                                            <a:ea typeface="Roboto" panose="02000000000000000000" pitchFamily="2" charset="0"/>
                                          </a:rPr>
                                        </m:ctrlPr>
                                      </m:dPr>
                                      <m:e>
                                        <m:r>
                                          <a:rPr lang="es-MX" sz="1200" b="0" i="1" smtClean="0">
                                            <a:latin typeface="Cambria Math" panose="02040503050406030204" pitchFamily="18" charset="0"/>
                                            <a:ea typeface="Roboto" panose="02000000000000000000" pitchFamily="2" charset="0"/>
                                          </a:rPr>
                                          <m:t>𝑥</m:t>
                                        </m:r>
                                      </m:e>
                                    </m:d>
                                    <m:r>
                                      <a:rPr lang="es-MX" sz="1200" b="0" i="1" smtClean="0">
                                        <a:latin typeface="Cambria Math" panose="02040503050406030204" pitchFamily="18" charset="0"/>
                                        <a:ea typeface="Roboto" panose="02000000000000000000" pitchFamily="2" charset="0"/>
                                      </a:rPr>
                                      <m:t>→¬</m:t>
                                    </m:r>
                                    <m:r>
                                      <a:rPr lang="es-MX" sz="1200" b="0" i="1" smtClean="0">
                                        <a:latin typeface="Cambria Math" panose="02040503050406030204" pitchFamily="18" charset="0"/>
                                        <a:ea typeface="Cambria Math" panose="02040503050406030204" pitchFamily="18" charset="0"/>
                                      </a:rPr>
                                      <m:t>𝑐𝑖𝑟𝑐𝑢𝑙𝑜</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𝑥</m:t>
                                        </m:r>
                                      </m:e>
                                    </m:d>
                                  </m:e>
                                </m:d>
                              </m:oMath>
                            </m:oMathPara>
                          </a14:m>
                          <a:endParaRPr lang="es-CO" sz="1200" dirty="0">
                            <a:latin typeface="+mn-lt"/>
                            <a:ea typeface="Roboto" panose="02000000000000000000" pitchFamily="2" charset="0"/>
                          </a:endParaRPr>
                        </a:p>
                      </a:txBody>
                      <a:tcPr anchor="ctr">
                        <a:solidFill>
                          <a:schemeClr val="bg1"/>
                        </a:solidFill>
                      </a:tcPr>
                    </a:tc>
                    <a:extLst>
                      <a:ext uri="{0D108BD9-81ED-4DB2-BD59-A6C34878D82A}">
                        <a16:rowId xmlns:a16="http://schemas.microsoft.com/office/drawing/2014/main" val="409398036"/>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b="1" dirty="0">
                              <a:latin typeface="+mn-lt"/>
                              <a:ea typeface="Roboto" panose="02000000000000000000" pitchFamily="2" charset="0"/>
                            </a:rPr>
                            <a:t>Forma I</a:t>
                          </a:r>
                          <a:r>
                            <a:rPr lang="es-MX" sz="1600" b="0" dirty="0">
                              <a:latin typeface="+mn-lt"/>
                              <a:ea typeface="Roboto" panose="02000000000000000000" pitchFamily="2" charset="0"/>
                            </a:rPr>
                            <a:t>: Particular afirmativa</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Algún S es P</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𝐼</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𝑆</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𝑃</m:t>
                                    </m:r>
                                  </m:e>
                                </m:d>
                              </m:oMath>
                            </m:oMathPara>
                          </a14:m>
                          <a:endParaRPr lang="es-MX" sz="1600" dirty="0">
                            <a:latin typeface="+mn-lt"/>
                            <a:ea typeface="Roboto" panose="02000000000000000000"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𝑆</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e>
                                </m:d>
                              </m:oMath>
                            </m:oMathPara>
                          </a14:m>
                          <a:endParaRPr lang="es-MX" sz="1600"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MX" sz="1400" b="1" dirty="0">
                            <a:latin typeface="+mn-lt"/>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1" dirty="0">
                              <a:latin typeface="+mn-lt"/>
                            </a:rPr>
                            <a:t>Interpretación:</a:t>
                          </a:r>
                          <a:r>
                            <a:rPr lang="es-MX" sz="1400" dirty="0">
                              <a:latin typeface="+mn-lt"/>
                            </a:rPr>
                            <a:t> Existe al menos un x tal que x es S y también es P.</a:t>
                          </a:r>
                          <a:endParaRPr lang="es-MX" sz="1400" dirty="0">
                            <a:latin typeface="+mn-lt"/>
                            <a:ea typeface="Roboto" panose="02000000000000000000" pitchFamily="2" charset="0"/>
                          </a:endParaRPr>
                        </a:p>
                      </a:txBody>
                      <a:tcPr anchor="ctr"/>
                    </a:tc>
                    <a:tc>
                      <a:txBody>
                        <a:bodyPr/>
                        <a:lstStyle/>
                        <a:p>
                          <a:r>
                            <a:rPr lang="es-CO" sz="1200" b="1" dirty="0">
                              <a:latin typeface="+mn-lt"/>
                              <a:ea typeface="Roboto" panose="02000000000000000000" pitchFamily="2" charset="0"/>
                            </a:rPr>
                            <a:t>Ejemplo</a:t>
                          </a:r>
                          <a:r>
                            <a:rPr lang="es-CO" sz="1200" dirty="0">
                              <a:latin typeface="+mn-lt"/>
                              <a:ea typeface="Roboto" panose="02000000000000000000" pitchFamily="2" charset="0"/>
                            </a:rPr>
                            <a:t>: Alguno estudiante es ingeniero.</a:t>
                          </a:r>
                        </a:p>
                        <a:p>
                          <a:endParaRPr lang="es-CO" sz="1200" dirty="0">
                            <a:latin typeface="+mn-lt"/>
                            <a:ea typeface="Roboto" panose="02000000000000000000" pitchFamily="2" charset="0"/>
                          </a:endParaRPr>
                        </a:p>
                        <a:p>
                          <a:r>
                            <a:rPr lang="es-CO" sz="1200" b="1" dirty="0">
                              <a:latin typeface="+mn-lt"/>
                              <a:ea typeface="Roboto" panose="02000000000000000000" pitchFamily="2" charset="0"/>
                            </a:rPr>
                            <a:t>Expresión</a:t>
                          </a:r>
                          <a:r>
                            <a:rPr lang="es-CO" sz="1200" dirty="0">
                              <a:latin typeface="+mn-lt"/>
                              <a:ea typeface="Roboto" panose="02000000000000000000" pitchFamily="2" charset="0"/>
                            </a:rPr>
                            <a:t>:</a:t>
                          </a:r>
                        </a:p>
                        <a:p>
                          <a:endParaRPr lang="es-CO" sz="1200" dirty="0">
                            <a:latin typeface="+mn-lt"/>
                            <a:ea typeface="Roboto" panose="02000000000000000000" pitchFamily="2" charset="0"/>
                          </a:endParaRPr>
                        </a:p>
                        <a:p>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ea typeface="Roboto" panose="02000000000000000000" pitchFamily="2" charset="0"/>
                                  </a:rPr>
                                  <m:t>∃</m:t>
                                </m:r>
                                <m:r>
                                  <a:rPr lang="es-MX" sz="1200" b="0" i="1" smtClean="0">
                                    <a:latin typeface="Cambria Math" panose="02040503050406030204" pitchFamily="18" charset="0"/>
                                    <a:ea typeface="Roboto" panose="02000000000000000000" pitchFamily="2" charset="0"/>
                                  </a:rPr>
                                  <m:t>𝑥</m:t>
                                </m:r>
                                <m:d>
                                  <m:dPr>
                                    <m:ctrlPr>
                                      <a:rPr lang="es-MX" sz="1200" b="0" i="1" smtClean="0">
                                        <a:latin typeface="Cambria Math" panose="02040503050406030204" pitchFamily="18" charset="0"/>
                                        <a:ea typeface="Roboto" panose="02000000000000000000" pitchFamily="2" charset="0"/>
                                      </a:rPr>
                                    </m:ctrlPr>
                                  </m:dPr>
                                  <m:e>
                                    <m:r>
                                      <a:rPr lang="es-MX" sz="1200" b="0" i="1" smtClean="0">
                                        <a:latin typeface="Cambria Math" panose="02040503050406030204" pitchFamily="18" charset="0"/>
                                        <a:ea typeface="Roboto" panose="02000000000000000000" pitchFamily="2" charset="0"/>
                                      </a:rPr>
                                      <m:t>𝑒𝑠𝑡𝑢𝑑𝑖𝑎𝑛𝑡𝑒</m:t>
                                    </m:r>
                                    <m:d>
                                      <m:dPr>
                                        <m:ctrlPr>
                                          <a:rPr lang="es-MX" sz="1200" b="0" i="1" smtClean="0">
                                            <a:latin typeface="Cambria Math" panose="02040503050406030204" pitchFamily="18" charset="0"/>
                                            <a:ea typeface="Roboto" panose="02000000000000000000" pitchFamily="2" charset="0"/>
                                          </a:rPr>
                                        </m:ctrlPr>
                                      </m:dPr>
                                      <m:e>
                                        <m:r>
                                          <a:rPr lang="es-MX" sz="1200" b="0" i="1" smtClean="0">
                                            <a:latin typeface="Cambria Math" panose="02040503050406030204" pitchFamily="18" charset="0"/>
                                            <a:ea typeface="Roboto" panose="02000000000000000000" pitchFamily="2" charset="0"/>
                                          </a:rPr>
                                          <m:t>𝑥</m:t>
                                        </m:r>
                                      </m:e>
                                    </m:d>
                                    <m:r>
                                      <a:rPr lang="es-MX" sz="1200" b="0" i="1" smtClean="0">
                                        <a:latin typeface="Cambria Math" panose="02040503050406030204" pitchFamily="18" charset="0"/>
                                        <a:ea typeface="Cambria Math" panose="02040503050406030204" pitchFamily="18" charset="0"/>
                                      </a:rPr>
                                      <m:t>∧</m:t>
                                    </m:r>
                                    <m:r>
                                      <a:rPr lang="es-MX" sz="1200" b="0" i="1" smtClean="0">
                                        <a:latin typeface="Cambria Math" panose="02040503050406030204" pitchFamily="18" charset="0"/>
                                        <a:ea typeface="Cambria Math" panose="02040503050406030204" pitchFamily="18" charset="0"/>
                                      </a:rPr>
                                      <m:t>𝑖𝑛𝑔𝑒𝑛𝑖𝑒𝑟𝑜</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𝑥</m:t>
                                        </m:r>
                                      </m:e>
                                    </m:d>
                                  </m:e>
                                </m:d>
                              </m:oMath>
                            </m:oMathPara>
                          </a14:m>
                          <a:endParaRPr lang="es-CO" sz="1200"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MX" sz="1200" dirty="0">
                            <a:latin typeface="+mn-lt"/>
                            <a:ea typeface="Roboto" panose="02000000000000000000" pitchFamily="2" charset="0"/>
                          </a:endParaRPr>
                        </a:p>
                      </a:txBody>
                      <a:tcPr anchor="ctr">
                        <a:solidFill>
                          <a:schemeClr val="bg1"/>
                        </a:solidFill>
                      </a:tcPr>
                    </a:tc>
                    <a:extLst>
                      <a:ext uri="{0D108BD9-81ED-4DB2-BD59-A6C34878D82A}">
                        <a16:rowId xmlns:a16="http://schemas.microsoft.com/office/drawing/2014/main" val="2149946557"/>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b="1" dirty="0">
                              <a:latin typeface="+mn-lt"/>
                              <a:ea typeface="Roboto" panose="02000000000000000000" pitchFamily="2" charset="0"/>
                            </a:rPr>
                            <a:t>Forma O</a:t>
                          </a:r>
                          <a:r>
                            <a:rPr lang="es-MX" sz="1600" b="0" dirty="0">
                              <a:latin typeface="+mn-lt"/>
                              <a:ea typeface="Roboto" panose="02000000000000000000" pitchFamily="2" charset="0"/>
                            </a:rPr>
                            <a:t>: Particular negativa</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Algún S no es P</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𝑂</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𝑆</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𝑃</m:t>
                                    </m:r>
                                  </m:e>
                                </m:d>
                              </m:oMath>
                            </m:oMathPara>
                          </a14:m>
                          <a:endParaRPr lang="es-MX" sz="1600" dirty="0">
                            <a:latin typeface="+mn-lt"/>
                            <a:ea typeface="Roboto" panose="02000000000000000000"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𝑆</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e>
                                </m:d>
                              </m:oMath>
                            </m:oMathPara>
                          </a14:m>
                          <a:endParaRPr lang="es-MX" sz="1600"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MX" sz="1400" b="1" dirty="0">
                            <a:latin typeface="+mn-lt"/>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1" dirty="0">
                              <a:latin typeface="+mn-lt"/>
                            </a:rPr>
                            <a:t>Interpretación:</a:t>
                          </a:r>
                          <a:r>
                            <a:rPr lang="es-MX" sz="1400" dirty="0">
                              <a:latin typeface="+mn-lt"/>
                            </a:rPr>
                            <a:t> Existe al menos un x tal que x es S y no es P.</a:t>
                          </a:r>
                          <a:endParaRPr lang="es-MX" sz="1400" dirty="0">
                            <a:latin typeface="+mn-lt"/>
                            <a:ea typeface="Roboto" panose="02000000000000000000" pitchFamily="2" charset="0"/>
                          </a:endParaRPr>
                        </a:p>
                      </a:txBody>
                      <a:tcPr anchor="ctr"/>
                    </a:tc>
                    <a:tc>
                      <a:txBody>
                        <a:bodyPr/>
                        <a:lstStyle/>
                        <a:p>
                          <a:r>
                            <a:rPr lang="es-CO" sz="1200" b="1" dirty="0">
                              <a:latin typeface="+mn-lt"/>
                              <a:ea typeface="Roboto" panose="02000000000000000000" pitchFamily="2" charset="0"/>
                            </a:rPr>
                            <a:t>Ejemplo</a:t>
                          </a:r>
                          <a:r>
                            <a:rPr lang="es-CO" sz="1200" dirty="0">
                              <a:latin typeface="+mn-lt"/>
                              <a:ea typeface="Roboto" panose="02000000000000000000" pitchFamily="2" charset="0"/>
                            </a:rPr>
                            <a:t>: Algún pájaro no vuela.</a:t>
                          </a:r>
                        </a:p>
                        <a:p>
                          <a:endParaRPr lang="es-CO" sz="1200" dirty="0">
                            <a:latin typeface="+mn-lt"/>
                            <a:ea typeface="Roboto" panose="02000000000000000000" pitchFamily="2" charset="0"/>
                          </a:endParaRPr>
                        </a:p>
                        <a:p>
                          <a:r>
                            <a:rPr lang="es-CO" sz="1200" b="1" dirty="0">
                              <a:latin typeface="+mn-lt"/>
                              <a:ea typeface="Roboto" panose="02000000000000000000" pitchFamily="2" charset="0"/>
                            </a:rPr>
                            <a:t>Expresión</a:t>
                          </a:r>
                          <a:r>
                            <a:rPr lang="es-CO" sz="1200" dirty="0">
                              <a:latin typeface="+mn-lt"/>
                              <a:ea typeface="Roboto" panose="02000000000000000000" pitchFamily="2" charset="0"/>
                            </a:rPr>
                            <a:t>:</a:t>
                          </a:r>
                        </a:p>
                        <a:p>
                          <a:endParaRPr lang="es-CO" sz="1200" dirty="0">
                            <a:latin typeface="+mn-lt"/>
                            <a:ea typeface="Roboto" panose="02000000000000000000" pitchFamily="2" charset="0"/>
                          </a:endParaRPr>
                        </a:p>
                        <a:p>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ea typeface="Roboto" panose="02000000000000000000" pitchFamily="2" charset="0"/>
                                  </a:rPr>
                                  <m:t>∃</m:t>
                                </m:r>
                                <m:r>
                                  <a:rPr lang="es-MX" sz="1200" b="0" i="1" smtClean="0">
                                    <a:latin typeface="Cambria Math" panose="02040503050406030204" pitchFamily="18" charset="0"/>
                                    <a:ea typeface="Roboto" panose="02000000000000000000" pitchFamily="2" charset="0"/>
                                  </a:rPr>
                                  <m:t>𝑥</m:t>
                                </m:r>
                                <m:d>
                                  <m:dPr>
                                    <m:ctrlPr>
                                      <a:rPr lang="es-MX" sz="1200" b="0" i="1" smtClean="0">
                                        <a:latin typeface="Cambria Math" panose="02040503050406030204" pitchFamily="18" charset="0"/>
                                        <a:ea typeface="Roboto" panose="02000000000000000000" pitchFamily="2" charset="0"/>
                                      </a:rPr>
                                    </m:ctrlPr>
                                  </m:dPr>
                                  <m:e>
                                    <m:r>
                                      <a:rPr lang="es-MX" sz="1200" b="0" i="1" smtClean="0">
                                        <a:latin typeface="Cambria Math" panose="02040503050406030204" pitchFamily="18" charset="0"/>
                                        <a:ea typeface="Roboto" panose="02000000000000000000" pitchFamily="2" charset="0"/>
                                      </a:rPr>
                                      <m:t>𝑝𝑎𝑗𝑎𝑟𝑜</m:t>
                                    </m:r>
                                    <m:d>
                                      <m:dPr>
                                        <m:ctrlPr>
                                          <a:rPr lang="es-MX" sz="1200" b="0" i="1" smtClean="0">
                                            <a:latin typeface="Cambria Math" panose="02040503050406030204" pitchFamily="18" charset="0"/>
                                            <a:ea typeface="Roboto" panose="02000000000000000000" pitchFamily="2" charset="0"/>
                                          </a:rPr>
                                        </m:ctrlPr>
                                      </m:dPr>
                                      <m:e>
                                        <m:r>
                                          <a:rPr lang="es-MX" sz="1200" b="0" i="1" smtClean="0">
                                            <a:latin typeface="Cambria Math" panose="02040503050406030204" pitchFamily="18" charset="0"/>
                                            <a:ea typeface="Roboto" panose="02000000000000000000" pitchFamily="2" charset="0"/>
                                          </a:rPr>
                                          <m:t>𝑥</m:t>
                                        </m:r>
                                      </m:e>
                                    </m:d>
                                    <m:r>
                                      <a:rPr lang="es-MX" sz="1200" b="0" i="1" smtClean="0">
                                        <a:latin typeface="Cambria Math" panose="02040503050406030204" pitchFamily="18" charset="0"/>
                                        <a:ea typeface="Cambria Math" panose="02040503050406030204" pitchFamily="18" charset="0"/>
                                      </a:rPr>
                                      <m:t>∧¬</m:t>
                                    </m:r>
                                    <m:r>
                                      <a:rPr lang="es-MX" sz="1200" b="0" i="1" smtClean="0">
                                        <a:latin typeface="Cambria Math" panose="02040503050406030204" pitchFamily="18" charset="0"/>
                                        <a:ea typeface="Cambria Math" panose="02040503050406030204" pitchFamily="18" charset="0"/>
                                      </a:rPr>
                                      <m:t>𝑣𝑢𝑒𝑙𝑎</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𝑥</m:t>
                                        </m:r>
                                      </m:e>
                                    </m:d>
                                  </m:e>
                                </m:d>
                              </m:oMath>
                            </m:oMathPara>
                          </a14:m>
                          <a:endParaRPr lang="es-CO" sz="1200" dirty="0">
                            <a:latin typeface="+mn-lt"/>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MX" sz="1200" dirty="0">
                            <a:latin typeface="+mn-lt"/>
                            <a:ea typeface="Roboto" panose="02000000000000000000" pitchFamily="2" charset="0"/>
                          </a:endParaRPr>
                        </a:p>
                      </a:txBody>
                      <a:tcPr anchor="ctr">
                        <a:solidFill>
                          <a:schemeClr val="bg1"/>
                        </a:solidFill>
                      </a:tcPr>
                    </a:tc>
                    <a:extLst>
                      <a:ext uri="{0D108BD9-81ED-4DB2-BD59-A6C34878D82A}">
                        <a16:rowId xmlns:a16="http://schemas.microsoft.com/office/drawing/2014/main" val="1164769184"/>
                      </a:ext>
                    </a:extLst>
                  </a:tr>
                </a:tbl>
              </a:graphicData>
            </a:graphic>
          </p:graphicFrame>
        </mc:Choice>
        <mc:Fallback xmlns="">
          <p:graphicFrame>
            <p:nvGraphicFramePr>
              <p:cNvPr id="5" name="Tabla 5">
                <a:extLst>
                  <a:ext uri="{FF2B5EF4-FFF2-40B4-BE49-F238E27FC236}">
                    <a16:creationId xmlns:a16="http://schemas.microsoft.com/office/drawing/2014/main" id="{567B3890-BEE3-4114-BD50-4F8AFFD8D302}"/>
                  </a:ext>
                </a:extLst>
              </p:cNvPr>
              <p:cNvGraphicFramePr>
                <a:graphicFrameLocks noGrp="1"/>
              </p:cNvGraphicFramePr>
              <p:nvPr>
                <p:extLst>
                  <p:ext uri="{D42A27DB-BD31-4B8C-83A1-F6EECF244321}">
                    <p14:modId xmlns:p14="http://schemas.microsoft.com/office/powerpoint/2010/main" val="2916919986"/>
                  </p:ext>
                </p:extLst>
              </p:nvPr>
            </p:nvGraphicFramePr>
            <p:xfrm>
              <a:off x="634181" y="1803963"/>
              <a:ext cx="11124616" cy="4971036"/>
            </p:xfrm>
            <a:graphic>
              <a:graphicData uri="http://schemas.openxmlformats.org/drawingml/2006/table">
                <a:tbl>
                  <a:tblPr firstRow="1" bandRow="1">
                    <a:tableStyleId>{AD6A3598-7CB8-4345-8D95-17CE05F158A0}</a:tableStyleId>
                  </a:tblPr>
                  <a:tblGrid>
                    <a:gridCol w="1814051">
                      <a:extLst>
                        <a:ext uri="{9D8B030D-6E8A-4147-A177-3AD203B41FA5}">
                          <a16:colId xmlns:a16="http://schemas.microsoft.com/office/drawing/2014/main" val="1182511114"/>
                        </a:ext>
                      </a:extLst>
                    </a:gridCol>
                    <a:gridCol w="1666568">
                      <a:extLst>
                        <a:ext uri="{9D8B030D-6E8A-4147-A177-3AD203B41FA5}">
                          <a16:colId xmlns:a16="http://schemas.microsoft.com/office/drawing/2014/main" val="37487"/>
                        </a:ext>
                      </a:extLst>
                    </a:gridCol>
                    <a:gridCol w="1651819">
                      <a:extLst>
                        <a:ext uri="{9D8B030D-6E8A-4147-A177-3AD203B41FA5}">
                          <a16:colId xmlns:a16="http://schemas.microsoft.com/office/drawing/2014/main" val="3055286892"/>
                        </a:ext>
                      </a:extLst>
                    </a:gridCol>
                    <a:gridCol w="3008659">
                      <a:extLst>
                        <a:ext uri="{9D8B030D-6E8A-4147-A177-3AD203B41FA5}">
                          <a16:colId xmlns:a16="http://schemas.microsoft.com/office/drawing/2014/main" val="4284222693"/>
                        </a:ext>
                      </a:extLst>
                    </a:gridCol>
                    <a:gridCol w="2983519">
                      <a:extLst>
                        <a:ext uri="{9D8B030D-6E8A-4147-A177-3AD203B41FA5}">
                          <a16:colId xmlns:a16="http://schemas.microsoft.com/office/drawing/2014/main" val="558989908"/>
                        </a:ext>
                      </a:extLst>
                    </a:gridCol>
                  </a:tblGrid>
                  <a:tr h="304800">
                    <a:tc>
                      <a:txBody>
                        <a:bodyPr/>
                        <a:lstStyle/>
                        <a:p>
                          <a:r>
                            <a:rPr lang="es-CO" sz="1400" b="1" dirty="0">
                              <a:latin typeface="+mn-lt"/>
                              <a:ea typeface="Roboto" panose="02000000000000000000" pitchFamily="2" charset="0"/>
                            </a:rPr>
                            <a:t>Forma</a:t>
                          </a:r>
                        </a:p>
                      </a:txBody>
                      <a:tcPr/>
                    </a:tc>
                    <a:tc>
                      <a:txBody>
                        <a:bodyPr/>
                        <a:lstStyle/>
                        <a:p>
                          <a:r>
                            <a:rPr lang="es-CO" sz="1400" b="1" dirty="0">
                              <a:latin typeface="+mn-lt"/>
                              <a:ea typeface="Roboto" panose="02000000000000000000" pitchFamily="2" charset="0"/>
                            </a:rPr>
                            <a:t>Enunciado</a:t>
                          </a:r>
                        </a:p>
                      </a:txBody>
                      <a:tcPr/>
                    </a:tc>
                    <a:tc>
                      <a:txBody>
                        <a:bodyPr/>
                        <a:lstStyle/>
                        <a:p>
                          <a:r>
                            <a:rPr lang="es-CO" sz="1400" b="1" dirty="0">
                              <a:latin typeface="+mn-lt"/>
                              <a:ea typeface="Roboto" panose="02000000000000000000" pitchFamily="2" charset="0"/>
                            </a:rPr>
                            <a:t>Forma Aristotélica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400" b="1" dirty="0">
                              <a:latin typeface="+mn-lt"/>
                              <a:ea typeface="Roboto" panose="02000000000000000000" pitchFamily="2" charset="0"/>
                            </a:rPr>
                            <a:t>Lógica de predicados</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400" b="1" dirty="0">
                              <a:latin typeface="+mn-lt"/>
                              <a:ea typeface="Roboto" panose="02000000000000000000" pitchFamily="2" charset="0"/>
                            </a:rPr>
                            <a:t>Ejemplo</a:t>
                          </a:r>
                        </a:p>
                      </a:txBody>
                      <a:tcPr/>
                    </a:tc>
                    <a:extLst>
                      <a:ext uri="{0D108BD9-81ED-4DB2-BD59-A6C34878D82A}">
                        <a16:rowId xmlns:a16="http://schemas.microsoft.com/office/drawing/2014/main" val="557287797"/>
                      </a:ext>
                    </a:extLst>
                  </a:tr>
                  <a:tr h="1212279">
                    <a:tc>
                      <a:txBody>
                        <a:bodyPr/>
                        <a:lstStyle/>
                        <a:p>
                          <a:r>
                            <a:rPr lang="es-MX" sz="1600" b="1" dirty="0">
                              <a:latin typeface="+mn-lt"/>
                              <a:ea typeface="Roboto" panose="02000000000000000000" pitchFamily="2" charset="0"/>
                            </a:rPr>
                            <a:t>Forma A</a:t>
                          </a:r>
                          <a:r>
                            <a:rPr lang="es-MX" sz="1600" b="0" dirty="0">
                              <a:latin typeface="+mn-lt"/>
                              <a:ea typeface="Roboto" panose="02000000000000000000" pitchFamily="2" charset="0"/>
                            </a:rPr>
                            <a:t>: Universal afirmativa</a:t>
                          </a:r>
                          <a:endParaRPr lang="es-CO" sz="1600" b="0" dirty="0">
                            <a:latin typeface="+mn-lt"/>
                            <a:ea typeface="Roboto" panose="02000000000000000000"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Todos los S son P</a:t>
                          </a:r>
                        </a:p>
                      </a:txBody>
                      <a:tcPr anchor="ctr"/>
                    </a:tc>
                    <a:tc>
                      <a:txBody>
                        <a:bodyPr/>
                        <a:lstStyle/>
                        <a:p>
                          <a:endParaRPr lang="es-CO"/>
                        </a:p>
                      </a:txBody>
                      <a:tcPr anchor="ctr">
                        <a:blipFill>
                          <a:blip r:embed="rId3"/>
                          <a:stretch>
                            <a:fillRect l="-211070" t="-25628" r="-363469" b="-285930"/>
                          </a:stretch>
                        </a:blipFill>
                      </a:tcPr>
                    </a:tc>
                    <a:tc>
                      <a:txBody>
                        <a:bodyPr/>
                        <a:lstStyle/>
                        <a:p>
                          <a:endParaRPr lang="es-CO"/>
                        </a:p>
                      </a:txBody>
                      <a:tcPr anchor="ctr">
                        <a:blipFill>
                          <a:blip r:embed="rId3"/>
                          <a:stretch>
                            <a:fillRect l="-170648" t="-25628" r="-99393" b="-285930"/>
                          </a:stretch>
                        </a:blipFill>
                      </a:tcPr>
                    </a:tc>
                    <a:tc>
                      <a:txBody>
                        <a:bodyPr/>
                        <a:lstStyle/>
                        <a:p>
                          <a:endParaRPr lang="es-CO"/>
                        </a:p>
                      </a:txBody>
                      <a:tcPr anchor="ctr">
                        <a:blipFill>
                          <a:blip r:embed="rId3"/>
                          <a:stretch>
                            <a:fillRect l="-273415" t="-25628" r="-409" b="-285930"/>
                          </a:stretch>
                        </a:blipFill>
                      </a:tcPr>
                    </a:tc>
                    <a:extLst>
                      <a:ext uri="{0D108BD9-81ED-4DB2-BD59-A6C34878D82A}">
                        <a16:rowId xmlns:a16="http://schemas.microsoft.com/office/drawing/2014/main" val="625442380"/>
                      </a:ext>
                    </a:extLst>
                  </a:tr>
                  <a:tr h="102939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b="1" dirty="0">
                              <a:latin typeface="+mn-lt"/>
                              <a:ea typeface="Roboto" panose="02000000000000000000" pitchFamily="2" charset="0"/>
                            </a:rPr>
                            <a:t>Forma E</a:t>
                          </a:r>
                          <a:r>
                            <a:rPr lang="es-MX" sz="1600" b="0" dirty="0">
                              <a:latin typeface="+mn-lt"/>
                              <a:ea typeface="Roboto" panose="02000000000000000000" pitchFamily="2" charset="0"/>
                            </a:rPr>
                            <a:t>: Universal negativa</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Ningún S es P</a:t>
                          </a:r>
                        </a:p>
                      </a:txBody>
                      <a:tcPr anchor="ctr"/>
                    </a:tc>
                    <a:tc>
                      <a:txBody>
                        <a:bodyPr/>
                        <a:lstStyle/>
                        <a:p>
                          <a:endParaRPr lang="es-CO"/>
                        </a:p>
                      </a:txBody>
                      <a:tcPr anchor="ctr">
                        <a:blipFill>
                          <a:blip r:embed="rId3"/>
                          <a:stretch>
                            <a:fillRect l="-211070" t="-147059" r="-363469" b="-234706"/>
                          </a:stretch>
                        </a:blipFill>
                      </a:tcPr>
                    </a:tc>
                    <a:tc>
                      <a:txBody>
                        <a:bodyPr/>
                        <a:lstStyle/>
                        <a:p>
                          <a:endParaRPr lang="es-CO"/>
                        </a:p>
                      </a:txBody>
                      <a:tcPr anchor="ctr">
                        <a:blipFill>
                          <a:blip r:embed="rId3"/>
                          <a:stretch>
                            <a:fillRect l="-170648" t="-147059" r="-99393" b="-234706"/>
                          </a:stretch>
                        </a:blipFill>
                      </a:tcPr>
                    </a:tc>
                    <a:tc>
                      <a:txBody>
                        <a:bodyPr/>
                        <a:lstStyle/>
                        <a:p>
                          <a:endParaRPr lang="es-CO"/>
                        </a:p>
                      </a:txBody>
                      <a:tcPr anchor="ctr">
                        <a:blipFill>
                          <a:blip r:embed="rId3"/>
                          <a:stretch>
                            <a:fillRect l="-273415" t="-147059" r="-409" b="-234706"/>
                          </a:stretch>
                        </a:blipFill>
                      </a:tcPr>
                    </a:tc>
                    <a:extLst>
                      <a:ext uri="{0D108BD9-81ED-4DB2-BD59-A6C34878D82A}">
                        <a16:rowId xmlns:a16="http://schemas.microsoft.com/office/drawing/2014/main" val="409398036"/>
                      </a:ext>
                    </a:extLst>
                  </a:tr>
                  <a:tr h="121227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b="1" dirty="0">
                              <a:latin typeface="+mn-lt"/>
                              <a:ea typeface="Roboto" panose="02000000000000000000" pitchFamily="2" charset="0"/>
                            </a:rPr>
                            <a:t>Forma I</a:t>
                          </a:r>
                          <a:r>
                            <a:rPr lang="es-MX" sz="1600" b="0" dirty="0">
                              <a:latin typeface="+mn-lt"/>
                              <a:ea typeface="Roboto" panose="02000000000000000000" pitchFamily="2" charset="0"/>
                            </a:rPr>
                            <a:t>: Particular afirmativa</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Algún S es P</a:t>
                          </a:r>
                        </a:p>
                      </a:txBody>
                      <a:tcPr anchor="ctr"/>
                    </a:tc>
                    <a:tc>
                      <a:txBody>
                        <a:bodyPr/>
                        <a:lstStyle/>
                        <a:p>
                          <a:endParaRPr lang="es-CO"/>
                        </a:p>
                      </a:txBody>
                      <a:tcPr anchor="ctr">
                        <a:blipFill>
                          <a:blip r:embed="rId3"/>
                          <a:stretch>
                            <a:fillRect l="-211070" t="-211055" r="-363469" b="-100503"/>
                          </a:stretch>
                        </a:blipFill>
                      </a:tcPr>
                    </a:tc>
                    <a:tc>
                      <a:txBody>
                        <a:bodyPr/>
                        <a:lstStyle/>
                        <a:p>
                          <a:endParaRPr lang="es-CO"/>
                        </a:p>
                      </a:txBody>
                      <a:tcPr anchor="ctr">
                        <a:blipFill>
                          <a:blip r:embed="rId3"/>
                          <a:stretch>
                            <a:fillRect l="-170648" t="-211055" r="-99393" b="-100503"/>
                          </a:stretch>
                        </a:blipFill>
                      </a:tcPr>
                    </a:tc>
                    <a:tc>
                      <a:txBody>
                        <a:bodyPr/>
                        <a:lstStyle/>
                        <a:p>
                          <a:endParaRPr lang="es-CO"/>
                        </a:p>
                      </a:txBody>
                      <a:tcPr anchor="ctr">
                        <a:blipFill>
                          <a:blip r:embed="rId3"/>
                          <a:stretch>
                            <a:fillRect l="-273415" t="-211055" r="-409" b="-100503"/>
                          </a:stretch>
                        </a:blipFill>
                      </a:tcPr>
                    </a:tc>
                    <a:extLst>
                      <a:ext uri="{0D108BD9-81ED-4DB2-BD59-A6C34878D82A}">
                        <a16:rowId xmlns:a16="http://schemas.microsoft.com/office/drawing/2014/main" val="2149946557"/>
                      </a:ext>
                    </a:extLst>
                  </a:tr>
                  <a:tr h="121227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b="1" dirty="0">
                              <a:latin typeface="+mn-lt"/>
                              <a:ea typeface="Roboto" panose="02000000000000000000" pitchFamily="2" charset="0"/>
                            </a:rPr>
                            <a:t>Forma O</a:t>
                          </a:r>
                          <a:r>
                            <a:rPr lang="es-MX" sz="1600" b="0" dirty="0">
                              <a:latin typeface="+mn-lt"/>
                              <a:ea typeface="Roboto" panose="02000000000000000000" pitchFamily="2" charset="0"/>
                            </a:rPr>
                            <a:t>: Particular negativa</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600" dirty="0">
                              <a:latin typeface="+mn-lt"/>
                              <a:ea typeface="Roboto" panose="02000000000000000000" pitchFamily="2" charset="0"/>
                            </a:rPr>
                            <a:t>Algún S no es P</a:t>
                          </a:r>
                        </a:p>
                      </a:txBody>
                      <a:tcPr anchor="ctr"/>
                    </a:tc>
                    <a:tc>
                      <a:txBody>
                        <a:bodyPr/>
                        <a:lstStyle/>
                        <a:p>
                          <a:endParaRPr lang="es-CO"/>
                        </a:p>
                      </a:txBody>
                      <a:tcPr anchor="ctr">
                        <a:blipFill>
                          <a:blip r:embed="rId3"/>
                          <a:stretch>
                            <a:fillRect l="-211070" t="-311055" r="-363469" b="-503"/>
                          </a:stretch>
                        </a:blipFill>
                      </a:tcPr>
                    </a:tc>
                    <a:tc>
                      <a:txBody>
                        <a:bodyPr/>
                        <a:lstStyle/>
                        <a:p>
                          <a:endParaRPr lang="es-CO"/>
                        </a:p>
                      </a:txBody>
                      <a:tcPr anchor="ctr">
                        <a:blipFill>
                          <a:blip r:embed="rId3"/>
                          <a:stretch>
                            <a:fillRect l="-170648" t="-311055" r="-99393" b="-503"/>
                          </a:stretch>
                        </a:blipFill>
                      </a:tcPr>
                    </a:tc>
                    <a:tc>
                      <a:txBody>
                        <a:bodyPr/>
                        <a:lstStyle/>
                        <a:p>
                          <a:endParaRPr lang="es-CO"/>
                        </a:p>
                      </a:txBody>
                      <a:tcPr anchor="ctr">
                        <a:blipFill>
                          <a:blip r:embed="rId3"/>
                          <a:stretch>
                            <a:fillRect l="-273415" t="-311055" r="-409" b="-503"/>
                          </a:stretch>
                        </a:blipFill>
                      </a:tcPr>
                    </a:tc>
                    <a:extLst>
                      <a:ext uri="{0D108BD9-81ED-4DB2-BD59-A6C34878D82A}">
                        <a16:rowId xmlns:a16="http://schemas.microsoft.com/office/drawing/2014/main" val="1164769184"/>
                      </a:ext>
                    </a:extLst>
                  </a:tr>
                </a:tbl>
              </a:graphicData>
            </a:graphic>
          </p:graphicFrame>
        </mc:Fallback>
      </mc:AlternateContent>
    </p:spTree>
    <p:extLst>
      <p:ext uri="{BB962C8B-B14F-4D97-AF65-F5344CB8AC3E}">
        <p14:creationId xmlns:p14="http://schemas.microsoft.com/office/powerpoint/2010/main" val="26964556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375618" y="180494"/>
            <a:ext cx="10515600" cy="896139"/>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Equivalencias lógica proposicional</a:t>
            </a:r>
            <a:endParaRPr dirty="0"/>
          </a:p>
        </p:txBody>
      </p:sp>
      <mc:AlternateContent xmlns:mc="http://schemas.openxmlformats.org/markup-compatibility/2006" xmlns:a14="http://schemas.microsoft.com/office/drawing/2010/main">
        <mc:Choice Requires="a14">
          <p:graphicFrame>
            <p:nvGraphicFramePr>
              <p:cNvPr id="5" name="Tabla 3">
                <a:extLst>
                  <a:ext uri="{FF2B5EF4-FFF2-40B4-BE49-F238E27FC236}">
                    <a16:creationId xmlns:a16="http://schemas.microsoft.com/office/drawing/2014/main" id="{B9252CBD-B080-409D-94D7-CAA8A680DF19}"/>
                  </a:ext>
                </a:extLst>
              </p:cNvPr>
              <p:cNvGraphicFramePr>
                <a:graphicFrameLocks noGrp="1"/>
              </p:cNvGraphicFramePr>
              <p:nvPr>
                <p:extLst>
                  <p:ext uri="{D42A27DB-BD31-4B8C-83A1-F6EECF244321}">
                    <p14:modId xmlns:p14="http://schemas.microsoft.com/office/powerpoint/2010/main" val="415339476"/>
                  </p:ext>
                </p:extLst>
              </p:nvPr>
            </p:nvGraphicFramePr>
            <p:xfrm>
              <a:off x="1569419" y="948813"/>
              <a:ext cx="9321799" cy="4724400"/>
            </p:xfrm>
            <a:graphic>
              <a:graphicData uri="http://schemas.openxmlformats.org/drawingml/2006/table">
                <a:tbl>
                  <a:tblPr firstRow="1" bandRow="1">
                    <a:tableStyleId>{AD6A3598-7CB8-4345-8D95-17CE05F158A0}</a:tableStyleId>
                  </a:tblPr>
                  <a:tblGrid>
                    <a:gridCol w="2256551">
                      <a:extLst>
                        <a:ext uri="{9D8B030D-6E8A-4147-A177-3AD203B41FA5}">
                          <a16:colId xmlns:a16="http://schemas.microsoft.com/office/drawing/2014/main" val="2419793140"/>
                        </a:ext>
                      </a:extLst>
                    </a:gridCol>
                    <a:gridCol w="3691790">
                      <a:extLst>
                        <a:ext uri="{9D8B030D-6E8A-4147-A177-3AD203B41FA5}">
                          <a16:colId xmlns:a16="http://schemas.microsoft.com/office/drawing/2014/main" val="2761119023"/>
                        </a:ext>
                      </a:extLst>
                    </a:gridCol>
                    <a:gridCol w="3373458">
                      <a:extLst>
                        <a:ext uri="{9D8B030D-6E8A-4147-A177-3AD203B41FA5}">
                          <a16:colId xmlns:a16="http://schemas.microsoft.com/office/drawing/2014/main" val="3891570482"/>
                        </a:ext>
                      </a:extLst>
                    </a:gridCol>
                  </a:tblGrid>
                  <a:tr h="270387">
                    <a:tc>
                      <a:txBody>
                        <a:bodyPr/>
                        <a:lstStyle/>
                        <a:p>
                          <a:r>
                            <a:rPr lang="es-CO" sz="1800" b="1" dirty="0">
                              <a:latin typeface="+mn-lt"/>
                              <a:ea typeface="Roboto" panose="02000000000000000000" pitchFamily="2" charset="0"/>
                            </a:rPr>
                            <a:t>Nombre</a:t>
                          </a:r>
                        </a:p>
                      </a:txBody>
                      <a:tcPr>
                        <a:solidFill>
                          <a:schemeClr val="bg1">
                            <a:lumMod val="95000"/>
                          </a:schemeClr>
                        </a:solidFill>
                      </a:tcPr>
                    </a:tc>
                    <a:tc gridSpan="2">
                      <a:txBody>
                        <a:bodyPr/>
                        <a:lstStyle/>
                        <a:p>
                          <a:pPr algn="ctr"/>
                          <a:r>
                            <a:rPr lang="es-CO" sz="1800" b="1" dirty="0">
                              <a:latin typeface="+mn-lt"/>
                              <a:ea typeface="Roboto" panose="02000000000000000000" pitchFamily="2" charset="0"/>
                            </a:rPr>
                            <a:t>Equivalencia lógica</a:t>
                          </a:r>
                        </a:p>
                      </a:txBody>
                      <a:tcPr>
                        <a:solidFill>
                          <a:schemeClr val="bg1">
                            <a:lumMod val="95000"/>
                          </a:schemeClr>
                        </a:solidFill>
                      </a:tcPr>
                    </a:tc>
                    <a:tc hMerge="1">
                      <a:txBody>
                        <a:bodyPr/>
                        <a:lstStyle/>
                        <a:p>
                          <a:endParaRPr lang="es-CO" sz="160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624526593"/>
                      </a:ext>
                    </a:extLst>
                  </a:tr>
                  <a:tr h="228789">
                    <a:tc>
                      <a:txBody>
                        <a:bodyPr/>
                        <a:lstStyle/>
                        <a:p>
                          <a:r>
                            <a:rPr lang="es-CO" sz="1600" b="1" dirty="0">
                              <a:latin typeface="+mn-lt"/>
                              <a:ea typeface="Roboto" panose="02000000000000000000" pitchFamily="2" charset="0"/>
                            </a:rPr>
                            <a:t>Conmutatividad</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3154515760"/>
                      </a:ext>
                    </a:extLst>
                  </a:tr>
                  <a:tr h="228789">
                    <a:tc>
                      <a:txBody>
                        <a:bodyPr/>
                        <a:lstStyle/>
                        <a:p>
                          <a:r>
                            <a:rPr lang="es-CO" sz="1600" b="1" dirty="0">
                              <a:latin typeface="+mn-lt"/>
                              <a:ea typeface="Roboto" panose="02000000000000000000" pitchFamily="2" charset="0"/>
                            </a:rPr>
                            <a:t>Asociatividad</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oMath>
                            </m:oMathPara>
                          </a14:m>
                          <a:endParaRPr lang="es-CO" sz="16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1913743916"/>
                      </a:ext>
                    </a:extLst>
                  </a:tr>
                  <a:tr h="228789">
                    <a:tc>
                      <a:txBody>
                        <a:bodyPr/>
                        <a:lstStyle/>
                        <a:p>
                          <a:r>
                            <a:rPr lang="es-CO" sz="1600" b="1" dirty="0">
                              <a:latin typeface="+mn-lt"/>
                              <a:ea typeface="Roboto" panose="02000000000000000000" pitchFamily="2" charset="0"/>
                            </a:rPr>
                            <a:t>Distributividad</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oMath>
                            </m:oMathPara>
                          </a14:m>
                          <a:endParaRPr lang="es-CO" sz="16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717401643"/>
                      </a:ext>
                    </a:extLst>
                  </a:tr>
                  <a:tr h="228789">
                    <a:tc>
                      <a:txBody>
                        <a:bodyPr/>
                        <a:lstStyle/>
                        <a:p>
                          <a:r>
                            <a:rPr lang="es-CO" sz="1600" b="1" dirty="0">
                              <a:latin typeface="+mn-lt"/>
                              <a:ea typeface="Roboto" panose="02000000000000000000" pitchFamily="2" charset="0"/>
                            </a:rPr>
                            <a:t>Idempotencia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2246818852"/>
                      </a:ext>
                    </a:extLst>
                  </a:tr>
                  <a:tr h="228789">
                    <a:tc>
                      <a:txBody>
                        <a:bodyPr/>
                        <a:lstStyle/>
                        <a:p>
                          <a:r>
                            <a:rPr lang="es-CO" sz="1600" b="1" dirty="0">
                              <a:latin typeface="+mn-lt"/>
                              <a:ea typeface="Roboto" panose="02000000000000000000" pitchFamily="2" charset="0"/>
                            </a:rPr>
                            <a:t>Doble negación</a:t>
                          </a:r>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88149062"/>
                      </a:ext>
                    </a:extLst>
                  </a:tr>
                  <a:tr h="228789">
                    <a:tc>
                      <a:txBody>
                        <a:bodyPr/>
                        <a:lstStyle/>
                        <a:p>
                          <a:r>
                            <a:rPr lang="es-CO" sz="1600" b="1" dirty="0">
                              <a:latin typeface="+mn-lt"/>
                              <a:ea typeface="Roboto" panose="02000000000000000000" pitchFamily="2" charset="0"/>
                            </a:rPr>
                            <a:t>Leyes de Morgan</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oMath>
                            </m:oMathPara>
                          </a14:m>
                          <a:endParaRPr lang="es-CO" sz="16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2113060234"/>
                      </a:ext>
                    </a:extLst>
                  </a:tr>
                  <a:tr h="228789">
                    <a:tc>
                      <a:txBody>
                        <a:bodyPr/>
                        <a:lstStyle/>
                        <a:p>
                          <a:r>
                            <a:rPr lang="es-CO" sz="1600" b="1" dirty="0">
                              <a:latin typeface="+mn-lt"/>
                              <a:ea typeface="Roboto" panose="02000000000000000000" pitchFamily="2" charset="0"/>
                            </a:rPr>
                            <a:t>Identidad</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2494965197"/>
                      </a:ext>
                    </a:extLst>
                  </a:tr>
                  <a:tr h="228789">
                    <a:tc>
                      <a:txBody>
                        <a:bodyPr/>
                        <a:lstStyle/>
                        <a:p>
                          <a:r>
                            <a:rPr lang="es-CO" sz="1600" b="1" dirty="0">
                              <a:latin typeface="+mn-lt"/>
                              <a:ea typeface="Roboto" panose="02000000000000000000" pitchFamily="2" charset="0"/>
                            </a:rPr>
                            <a:t>Dominación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oMath>
                            </m:oMathPara>
                          </a14:m>
                          <a:endParaRPr lang="es-CO" sz="16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707485840"/>
                      </a:ext>
                    </a:extLst>
                  </a:tr>
                  <a:tr h="228789">
                    <a:tc>
                      <a:txBody>
                        <a:bodyPr/>
                        <a:lstStyle/>
                        <a:p>
                          <a:r>
                            <a:rPr lang="es-CO" sz="1600" b="1" dirty="0">
                              <a:latin typeface="+mn-lt"/>
                              <a:ea typeface="Roboto" panose="02000000000000000000" pitchFamily="2" charset="0"/>
                            </a:rPr>
                            <a:t>Absorción</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1232652958"/>
                      </a:ext>
                    </a:extLst>
                  </a:tr>
                  <a:tr h="228789">
                    <a:tc>
                      <a:txBody>
                        <a:bodyPr/>
                        <a:lstStyle/>
                        <a:p>
                          <a:r>
                            <a:rPr lang="es-CO" sz="1600" b="1" dirty="0">
                              <a:latin typeface="+mn-lt"/>
                              <a:ea typeface="Roboto" panose="02000000000000000000" pitchFamily="2" charset="0"/>
                            </a:rPr>
                            <a:t>Complemento</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oMath>
                            </m:oMathPara>
                          </a14:m>
                          <a:endParaRPr lang="es-CO" sz="1600" b="1"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oMath>
                            </m:oMathPara>
                          </a14:m>
                          <a:endParaRPr lang="es-CO" sz="1600" b="1" dirty="0">
                            <a:latin typeface="+mn-lt"/>
                            <a:ea typeface="Roboto" panose="02000000000000000000" pitchFamily="2" charset="0"/>
                          </a:endParaRPr>
                        </a:p>
                      </a:txBody>
                      <a:tcPr/>
                    </a:tc>
                    <a:extLst>
                      <a:ext uri="{0D108BD9-81ED-4DB2-BD59-A6C34878D82A}">
                        <a16:rowId xmlns:a16="http://schemas.microsoft.com/office/drawing/2014/main" val="3770911309"/>
                      </a:ext>
                    </a:extLst>
                  </a:tr>
                  <a:tr h="228789">
                    <a:tc>
                      <a:txBody>
                        <a:bodyPr/>
                        <a:lstStyle/>
                        <a:p>
                          <a:r>
                            <a:rPr lang="es-CO" sz="1600" b="1" dirty="0">
                              <a:latin typeface="+mn-lt"/>
                              <a:ea typeface="Roboto" panose="02000000000000000000" pitchFamily="2" charset="0"/>
                            </a:rPr>
                            <a:t>Implicación</a:t>
                          </a:r>
                        </a:p>
                      </a:txBody>
                      <a:tcPr/>
                    </a:tc>
                    <a:tc gridSpan="2">
                      <a:txBody>
                        <a:bodyPr/>
                        <a:lstStyle/>
                        <a:p>
                          <a:pPr algn="ct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oMath>
                            </m:oMathPara>
                          </a14:m>
                          <a:endParaRPr lang="es-CO" sz="1600" dirty="0">
                            <a:latin typeface="+mn-lt"/>
                            <a:ea typeface="Roboto" panose="02000000000000000000" pitchFamily="2" charset="0"/>
                          </a:endParaRPr>
                        </a:p>
                      </a:txBody>
                      <a:tcPr/>
                    </a:tc>
                    <a:tc hMerge="1">
                      <a:txBody>
                        <a:bodyPr/>
                        <a:lstStyle/>
                        <a:p>
                          <a:pPr algn="ctr"/>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483938044"/>
                      </a:ext>
                    </a:extLst>
                  </a:tr>
                  <a:tr h="228789">
                    <a:tc>
                      <a:txBody>
                        <a:bodyPr/>
                        <a:lstStyle/>
                        <a:p>
                          <a:r>
                            <a:rPr lang="es-CO" sz="1600" b="1" dirty="0">
                              <a:latin typeface="+mn-lt"/>
                              <a:ea typeface="Roboto" panose="02000000000000000000" pitchFamily="2" charset="0"/>
                            </a:rPr>
                            <a:t>Contrarrecíproco</a:t>
                          </a:r>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255506134"/>
                      </a:ext>
                    </a:extLst>
                  </a:tr>
                  <a:tr h="228789">
                    <a:tc>
                      <a:txBody>
                        <a:bodyPr/>
                        <a:lstStyle/>
                        <a:p>
                          <a:r>
                            <a:rPr lang="es-CO" sz="1600" b="1" dirty="0">
                              <a:latin typeface="+mn-lt"/>
                              <a:ea typeface="Roboto" panose="02000000000000000000" pitchFamily="2" charset="0"/>
                            </a:rPr>
                            <a:t>Equivalencia</a:t>
                          </a:r>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e>
                                </m:d>
                              </m:oMath>
                            </m:oMathPara>
                          </a14:m>
                          <a:endParaRPr lang="es-CO" sz="1600" dirty="0">
                            <a:latin typeface="+mn-lt"/>
                            <a:ea typeface="Roboto" panose="02000000000000000000" pitchFamily="2" charset="0"/>
                          </a:endParaRPr>
                        </a:p>
                      </a:txBody>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0457137"/>
                      </a:ext>
                    </a:extLst>
                  </a:tr>
                </a:tbl>
              </a:graphicData>
            </a:graphic>
          </p:graphicFrame>
        </mc:Choice>
        <mc:Fallback xmlns="">
          <p:graphicFrame>
            <p:nvGraphicFramePr>
              <p:cNvPr id="5" name="Tabla 3">
                <a:extLst>
                  <a:ext uri="{FF2B5EF4-FFF2-40B4-BE49-F238E27FC236}">
                    <a16:creationId xmlns:a16="http://schemas.microsoft.com/office/drawing/2014/main" id="{B9252CBD-B080-409D-94D7-CAA8A680DF19}"/>
                  </a:ext>
                </a:extLst>
              </p:cNvPr>
              <p:cNvGraphicFramePr>
                <a:graphicFrameLocks noGrp="1"/>
              </p:cNvGraphicFramePr>
              <p:nvPr>
                <p:extLst>
                  <p:ext uri="{D42A27DB-BD31-4B8C-83A1-F6EECF244321}">
                    <p14:modId xmlns:p14="http://schemas.microsoft.com/office/powerpoint/2010/main" val="415339476"/>
                  </p:ext>
                </p:extLst>
              </p:nvPr>
            </p:nvGraphicFramePr>
            <p:xfrm>
              <a:off x="1569419" y="948813"/>
              <a:ext cx="9321799" cy="4724400"/>
            </p:xfrm>
            <a:graphic>
              <a:graphicData uri="http://schemas.openxmlformats.org/drawingml/2006/table">
                <a:tbl>
                  <a:tblPr firstRow="1" bandRow="1">
                    <a:tableStyleId>{AD6A3598-7CB8-4345-8D95-17CE05F158A0}</a:tableStyleId>
                  </a:tblPr>
                  <a:tblGrid>
                    <a:gridCol w="2256551">
                      <a:extLst>
                        <a:ext uri="{9D8B030D-6E8A-4147-A177-3AD203B41FA5}">
                          <a16:colId xmlns:a16="http://schemas.microsoft.com/office/drawing/2014/main" val="2419793140"/>
                        </a:ext>
                      </a:extLst>
                    </a:gridCol>
                    <a:gridCol w="3691790">
                      <a:extLst>
                        <a:ext uri="{9D8B030D-6E8A-4147-A177-3AD203B41FA5}">
                          <a16:colId xmlns:a16="http://schemas.microsoft.com/office/drawing/2014/main" val="2761119023"/>
                        </a:ext>
                      </a:extLst>
                    </a:gridCol>
                    <a:gridCol w="3373458">
                      <a:extLst>
                        <a:ext uri="{9D8B030D-6E8A-4147-A177-3AD203B41FA5}">
                          <a16:colId xmlns:a16="http://schemas.microsoft.com/office/drawing/2014/main" val="3891570482"/>
                        </a:ext>
                      </a:extLst>
                    </a:gridCol>
                  </a:tblGrid>
                  <a:tr h="365760">
                    <a:tc>
                      <a:txBody>
                        <a:bodyPr/>
                        <a:lstStyle/>
                        <a:p>
                          <a:r>
                            <a:rPr lang="es-CO" sz="1800" b="1" dirty="0">
                              <a:latin typeface="+mn-lt"/>
                              <a:ea typeface="Roboto" panose="02000000000000000000" pitchFamily="2" charset="0"/>
                            </a:rPr>
                            <a:t>Nombre</a:t>
                          </a:r>
                        </a:p>
                      </a:txBody>
                      <a:tcPr>
                        <a:solidFill>
                          <a:schemeClr val="bg1">
                            <a:lumMod val="95000"/>
                          </a:schemeClr>
                        </a:solidFill>
                      </a:tcPr>
                    </a:tc>
                    <a:tc gridSpan="2">
                      <a:txBody>
                        <a:bodyPr/>
                        <a:lstStyle/>
                        <a:p>
                          <a:pPr algn="ctr"/>
                          <a:r>
                            <a:rPr lang="es-CO" sz="1800" b="1" dirty="0">
                              <a:latin typeface="+mn-lt"/>
                              <a:ea typeface="Roboto" panose="02000000000000000000" pitchFamily="2" charset="0"/>
                            </a:rPr>
                            <a:t>Equivalencia lógica</a:t>
                          </a:r>
                        </a:p>
                      </a:txBody>
                      <a:tcPr>
                        <a:solidFill>
                          <a:schemeClr val="bg1">
                            <a:lumMod val="95000"/>
                          </a:schemeClr>
                        </a:solidFill>
                      </a:tcPr>
                    </a:tc>
                    <a:tc hMerge="1">
                      <a:txBody>
                        <a:bodyPr/>
                        <a:lstStyle/>
                        <a:p>
                          <a:endParaRPr lang="es-CO" sz="160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624526593"/>
                      </a:ext>
                    </a:extLst>
                  </a:tr>
                  <a:tr h="335280">
                    <a:tc>
                      <a:txBody>
                        <a:bodyPr/>
                        <a:lstStyle/>
                        <a:p>
                          <a:r>
                            <a:rPr lang="es-CO" sz="1600" b="1" dirty="0">
                              <a:latin typeface="+mn-lt"/>
                              <a:ea typeface="Roboto" panose="02000000000000000000" pitchFamily="2" charset="0"/>
                            </a:rPr>
                            <a:t>Conmutatividad</a:t>
                          </a:r>
                        </a:p>
                      </a:txBody>
                      <a:tcPr/>
                    </a:tc>
                    <a:tc>
                      <a:txBody>
                        <a:bodyPr/>
                        <a:lstStyle/>
                        <a:p>
                          <a:endParaRPr lang="es-CO"/>
                        </a:p>
                      </a:txBody>
                      <a:tcPr>
                        <a:blipFill>
                          <a:blip r:embed="rId3"/>
                          <a:stretch>
                            <a:fillRect l="-61221" t="-118182" r="-91749" b="-1225455"/>
                          </a:stretch>
                        </a:blipFill>
                      </a:tcPr>
                    </a:tc>
                    <a:tc>
                      <a:txBody>
                        <a:bodyPr/>
                        <a:lstStyle/>
                        <a:p>
                          <a:endParaRPr lang="es-CO"/>
                        </a:p>
                      </a:txBody>
                      <a:tcPr>
                        <a:blipFill>
                          <a:blip r:embed="rId3"/>
                          <a:stretch>
                            <a:fillRect l="-176354" t="-118182" r="-361" b="-1225455"/>
                          </a:stretch>
                        </a:blipFill>
                      </a:tcPr>
                    </a:tc>
                    <a:extLst>
                      <a:ext uri="{0D108BD9-81ED-4DB2-BD59-A6C34878D82A}">
                        <a16:rowId xmlns:a16="http://schemas.microsoft.com/office/drawing/2014/main" val="3154515760"/>
                      </a:ext>
                    </a:extLst>
                  </a:tr>
                  <a:tr h="335280">
                    <a:tc>
                      <a:txBody>
                        <a:bodyPr/>
                        <a:lstStyle/>
                        <a:p>
                          <a:r>
                            <a:rPr lang="es-CO" sz="1600" b="1" dirty="0">
                              <a:latin typeface="+mn-lt"/>
                              <a:ea typeface="Roboto" panose="02000000000000000000" pitchFamily="2" charset="0"/>
                            </a:rPr>
                            <a:t>Asociatividad</a:t>
                          </a:r>
                        </a:p>
                      </a:txBody>
                      <a:tcPr/>
                    </a:tc>
                    <a:tc>
                      <a:txBody>
                        <a:bodyPr/>
                        <a:lstStyle/>
                        <a:p>
                          <a:endParaRPr lang="es-CO"/>
                        </a:p>
                      </a:txBody>
                      <a:tcPr>
                        <a:blipFill>
                          <a:blip r:embed="rId3"/>
                          <a:stretch>
                            <a:fillRect l="-61221" t="-218182" r="-91749" b="-1125455"/>
                          </a:stretch>
                        </a:blipFill>
                      </a:tcPr>
                    </a:tc>
                    <a:tc>
                      <a:txBody>
                        <a:bodyPr/>
                        <a:lstStyle/>
                        <a:p>
                          <a:endParaRPr lang="es-CO"/>
                        </a:p>
                      </a:txBody>
                      <a:tcPr>
                        <a:blipFill>
                          <a:blip r:embed="rId3"/>
                          <a:stretch>
                            <a:fillRect l="-176354" t="-218182" r="-361" b="-1125455"/>
                          </a:stretch>
                        </a:blipFill>
                      </a:tcPr>
                    </a:tc>
                    <a:extLst>
                      <a:ext uri="{0D108BD9-81ED-4DB2-BD59-A6C34878D82A}">
                        <a16:rowId xmlns:a16="http://schemas.microsoft.com/office/drawing/2014/main" val="1913743916"/>
                      </a:ext>
                    </a:extLst>
                  </a:tr>
                  <a:tr h="335280">
                    <a:tc>
                      <a:txBody>
                        <a:bodyPr/>
                        <a:lstStyle/>
                        <a:p>
                          <a:r>
                            <a:rPr lang="es-CO" sz="1600" b="1" dirty="0">
                              <a:latin typeface="+mn-lt"/>
                              <a:ea typeface="Roboto" panose="02000000000000000000" pitchFamily="2" charset="0"/>
                            </a:rPr>
                            <a:t>Distributividad</a:t>
                          </a:r>
                        </a:p>
                      </a:txBody>
                      <a:tcPr/>
                    </a:tc>
                    <a:tc>
                      <a:txBody>
                        <a:bodyPr/>
                        <a:lstStyle/>
                        <a:p>
                          <a:endParaRPr lang="es-CO"/>
                        </a:p>
                      </a:txBody>
                      <a:tcPr>
                        <a:blipFill>
                          <a:blip r:embed="rId3"/>
                          <a:stretch>
                            <a:fillRect l="-61221" t="-318182" r="-91749" b="-1025455"/>
                          </a:stretch>
                        </a:blipFill>
                      </a:tcPr>
                    </a:tc>
                    <a:tc>
                      <a:txBody>
                        <a:bodyPr/>
                        <a:lstStyle/>
                        <a:p>
                          <a:endParaRPr lang="es-CO"/>
                        </a:p>
                      </a:txBody>
                      <a:tcPr>
                        <a:blipFill>
                          <a:blip r:embed="rId3"/>
                          <a:stretch>
                            <a:fillRect l="-176354" t="-318182" r="-361" b="-1025455"/>
                          </a:stretch>
                        </a:blipFill>
                      </a:tcPr>
                    </a:tc>
                    <a:extLst>
                      <a:ext uri="{0D108BD9-81ED-4DB2-BD59-A6C34878D82A}">
                        <a16:rowId xmlns:a16="http://schemas.microsoft.com/office/drawing/2014/main" val="717401643"/>
                      </a:ext>
                    </a:extLst>
                  </a:tr>
                  <a:tr h="335280">
                    <a:tc>
                      <a:txBody>
                        <a:bodyPr/>
                        <a:lstStyle/>
                        <a:p>
                          <a:r>
                            <a:rPr lang="es-CO" sz="1600" b="1" dirty="0">
                              <a:latin typeface="+mn-lt"/>
                              <a:ea typeface="Roboto" panose="02000000000000000000" pitchFamily="2" charset="0"/>
                            </a:rPr>
                            <a:t>Idempotencia</a:t>
                          </a:r>
                        </a:p>
                      </a:txBody>
                      <a:tcPr/>
                    </a:tc>
                    <a:tc>
                      <a:txBody>
                        <a:bodyPr/>
                        <a:lstStyle/>
                        <a:p>
                          <a:endParaRPr lang="es-CO"/>
                        </a:p>
                      </a:txBody>
                      <a:tcPr>
                        <a:blipFill>
                          <a:blip r:embed="rId3"/>
                          <a:stretch>
                            <a:fillRect l="-61221" t="-418182" r="-91749" b="-925455"/>
                          </a:stretch>
                        </a:blipFill>
                      </a:tcPr>
                    </a:tc>
                    <a:tc>
                      <a:txBody>
                        <a:bodyPr/>
                        <a:lstStyle/>
                        <a:p>
                          <a:endParaRPr lang="es-CO"/>
                        </a:p>
                      </a:txBody>
                      <a:tcPr>
                        <a:blipFill>
                          <a:blip r:embed="rId3"/>
                          <a:stretch>
                            <a:fillRect l="-176354" t="-418182" r="-361" b="-925455"/>
                          </a:stretch>
                        </a:blipFill>
                      </a:tcPr>
                    </a:tc>
                    <a:extLst>
                      <a:ext uri="{0D108BD9-81ED-4DB2-BD59-A6C34878D82A}">
                        <a16:rowId xmlns:a16="http://schemas.microsoft.com/office/drawing/2014/main" val="2246818852"/>
                      </a:ext>
                    </a:extLst>
                  </a:tr>
                  <a:tr h="335280">
                    <a:tc>
                      <a:txBody>
                        <a:bodyPr/>
                        <a:lstStyle/>
                        <a:p>
                          <a:r>
                            <a:rPr lang="es-CO" sz="1600" b="1" dirty="0">
                              <a:latin typeface="+mn-lt"/>
                              <a:ea typeface="Roboto" panose="02000000000000000000" pitchFamily="2" charset="0"/>
                            </a:rPr>
                            <a:t>Doble negación</a:t>
                          </a:r>
                        </a:p>
                      </a:txBody>
                      <a:tcPr/>
                    </a:tc>
                    <a:tc gridSpan="2">
                      <a:txBody>
                        <a:bodyPr/>
                        <a:lstStyle/>
                        <a:p>
                          <a:endParaRPr lang="es-CO"/>
                        </a:p>
                      </a:txBody>
                      <a:tcPr>
                        <a:blipFill>
                          <a:blip r:embed="rId3"/>
                          <a:stretch>
                            <a:fillRect l="-31983" t="-518182" r="-172" b="-825455"/>
                          </a:stretch>
                        </a:blipFill>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88149062"/>
                      </a:ext>
                    </a:extLst>
                  </a:tr>
                  <a:tr h="335280">
                    <a:tc>
                      <a:txBody>
                        <a:bodyPr/>
                        <a:lstStyle/>
                        <a:p>
                          <a:r>
                            <a:rPr lang="es-CO" sz="1600" b="1" dirty="0">
                              <a:latin typeface="+mn-lt"/>
                              <a:ea typeface="Roboto" panose="02000000000000000000" pitchFamily="2" charset="0"/>
                            </a:rPr>
                            <a:t>Leyes de Morgan</a:t>
                          </a:r>
                        </a:p>
                      </a:txBody>
                      <a:tcPr/>
                    </a:tc>
                    <a:tc>
                      <a:txBody>
                        <a:bodyPr/>
                        <a:lstStyle/>
                        <a:p>
                          <a:endParaRPr lang="es-CO"/>
                        </a:p>
                      </a:txBody>
                      <a:tcPr>
                        <a:blipFill>
                          <a:blip r:embed="rId3"/>
                          <a:stretch>
                            <a:fillRect l="-61221" t="-607143" r="-91749" b="-710714"/>
                          </a:stretch>
                        </a:blipFill>
                      </a:tcPr>
                    </a:tc>
                    <a:tc>
                      <a:txBody>
                        <a:bodyPr/>
                        <a:lstStyle/>
                        <a:p>
                          <a:endParaRPr lang="es-CO"/>
                        </a:p>
                      </a:txBody>
                      <a:tcPr>
                        <a:blipFill>
                          <a:blip r:embed="rId3"/>
                          <a:stretch>
                            <a:fillRect l="-176354" t="-607143" r="-361" b="-710714"/>
                          </a:stretch>
                        </a:blipFill>
                      </a:tcPr>
                    </a:tc>
                    <a:extLst>
                      <a:ext uri="{0D108BD9-81ED-4DB2-BD59-A6C34878D82A}">
                        <a16:rowId xmlns:a16="http://schemas.microsoft.com/office/drawing/2014/main" val="2113060234"/>
                      </a:ext>
                    </a:extLst>
                  </a:tr>
                  <a:tr h="335280">
                    <a:tc>
                      <a:txBody>
                        <a:bodyPr/>
                        <a:lstStyle/>
                        <a:p>
                          <a:r>
                            <a:rPr lang="es-CO" sz="1600" b="1" dirty="0">
                              <a:latin typeface="+mn-lt"/>
                              <a:ea typeface="Roboto" panose="02000000000000000000" pitchFamily="2" charset="0"/>
                            </a:rPr>
                            <a:t>Identidad</a:t>
                          </a:r>
                        </a:p>
                      </a:txBody>
                      <a:tcPr/>
                    </a:tc>
                    <a:tc>
                      <a:txBody>
                        <a:bodyPr/>
                        <a:lstStyle/>
                        <a:p>
                          <a:endParaRPr lang="es-CO"/>
                        </a:p>
                      </a:txBody>
                      <a:tcPr>
                        <a:blipFill>
                          <a:blip r:embed="rId3"/>
                          <a:stretch>
                            <a:fillRect l="-61221" t="-720000" r="-91749" b="-623636"/>
                          </a:stretch>
                        </a:blipFill>
                      </a:tcPr>
                    </a:tc>
                    <a:tc>
                      <a:txBody>
                        <a:bodyPr/>
                        <a:lstStyle/>
                        <a:p>
                          <a:endParaRPr lang="es-CO"/>
                        </a:p>
                      </a:txBody>
                      <a:tcPr>
                        <a:blipFill>
                          <a:blip r:embed="rId3"/>
                          <a:stretch>
                            <a:fillRect l="-176354" t="-720000" r="-361" b="-623636"/>
                          </a:stretch>
                        </a:blipFill>
                      </a:tcPr>
                    </a:tc>
                    <a:extLst>
                      <a:ext uri="{0D108BD9-81ED-4DB2-BD59-A6C34878D82A}">
                        <a16:rowId xmlns:a16="http://schemas.microsoft.com/office/drawing/2014/main" val="2494965197"/>
                      </a:ext>
                    </a:extLst>
                  </a:tr>
                  <a:tr h="335280">
                    <a:tc>
                      <a:txBody>
                        <a:bodyPr/>
                        <a:lstStyle/>
                        <a:p>
                          <a:r>
                            <a:rPr lang="es-CO" sz="1600" b="1" dirty="0">
                              <a:latin typeface="+mn-lt"/>
                              <a:ea typeface="Roboto" panose="02000000000000000000" pitchFamily="2" charset="0"/>
                            </a:rPr>
                            <a:t>Dominación</a:t>
                          </a:r>
                        </a:p>
                      </a:txBody>
                      <a:tcPr/>
                    </a:tc>
                    <a:tc>
                      <a:txBody>
                        <a:bodyPr/>
                        <a:lstStyle/>
                        <a:p>
                          <a:endParaRPr lang="es-CO"/>
                        </a:p>
                      </a:txBody>
                      <a:tcPr>
                        <a:blipFill>
                          <a:blip r:embed="rId3"/>
                          <a:stretch>
                            <a:fillRect l="-61221" t="-820000" r="-91749" b="-523636"/>
                          </a:stretch>
                        </a:blipFill>
                      </a:tcPr>
                    </a:tc>
                    <a:tc>
                      <a:txBody>
                        <a:bodyPr/>
                        <a:lstStyle/>
                        <a:p>
                          <a:endParaRPr lang="es-CO"/>
                        </a:p>
                      </a:txBody>
                      <a:tcPr>
                        <a:blipFill>
                          <a:blip r:embed="rId3"/>
                          <a:stretch>
                            <a:fillRect l="-176354" t="-820000" r="-361" b="-523636"/>
                          </a:stretch>
                        </a:blipFill>
                      </a:tcPr>
                    </a:tc>
                    <a:extLst>
                      <a:ext uri="{0D108BD9-81ED-4DB2-BD59-A6C34878D82A}">
                        <a16:rowId xmlns:a16="http://schemas.microsoft.com/office/drawing/2014/main" val="707485840"/>
                      </a:ext>
                    </a:extLst>
                  </a:tr>
                  <a:tr h="335280">
                    <a:tc>
                      <a:txBody>
                        <a:bodyPr/>
                        <a:lstStyle/>
                        <a:p>
                          <a:r>
                            <a:rPr lang="es-CO" sz="1600" b="1" dirty="0">
                              <a:latin typeface="+mn-lt"/>
                              <a:ea typeface="Roboto" panose="02000000000000000000" pitchFamily="2" charset="0"/>
                            </a:rPr>
                            <a:t>Absorción</a:t>
                          </a:r>
                        </a:p>
                      </a:txBody>
                      <a:tcPr/>
                    </a:tc>
                    <a:tc>
                      <a:txBody>
                        <a:bodyPr/>
                        <a:lstStyle/>
                        <a:p>
                          <a:endParaRPr lang="es-CO"/>
                        </a:p>
                      </a:txBody>
                      <a:tcPr>
                        <a:blipFill>
                          <a:blip r:embed="rId3"/>
                          <a:stretch>
                            <a:fillRect l="-61221" t="-920000" r="-91749" b="-423636"/>
                          </a:stretch>
                        </a:blipFill>
                      </a:tcPr>
                    </a:tc>
                    <a:tc>
                      <a:txBody>
                        <a:bodyPr/>
                        <a:lstStyle/>
                        <a:p>
                          <a:endParaRPr lang="es-CO"/>
                        </a:p>
                      </a:txBody>
                      <a:tcPr>
                        <a:blipFill>
                          <a:blip r:embed="rId3"/>
                          <a:stretch>
                            <a:fillRect l="-176354" t="-920000" r="-361" b="-423636"/>
                          </a:stretch>
                        </a:blipFill>
                      </a:tcPr>
                    </a:tc>
                    <a:extLst>
                      <a:ext uri="{0D108BD9-81ED-4DB2-BD59-A6C34878D82A}">
                        <a16:rowId xmlns:a16="http://schemas.microsoft.com/office/drawing/2014/main" val="1232652958"/>
                      </a:ext>
                    </a:extLst>
                  </a:tr>
                  <a:tr h="335280">
                    <a:tc>
                      <a:txBody>
                        <a:bodyPr/>
                        <a:lstStyle/>
                        <a:p>
                          <a:r>
                            <a:rPr lang="es-CO" sz="1600" b="1" dirty="0">
                              <a:latin typeface="+mn-lt"/>
                              <a:ea typeface="Roboto" panose="02000000000000000000" pitchFamily="2" charset="0"/>
                            </a:rPr>
                            <a:t>Complemento</a:t>
                          </a:r>
                        </a:p>
                      </a:txBody>
                      <a:tcPr/>
                    </a:tc>
                    <a:tc>
                      <a:txBody>
                        <a:bodyPr/>
                        <a:lstStyle/>
                        <a:p>
                          <a:endParaRPr lang="es-CO"/>
                        </a:p>
                      </a:txBody>
                      <a:tcPr>
                        <a:blipFill>
                          <a:blip r:embed="rId3"/>
                          <a:stretch>
                            <a:fillRect l="-61221" t="-1020000" r="-91749" b="-323636"/>
                          </a:stretch>
                        </a:blipFill>
                      </a:tcPr>
                    </a:tc>
                    <a:tc>
                      <a:txBody>
                        <a:bodyPr/>
                        <a:lstStyle/>
                        <a:p>
                          <a:endParaRPr lang="es-CO"/>
                        </a:p>
                      </a:txBody>
                      <a:tcPr>
                        <a:blipFill>
                          <a:blip r:embed="rId3"/>
                          <a:stretch>
                            <a:fillRect l="-176354" t="-1020000" r="-361" b="-323636"/>
                          </a:stretch>
                        </a:blipFill>
                      </a:tcPr>
                    </a:tc>
                    <a:extLst>
                      <a:ext uri="{0D108BD9-81ED-4DB2-BD59-A6C34878D82A}">
                        <a16:rowId xmlns:a16="http://schemas.microsoft.com/office/drawing/2014/main" val="3770911309"/>
                      </a:ext>
                    </a:extLst>
                  </a:tr>
                  <a:tr h="335280">
                    <a:tc>
                      <a:txBody>
                        <a:bodyPr/>
                        <a:lstStyle/>
                        <a:p>
                          <a:r>
                            <a:rPr lang="es-CO" sz="1600" b="1" dirty="0">
                              <a:latin typeface="+mn-lt"/>
                              <a:ea typeface="Roboto" panose="02000000000000000000" pitchFamily="2" charset="0"/>
                            </a:rPr>
                            <a:t>Implicación</a:t>
                          </a:r>
                        </a:p>
                      </a:txBody>
                      <a:tcPr/>
                    </a:tc>
                    <a:tc gridSpan="2">
                      <a:txBody>
                        <a:bodyPr/>
                        <a:lstStyle/>
                        <a:p>
                          <a:endParaRPr lang="es-CO"/>
                        </a:p>
                      </a:txBody>
                      <a:tcPr>
                        <a:blipFill>
                          <a:blip r:embed="rId3"/>
                          <a:stretch>
                            <a:fillRect l="-31983" t="-1120000" r="-172" b="-223636"/>
                          </a:stretch>
                        </a:blipFill>
                      </a:tcPr>
                    </a:tc>
                    <a:tc hMerge="1">
                      <a:txBody>
                        <a:bodyPr/>
                        <a:lstStyle/>
                        <a:p>
                          <a:pPr algn="ctr"/>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483938044"/>
                      </a:ext>
                    </a:extLst>
                  </a:tr>
                  <a:tr h="335280">
                    <a:tc>
                      <a:txBody>
                        <a:bodyPr/>
                        <a:lstStyle/>
                        <a:p>
                          <a:r>
                            <a:rPr lang="es-CO" sz="1600" b="1" dirty="0">
                              <a:latin typeface="+mn-lt"/>
                              <a:ea typeface="Roboto" panose="02000000000000000000" pitchFamily="2" charset="0"/>
                            </a:rPr>
                            <a:t>Contrarrecíproco</a:t>
                          </a:r>
                        </a:p>
                      </a:txBody>
                      <a:tcPr/>
                    </a:tc>
                    <a:tc gridSpan="2">
                      <a:txBody>
                        <a:bodyPr/>
                        <a:lstStyle/>
                        <a:p>
                          <a:endParaRPr lang="es-CO"/>
                        </a:p>
                      </a:txBody>
                      <a:tcPr>
                        <a:blipFill>
                          <a:blip r:embed="rId3"/>
                          <a:stretch>
                            <a:fillRect l="-31983" t="-1220000" r="-172" b="-123636"/>
                          </a:stretch>
                        </a:blipFill>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255506134"/>
                      </a:ext>
                    </a:extLst>
                  </a:tr>
                  <a:tr h="335280">
                    <a:tc>
                      <a:txBody>
                        <a:bodyPr/>
                        <a:lstStyle/>
                        <a:p>
                          <a:r>
                            <a:rPr lang="es-CO" sz="1600" b="1" dirty="0">
                              <a:latin typeface="+mn-lt"/>
                              <a:ea typeface="Roboto" panose="02000000000000000000" pitchFamily="2" charset="0"/>
                            </a:rPr>
                            <a:t>Equivalencia</a:t>
                          </a:r>
                        </a:p>
                      </a:txBody>
                      <a:tcPr/>
                    </a:tc>
                    <a:tc gridSpan="2">
                      <a:txBody>
                        <a:bodyPr/>
                        <a:lstStyle/>
                        <a:p>
                          <a:endParaRPr lang="es-CO"/>
                        </a:p>
                      </a:txBody>
                      <a:tcPr>
                        <a:blipFill>
                          <a:blip r:embed="rId3"/>
                          <a:stretch>
                            <a:fillRect l="-31983" t="-1320000" r="-172" b="-23636"/>
                          </a:stretch>
                        </a:blipFill>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0457137"/>
                      </a:ext>
                    </a:extLst>
                  </a:tr>
                </a:tbl>
              </a:graphicData>
            </a:graphic>
          </p:graphicFrame>
        </mc:Fallback>
      </mc:AlternateContent>
      <p:sp>
        <p:nvSpPr>
          <p:cNvPr id="2" name="CuadroTexto 1">
            <a:extLst>
              <a:ext uri="{FF2B5EF4-FFF2-40B4-BE49-F238E27FC236}">
                <a16:creationId xmlns:a16="http://schemas.microsoft.com/office/drawing/2014/main" id="{BF193BB1-6C3F-4ED7-8133-55EF45015CA1}"/>
              </a:ext>
            </a:extLst>
          </p:cNvPr>
          <p:cNvSpPr txBox="1"/>
          <p:nvPr/>
        </p:nvSpPr>
        <p:spPr>
          <a:xfrm>
            <a:off x="375618" y="5889522"/>
            <a:ext cx="11437840" cy="646331"/>
          </a:xfrm>
          <a:prstGeom prst="rect">
            <a:avLst/>
          </a:prstGeom>
          <a:solidFill>
            <a:schemeClr val="bg1">
              <a:lumMod val="95000"/>
            </a:schemeClr>
          </a:solidFill>
        </p:spPr>
        <p:txBody>
          <a:bodyPr wrap="square" rtlCol="0">
            <a:spAutoFit/>
          </a:bodyPr>
          <a:lstStyle/>
          <a:p>
            <a:r>
              <a:rPr lang="es-MX" b="1" dirty="0">
                <a:solidFill>
                  <a:schemeClr val="accent1"/>
                </a:solidFill>
              </a:rPr>
              <a:t>Nota importante</a:t>
            </a:r>
            <a:r>
              <a:rPr lang="es-MX" dirty="0">
                <a:solidFill>
                  <a:schemeClr val="accent1"/>
                </a:solidFill>
              </a:rPr>
              <a:t>:</a:t>
            </a:r>
            <a:r>
              <a:rPr lang="es-MX" dirty="0"/>
              <a:t> Todas las equivalencias </a:t>
            </a:r>
            <a:r>
              <a:rPr lang="es-MX" b="1" dirty="0"/>
              <a:t>lógicas proposicionales</a:t>
            </a:r>
            <a:r>
              <a:rPr lang="es-MX" dirty="0"/>
              <a:t> son válidas en </a:t>
            </a:r>
            <a:r>
              <a:rPr lang="es-MX" b="1" dirty="0"/>
              <a:t>lógica cuantificacional</a:t>
            </a:r>
            <a:r>
              <a:rPr lang="es-MX" dirty="0"/>
              <a:t>, aplicándose a las fórmulas dentro del alcance de los cuantificadores</a:t>
            </a:r>
            <a:endParaRPr lang="es-CO" dirty="0"/>
          </a:p>
        </p:txBody>
      </p:sp>
    </p:spTree>
    <p:extLst>
      <p:ext uri="{BB962C8B-B14F-4D97-AF65-F5344CB8AC3E}">
        <p14:creationId xmlns:p14="http://schemas.microsoft.com/office/powerpoint/2010/main" val="16270449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375618" y="180494"/>
            <a:ext cx="10515600" cy="896139"/>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Equivalencias lógica cuantificacional</a:t>
            </a:r>
            <a:endParaRPr dirty="0"/>
          </a:p>
        </p:txBody>
      </p:sp>
      <mc:AlternateContent xmlns:mc="http://schemas.openxmlformats.org/markup-compatibility/2006" xmlns:a14="http://schemas.microsoft.com/office/drawing/2010/main">
        <mc:Choice Requires="a14">
          <p:graphicFrame>
            <p:nvGraphicFramePr>
              <p:cNvPr id="6" name="Tabla 3">
                <a:extLst>
                  <a:ext uri="{FF2B5EF4-FFF2-40B4-BE49-F238E27FC236}">
                    <a16:creationId xmlns:a16="http://schemas.microsoft.com/office/drawing/2014/main" id="{5C35BED4-E889-47E0-B1A8-F2865BFDE8BB}"/>
                  </a:ext>
                </a:extLst>
              </p:cNvPr>
              <p:cNvGraphicFramePr>
                <a:graphicFrameLocks noGrp="1"/>
              </p:cNvGraphicFramePr>
              <p:nvPr>
                <p:extLst>
                  <p:ext uri="{D42A27DB-BD31-4B8C-83A1-F6EECF244321}">
                    <p14:modId xmlns:p14="http://schemas.microsoft.com/office/powerpoint/2010/main" val="4049639178"/>
                  </p:ext>
                </p:extLst>
              </p:nvPr>
            </p:nvGraphicFramePr>
            <p:xfrm>
              <a:off x="501445" y="914881"/>
              <a:ext cx="11314937" cy="5644296"/>
            </p:xfrm>
            <a:graphic>
              <a:graphicData uri="http://schemas.openxmlformats.org/drawingml/2006/table">
                <a:tbl>
                  <a:tblPr firstRow="1" bandRow="1">
                    <a:tableStyleId>{AD6A3598-7CB8-4345-8D95-17CE05F158A0}</a:tableStyleId>
                  </a:tblPr>
                  <a:tblGrid>
                    <a:gridCol w="6076336">
                      <a:extLst>
                        <a:ext uri="{9D8B030D-6E8A-4147-A177-3AD203B41FA5}">
                          <a16:colId xmlns:a16="http://schemas.microsoft.com/office/drawing/2014/main" val="2419793140"/>
                        </a:ext>
                      </a:extLst>
                    </a:gridCol>
                    <a:gridCol w="5238601">
                      <a:extLst>
                        <a:ext uri="{9D8B030D-6E8A-4147-A177-3AD203B41FA5}">
                          <a16:colId xmlns:a16="http://schemas.microsoft.com/office/drawing/2014/main" val="2761119023"/>
                        </a:ext>
                      </a:extLst>
                    </a:gridCol>
                  </a:tblGrid>
                  <a:tr h="0">
                    <a:tc>
                      <a:txBody>
                        <a:bodyPr/>
                        <a:lstStyle/>
                        <a:p>
                          <a:r>
                            <a:rPr lang="es-CO" sz="1800" b="1" dirty="0">
                              <a:latin typeface="+mn-lt"/>
                              <a:ea typeface="Roboto" panose="02000000000000000000" pitchFamily="2" charset="0"/>
                            </a:rPr>
                            <a:t>Nombre</a:t>
                          </a:r>
                        </a:p>
                      </a:txBody>
                      <a:tcPr>
                        <a:solidFill>
                          <a:schemeClr val="bg1">
                            <a:lumMod val="95000"/>
                          </a:schemeClr>
                        </a:solidFill>
                      </a:tcPr>
                    </a:tc>
                    <a:tc>
                      <a:txBody>
                        <a:bodyPr/>
                        <a:lstStyle/>
                        <a:p>
                          <a:pPr algn="ctr"/>
                          <a:r>
                            <a:rPr lang="es-CO" sz="1800" b="1" dirty="0">
                              <a:latin typeface="+mn-lt"/>
                              <a:ea typeface="Roboto" panose="02000000000000000000" pitchFamily="2" charset="0"/>
                            </a:rPr>
                            <a:t>Equivalencia lógica</a:t>
                          </a:r>
                        </a:p>
                      </a:txBody>
                      <a:tcPr>
                        <a:solidFill>
                          <a:schemeClr val="bg1">
                            <a:lumMod val="95000"/>
                          </a:schemeClr>
                        </a:solidFill>
                      </a:tcPr>
                    </a:tc>
                    <a:extLst>
                      <a:ext uri="{0D108BD9-81ED-4DB2-BD59-A6C34878D82A}">
                        <a16:rowId xmlns:a16="http://schemas.microsoft.com/office/drawing/2014/main" val="1624526593"/>
                      </a:ext>
                    </a:extLst>
                  </a:tr>
                  <a:tr h="461476">
                    <a:tc>
                      <a:txBody>
                        <a:bodyPr/>
                        <a:lstStyle/>
                        <a:p>
                          <a:r>
                            <a:rPr lang="es-MX" sz="1800" b="0" dirty="0">
                              <a:latin typeface="+mn-lt"/>
                              <a:ea typeface="Roboto" panose="02000000000000000000" pitchFamily="2" charset="0"/>
                            </a:rPr>
                            <a:t>Negación de cuantificadores (De Morgan cuántico)</a:t>
                          </a:r>
                        </a:p>
                      </a:txBody>
                      <a:tcPr anchor="ct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oMath>
                            </m:oMathPara>
                          </a14:m>
                          <a:endParaRPr lang="es-MX" sz="1600" b="0" i="1" dirty="0">
                            <a:latin typeface="Cambria Math" panose="02040503050406030204" pitchFamily="18" charset="0"/>
                            <a:ea typeface="Roboto" panose="02000000000000000000" pitchFamily="2" charset="0"/>
                          </a:endParaRPr>
                        </a:p>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oMath>
                            </m:oMathPara>
                          </a14:m>
                          <a:endParaRPr lang="es-MX" sz="1600" b="0" i="1" dirty="0">
                            <a:latin typeface="Cambria Math" panose="02040503050406030204" pitchFamily="18" charset="0"/>
                            <a:ea typeface="Roboto" panose="02000000000000000000" pitchFamily="2" charset="0"/>
                          </a:endParaRPr>
                        </a:p>
                      </a:txBody>
                      <a:tcPr anchor="ctr">
                        <a:solidFill>
                          <a:schemeClr val="bg1"/>
                        </a:solidFill>
                      </a:tcPr>
                    </a:tc>
                    <a:extLst>
                      <a:ext uri="{0D108BD9-81ED-4DB2-BD59-A6C34878D82A}">
                        <a16:rowId xmlns:a16="http://schemas.microsoft.com/office/drawing/2014/main" val="3154515760"/>
                      </a:ext>
                    </a:extLst>
                  </a:tr>
                  <a:tr h="490318">
                    <a:tc>
                      <a:txBody>
                        <a:bodyPr/>
                        <a:lstStyle/>
                        <a:p>
                          <a:r>
                            <a:rPr lang="es-MX" sz="1800" b="0" dirty="0">
                              <a:latin typeface="+mn-lt"/>
                              <a:ea typeface="Roboto" panose="02000000000000000000" pitchFamily="2" charset="0"/>
                            </a:rPr>
                            <a:t>Distributividad del cuantificador universal sobre la conjunción</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𝑄</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oMath>
                            </m:oMathPara>
                          </a14:m>
                          <a:endParaRPr lang="es-CO" sz="1600" dirty="0">
                            <a:latin typeface="Roboto" panose="02000000000000000000" pitchFamily="2" charset="0"/>
                            <a:ea typeface="Roboto" panose="02000000000000000000" pitchFamily="2" charset="0"/>
                          </a:endParaRPr>
                        </a:p>
                      </a:txBody>
                      <a:tcPr anchor="ctr">
                        <a:solidFill>
                          <a:schemeClr val="bg1"/>
                        </a:solidFill>
                      </a:tcPr>
                    </a:tc>
                    <a:extLst>
                      <a:ext uri="{0D108BD9-81ED-4DB2-BD59-A6C34878D82A}">
                        <a16:rowId xmlns:a16="http://schemas.microsoft.com/office/drawing/2014/main" val="1913743916"/>
                      </a:ext>
                    </a:extLst>
                  </a:tr>
                  <a:tr h="49031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800" b="0" dirty="0">
                              <a:latin typeface="+mn-lt"/>
                              <a:ea typeface="Roboto" panose="02000000000000000000" pitchFamily="2" charset="0"/>
                            </a:rPr>
                            <a:t>Distributividad (en un solo sentido) del cuantificador universal sobre la disyunción</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𝑄</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oMath>
                            </m:oMathPara>
                          </a14:m>
                          <a:endParaRPr lang="es-CO" sz="16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latin typeface="Roboto" panose="02000000000000000000" pitchFamily="2" charset="0"/>
                            <a:ea typeface="Roboto" panose="02000000000000000000" pitchFamily="2" charset="0"/>
                          </a:endParaRPr>
                        </a:p>
                      </a:txBody>
                      <a:tcPr anchor="ctr">
                        <a:solidFill>
                          <a:schemeClr val="bg1"/>
                        </a:solidFill>
                      </a:tcPr>
                    </a:tc>
                    <a:extLst>
                      <a:ext uri="{0D108BD9-81ED-4DB2-BD59-A6C34878D82A}">
                        <a16:rowId xmlns:a16="http://schemas.microsoft.com/office/drawing/2014/main" val="2329748753"/>
                      </a:ext>
                    </a:extLst>
                  </a:tr>
                  <a:tr h="490318">
                    <a:tc>
                      <a:txBody>
                        <a:bodyPr/>
                        <a:lstStyle/>
                        <a:p>
                          <a:r>
                            <a:rPr lang="es-MX" sz="1800" b="0" dirty="0">
                              <a:latin typeface="+mn-lt"/>
                              <a:ea typeface="Roboto" panose="02000000000000000000" pitchFamily="2" charset="0"/>
                            </a:rPr>
                            <a:t>Distributividad del cuantificador existencial sobre la disyunción</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𝑄</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oMath>
                            </m:oMathPara>
                          </a14:m>
                          <a:endParaRPr lang="es-CO" sz="16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latin typeface="Roboto" panose="02000000000000000000" pitchFamily="2" charset="0"/>
                            <a:ea typeface="Roboto" panose="02000000000000000000" pitchFamily="2" charset="0"/>
                          </a:endParaRPr>
                        </a:p>
                      </a:txBody>
                      <a:tcPr anchor="ctr">
                        <a:solidFill>
                          <a:schemeClr val="bg1"/>
                        </a:solidFill>
                      </a:tcPr>
                    </a:tc>
                    <a:extLst>
                      <a:ext uri="{0D108BD9-81ED-4DB2-BD59-A6C34878D82A}">
                        <a16:rowId xmlns:a16="http://schemas.microsoft.com/office/drawing/2014/main" val="717401643"/>
                      </a:ext>
                    </a:extLst>
                  </a:tr>
                  <a:tr h="490318">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800" b="0" dirty="0">
                              <a:latin typeface="+mn-lt"/>
                              <a:ea typeface="Roboto" panose="02000000000000000000" pitchFamily="2" charset="0"/>
                            </a:rPr>
                            <a:t>Distributividad (en un solo sentido) del cuantificador existencial sobre la conjunción</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𝑄</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oMath>
                            </m:oMathPara>
                          </a14:m>
                          <a:endParaRPr lang="es-CO" sz="16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latin typeface="Roboto" panose="02000000000000000000" pitchFamily="2" charset="0"/>
                            <a:ea typeface="Roboto" panose="02000000000000000000" pitchFamily="2" charset="0"/>
                          </a:endParaRPr>
                        </a:p>
                      </a:txBody>
                      <a:tcPr anchor="ctr">
                        <a:solidFill>
                          <a:schemeClr val="bg1"/>
                        </a:solidFill>
                      </a:tcPr>
                    </a:tc>
                    <a:extLst>
                      <a:ext uri="{0D108BD9-81ED-4DB2-BD59-A6C34878D82A}">
                        <a16:rowId xmlns:a16="http://schemas.microsoft.com/office/drawing/2014/main" val="1263083683"/>
                      </a:ext>
                    </a:extLst>
                  </a:tr>
                  <a:tr h="1072210">
                    <a:tc>
                      <a:txBody>
                        <a:bodyPr/>
                        <a:lstStyle/>
                        <a:p>
                          <a:r>
                            <a:rPr lang="es-CO" sz="1800" b="0" dirty="0">
                              <a:latin typeface="+mn-lt"/>
                              <a:ea typeface="Roboto" panose="02000000000000000000" pitchFamily="2" charset="0"/>
                            </a:rPr>
                            <a:t>Distribución de cuantificadores (restricciones)</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dirty="0">
                              <a:latin typeface="Roboto" panose="02000000000000000000" pitchFamily="2" charset="0"/>
                              <a:ea typeface="Roboto" panose="02000000000000000000" pitchFamily="2" charset="0"/>
                            </a:rPr>
                            <a:t>Si la formula </a:t>
                          </a:r>
                          <a14:m>
                            <m:oMath xmlns:m="http://schemas.openxmlformats.org/officeDocument/2006/math">
                              <m:r>
                                <a:rPr lang="es-MX" sz="1600" b="0" i="1" smtClean="0">
                                  <a:latin typeface="Cambria Math" panose="02040503050406030204" pitchFamily="18" charset="0"/>
                                  <a:ea typeface="Roboto" panose="02000000000000000000" pitchFamily="2" charset="0"/>
                                </a:rPr>
                                <m:t>𝑄</m:t>
                              </m:r>
                            </m:oMath>
                          </a14:m>
                          <a:r>
                            <a:rPr lang="es-CO" sz="1600" dirty="0">
                              <a:latin typeface="Roboto" panose="02000000000000000000" pitchFamily="2" charset="0"/>
                              <a:ea typeface="Roboto" panose="02000000000000000000" pitchFamily="2" charset="0"/>
                            </a:rPr>
                            <a:t> no contiene</a:t>
                          </a:r>
                          <a:r>
                            <a:rPr lang="es-CO" sz="1600" baseline="0" dirty="0">
                              <a:latin typeface="Roboto" panose="02000000000000000000" pitchFamily="2" charset="0"/>
                              <a:ea typeface="Roboto" panose="02000000000000000000" pitchFamily="2" charset="0"/>
                            </a:rPr>
                            <a:t> la variable cuantificada </a:t>
                          </a:r>
                          <a14:m>
                            <m:oMath xmlns:m="http://schemas.openxmlformats.org/officeDocument/2006/math">
                              <m:r>
                                <a:rPr lang="es-MX" sz="1600" b="0" i="1" smtClean="0">
                                  <a:latin typeface="Cambria Math" panose="02040503050406030204" pitchFamily="18" charset="0"/>
                                  <a:ea typeface="Roboto" panose="02000000000000000000" pitchFamily="2" charset="0"/>
                                </a:rPr>
                                <m:t>𝑥</m:t>
                              </m:r>
                            </m:oMath>
                          </a14:m>
                          <a:r>
                            <a:rPr lang="es-CO" sz="1600" dirty="0">
                              <a:latin typeface="Roboto" panose="02000000000000000000" pitchFamily="2" charset="0"/>
                              <a:ea typeface="Roboto" panose="02000000000000000000" pitchFamily="2" charset="0"/>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oMath>
                            </m:oMathPara>
                          </a14:m>
                          <a:endParaRPr lang="es-MX" sz="1600" b="0" i="1" dirty="0">
                            <a:latin typeface="Cambria Math" panose="02040503050406030204" pitchFamily="18"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e>
                                    </m:d>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oMath>
                            </m:oMathPara>
                          </a14:m>
                          <a:endParaRPr lang="es-CO" sz="16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latin typeface="Roboto" panose="02000000000000000000" pitchFamily="2" charset="0"/>
                            <a:ea typeface="Roboto" panose="02000000000000000000" pitchFamily="2" charset="0"/>
                          </a:endParaRPr>
                        </a:p>
                      </a:txBody>
                      <a:tcPr anchor="ctr">
                        <a:solidFill>
                          <a:schemeClr val="bg1"/>
                        </a:solidFill>
                      </a:tcPr>
                    </a:tc>
                    <a:extLst>
                      <a:ext uri="{0D108BD9-81ED-4DB2-BD59-A6C34878D82A}">
                        <a16:rowId xmlns:a16="http://schemas.microsoft.com/office/drawing/2014/main" val="2246818852"/>
                      </a:ext>
                    </a:extLst>
                  </a:tr>
                  <a:tr h="461476">
                    <a:tc>
                      <a:txBody>
                        <a:bodyPr/>
                        <a:lstStyle/>
                        <a:p>
                          <a:r>
                            <a:rPr lang="es-MX" sz="1800" b="0" i="0" u="none" strike="noStrike" cap="none" dirty="0">
                              <a:solidFill>
                                <a:srgbClr val="000000"/>
                              </a:solidFill>
                              <a:latin typeface="+mn-lt"/>
                              <a:ea typeface="Roboto" panose="02000000000000000000" pitchFamily="2" charset="0"/>
                              <a:cs typeface="Arial"/>
                              <a:sym typeface="Arial"/>
                            </a:rPr>
                            <a:t>Intercambio del orden de cuantificadores iguales</a:t>
                          </a:r>
                        </a:p>
                      </a:txBody>
                      <a:tcPr anchor="ct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𝑦</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𝑦</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𝑦</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𝑦</m:t>
                                    </m:r>
                                  </m:e>
                                </m:d>
                              </m:oMath>
                            </m:oMathPara>
                          </a14:m>
                          <a:endParaRPr lang="es-MX" sz="1600" b="0" i="1" dirty="0">
                            <a:latin typeface="Cambria Math" panose="02040503050406030204" pitchFamily="18" charset="0"/>
                            <a:ea typeface="Roboto" panose="02000000000000000000" pitchFamily="2" charset="0"/>
                          </a:endParaRPr>
                        </a:p>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𝑦</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𝑦</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𝑦</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𝑦</m:t>
                                    </m:r>
                                  </m:e>
                                </m:d>
                              </m:oMath>
                            </m:oMathPara>
                          </a14:m>
                          <a:endParaRPr lang="es-MX" sz="1600" b="0" i="1" dirty="0">
                            <a:latin typeface="Cambria Math" panose="02040503050406030204" pitchFamily="18" charset="0"/>
                            <a:ea typeface="Roboto" panose="02000000000000000000" pitchFamily="2" charset="0"/>
                          </a:endParaRPr>
                        </a:p>
                      </a:txBody>
                      <a:tcPr anchor="ctr">
                        <a:solidFill>
                          <a:schemeClr val="bg1"/>
                        </a:solidFill>
                      </a:tcPr>
                    </a:tc>
                    <a:extLst>
                      <a:ext uri="{0D108BD9-81ED-4DB2-BD59-A6C34878D82A}">
                        <a16:rowId xmlns:a16="http://schemas.microsoft.com/office/drawing/2014/main" val="1684315241"/>
                      </a:ext>
                    </a:extLst>
                  </a:tr>
                  <a:tr h="362910">
                    <a:tc>
                      <a:txBody>
                        <a:bodyPr/>
                        <a:lstStyle/>
                        <a:p>
                          <a:r>
                            <a:rPr lang="es-MX" sz="1800" b="0" dirty="0">
                              <a:latin typeface="+mn-lt"/>
                              <a:ea typeface="Roboto" panose="02000000000000000000" pitchFamily="2" charset="0"/>
                            </a:rPr>
                            <a:t>No conmutatividad entre cuantificadores diferentes</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𝑦𝑃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𝑦</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𝑦</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𝑃</m:t>
                                </m:r>
                                <m:d>
                                  <m:dPr>
                                    <m:ctrlPr>
                                      <a:rPr lang="es-MX" sz="1600" b="0" i="1" smtClean="0">
                                        <a:latin typeface="Cambria Math" panose="02040503050406030204" pitchFamily="18" charset="0"/>
                                        <a:ea typeface="Roboto" panose="02000000000000000000" pitchFamily="2" charset="0"/>
                                      </a:rPr>
                                    </m:ctrlPr>
                                  </m:dPr>
                                  <m:e>
                                    <m:r>
                                      <a:rPr lang="es-MX" sz="1600" b="0" i="1" smtClean="0">
                                        <a:latin typeface="Cambria Math" panose="02040503050406030204" pitchFamily="18" charset="0"/>
                                        <a:ea typeface="Roboto" panose="02000000000000000000" pitchFamily="2" charset="0"/>
                                      </a:rPr>
                                      <m:t>𝑥</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𝑦</m:t>
                                    </m:r>
                                  </m:e>
                                </m:d>
                              </m:oMath>
                            </m:oMathPara>
                          </a14:m>
                          <a:endParaRPr lang="es-CO" sz="1600" dirty="0">
                            <a:latin typeface="Roboto" panose="02000000000000000000" pitchFamily="2" charset="0"/>
                            <a:ea typeface="Roboto" panose="02000000000000000000" pitchFamily="2" charset="0"/>
                          </a:endParaRPr>
                        </a:p>
                      </a:txBody>
                      <a:tcPr anchor="ctr">
                        <a:solidFill>
                          <a:schemeClr val="bg1"/>
                        </a:solidFill>
                      </a:tcPr>
                    </a:tc>
                    <a:extLst>
                      <a:ext uri="{0D108BD9-81ED-4DB2-BD59-A6C34878D82A}">
                        <a16:rowId xmlns:a16="http://schemas.microsoft.com/office/drawing/2014/main" val="2582935017"/>
                      </a:ext>
                    </a:extLst>
                  </a:tr>
                </a:tbl>
              </a:graphicData>
            </a:graphic>
          </p:graphicFrame>
        </mc:Choice>
        <mc:Fallback xmlns="">
          <p:graphicFrame>
            <p:nvGraphicFramePr>
              <p:cNvPr id="6" name="Tabla 3">
                <a:extLst>
                  <a:ext uri="{FF2B5EF4-FFF2-40B4-BE49-F238E27FC236}">
                    <a16:creationId xmlns:a16="http://schemas.microsoft.com/office/drawing/2014/main" id="{5C35BED4-E889-47E0-B1A8-F2865BFDE8BB}"/>
                  </a:ext>
                </a:extLst>
              </p:cNvPr>
              <p:cNvGraphicFramePr>
                <a:graphicFrameLocks noGrp="1"/>
              </p:cNvGraphicFramePr>
              <p:nvPr>
                <p:extLst>
                  <p:ext uri="{D42A27DB-BD31-4B8C-83A1-F6EECF244321}">
                    <p14:modId xmlns:p14="http://schemas.microsoft.com/office/powerpoint/2010/main" val="4049639178"/>
                  </p:ext>
                </p:extLst>
              </p:nvPr>
            </p:nvGraphicFramePr>
            <p:xfrm>
              <a:off x="501445" y="914881"/>
              <a:ext cx="11314937" cy="5644296"/>
            </p:xfrm>
            <a:graphic>
              <a:graphicData uri="http://schemas.openxmlformats.org/drawingml/2006/table">
                <a:tbl>
                  <a:tblPr firstRow="1" bandRow="1">
                    <a:tableStyleId>{AD6A3598-7CB8-4345-8D95-17CE05F158A0}</a:tableStyleId>
                  </a:tblPr>
                  <a:tblGrid>
                    <a:gridCol w="6076336">
                      <a:extLst>
                        <a:ext uri="{9D8B030D-6E8A-4147-A177-3AD203B41FA5}">
                          <a16:colId xmlns:a16="http://schemas.microsoft.com/office/drawing/2014/main" val="2419793140"/>
                        </a:ext>
                      </a:extLst>
                    </a:gridCol>
                    <a:gridCol w="5238601">
                      <a:extLst>
                        <a:ext uri="{9D8B030D-6E8A-4147-A177-3AD203B41FA5}">
                          <a16:colId xmlns:a16="http://schemas.microsoft.com/office/drawing/2014/main" val="2761119023"/>
                        </a:ext>
                      </a:extLst>
                    </a:gridCol>
                  </a:tblGrid>
                  <a:tr h="365760">
                    <a:tc>
                      <a:txBody>
                        <a:bodyPr/>
                        <a:lstStyle/>
                        <a:p>
                          <a:r>
                            <a:rPr lang="es-CO" sz="1800" b="1" dirty="0">
                              <a:latin typeface="+mn-lt"/>
                              <a:ea typeface="Roboto" panose="02000000000000000000" pitchFamily="2" charset="0"/>
                            </a:rPr>
                            <a:t>Nombre</a:t>
                          </a:r>
                        </a:p>
                      </a:txBody>
                      <a:tcPr>
                        <a:solidFill>
                          <a:schemeClr val="bg1">
                            <a:lumMod val="95000"/>
                          </a:schemeClr>
                        </a:solidFill>
                      </a:tcPr>
                    </a:tc>
                    <a:tc>
                      <a:txBody>
                        <a:bodyPr/>
                        <a:lstStyle/>
                        <a:p>
                          <a:pPr algn="ctr"/>
                          <a:r>
                            <a:rPr lang="es-CO" sz="1800" b="1" dirty="0">
                              <a:latin typeface="+mn-lt"/>
                              <a:ea typeface="Roboto" panose="02000000000000000000" pitchFamily="2" charset="0"/>
                            </a:rPr>
                            <a:t>Equivalencia lógica</a:t>
                          </a:r>
                        </a:p>
                      </a:txBody>
                      <a:tcPr>
                        <a:solidFill>
                          <a:schemeClr val="bg1">
                            <a:lumMod val="95000"/>
                          </a:schemeClr>
                        </a:solidFill>
                      </a:tcPr>
                    </a:tc>
                    <a:extLst>
                      <a:ext uri="{0D108BD9-81ED-4DB2-BD59-A6C34878D82A}">
                        <a16:rowId xmlns:a16="http://schemas.microsoft.com/office/drawing/2014/main" val="1624526593"/>
                      </a:ext>
                    </a:extLst>
                  </a:tr>
                  <a:tr h="579120">
                    <a:tc>
                      <a:txBody>
                        <a:bodyPr/>
                        <a:lstStyle/>
                        <a:p>
                          <a:r>
                            <a:rPr lang="es-MX" sz="1800" b="0" dirty="0">
                              <a:latin typeface="+mn-lt"/>
                              <a:ea typeface="Roboto" panose="02000000000000000000" pitchFamily="2" charset="0"/>
                            </a:rPr>
                            <a:t>Negación de cuantificadores (De Morgan cuántico)</a:t>
                          </a:r>
                        </a:p>
                      </a:txBody>
                      <a:tcPr anchor="ctr">
                        <a:solidFill>
                          <a:schemeClr val="bg1"/>
                        </a:solidFill>
                      </a:tcPr>
                    </a:tc>
                    <a:tc>
                      <a:txBody>
                        <a:bodyPr/>
                        <a:lstStyle/>
                        <a:p>
                          <a:endParaRPr lang="es-CO"/>
                        </a:p>
                      </a:txBody>
                      <a:tcPr anchor="ctr">
                        <a:blipFill>
                          <a:blip r:embed="rId3"/>
                          <a:stretch>
                            <a:fillRect l="-116047" t="-68421" r="-116" b="-828421"/>
                          </a:stretch>
                        </a:blipFill>
                      </a:tcPr>
                    </a:tc>
                    <a:extLst>
                      <a:ext uri="{0D108BD9-81ED-4DB2-BD59-A6C34878D82A}">
                        <a16:rowId xmlns:a16="http://schemas.microsoft.com/office/drawing/2014/main" val="3154515760"/>
                      </a:ext>
                    </a:extLst>
                  </a:tr>
                  <a:tr h="490318">
                    <a:tc>
                      <a:txBody>
                        <a:bodyPr/>
                        <a:lstStyle/>
                        <a:p>
                          <a:r>
                            <a:rPr lang="es-MX" sz="1800" b="0" dirty="0">
                              <a:latin typeface="+mn-lt"/>
                              <a:ea typeface="Roboto" panose="02000000000000000000" pitchFamily="2" charset="0"/>
                            </a:rPr>
                            <a:t>Distributividad del cuantificador universal sobre la conjunción</a:t>
                          </a:r>
                        </a:p>
                      </a:txBody>
                      <a:tcPr anchor="ctr">
                        <a:solidFill>
                          <a:schemeClr val="bg1"/>
                        </a:solidFill>
                      </a:tcPr>
                    </a:tc>
                    <a:tc>
                      <a:txBody>
                        <a:bodyPr/>
                        <a:lstStyle/>
                        <a:p>
                          <a:endParaRPr lang="es-CO"/>
                        </a:p>
                      </a:txBody>
                      <a:tcPr anchor="ctr">
                        <a:blipFill>
                          <a:blip r:embed="rId3"/>
                          <a:stretch>
                            <a:fillRect l="-116047" t="-200000" r="-116" b="-883750"/>
                          </a:stretch>
                        </a:blipFill>
                      </a:tcPr>
                    </a:tc>
                    <a:extLst>
                      <a:ext uri="{0D108BD9-81ED-4DB2-BD59-A6C34878D82A}">
                        <a16:rowId xmlns:a16="http://schemas.microsoft.com/office/drawing/2014/main" val="1913743916"/>
                      </a:ext>
                    </a:extLst>
                  </a:tr>
                  <a:tr h="64008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800" b="0" dirty="0">
                              <a:latin typeface="+mn-lt"/>
                              <a:ea typeface="Roboto" panose="02000000000000000000" pitchFamily="2" charset="0"/>
                            </a:rPr>
                            <a:t>Distributividad (en un solo sentido) del cuantificador universal sobre la disyunción</a:t>
                          </a:r>
                        </a:p>
                      </a:txBody>
                      <a:tcPr anchor="ctr">
                        <a:solidFill>
                          <a:schemeClr val="bg1"/>
                        </a:solidFill>
                      </a:tcPr>
                    </a:tc>
                    <a:tc>
                      <a:txBody>
                        <a:bodyPr/>
                        <a:lstStyle/>
                        <a:p>
                          <a:endParaRPr lang="es-CO"/>
                        </a:p>
                      </a:txBody>
                      <a:tcPr anchor="ctr">
                        <a:blipFill>
                          <a:blip r:embed="rId3"/>
                          <a:stretch>
                            <a:fillRect l="-116047" t="-228571" r="-116" b="-573333"/>
                          </a:stretch>
                        </a:blipFill>
                      </a:tcPr>
                    </a:tc>
                    <a:extLst>
                      <a:ext uri="{0D108BD9-81ED-4DB2-BD59-A6C34878D82A}">
                        <a16:rowId xmlns:a16="http://schemas.microsoft.com/office/drawing/2014/main" val="2329748753"/>
                      </a:ext>
                    </a:extLst>
                  </a:tr>
                  <a:tr h="610553">
                    <a:tc>
                      <a:txBody>
                        <a:bodyPr/>
                        <a:lstStyle/>
                        <a:p>
                          <a:r>
                            <a:rPr lang="es-MX" sz="1800" b="0" dirty="0">
                              <a:latin typeface="+mn-lt"/>
                              <a:ea typeface="Roboto" panose="02000000000000000000" pitchFamily="2" charset="0"/>
                            </a:rPr>
                            <a:t>Distributividad del cuantificador existencial sobre la disyunción</a:t>
                          </a:r>
                        </a:p>
                      </a:txBody>
                      <a:tcPr anchor="ctr">
                        <a:solidFill>
                          <a:schemeClr val="bg1"/>
                        </a:solidFill>
                      </a:tcPr>
                    </a:tc>
                    <a:tc>
                      <a:txBody>
                        <a:bodyPr/>
                        <a:lstStyle/>
                        <a:p>
                          <a:endParaRPr lang="es-CO"/>
                        </a:p>
                      </a:txBody>
                      <a:tcPr anchor="ctr">
                        <a:blipFill>
                          <a:blip r:embed="rId3"/>
                          <a:stretch>
                            <a:fillRect l="-116047" t="-341584" r="-116" b="-496040"/>
                          </a:stretch>
                        </a:blipFill>
                      </a:tcPr>
                    </a:tc>
                    <a:extLst>
                      <a:ext uri="{0D108BD9-81ED-4DB2-BD59-A6C34878D82A}">
                        <a16:rowId xmlns:a16="http://schemas.microsoft.com/office/drawing/2014/main" val="717401643"/>
                      </a:ext>
                    </a:extLst>
                  </a:tr>
                  <a:tr h="64008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800" b="0" dirty="0">
                              <a:latin typeface="+mn-lt"/>
                              <a:ea typeface="Roboto" panose="02000000000000000000" pitchFamily="2" charset="0"/>
                            </a:rPr>
                            <a:t>Distributividad (en un solo sentido) del cuantificador existencial sobre la conjunción</a:t>
                          </a:r>
                        </a:p>
                      </a:txBody>
                      <a:tcPr anchor="ctr">
                        <a:solidFill>
                          <a:schemeClr val="bg1"/>
                        </a:solidFill>
                      </a:tcPr>
                    </a:tc>
                    <a:tc>
                      <a:txBody>
                        <a:bodyPr/>
                        <a:lstStyle/>
                        <a:p>
                          <a:endParaRPr lang="es-CO"/>
                        </a:p>
                      </a:txBody>
                      <a:tcPr anchor="ctr">
                        <a:blipFill>
                          <a:blip r:embed="rId3"/>
                          <a:stretch>
                            <a:fillRect l="-116047" t="-424762" r="-116" b="-377143"/>
                          </a:stretch>
                        </a:blipFill>
                      </a:tcPr>
                    </a:tc>
                    <a:extLst>
                      <a:ext uri="{0D108BD9-81ED-4DB2-BD59-A6C34878D82A}">
                        <a16:rowId xmlns:a16="http://schemas.microsoft.com/office/drawing/2014/main" val="1263083683"/>
                      </a:ext>
                    </a:extLst>
                  </a:tr>
                  <a:tr h="1373505">
                    <a:tc>
                      <a:txBody>
                        <a:bodyPr/>
                        <a:lstStyle/>
                        <a:p>
                          <a:r>
                            <a:rPr lang="es-CO" sz="1800" b="0" dirty="0">
                              <a:latin typeface="+mn-lt"/>
                              <a:ea typeface="Roboto" panose="02000000000000000000" pitchFamily="2" charset="0"/>
                            </a:rPr>
                            <a:t>Distribución de cuantificadores (restricciones)</a:t>
                          </a:r>
                        </a:p>
                      </a:txBody>
                      <a:tcPr anchor="ctr">
                        <a:solidFill>
                          <a:schemeClr val="bg1"/>
                        </a:solidFill>
                      </a:tcPr>
                    </a:tc>
                    <a:tc>
                      <a:txBody>
                        <a:bodyPr/>
                        <a:lstStyle/>
                        <a:p>
                          <a:endParaRPr lang="es-CO"/>
                        </a:p>
                      </a:txBody>
                      <a:tcPr anchor="ctr">
                        <a:blipFill>
                          <a:blip r:embed="rId3"/>
                          <a:stretch>
                            <a:fillRect l="-116047" t="-244889" r="-116" b="-76000"/>
                          </a:stretch>
                        </a:blipFill>
                      </a:tcPr>
                    </a:tc>
                    <a:extLst>
                      <a:ext uri="{0D108BD9-81ED-4DB2-BD59-A6C34878D82A}">
                        <a16:rowId xmlns:a16="http://schemas.microsoft.com/office/drawing/2014/main" val="2246818852"/>
                      </a:ext>
                    </a:extLst>
                  </a:tr>
                  <a:tr h="579120">
                    <a:tc>
                      <a:txBody>
                        <a:bodyPr/>
                        <a:lstStyle/>
                        <a:p>
                          <a:r>
                            <a:rPr lang="es-MX" sz="1800" b="0" i="0" u="none" strike="noStrike" cap="none" dirty="0">
                              <a:solidFill>
                                <a:srgbClr val="000000"/>
                              </a:solidFill>
                              <a:latin typeface="+mn-lt"/>
                              <a:ea typeface="Roboto" panose="02000000000000000000" pitchFamily="2" charset="0"/>
                              <a:cs typeface="Arial"/>
                              <a:sym typeface="Arial"/>
                            </a:rPr>
                            <a:t>Intercambio del orden de cuantificadores iguales</a:t>
                          </a:r>
                        </a:p>
                      </a:txBody>
                      <a:tcPr anchor="ctr">
                        <a:solidFill>
                          <a:schemeClr val="bg1"/>
                        </a:solidFill>
                      </a:tcPr>
                    </a:tc>
                    <a:tc>
                      <a:txBody>
                        <a:bodyPr/>
                        <a:lstStyle/>
                        <a:p>
                          <a:endParaRPr lang="es-CO"/>
                        </a:p>
                      </a:txBody>
                      <a:tcPr anchor="ctr">
                        <a:blipFill>
                          <a:blip r:embed="rId3"/>
                          <a:stretch>
                            <a:fillRect l="-116047" t="-816842" r="-116" b="-80000"/>
                          </a:stretch>
                        </a:blipFill>
                      </a:tcPr>
                    </a:tc>
                    <a:extLst>
                      <a:ext uri="{0D108BD9-81ED-4DB2-BD59-A6C34878D82A}">
                        <a16:rowId xmlns:a16="http://schemas.microsoft.com/office/drawing/2014/main" val="1684315241"/>
                      </a:ext>
                    </a:extLst>
                  </a:tr>
                  <a:tr h="365760">
                    <a:tc>
                      <a:txBody>
                        <a:bodyPr/>
                        <a:lstStyle/>
                        <a:p>
                          <a:r>
                            <a:rPr lang="es-MX" sz="1800" b="0" dirty="0">
                              <a:latin typeface="+mn-lt"/>
                              <a:ea typeface="Roboto" panose="02000000000000000000" pitchFamily="2" charset="0"/>
                            </a:rPr>
                            <a:t>No conmutatividad entre cuantificadores diferentes</a:t>
                          </a:r>
                        </a:p>
                      </a:txBody>
                      <a:tcPr anchor="ctr">
                        <a:solidFill>
                          <a:schemeClr val="bg1"/>
                        </a:solidFill>
                      </a:tcPr>
                    </a:tc>
                    <a:tc>
                      <a:txBody>
                        <a:bodyPr/>
                        <a:lstStyle/>
                        <a:p>
                          <a:endParaRPr lang="es-CO"/>
                        </a:p>
                      </a:txBody>
                      <a:tcPr anchor="ctr">
                        <a:blipFill>
                          <a:blip r:embed="rId3"/>
                          <a:stretch>
                            <a:fillRect l="-116047" t="-1451667" r="-116" b="-26667"/>
                          </a:stretch>
                        </a:blipFill>
                      </a:tcPr>
                    </a:tc>
                    <a:extLst>
                      <a:ext uri="{0D108BD9-81ED-4DB2-BD59-A6C34878D82A}">
                        <a16:rowId xmlns:a16="http://schemas.microsoft.com/office/drawing/2014/main" val="2582935017"/>
                      </a:ext>
                    </a:extLst>
                  </a:tr>
                </a:tbl>
              </a:graphicData>
            </a:graphic>
          </p:graphicFrame>
        </mc:Fallback>
      </mc:AlternateContent>
    </p:spTree>
    <p:extLst>
      <p:ext uri="{BB962C8B-B14F-4D97-AF65-F5344CB8AC3E}">
        <p14:creationId xmlns:p14="http://schemas.microsoft.com/office/powerpoint/2010/main" val="33169872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375618" y="180494"/>
            <a:ext cx="10515600" cy="896139"/>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Reglas de inferencia</a:t>
            </a:r>
            <a:endParaRPr dirty="0"/>
          </a:p>
        </p:txBody>
      </p:sp>
      <mc:AlternateContent xmlns:mc="http://schemas.openxmlformats.org/markup-compatibility/2006" xmlns:a14="http://schemas.microsoft.com/office/drawing/2010/main">
        <mc:Choice Requires="a14">
          <p:graphicFrame>
            <p:nvGraphicFramePr>
              <p:cNvPr id="6" name="Tabla 4">
                <a:extLst>
                  <a:ext uri="{FF2B5EF4-FFF2-40B4-BE49-F238E27FC236}">
                    <a16:creationId xmlns:a16="http://schemas.microsoft.com/office/drawing/2014/main" id="{EE435E6A-4659-42FF-A225-1D743161992E}"/>
                  </a:ext>
                </a:extLst>
              </p:cNvPr>
              <p:cNvGraphicFramePr>
                <a:graphicFrameLocks noGrp="1"/>
              </p:cNvGraphicFramePr>
              <p:nvPr>
                <p:extLst>
                  <p:ext uri="{D42A27DB-BD31-4B8C-83A1-F6EECF244321}">
                    <p14:modId xmlns:p14="http://schemas.microsoft.com/office/powerpoint/2010/main" val="348798419"/>
                  </p:ext>
                </p:extLst>
              </p:nvPr>
            </p:nvGraphicFramePr>
            <p:xfrm>
              <a:off x="1415404" y="1173480"/>
              <a:ext cx="9361191" cy="4511040"/>
            </p:xfrm>
            <a:graphic>
              <a:graphicData uri="http://schemas.openxmlformats.org/drawingml/2006/table">
                <a:tbl>
                  <a:tblPr firstRow="1" bandRow="1">
                    <a:tableStyleId>{AD6A3598-7CB8-4345-8D95-17CE05F158A0}</a:tableStyleId>
                  </a:tblPr>
                  <a:tblGrid>
                    <a:gridCol w="2261143">
                      <a:extLst>
                        <a:ext uri="{9D8B030D-6E8A-4147-A177-3AD203B41FA5}">
                          <a16:colId xmlns:a16="http://schemas.microsoft.com/office/drawing/2014/main" val="3517824357"/>
                        </a:ext>
                      </a:extLst>
                    </a:gridCol>
                    <a:gridCol w="2447364">
                      <a:extLst>
                        <a:ext uri="{9D8B030D-6E8A-4147-A177-3AD203B41FA5}">
                          <a16:colId xmlns:a16="http://schemas.microsoft.com/office/drawing/2014/main" val="2212776800"/>
                        </a:ext>
                      </a:extLst>
                    </a:gridCol>
                    <a:gridCol w="2191871">
                      <a:extLst>
                        <a:ext uri="{9D8B030D-6E8A-4147-A177-3AD203B41FA5}">
                          <a16:colId xmlns:a16="http://schemas.microsoft.com/office/drawing/2014/main" val="3724117940"/>
                        </a:ext>
                      </a:extLst>
                    </a:gridCol>
                    <a:gridCol w="2460813">
                      <a:extLst>
                        <a:ext uri="{9D8B030D-6E8A-4147-A177-3AD203B41FA5}">
                          <a16:colId xmlns:a16="http://schemas.microsoft.com/office/drawing/2014/main" val="333003826"/>
                        </a:ext>
                      </a:extLst>
                    </a:gridCol>
                  </a:tblGrid>
                  <a:tr h="0">
                    <a:tc>
                      <a:txBody>
                        <a:bodyPr/>
                        <a:lstStyle/>
                        <a:p>
                          <a:r>
                            <a:rPr lang="es-CO" sz="2000" b="1" dirty="0">
                              <a:latin typeface="+mn-lt"/>
                              <a:ea typeface="Roboto" panose="02000000000000000000" pitchFamily="2" charset="0"/>
                            </a:rPr>
                            <a:t>Nombre</a:t>
                          </a:r>
                        </a:p>
                      </a:txBody>
                      <a:tcPr>
                        <a:solidFill>
                          <a:schemeClr val="bg1">
                            <a:lumMod val="95000"/>
                          </a:schemeClr>
                        </a:solidFill>
                      </a:tcPr>
                    </a:tc>
                    <a:tc>
                      <a:txBody>
                        <a:bodyPr/>
                        <a:lstStyle/>
                        <a:p>
                          <a:r>
                            <a:rPr lang="es-CO" sz="2000" b="1" dirty="0">
                              <a:latin typeface="+mn-lt"/>
                              <a:ea typeface="Roboto" panose="02000000000000000000" pitchFamily="2" charset="0"/>
                            </a:rPr>
                            <a:t>Regla de inferencia</a:t>
                          </a:r>
                        </a:p>
                      </a:txBody>
                      <a:tcPr>
                        <a:solidFill>
                          <a:schemeClr val="bg1">
                            <a:lumMod val="95000"/>
                          </a:schemeClr>
                        </a:solidFill>
                      </a:tcPr>
                    </a:tc>
                    <a:tc>
                      <a:txBody>
                        <a:bodyPr/>
                        <a:lstStyle/>
                        <a:p>
                          <a:r>
                            <a:rPr lang="es-CO" sz="2000" b="1" dirty="0">
                              <a:latin typeface="+mn-lt"/>
                              <a:ea typeface="Roboto" panose="02000000000000000000" pitchFamily="2" charset="0"/>
                            </a:rPr>
                            <a:t>Nombre</a:t>
                          </a:r>
                        </a:p>
                      </a:txBody>
                      <a:tcPr>
                        <a:solidFill>
                          <a:schemeClr val="bg1">
                            <a:lumMod val="95000"/>
                          </a:schemeClr>
                        </a:solidFill>
                      </a:tcPr>
                    </a:tc>
                    <a:tc>
                      <a:txBody>
                        <a:bodyPr/>
                        <a:lstStyle/>
                        <a:p>
                          <a:r>
                            <a:rPr lang="es-CO" sz="2000" b="1" dirty="0">
                              <a:latin typeface="+mn-lt"/>
                              <a:ea typeface="Roboto" panose="02000000000000000000" pitchFamily="2" charset="0"/>
                            </a:rPr>
                            <a:t>Regla de inferencia</a:t>
                          </a:r>
                        </a:p>
                      </a:txBody>
                      <a:tcPr>
                        <a:solidFill>
                          <a:schemeClr val="bg1">
                            <a:lumMod val="95000"/>
                          </a:schemeClr>
                        </a:solidFill>
                      </a:tcPr>
                    </a:tc>
                    <a:extLst>
                      <a:ext uri="{0D108BD9-81ED-4DB2-BD59-A6C34878D82A}">
                        <a16:rowId xmlns:a16="http://schemas.microsoft.com/office/drawing/2014/main" val="3873507432"/>
                      </a:ext>
                    </a:extLst>
                  </a:tr>
                  <a:tr h="243775">
                    <a:tc>
                      <a:txBody>
                        <a:bodyPr/>
                        <a:lstStyle/>
                        <a:p>
                          <a:r>
                            <a:rPr lang="es-CO" sz="1800" dirty="0">
                              <a:latin typeface="+mn-lt"/>
                              <a:ea typeface="Roboto" panose="02000000000000000000" pitchFamily="2" charset="0"/>
                            </a:rPr>
                            <a:t>Modus Ponens</a:t>
                          </a:r>
                        </a:p>
                      </a:txBody>
                      <a:tcPr/>
                    </a:tc>
                    <a:tc>
                      <a:txBody>
                        <a:bodyPr/>
                        <a:lstStyle/>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𝑞</m:t>
                                </m:r>
                              </m:oMath>
                            </m:oMathPara>
                          </a14:m>
                          <a:endParaRPr lang="es-CO" sz="1600" dirty="0">
                            <a:latin typeface="Roboto" panose="02000000000000000000" pitchFamily="2" charset="0"/>
                            <a:ea typeface="Roboto" panose="02000000000000000000" pitchFamily="2" charset="0"/>
                          </a:endParaRPr>
                        </a:p>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oMath>
                            </m:oMathPara>
                          </a14:m>
                          <a:endParaRPr lang="es-CO" sz="1600" dirty="0">
                            <a:latin typeface="Roboto" panose="02000000000000000000" pitchFamily="2" charset="0"/>
                            <a:ea typeface="Roboto" panose="02000000000000000000" pitchFamily="2" charset="0"/>
                          </a:endParaRPr>
                        </a:p>
                        <a:p>
                          <a:pPr marL="0" marR="0" lvl="0" indent="-45720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oMath>
                            </m:oMathPara>
                          </a14:m>
                          <a:endParaRPr lang="es-CO" sz="1600" dirty="0">
                            <a:latin typeface="Roboto" panose="02000000000000000000" pitchFamily="2" charset="0"/>
                            <a:ea typeface="Roboto" panose="02000000000000000000" pitchFamily="2" charset="0"/>
                          </a:endParaRPr>
                        </a:p>
                      </a:txBody>
                      <a:tcPr/>
                    </a:tc>
                    <a:tc>
                      <a:txBody>
                        <a:bodyPr/>
                        <a:lstStyle/>
                        <a:p>
                          <a:r>
                            <a:rPr lang="es-CO" sz="1800" dirty="0">
                              <a:latin typeface="+mn-lt"/>
                              <a:ea typeface="Roboto" panose="02000000000000000000" pitchFamily="2" charset="0"/>
                            </a:rPr>
                            <a:t>Simplificación</a:t>
                          </a:r>
                        </a:p>
                      </a:txBody>
                      <a:tcPr/>
                    </a:tc>
                    <a:tc>
                      <a:txBody>
                        <a:bodyPr/>
                        <a:lstStyle/>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oMath>
                            </m:oMathPara>
                          </a14:m>
                          <a:endParaRPr lang="es-CO" sz="1600" dirty="0">
                            <a:latin typeface="Roboto" panose="02000000000000000000" pitchFamily="2" charset="0"/>
                            <a:ea typeface="Roboto" panose="02000000000000000000" pitchFamily="2" charset="0"/>
                          </a:endParaRPr>
                        </a:p>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𝑝</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259179385"/>
                      </a:ext>
                    </a:extLst>
                  </a:tr>
                  <a:tr h="243775">
                    <a:tc>
                      <a:txBody>
                        <a:bodyPr/>
                        <a:lstStyle/>
                        <a:p>
                          <a:r>
                            <a:rPr lang="es-CO" sz="1800" dirty="0">
                              <a:latin typeface="+mn-lt"/>
                              <a:ea typeface="Roboto" panose="02000000000000000000" pitchFamily="2" charset="0"/>
                            </a:rPr>
                            <a:t>Modus Tollens</a:t>
                          </a:r>
                        </a:p>
                      </a:txBody>
                      <a:tcPr/>
                    </a:tc>
                    <a:tc>
                      <a:txBody>
                        <a:bodyPr/>
                        <a:lstStyle/>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𝑞</m:t>
                                </m:r>
                              </m:oMath>
                            </m:oMathPara>
                          </a14:m>
                          <a:endParaRPr lang="es-CO" sz="1600" dirty="0">
                            <a:latin typeface="Roboto" panose="02000000000000000000" pitchFamily="2" charset="0"/>
                            <a:ea typeface="Roboto" panose="02000000000000000000" pitchFamily="2" charset="0"/>
                          </a:endParaRPr>
                        </a:p>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𝑞</m:t>
                                </m:r>
                              </m:oMath>
                            </m:oMathPara>
                          </a14:m>
                          <a:endParaRPr lang="es-CO" sz="1600" dirty="0">
                            <a:latin typeface="Roboto" panose="02000000000000000000" pitchFamily="2" charset="0"/>
                            <a:ea typeface="Roboto" panose="02000000000000000000" pitchFamily="2" charset="0"/>
                          </a:endParaRPr>
                        </a:p>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 ∴¬</m:t>
                                </m:r>
                                <m:r>
                                  <a:rPr lang="es-MX" sz="1600" b="0" i="1" smtClean="0">
                                    <a:latin typeface="Cambria Math" panose="02040503050406030204" pitchFamily="18" charset="0"/>
                                    <a:ea typeface="Cambria Math" panose="02040503050406030204" pitchFamily="18" charset="0"/>
                                  </a:rPr>
                                  <m:t>𝑝</m:t>
                                </m:r>
                              </m:oMath>
                            </m:oMathPara>
                          </a14:m>
                          <a:endParaRPr lang="es-CO" sz="1600" dirty="0">
                            <a:latin typeface="Roboto" panose="02000000000000000000" pitchFamily="2" charset="0"/>
                            <a:ea typeface="Roboto" panose="02000000000000000000" pitchFamily="2" charset="0"/>
                          </a:endParaRPr>
                        </a:p>
                      </a:txBody>
                      <a:tcPr/>
                    </a:tc>
                    <a:tc>
                      <a:txBody>
                        <a:bodyPr/>
                        <a:lstStyle/>
                        <a:p>
                          <a:r>
                            <a:rPr lang="es-CO" sz="1800" dirty="0">
                              <a:latin typeface="+mn-lt"/>
                              <a:ea typeface="Roboto" panose="02000000000000000000" pitchFamily="2" charset="0"/>
                            </a:rPr>
                            <a:t>Conjunción</a:t>
                          </a:r>
                        </a:p>
                      </a:txBody>
                      <a:tcPr/>
                    </a:tc>
                    <a:tc>
                      <a:txBody>
                        <a:bodyPr/>
                        <a:lstStyle/>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oMath>
                            </m:oMathPara>
                          </a14:m>
                          <a:endParaRPr lang="es-CO" sz="1600" dirty="0">
                            <a:latin typeface="Roboto" panose="02000000000000000000" pitchFamily="2" charset="0"/>
                            <a:ea typeface="Roboto" panose="02000000000000000000" pitchFamily="2" charset="0"/>
                          </a:endParaRPr>
                        </a:p>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𝑞</m:t>
                                </m:r>
                              </m:oMath>
                            </m:oMathPara>
                          </a14:m>
                          <a:endParaRPr lang="es-CO" sz="1600" dirty="0">
                            <a:latin typeface="Roboto" panose="02000000000000000000" pitchFamily="2" charset="0"/>
                            <a:ea typeface="Roboto" panose="02000000000000000000" pitchFamily="2" charset="0"/>
                          </a:endParaRPr>
                        </a:p>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078799334"/>
                      </a:ext>
                    </a:extLst>
                  </a:tr>
                  <a:tr h="243775">
                    <a:tc>
                      <a:txBody>
                        <a:bodyPr/>
                        <a:lstStyle/>
                        <a:p>
                          <a:r>
                            <a:rPr lang="es-CO" sz="1800" dirty="0">
                              <a:latin typeface="+mn-lt"/>
                              <a:ea typeface="Roboto" panose="02000000000000000000" pitchFamily="2" charset="0"/>
                            </a:rPr>
                            <a:t>Silogismo hipotético (Transitividad)</a:t>
                          </a:r>
                        </a:p>
                      </a:txBody>
                      <a:tcPr/>
                    </a:tc>
                    <a:tc>
                      <a:txBody>
                        <a:bodyPr/>
                        <a:lstStyle/>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𝑞</m:t>
                                </m:r>
                              </m:oMath>
                            </m:oMathPara>
                          </a14:m>
                          <a:endParaRPr lang="es-CO" sz="1600" dirty="0">
                            <a:latin typeface="Roboto" panose="02000000000000000000" pitchFamily="2" charset="0"/>
                            <a:ea typeface="Roboto" panose="02000000000000000000" pitchFamily="2" charset="0"/>
                          </a:endParaRPr>
                        </a:p>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𝑟</m:t>
                                </m:r>
                              </m:oMath>
                            </m:oMathPara>
                          </a14:m>
                          <a:endParaRPr lang="es-CO" sz="1600" dirty="0">
                            <a:latin typeface="Roboto" panose="02000000000000000000" pitchFamily="2" charset="0"/>
                            <a:ea typeface="Roboto" panose="02000000000000000000" pitchFamily="2" charset="0"/>
                          </a:endParaRPr>
                        </a:p>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oMath>
                            </m:oMathPara>
                          </a14:m>
                          <a:endParaRPr lang="es-CO" sz="1600" dirty="0">
                            <a:latin typeface="Roboto" panose="02000000000000000000" pitchFamily="2" charset="0"/>
                            <a:ea typeface="Roboto" panose="02000000000000000000" pitchFamily="2" charset="0"/>
                          </a:endParaRPr>
                        </a:p>
                      </a:txBody>
                      <a:tcPr/>
                    </a:tc>
                    <a:tc rowSpan="2">
                      <a:txBody>
                        <a:bodyPr/>
                        <a:lstStyle/>
                        <a:p>
                          <a:r>
                            <a:rPr lang="es-CO" sz="1800" dirty="0">
                              <a:latin typeface="+mn-lt"/>
                              <a:ea typeface="Roboto" panose="02000000000000000000" pitchFamily="2" charset="0"/>
                            </a:rPr>
                            <a:t>Prueba de división por casos</a:t>
                          </a:r>
                        </a:p>
                      </a:txBody>
                      <a:tcPr/>
                    </a:tc>
                    <a:tc rowSpan="2">
                      <a:txBody>
                        <a:bodyPr/>
                        <a:lstStyle/>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𝑞</m:t>
                                </m:r>
                              </m:oMath>
                            </m:oMathPara>
                          </a14:m>
                          <a:endParaRPr lang="es-CO" sz="1600" dirty="0">
                            <a:latin typeface="Roboto" panose="02000000000000000000" pitchFamily="2" charset="0"/>
                            <a:ea typeface="Roboto" panose="02000000000000000000" pitchFamily="2" charset="0"/>
                          </a:endParaRPr>
                        </a:p>
                        <a:p>
                          <a:pPr marL="0" marR="0" lvl="0" indent="-45720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𝑟</m:t>
                                </m:r>
                              </m:oMath>
                            </m:oMathPara>
                          </a14:m>
                          <a:endParaRPr lang="es-MX" sz="1600" b="0" dirty="0">
                            <a:latin typeface="Roboto" panose="02000000000000000000" pitchFamily="2" charset="0"/>
                            <a:ea typeface="Roboto" panose="02000000000000000000" pitchFamily="2" charset="0"/>
                          </a:endParaRPr>
                        </a:p>
                        <a:p>
                          <a:pPr marL="0" marR="0" lvl="0" indent="-45720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𝑟</m:t>
                                </m:r>
                              </m:oMath>
                            </m:oMathPara>
                          </a14:m>
                          <a:endParaRPr lang="es-CO" sz="1600" dirty="0">
                            <a:latin typeface="Roboto" panose="02000000000000000000" pitchFamily="2" charset="0"/>
                            <a:ea typeface="Roboto" panose="02000000000000000000" pitchFamily="2" charset="0"/>
                          </a:endParaRPr>
                        </a:p>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682340052"/>
                      </a:ext>
                    </a:extLst>
                  </a:tr>
                  <a:tr h="243775">
                    <a:tc>
                      <a:txBody>
                        <a:bodyPr/>
                        <a:lstStyle/>
                        <a:p>
                          <a:r>
                            <a:rPr lang="es-CO" sz="1800" dirty="0">
                              <a:latin typeface="+mn-lt"/>
                              <a:ea typeface="Roboto" panose="02000000000000000000" pitchFamily="2" charset="0"/>
                            </a:rPr>
                            <a:t>Silogismo disyuntivo (Eliminación)</a:t>
                          </a:r>
                        </a:p>
                      </a:txBody>
                      <a:tcPr/>
                    </a:tc>
                    <a:tc>
                      <a:txBody>
                        <a:bodyPr/>
                        <a:lstStyle/>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𝑞</m:t>
                                </m:r>
                              </m:oMath>
                            </m:oMathPara>
                          </a14:m>
                          <a:endParaRPr lang="es-CO" sz="1600" dirty="0">
                            <a:latin typeface="Roboto" panose="02000000000000000000" pitchFamily="2" charset="0"/>
                            <a:ea typeface="Roboto" panose="02000000000000000000" pitchFamily="2" charset="0"/>
                          </a:endParaRPr>
                        </a:p>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oMath>
                            </m:oMathPara>
                          </a14:m>
                          <a:endParaRPr lang="es-CO" sz="1600" dirty="0">
                            <a:latin typeface="Roboto" panose="02000000000000000000" pitchFamily="2" charset="0"/>
                            <a:ea typeface="Roboto" panose="02000000000000000000" pitchFamily="2" charset="0"/>
                          </a:endParaRPr>
                        </a:p>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oMath>
                            </m:oMathPara>
                          </a14:m>
                          <a:endParaRPr lang="es-CO" sz="1600"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18226202"/>
                      </a:ext>
                    </a:extLst>
                  </a:tr>
                  <a:tr h="0">
                    <a:tc>
                      <a:txBody>
                        <a:bodyPr/>
                        <a:lstStyle/>
                        <a:p>
                          <a:r>
                            <a:rPr lang="es-CO" sz="1800" dirty="0">
                              <a:latin typeface="+mn-lt"/>
                              <a:ea typeface="Roboto" panose="02000000000000000000" pitchFamily="2" charset="0"/>
                            </a:rPr>
                            <a:t>Adición</a:t>
                          </a:r>
                        </a:p>
                      </a:txBody>
                      <a:tcPr/>
                    </a:tc>
                    <a:tc>
                      <a:txBody>
                        <a:bodyPr/>
                        <a:lstStyle/>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oMath>
                            </m:oMathPara>
                          </a14:m>
                          <a:endParaRPr lang="es-CO" sz="1600" dirty="0">
                            <a:latin typeface="Roboto" panose="02000000000000000000" pitchFamily="2" charset="0"/>
                            <a:ea typeface="Roboto" panose="02000000000000000000" pitchFamily="2" charset="0"/>
                          </a:endParaRPr>
                        </a:p>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oMath>
                            </m:oMathPara>
                          </a14:m>
                          <a:endParaRPr lang="es-CO" sz="1600" dirty="0">
                            <a:latin typeface="Roboto" panose="02000000000000000000" pitchFamily="2" charset="0"/>
                            <a:ea typeface="Roboto" panose="02000000000000000000" pitchFamily="2" charset="0"/>
                          </a:endParaRPr>
                        </a:p>
                      </a:txBody>
                      <a:tcPr/>
                    </a:tc>
                    <a:tc>
                      <a:txBody>
                        <a:bodyPr/>
                        <a:lstStyle/>
                        <a:p>
                          <a:r>
                            <a:rPr lang="es-CO" sz="1800" dirty="0">
                              <a:latin typeface="+mn-lt"/>
                              <a:ea typeface="Roboto" panose="02000000000000000000" pitchFamily="2" charset="0"/>
                            </a:rPr>
                            <a:t>Resolución</a:t>
                          </a:r>
                        </a:p>
                      </a:txBody>
                      <a:tcPr/>
                    </a:tc>
                    <a:tc>
                      <a:txBody>
                        <a:bodyPr/>
                        <a:lstStyle/>
                        <a:p>
                          <a:pPr marL="0" marR="0" lvl="0" indent="-45720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𝑟</m:t>
                                </m:r>
                              </m:oMath>
                            </m:oMathPara>
                          </a14:m>
                          <a:endParaRPr lang="es-MX" sz="1600" b="0" dirty="0">
                            <a:latin typeface="Roboto" panose="02000000000000000000" pitchFamily="2" charset="0"/>
                            <a:ea typeface="Roboto" panose="02000000000000000000" pitchFamily="2" charset="0"/>
                          </a:endParaRPr>
                        </a:p>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𝑞</m:t>
                                </m:r>
                              </m:oMath>
                            </m:oMathPara>
                          </a14:m>
                          <a:endParaRPr lang="es-CO" sz="1600" dirty="0">
                            <a:latin typeface="Roboto" panose="02000000000000000000" pitchFamily="2" charset="0"/>
                            <a:ea typeface="Roboto" panose="02000000000000000000" pitchFamily="2" charset="0"/>
                          </a:endParaRPr>
                        </a:p>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17682141"/>
                      </a:ext>
                    </a:extLst>
                  </a:tr>
                </a:tbl>
              </a:graphicData>
            </a:graphic>
          </p:graphicFrame>
        </mc:Choice>
        <mc:Fallback xmlns="">
          <p:graphicFrame>
            <p:nvGraphicFramePr>
              <p:cNvPr id="6" name="Tabla 4">
                <a:extLst>
                  <a:ext uri="{FF2B5EF4-FFF2-40B4-BE49-F238E27FC236}">
                    <a16:creationId xmlns:a16="http://schemas.microsoft.com/office/drawing/2014/main" id="{EE435E6A-4659-42FF-A225-1D743161992E}"/>
                  </a:ext>
                </a:extLst>
              </p:cNvPr>
              <p:cNvGraphicFramePr>
                <a:graphicFrameLocks noGrp="1"/>
              </p:cNvGraphicFramePr>
              <p:nvPr>
                <p:extLst>
                  <p:ext uri="{D42A27DB-BD31-4B8C-83A1-F6EECF244321}">
                    <p14:modId xmlns:p14="http://schemas.microsoft.com/office/powerpoint/2010/main" val="348798419"/>
                  </p:ext>
                </p:extLst>
              </p:nvPr>
            </p:nvGraphicFramePr>
            <p:xfrm>
              <a:off x="1415404" y="1173480"/>
              <a:ext cx="9361191" cy="4511040"/>
            </p:xfrm>
            <a:graphic>
              <a:graphicData uri="http://schemas.openxmlformats.org/drawingml/2006/table">
                <a:tbl>
                  <a:tblPr firstRow="1" bandRow="1">
                    <a:tableStyleId>{AD6A3598-7CB8-4345-8D95-17CE05F158A0}</a:tableStyleId>
                  </a:tblPr>
                  <a:tblGrid>
                    <a:gridCol w="2261143">
                      <a:extLst>
                        <a:ext uri="{9D8B030D-6E8A-4147-A177-3AD203B41FA5}">
                          <a16:colId xmlns:a16="http://schemas.microsoft.com/office/drawing/2014/main" val="3517824357"/>
                        </a:ext>
                      </a:extLst>
                    </a:gridCol>
                    <a:gridCol w="2447364">
                      <a:extLst>
                        <a:ext uri="{9D8B030D-6E8A-4147-A177-3AD203B41FA5}">
                          <a16:colId xmlns:a16="http://schemas.microsoft.com/office/drawing/2014/main" val="2212776800"/>
                        </a:ext>
                      </a:extLst>
                    </a:gridCol>
                    <a:gridCol w="2191871">
                      <a:extLst>
                        <a:ext uri="{9D8B030D-6E8A-4147-A177-3AD203B41FA5}">
                          <a16:colId xmlns:a16="http://schemas.microsoft.com/office/drawing/2014/main" val="3724117940"/>
                        </a:ext>
                      </a:extLst>
                    </a:gridCol>
                    <a:gridCol w="2460813">
                      <a:extLst>
                        <a:ext uri="{9D8B030D-6E8A-4147-A177-3AD203B41FA5}">
                          <a16:colId xmlns:a16="http://schemas.microsoft.com/office/drawing/2014/main" val="333003826"/>
                        </a:ext>
                      </a:extLst>
                    </a:gridCol>
                  </a:tblGrid>
                  <a:tr h="396240">
                    <a:tc>
                      <a:txBody>
                        <a:bodyPr/>
                        <a:lstStyle/>
                        <a:p>
                          <a:r>
                            <a:rPr lang="es-CO" sz="2000" b="1" dirty="0">
                              <a:latin typeface="+mn-lt"/>
                              <a:ea typeface="Roboto" panose="02000000000000000000" pitchFamily="2" charset="0"/>
                            </a:rPr>
                            <a:t>Nombre</a:t>
                          </a:r>
                        </a:p>
                      </a:txBody>
                      <a:tcPr>
                        <a:solidFill>
                          <a:schemeClr val="bg1">
                            <a:lumMod val="95000"/>
                          </a:schemeClr>
                        </a:solidFill>
                      </a:tcPr>
                    </a:tc>
                    <a:tc>
                      <a:txBody>
                        <a:bodyPr/>
                        <a:lstStyle/>
                        <a:p>
                          <a:r>
                            <a:rPr lang="es-CO" sz="2000" b="1" dirty="0">
                              <a:latin typeface="+mn-lt"/>
                              <a:ea typeface="Roboto" panose="02000000000000000000" pitchFamily="2" charset="0"/>
                            </a:rPr>
                            <a:t>Regla de inferencia</a:t>
                          </a:r>
                        </a:p>
                      </a:txBody>
                      <a:tcPr>
                        <a:solidFill>
                          <a:schemeClr val="bg1">
                            <a:lumMod val="95000"/>
                          </a:schemeClr>
                        </a:solidFill>
                      </a:tcPr>
                    </a:tc>
                    <a:tc>
                      <a:txBody>
                        <a:bodyPr/>
                        <a:lstStyle/>
                        <a:p>
                          <a:r>
                            <a:rPr lang="es-CO" sz="2000" b="1" dirty="0">
                              <a:latin typeface="+mn-lt"/>
                              <a:ea typeface="Roboto" panose="02000000000000000000" pitchFamily="2" charset="0"/>
                            </a:rPr>
                            <a:t>Nombre</a:t>
                          </a:r>
                        </a:p>
                      </a:txBody>
                      <a:tcPr>
                        <a:solidFill>
                          <a:schemeClr val="bg1">
                            <a:lumMod val="95000"/>
                          </a:schemeClr>
                        </a:solidFill>
                      </a:tcPr>
                    </a:tc>
                    <a:tc>
                      <a:txBody>
                        <a:bodyPr/>
                        <a:lstStyle/>
                        <a:p>
                          <a:r>
                            <a:rPr lang="es-CO" sz="2000" b="1" dirty="0">
                              <a:latin typeface="+mn-lt"/>
                              <a:ea typeface="Roboto" panose="02000000000000000000" pitchFamily="2" charset="0"/>
                            </a:rPr>
                            <a:t>Regla de inferencia</a:t>
                          </a:r>
                        </a:p>
                      </a:txBody>
                      <a:tcPr>
                        <a:solidFill>
                          <a:schemeClr val="bg1">
                            <a:lumMod val="95000"/>
                          </a:schemeClr>
                        </a:solidFill>
                      </a:tcPr>
                    </a:tc>
                    <a:extLst>
                      <a:ext uri="{0D108BD9-81ED-4DB2-BD59-A6C34878D82A}">
                        <a16:rowId xmlns:a16="http://schemas.microsoft.com/office/drawing/2014/main" val="3873507432"/>
                      </a:ext>
                    </a:extLst>
                  </a:tr>
                  <a:tr h="822960">
                    <a:tc>
                      <a:txBody>
                        <a:bodyPr/>
                        <a:lstStyle/>
                        <a:p>
                          <a:r>
                            <a:rPr lang="es-CO" sz="1800" dirty="0">
                              <a:latin typeface="+mn-lt"/>
                              <a:ea typeface="Roboto" panose="02000000000000000000" pitchFamily="2" charset="0"/>
                            </a:rPr>
                            <a:t>Modus Ponens</a:t>
                          </a:r>
                        </a:p>
                      </a:txBody>
                      <a:tcPr/>
                    </a:tc>
                    <a:tc>
                      <a:txBody>
                        <a:bodyPr/>
                        <a:lstStyle/>
                        <a:p>
                          <a:endParaRPr lang="es-CO"/>
                        </a:p>
                      </a:txBody>
                      <a:tcPr>
                        <a:blipFill>
                          <a:blip r:embed="rId3"/>
                          <a:stretch>
                            <a:fillRect l="-92537" t="-51852" r="-190299" b="-402963"/>
                          </a:stretch>
                        </a:blipFill>
                      </a:tcPr>
                    </a:tc>
                    <a:tc>
                      <a:txBody>
                        <a:bodyPr/>
                        <a:lstStyle/>
                        <a:p>
                          <a:r>
                            <a:rPr lang="es-CO" sz="1800" dirty="0">
                              <a:latin typeface="+mn-lt"/>
                              <a:ea typeface="Roboto" panose="02000000000000000000" pitchFamily="2" charset="0"/>
                            </a:rPr>
                            <a:t>Simplificación</a:t>
                          </a:r>
                        </a:p>
                      </a:txBody>
                      <a:tcPr/>
                    </a:tc>
                    <a:tc>
                      <a:txBody>
                        <a:bodyPr/>
                        <a:lstStyle/>
                        <a:p>
                          <a:endParaRPr lang="es-CO"/>
                        </a:p>
                      </a:txBody>
                      <a:tcPr>
                        <a:blipFill>
                          <a:blip r:embed="rId3"/>
                          <a:stretch>
                            <a:fillRect l="-280446" t="-51852" r="-495" b="-402963"/>
                          </a:stretch>
                        </a:blipFill>
                      </a:tcPr>
                    </a:tc>
                    <a:extLst>
                      <a:ext uri="{0D108BD9-81ED-4DB2-BD59-A6C34878D82A}">
                        <a16:rowId xmlns:a16="http://schemas.microsoft.com/office/drawing/2014/main" val="4259179385"/>
                      </a:ext>
                    </a:extLst>
                  </a:tr>
                  <a:tr h="822960">
                    <a:tc>
                      <a:txBody>
                        <a:bodyPr/>
                        <a:lstStyle/>
                        <a:p>
                          <a:r>
                            <a:rPr lang="es-CO" sz="1800" dirty="0">
                              <a:latin typeface="+mn-lt"/>
                              <a:ea typeface="Roboto" panose="02000000000000000000" pitchFamily="2" charset="0"/>
                            </a:rPr>
                            <a:t>Modus Tollens</a:t>
                          </a:r>
                        </a:p>
                      </a:txBody>
                      <a:tcPr/>
                    </a:tc>
                    <a:tc>
                      <a:txBody>
                        <a:bodyPr/>
                        <a:lstStyle/>
                        <a:p>
                          <a:endParaRPr lang="es-CO"/>
                        </a:p>
                      </a:txBody>
                      <a:tcPr>
                        <a:blipFill>
                          <a:blip r:embed="rId3"/>
                          <a:stretch>
                            <a:fillRect l="-92537" t="-151852" r="-190299" b="-302963"/>
                          </a:stretch>
                        </a:blipFill>
                      </a:tcPr>
                    </a:tc>
                    <a:tc>
                      <a:txBody>
                        <a:bodyPr/>
                        <a:lstStyle/>
                        <a:p>
                          <a:r>
                            <a:rPr lang="es-CO" sz="1800" dirty="0">
                              <a:latin typeface="+mn-lt"/>
                              <a:ea typeface="Roboto" panose="02000000000000000000" pitchFamily="2" charset="0"/>
                            </a:rPr>
                            <a:t>Conjunción</a:t>
                          </a:r>
                        </a:p>
                      </a:txBody>
                      <a:tcPr/>
                    </a:tc>
                    <a:tc>
                      <a:txBody>
                        <a:bodyPr/>
                        <a:lstStyle/>
                        <a:p>
                          <a:endParaRPr lang="es-CO"/>
                        </a:p>
                      </a:txBody>
                      <a:tcPr>
                        <a:blipFill>
                          <a:blip r:embed="rId3"/>
                          <a:stretch>
                            <a:fillRect l="-280446" t="-151852" r="-495" b="-302963"/>
                          </a:stretch>
                        </a:blipFill>
                      </a:tcPr>
                    </a:tc>
                    <a:extLst>
                      <a:ext uri="{0D108BD9-81ED-4DB2-BD59-A6C34878D82A}">
                        <a16:rowId xmlns:a16="http://schemas.microsoft.com/office/drawing/2014/main" val="1078799334"/>
                      </a:ext>
                    </a:extLst>
                  </a:tr>
                  <a:tr h="822960">
                    <a:tc>
                      <a:txBody>
                        <a:bodyPr/>
                        <a:lstStyle/>
                        <a:p>
                          <a:r>
                            <a:rPr lang="es-CO" sz="1800" dirty="0">
                              <a:latin typeface="+mn-lt"/>
                              <a:ea typeface="Roboto" panose="02000000000000000000" pitchFamily="2" charset="0"/>
                            </a:rPr>
                            <a:t>Silogismo hipotético (Transitividad)</a:t>
                          </a:r>
                        </a:p>
                      </a:txBody>
                      <a:tcPr/>
                    </a:tc>
                    <a:tc>
                      <a:txBody>
                        <a:bodyPr/>
                        <a:lstStyle/>
                        <a:p>
                          <a:endParaRPr lang="es-CO"/>
                        </a:p>
                      </a:txBody>
                      <a:tcPr>
                        <a:blipFill>
                          <a:blip r:embed="rId3"/>
                          <a:stretch>
                            <a:fillRect l="-92537" t="-250000" r="-190299" b="-200735"/>
                          </a:stretch>
                        </a:blipFill>
                      </a:tcPr>
                    </a:tc>
                    <a:tc rowSpan="2">
                      <a:txBody>
                        <a:bodyPr/>
                        <a:lstStyle/>
                        <a:p>
                          <a:r>
                            <a:rPr lang="es-CO" sz="1800" dirty="0">
                              <a:latin typeface="+mn-lt"/>
                              <a:ea typeface="Roboto" panose="02000000000000000000" pitchFamily="2" charset="0"/>
                            </a:rPr>
                            <a:t>Prueba de división por casos</a:t>
                          </a:r>
                        </a:p>
                      </a:txBody>
                      <a:tcPr/>
                    </a:tc>
                    <a:tc rowSpan="2">
                      <a:txBody>
                        <a:bodyPr/>
                        <a:lstStyle/>
                        <a:p>
                          <a:endParaRPr lang="es-CO"/>
                        </a:p>
                      </a:txBody>
                      <a:tcPr>
                        <a:blipFill>
                          <a:blip r:embed="rId3"/>
                          <a:stretch>
                            <a:fillRect l="-280446" t="-125461" r="-495" b="-50923"/>
                          </a:stretch>
                        </a:blipFill>
                      </a:tcPr>
                    </a:tc>
                    <a:extLst>
                      <a:ext uri="{0D108BD9-81ED-4DB2-BD59-A6C34878D82A}">
                        <a16:rowId xmlns:a16="http://schemas.microsoft.com/office/drawing/2014/main" val="682340052"/>
                      </a:ext>
                    </a:extLst>
                  </a:tr>
                  <a:tr h="822960">
                    <a:tc>
                      <a:txBody>
                        <a:bodyPr/>
                        <a:lstStyle/>
                        <a:p>
                          <a:r>
                            <a:rPr lang="es-CO" sz="1800" dirty="0">
                              <a:latin typeface="+mn-lt"/>
                              <a:ea typeface="Roboto" panose="02000000000000000000" pitchFamily="2" charset="0"/>
                            </a:rPr>
                            <a:t>Silogismo disyuntivo (Eliminación)</a:t>
                          </a:r>
                        </a:p>
                      </a:txBody>
                      <a:tcPr/>
                    </a:tc>
                    <a:tc>
                      <a:txBody>
                        <a:bodyPr/>
                        <a:lstStyle/>
                        <a:p>
                          <a:endParaRPr lang="es-CO"/>
                        </a:p>
                      </a:txBody>
                      <a:tcPr>
                        <a:blipFill>
                          <a:blip r:embed="rId3"/>
                          <a:stretch>
                            <a:fillRect l="-92537" t="-352593" r="-190299" b="-102222"/>
                          </a:stretch>
                        </a:blipFill>
                      </a:tcPr>
                    </a:tc>
                    <a:tc vMerge="1">
                      <a:txBody>
                        <a:bodyPr/>
                        <a:lstStyle/>
                        <a:p>
                          <a:endParaRPr lang="es-CO"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18226202"/>
                      </a:ext>
                    </a:extLst>
                  </a:tr>
                  <a:tr h="822960">
                    <a:tc>
                      <a:txBody>
                        <a:bodyPr/>
                        <a:lstStyle/>
                        <a:p>
                          <a:r>
                            <a:rPr lang="es-CO" sz="1800" dirty="0">
                              <a:latin typeface="+mn-lt"/>
                              <a:ea typeface="Roboto" panose="02000000000000000000" pitchFamily="2" charset="0"/>
                            </a:rPr>
                            <a:t>Adición</a:t>
                          </a:r>
                        </a:p>
                      </a:txBody>
                      <a:tcPr/>
                    </a:tc>
                    <a:tc>
                      <a:txBody>
                        <a:bodyPr/>
                        <a:lstStyle/>
                        <a:p>
                          <a:endParaRPr lang="es-CO"/>
                        </a:p>
                      </a:txBody>
                      <a:tcPr>
                        <a:blipFill>
                          <a:blip r:embed="rId3"/>
                          <a:stretch>
                            <a:fillRect l="-92537" t="-452593" r="-190299" b="-2222"/>
                          </a:stretch>
                        </a:blipFill>
                      </a:tcPr>
                    </a:tc>
                    <a:tc>
                      <a:txBody>
                        <a:bodyPr/>
                        <a:lstStyle/>
                        <a:p>
                          <a:r>
                            <a:rPr lang="es-CO" sz="1800" dirty="0">
                              <a:latin typeface="+mn-lt"/>
                              <a:ea typeface="Roboto" panose="02000000000000000000" pitchFamily="2" charset="0"/>
                            </a:rPr>
                            <a:t>Resolución</a:t>
                          </a:r>
                        </a:p>
                      </a:txBody>
                      <a:tcPr/>
                    </a:tc>
                    <a:tc>
                      <a:txBody>
                        <a:bodyPr/>
                        <a:lstStyle/>
                        <a:p>
                          <a:endParaRPr lang="es-CO"/>
                        </a:p>
                      </a:txBody>
                      <a:tcPr>
                        <a:blipFill>
                          <a:blip r:embed="rId3"/>
                          <a:stretch>
                            <a:fillRect l="-280446" t="-452593" r="-495" b="-2222"/>
                          </a:stretch>
                        </a:blipFill>
                      </a:tcPr>
                    </a:tc>
                    <a:extLst>
                      <a:ext uri="{0D108BD9-81ED-4DB2-BD59-A6C34878D82A}">
                        <a16:rowId xmlns:a16="http://schemas.microsoft.com/office/drawing/2014/main" val="2217682141"/>
                      </a:ext>
                    </a:extLst>
                  </a:tr>
                </a:tbl>
              </a:graphicData>
            </a:graphic>
          </p:graphicFrame>
        </mc:Fallback>
      </mc:AlternateContent>
    </p:spTree>
    <p:extLst>
      <p:ext uri="{BB962C8B-B14F-4D97-AF65-F5344CB8AC3E}">
        <p14:creationId xmlns:p14="http://schemas.microsoft.com/office/powerpoint/2010/main" val="19443905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65"/>
        <p:cNvGrpSpPr/>
        <p:nvPr/>
      </p:nvGrpSpPr>
      <p:grpSpPr>
        <a:xfrm>
          <a:off x="0" y="0"/>
          <a:ext cx="0" cy="0"/>
          <a:chOff x="0" y="0"/>
          <a:chExt cx="0" cy="0"/>
        </a:xfrm>
      </p:grpSpPr>
      <p:sp>
        <p:nvSpPr>
          <p:cNvPr id="3" name="Título 2">
            <a:extLst>
              <a:ext uri="{FF2B5EF4-FFF2-40B4-BE49-F238E27FC236}">
                <a16:creationId xmlns:a16="http://schemas.microsoft.com/office/drawing/2014/main" id="{C98C59EC-F126-45E7-B7C1-9AB9A32ED14F}"/>
              </a:ext>
            </a:extLst>
          </p:cNvPr>
          <p:cNvSpPr>
            <a:spLocks noGrp="1"/>
          </p:cNvSpPr>
          <p:nvPr>
            <p:ph type="title"/>
          </p:nvPr>
        </p:nvSpPr>
        <p:spPr>
          <a:xfrm>
            <a:off x="530942" y="96038"/>
            <a:ext cx="8689708" cy="949500"/>
          </a:xfrm>
        </p:spPr>
        <p:txBody>
          <a:bodyPr/>
          <a:lstStyle/>
          <a:p>
            <a:r>
              <a:rPr lang="es-CO" dirty="0">
                <a:latin typeface="+mj-lt"/>
              </a:rPr>
              <a:t>Lógica proposicional</a:t>
            </a:r>
          </a:p>
        </p:txBody>
      </p:sp>
      <p:sp>
        <p:nvSpPr>
          <p:cNvPr id="10" name="CuadroTexto 9">
            <a:extLst>
              <a:ext uri="{FF2B5EF4-FFF2-40B4-BE49-F238E27FC236}">
                <a16:creationId xmlns:a16="http://schemas.microsoft.com/office/drawing/2014/main" id="{A19C6E9F-BCCF-4FD4-8EC3-574D66199786}"/>
              </a:ext>
            </a:extLst>
          </p:cNvPr>
          <p:cNvSpPr txBox="1"/>
          <p:nvPr/>
        </p:nvSpPr>
        <p:spPr>
          <a:xfrm>
            <a:off x="530942" y="859151"/>
            <a:ext cx="11429999"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Demostración</a:t>
            </a:r>
          </a:p>
        </p:txBody>
      </p:sp>
      <mc:AlternateContent xmlns:mc="http://schemas.openxmlformats.org/markup-compatibility/2006" xmlns:a14="http://schemas.microsoft.com/office/drawing/2010/main">
        <mc:Choice Requires="a14">
          <p:sp>
            <p:nvSpPr>
              <p:cNvPr id="5" name="Google Shape;310;p34">
                <a:extLst>
                  <a:ext uri="{FF2B5EF4-FFF2-40B4-BE49-F238E27FC236}">
                    <a16:creationId xmlns:a16="http://schemas.microsoft.com/office/drawing/2014/main" id="{9C63330C-F466-4BDA-A747-02626B58C6A6}"/>
                  </a:ext>
                </a:extLst>
              </p:cNvPr>
              <p:cNvSpPr txBox="1">
                <a:spLocks/>
              </p:cNvSpPr>
              <p:nvPr/>
            </p:nvSpPr>
            <p:spPr>
              <a:xfrm>
                <a:off x="530942" y="1247552"/>
                <a:ext cx="11130030" cy="509425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127000" indent="0">
                  <a:buNone/>
                </a:pPr>
                <a:r>
                  <a:rPr lang="es-MX" sz="2000" dirty="0">
                    <a:latin typeface="+mn-lt"/>
                    <a:ea typeface="Roboto" panose="02000000000000000000" pitchFamily="2" charset="0"/>
                  </a:rPr>
                  <a:t>Una demostración es una cadena de razonamientos en la que cada paso sigue lógicamente del anterior, con el objetivo de justificar que una conclusión se sigue necesariamente de un conjunto de premisas.</a:t>
                </a:r>
              </a:p>
              <a:p>
                <a:r>
                  <a:rPr lang="es-MX" sz="2000" dirty="0">
                    <a:latin typeface="+mn-lt"/>
                    <a:ea typeface="Roboto" panose="02000000000000000000" pitchFamily="2" charset="0"/>
                  </a:rPr>
                  <a:t>En </a:t>
                </a:r>
                <a:r>
                  <a:rPr lang="es-MX" sz="2000" b="1" dirty="0">
                    <a:latin typeface="+mn-lt"/>
                    <a:ea typeface="Roboto" panose="02000000000000000000" pitchFamily="2" charset="0"/>
                  </a:rPr>
                  <a:t>lógica proposicional</a:t>
                </a:r>
                <a:r>
                  <a:rPr lang="es-MX" sz="2000" dirty="0">
                    <a:latin typeface="+mn-lt"/>
                    <a:ea typeface="Roboto" panose="02000000000000000000" pitchFamily="2" charset="0"/>
                  </a:rPr>
                  <a:t>, las demostraciones se construyen a partir de conectivos lógicos (</a:t>
                </a:r>
                <a14:m>
                  <m:oMath xmlns:m="http://schemas.openxmlformats.org/officeDocument/2006/math">
                    <m:r>
                      <a:rPr lang="es-MX" sz="2000" b="0" i="1" smtClean="0">
                        <a:latin typeface="Cambria Math" panose="02040503050406030204" pitchFamily="18" charset="0"/>
                        <a:ea typeface="Cambria Math" panose="02040503050406030204" pitchFamily="18" charset="0"/>
                      </a:rPr>
                      <m:t>¬</m:t>
                    </m:r>
                  </m:oMath>
                </a14:m>
                <a:r>
                  <a:rPr lang="es-MX" sz="2000" dirty="0">
                    <a:latin typeface="+mn-lt"/>
                    <a:ea typeface="Roboto" panose="02000000000000000000" pitchFamily="2" charset="0"/>
                  </a:rPr>
                  <a:t>, </a:t>
                </a:r>
                <a14:m>
                  <m:oMath xmlns:m="http://schemas.openxmlformats.org/officeDocument/2006/math">
                    <m:r>
                      <a:rPr lang="es-MX" sz="2000" i="1" smtClean="0">
                        <a:latin typeface="Cambria Math" panose="02040503050406030204" pitchFamily="18" charset="0"/>
                        <a:ea typeface="Cambria Math" panose="02040503050406030204" pitchFamily="18" charset="0"/>
                      </a:rPr>
                      <m:t>∧</m:t>
                    </m:r>
                  </m:oMath>
                </a14:m>
                <a:r>
                  <a:rPr lang="es-MX" sz="2000" dirty="0">
                    <a:latin typeface="+mn-lt"/>
                    <a:ea typeface="Roboto" panose="02000000000000000000" pitchFamily="2" charset="0"/>
                  </a:rPr>
                  <a:t>, </a:t>
                </a:r>
                <a14:m>
                  <m:oMath xmlns:m="http://schemas.openxmlformats.org/officeDocument/2006/math">
                    <m:r>
                      <a:rPr lang="es-MX" sz="2000" i="1" smtClean="0">
                        <a:latin typeface="Cambria Math" panose="02040503050406030204" pitchFamily="18" charset="0"/>
                        <a:ea typeface="Cambria Math" panose="02040503050406030204" pitchFamily="18" charset="0"/>
                      </a:rPr>
                      <m:t>∨</m:t>
                    </m:r>
                  </m:oMath>
                </a14:m>
                <a:r>
                  <a:rPr lang="es-MX" sz="2000" dirty="0">
                    <a:latin typeface="+mn-lt"/>
                    <a:ea typeface="Roboto" panose="02000000000000000000" pitchFamily="2" charset="0"/>
                  </a:rPr>
                  <a:t>, </a:t>
                </a:r>
                <a14:m>
                  <m:oMath xmlns:m="http://schemas.openxmlformats.org/officeDocument/2006/math">
                    <m:r>
                      <a:rPr lang="es-MX" sz="2000" b="0" i="1" smtClean="0">
                        <a:latin typeface="Cambria Math" panose="02040503050406030204" pitchFamily="18" charset="0"/>
                        <a:ea typeface="Roboto" panose="02000000000000000000" pitchFamily="2" charset="0"/>
                      </a:rPr>
                      <m:t>→</m:t>
                    </m:r>
                  </m:oMath>
                </a14:m>
                <a:r>
                  <a:rPr lang="es-MX" sz="2000" dirty="0">
                    <a:latin typeface="+mn-lt"/>
                    <a:ea typeface="Roboto" panose="02000000000000000000" pitchFamily="2" charset="0"/>
                  </a:rPr>
                  <a:t>, </a:t>
                </a:r>
                <a14:m>
                  <m:oMath xmlns:m="http://schemas.openxmlformats.org/officeDocument/2006/math">
                    <m:r>
                      <a:rPr lang="es-MX" sz="2000" i="1" smtClean="0">
                        <a:latin typeface="Cambria Math" panose="02040503050406030204" pitchFamily="18" charset="0"/>
                        <a:ea typeface="Cambria Math" panose="02040503050406030204" pitchFamily="18" charset="0"/>
                      </a:rPr>
                      <m:t>↔</m:t>
                    </m:r>
                  </m:oMath>
                </a14:m>
                <a:r>
                  <a:rPr lang="es-MX" sz="2000" dirty="0">
                    <a:latin typeface="+mn-lt"/>
                    <a:ea typeface="Roboto" panose="02000000000000000000" pitchFamily="2" charset="0"/>
                  </a:rPr>
                  <a:t>) siguiendo reglas como Modus Ponens, Eliminación de la conjunción, entre otras.</a:t>
                </a: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endParaRPr lang="es-MX" sz="2000" dirty="0">
                  <a:latin typeface="+mn-lt"/>
                  <a:ea typeface="Roboto" panose="02000000000000000000" pitchFamily="2" charset="0"/>
                </a:endParaRPr>
              </a:p>
              <a:p>
                <a:r>
                  <a:rPr lang="es-MX" sz="2000" dirty="0">
                    <a:latin typeface="+mn-lt"/>
                    <a:ea typeface="Roboto" panose="02000000000000000000" pitchFamily="2" charset="0"/>
                  </a:rPr>
                  <a:t>En </a:t>
                </a:r>
                <a:r>
                  <a:rPr lang="es-MX" sz="2000" b="1" dirty="0">
                    <a:latin typeface="+mn-lt"/>
                    <a:ea typeface="Roboto" panose="02000000000000000000" pitchFamily="2" charset="0"/>
                  </a:rPr>
                  <a:t>lógica de predicados</a:t>
                </a:r>
                <a:r>
                  <a:rPr lang="es-MX" sz="2000" dirty="0">
                    <a:latin typeface="+mn-lt"/>
                    <a:ea typeface="Roboto" panose="02000000000000000000" pitchFamily="2" charset="0"/>
                  </a:rPr>
                  <a:t>, además se usan cuantificadores (</a:t>
                </a:r>
                <a14:m>
                  <m:oMath xmlns:m="http://schemas.openxmlformats.org/officeDocument/2006/math">
                    <m:r>
                      <a:rPr lang="es-MX" sz="2000" b="0" i="1" smtClean="0">
                        <a:latin typeface="Cambria Math" panose="02040503050406030204" pitchFamily="18" charset="0"/>
                        <a:ea typeface="Roboto" panose="02000000000000000000" pitchFamily="2" charset="0"/>
                      </a:rPr>
                      <m:t>∀</m:t>
                    </m:r>
                  </m:oMath>
                </a14:m>
                <a:r>
                  <a:rPr lang="es-MX" sz="2000" dirty="0">
                    <a:latin typeface="+mn-lt"/>
                    <a:ea typeface="Roboto" panose="02000000000000000000" pitchFamily="2" charset="0"/>
                  </a:rPr>
                  <a:t>, </a:t>
                </a:r>
                <a14:m>
                  <m:oMath xmlns:m="http://schemas.openxmlformats.org/officeDocument/2006/math">
                    <m:r>
                      <a:rPr lang="es-MX" sz="2000" b="0" i="1" smtClean="0">
                        <a:latin typeface="Cambria Math" panose="02040503050406030204" pitchFamily="18" charset="0"/>
                        <a:ea typeface="Roboto" panose="02000000000000000000" pitchFamily="2" charset="0"/>
                      </a:rPr>
                      <m:t>∃</m:t>
                    </m:r>
                  </m:oMath>
                </a14:m>
                <a:r>
                  <a:rPr lang="es-MX" sz="2000" dirty="0">
                    <a:latin typeface="+mn-lt"/>
                    <a:ea typeface="Roboto" panose="02000000000000000000" pitchFamily="2" charset="0"/>
                  </a:rPr>
                  <a:t>) y se aplican reglas como la instanciación universal o la generalización existencial.</a:t>
                </a:r>
              </a:p>
              <a:p>
                <a:endParaRPr lang="es-MX" sz="2000" dirty="0">
                  <a:latin typeface="+mn-lt"/>
                  <a:ea typeface="Roboto" panose="02000000000000000000" pitchFamily="2" charset="0"/>
                </a:endParaRPr>
              </a:p>
            </p:txBody>
          </p:sp>
        </mc:Choice>
        <mc:Fallback xmlns="">
          <p:sp>
            <p:nvSpPr>
              <p:cNvPr id="5" name="Google Shape;310;p34">
                <a:extLst>
                  <a:ext uri="{FF2B5EF4-FFF2-40B4-BE49-F238E27FC236}">
                    <a16:creationId xmlns:a16="http://schemas.microsoft.com/office/drawing/2014/main" id="{9C63330C-F466-4BDA-A747-02626B58C6A6}"/>
                  </a:ext>
                </a:extLst>
              </p:cNvPr>
              <p:cNvSpPr txBox="1">
                <a:spLocks noRot="1" noChangeAspect="1" noMove="1" noResize="1" noEditPoints="1" noAdjustHandles="1" noChangeArrowheads="1" noChangeShapeType="1" noTextEdit="1"/>
              </p:cNvSpPr>
              <p:nvPr/>
            </p:nvSpPr>
            <p:spPr>
              <a:xfrm>
                <a:off x="530942" y="1247552"/>
                <a:ext cx="11130030" cy="5094254"/>
              </a:xfrm>
              <a:prstGeom prst="rect">
                <a:avLst/>
              </a:prstGeom>
              <a:blipFill>
                <a:blip r:embed="rId3"/>
                <a:stretch>
                  <a:fillRect/>
                </a:stretch>
              </a:blipFill>
              <a:ln>
                <a:noFill/>
              </a:ln>
            </p:spPr>
            <p:txBody>
              <a:bodyPr/>
              <a:lstStyle/>
              <a:p>
                <a:r>
                  <a:rPr lang="es-CO">
                    <a:noFill/>
                  </a:rPr>
                  <a:t> </a:t>
                </a:r>
              </a:p>
            </p:txBody>
          </p:sp>
        </mc:Fallback>
      </mc:AlternateContent>
      <p:grpSp>
        <p:nvGrpSpPr>
          <p:cNvPr id="19" name="Grupo 18">
            <a:extLst>
              <a:ext uri="{FF2B5EF4-FFF2-40B4-BE49-F238E27FC236}">
                <a16:creationId xmlns:a16="http://schemas.microsoft.com/office/drawing/2014/main" id="{5114539A-5339-4611-932F-027B413A22B9}"/>
              </a:ext>
            </a:extLst>
          </p:cNvPr>
          <p:cNvGrpSpPr/>
          <p:nvPr/>
        </p:nvGrpSpPr>
        <p:grpSpPr>
          <a:xfrm>
            <a:off x="1833145" y="3169786"/>
            <a:ext cx="2709898" cy="1405982"/>
            <a:chOff x="1832754" y="4517212"/>
            <a:chExt cx="2709898" cy="1405982"/>
          </a:xfrm>
        </p:grpSpPr>
        <p:grpSp>
          <p:nvGrpSpPr>
            <p:cNvPr id="20" name="Grupo 19">
              <a:extLst>
                <a:ext uri="{FF2B5EF4-FFF2-40B4-BE49-F238E27FC236}">
                  <a16:creationId xmlns:a16="http://schemas.microsoft.com/office/drawing/2014/main" id="{F0D61511-84BA-4230-A278-2BF13B0429F2}"/>
                </a:ext>
              </a:extLst>
            </p:cNvPr>
            <p:cNvGrpSpPr/>
            <p:nvPr/>
          </p:nvGrpSpPr>
          <p:grpSpPr>
            <a:xfrm>
              <a:off x="2082320" y="4999864"/>
              <a:ext cx="2120252" cy="923330"/>
              <a:chOff x="2082320" y="4999864"/>
              <a:chExt cx="2120252" cy="923330"/>
            </a:xfrm>
          </p:grpSpPr>
          <mc:AlternateContent xmlns:mc="http://schemas.openxmlformats.org/markup-compatibility/2006" xmlns:a14="http://schemas.microsoft.com/office/drawing/2010/main">
            <mc:Choice Requires="a14">
              <p:sp>
                <p:nvSpPr>
                  <p:cNvPr id="22" name="CuadroTexto 21">
                    <a:extLst>
                      <a:ext uri="{FF2B5EF4-FFF2-40B4-BE49-F238E27FC236}">
                        <a16:creationId xmlns:a16="http://schemas.microsoft.com/office/drawing/2014/main" id="{A1807FBD-0CB0-4540-8B3B-12FD0D5F9DAC}"/>
                      </a:ext>
                    </a:extLst>
                  </p:cNvPr>
                  <p:cNvSpPr txBox="1"/>
                  <p:nvPr/>
                </p:nvSpPr>
                <p:spPr>
                  <a:xfrm>
                    <a:off x="2082320" y="4999864"/>
                    <a:ext cx="2120252" cy="923330"/>
                  </a:xfrm>
                  <a:prstGeom prst="rect">
                    <a:avLst/>
                  </a:prstGeom>
                  <a:solidFill>
                    <a:schemeClr val="bg1">
                      <a:lumMod val="95000"/>
                    </a:schemeClr>
                  </a:solidFill>
                </p:spPr>
                <p:txBody>
                  <a:bodyPr wrap="square">
                    <a:spAutoFit/>
                  </a:bodyPr>
                  <a:lstStyle/>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Cambria Math" panose="02040503050406030204" pitchFamily="18" charset="0"/>
                            </a:rPr>
                            <m:t>𝑝</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oMath>
                      </m:oMathPara>
                    </a14:m>
                    <a:endParaRPr lang="es-MX" sz="1800" b="0"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Cambria Math" panose="02040503050406030204" pitchFamily="18" charset="0"/>
                            </a:rPr>
                            <m:t>𝑞</m:t>
                          </m:r>
                        </m:oMath>
                      </m:oMathPara>
                    </a14:m>
                    <a:endParaRPr lang="es-MX" sz="1800" b="0" i="0"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CO" sz="180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oMath>
                      </m:oMathPara>
                    </a14:m>
                    <a:endParaRPr lang="es-CO" sz="1800" i="1" dirty="0"/>
                  </a:p>
                </p:txBody>
              </p:sp>
            </mc:Choice>
            <mc:Fallback xmlns="">
              <p:sp>
                <p:nvSpPr>
                  <p:cNvPr id="17" name="CuadroTexto 16">
                    <a:extLst>
                      <a:ext uri="{FF2B5EF4-FFF2-40B4-BE49-F238E27FC236}">
                        <a16:creationId xmlns:a16="http://schemas.microsoft.com/office/drawing/2014/main" id="{66CC719B-ED7D-43F4-BCF3-52C6402DADAC}"/>
                      </a:ext>
                    </a:extLst>
                  </p:cNvPr>
                  <p:cNvSpPr txBox="1">
                    <a:spLocks noRot="1" noChangeAspect="1" noMove="1" noResize="1" noEditPoints="1" noAdjustHandles="1" noChangeArrowheads="1" noChangeShapeType="1" noTextEdit="1"/>
                  </p:cNvSpPr>
                  <p:nvPr/>
                </p:nvSpPr>
                <p:spPr>
                  <a:xfrm>
                    <a:off x="2082320" y="4999864"/>
                    <a:ext cx="2120252" cy="923330"/>
                  </a:xfrm>
                  <a:prstGeom prst="rect">
                    <a:avLst/>
                  </a:prstGeom>
                  <a:blipFill>
                    <a:blip r:embed="rId4"/>
                    <a:stretch>
                      <a:fillRect b="-2632"/>
                    </a:stretch>
                  </a:blipFill>
                </p:spPr>
                <p:txBody>
                  <a:bodyPr/>
                  <a:lstStyle/>
                  <a:p>
                    <a:r>
                      <a:rPr lang="es-CO">
                        <a:noFill/>
                      </a:rPr>
                      <a:t> </a:t>
                    </a:r>
                  </a:p>
                </p:txBody>
              </p:sp>
            </mc:Fallback>
          </mc:AlternateContent>
          <p:cxnSp>
            <p:nvCxnSpPr>
              <p:cNvPr id="23" name="Conector recto 22">
                <a:extLst>
                  <a:ext uri="{FF2B5EF4-FFF2-40B4-BE49-F238E27FC236}">
                    <a16:creationId xmlns:a16="http://schemas.microsoft.com/office/drawing/2014/main" id="{09C4F3BA-2F4F-42BE-A03E-F0CAB858A74F}"/>
                  </a:ext>
                </a:extLst>
              </p:cNvPr>
              <p:cNvCxnSpPr>
                <a:cxnSpLocks/>
              </p:cNvCxnSpPr>
              <p:nvPr/>
            </p:nvCxnSpPr>
            <p:spPr>
              <a:xfrm>
                <a:off x="2082320" y="5658658"/>
                <a:ext cx="2110763" cy="0"/>
              </a:xfrm>
              <a:prstGeom prst="line">
                <a:avLst/>
              </a:prstGeom>
              <a:solidFill>
                <a:schemeClr val="bg1">
                  <a:lumMod val="95000"/>
                </a:schemeClr>
              </a:solidFill>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1" name="CuadroTexto 20">
              <a:extLst>
                <a:ext uri="{FF2B5EF4-FFF2-40B4-BE49-F238E27FC236}">
                  <a16:creationId xmlns:a16="http://schemas.microsoft.com/office/drawing/2014/main" id="{31B90DE1-E343-4B98-A150-D9CD5D10D150}"/>
                </a:ext>
              </a:extLst>
            </p:cNvPr>
            <p:cNvSpPr txBox="1"/>
            <p:nvPr/>
          </p:nvSpPr>
          <p:spPr>
            <a:xfrm>
              <a:off x="1832754" y="4517212"/>
              <a:ext cx="2709898" cy="369332"/>
            </a:xfrm>
            <a:prstGeom prst="rect">
              <a:avLst/>
            </a:prstGeom>
            <a:noFill/>
          </p:spPr>
          <p:txBody>
            <a:bodyPr wrap="square">
              <a:spAutoFit/>
            </a:bodyPr>
            <a:lstStyle/>
            <a:p>
              <a:pPr algn="ctr"/>
              <a:r>
                <a:rPr lang="es-MX" b="1" dirty="0">
                  <a:ea typeface="Roboto" panose="02000000000000000000" pitchFamily="2" charset="0"/>
                </a:rPr>
                <a:t>Notación de consecuentes</a:t>
              </a:r>
              <a:endParaRPr lang="es-CO" b="1" dirty="0"/>
            </a:p>
          </p:txBody>
        </p:sp>
      </p:grpSp>
      <p:grpSp>
        <p:nvGrpSpPr>
          <p:cNvPr id="24" name="Grupo 23">
            <a:extLst>
              <a:ext uri="{FF2B5EF4-FFF2-40B4-BE49-F238E27FC236}">
                <a16:creationId xmlns:a16="http://schemas.microsoft.com/office/drawing/2014/main" id="{3DC5BE2C-15D3-43C3-8C24-0F6372C2EB60}"/>
              </a:ext>
            </a:extLst>
          </p:cNvPr>
          <p:cNvGrpSpPr/>
          <p:nvPr/>
        </p:nvGrpSpPr>
        <p:grpSpPr>
          <a:xfrm>
            <a:off x="8440424" y="3145696"/>
            <a:ext cx="2532376" cy="857693"/>
            <a:chOff x="8417974" y="4476562"/>
            <a:chExt cx="2532376" cy="857693"/>
          </a:xfrm>
        </p:grpSpPr>
        <mc:AlternateContent xmlns:mc="http://schemas.openxmlformats.org/markup-compatibility/2006" xmlns:a14="http://schemas.microsoft.com/office/drawing/2010/main">
          <mc:Choice Requires="a14">
            <p:sp>
              <p:nvSpPr>
                <p:cNvPr id="25" name="CuadroTexto 24">
                  <a:extLst>
                    <a:ext uri="{FF2B5EF4-FFF2-40B4-BE49-F238E27FC236}">
                      <a16:creationId xmlns:a16="http://schemas.microsoft.com/office/drawing/2014/main" id="{985A3A83-6A88-42B0-A43C-E537DBA47CB5}"/>
                    </a:ext>
                  </a:extLst>
                </p:cNvPr>
                <p:cNvSpPr txBox="1"/>
                <p:nvPr/>
              </p:nvSpPr>
              <p:spPr>
                <a:xfrm>
                  <a:off x="8517025" y="4964923"/>
                  <a:ext cx="2120252" cy="369332"/>
                </a:xfrm>
                <a:prstGeom prst="rect">
                  <a:avLst/>
                </a:prstGeom>
                <a:solidFill>
                  <a:schemeClr val="bg1">
                    <a:lumMod val="95000"/>
                  </a:schemeClr>
                </a:solidFill>
              </p:spPr>
              <p:txBody>
                <a:bodyPr wrap="square">
                  <a:spAutoFit/>
                </a:bodyPr>
                <a:lstStyle/>
                <a:p>
                  <a:pPr/>
                  <a14:m>
                    <m:oMathPara xmlns:m="http://schemas.openxmlformats.org/officeDocument/2006/math">
                      <m:oMathParaPr>
                        <m:jc m:val="center"/>
                      </m:oMathParaPr>
                      <m:oMath xmlns:m="http://schemas.openxmlformats.org/officeDocument/2006/math">
                        <m:d>
                          <m:dPr>
                            <m:ctrlPr>
                              <a:rPr lang="es-MX" sz="1800" i="1" smtClean="0">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𝑝</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e>
                        </m:d>
                        <m:r>
                          <a:rPr lang="es-MX" sz="1800" b="0" i="1" smtClean="0">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oMath>
                    </m:oMathPara>
                  </a14:m>
                  <a:endParaRPr lang="es-MX" sz="1800" b="0" i="0" dirty="0">
                    <a:latin typeface="Cambria Math" panose="02040503050406030204" pitchFamily="18" charset="0"/>
                    <a:ea typeface="Cambria Math" panose="02040503050406030204" pitchFamily="18" charset="0"/>
                  </a:endParaRPr>
                </a:p>
              </p:txBody>
            </p:sp>
          </mc:Choice>
          <mc:Fallback xmlns="">
            <p:sp>
              <p:nvSpPr>
                <p:cNvPr id="21" name="CuadroTexto 20">
                  <a:extLst>
                    <a:ext uri="{FF2B5EF4-FFF2-40B4-BE49-F238E27FC236}">
                      <a16:creationId xmlns:a16="http://schemas.microsoft.com/office/drawing/2014/main" id="{EC611098-794B-499F-9EA2-2A03D2213821}"/>
                    </a:ext>
                  </a:extLst>
                </p:cNvPr>
                <p:cNvSpPr txBox="1">
                  <a:spLocks noRot="1" noChangeAspect="1" noMove="1" noResize="1" noEditPoints="1" noAdjustHandles="1" noChangeArrowheads="1" noChangeShapeType="1" noTextEdit="1"/>
                </p:cNvSpPr>
                <p:nvPr/>
              </p:nvSpPr>
              <p:spPr>
                <a:xfrm>
                  <a:off x="8517025" y="4964923"/>
                  <a:ext cx="2120252" cy="369332"/>
                </a:xfrm>
                <a:prstGeom prst="rect">
                  <a:avLst/>
                </a:prstGeom>
                <a:blipFill>
                  <a:blip r:embed="rId5"/>
                  <a:stretch>
                    <a:fillRect b="-8197"/>
                  </a:stretch>
                </a:blipFill>
              </p:spPr>
              <p:txBody>
                <a:bodyPr/>
                <a:lstStyle/>
                <a:p>
                  <a:r>
                    <a:rPr lang="es-CO">
                      <a:noFill/>
                    </a:rPr>
                    <a:t> </a:t>
                  </a:r>
                </a:p>
              </p:txBody>
            </p:sp>
          </mc:Fallback>
        </mc:AlternateContent>
        <p:sp>
          <p:nvSpPr>
            <p:cNvPr id="26" name="CuadroTexto 25">
              <a:extLst>
                <a:ext uri="{FF2B5EF4-FFF2-40B4-BE49-F238E27FC236}">
                  <a16:creationId xmlns:a16="http://schemas.microsoft.com/office/drawing/2014/main" id="{AC4116E0-E47A-40FA-8CB7-83359F939476}"/>
                </a:ext>
              </a:extLst>
            </p:cNvPr>
            <p:cNvSpPr txBox="1"/>
            <p:nvPr/>
          </p:nvSpPr>
          <p:spPr>
            <a:xfrm>
              <a:off x="8417974" y="4476562"/>
              <a:ext cx="2532376" cy="369332"/>
            </a:xfrm>
            <a:prstGeom prst="rect">
              <a:avLst/>
            </a:prstGeom>
            <a:noFill/>
          </p:spPr>
          <p:txBody>
            <a:bodyPr wrap="square">
              <a:spAutoFit/>
            </a:bodyPr>
            <a:lstStyle/>
            <a:p>
              <a:pPr algn="ctr"/>
              <a:r>
                <a:rPr lang="es-MX" b="1" dirty="0">
                  <a:ea typeface="Roboto" panose="02000000000000000000" pitchFamily="2" charset="0"/>
                </a:rPr>
                <a:t>Notación proposicional</a:t>
              </a:r>
              <a:endParaRPr lang="es-CO" b="1" dirty="0"/>
            </a:p>
          </p:txBody>
        </p:sp>
      </p:grpSp>
      <p:grpSp>
        <p:nvGrpSpPr>
          <p:cNvPr id="27" name="Grupo 26">
            <a:extLst>
              <a:ext uri="{FF2B5EF4-FFF2-40B4-BE49-F238E27FC236}">
                <a16:creationId xmlns:a16="http://schemas.microsoft.com/office/drawing/2014/main" id="{AFD3F1A1-59AA-4F56-BE98-66332D996568}"/>
              </a:ext>
            </a:extLst>
          </p:cNvPr>
          <p:cNvGrpSpPr/>
          <p:nvPr/>
        </p:nvGrpSpPr>
        <p:grpSpPr>
          <a:xfrm>
            <a:off x="5219876" y="3169786"/>
            <a:ext cx="2318354" cy="833603"/>
            <a:chOff x="5231382" y="4513020"/>
            <a:chExt cx="2318354" cy="833603"/>
          </a:xfrm>
        </p:grpSpPr>
        <mc:AlternateContent xmlns:mc="http://schemas.openxmlformats.org/markup-compatibility/2006" xmlns:a14="http://schemas.microsoft.com/office/drawing/2010/main">
          <mc:Choice Requires="a14">
            <p:sp>
              <p:nvSpPr>
                <p:cNvPr id="28" name="CuadroTexto 27">
                  <a:extLst>
                    <a:ext uri="{FF2B5EF4-FFF2-40B4-BE49-F238E27FC236}">
                      <a16:creationId xmlns:a16="http://schemas.microsoft.com/office/drawing/2014/main" id="{0B1AAE49-275C-46D7-9D2C-3A5AA7328ADB}"/>
                    </a:ext>
                  </a:extLst>
                </p:cNvPr>
                <p:cNvSpPr txBox="1"/>
                <p:nvPr/>
              </p:nvSpPr>
              <p:spPr>
                <a:xfrm>
                  <a:off x="5429484" y="4977291"/>
                  <a:ext cx="2120252" cy="369332"/>
                </a:xfrm>
                <a:prstGeom prst="rect">
                  <a:avLst/>
                </a:prstGeom>
                <a:solidFill>
                  <a:schemeClr val="bg1">
                    <a:lumMod val="95000"/>
                  </a:schemeClr>
                </a:solidFill>
              </p:spPr>
              <p:txBody>
                <a:bodyPr wrap="square">
                  <a:spAutoFit/>
                </a:bodyPr>
                <a:lstStyle/>
                <a:p>
                  <a:pPr/>
                  <a14:m>
                    <m:oMathPara xmlns:m="http://schemas.openxmlformats.org/officeDocument/2006/math">
                      <m:oMathParaPr>
                        <m:jc m:val="center"/>
                      </m:oMathParaPr>
                      <m:oMath xmlns:m="http://schemas.openxmlformats.org/officeDocument/2006/math">
                        <m:d>
                          <m:dPr>
                            <m:begChr m:val="["/>
                            <m:endChr m:val="]"/>
                            <m:ctrlPr>
                              <a:rPr lang="es-MX" sz="1800" b="0" i="1" smtClean="0">
                                <a:latin typeface="Cambria Math" panose="02040503050406030204" pitchFamily="18" charset="0"/>
                                <a:ea typeface="Cambria Math" panose="02040503050406030204" pitchFamily="18" charset="0"/>
                              </a:rPr>
                            </m:ctrlPr>
                          </m:dPr>
                          <m:e>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𝑝</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e>
                            </m:d>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𝑞</m:t>
                            </m:r>
                          </m:e>
                        </m:d>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𝑞</m:t>
                        </m:r>
                      </m:oMath>
                    </m:oMathPara>
                  </a14:m>
                  <a:endParaRPr lang="es-MX" sz="1800" b="0" i="0" dirty="0">
                    <a:latin typeface="Cambria Math" panose="02040503050406030204" pitchFamily="18" charset="0"/>
                    <a:ea typeface="Cambria Math" panose="02040503050406030204" pitchFamily="18" charset="0"/>
                  </a:endParaRPr>
                </a:p>
              </p:txBody>
            </p:sp>
          </mc:Choice>
          <mc:Fallback xmlns="">
            <p:sp>
              <p:nvSpPr>
                <p:cNvPr id="20" name="CuadroTexto 19">
                  <a:extLst>
                    <a:ext uri="{FF2B5EF4-FFF2-40B4-BE49-F238E27FC236}">
                      <a16:creationId xmlns:a16="http://schemas.microsoft.com/office/drawing/2014/main" id="{08E46D20-7A7E-42FC-AF69-1ACA7E1CC264}"/>
                    </a:ext>
                  </a:extLst>
                </p:cNvPr>
                <p:cNvSpPr txBox="1">
                  <a:spLocks noRot="1" noChangeAspect="1" noMove="1" noResize="1" noEditPoints="1" noAdjustHandles="1" noChangeArrowheads="1" noChangeShapeType="1" noTextEdit="1"/>
                </p:cNvSpPr>
                <p:nvPr/>
              </p:nvSpPr>
              <p:spPr>
                <a:xfrm>
                  <a:off x="5429484" y="4977291"/>
                  <a:ext cx="2120252" cy="369332"/>
                </a:xfrm>
                <a:prstGeom prst="rect">
                  <a:avLst/>
                </a:prstGeom>
                <a:blipFill>
                  <a:blip r:embed="rId6"/>
                  <a:stretch>
                    <a:fillRect b="-8333"/>
                  </a:stretch>
                </a:blipFill>
              </p:spPr>
              <p:txBody>
                <a:bodyPr/>
                <a:lstStyle/>
                <a:p>
                  <a:r>
                    <a:rPr lang="es-CO">
                      <a:noFill/>
                    </a:rPr>
                    <a:t> </a:t>
                  </a:r>
                </a:p>
              </p:txBody>
            </p:sp>
          </mc:Fallback>
        </mc:AlternateContent>
        <p:sp>
          <p:nvSpPr>
            <p:cNvPr id="29" name="CuadroTexto 28">
              <a:extLst>
                <a:ext uri="{FF2B5EF4-FFF2-40B4-BE49-F238E27FC236}">
                  <a16:creationId xmlns:a16="http://schemas.microsoft.com/office/drawing/2014/main" id="{17C14D87-68B0-4E50-9ACB-1E9A5AF1F281}"/>
                </a:ext>
              </a:extLst>
            </p:cNvPr>
            <p:cNvSpPr txBox="1"/>
            <p:nvPr/>
          </p:nvSpPr>
          <p:spPr>
            <a:xfrm>
              <a:off x="5231382" y="4513020"/>
              <a:ext cx="2318354" cy="369332"/>
            </a:xfrm>
            <a:prstGeom prst="rect">
              <a:avLst/>
            </a:prstGeom>
            <a:noFill/>
          </p:spPr>
          <p:txBody>
            <a:bodyPr wrap="square">
              <a:spAutoFit/>
            </a:bodyPr>
            <a:lstStyle/>
            <a:p>
              <a:pPr algn="ctr"/>
              <a:r>
                <a:rPr lang="es-MX" b="1" dirty="0">
                  <a:ea typeface="Roboto" panose="02000000000000000000" pitchFamily="2" charset="0"/>
                </a:rPr>
                <a:t>Tautología</a:t>
              </a:r>
              <a:endParaRPr lang="es-CO" b="1" dirty="0"/>
            </a:p>
          </p:txBody>
        </p:sp>
      </p:grpSp>
    </p:spTree>
    <p:extLst>
      <p:ext uri="{BB962C8B-B14F-4D97-AF65-F5344CB8AC3E}">
        <p14:creationId xmlns:p14="http://schemas.microsoft.com/office/powerpoint/2010/main" val="18807257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59449" y="122690"/>
            <a:ext cx="10188885"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Reglas de inferencia con cuantificadores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59449" y="836215"/>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tabLst>
                <a:tab pos="4808538" algn="l"/>
              </a:tabLst>
            </a:pPr>
            <a:r>
              <a:rPr lang="es-MX" b="1" dirty="0">
                <a:solidFill>
                  <a:schemeClr val="accent2"/>
                </a:solidFill>
                <a:latin typeface="+mn-lt"/>
              </a:rPr>
              <a:t>Reglas de inferencia</a:t>
            </a:r>
            <a:endParaRPr lang="es-MX" dirty="0">
              <a:solidFill>
                <a:schemeClr val="accent2"/>
              </a:solidFill>
              <a:latin typeface="+mn-lt"/>
            </a:endParaRPr>
          </a:p>
          <a:p>
            <a:pPr marL="0" indent="0">
              <a:buFont typeface="Roboto"/>
              <a:buNone/>
            </a:pPr>
            <a:endParaRPr lang="es-MX" sz="2400" dirty="0">
              <a:latin typeface="+mn-lt"/>
            </a:endParaRPr>
          </a:p>
          <a:p>
            <a:pPr indent="0">
              <a:buFont typeface="Roboto"/>
              <a:buNone/>
            </a:pPr>
            <a:endParaRPr lang="es-MX" sz="2400" dirty="0">
              <a:latin typeface="+mn-lt"/>
            </a:endParaRPr>
          </a:p>
        </p:txBody>
      </p:sp>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459450" y="1419021"/>
            <a:ext cx="11372546" cy="2601279"/>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200" dirty="0">
                <a:latin typeface="+mn-lt"/>
                <a:ea typeface="Roboto" panose="02000000000000000000" pitchFamily="2" charset="0"/>
              </a:rPr>
              <a:t>Los argumentos válidos con enunciados cuantificados consisten en una secuencia de afirmaciones. Cada afirmación es una premisa o se deduce de afirmaciones anteriores mediante reglas de inferencia, que incluyen:</a:t>
            </a:r>
          </a:p>
          <a:p>
            <a:pPr lvl="1"/>
            <a:r>
              <a:rPr lang="es-MX" sz="2400" dirty="0">
                <a:latin typeface="+mn-lt"/>
                <a:ea typeface="Roboto" panose="02000000000000000000" pitchFamily="2" charset="0"/>
              </a:rPr>
              <a:t>Reglas de inferencia para la lógica proposicional</a:t>
            </a:r>
          </a:p>
          <a:p>
            <a:pPr lvl="1"/>
            <a:r>
              <a:rPr lang="es-MX" sz="2400" dirty="0">
                <a:latin typeface="+mn-lt"/>
                <a:ea typeface="Roboto" panose="02000000000000000000" pitchFamily="2" charset="0"/>
              </a:rPr>
              <a:t>Reglas de inferencia para enunciados cuantificados</a:t>
            </a:r>
          </a:p>
          <a:p>
            <a:r>
              <a:rPr lang="es-MX" sz="2200" dirty="0">
                <a:latin typeface="+mn-lt"/>
                <a:ea typeface="Roboto" panose="02000000000000000000" pitchFamily="2" charset="0"/>
              </a:rPr>
              <a:t>Las reglas de inferencia para enunciados cuantificados se resumen en la siguiente tabla:</a:t>
            </a:r>
          </a:p>
          <a:p>
            <a:pPr lvl="1"/>
            <a:endParaRPr lang="es-MX" sz="1800" dirty="0">
              <a:latin typeface="+mn-lt"/>
              <a:ea typeface="Roboto" panose="02000000000000000000" pitchFamily="2" charset="0"/>
            </a:endParaRPr>
          </a:p>
        </p:txBody>
      </p:sp>
      <mc:AlternateContent xmlns:mc="http://schemas.openxmlformats.org/markup-compatibility/2006" xmlns:a14="http://schemas.microsoft.com/office/drawing/2010/main">
        <mc:Choice Requires="a14">
          <p:graphicFrame>
            <p:nvGraphicFramePr>
              <p:cNvPr id="3" name="Tabla 4">
                <a:extLst>
                  <a:ext uri="{FF2B5EF4-FFF2-40B4-BE49-F238E27FC236}">
                    <a16:creationId xmlns:a16="http://schemas.microsoft.com/office/drawing/2014/main" id="{F8DA88F8-0889-4EF4-A1A9-22AAAC26FF1F}"/>
                  </a:ext>
                </a:extLst>
              </p:cNvPr>
              <p:cNvGraphicFramePr>
                <a:graphicFrameLocks noGrp="1"/>
              </p:cNvGraphicFramePr>
              <p:nvPr>
                <p:extLst>
                  <p:ext uri="{D42A27DB-BD31-4B8C-83A1-F6EECF244321}">
                    <p14:modId xmlns:p14="http://schemas.microsoft.com/office/powerpoint/2010/main" val="1915903544"/>
                  </p:ext>
                </p:extLst>
              </p:nvPr>
            </p:nvGraphicFramePr>
            <p:xfrm>
              <a:off x="1544226" y="4114129"/>
              <a:ext cx="9202994" cy="1981200"/>
            </p:xfrm>
            <a:graphic>
              <a:graphicData uri="http://schemas.openxmlformats.org/drawingml/2006/table">
                <a:tbl>
                  <a:tblPr firstRow="1" bandRow="1">
                    <a:tableStyleId>{AD6A3598-7CB8-4345-8D95-17CE05F158A0}</a:tableStyleId>
                  </a:tblPr>
                  <a:tblGrid>
                    <a:gridCol w="927790">
                      <a:extLst>
                        <a:ext uri="{9D8B030D-6E8A-4147-A177-3AD203B41FA5}">
                          <a16:colId xmlns:a16="http://schemas.microsoft.com/office/drawing/2014/main" val="2874355610"/>
                        </a:ext>
                      </a:extLst>
                    </a:gridCol>
                    <a:gridCol w="6310069">
                      <a:extLst>
                        <a:ext uri="{9D8B030D-6E8A-4147-A177-3AD203B41FA5}">
                          <a16:colId xmlns:a16="http://schemas.microsoft.com/office/drawing/2014/main" val="2423713577"/>
                        </a:ext>
                      </a:extLst>
                    </a:gridCol>
                    <a:gridCol w="1965135">
                      <a:extLst>
                        <a:ext uri="{9D8B030D-6E8A-4147-A177-3AD203B41FA5}">
                          <a16:colId xmlns:a16="http://schemas.microsoft.com/office/drawing/2014/main" val="1166162323"/>
                        </a:ext>
                      </a:extLst>
                    </a:gridCol>
                  </a:tblGrid>
                  <a:tr h="217117">
                    <a:tc>
                      <a:txBody>
                        <a:bodyPr/>
                        <a:lstStyle/>
                        <a:p>
                          <a:r>
                            <a:rPr lang="es-CO" sz="2000" b="1" dirty="0">
                              <a:latin typeface="+mn-lt"/>
                              <a:ea typeface="Roboto" panose="02000000000000000000" pitchFamily="2" charset="0"/>
                            </a:rPr>
                            <a:t>Regla</a:t>
                          </a:r>
                        </a:p>
                      </a:txBody>
                      <a:tcPr>
                        <a:solidFill>
                          <a:schemeClr val="bg1">
                            <a:lumMod val="95000"/>
                          </a:schemeClr>
                        </a:solidFill>
                      </a:tcPr>
                    </a:tc>
                    <a:tc>
                      <a:txBody>
                        <a:bodyPr/>
                        <a:lstStyle/>
                        <a:p>
                          <a:r>
                            <a:rPr lang="es-CO" sz="2000" b="1" dirty="0">
                              <a:latin typeface="+mn-lt"/>
                              <a:ea typeface="Roboto" panose="02000000000000000000" pitchFamily="2" charset="0"/>
                            </a:rPr>
                            <a:t>Nombre</a:t>
                          </a:r>
                        </a:p>
                      </a:txBody>
                      <a:tcPr>
                        <a:solidFill>
                          <a:schemeClr val="bg1">
                            <a:lumMod val="95000"/>
                          </a:schemeClr>
                        </a:solidFill>
                      </a:tcPr>
                    </a:tc>
                    <a:tc>
                      <a:txBody>
                        <a:bodyPr/>
                        <a:lstStyle/>
                        <a:p>
                          <a:r>
                            <a:rPr lang="es-CO" sz="2000" b="1" dirty="0">
                              <a:latin typeface="+mn-lt"/>
                              <a:ea typeface="Roboto" panose="02000000000000000000" pitchFamily="2" charset="0"/>
                            </a:rPr>
                            <a:t>Forma</a:t>
                          </a:r>
                        </a:p>
                      </a:txBody>
                      <a:tcPr>
                        <a:solidFill>
                          <a:schemeClr val="bg1">
                            <a:lumMod val="95000"/>
                          </a:schemeClr>
                        </a:solidFill>
                      </a:tcPr>
                    </a:tc>
                    <a:extLst>
                      <a:ext uri="{0D108BD9-81ED-4DB2-BD59-A6C34878D82A}">
                        <a16:rowId xmlns:a16="http://schemas.microsoft.com/office/drawing/2014/main" val="3285160449"/>
                      </a:ext>
                    </a:extLst>
                  </a:tr>
                  <a:tr h="30336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𝐼</m:t>
                                </m:r>
                              </m:oMath>
                            </m:oMathPara>
                          </a14:m>
                          <a:endParaRPr lang="es-CO" sz="18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Instanciación universal (UI: Universal Instantiation)</a:t>
                          </a:r>
                        </a:p>
                      </a:txBody>
                      <a:tcPr/>
                    </a:tc>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𝑥</m:t>
                                </m:r>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𝑃</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𝑥</m:t>
                                    </m:r>
                                  </m:e>
                                </m:d>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Roboto" panose="02000000000000000000" pitchFamily="2" charset="0"/>
                                  </a:rPr>
                                  <m:t>𝑃</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𝑐</m:t>
                                    </m:r>
                                  </m:e>
                                </m:d>
                              </m:oMath>
                            </m:oMathPara>
                          </a14:m>
                          <a:endParaRPr lang="es-CO" sz="1800" dirty="0">
                            <a:latin typeface="+mn-lt"/>
                            <a:ea typeface="Roboto" panose="02000000000000000000" pitchFamily="2" charset="0"/>
                          </a:endParaRPr>
                        </a:p>
                      </a:txBody>
                      <a:tcPr/>
                    </a:tc>
                    <a:extLst>
                      <a:ext uri="{0D108BD9-81ED-4DB2-BD59-A6C34878D82A}">
                        <a16:rowId xmlns:a16="http://schemas.microsoft.com/office/drawing/2014/main" val="1973686763"/>
                      </a:ext>
                    </a:extLst>
                  </a:tr>
                  <a:tr h="303369">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𝐺</m:t>
                                </m:r>
                              </m:oMath>
                            </m:oMathPara>
                          </a14:m>
                          <a:endParaRPr lang="es-CO" sz="18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Generalización universal (UG: Universal Generalization)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𝑃</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𝑐</m:t>
                                    </m:r>
                                  </m:e>
                                </m:d>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𝑥</m:t>
                                </m:r>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𝑃</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𝑥</m:t>
                                    </m:r>
                                  </m:e>
                                </m:d>
                              </m:oMath>
                            </m:oMathPara>
                          </a14:m>
                          <a:endParaRPr lang="es-CO" sz="1800" dirty="0">
                            <a:latin typeface="+mn-lt"/>
                            <a:ea typeface="Roboto" panose="02000000000000000000" pitchFamily="2" charset="0"/>
                          </a:endParaRPr>
                        </a:p>
                      </a:txBody>
                      <a:tcPr/>
                    </a:tc>
                    <a:extLst>
                      <a:ext uri="{0D108BD9-81ED-4DB2-BD59-A6C34878D82A}">
                        <a16:rowId xmlns:a16="http://schemas.microsoft.com/office/drawing/2014/main" val="3375821675"/>
                      </a:ext>
                    </a:extLst>
                  </a:tr>
                  <a:tr h="303369">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𝐼</m:t>
                                </m:r>
                              </m:oMath>
                            </m:oMathPara>
                          </a14:m>
                          <a:endParaRPr lang="es-CO" sz="18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Instanciación existencial (EI: Existential  Instantiation)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𝑥</m:t>
                                </m:r>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𝑃</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𝑥</m:t>
                                    </m:r>
                                  </m:e>
                                </m:d>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Roboto" panose="02000000000000000000" pitchFamily="2" charset="0"/>
                                  </a:rPr>
                                  <m:t>𝑃</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𝑐</m:t>
                                    </m:r>
                                  </m:e>
                                </m:d>
                              </m:oMath>
                            </m:oMathPara>
                          </a14:m>
                          <a:endParaRPr lang="es-CO" sz="1800" dirty="0">
                            <a:latin typeface="+mn-lt"/>
                            <a:ea typeface="Roboto" panose="02000000000000000000" pitchFamily="2" charset="0"/>
                          </a:endParaRPr>
                        </a:p>
                      </a:txBody>
                      <a:tcPr/>
                    </a:tc>
                    <a:extLst>
                      <a:ext uri="{0D108BD9-81ED-4DB2-BD59-A6C34878D82A}">
                        <a16:rowId xmlns:a16="http://schemas.microsoft.com/office/drawing/2014/main" val="1426096953"/>
                      </a:ext>
                    </a:extLst>
                  </a:tr>
                  <a:tr h="303369">
                    <a:tc>
                      <a:txBody>
                        <a:bodyPr/>
                        <a:lstStyle/>
                        <a:p>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𝐺</m:t>
                                </m:r>
                              </m:oMath>
                            </m:oMathPara>
                          </a14:m>
                          <a:endParaRPr lang="es-CO" sz="18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Generalización existencial (EG: Existential Generalization)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800" b="0" i="1" smtClean="0">
                                    <a:latin typeface="Cambria Math" panose="02040503050406030204" pitchFamily="18" charset="0"/>
                                    <a:ea typeface="Roboto" panose="02000000000000000000" pitchFamily="2" charset="0"/>
                                  </a:rPr>
                                  <m:t>𝑃</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𝑐</m:t>
                                    </m:r>
                                  </m:e>
                                </m:d>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𝑥</m:t>
                                </m:r>
                                <m:r>
                                  <a:rPr lang="es-MX" sz="1800" b="0" i="1" smtClean="0">
                                    <a:latin typeface="Cambria Math" panose="02040503050406030204" pitchFamily="18" charset="0"/>
                                    <a:ea typeface="Roboto" panose="02000000000000000000" pitchFamily="2" charset="0"/>
                                  </a:rPr>
                                  <m:t> </m:t>
                                </m:r>
                                <m:r>
                                  <a:rPr lang="es-MX" sz="1800" b="0" i="1" smtClean="0">
                                    <a:latin typeface="Cambria Math" panose="02040503050406030204" pitchFamily="18" charset="0"/>
                                    <a:ea typeface="Roboto" panose="02000000000000000000" pitchFamily="2" charset="0"/>
                                  </a:rPr>
                                  <m:t>𝑃</m:t>
                                </m:r>
                                <m:d>
                                  <m:dPr>
                                    <m:ctrlPr>
                                      <a:rPr lang="es-MX" sz="1800" b="0" i="1" smtClean="0">
                                        <a:latin typeface="Cambria Math" panose="02040503050406030204" pitchFamily="18" charset="0"/>
                                        <a:ea typeface="Roboto" panose="02000000000000000000" pitchFamily="2" charset="0"/>
                                      </a:rPr>
                                    </m:ctrlPr>
                                  </m:dPr>
                                  <m:e>
                                    <m:r>
                                      <a:rPr lang="es-MX" sz="1800" b="0" i="1" smtClean="0">
                                        <a:latin typeface="Cambria Math" panose="02040503050406030204" pitchFamily="18" charset="0"/>
                                        <a:ea typeface="Roboto" panose="02000000000000000000" pitchFamily="2" charset="0"/>
                                      </a:rPr>
                                      <m:t>𝑥</m:t>
                                    </m:r>
                                  </m:e>
                                </m:d>
                              </m:oMath>
                            </m:oMathPara>
                          </a14:m>
                          <a:endParaRPr lang="es-CO" sz="1800" dirty="0">
                            <a:latin typeface="+mn-lt"/>
                            <a:ea typeface="Roboto" panose="02000000000000000000" pitchFamily="2" charset="0"/>
                          </a:endParaRPr>
                        </a:p>
                      </a:txBody>
                      <a:tcPr/>
                    </a:tc>
                    <a:extLst>
                      <a:ext uri="{0D108BD9-81ED-4DB2-BD59-A6C34878D82A}">
                        <a16:rowId xmlns:a16="http://schemas.microsoft.com/office/drawing/2014/main" val="2271411488"/>
                      </a:ext>
                    </a:extLst>
                  </a:tr>
                </a:tbl>
              </a:graphicData>
            </a:graphic>
          </p:graphicFrame>
        </mc:Choice>
        <mc:Fallback xmlns="">
          <p:graphicFrame>
            <p:nvGraphicFramePr>
              <p:cNvPr id="3" name="Tabla 4">
                <a:extLst>
                  <a:ext uri="{FF2B5EF4-FFF2-40B4-BE49-F238E27FC236}">
                    <a16:creationId xmlns:a16="http://schemas.microsoft.com/office/drawing/2014/main" id="{F8DA88F8-0889-4EF4-A1A9-22AAAC26FF1F}"/>
                  </a:ext>
                </a:extLst>
              </p:cNvPr>
              <p:cNvGraphicFramePr>
                <a:graphicFrameLocks noGrp="1"/>
              </p:cNvGraphicFramePr>
              <p:nvPr>
                <p:extLst>
                  <p:ext uri="{D42A27DB-BD31-4B8C-83A1-F6EECF244321}">
                    <p14:modId xmlns:p14="http://schemas.microsoft.com/office/powerpoint/2010/main" val="1915903544"/>
                  </p:ext>
                </p:extLst>
              </p:nvPr>
            </p:nvGraphicFramePr>
            <p:xfrm>
              <a:off x="1544226" y="4114129"/>
              <a:ext cx="9202994" cy="1981200"/>
            </p:xfrm>
            <a:graphic>
              <a:graphicData uri="http://schemas.openxmlformats.org/drawingml/2006/table">
                <a:tbl>
                  <a:tblPr firstRow="1" bandRow="1">
                    <a:tableStyleId>{AD6A3598-7CB8-4345-8D95-17CE05F158A0}</a:tableStyleId>
                  </a:tblPr>
                  <a:tblGrid>
                    <a:gridCol w="927790">
                      <a:extLst>
                        <a:ext uri="{9D8B030D-6E8A-4147-A177-3AD203B41FA5}">
                          <a16:colId xmlns:a16="http://schemas.microsoft.com/office/drawing/2014/main" val="2874355610"/>
                        </a:ext>
                      </a:extLst>
                    </a:gridCol>
                    <a:gridCol w="6310069">
                      <a:extLst>
                        <a:ext uri="{9D8B030D-6E8A-4147-A177-3AD203B41FA5}">
                          <a16:colId xmlns:a16="http://schemas.microsoft.com/office/drawing/2014/main" val="2423713577"/>
                        </a:ext>
                      </a:extLst>
                    </a:gridCol>
                    <a:gridCol w="1965135">
                      <a:extLst>
                        <a:ext uri="{9D8B030D-6E8A-4147-A177-3AD203B41FA5}">
                          <a16:colId xmlns:a16="http://schemas.microsoft.com/office/drawing/2014/main" val="1166162323"/>
                        </a:ext>
                      </a:extLst>
                    </a:gridCol>
                  </a:tblGrid>
                  <a:tr h="396240">
                    <a:tc>
                      <a:txBody>
                        <a:bodyPr/>
                        <a:lstStyle/>
                        <a:p>
                          <a:r>
                            <a:rPr lang="es-CO" sz="2000" b="1" dirty="0">
                              <a:latin typeface="+mn-lt"/>
                              <a:ea typeface="Roboto" panose="02000000000000000000" pitchFamily="2" charset="0"/>
                            </a:rPr>
                            <a:t>Regla</a:t>
                          </a:r>
                        </a:p>
                      </a:txBody>
                      <a:tcPr>
                        <a:solidFill>
                          <a:schemeClr val="bg1">
                            <a:lumMod val="95000"/>
                          </a:schemeClr>
                        </a:solidFill>
                      </a:tcPr>
                    </a:tc>
                    <a:tc>
                      <a:txBody>
                        <a:bodyPr/>
                        <a:lstStyle/>
                        <a:p>
                          <a:r>
                            <a:rPr lang="es-CO" sz="2000" b="1" dirty="0">
                              <a:latin typeface="+mn-lt"/>
                              <a:ea typeface="Roboto" panose="02000000000000000000" pitchFamily="2" charset="0"/>
                            </a:rPr>
                            <a:t>Nombre</a:t>
                          </a:r>
                        </a:p>
                      </a:txBody>
                      <a:tcPr>
                        <a:solidFill>
                          <a:schemeClr val="bg1">
                            <a:lumMod val="95000"/>
                          </a:schemeClr>
                        </a:solidFill>
                      </a:tcPr>
                    </a:tc>
                    <a:tc>
                      <a:txBody>
                        <a:bodyPr/>
                        <a:lstStyle/>
                        <a:p>
                          <a:r>
                            <a:rPr lang="es-CO" sz="2000" b="1" dirty="0">
                              <a:latin typeface="+mn-lt"/>
                              <a:ea typeface="Roboto" panose="02000000000000000000" pitchFamily="2" charset="0"/>
                            </a:rPr>
                            <a:t>Forma</a:t>
                          </a:r>
                        </a:p>
                      </a:txBody>
                      <a:tcPr>
                        <a:solidFill>
                          <a:schemeClr val="bg1">
                            <a:lumMod val="95000"/>
                          </a:schemeClr>
                        </a:solidFill>
                      </a:tcPr>
                    </a:tc>
                    <a:extLst>
                      <a:ext uri="{0D108BD9-81ED-4DB2-BD59-A6C34878D82A}">
                        <a16:rowId xmlns:a16="http://schemas.microsoft.com/office/drawing/2014/main" val="3285160449"/>
                      </a:ext>
                    </a:extLst>
                  </a:tr>
                  <a:tr h="396240">
                    <a:tc>
                      <a:txBody>
                        <a:bodyPr/>
                        <a:lstStyle/>
                        <a:p>
                          <a:endParaRPr lang="es-CO"/>
                        </a:p>
                      </a:txBody>
                      <a:tcPr>
                        <a:blipFill>
                          <a:blip r:embed="rId3"/>
                          <a:stretch>
                            <a:fillRect l="-658" t="-107692" r="-894737" b="-329231"/>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Instanciación universal (UI: Universal Instantiation)</a:t>
                          </a:r>
                        </a:p>
                      </a:txBody>
                      <a:tcPr/>
                    </a:tc>
                    <a:tc>
                      <a:txBody>
                        <a:bodyPr/>
                        <a:lstStyle/>
                        <a:p>
                          <a:endParaRPr lang="es-CO"/>
                        </a:p>
                      </a:txBody>
                      <a:tcPr>
                        <a:blipFill>
                          <a:blip r:embed="rId3"/>
                          <a:stretch>
                            <a:fillRect l="-369255" t="-107692" r="-621" b="-329231"/>
                          </a:stretch>
                        </a:blipFill>
                      </a:tcPr>
                    </a:tc>
                    <a:extLst>
                      <a:ext uri="{0D108BD9-81ED-4DB2-BD59-A6C34878D82A}">
                        <a16:rowId xmlns:a16="http://schemas.microsoft.com/office/drawing/2014/main" val="1973686763"/>
                      </a:ext>
                    </a:extLst>
                  </a:tr>
                  <a:tr h="396240">
                    <a:tc>
                      <a:txBody>
                        <a:bodyPr/>
                        <a:lstStyle/>
                        <a:p>
                          <a:endParaRPr lang="es-CO"/>
                        </a:p>
                      </a:txBody>
                      <a:tcPr>
                        <a:blipFill>
                          <a:blip r:embed="rId3"/>
                          <a:stretch>
                            <a:fillRect l="-658" t="-204545" r="-894737" b="-224242"/>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Generalización universal (UG: Universal Generalization)</a:t>
                          </a:r>
                        </a:p>
                      </a:txBody>
                      <a:tcPr/>
                    </a:tc>
                    <a:tc>
                      <a:txBody>
                        <a:bodyPr/>
                        <a:lstStyle/>
                        <a:p>
                          <a:endParaRPr lang="es-CO"/>
                        </a:p>
                      </a:txBody>
                      <a:tcPr>
                        <a:blipFill>
                          <a:blip r:embed="rId3"/>
                          <a:stretch>
                            <a:fillRect l="-369255" t="-204545" r="-621" b="-224242"/>
                          </a:stretch>
                        </a:blipFill>
                      </a:tcPr>
                    </a:tc>
                    <a:extLst>
                      <a:ext uri="{0D108BD9-81ED-4DB2-BD59-A6C34878D82A}">
                        <a16:rowId xmlns:a16="http://schemas.microsoft.com/office/drawing/2014/main" val="3375821675"/>
                      </a:ext>
                    </a:extLst>
                  </a:tr>
                  <a:tr h="396240">
                    <a:tc>
                      <a:txBody>
                        <a:bodyPr/>
                        <a:lstStyle/>
                        <a:p>
                          <a:endParaRPr lang="es-CO"/>
                        </a:p>
                      </a:txBody>
                      <a:tcPr>
                        <a:blipFill>
                          <a:blip r:embed="rId3"/>
                          <a:stretch>
                            <a:fillRect l="-658" t="-309231" r="-894737" b="-127692"/>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Instanciación existencial (EI: Existential  Instantiation)</a:t>
                          </a:r>
                        </a:p>
                      </a:txBody>
                      <a:tcPr/>
                    </a:tc>
                    <a:tc>
                      <a:txBody>
                        <a:bodyPr/>
                        <a:lstStyle/>
                        <a:p>
                          <a:endParaRPr lang="es-CO"/>
                        </a:p>
                      </a:txBody>
                      <a:tcPr>
                        <a:blipFill>
                          <a:blip r:embed="rId3"/>
                          <a:stretch>
                            <a:fillRect l="-369255" t="-309231" r="-621" b="-127692"/>
                          </a:stretch>
                        </a:blipFill>
                      </a:tcPr>
                    </a:tc>
                    <a:extLst>
                      <a:ext uri="{0D108BD9-81ED-4DB2-BD59-A6C34878D82A}">
                        <a16:rowId xmlns:a16="http://schemas.microsoft.com/office/drawing/2014/main" val="1426096953"/>
                      </a:ext>
                    </a:extLst>
                  </a:tr>
                  <a:tr h="396240">
                    <a:tc>
                      <a:txBody>
                        <a:bodyPr/>
                        <a:lstStyle/>
                        <a:p>
                          <a:endParaRPr lang="es-CO"/>
                        </a:p>
                      </a:txBody>
                      <a:tcPr>
                        <a:blipFill>
                          <a:blip r:embed="rId3"/>
                          <a:stretch>
                            <a:fillRect l="-658" t="-409231" r="-894737" b="-27692"/>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2000" dirty="0">
                              <a:latin typeface="+mn-lt"/>
                              <a:ea typeface="Roboto" panose="02000000000000000000" pitchFamily="2" charset="0"/>
                            </a:rPr>
                            <a:t>Generalización existencial (EG: Existential Generalization)</a:t>
                          </a:r>
                        </a:p>
                      </a:txBody>
                      <a:tcPr/>
                    </a:tc>
                    <a:tc>
                      <a:txBody>
                        <a:bodyPr/>
                        <a:lstStyle/>
                        <a:p>
                          <a:endParaRPr lang="es-CO"/>
                        </a:p>
                      </a:txBody>
                      <a:tcPr>
                        <a:blipFill>
                          <a:blip r:embed="rId3"/>
                          <a:stretch>
                            <a:fillRect l="-369255" t="-409231" r="-621" b="-27692"/>
                          </a:stretch>
                        </a:blipFill>
                      </a:tcPr>
                    </a:tc>
                    <a:extLst>
                      <a:ext uri="{0D108BD9-81ED-4DB2-BD59-A6C34878D82A}">
                        <a16:rowId xmlns:a16="http://schemas.microsoft.com/office/drawing/2014/main" val="2271411488"/>
                      </a:ext>
                    </a:extLst>
                  </a:tr>
                </a:tbl>
              </a:graphicData>
            </a:graphic>
          </p:graphicFrame>
        </mc:Fallback>
      </mc:AlternateContent>
    </p:spTree>
    <p:extLst>
      <p:ext uri="{BB962C8B-B14F-4D97-AF65-F5344CB8AC3E}">
        <p14:creationId xmlns:p14="http://schemas.microsoft.com/office/powerpoint/2010/main" val="18328094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589935" y="96038"/>
            <a:ext cx="10685415"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Reglas de inferencia con cuantificadores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589935" y="793950"/>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Instanciación universal</a:t>
            </a:r>
            <a:endParaRPr lang="es-MX" dirty="0">
              <a:solidFill>
                <a:schemeClr val="accent2"/>
              </a:solidFill>
              <a:latin typeface="+mn-lt"/>
            </a:endParaRPr>
          </a:p>
          <a:p>
            <a:pPr marL="0" indent="0">
              <a:buFont typeface="Roboto"/>
              <a:buNone/>
            </a:pPr>
            <a:endParaRPr lang="es-MX" sz="2400" dirty="0">
              <a:latin typeface="+mn-lt"/>
            </a:endParaRPr>
          </a:p>
          <a:p>
            <a:pPr indent="0">
              <a:buFont typeface="Roboto"/>
              <a:buNone/>
            </a:pPr>
            <a:endParaRPr lang="es-MX" sz="2400" dirty="0">
              <a:latin typeface="+mn-lt"/>
            </a:endParaRPr>
          </a:p>
        </p:txBody>
      </p:sp>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410496" y="1404383"/>
            <a:ext cx="11044291" cy="13446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latin typeface="+mn-lt"/>
                <a:ea typeface="Roboto" panose="02000000000000000000" pitchFamily="2" charset="0"/>
              </a:rPr>
              <a:t>Es una regla que permite pasar de una </a:t>
            </a:r>
            <a:r>
              <a:rPr lang="es-MX" sz="2000" b="1" dirty="0">
                <a:latin typeface="+mn-lt"/>
                <a:ea typeface="Roboto" panose="02000000000000000000" pitchFamily="2" charset="0"/>
              </a:rPr>
              <a:t>afirmación general</a:t>
            </a:r>
            <a:r>
              <a:rPr lang="es-MX" sz="2000" dirty="0">
                <a:latin typeface="+mn-lt"/>
                <a:ea typeface="Roboto" panose="02000000000000000000" pitchFamily="2" charset="0"/>
              </a:rPr>
              <a:t> (válida para todos los elementos del dominio) a una </a:t>
            </a:r>
            <a:r>
              <a:rPr lang="es-MX" sz="2000" b="1" dirty="0">
                <a:latin typeface="+mn-lt"/>
                <a:ea typeface="Roboto" panose="02000000000000000000" pitchFamily="2" charset="0"/>
              </a:rPr>
              <a:t>afirmación particular</a:t>
            </a:r>
            <a:r>
              <a:rPr lang="es-MX" sz="2000" dirty="0">
                <a:latin typeface="+mn-lt"/>
                <a:ea typeface="Roboto" panose="02000000000000000000" pitchFamily="2" charset="0"/>
              </a:rPr>
              <a:t> (válida para un caso específico).</a:t>
            </a:r>
          </a:p>
          <a:p>
            <a:r>
              <a:rPr lang="es-MX" sz="2000" b="1" dirty="0">
                <a:latin typeface="+mn-lt"/>
                <a:ea typeface="Roboto" panose="02000000000000000000" pitchFamily="2" charset="0"/>
              </a:rPr>
              <a:t>Forma general</a:t>
            </a:r>
          </a:p>
          <a:p>
            <a:pPr marL="584200" lvl="1" indent="0">
              <a:buNone/>
            </a:pPr>
            <a:endParaRPr lang="es-MX" sz="1800" dirty="0">
              <a:latin typeface="+mn-lt"/>
              <a:ea typeface="Roboto" panose="02000000000000000000" pitchFamily="2" charset="0"/>
            </a:endParaRPr>
          </a:p>
        </p:txBody>
      </p:sp>
      <p:sp>
        <p:nvSpPr>
          <p:cNvPr id="8" name="CuadroTexto 7">
            <a:extLst>
              <a:ext uri="{FF2B5EF4-FFF2-40B4-BE49-F238E27FC236}">
                <a16:creationId xmlns:a16="http://schemas.microsoft.com/office/drawing/2014/main" id="{5D518789-47D5-40AF-B8FE-4AB8FD290E94}"/>
              </a:ext>
            </a:extLst>
          </p:cNvPr>
          <p:cNvSpPr txBox="1"/>
          <p:nvPr/>
        </p:nvSpPr>
        <p:spPr>
          <a:xfrm>
            <a:off x="4468327" y="2999974"/>
            <a:ext cx="6728840" cy="369332"/>
          </a:xfrm>
          <a:prstGeom prst="rect">
            <a:avLst/>
          </a:prstGeom>
          <a:solidFill>
            <a:schemeClr val="bg1">
              <a:lumMod val="95000"/>
            </a:schemeClr>
          </a:solidFill>
        </p:spPr>
        <p:txBody>
          <a:bodyPr wrap="square">
            <a:spAutoFit/>
          </a:bodyPr>
          <a:lstStyle/>
          <a:p>
            <a:r>
              <a:rPr lang="es-MX" sz="1800" dirty="0">
                <a:ea typeface="Roboto" panose="02000000000000000000" pitchFamily="2" charset="0"/>
              </a:rPr>
              <a:t>Si algo es cierto para todos, también lo es para uno en particular</a:t>
            </a:r>
            <a:endParaRPr lang="es-CO" sz="1800" dirty="0">
              <a:ea typeface="Roboto" panose="02000000000000000000" pitchFamily="2" charset="0"/>
            </a:endParaRPr>
          </a:p>
        </p:txBody>
      </p:sp>
      <p:grpSp>
        <p:nvGrpSpPr>
          <p:cNvPr id="6" name="Grupo 5">
            <a:extLst>
              <a:ext uri="{FF2B5EF4-FFF2-40B4-BE49-F238E27FC236}">
                <a16:creationId xmlns:a16="http://schemas.microsoft.com/office/drawing/2014/main" id="{F3862DC3-D072-4763-ACB6-759106D95BFC}"/>
              </a:ext>
            </a:extLst>
          </p:cNvPr>
          <p:cNvGrpSpPr/>
          <p:nvPr/>
        </p:nvGrpSpPr>
        <p:grpSpPr>
          <a:xfrm>
            <a:off x="2581428" y="2826946"/>
            <a:ext cx="1051949" cy="707886"/>
            <a:chOff x="4487791" y="3598887"/>
            <a:chExt cx="1051949" cy="707886"/>
          </a:xfrm>
        </p:grpSpPr>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731F9548-C364-47BA-8CD9-93E3630F5C3E}"/>
                    </a:ext>
                  </a:extLst>
                </p:cNvPr>
                <p:cNvSpPr txBox="1"/>
                <p:nvPr/>
              </p:nvSpPr>
              <p:spPr>
                <a:xfrm>
                  <a:off x="4487791" y="3598887"/>
                  <a:ext cx="1051949"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𝑥</m:t>
                        </m:r>
                        <m:r>
                          <a:rPr lang="es-MX" sz="2000" b="0" i="1" smtClean="0">
                            <a:latin typeface="Cambria Math" panose="02040503050406030204" pitchFamily="18" charset="0"/>
                            <a:ea typeface="Cambria Math" panose="02040503050406030204" pitchFamily="18" charset="0"/>
                          </a:rPr>
                          <m:t> </m:t>
                        </m:r>
                        <m:r>
                          <a:rPr lang="es-MX" sz="2000" b="0" i="1" smtClean="0">
                            <a:latin typeface="Cambria Math" panose="02040503050406030204" pitchFamily="18" charset="0"/>
                            <a:ea typeface="Cambria Math" panose="02040503050406030204" pitchFamily="18" charset="0"/>
                          </a:rPr>
                          <m:t>𝑃</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𝑥</m:t>
                            </m:r>
                          </m:e>
                        </m:d>
                      </m:oMath>
                    </m:oMathPara>
                  </a14:m>
                  <a:endParaRPr lang="es-MX" sz="20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b="0" i="1" smtClean="0">
                            <a:latin typeface="Cambria Math" panose="02040503050406030204" pitchFamily="18" charset="0"/>
                            <a:ea typeface="Cambria Math" panose="02040503050406030204" pitchFamily="18" charset="0"/>
                          </a:rPr>
                          <m:t>𝑃</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𝑐</m:t>
                            </m:r>
                          </m:e>
                        </m:d>
                      </m:oMath>
                    </m:oMathPara>
                  </a14:m>
                  <a:endParaRPr lang="es-MX" sz="2000" b="0" dirty="0">
                    <a:latin typeface="Roboto" panose="02000000000000000000" pitchFamily="2" charset="0"/>
                    <a:ea typeface="Cambria Math" panose="02040503050406030204" pitchFamily="18" charset="0"/>
                  </a:endParaRPr>
                </a:p>
              </p:txBody>
            </p:sp>
          </mc:Choice>
          <mc:Fallback xmlns="">
            <p:sp>
              <p:nvSpPr>
                <p:cNvPr id="13" name="CuadroTexto 12">
                  <a:extLst>
                    <a:ext uri="{FF2B5EF4-FFF2-40B4-BE49-F238E27FC236}">
                      <a16:creationId xmlns:a16="http://schemas.microsoft.com/office/drawing/2014/main" id="{731F9548-C364-47BA-8CD9-93E3630F5C3E}"/>
                    </a:ext>
                  </a:extLst>
                </p:cNvPr>
                <p:cNvSpPr txBox="1">
                  <a:spLocks noRot="1" noChangeAspect="1" noMove="1" noResize="1" noEditPoints="1" noAdjustHandles="1" noChangeArrowheads="1" noChangeShapeType="1" noTextEdit="1"/>
                </p:cNvSpPr>
                <p:nvPr/>
              </p:nvSpPr>
              <p:spPr>
                <a:xfrm>
                  <a:off x="4487791" y="3598887"/>
                  <a:ext cx="1051949" cy="707886"/>
                </a:xfrm>
                <a:prstGeom prst="rect">
                  <a:avLst/>
                </a:prstGeom>
                <a:blipFill>
                  <a:blip r:embed="rId3"/>
                  <a:stretch>
                    <a:fillRect/>
                  </a:stretch>
                </a:blipFill>
              </p:spPr>
              <p:txBody>
                <a:bodyPr/>
                <a:lstStyle/>
                <a:p>
                  <a:r>
                    <a:rPr lang="es-CO">
                      <a:noFill/>
                    </a:rPr>
                    <a:t> </a:t>
                  </a:r>
                </a:p>
              </p:txBody>
            </p:sp>
          </mc:Fallback>
        </mc:AlternateContent>
        <p:cxnSp>
          <p:nvCxnSpPr>
            <p:cNvPr id="14" name="Conector recto 13">
              <a:extLst>
                <a:ext uri="{FF2B5EF4-FFF2-40B4-BE49-F238E27FC236}">
                  <a16:creationId xmlns:a16="http://schemas.microsoft.com/office/drawing/2014/main" id="{FEE27DAE-35A8-4B85-8C2F-FAEB659BB56F}"/>
                </a:ext>
              </a:extLst>
            </p:cNvPr>
            <p:cNvCxnSpPr>
              <a:cxnSpLocks/>
            </p:cNvCxnSpPr>
            <p:nvPr/>
          </p:nvCxnSpPr>
          <p:spPr>
            <a:xfrm>
              <a:off x="4487791" y="3957732"/>
              <a:ext cx="10519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Google Shape;310;p34">
            <a:extLst>
              <a:ext uri="{FF2B5EF4-FFF2-40B4-BE49-F238E27FC236}">
                <a16:creationId xmlns:a16="http://schemas.microsoft.com/office/drawing/2014/main" id="{BB680A61-B649-4198-B83A-9A1A33B33DB3}"/>
              </a:ext>
            </a:extLst>
          </p:cNvPr>
          <p:cNvSpPr txBox="1">
            <a:spLocks/>
          </p:cNvSpPr>
          <p:nvPr/>
        </p:nvSpPr>
        <p:spPr>
          <a:xfrm>
            <a:off x="410496" y="3704913"/>
            <a:ext cx="11044291" cy="48775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1800" b="1" dirty="0">
                <a:latin typeface="+mn-lt"/>
                <a:ea typeface="Roboto" panose="02000000000000000000" pitchFamily="2" charset="0"/>
              </a:rPr>
              <a:t>Ejemplo</a:t>
            </a:r>
            <a:r>
              <a:rPr lang="es-MX" sz="1800" dirty="0">
                <a:latin typeface="+mn-lt"/>
                <a:ea typeface="Roboto" panose="02000000000000000000" pitchFamily="2" charset="0"/>
              </a:rPr>
              <a:t>: Si el dominio del que se habla consiste de todos los perros y Firulais es un perro tenemos.</a:t>
            </a:r>
          </a:p>
        </p:txBody>
      </p:sp>
      <mc:AlternateContent xmlns:mc="http://schemas.openxmlformats.org/markup-compatibility/2006" xmlns:a14="http://schemas.microsoft.com/office/drawing/2010/main">
        <mc:Choice Requires="a14">
          <p:graphicFrame>
            <p:nvGraphicFramePr>
              <p:cNvPr id="29" name="Tabla 2">
                <a:extLst>
                  <a:ext uri="{FF2B5EF4-FFF2-40B4-BE49-F238E27FC236}">
                    <a16:creationId xmlns:a16="http://schemas.microsoft.com/office/drawing/2014/main" id="{A24D11BF-089C-4010-88DE-693935762966}"/>
                  </a:ext>
                </a:extLst>
              </p:cNvPr>
              <p:cNvGraphicFramePr>
                <a:graphicFrameLocks noGrp="1"/>
              </p:cNvGraphicFramePr>
              <p:nvPr>
                <p:extLst>
                  <p:ext uri="{D42A27DB-BD31-4B8C-83A1-F6EECF244321}">
                    <p14:modId xmlns:p14="http://schemas.microsoft.com/office/powerpoint/2010/main" val="643841163"/>
                  </p:ext>
                </p:extLst>
              </p:nvPr>
            </p:nvGraphicFramePr>
            <p:xfrm>
              <a:off x="5435750" y="4490712"/>
              <a:ext cx="2996829" cy="1219200"/>
            </p:xfrm>
            <a:graphic>
              <a:graphicData uri="http://schemas.openxmlformats.org/drawingml/2006/table">
                <a:tbl>
                  <a:tblPr firstRow="1" bandRow="1">
                    <a:tableStyleId>{AD6A3598-7CB8-4345-8D95-17CE05F158A0}</a:tableStyleId>
                  </a:tblPr>
                  <a:tblGrid>
                    <a:gridCol w="1037400">
                      <a:extLst>
                        <a:ext uri="{9D8B030D-6E8A-4147-A177-3AD203B41FA5}">
                          <a16:colId xmlns:a16="http://schemas.microsoft.com/office/drawing/2014/main" val="55665907"/>
                        </a:ext>
                      </a:extLst>
                    </a:gridCol>
                    <a:gridCol w="1959429">
                      <a:extLst>
                        <a:ext uri="{9D8B030D-6E8A-4147-A177-3AD203B41FA5}">
                          <a16:colId xmlns:a16="http://schemas.microsoft.com/office/drawing/2014/main" val="2393994677"/>
                        </a:ext>
                      </a:extLst>
                    </a:gridCol>
                  </a:tblGrid>
                  <a:tr h="240030">
                    <a:tc>
                      <a:txBody>
                        <a:bodyPr/>
                        <a:lstStyle/>
                        <a:p>
                          <a:r>
                            <a:rPr lang="es-CO" sz="1400" b="1" dirty="0">
                              <a:latin typeface="+mn-lt"/>
                              <a:ea typeface="Roboto" panose="02000000000000000000" pitchFamily="2" charset="0"/>
                            </a:rPr>
                            <a:t>Dominio</a:t>
                          </a:r>
                        </a:p>
                      </a:txBody>
                      <a:tcPr/>
                    </a:tc>
                    <a:tc>
                      <a:txBody>
                        <a:bodyPr/>
                        <a:lstStyle/>
                        <a:p>
                          <a:pPr/>
                          <a14:m>
                            <m:oMathPara xmlns:m="http://schemas.openxmlformats.org/officeDocument/2006/math">
                              <m:oMathParaPr>
                                <m:jc m:val="centerGroup"/>
                              </m:oMathParaPr>
                              <m:oMath xmlns:m="http://schemas.openxmlformats.org/officeDocument/2006/math">
                                <m:r>
                                  <a:rPr lang="es-MX" sz="1200" b="0" i="1" dirty="0" smtClean="0">
                                    <a:latin typeface="Cambria Math" panose="02040503050406030204" pitchFamily="18" charset="0"/>
                                    <a:ea typeface="Roboto" panose="02000000000000000000" pitchFamily="2" charset="0"/>
                                  </a:rPr>
                                  <m:t>𝑈</m:t>
                                </m:r>
                                <m:r>
                                  <a:rPr lang="es-MX" sz="1200" b="0" i="1" dirty="0" smtClean="0">
                                    <a:latin typeface="Cambria Math" panose="02040503050406030204" pitchFamily="18" charset="0"/>
                                    <a:ea typeface="Roboto" panose="02000000000000000000" pitchFamily="2" charset="0"/>
                                  </a:rPr>
                                  <m:t>={</m:t>
                                </m:r>
                                <m:r>
                                  <a:rPr lang="es-MX" sz="1200" b="0" i="1" dirty="0" smtClean="0">
                                    <a:latin typeface="Cambria Math" panose="02040503050406030204" pitchFamily="18" charset="0"/>
                                    <a:ea typeface="Roboto" panose="02000000000000000000" pitchFamily="2" charset="0"/>
                                  </a:rPr>
                                  <m:t>𝑇𝑜𝑑𝑜𝑠</m:t>
                                </m:r>
                                <m:r>
                                  <a:rPr lang="es-MX" sz="1200" b="0" i="1" dirty="0" smtClean="0">
                                    <a:latin typeface="Cambria Math" panose="02040503050406030204" pitchFamily="18" charset="0"/>
                                    <a:ea typeface="Roboto" panose="02000000000000000000" pitchFamily="2" charset="0"/>
                                  </a:rPr>
                                  <m:t> </m:t>
                                </m:r>
                                <m:r>
                                  <a:rPr lang="es-MX" sz="1200" b="0" i="1" dirty="0" smtClean="0">
                                    <a:latin typeface="Cambria Math" panose="02040503050406030204" pitchFamily="18" charset="0"/>
                                    <a:ea typeface="Roboto" panose="02000000000000000000" pitchFamily="2" charset="0"/>
                                  </a:rPr>
                                  <m:t>𝑝𝑒𝑟𝑟𝑜𝑠</m:t>
                                </m:r>
                                <m:r>
                                  <a:rPr lang="es-MX" sz="1200" b="0" i="1" dirty="0" smtClean="0">
                                    <a:latin typeface="Cambria Math" panose="02040503050406030204" pitchFamily="18" charset="0"/>
                                    <a:ea typeface="Roboto" panose="02000000000000000000" pitchFamily="2" charset="0"/>
                                  </a:rPr>
                                  <m:t>}</m:t>
                                </m:r>
                              </m:oMath>
                            </m:oMathPara>
                          </a14:m>
                          <a:endParaRPr lang="es-CO" sz="1200" b="0" i="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554054099"/>
                      </a:ext>
                    </a:extLst>
                  </a:tr>
                  <a:tr h="240030">
                    <a:tc>
                      <a:txBody>
                        <a:bodyPr/>
                        <a:lstStyle/>
                        <a:p>
                          <a:r>
                            <a:rPr lang="es-CO" sz="1400" b="1" dirty="0">
                              <a:latin typeface="+mn-lt"/>
                              <a:ea typeface="Roboto" panose="02000000000000000000" pitchFamily="2" charset="0"/>
                            </a:rPr>
                            <a:t>Variables</a:t>
                          </a:r>
                        </a:p>
                      </a:txBody>
                      <a:tcPr/>
                    </a:tc>
                    <a:tc>
                      <a:txBody>
                        <a:bodyPr/>
                        <a:lstStyle/>
                        <a:p>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rPr>
                                  <m:t>𝑥</m:t>
                                </m:r>
                                <m:r>
                                  <a:rPr lang="es-MX" sz="1200" b="0" i="1" smtClean="0">
                                    <a:latin typeface="Cambria Math" panose="02040503050406030204" pitchFamily="18" charset="0"/>
                                    <a:ea typeface="Cambria Math" panose="02040503050406030204" pitchFamily="18" charset="0"/>
                                  </a:rPr>
                                  <m:t>∈</m:t>
                                </m:r>
                                <m:r>
                                  <a:rPr lang="es-MX" sz="1200" b="0" i="1" smtClean="0">
                                    <a:latin typeface="Cambria Math" panose="02040503050406030204" pitchFamily="18" charset="0"/>
                                    <a:ea typeface="Cambria Math" panose="02040503050406030204" pitchFamily="18" charset="0"/>
                                  </a:rPr>
                                  <m:t>𝑈</m:t>
                                </m:r>
                              </m:oMath>
                            </m:oMathPara>
                          </a14:m>
                          <a:endParaRPr lang="es-CO" sz="12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590970474"/>
                      </a:ext>
                    </a:extLst>
                  </a:tr>
                  <a:tr h="0">
                    <a:tc>
                      <a:txBody>
                        <a:bodyPr/>
                        <a:lstStyle/>
                        <a:p>
                          <a:r>
                            <a:rPr lang="es-CO" sz="1400" b="1" dirty="0">
                              <a:latin typeface="+mn-lt"/>
                              <a:ea typeface="Roboto" panose="02000000000000000000" pitchFamily="2" charset="0"/>
                            </a:rPr>
                            <a:t>Constantes</a:t>
                          </a:r>
                        </a:p>
                      </a:txBody>
                      <a:tcPr/>
                    </a:tc>
                    <a:tc>
                      <a:txBody>
                        <a:bodyPr/>
                        <a:lstStyle/>
                        <a:p>
                          <a:pPr marL="171450" indent="-171450">
                            <a:buFont typeface="Arial" panose="020B0604020202020204" pitchFamily="34" charset="0"/>
                            <a:buChar char="•"/>
                          </a:pPr>
                          <a14:m>
                            <m:oMath xmlns:m="http://schemas.openxmlformats.org/officeDocument/2006/math">
                              <m:r>
                                <a:rPr lang="es-MX" sz="1200" b="0" i="1" dirty="0" smtClean="0">
                                  <a:latin typeface="Cambria Math" panose="02040503050406030204" pitchFamily="18" charset="0"/>
                                  <a:ea typeface="Roboto" panose="02000000000000000000" pitchFamily="2" charset="0"/>
                                </a:rPr>
                                <m:t>𝑥</m:t>
                              </m:r>
                              <m:r>
                                <a:rPr lang="es-MX" sz="1200" b="0" i="1" dirty="0" smtClean="0">
                                  <a:latin typeface="Cambria Math" panose="02040503050406030204" pitchFamily="18" charset="0"/>
                                  <a:ea typeface="Roboto" panose="02000000000000000000" pitchFamily="2" charset="0"/>
                                </a:rPr>
                                <m:t>=</m:t>
                              </m:r>
                              <m:r>
                                <m:rPr>
                                  <m:sty m:val="p"/>
                                </m:rPr>
                                <a:rPr lang="es-MX" sz="1200" b="0" i="0" dirty="0" smtClean="0">
                                  <a:latin typeface="Cambria Math" panose="02040503050406030204" pitchFamily="18" charset="0"/>
                                  <a:ea typeface="Roboto" panose="02000000000000000000" pitchFamily="2" charset="0"/>
                                </a:rPr>
                                <m:t>Firulais</m:t>
                              </m:r>
                            </m:oMath>
                          </a14:m>
                          <a:endParaRPr lang="es-MX" sz="1200" b="0" i="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44736836"/>
                      </a:ext>
                    </a:extLst>
                  </a:tr>
                  <a:tr h="240030">
                    <a:tc>
                      <a:txBody>
                        <a:bodyPr/>
                        <a:lstStyle/>
                        <a:p>
                          <a:r>
                            <a:rPr lang="es-CO" sz="1400" b="1" dirty="0">
                              <a:latin typeface="+mn-lt"/>
                              <a:ea typeface="Roboto" panose="02000000000000000000" pitchFamily="2" charset="0"/>
                            </a:rPr>
                            <a:t>Predicados</a:t>
                          </a:r>
                        </a:p>
                      </a:txBody>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200" b="0" i="1" smtClean="0">
                                  <a:latin typeface="Cambria Math" panose="02040503050406030204" pitchFamily="18" charset="0"/>
                                  <a:ea typeface="Cambria Math" panose="02040503050406030204" pitchFamily="18" charset="0"/>
                                </a:rPr>
                                <m:t>𝐶</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𝑥</m:t>
                                  </m:r>
                                </m:e>
                              </m:d>
                            </m:oMath>
                          </a14:m>
                          <a:r>
                            <a:rPr lang="es-MX" sz="1200" b="0" i="0" dirty="0">
                              <a:latin typeface="Roboto" panose="02000000000000000000" pitchFamily="2" charset="0"/>
                              <a:ea typeface="Roboto" panose="02000000000000000000" pitchFamily="2" charset="0"/>
                            </a:rPr>
                            <a:t>: </a:t>
                          </a:r>
                          <a14:m>
                            <m:oMath xmlns:m="http://schemas.openxmlformats.org/officeDocument/2006/math">
                              <m:r>
                                <a:rPr lang="es-MX" sz="1200" b="0" i="1" smtClean="0">
                                  <a:latin typeface="Cambria Math" panose="02040503050406030204" pitchFamily="18" charset="0"/>
                                  <a:ea typeface="Cambria Math" panose="02040503050406030204" pitchFamily="18" charset="0"/>
                                </a:rPr>
                                <m:t>𝑥</m:t>
                              </m:r>
                            </m:oMath>
                          </a14:m>
                          <a:r>
                            <a:rPr lang="es-CO" sz="1200" dirty="0">
                              <a:latin typeface="Roboto" panose="02000000000000000000" pitchFamily="2" charset="0"/>
                              <a:ea typeface="Roboto" panose="02000000000000000000" pitchFamily="2" charset="0"/>
                            </a:rPr>
                            <a:t> es cariñoso</a:t>
                          </a:r>
                        </a:p>
                      </a:txBody>
                      <a:tcPr/>
                    </a:tc>
                    <a:extLst>
                      <a:ext uri="{0D108BD9-81ED-4DB2-BD59-A6C34878D82A}">
                        <a16:rowId xmlns:a16="http://schemas.microsoft.com/office/drawing/2014/main" val="1362933263"/>
                      </a:ext>
                    </a:extLst>
                  </a:tr>
                </a:tbl>
              </a:graphicData>
            </a:graphic>
          </p:graphicFrame>
        </mc:Choice>
        <mc:Fallback xmlns="">
          <p:graphicFrame>
            <p:nvGraphicFramePr>
              <p:cNvPr id="29" name="Tabla 2">
                <a:extLst>
                  <a:ext uri="{FF2B5EF4-FFF2-40B4-BE49-F238E27FC236}">
                    <a16:creationId xmlns:a16="http://schemas.microsoft.com/office/drawing/2014/main" id="{A24D11BF-089C-4010-88DE-693935762966}"/>
                  </a:ext>
                </a:extLst>
              </p:cNvPr>
              <p:cNvGraphicFramePr>
                <a:graphicFrameLocks noGrp="1"/>
              </p:cNvGraphicFramePr>
              <p:nvPr>
                <p:extLst>
                  <p:ext uri="{D42A27DB-BD31-4B8C-83A1-F6EECF244321}">
                    <p14:modId xmlns:p14="http://schemas.microsoft.com/office/powerpoint/2010/main" val="643841163"/>
                  </p:ext>
                </p:extLst>
              </p:nvPr>
            </p:nvGraphicFramePr>
            <p:xfrm>
              <a:off x="5435750" y="4490712"/>
              <a:ext cx="2996829" cy="1219200"/>
            </p:xfrm>
            <a:graphic>
              <a:graphicData uri="http://schemas.openxmlformats.org/drawingml/2006/table">
                <a:tbl>
                  <a:tblPr firstRow="1" bandRow="1">
                    <a:tableStyleId>{AD6A3598-7CB8-4345-8D95-17CE05F158A0}</a:tableStyleId>
                  </a:tblPr>
                  <a:tblGrid>
                    <a:gridCol w="1037400">
                      <a:extLst>
                        <a:ext uri="{9D8B030D-6E8A-4147-A177-3AD203B41FA5}">
                          <a16:colId xmlns:a16="http://schemas.microsoft.com/office/drawing/2014/main" val="55665907"/>
                        </a:ext>
                      </a:extLst>
                    </a:gridCol>
                    <a:gridCol w="1959429">
                      <a:extLst>
                        <a:ext uri="{9D8B030D-6E8A-4147-A177-3AD203B41FA5}">
                          <a16:colId xmlns:a16="http://schemas.microsoft.com/office/drawing/2014/main" val="2393994677"/>
                        </a:ext>
                      </a:extLst>
                    </a:gridCol>
                  </a:tblGrid>
                  <a:tr h="304800">
                    <a:tc>
                      <a:txBody>
                        <a:bodyPr/>
                        <a:lstStyle/>
                        <a:p>
                          <a:r>
                            <a:rPr lang="es-CO" sz="1400" b="1" dirty="0">
                              <a:latin typeface="+mn-lt"/>
                              <a:ea typeface="Roboto" panose="02000000000000000000" pitchFamily="2" charset="0"/>
                            </a:rPr>
                            <a:t>Dominio</a:t>
                          </a:r>
                        </a:p>
                      </a:txBody>
                      <a:tcPr/>
                    </a:tc>
                    <a:tc>
                      <a:txBody>
                        <a:bodyPr/>
                        <a:lstStyle/>
                        <a:p>
                          <a:endParaRPr lang="es-CO"/>
                        </a:p>
                      </a:txBody>
                      <a:tcPr>
                        <a:blipFill>
                          <a:blip r:embed="rId4"/>
                          <a:stretch>
                            <a:fillRect l="-53416" t="-2000" r="-311" b="-322000"/>
                          </a:stretch>
                        </a:blipFill>
                      </a:tcPr>
                    </a:tc>
                    <a:extLst>
                      <a:ext uri="{0D108BD9-81ED-4DB2-BD59-A6C34878D82A}">
                        <a16:rowId xmlns:a16="http://schemas.microsoft.com/office/drawing/2014/main" val="2554054099"/>
                      </a:ext>
                    </a:extLst>
                  </a:tr>
                  <a:tr h="304800">
                    <a:tc>
                      <a:txBody>
                        <a:bodyPr/>
                        <a:lstStyle/>
                        <a:p>
                          <a:r>
                            <a:rPr lang="es-CO" sz="1400" b="1" dirty="0">
                              <a:latin typeface="+mn-lt"/>
                              <a:ea typeface="Roboto" panose="02000000000000000000" pitchFamily="2" charset="0"/>
                            </a:rPr>
                            <a:t>Variables</a:t>
                          </a:r>
                        </a:p>
                      </a:txBody>
                      <a:tcPr/>
                    </a:tc>
                    <a:tc>
                      <a:txBody>
                        <a:bodyPr/>
                        <a:lstStyle/>
                        <a:p>
                          <a:endParaRPr lang="es-CO"/>
                        </a:p>
                      </a:txBody>
                      <a:tcPr>
                        <a:blipFill>
                          <a:blip r:embed="rId4"/>
                          <a:stretch>
                            <a:fillRect l="-53416" t="-100000" r="-311" b="-215686"/>
                          </a:stretch>
                        </a:blipFill>
                      </a:tcPr>
                    </a:tc>
                    <a:extLst>
                      <a:ext uri="{0D108BD9-81ED-4DB2-BD59-A6C34878D82A}">
                        <a16:rowId xmlns:a16="http://schemas.microsoft.com/office/drawing/2014/main" val="1590970474"/>
                      </a:ext>
                    </a:extLst>
                  </a:tr>
                  <a:tr h="304800">
                    <a:tc>
                      <a:txBody>
                        <a:bodyPr/>
                        <a:lstStyle/>
                        <a:p>
                          <a:r>
                            <a:rPr lang="es-CO" sz="1400" b="1" dirty="0">
                              <a:latin typeface="+mn-lt"/>
                              <a:ea typeface="Roboto" panose="02000000000000000000" pitchFamily="2" charset="0"/>
                            </a:rPr>
                            <a:t>Constantes</a:t>
                          </a:r>
                        </a:p>
                      </a:txBody>
                      <a:tcPr/>
                    </a:tc>
                    <a:tc>
                      <a:txBody>
                        <a:bodyPr/>
                        <a:lstStyle/>
                        <a:p>
                          <a:endParaRPr lang="es-CO"/>
                        </a:p>
                      </a:txBody>
                      <a:tcPr>
                        <a:blipFill>
                          <a:blip r:embed="rId4"/>
                          <a:stretch>
                            <a:fillRect l="-53416" t="-204000" r="-311" b="-120000"/>
                          </a:stretch>
                        </a:blipFill>
                      </a:tcPr>
                    </a:tc>
                    <a:extLst>
                      <a:ext uri="{0D108BD9-81ED-4DB2-BD59-A6C34878D82A}">
                        <a16:rowId xmlns:a16="http://schemas.microsoft.com/office/drawing/2014/main" val="144736836"/>
                      </a:ext>
                    </a:extLst>
                  </a:tr>
                  <a:tr h="304800">
                    <a:tc>
                      <a:txBody>
                        <a:bodyPr/>
                        <a:lstStyle/>
                        <a:p>
                          <a:r>
                            <a:rPr lang="es-CO" sz="1400" b="1" dirty="0">
                              <a:latin typeface="+mn-lt"/>
                              <a:ea typeface="Roboto" panose="02000000000000000000" pitchFamily="2" charset="0"/>
                            </a:rPr>
                            <a:t>Predicados</a:t>
                          </a:r>
                        </a:p>
                      </a:txBody>
                      <a:tcPr/>
                    </a:tc>
                    <a:tc>
                      <a:txBody>
                        <a:bodyPr/>
                        <a:lstStyle/>
                        <a:p>
                          <a:endParaRPr lang="es-CO"/>
                        </a:p>
                      </a:txBody>
                      <a:tcPr>
                        <a:blipFill>
                          <a:blip r:embed="rId4"/>
                          <a:stretch>
                            <a:fillRect l="-53416" t="-304000" r="-311" b="-20000"/>
                          </a:stretch>
                        </a:blipFill>
                      </a:tcPr>
                    </a:tc>
                    <a:extLst>
                      <a:ext uri="{0D108BD9-81ED-4DB2-BD59-A6C34878D82A}">
                        <a16:rowId xmlns:a16="http://schemas.microsoft.com/office/drawing/2014/main" val="1362933263"/>
                      </a:ext>
                    </a:extLst>
                  </a:tr>
                </a:tbl>
              </a:graphicData>
            </a:graphic>
          </p:graphicFrame>
        </mc:Fallback>
      </mc:AlternateContent>
      <p:grpSp>
        <p:nvGrpSpPr>
          <p:cNvPr id="36" name="Grupo 35">
            <a:extLst>
              <a:ext uri="{FF2B5EF4-FFF2-40B4-BE49-F238E27FC236}">
                <a16:creationId xmlns:a16="http://schemas.microsoft.com/office/drawing/2014/main" id="{BD147BD1-8FBA-4512-BE79-9592D632D017}"/>
              </a:ext>
            </a:extLst>
          </p:cNvPr>
          <p:cNvGrpSpPr/>
          <p:nvPr/>
        </p:nvGrpSpPr>
        <p:grpSpPr>
          <a:xfrm>
            <a:off x="1521354" y="5438868"/>
            <a:ext cx="9149291" cy="923330"/>
            <a:chOff x="1269318" y="5758490"/>
            <a:chExt cx="9149291" cy="923330"/>
          </a:xfrm>
        </p:grpSpPr>
        <p:grpSp>
          <p:nvGrpSpPr>
            <p:cNvPr id="27" name="Grupo 26">
              <a:extLst>
                <a:ext uri="{FF2B5EF4-FFF2-40B4-BE49-F238E27FC236}">
                  <a16:creationId xmlns:a16="http://schemas.microsoft.com/office/drawing/2014/main" id="{50B4805F-DD72-4986-AA24-D837DCB6CAE8}"/>
                </a:ext>
              </a:extLst>
            </p:cNvPr>
            <p:cNvGrpSpPr/>
            <p:nvPr/>
          </p:nvGrpSpPr>
          <p:grpSpPr>
            <a:xfrm>
              <a:off x="1269318" y="5758490"/>
              <a:ext cx="3518139" cy="923330"/>
              <a:chOff x="1210196" y="4494236"/>
              <a:chExt cx="3518139" cy="923330"/>
            </a:xfrm>
          </p:grpSpPr>
          <p:sp>
            <p:nvSpPr>
              <p:cNvPr id="17" name="CuadroTexto 16">
                <a:extLst>
                  <a:ext uri="{FF2B5EF4-FFF2-40B4-BE49-F238E27FC236}">
                    <a16:creationId xmlns:a16="http://schemas.microsoft.com/office/drawing/2014/main" id="{097DC0B3-8D1F-45E4-8146-AC63E577D50F}"/>
                  </a:ext>
                </a:extLst>
              </p:cNvPr>
              <p:cNvSpPr txBox="1"/>
              <p:nvPr/>
            </p:nvSpPr>
            <p:spPr>
              <a:xfrm>
                <a:off x="1210196" y="4494236"/>
                <a:ext cx="3518139" cy="923330"/>
              </a:xfrm>
              <a:prstGeom prst="rect">
                <a:avLst/>
              </a:prstGeom>
              <a:noFill/>
            </p:spPr>
            <p:txBody>
              <a:bodyPr wrap="square">
                <a:spAutoFit/>
              </a:bodyPr>
              <a:lstStyle/>
              <a:p>
                <a:pPr lvl="1"/>
                <a:r>
                  <a:rPr lang="es-MX" b="1" dirty="0">
                    <a:solidFill>
                      <a:srgbClr val="FF0000"/>
                    </a:solidFill>
                    <a:ea typeface="Roboto" panose="02000000000000000000" pitchFamily="2" charset="0"/>
                  </a:rPr>
                  <a:t>Todos</a:t>
                </a:r>
                <a:r>
                  <a:rPr lang="es-MX" dirty="0">
                    <a:solidFill>
                      <a:schemeClr val="tx1"/>
                    </a:solidFill>
                    <a:ea typeface="Roboto" panose="02000000000000000000" pitchFamily="2" charset="0"/>
                  </a:rPr>
                  <a:t> los perros son cariñosos</a:t>
                </a:r>
              </a:p>
              <a:p>
                <a:pPr lvl="1"/>
                <a:r>
                  <a:rPr lang="es-MX" b="1" dirty="0">
                    <a:solidFill>
                      <a:schemeClr val="accent5"/>
                    </a:solidFill>
                    <a:ea typeface="Roboto" panose="02000000000000000000" pitchFamily="2" charset="0"/>
                  </a:rPr>
                  <a:t>Por lo tanto</a:t>
                </a:r>
                <a:r>
                  <a:rPr lang="es-MX" dirty="0">
                    <a:ea typeface="Roboto" panose="02000000000000000000" pitchFamily="2" charset="0"/>
                  </a:rPr>
                  <a:t>, Firulais es cariñoso.</a:t>
                </a:r>
              </a:p>
            </p:txBody>
          </p:sp>
          <p:cxnSp>
            <p:nvCxnSpPr>
              <p:cNvPr id="18" name="Conector recto 17">
                <a:extLst>
                  <a:ext uri="{FF2B5EF4-FFF2-40B4-BE49-F238E27FC236}">
                    <a16:creationId xmlns:a16="http://schemas.microsoft.com/office/drawing/2014/main" id="{FCA8B624-85F2-4379-BE4C-CE28C48AE1E3}"/>
                  </a:ext>
                </a:extLst>
              </p:cNvPr>
              <p:cNvCxnSpPr>
                <a:cxnSpLocks/>
              </p:cNvCxnSpPr>
              <p:nvPr/>
            </p:nvCxnSpPr>
            <p:spPr>
              <a:xfrm>
                <a:off x="1482793" y="4837149"/>
                <a:ext cx="308920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30" name="Grupo 29">
              <a:extLst>
                <a:ext uri="{FF2B5EF4-FFF2-40B4-BE49-F238E27FC236}">
                  <a16:creationId xmlns:a16="http://schemas.microsoft.com/office/drawing/2014/main" id="{4CE22D98-F5AC-404C-BF2F-7E7D4C295B47}"/>
                </a:ext>
              </a:extLst>
            </p:cNvPr>
            <p:cNvGrpSpPr/>
            <p:nvPr/>
          </p:nvGrpSpPr>
          <p:grpSpPr>
            <a:xfrm>
              <a:off x="8694667" y="5850435"/>
              <a:ext cx="1723942" cy="646331"/>
              <a:chOff x="4487788" y="3660558"/>
              <a:chExt cx="1051949" cy="646331"/>
            </a:xfrm>
          </p:grpSpPr>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C20C1A7D-42B3-44C8-AAD8-D1A0E26FFB67}"/>
                      </a:ext>
                    </a:extLst>
                  </p:cNvPr>
                  <p:cNvSpPr txBox="1"/>
                  <p:nvPr/>
                </p:nvSpPr>
                <p:spPr>
                  <a:xfrm>
                    <a:off x="4487788" y="3660558"/>
                    <a:ext cx="1051949" cy="64633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𝑥</m:t>
                          </m:r>
                          <m:r>
                            <a:rPr lang="es-MX" sz="1800" b="0" i="1"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Cambria Math" panose="02040503050406030204" pitchFamily="18" charset="0"/>
                            </a:rPr>
                            <m:t>𝐶</m:t>
                          </m:r>
                          <m:d>
                            <m:dPr>
                              <m:ctrlPr>
                                <a:rPr lang="es-MX" sz="1800" b="0" i="1" smtClean="0">
                                  <a:latin typeface="Cambria Math" panose="02040503050406030204" pitchFamily="18" charset="0"/>
                                  <a:ea typeface="Cambria Math" panose="02040503050406030204" pitchFamily="18" charset="0"/>
                                </a:rPr>
                              </m:ctrlPr>
                            </m:dPr>
                            <m:e>
                              <m:r>
                                <a:rPr lang="es-MX" sz="1800" b="0" i="1" smtClean="0">
                                  <a:latin typeface="Cambria Math" panose="02040503050406030204" pitchFamily="18" charset="0"/>
                                  <a:ea typeface="Cambria Math" panose="02040503050406030204" pitchFamily="18" charset="0"/>
                                </a:rPr>
                                <m:t>𝑥</m:t>
                              </m:r>
                            </m:e>
                          </m:d>
                        </m:oMath>
                      </m:oMathPara>
                    </a14:m>
                    <a:endParaRPr lang="es-MX" sz="18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𝐶</m:t>
                          </m:r>
                          <m:d>
                            <m:dPr>
                              <m:ctrlPr>
                                <a:rPr lang="es-MX" sz="1800" b="0" i="1" smtClean="0">
                                  <a:latin typeface="Cambria Math" panose="02040503050406030204" pitchFamily="18" charset="0"/>
                                  <a:ea typeface="Cambria Math" panose="02040503050406030204" pitchFamily="18" charset="0"/>
                                </a:rPr>
                              </m:ctrlPr>
                            </m:dPr>
                            <m:e>
                              <m:r>
                                <m:rPr>
                                  <m:sty m:val="p"/>
                                </m:rPr>
                                <a:rPr lang="es-MX" sz="1800" b="0" i="0" smtClean="0">
                                  <a:latin typeface="Cambria Math" panose="02040503050406030204" pitchFamily="18" charset="0"/>
                                  <a:ea typeface="Cambria Math" panose="02040503050406030204" pitchFamily="18" charset="0"/>
                                </a:rPr>
                                <m:t>Firulais</m:t>
                              </m:r>
                            </m:e>
                          </m:d>
                        </m:oMath>
                      </m:oMathPara>
                    </a14:m>
                    <a:endParaRPr lang="es-MX" sz="1800" b="0" dirty="0">
                      <a:latin typeface="Roboto" panose="02000000000000000000" pitchFamily="2" charset="0"/>
                      <a:ea typeface="Cambria Math" panose="02040503050406030204" pitchFamily="18" charset="0"/>
                    </a:endParaRPr>
                  </a:p>
                </p:txBody>
              </p:sp>
            </mc:Choice>
            <mc:Fallback xmlns="">
              <p:sp>
                <p:nvSpPr>
                  <p:cNvPr id="31" name="CuadroTexto 30">
                    <a:extLst>
                      <a:ext uri="{FF2B5EF4-FFF2-40B4-BE49-F238E27FC236}">
                        <a16:creationId xmlns:a16="http://schemas.microsoft.com/office/drawing/2014/main" id="{C20C1A7D-42B3-44C8-AAD8-D1A0E26FFB67}"/>
                      </a:ext>
                    </a:extLst>
                  </p:cNvPr>
                  <p:cNvSpPr txBox="1">
                    <a:spLocks noRot="1" noChangeAspect="1" noMove="1" noResize="1" noEditPoints="1" noAdjustHandles="1" noChangeArrowheads="1" noChangeShapeType="1" noTextEdit="1"/>
                  </p:cNvSpPr>
                  <p:nvPr/>
                </p:nvSpPr>
                <p:spPr>
                  <a:xfrm>
                    <a:off x="4487788" y="3660558"/>
                    <a:ext cx="1051949" cy="646331"/>
                  </a:xfrm>
                  <a:prstGeom prst="rect">
                    <a:avLst/>
                  </a:prstGeom>
                  <a:blipFill>
                    <a:blip r:embed="rId5"/>
                    <a:stretch>
                      <a:fillRect/>
                    </a:stretch>
                  </a:blipFill>
                </p:spPr>
                <p:txBody>
                  <a:bodyPr/>
                  <a:lstStyle/>
                  <a:p>
                    <a:r>
                      <a:rPr lang="es-CO">
                        <a:noFill/>
                      </a:rPr>
                      <a:t> </a:t>
                    </a:r>
                  </a:p>
                </p:txBody>
              </p:sp>
            </mc:Fallback>
          </mc:AlternateContent>
          <p:cxnSp>
            <p:nvCxnSpPr>
              <p:cNvPr id="32" name="Conector recto 31">
                <a:extLst>
                  <a:ext uri="{FF2B5EF4-FFF2-40B4-BE49-F238E27FC236}">
                    <a16:creationId xmlns:a16="http://schemas.microsoft.com/office/drawing/2014/main" id="{619940D5-E520-4668-8354-9C201AEC3375}"/>
                  </a:ext>
                </a:extLst>
              </p:cNvPr>
              <p:cNvCxnSpPr>
                <a:cxnSpLocks/>
              </p:cNvCxnSpPr>
              <p:nvPr/>
            </p:nvCxnSpPr>
            <p:spPr>
              <a:xfrm>
                <a:off x="4487788" y="3983724"/>
                <a:ext cx="10519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cxnSp>
          <p:nvCxnSpPr>
            <p:cNvPr id="33" name="Conector recto de flecha 32">
              <a:extLst>
                <a:ext uri="{FF2B5EF4-FFF2-40B4-BE49-F238E27FC236}">
                  <a16:creationId xmlns:a16="http://schemas.microsoft.com/office/drawing/2014/main" id="{A61B30DB-3DD0-4D8D-9B24-F7512AB791E1}"/>
                </a:ext>
              </a:extLst>
            </p:cNvPr>
            <p:cNvCxnSpPr>
              <a:cxnSpLocks/>
              <a:stCxn id="17" idx="3"/>
            </p:cNvCxnSpPr>
            <p:nvPr/>
          </p:nvCxnSpPr>
          <p:spPr>
            <a:xfrm>
              <a:off x="4787457" y="6220155"/>
              <a:ext cx="3667291" cy="0"/>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5842519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17500" y="96038"/>
            <a:ext cx="1075690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Reglas de inferencia con cuantificadores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317500" y="852141"/>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Generalización universal</a:t>
            </a:r>
            <a:endParaRPr lang="es-MX" dirty="0">
              <a:solidFill>
                <a:schemeClr val="accent2"/>
              </a:solidFill>
              <a:latin typeface="+mn-lt"/>
            </a:endParaRPr>
          </a:p>
          <a:p>
            <a:pPr marL="0" indent="0">
              <a:buFont typeface="Roboto"/>
              <a:buNone/>
            </a:pPr>
            <a:endParaRPr lang="es-MX" sz="2400" dirty="0">
              <a:latin typeface="+mn-lt"/>
            </a:endParaRPr>
          </a:p>
          <a:p>
            <a:pPr indent="0">
              <a:buFont typeface="Roboto"/>
              <a:buNone/>
            </a:pPr>
            <a:endParaRPr lang="es-MX" sz="2400" dirty="0">
              <a:latin typeface="+mn-lt"/>
            </a:endParaRPr>
          </a:p>
        </p:txBody>
      </p:sp>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317500" y="1297034"/>
            <a:ext cx="11514495" cy="13446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latin typeface="+mn-lt"/>
                <a:ea typeface="Roboto" panose="02000000000000000000" pitchFamily="2" charset="0"/>
              </a:rPr>
              <a:t>Esta regla permite afirmar que una propiedad se cumple para todos los elementos del dominio, si se logra demostrar que se cumple para un individuo arbitrario.</a:t>
            </a:r>
          </a:p>
          <a:p>
            <a:r>
              <a:rPr lang="es-MX" sz="2000" b="1" dirty="0">
                <a:latin typeface="+mn-lt"/>
                <a:ea typeface="Roboto" panose="02000000000000000000" pitchFamily="2" charset="0"/>
              </a:rPr>
              <a:t>Forma general</a:t>
            </a:r>
          </a:p>
          <a:p>
            <a:pPr marL="584200" lvl="1" indent="0">
              <a:buNone/>
            </a:pPr>
            <a:endParaRPr lang="es-MX" sz="1800" dirty="0">
              <a:latin typeface="+mn-lt"/>
              <a:ea typeface="Roboto" panose="02000000000000000000" pitchFamily="2" charset="0"/>
            </a:endParaRPr>
          </a:p>
        </p:txBody>
      </p:sp>
      <mc:AlternateContent xmlns:mc="http://schemas.openxmlformats.org/markup-compatibility/2006" xmlns:a14="http://schemas.microsoft.com/office/drawing/2010/main">
        <mc:Choice Requires="a14">
          <p:sp>
            <p:nvSpPr>
              <p:cNvPr id="8" name="CuadroTexto 7">
                <a:extLst>
                  <a:ext uri="{FF2B5EF4-FFF2-40B4-BE49-F238E27FC236}">
                    <a16:creationId xmlns:a16="http://schemas.microsoft.com/office/drawing/2014/main" id="{5D518789-47D5-40AF-B8FE-4AB8FD290E94}"/>
                  </a:ext>
                </a:extLst>
              </p:cNvPr>
              <p:cNvSpPr txBox="1"/>
              <p:nvPr/>
            </p:nvSpPr>
            <p:spPr>
              <a:xfrm>
                <a:off x="4885122" y="2429470"/>
                <a:ext cx="6519174" cy="1015663"/>
              </a:xfrm>
              <a:prstGeom prst="rect">
                <a:avLst/>
              </a:prstGeom>
              <a:solidFill>
                <a:schemeClr val="bg1">
                  <a:lumMod val="95000"/>
                </a:schemeClr>
              </a:solidFill>
            </p:spPr>
            <p:txBody>
              <a:bodyPr wrap="square">
                <a:spAutoFit/>
              </a:bodyPr>
              <a:lstStyle/>
              <a:p>
                <a:r>
                  <a:rPr lang="es-MX" sz="2000" b="1" dirty="0">
                    <a:ea typeface="Roboto" panose="02000000000000000000" pitchFamily="2" charset="0"/>
                  </a:rPr>
                  <a:t>Restricción fundamental</a:t>
                </a:r>
                <a:r>
                  <a:rPr lang="es-MX" sz="2000" dirty="0">
                    <a:ea typeface="Roboto" panose="02000000000000000000" pitchFamily="2" charset="0"/>
                  </a:rPr>
                  <a:t>: La variable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debe ser arbitraria, es decir que no debe depender de una premisa o suposición previa sobre un valor particular.</a:t>
                </a:r>
                <a:endParaRPr lang="es-CO" sz="2000" dirty="0">
                  <a:ea typeface="Roboto" panose="02000000000000000000" pitchFamily="2" charset="0"/>
                </a:endParaRPr>
              </a:p>
            </p:txBody>
          </p:sp>
        </mc:Choice>
        <mc:Fallback xmlns="">
          <p:sp>
            <p:nvSpPr>
              <p:cNvPr id="8" name="CuadroTexto 7">
                <a:extLst>
                  <a:ext uri="{FF2B5EF4-FFF2-40B4-BE49-F238E27FC236}">
                    <a16:creationId xmlns:a16="http://schemas.microsoft.com/office/drawing/2014/main" id="{5D518789-47D5-40AF-B8FE-4AB8FD290E94}"/>
                  </a:ext>
                </a:extLst>
              </p:cNvPr>
              <p:cNvSpPr txBox="1">
                <a:spLocks noRot="1" noChangeAspect="1" noMove="1" noResize="1" noEditPoints="1" noAdjustHandles="1" noChangeArrowheads="1" noChangeShapeType="1" noTextEdit="1"/>
              </p:cNvSpPr>
              <p:nvPr/>
            </p:nvSpPr>
            <p:spPr>
              <a:xfrm>
                <a:off x="4885122" y="2429470"/>
                <a:ext cx="6519174" cy="1015663"/>
              </a:xfrm>
              <a:prstGeom prst="rect">
                <a:avLst/>
              </a:prstGeom>
              <a:blipFill>
                <a:blip r:embed="rId3"/>
                <a:stretch>
                  <a:fillRect l="-935" t="-3614" r="-1589" b="-10241"/>
                </a:stretch>
              </a:blipFill>
            </p:spPr>
            <p:txBody>
              <a:bodyPr/>
              <a:lstStyle/>
              <a:p>
                <a:r>
                  <a:rPr lang="es-CO">
                    <a:noFill/>
                  </a:rPr>
                  <a:t> </a:t>
                </a:r>
              </a:p>
            </p:txBody>
          </p:sp>
        </mc:Fallback>
      </mc:AlternateContent>
      <p:grpSp>
        <p:nvGrpSpPr>
          <p:cNvPr id="6" name="Grupo 5">
            <a:extLst>
              <a:ext uri="{FF2B5EF4-FFF2-40B4-BE49-F238E27FC236}">
                <a16:creationId xmlns:a16="http://schemas.microsoft.com/office/drawing/2014/main" id="{F3862DC3-D072-4763-ACB6-759106D95BFC}"/>
              </a:ext>
            </a:extLst>
          </p:cNvPr>
          <p:cNvGrpSpPr/>
          <p:nvPr/>
        </p:nvGrpSpPr>
        <p:grpSpPr>
          <a:xfrm>
            <a:off x="1493325" y="2763124"/>
            <a:ext cx="2826789" cy="707886"/>
            <a:chOff x="4487791" y="3598887"/>
            <a:chExt cx="1051949" cy="707886"/>
          </a:xfrm>
        </p:grpSpPr>
        <mc:AlternateContent xmlns:mc="http://schemas.openxmlformats.org/markup-compatibility/2006" xmlns:a14="http://schemas.microsoft.com/office/drawing/2010/main">
          <mc:Choice Requires="a14">
            <p:sp>
              <p:nvSpPr>
                <p:cNvPr id="13" name="CuadroTexto 12">
                  <a:extLst>
                    <a:ext uri="{FF2B5EF4-FFF2-40B4-BE49-F238E27FC236}">
                      <a16:creationId xmlns:a16="http://schemas.microsoft.com/office/drawing/2014/main" id="{731F9548-C364-47BA-8CD9-93E3630F5C3E}"/>
                    </a:ext>
                  </a:extLst>
                </p:cNvPr>
                <p:cNvSpPr txBox="1"/>
                <p:nvPr/>
              </p:nvSpPr>
              <p:spPr>
                <a:xfrm>
                  <a:off x="4487791" y="3598887"/>
                  <a:ext cx="1051949"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𝑃</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𝑐</m:t>
                            </m:r>
                          </m:e>
                        </m:d>
                        <m:r>
                          <a:rPr lang="es-MX" sz="2000" b="0" i="1" smtClean="0">
                            <a:latin typeface="Cambria Math" panose="02040503050406030204" pitchFamily="18" charset="0"/>
                            <a:ea typeface="Cambria Math" panose="02040503050406030204" pitchFamily="18" charset="0"/>
                          </a:rPr>
                          <m:t> </m:t>
                        </m:r>
                        <m:r>
                          <m:rPr>
                            <m:sty m:val="p"/>
                          </m:rPr>
                          <a:rPr lang="es-MX" sz="2000" b="0" i="0" smtClean="0">
                            <a:latin typeface="Cambria Math" panose="02040503050406030204" pitchFamily="18" charset="0"/>
                            <a:ea typeface="Cambria Math" panose="02040503050406030204" pitchFamily="18" charset="0"/>
                          </a:rPr>
                          <m:t>para</m:t>
                        </m:r>
                        <m:r>
                          <a:rPr lang="es-MX" sz="2000" b="0" i="0" smtClean="0">
                            <a:latin typeface="Cambria Math" panose="02040503050406030204" pitchFamily="18" charset="0"/>
                            <a:ea typeface="Cambria Math" panose="02040503050406030204" pitchFamily="18" charset="0"/>
                          </a:rPr>
                          <m:t> </m:t>
                        </m:r>
                        <m:r>
                          <m:rPr>
                            <m:sty m:val="p"/>
                          </m:rPr>
                          <a:rPr lang="es-MX" sz="2000" b="0" i="0" smtClean="0">
                            <a:latin typeface="Cambria Math" panose="02040503050406030204" pitchFamily="18" charset="0"/>
                            <a:ea typeface="Cambria Math" panose="02040503050406030204" pitchFamily="18" charset="0"/>
                          </a:rPr>
                          <m:t>un</m:t>
                        </m:r>
                        <m:r>
                          <a:rPr lang="es-MX" sz="2000" b="0" i="0" smtClean="0">
                            <a:latin typeface="Cambria Math" panose="02040503050406030204" pitchFamily="18" charset="0"/>
                            <a:ea typeface="Cambria Math" panose="02040503050406030204" pitchFamily="18" charset="0"/>
                          </a:rPr>
                          <m:t> </m:t>
                        </m:r>
                        <m:r>
                          <a:rPr lang="es-MX" sz="2000" b="0" i="1" smtClean="0">
                            <a:latin typeface="Cambria Math" panose="02040503050406030204" pitchFamily="18" charset="0"/>
                            <a:ea typeface="Cambria Math" panose="02040503050406030204" pitchFamily="18" charset="0"/>
                          </a:rPr>
                          <m:t>𝑐</m:t>
                        </m:r>
                        <m:r>
                          <a:rPr lang="es-MX" sz="2000" b="0" i="1" smtClean="0">
                            <a:latin typeface="Cambria Math" panose="02040503050406030204" pitchFamily="18" charset="0"/>
                            <a:ea typeface="Cambria Math" panose="02040503050406030204" pitchFamily="18" charset="0"/>
                          </a:rPr>
                          <m:t> </m:t>
                        </m:r>
                        <m:r>
                          <m:rPr>
                            <m:sty m:val="p"/>
                          </m:rPr>
                          <a:rPr lang="es-MX" sz="2000" b="0" i="0" smtClean="0">
                            <a:latin typeface="Cambria Math" panose="02040503050406030204" pitchFamily="18" charset="0"/>
                            <a:ea typeface="Cambria Math" panose="02040503050406030204" pitchFamily="18" charset="0"/>
                          </a:rPr>
                          <m:t>arbitrario</m:t>
                        </m:r>
                      </m:oMath>
                    </m:oMathPara>
                  </a14:m>
                  <a:endParaRPr lang="es-MX" sz="20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𝑃</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oMath>
                    </m:oMathPara>
                  </a14:m>
                  <a:endParaRPr lang="es-MX" sz="2000" i="1" dirty="0">
                    <a:latin typeface="Cambria Math" panose="02040503050406030204" pitchFamily="18" charset="0"/>
                    <a:ea typeface="Cambria Math" panose="02040503050406030204" pitchFamily="18" charset="0"/>
                  </a:endParaRPr>
                </a:p>
              </p:txBody>
            </p:sp>
          </mc:Choice>
          <mc:Fallback xmlns="">
            <p:sp>
              <p:nvSpPr>
                <p:cNvPr id="13" name="CuadroTexto 12">
                  <a:extLst>
                    <a:ext uri="{FF2B5EF4-FFF2-40B4-BE49-F238E27FC236}">
                      <a16:creationId xmlns:a16="http://schemas.microsoft.com/office/drawing/2014/main" id="{731F9548-C364-47BA-8CD9-93E3630F5C3E}"/>
                    </a:ext>
                  </a:extLst>
                </p:cNvPr>
                <p:cNvSpPr txBox="1">
                  <a:spLocks noRot="1" noChangeAspect="1" noMove="1" noResize="1" noEditPoints="1" noAdjustHandles="1" noChangeArrowheads="1" noChangeShapeType="1" noTextEdit="1"/>
                </p:cNvSpPr>
                <p:nvPr/>
              </p:nvSpPr>
              <p:spPr>
                <a:xfrm>
                  <a:off x="4487791" y="3598887"/>
                  <a:ext cx="1051949" cy="707886"/>
                </a:xfrm>
                <a:prstGeom prst="rect">
                  <a:avLst/>
                </a:prstGeom>
                <a:blipFill>
                  <a:blip r:embed="rId4"/>
                  <a:stretch>
                    <a:fillRect r="-1509"/>
                  </a:stretch>
                </a:blipFill>
              </p:spPr>
              <p:txBody>
                <a:bodyPr/>
                <a:lstStyle/>
                <a:p>
                  <a:r>
                    <a:rPr lang="es-CO">
                      <a:noFill/>
                    </a:rPr>
                    <a:t> </a:t>
                  </a:r>
                </a:p>
              </p:txBody>
            </p:sp>
          </mc:Fallback>
        </mc:AlternateContent>
        <p:cxnSp>
          <p:nvCxnSpPr>
            <p:cNvPr id="14" name="Conector recto 13">
              <a:extLst>
                <a:ext uri="{FF2B5EF4-FFF2-40B4-BE49-F238E27FC236}">
                  <a16:creationId xmlns:a16="http://schemas.microsoft.com/office/drawing/2014/main" id="{FEE27DAE-35A8-4B85-8C2F-FAEB659BB56F}"/>
                </a:ext>
              </a:extLst>
            </p:cNvPr>
            <p:cNvCxnSpPr>
              <a:cxnSpLocks/>
            </p:cNvCxnSpPr>
            <p:nvPr/>
          </p:nvCxnSpPr>
          <p:spPr>
            <a:xfrm>
              <a:off x="4487791" y="3957732"/>
              <a:ext cx="10519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 name="Google Shape;310;p34">
            <a:extLst>
              <a:ext uri="{FF2B5EF4-FFF2-40B4-BE49-F238E27FC236}">
                <a16:creationId xmlns:a16="http://schemas.microsoft.com/office/drawing/2014/main" id="{BB680A61-B649-4198-B83A-9A1A33B33DB3}"/>
              </a:ext>
            </a:extLst>
          </p:cNvPr>
          <p:cNvSpPr txBox="1">
            <a:spLocks/>
          </p:cNvSpPr>
          <p:nvPr/>
        </p:nvSpPr>
        <p:spPr>
          <a:xfrm>
            <a:off x="317500" y="3736031"/>
            <a:ext cx="11044291" cy="48775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latin typeface="+mn-lt"/>
                <a:ea typeface="Roboto" panose="02000000000000000000" pitchFamily="2" charset="0"/>
              </a:rPr>
              <a:t>Esta regla suele ser usada a menudo de manera implícita en demostraciones matemáticas.</a:t>
            </a:r>
          </a:p>
        </p:txBody>
      </p:sp>
    </p:spTree>
    <p:extLst>
      <p:ext uri="{BB962C8B-B14F-4D97-AF65-F5344CB8AC3E}">
        <p14:creationId xmlns:p14="http://schemas.microsoft.com/office/powerpoint/2010/main" val="1183882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464457" y="96038"/>
            <a:ext cx="10377713"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Reglas de inferencia con cuantificadores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464457" y="812735"/>
            <a:ext cx="9501968"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Instanciación existencial</a:t>
            </a:r>
            <a:endParaRPr lang="es-MX" dirty="0">
              <a:solidFill>
                <a:schemeClr val="accent2"/>
              </a:solidFill>
              <a:latin typeface="+mn-lt"/>
            </a:endParaRPr>
          </a:p>
          <a:p>
            <a:pPr marL="0" indent="0">
              <a:buFont typeface="Roboto"/>
              <a:buNone/>
            </a:pPr>
            <a:endParaRPr lang="es-MX" sz="2400" dirty="0">
              <a:latin typeface="+mn-lt"/>
            </a:endParaRPr>
          </a:p>
          <a:p>
            <a:pPr indent="0">
              <a:buFont typeface="Roboto"/>
              <a:buNone/>
            </a:pPr>
            <a:endParaRPr lang="es-MX" sz="2400" dirty="0">
              <a:latin typeface="+mn-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362858" y="1297034"/>
                <a:ext cx="11469138" cy="13446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latin typeface="+mn-lt"/>
                    <a:ea typeface="Roboto" panose="02000000000000000000" pitchFamily="2" charset="0"/>
                  </a:rPr>
                  <a:t>Es la regla que permite tomar una afirmación del tipo </a:t>
                </a:r>
                <a14:m>
                  <m:oMath xmlns:m="http://schemas.openxmlformats.org/officeDocument/2006/math">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𝑥</m:t>
                    </m:r>
                    <m:r>
                      <a:rPr lang="es-MX" sz="2000" i="1" smtClean="0">
                        <a:latin typeface="Cambria Math" panose="02040503050406030204" pitchFamily="18" charset="0"/>
                        <a:ea typeface="Cambria Math" panose="02040503050406030204" pitchFamily="18" charset="0"/>
                      </a:rPr>
                      <m:t> </m:t>
                    </m:r>
                    <m:r>
                      <a:rPr lang="es-MX" sz="2000" i="1" smtClean="0">
                        <a:latin typeface="Cambria Math" panose="02040503050406030204" pitchFamily="18" charset="0"/>
                        <a:ea typeface="Cambria Math" panose="02040503050406030204" pitchFamily="18" charset="0"/>
                      </a:rPr>
                      <m:t>𝑃</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oMath>
                </a14:m>
                <a:r>
                  <a:rPr lang="es-MX" sz="2000" i="1" dirty="0">
                    <a:latin typeface="+mn-lt"/>
                    <a:ea typeface="Cambria Math" panose="02040503050406030204" pitchFamily="18" charset="0"/>
                  </a:rPr>
                  <a:t> </a:t>
                </a:r>
                <a:r>
                  <a:rPr lang="es-MX" sz="2000" dirty="0">
                    <a:latin typeface="+mn-lt"/>
                    <a:ea typeface="Roboto" panose="02000000000000000000" pitchFamily="2" charset="0"/>
                  </a:rPr>
                  <a:t>y asumir que existe un individuo </a:t>
                </a:r>
                <a14:m>
                  <m:oMath xmlns:m="http://schemas.openxmlformats.org/officeDocument/2006/math">
                    <m:r>
                      <a:rPr lang="es-MX" sz="2000" b="0" i="1" smtClean="0">
                        <a:latin typeface="Cambria Math" panose="02040503050406030204" pitchFamily="18" charset="0"/>
                        <a:ea typeface="Cambria Math" panose="02040503050406030204" pitchFamily="18" charset="0"/>
                      </a:rPr>
                      <m:t>𝑐</m:t>
                    </m:r>
                  </m:oMath>
                </a14:m>
                <a:r>
                  <a:rPr lang="es-MX" sz="2000" dirty="0">
                    <a:latin typeface="+mn-lt"/>
                    <a:ea typeface="Roboto" panose="02000000000000000000" pitchFamily="2" charset="0"/>
                  </a:rPr>
                  <a:t> para el cual </a:t>
                </a:r>
                <a14:m>
                  <m:oMath xmlns:m="http://schemas.openxmlformats.org/officeDocument/2006/math">
                    <m:r>
                      <a:rPr lang="es-MX" sz="2000" b="0" i="1" smtClean="0">
                        <a:latin typeface="Cambria Math" panose="02040503050406030204" pitchFamily="18" charset="0"/>
                        <a:ea typeface="Cambria Math" panose="02040503050406030204" pitchFamily="18" charset="0"/>
                      </a:rPr>
                      <m:t>𝑃</m:t>
                    </m:r>
                    <m:d>
                      <m:dPr>
                        <m:ctrlPr>
                          <a:rPr lang="es-MX" sz="2000" b="0" i="1" smtClean="0">
                            <a:latin typeface="Cambria Math" panose="02040503050406030204" pitchFamily="18" charset="0"/>
                            <a:ea typeface="Cambria Math" panose="02040503050406030204" pitchFamily="18" charset="0"/>
                          </a:rPr>
                        </m:ctrlPr>
                      </m:dPr>
                      <m:e>
                        <m:r>
                          <a:rPr lang="es-MX" sz="2000" b="0" i="1" smtClean="0">
                            <a:latin typeface="Cambria Math" panose="02040503050406030204" pitchFamily="18" charset="0"/>
                            <a:ea typeface="Cambria Math" panose="02040503050406030204" pitchFamily="18" charset="0"/>
                          </a:rPr>
                          <m:t>𝑐</m:t>
                        </m:r>
                      </m:e>
                    </m:d>
                  </m:oMath>
                </a14:m>
                <a:r>
                  <a:rPr lang="es-MX" sz="2000" dirty="0">
                    <a:latin typeface="+mn-lt"/>
                    <a:ea typeface="Roboto" panose="02000000000000000000" pitchFamily="2" charset="0"/>
                  </a:rPr>
                  <a:t> es verdadera</a:t>
                </a:r>
              </a:p>
              <a:p>
                <a:r>
                  <a:rPr lang="es-MX" sz="2000" b="1" dirty="0">
                    <a:latin typeface="+mn-lt"/>
                    <a:ea typeface="Roboto" panose="02000000000000000000" pitchFamily="2" charset="0"/>
                  </a:rPr>
                  <a:t>Forma general</a:t>
                </a:r>
              </a:p>
              <a:p>
                <a:pPr marL="584200" lvl="1" indent="0">
                  <a:buNone/>
                </a:pPr>
                <a:endParaRPr lang="es-MX" sz="1800"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362858" y="1297034"/>
                <a:ext cx="11469138" cy="1344650"/>
              </a:xfrm>
              <a:prstGeom prst="rect">
                <a:avLst/>
              </a:prstGeom>
              <a:blipFill>
                <a:blip r:embed="rId3"/>
                <a:stretch>
                  <a:fillRect r="-372"/>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sp>
            <p:nvSpPr>
              <p:cNvPr id="22" name="Google Shape;310;p34">
                <a:extLst>
                  <a:ext uri="{FF2B5EF4-FFF2-40B4-BE49-F238E27FC236}">
                    <a16:creationId xmlns:a16="http://schemas.microsoft.com/office/drawing/2014/main" id="{BB680A61-B649-4198-B83A-9A1A33B33DB3}"/>
                  </a:ext>
                </a:extLst>
              </p:cNvPr>
              <p:cNvSpPr txBox="1">
                <a:spLocks/>
              </p:cNvSpPr>
              <p:nvPr/>
            </p:nvSpPr>
            <p:spPr>
              <a:xfrm>
                <a:off x="362858" y="3481249"/>
                <a:ext cx="11088913" cy="76752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b="1" dirty="0">
                    <a:latin typeface="+mn-lt"/>
                    <a:ea typeface="Roboto" panose="02000000000000000000" pitchFamily="2" charset="0"/>
                  </a:rPr>
                  <a:t>Ejemplo</a:t>
                </a:r>
                <a:r>
                  <a:rPr lang="es-MX" sz="2000" dirty="0">
                    <a:latin typeface="+mn-lt"/>
                    <a:ea typeface="Roboto" panose="02000000000000000000" pitchFamily="2" charset="0"/>
                  </a:rPr>
                  <a:t>: Hay alguien que saco un 5.0 en el curso. Si tomamos un individuo </a:t>
                </a:r>
                <a14:m>
                  <m:oMath xmlns:m="http://schemas.openxmlformats.org/officeDocument/2006/math">
                    <m:r>
                      <a:rPr lang="es-MX" sz="2000" b="0" i="1" smtClean="0">
                        <a:latin typeface="Cambria Math" panose="02040503050406030204" pitchFamily="18" charset="0"/>
                        <a:ea typeface="Roboto" panose="02000000000000000000" pitchFamily="2" charset="0"/>
                      </a:rPr>
                      <m:t>𝑎</m:t>
                    </m:r>
                  </m:oMath>
                </a14:m>
                <a:r>
                  <a:rPr lang="es-MX" sz="2000" dirty="0">
                    <a:latin typeface="+mn-lt"/>
                    <a:ea typeface="Roboto" panose="02000000000000000000" pitchFamily="2" charset="0"/>
                  </a:rPr>
                  <a:t> cualquiera (Bart por ejemplo), podemos decir que </a:t>
                </a:r>
                <a14:m>
                  <m:oMath xmlns:m="http://schemas.openxmlformats.org/officeDocument/2006/math">
                    <m:r>
                      <a:rPr lang="es-MX" sz="2000" i="1">
                        <a:latin typeface="Cambria Math" panose="02040503050406030204" pitchFamily="18" charset="0"/>
                        <a:ea typeface="Roboto" panose="02000000000000000000" pitchFamily="2" charset="0"/>
                      </a:rPr>
                      <m:t>𝑎</m:t>
                    </m:r>
                  </m:oMath>
                </a14:m>
                <a:r>
                  <a:rPr lang="es-MX" sz="2000" dirty="0">
                    <a:latin typeface="+mn-lt"/>
                    <a:ea typeface="Roboto" panose="02000000000000000000" pitchFamily="2" charset="0"/>
                  </a:rPr>
                  <a:t> saco un 5.0</a:t>
                </a:r>
              </a:p>
            </p:txBody>
          </p:sp>
        </mc:Choice>
        <mc:Fallback xmlns="">
          <p:sp>
            <p:nvSpPr>
              <p:cNvPr id="22" name="Google Shape;310;p34">
                <a:extLst>
                  <a:ext uri="{FF2B5EF4-FFF2-40B4-BE49-F238E27FC236}">
                    <a16:creationId xmlns:a16="http://schemas.microsoft.com/office/drawing/2014/main" id="{BB680A61-B649-4198-B83A-9A1A33B33DB3}"/>
                  </a:ext>
                </a:extLst>
              </p:cNvPr>
              <p:cNvSpPr txBox="1">
                <a:spLocks noRot="1" noChangeAspect="1" noMove="1" noResize="1" noEditPoints="1" noAdjustHandles="1" noChangeArrowheads="1" noChangeShapeType="1" noTextEdit="1"/>
              </p:cNvSpPr>
              <p:nvPr/>
            </p:nvSpPr>
            <p:spPr>
              <a:xfrm>
                <a:off x="362858" y="3481249"/>
                <a:ext cx="11088913" cy="767521"/>
              </a:xfrm>
              <a:prstGeom prst="rect">
                <a:avLst/>
              </a:prstGeom>
              <a:blipFill>
                <a:blip r:embed="rId4"/>
                <a:stretch>
                  <a:fillRect b="-14286"/>
                </a:stretch>
              </a:blipFill>
              <a:ln>
                <a:noFill/>
              </a:ln>
            </p:spPr>
            <p:txBody>
              <a:bodyPr/>
              <a:lstStyle/>
              <a:p>
                <a:r>
                  <a:rPr lang="es-CO">
                    <a:noFill/>
                  </a:rPr>
                  <a:t> </a:t>
                </a:r>
              </a:p>
            </p:txBody>
          </p:sp>
        </mc:Fallback>
      </mc:AlternateContent>
      <mc:AlternateContent xmlns:mc="http://schemas.openxmlformats.org/markup-compatibility/2006" xmlns:a14="http://schemas.microsoft.com/office/drawing/2010/main">
        <mc:Choice Requires="a14">
          <p:graphicFrame>
            <p:nvGraphicFramePr>
              <p:cNvPr id="29" name="Tabla 2">
                <a:extLst>
                  <a:ext uri="{FF2B5EF4-FFF2-40B4-BE49-F238E27FC236}">
                    <a16:creationId xmlns:a16="http://schemas.microsoft.com/office/drawing/2014/main" id="{A24D11BF-089C-4010-88DE-693935762966}"/>
                  </a:ext>
                </a:extLst>
              </p:cNvPr>
              <p:cNvGraphicFramePr>
                <a:graphicFrameLocks noGrp="1"/>
              </p:cNvGraphicFramePr>
              <p:nvPr>
                <p:extLst>
                  <p:ext uri="{D42A27DB-BD31-4B8C-83A1-F6EECF244321}">
                    <p14:modId xmlns:p14="http://schemas.microsoft.com/office/powerpoint/2010/main" val="397982516"/>
                  </p:ext>
                </p:extLst>
              </p:nvPr>
            </p:nvGraphicFramePr>
            <p:xfrm>
              <a:off x="2559200" y="4808552"/>
              <a:ext cx="3659115" cy="1341120"/>
            </p:xfrm>
            <a:graphic>
              <a:graphicData uri="http://schemas.openxmlformats.org/drawingml/2006/table">
                <a:tbl>
                  <a:tblPr firstRow="1" bandRow="1">
                    <a:tableStyleId>{AD6A3598-7CB8-4345-8D95-17CE05F158A0}</a:tableStyleId>
                  </a:tblPr>
                  <a:tblGrid>
                    <a:gridCol w="1229090">
                      <a:extLst>
                        <a:ext uri="{9D8B030D-6E8A-4147-A177-3AD203B41FA5}">
                          <a16:colId xmlns:a16="http://schemas.microsoft.com/office/drawing/2014/main" val="55665907"/>
                        </a:ext>
                      </a:extLst>
                    </a:gridCol>
                    <a:gridCol w="2430025">
                      <a:extLst>
                        <a:ext uri="{9D8B030D-6E8A-4147-A177-3AD203B41FA5}">
                          <a16:colId xmlns:a16="http://schemas.microsoft.com/office/drawing/2014/main" val="2393994677"/>
                        </a:ext>
                      </a:extLst>
                    </a:gridCol>
                  </a:tblGrid>
                  <a:tr h="240030">
                    <a:tc>
                      <a:txBody>
                        <a:bodyPr/>
                        <a:lstStyle/>
                        <a:p>
                          <a:r>
                            <a:rPr lang="es-CO" sz="1600" b="1" dirty="0">
                              <a:latin typeface="+mn-lt"/>
                              <a:ea typeface="Roboto" panose="02000000000000000000" pitchFamily="2" charset="0"/>
                            </a:rPr>
                            <a:t>Dominio</a:t>
                          </a:r>
                        </a:p>
                      </a:txBody>
                      <a:tcPr/>
                    </a:tc>
                    <a:tc>
                      <a:txBody>
                        <a:bodyPr/>
                        <a:lstStyle/>
                        <a:p>
                          <a:pPr/>
                          <a14:m>
                            <m:oMathPara xmlns:m="http://schemas.openxmlformats.org/officeDocument/2006/math">
                              <m:oMathParaPr>
                                <m:jc m:val="centerGroup"/>
                              </m:oMathParaPr>
                              <m:oMath xmlns:m="http://schemas.openxmlformats.org/officeDocument/2006/math">
                                <m:r>
                                  <a:rPr lang="es-MX" sz="1400" b="0" i="1" dirty="0" smtClean="0">
                                    <a:latin typeface="Cambria Math" panose="02040503050406030204" pitchFamily="18" charset="0"/>
                                    <a:ea typeface="Roboto" panose="02000000000000000000" pitchFamily="2" charset="0"/>
                                  </a:rPr>
                                  <m:t>𝑈</m:t>
                                </m:r>
                                <m:r>
                                  <a:rPr lang="es-MX" sz="1400" b="0" i="1" dirty="0" smtClean="0">
                                    <a:latin typeface="Cambria Math" panose="02040503050406030204" pitchFamily="18" charset="0"/>
                                    <a:ea typeface="Roboto" panose="02000000000000000000" pitchFamily="2" charset="0"/>
                                  </a:rPr>
                                  <m:t>={</m:t>
                                </m:r>
                                <m:r>
                                  <a:rPr lang="es-MX" sz="1400" b="0" i="1" dirty="0" smtClean="0">
                                    <a:latin typeface="Cambria Math" panose="02040503050406030204" pitchFamily="18" charset="0"/>
                                    <a:ea typeface="Roboto" panose="02000000000000000000" pitchFamily="2" charset="0"/>
                                  </a:rPr>
                                  <m:t>𝑇𝑜𝑑𝑜𝑠</m:t>
                                </m:r>
                                <m:r>
                                  <a:rPr lang="es-MX" sz="1400" b="0" i="1" dirty="0" smtClean="0">
                                    <a:latin typeface="Cambria Math" panose="02040503050406030204" pitchFamily="18" charset="0"/>
                                    <a:ea typeface="Roboto" panose="02000000000000000000" pitchFamily="2" charset="0"/>
                                  </a:rPr>
                                  <m:t> </m:t>
                                </m:r>
                                <m:r>
                                  <a:rPr lang="es-MX" sz="1400" b="0" i="1" dirty="0" smtClean="0">
                                    <a:latin typeface="Cambria Math" panose="02040503050406030204" pitchFamily="18" charset="0"/>
                                    <a:ea typeface="Roboto" panose="02000000000000000000" pitchFamily="2" charset="0"/>
                                  </a:rPr>
                                  <m:t>𝑙𝑜𝑠</m:t>
                                </m:r>
                                <m:r>
                                  <a:rPr lang="es-MX" sz="1400" b="0" i="1" dirty="0" smtClean="0">
                                    <a:latin typeface="Cambria Math" panose="02040503050406030204" pitchFamily="18" charset="0"/>
                                    <a:ea typeface="Roboto" panose="02000000000000000000" pitchFamily="2" charset="0"/>
                                  </a:rPr>
                                  <m:t> </m:t>
                                </m:r>
                                <m:r>
                                  <a:rPr lang="es-MX" sz="1400" b="0" i="1" dirty="0" smtClean="0">
                                    <a:latin typeface="Cambria Math" panose="02040503050406030204" pitchFamily="18" charset="0"/>
                                    <a:ea typeface="Roboto" panose="02000000000000000000" pitchFamily="2" charset="0"/>
                                  </a:rPr>
                                  <m:t>𝑒𝑠𝑡𝑢𝑑𝑖𝑎𝑛𝑡𝑒𝑠</m:t>
                                </m:r>
                                <m:r>
                                  <a:rPr lang="es-MX" sz="1400" b="0" i="1" dirty="0" smtClean="0">
                                    <a:latin typeface="Cambria Math" panose="02040503050406030204" pitchFamily="18" charset="0"/>
                                    <a:ea typeface="Roboto" panose="02000000000000000000" pitchFamily="2" charset="0"/>
                                  </a:rPr>
                                  <m:t>}</m:t>
                                </m:r>
                              </m:oMath>
                            </m:oMathPara>
                          </a14:m>
                          <a:endParaRPr lang="es-CO" sz="1400" b="0" i="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554054099"/>
                      </a:ext>
                    </a:extLst>
                  </a:tr>
                  <a:tr h="240030">
                    <a:tc>
                      <a:txBody>
                        <a:bodyPr/>
                        <a:lstStyle/>
                        <a:p>
                          <a:r>
                            <a:rPr lang="es-CO" sz="1600" b="1" dirty="0">
                              <a:latin typeface="+mn-lt"/>
                              <a:ea typeface="Roboto" panose="02000000000000000000" pitchFamily="2" charset="0"/>
                            </a:rPr>
                            <a:t>Variables</a:t>
                          </a:r>
                        </a:p>
                      </a:txBody>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rPr>
                                  <m:t>𝑥</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𝑈</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590970474"/>
                      </a:ext>
                    </a:extLst>
                  </a:tr>
                  <a:tr h="0">
                    <a:tc>
                      <a:txBody>
                        <a:bodyPr/>
                        <a:lstStyle/>
                        <a:p>
                          <a:r>
                            <a:rPr lang="es-CO" sz="1600" b="1" dirty="0">
                              <a:latin typeface="+mn-lt"/>
                              <a:ea typeface="Roboto" panose="02000000000000000000" pitchFamily="2" charset="0"/>
                            </a:rPr>
                            <a:t>Constantes</a:t>
                          </a:r>
                        </a:p>
                      </a:txBody>
                      <a:tcPr/>
                    </a:tc>
                    <a:tc>
                      <a:txBody>
                        <a:bodyPr/>
                        <a:lstStyle/>
                        <a:p>
                          <a:pPr marL="0" indent="0">
                            <a:buFont typeface="Arial" panose="020B0604020202020204" pitchFamily="34" charset="0"/>
                            <a:buNone/>
                          </a:pPr>
                          <a:r>
                            <a:rPr lang="es-MX" sz="1400" b="0" i="1" dirty="0">
                              <a:latin typeface="Roboto" panose="02000000000000000000" pitchFamily="2" charset="0"/>
                              <a:ea typeface="Roboto" panose="02000000000000000000" pitchFamily="2" charset="0"/>
                            </a:rPr>
                            <a:t>---</a:t>
                          </a:r>
                        </a:p>
                      </a:txBody>
                      <a:tcPr/>
                    </a:tc>
                    <a:extLst>
                      <a:ext uri="{0D108BD9-81ED-4DB2-BD59-A6C34878D82A}">
                        <a16:rowId xmlns:a16="http://schemas.microsoft.com/office/drawing/2014/main" val="144736836"/>
                      </a:ext>
                    </a:extLst>
                  </a:tr>
                  <a:tr h="240030">
                    <a:tc>
                      <a:txBody>
                        <a:bodyPr/>
                        <a:lstStyle/>
                        <a:p>
                          <a:r>
                            <a:rPr lang="es-CO" sz="1600" b="1" dirty="0">
                              <a:latin typeface="+mn-lt"/>
                              <a:ea typeface="Roboto" panose="02000000000000000000" pitchFamily="2" charset="0"/>
                            </a:rPr>
                            <a:t>Predicados</a:t>
                          </a:r>
                        </a:p>
                      </a:txBody>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400" b="0" i="1" smtClean="0">
                                  <a:latin typeface="Cambria Math" panose="02040503050406030204" pitchFamily="18" charset="0"/>
                                  <a:ea typeface="Cambria Math" panose="02040503050406030204" pitchFamily="18" charset="0"/>
                                </a:rPr>
                                <m:t>𝑁</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𝑥</m:t>
                                  </m:r>
                                </m:e>
                              </m:d>
                            </m:oMath>
                          </a14:m>
                          <a:r>
                            <a:rPr lang="es-MX" sz="1400" b="0" i="0" dirty="0">
                              <a:latin typeface="Roboto" panose="02000000000000000000" pitchFamily="2" charset="0"/>
                              <a:ea typeface="Roboto" panose="02000000000000000000" pitchFamily="2" charset="0"/>
                            </a:rPr>
                            <a:t>: </a:t>
                          </a:r>
                          <a14:m>
                            <m:oMath xmlns:m="http://schemas.openxmlformats.org/officeDocument/2006/math">
                              <m:r>
                                <a:rPr lang="es-MX" sz="1400" b="0" i="1" smtClean="0">
                                  <a:latin typeface="Cambria Math" panose="02040503050406030204" pitchFamily="18" charset="0"/>
                                  <a:ea typeface="Cambria Math" panose="02040503050406030204" pitchFamily="18" charset="0"/>
                                </a:rPr>
                                <m:t>𝑥</m:t>
                              </m:r>
                            </m:oMath>
                          </a14:m>
                          <a:r>
                            <a:rPr lang="es-CO" sz="1400" dirty="0">
                              <a:latin typeface="Roboto" panose="02000000000000000000" pitchFamily="2" charset="0"/>
                              <a:ea typeface="Roboto" panose="02000000000000000000" pitchFamily="2" charset="0"/>
                            </a:rPr>
                            <a:t> saco</a:t>
                          </a:r>
                          <a:r>
                            <a:rPr lang="es-CO" sz="1400" baseline="0" dirty="0">
                              <a:latin typeface="Roboto" panose="02000000000000000000" pitchFamily="2" charset="0"/>
                              <a:ea typeface="Roboto" panose="02000000000000000000" pitchFamily="2" charset="0"/>
                            </a:rPr>
                            <a:t> un 5.0</a:t>
                          </a:r>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362933263"/>
                      </a:ext>
                    </a:extLst>
                  </a:tr>
                </a:tbl>
              </a:graphicData>
            </a:graphic>
          </p:graphicFrame>
        </mc:Choice>
        <mc:Fallback xmlns="">
          <p:graphicFrame>
            <p:nvGraphicFramePr>
              <p:cNvPr id="29" name="Tabla 2">
                <a:extLst>
                  <a:ext uri="{FF2B5EF4-FFF2-40B4-BE49-F238E27FC236}">
                    <a16:creationId xmlns:a16="http://schemas.microsoft.com/office/drawing/2014/main" id="{A24D11BF-089C-4010-88DE-693935762966}"/>
                  </a:ext>
                </a:extLst>
              </p:cNvPr>
              <p:cNvGraphicFramePr>
                <a:graphicFrameLocks noGrp="1"/>
              </p:cNvGraphicFramePr>
              <p:nvPr>
                <p:extLst>
                  <p:ext uri="{D42A27DB-BD31-4B8C-83A1-F6EECF244321}">
                    <p14:modId xmlns:p14="http://schemas.microsoft.com/office/powerpoint/2010/main" val="397982516"/>
                  </p:ext>
                </p:extLst>
              </p:nvPr>
            </p:nvGraphicFramePr>
            <p:xfrm>
              <a:off x="2559200" y="4808552"/>
              <a:ext cx="3659115" cy="1341120"/>
            </p:xfrm>
            <a:graphic>
              <a:graphicData uri="http://schemas.openxmlformats.org/drawingml/2006/table">
                <a:tbl>
                  <a:tblPr firstRow="1" bandRow="1">
                    <a:tableStyleId>{AD6A3598-7CB8-4345-8D95-17CE05F158A0}</a:tableStyleId>
                  </a:tblPr>
                  <a:tblGrid>
                    <a:gridCol w="1229090">
                      <a:extLst>
                        <a:ext uri="{9D8B030D-6E8A-4147-A177-3AD203B41FA5}">
                          <a16:colId xmlns:a16="http://schemas.microsoft.com/office/drawing/2014/main" val="55665907"/>
                        </a:ext>
                      </a:extLst>
                    </a:gridCol>
                    <a:gridCol w="2430025">
                      <a:extLst>
                        <a:ext uri="{9D8B030D-6E8A-4147-A177-3AD203B41FA5}">
                          <a16:colId xmlns:a16="http://schemas.microsoft.com/office/drawing/2014/main" val="2393994677"/>
                        </a:ext>
                      </a:extLst>
                    </a:gridCol>
                  </a:tblGrid>
                  <a:tr h="335280">
                    <a:tc>
                      <a:txBody>
                        <a:bodyPr/>
                        <a:lstStyle/>
                        <a:p>
                          <a:r>
                            <a:rPr lang="es-CO" sz="1600" b="1" dirty="0">
                              <a:latin typeface="+mn-lt"/>
                              <a:ea typeface="Roboto" panose="02000000000000000000" pitchFamily="2" charset="0"/>
                            </a:rPr>
                            <a:t>Dominio</a:t>
                          </a:r>
                        </a:p>
                      </a:txBody>
                      <a:tcPr/>
                    </a:tc>
                    <a:tc>
                      <a:txBody>
                        <a:bodyPr/>
                        <a:lstStyle/>
                        <a:p>
                          <a:endParaRPr lang="es-CO"/>
                        </a:p>
                      </a:txBody>
                      <a:tcPr>
                        <a:blipFill>
                          <a:blip r:embed="rId5"/>
                          <a:stretch>
                            <a:fillRect l="-50500" t="-3636" r="-250" b="-325455"/>
                          </a:stretch>
                        </a:blipFill>
                      </a:tcPr>
                    </a:tc>
                    <a:extLst>
                      <a:ext uri="{0D108BD9-81ED-4DB2-BD59-A6C34878D82A}">
                        <a16:rowId xmlns:a16="http://schemas.microsoft.com/office/drawing/2014/main" val="2554054099"/>
                      </a:ext>
                    </a:extLst>
                  </a:tr>
                  <a:tr h="335280">
                    <a:tc>
                      <a:txBody>
                        <a:bodyPr/>
                        <a:lstStyle/>
                        <a:p>
                          <a:r>
                            <a:rPr lang="es-CO" sz="1600" b="1" dirty="0">
                              <a:latin typeface="+mn-lt"/>
                              <a:ea typeface="Roboto" panose="02000000000000000000" pitchFamily="2" charset="0"/>
                            </a:rPr>
                            <a:t>Variables</a:t>
                          </a:r>
                        </a:p>
                      </a:txBody>
                      <a:tcPr/>
                    </a:tc>
                    <a:tc>
                      <a:txBody>
                        <a:bodyPr/>
                        <a:lstStyle/>
                        <a:p>
                          <a:endParaRPr lang="es-CO"/>
                        </a:p>
                      </a:txBody>
                      <a:tcPr>
                        <a:blipFill>
                          <a:blip r:embed="rId5"/>
                          <a:stretch>
                            <a:fillRect l="-50500" t="-101786" r="-250" b="-219643"/>
                          </a:stretch>
                        </a:blipFill>
                      </a:tcPr>
                    </a:tc>
                    <a:extLst>
                      <a:ext uri="{0D108BD9-81ED-4DB2-BD59-A6C34878D82A}">
                        <a16:rowId xmlns:a16="http://schemas.microsoft.com/office/drawing/2014/main" val="1590970474"/>
                      </a:ext>
                    </a:extLst>
                  </a:tr>
                  <a:tr h="335280">
                    <a:tc>
                      <a:txBody>
                        <a:bodyPr/>
                        <a:lstStyle/>
                        <a:p>
                          <a:r>
                            <a:rPr lang="es-CO" sz="1600" b="1" dirty="0">
                              <a:latin typeface="+mn-lt"/>
                              <a:ea typeface="Roboto" panose="02000000000000000000" pitchFamily="2" charset="0"/>
                            </a:rPr>
                            <a:t>Constantes</a:t>
                          </a:r>
                        </a:p>
                      </a:txBody>
                      <a:tcPr/>
                    </a:tc>
                    <a:tc>
                      <a:txBody>
                        <a:bodyPr/>
                        <a:lstStyle/>
                        <a:p>
                          <a:pPr marL="0" indent="0">
                            <a:buFont typeface="Arial" panose="020B0604020202020204" pitchFamily="34" charset="0"/>
                            <a:buNone/>
                          </a:pPr>
                          <a:r>
                            <a:rPr lang="es-MX" sz="1400" b="0" i="1" dirty="0">
                              <a:latin typeface="Roboto" panose="02000000000000000000" pitchFamily="2" charset="0"/>
                              <a:ea typeface="Roboto" panose="02000000000000000000" pitchFamily="2" charset="0"/>
                            </a:rPr>
                            <a:t>---</a:t>
                          </a:r>
                        </a:p>
                      </a:txBody>
                      <a:tcPr/>
                    </a:tc>
                    <a:extLst>
                      <a:ext uri="{0D108BD9-81ED-4DB2-BD59-A6C34878D82A}">
                        <a16:rowId xmlns:a16="http://schemas.microsoft.com/office/drawing/2014/main" val="144736836"/>
                      </a:ext>
                    </a:extLst>
                  </a:tr>
                  <a:tr h="335280">
                    <a:tc>
                      <a:txBody>
                        <a:bodyPr/>
                        <a:lstStyle/>
                        <a:p>
                          <a:r>
                            <a:rPr lang="es-CO" sz="1600" b="1" dirty="0">
                              <a:latin typeface="+mn-lt"/>
                              <a:ea typeface="Roboto" panose="02000000000000000000" pitchFamily="2" charset="0"/>
                            </a:rPr>
                            <a:t>Predicados</a:t>
                          </a:r>
                        </a:p>
                      </a:txBody>
                      <a:tcPr/>
                    </a:tc>
                    <a:tc>
                      <a:txBody>
                        <a:bodyPr/>
                        <a:lstStyle/>
                        <a:p>
                          <a:endParaRPr lang="es-CO"/>
                        </a:p>
                      </a:txBody>
                      <a:tcPr>
                        <a:blipFill>
                          <a:blip r:embed="rId5"/>
                          <a:stretch>
                            <a:fillRect l="-50500" t="-305455" r="-250" b="-23636"/>
                          </a:stretch>
                        </a:blipFill>
                      </a:tcPr>
                    </a:tc>
                    <a:extLst>
                      <a:ext uri="{0D108BD9-81ED-4DB2-BD59-A6C34878D82A}">
                        <a16:rowId xmlns:a16="http://schemas.microsoft.com/office/drawing/2014/main" val="1362933263"/>
                      </a:ext>
                    </a:extLst>
                  </a:tr>
                </a:tbl>
              </a:graphicData>
            </a:graphic>
          </p:graphicFrame>
        </mc:Fallback>
      </mc:AlternateContent>
      <p:grpSp>
        <p:nvGrpSpPr>
          <p:cNvPr id="30" name="Grupo 29">
            <a:extLst>
              <a:ext uri="{FF2B5EF4-FFF2-40B4-BE49-F238E27FC236}">
                <a16:creationId xmlns:a16="http://schemas.microsoft.com/office/drawing/2014/main" id="{4CE22D98-F5AC-404C-BF2F-7E7D4C295B47}"/>
              </a:ext>
            </a:extLst>
          </p:cNvPr>
          <p:cNvGrpSpPr/>
          <p:nvPr/>
        </p:nvGrpSpPr>
        <p:grpSpPr>
          <a:xfrm>
            <a:off x="7109025" y="5088335"/>
            <a:ext cx="1723943" cy="646331"/>
            <a:chOff x="4487791" y="3598887"/>
            <a:chExt cx="1051949" cy="646331"/>
          </a:xfrm>
        </p:grpSpPr>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C20C1A7D-42B3-44C8-AAD8-D1A0E26FFB67}"/>
                    </a:ext>
                  </a:extLst>
                </p:cNvPr>
                <p:cNvSpPr txBox="1"/>
                <p:nvPr/>
              </p:nvSpPr>
              <p:spPr>
                <a:xfrm>
                  <a:off x="4487791" y="3598887"/>
                  <a:ext cx="1051949" cy="64633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𝑥</m:t>
                        </m:r>
                        <m:r>
                          <a:rPr lang="es-MX" sz="1800" b="0" i="1"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Cambria Math" panose="02040503050406030204" pitchFamily="18" charset="0"/>
                          </a:rPr>
                          <m:t>𝑁</m:t>
                        </m:r>
                        <m:d>
                          <m:dPr>
                            <m:ctrlPr>
                              <a:rPr lang="es-MX" sz="1800" b="0" i="1" smtClean="0">
                                <a:latin typeface="Cambria Math" panose="02040503050406030204" pitchFamily="18" charset="0"/>
                                <a:ea typeface="Cambria Math" panose="02040503050406030204" pitchFamily="18" charset="0"/>
                              </a:rPr>
                            </m:ctrlPr>
                          </m:dPr>
                          <m:e>
                            <m:r>
                              <a:rPr lang="es-MX" sz="1800" b="0" i="1" smtClean="0">
                                <a:latin typeface="Cambria Math" panose="02040503050406030204" pitchFamily="18" charset="0"/>
                                <a:ea typeface="Cambria Math" panose="02040503050406030204" pitchFamily="18" charset="0"/>
                              </a:rPr>
                              <m:t>𝑥</m:t>
                            </m:r>
                          </m:e>
                        </m:d>
                      </m:oMath>
                    </m:oMathPara>
                  </a14:m>
                  <a:endParaRPr lang="es-MX" sz="18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m:t>
                        </m:r>
                        <m:r>
                          <a:rPr lang="es-MX" sz="1800" b="0" i="1" smtClean="0">
                            <a:latin typeface="Cambria Math" panose="02040503050406030204" pitchFamily="18" charset="0"/>
                            <a:ea typeface="Cambria Math" panose="02040503050406030204" pitchFamily="18" charset="0"/>
                          </a:rPr>
                          <m:t>𝑁</m:t>
                        </m:r>
                        <m:d>
                          <m:dPr>
                            <m:ctrlPr>
                              <a:rPr lang="es-MX" sz="1800" b="0" i="1" smtClean="0">
                                <a:latin typeface="Cambria Math" panose="02040503050406030204" pitchFamily="18" charset="0"/>
                                <a:ea typeface="Cambria Math" panose="02040503050406030204" pitchFamily="18" charset="0"/>
                              </a:rPr>
                            </m:ctrlPr>
                          </m:dPr>
                          <m:e>
                            <m:r>
                              <a:rPr lang="es-MX" sz="1800" b="0" i="1" smtClean="0">
                                <a:latin typeface="Cambria Math" panose="02040503050406030204" pitchFamily="18" charset="0"/>
                                <a:ea typeface="Cambria Math" panose="02040503050406030204" pitchFamily="18" charset="0"/>
                              </a:rPr>
                              <m:t>𝑎</m:t>
                            </m:r>
                          </m:e>
                        </m:d>
                      </m:oMath>
                    </m:oMathPara>
                  </a14:m>
                  <a:endParaRPr lang="es-MX" sz="1800" b="0" dirty="0">
                    <a:latin typeface="Roboto" panose="02000000000000000000" pitchFamily="2" charset="0"/>
                    <a:ea typeface="Cambria Math" panose="02040503050406030204" pitchFamily="18" charset="0"/>
                  </a:endParaRPr>
                </a:p>
              </p:txBody>
            </p:sp>
          </mc:Choice>
          <mc:Fallback xmlns="">
            <p:sp>
              <p:nvSpPr>
                <p:cNvPr id="31" name="CuadroTexto 30">
                  <a:extLst>
                    <a:ext uri="{FF2B5EF4-FFF2-40B4-BE49-F238E27FC236}">
                      <a16:creationId xmlns:a16="http://schemas.microsoft.com/office/drawing/2014/main" id="{C20C1A7D-42B3-44C8-AAD8-D1A0E26FFB67}"/>
                    </a:ext>
                  </a:extLst>
                </p:cNvPr>
                <p:cNvSpPr txBox="1">
                  <a:spLocks noRot="1" noChangeAspect="1" noMove="1" noResize="1" noEditPoints="1" noAdjustHandles="1" noChangeArrowheads="1" noChangeShapeType="1" noTextEdit="1"/>
                </p:cNvSpPr>
                <p:nvPr/>
              </p:nvSpPr>
              <p:spPr>
                <a:xfrm>
                  <a:off x="4487791" y="3598887"/>
                  <a:ext cx="1051949" cy="646331"/>
                </a:xfrm>
                <a:prstGeom prst="rect">
                  <a:avLst/>
                </a:prstGeom>
                <a:blipFill>
                  <a:blip r:embed="rId6"/>
                  <a:stretch>
                    <a:fillRect/>
                  </a:stretch>
                </a:blipFill>
              </p:spPr>
              <p:txBody>
                <a:bodyPr/>
                <a:lstStyle/>
                <a:p>
                  <a:r>
                    <a:rPr lang="es-CO">
                      <a:noFill/>
                    </a:rPr>
                    <a:t> </a:t>
                  </a:r>
                </a:p>
              </p:txBody>
            </p:sp>
          </mc:Fallback>
        </mc:AlternateContent>
        <p:cxnSp>
          <p:nvCxnSpPr>
            <p:cNvPr id="32" name="Conector recto 31">
              <a:extLst>
                <a:ext uri="{FF2B5EF4-FFF2-40B4-BE49-F238E27FC236}">
                  <a16:creationId xmlns:a16="http://schemas.microsoft.com/office/drawing/2014/main" id="{619940D5-E520-4668-8354-9C201AEC3375}"/>
                </a:ext>
              </a:extLst>
            </p:cNvPr>
            <p:cNvCxnSpPr>
              <a:cxnSpLocks/>
            </p:cNvCxnSpPr>
            <p:nvPr/>
          </p:nvCxnSpPr>
          <p:spPr>
            <a:xfrm>
              <a:off x="4487791" y="3928704"/>
              <a:ext cx="10519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Grupo 18">
            <a:extLst>
              <a:ext uri="{FF2B5EF4-FFF2-40B4-BE49-F238E27FC236}">
                <a16:creationId xmlns:a16="http://schemas.microsoft.com/office/drawing/2014/main" id="{2D88D3F1-A915-447C-9F9B-9B40D0727CBB}"/>
              </a:ext>
            </a:extLst>
          </p:cNvPr>
          <p:cNvGrpSpPr/>
          <p:nvPr/>
        </p:nvGrpSpPr>
        <p:grpSpPr>
          <a:xfrm>
            <a:off x="1250211" y="2641684"/>
            <a:ext cx="3167575" cy="707886"/>
            <a:chOff x="4487791" y="3598887"/>
            <a:chExt cx="1051949" cy="707886"/>
          </a:xfrm>
        </p:grpSpPr>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C38CB799-0F92-4558-A0C2-59A5995ECAA3}"/>
                    </a:ext>
                  </a:extLst>
                </p:cNvPr>
                <p:cNvSpPr txBox="1"/>
                <p:nvPr/>
              </p:nvSpPr>
              <p:spPr>
                <a:xfrm>
                  <a:off x="4487791" y="3598887"/>
                  <a:ext cx="1051949"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𝑃</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oMath>
                    </m:oMathPara>
                  </a14:m>
                  <a:endParaRPr lang="es-MX" sz="200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𝑃</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𝑐</m:t>
                            </m:r>
                          </m:e>
                        </m:d>
                        <m:r>
                          <a:rPr lang="es-MX" sz="2000" i="1">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para</m:t>
                        </m:r>
                        <m:r>
                          <a:rPr lang="es-MX" sz="2000">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un</m:t>
                        </m:r>
                        <m:r>
                          <a:rPr lang="es-MX" sz="2000">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𝑐</m:t>
                        </m:r>
                        <m:r>
                          <a:rPr lang="es-MX" sz="2000" i="1">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arbitrario</m:t>
                        </m:r>
                      </m:oMath>
                    </m:oMathPara>
                  </a14:m>
                  <a:endParaRPr lang="es-MX" sz="2000" i="1" dirty="0">
                    <a:latin typeface="Cambria Math" panose="02040503050406030204" pitchFamily="18" charset="0"/>
                    <a:ea typeface="Cambria Math" panose="02040503050406030204" pitchFamily="18" charset="0"/>
                  </a:endParaRPr>
                </a:p>
              </p:txBody>
            </p:sp>
          </mc:Choice>
          <mc:Fallback xmlns="">
            <p:sp>
              <p:nvSpPr>
                <p:cNvPr id="20" name="CuadroTexto 19">
                  <a:extLst>
                    <a:ext uri="{FF2B5EF4-FFF2-40B4-BE49-F238E27FC236}">
                      <a16:creationId xmlns:a16="http://schemas.microsoft.com/office/drawing/2014/main" id="{C38CB799-0F92-4558-A0C2-59A5995ECAA3}"/>
                    </a:ext>
                  </a:extLst>
                </p:cNvPr>
                <p:cNvSpPr txBox="1">
                  <a:spLocks noRot="1" noChangeAspect="1" noMove="1" noResize="1" noEditPoints="1" noAdjustHandles="1" noChangeArrowheads="1" noChangeShapeType="1" noTextEdit="1"/>
                </p:cNvSpPr>
                <p:nvPr/>
              </p:nvSpPr>
              <p:spPr>
                <a:xfrm>
                  <a:off x="4487791" y="3598887"/>
                  <a:ext cx="1051949" cy="707886"/>
                </a:xfrm>
                <a:prstGeom prst="rect">
                  <a:avLst/>
                </a:prstGeom>
                <a:blipFill>
                  <a:blip r:embed="rId7"/>
                  <a:stretch>
                    <a:fillRect b="-5128"/>
                  </a:stretch>
                </a:blipFill>
              </p:spPr>
              <p:txBody>
                <a:bodyPr/>
                <a:lstStyle/>
                <a:p>
                  <a:r>
                    <a:rPr lang="es-CO">
                      <a:noFill/>
                    </a:rPr>
                    <a:t> </a:t>
                  </a:r>
                </a:p>
              </p:txBody>
            </p:sp>
          </mc:Fallback>
        </mc:AlternateContent>
        <p:cxnSp>
          <p:nvCxnSpPr>
            <p:cNvPr id="21" name="Conector recto 20">
              <a:extLst>
                <a:ext uri="{FF2B5EF4-FFF2-40B4-BE49-F238E27FC236}">
                  <a16:creationId xmlns:a16="http://schemas.microsoft.com/office/drawing/2014/main" id="{927AC83E-5CA1-4DA0-86A2-C50586945A18}"/>
                </a:ext>
              </a:extLst>
            </p:cNvPr>
            <p:cNvCxnSpPr>
              <a:cxnSpLocks/>
            </p:cNvCxnSpPr>
            <p:nvPr/>
          </p:nvCxnSpPr>
          <p:spPr>
            <a:xfrm>
              <a:off x="4487791" y="3957732"/>
              <a:ext cx="10519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752536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34"/>
          <p:cNvSpPr txBox="1">
            <a:spLocks noGrp="1"/>
          </p:cNvSpPr>
          <p:nvPr>
            <p:ph type="title"/>
          </p:nvPr>
        </p:nvSpPr>
        <p:spPr>
          <a:xfrm>
            <a:off x="362857" y="96038"/>
            <a:ext cx="10247086"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Reglas de inferencia con cuantificadores</a:t>
            </a:r>
            <a:endParaRPr dirty="0">
              <a:latin typeface="+mj-lt"/>
            </a:endParaRPr>
          </a:p>
        </p:txBody>
      </p:sp>
      <p:sp>
        <p:nvSpPr>
          <p:cNvPr id="4" name="Google Shape;310;p34">
            <a:extLst>
              <a:ext uri="{FF2B5EF4-FFF2-40B4-BE49-F238E27FC236}">
                <a16:creationId xmlns:a16="http://schemas.microsoft.com/office/drawing/2014/main" id="{BE15A36C-9BD2-469A-9CCF-F214389CB345}"/>
              </a:ext>
            </a:extLst>
          </p:cNvPr>
          <p:cNvSpPr txBox="1">
            <a:spLocks/>
          </p:cNvSpPr>
          <p:nvPr/>
        </p:nvSpPr>
        <p:spPr>
          <a:xfrm>
            <a:off x="360005" y="766092"/>
            <a:ext cx="10058613" cy="530942"/>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pPr marL="0" indent="0">
              <a:buFont typeface="Roboto"/>
              <a:buNone/>
            </a:pPr>
            <a:r>
              <a:rPr lang="es-MX" b="1" dirty="0">
                <a:solidFill>
                  <a:schemeClr val="accent2"/>
                </a:solidFill>
                <a:latin typeface="+mn-lt"/>
              </a:rPr>
              <a:t>Generalización existencial</a:t>
            </a:r>
            <a:endParaRPr lang="es-MX" dirty="0">
              <a:solidFill>
                <a:schemeClr val="accent2"/>
              </a:solidFill>
              <a:latin typeface="+mn-lt"/>
            </a:endParaRPr>
          </a:p>
          <a:p>
            <a:pPr marL="0" indent="0">
              <a:buFont typeface="Roboto"/>
              <a:buNone/>
            </a:pPr>
            <a:endParaRPr lang="es-MX" sz="2400" dirty="0">
              <a:latin typeface="+mn-lt"/>
            </a:endParaRPr>
          </a:p>
          <a:p>
            <a:pPr indent="0">
              <a:buFont typeface="Roboto"/>
              <a:buNone/>
            </a:pPr>
            <a:endParaRPr lang="es-MX" sz="2400" dirty="0">
              <a:latin typeface="+mn-lt"/>
            </a:endParaRPr>
          </a:p>
        </p:txBody>
      </p:sp>
      <mc:AlternateContent xmlns:mc="http://schemas.openxmlformats.org/markup-compatibility/2006" xmlns:a14="http://schemas.microsoft.com/office/drawing/2010/main">
        <mc:Choice Requires="a14">
          <p:sp>
            <p:nvSpPr>
              <p:cNvPr id="7" name="Google Shape;310;p34">
                <a:extLst>
                  <a:ext uri="{FF2B5EF4-FFF2-40B4-BE49-F238E27FC236}">
                    <a16:creationId xmlns:a16="http://schemas.microsoft.com/office/drawing/2014/main" id="{C1EB8144-8BAC-4290-B469-B1AFD5BDF721}"/>
                  </a:ext>
                </a:extLst>
              </p:cNvPr>
              <p:cNvSpPr txBox="1">
                <a:spLocks/>
              </p:cNvSpPr>
              <p:nvPr/>
            </p:nvSpPr>
            <p:spPr>
              <a:xfrm>
                <a:off x="360006" y="1297034"/>
                <a:ext cx="11471990" cy="134465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dirty="0">
                    <a:latin typeface="+mn-lt"/>
                  </a:rPr>
                  <a:t>Es la regla que permite pasar de una afirmación particular como </a:t>
                </a:r>
                <a14:m>
                  <m:oMath xmlns:m="http://schemas.openxmlformats.org/officeDocument/2006/math">
                    <m:r>
                      <a:rPr lang="es-MX" sz="2000" i="1">
                        <a:latin typeface="Cambria Math" panose="02040503050406030204" pitchFamily="18" charset="0"/>
                        <a:ea typeface="Cambria Math" panose="02040503050406030204" pitchFamily="18" charset="0"/>
                      </a:rPr>
                      <m:t>𝑃</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𝑐</m:t>
                        </m:r>
                      </m:e>
                    </m:d>
                  </m:oMath>
                </a14:m>
                <a:r>
                  <a:rPr lang="es-MX" sz="2000" dirty="0">
                    <a:latin typeface="+mn-lt"/>
                  </a:rPr>
                  <a:t> a una existencial como </a:t>
                </a:r>
                <a14:m>
                  <m:oMath xmlns:m="http://schemas.openxmlformats.org/officeDocument/2006/math">
                    <m:r>
                      <a:rPr lang="es-MX" sz="2000" i="1" smtClean="0">
                        <a:latin typeface="Cambria Math" panose="02040503050406030204" pitchFamily="18" charset="0"/>
                        <a:ea typeface="Cambria Math" panose="02040503050406030204" pitchFamily="18" charset="0"/>
                      </a:rPr>
                      <m:t>∃</m:t>
                    </m:r>
                    <m:r>
                      <a:rPr lang="es-MX" sz="2000" i="1" smtClean="0">
                        <a:latin typeface="Cambria Math" panose="02040503050406030204" pitchFamily="18" charset="0"/>
                        <a:ea typeface="Cambria Math" panose="02040503050406030204" pitchFamily="18" charset="0"/>
                      </a:rPr>
                      <m:t>𝑥</m:t>
                    </m:r>
                    <m:r>
                      <a:rPr lang="es-MX" sz="2000" i="1" smtClean="0">
                        <a:latin typeface="Cambria Math" panose="02040503050406030204" pitchFamily="18" charset="0"/>
                        <a:ea typeface="Cambria Math" panose="02040503050406030204" pitchFamily="18" charset="0"/>
                      </a:rPr>
                      <m:t> </m:t>
                    </m:r>
                    <m:r>
                      <a:rPr lang="es-MX" sz="2000" i="1" smtClean="0">
                        <a:latin typeface="Cambria Math" panose="02040503050406030204" pitchFamily="18" charset="0"/>
                        <a:ea typeface="Cambria Math" panose="02040503050406030204" pitchFamily="18" charset="0"/>
                      </a:rPr>
                      <m:t>𝑃</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oMath>
                </a14:m>
                <a:endParaRPr lang="es-MX" sz="2000" dirty="0">
                  <a:latin typeface="+mn-lt"/>
                  <a:ea typeface="Roboto" panose="02000000000000000000" pitchFamily="2" charset="0"/>
                </a:endParaRPr>
              </a:p>
              <a:p>
                <a:r>
                  <a:rPr lang="es-MX" sz="2000" b="1" dirty="0">
                    <a:latin typeface="+mn-lt"/>
                    <a:ea typeface="Roboto" panose="02000000000000000000" pitchFamily="2" charset="0"/>
                  </a:rPr>
                  <a:t>Forma general</a:t>
                </a:r>
              </a:p>
              <a:p>
                <a:pPr marL="584200" lvl="1" indent="0">
                  <a:buNone/>
                </a:pPr>
                <a:endParaRPr lang="es-MX" sz="1800" dirty="0">
                  <a:latin typeface="+mn-lt"/>
                  <a:ea typeface="Roboto" panose="02000000000000000000" pitchFamily="2" charset="0"/>
                </a:endParaRPr>
              </a:p>
            </p:txBody>
          </p:sp>
        </mc:Choice>
        <mc:Fallback xmlns="">
          <p:sp>
            <p:nvSpPr>
              <p:cNvPr id="7" name="Google Shape;310;p34">
                <a:extLst>
                  <a:ext uri="{FF2B5EF4-FFF2-40B4-BE49-F238E27FC236}">
                    <a16:creationId xmlns:a16="http://schemas.microsoft.com/office/drawing/2014/main" id="{C1EB8144-8BAC-4290-B469-B1AFD5BDF721}"/>
                  </a:ext>
                </a:extLst>
              </p:cNvPr>
              <p:cNvSpPr txBox="1">
                <a:spLocks noRot="1" noChangeAspect="1" noMove="1" noResize="1" noEditPoints="1" noAdjustHandles="1" noChangeArrowheads="1" noChangeShapeType="1" noTextEdit="1"/>
              </p:cNvSpPr>
              <p:nvPr/>
            </p:nvSpPr>
            <p:spPr>
              <a:xfrm>
                <a:off x="360006" y="1297034"/>
                <a:ext cx="11471990" cy="1344650"/>
              </a:xfrm>
              <a:prstGeom prst="rect">
                <a:avLst/>
              </a:prstGeom>
              <a:blipFill>
                <a:blip r:embed="rId3"/>
                <a:stretch>
                  <a:fillRect/>
                </a:stretch>
              </a:blipFill>
              <a:ln>
                <a:noFill/>
              </a:ln>
            </p:spPr>
            <p:txBody>
              <a:bodyPr/>
              <a:lstStyle/>
              <a:p>
                <a:r>
                  <a:rPr lang="es-CO">
                    <a:noFill/>
                  </a:rPr>
                  <a:t> </a:t>
                </a:r>
              </a:p>
            </p:txBody>
          </p:sp>
        </mc:Fallback>
      </mc:AlternateContent>
      <p:sp>
        <p:nvSpPr>
          <p:cNvPr id="22" name="Google Shape;310;p34">
            <a:extLst>
              <a:ext uri="{FF2B5EF4-FFF2-40B4-BE49-F238E27FC236}">
                <a16:creationId xmlns:a16="http://schemas.microsoft.com/office/drawing/2014/main" id="{BB680A61-B649-4198-B83A-9A1A33B33DB3}"/>
              </a:ext>
            </a:extLst>
          </p:cNvPr>
          <p:cNvSpPr txBox="1">
            <a:spLocks/>
          </p:cNvSpPr>
          <p:nvPr/>
        </p:nvSpPr>
        <p:spPr>
          <a:xfrm>
            <a:off x="360006" y="3531912"/>
            <a:ext cx="11471990" cy="673758"/>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30200" algn="l" rtl="0">
              <a:lnSpc>
                <a:spcPct val="90000"/>
              </a:lnSpc>
              <a:spcBef>
                <a:spcPts val="1000"/>
              </a:spcBef>
              <a:spcAft>
                <a:spcPts val="0"/>
              </a:spcAft>
              <a:buClr>
                <a:schemeClr val="dk1"/>
              </a:buClr>
              <a:buSzPts val="1600"/>
              <a:buFont typeface="Roboto"/>
              <a:buChar char="●"/>
              <a:defRPr sz="2600" b="0" i="0" u="none" strike="noStrike" cap="none">
                <a:solidFill>
                  <a:schemeClr val="dk1"/>
                </a:solidFill>
                <a:latin typeface="Roboto"/>
                <a:ea typeface="Roboto"/>
                <a:cs typeface="Roboto"/>
                <a:sym typeface="Roboto"/>
              </a:defRPr>
            </a:lvl1pPr>
            <a:lvl2pPr marL="914400" marR="0" lvl="1" indent="-330200" algn="l" rtl="0">
              <a:lnSpc>
                <a:spcPct val="90000"/>
              </a:lnSpc>
              <a:spcBef>
                <a:spcPts val="500"/>
              </a:spcBef>
              <a:spcAft>
                <a:spcPts val="0"/>
              </a:spcAft>
              <a:buClr>
                <a:schemeClr val="dk1"/>
              </a:buClr>
              <a:buSzPts val="1600"/>
              <a:buFont typeface="Roboto"/>
              <a:buChar char="○"/>
              <a:defRPr sz="2200" b="0" i="0" u="none" strike="noStrike" cap="none">
                <a:solidFill>
                  <a:schemeClr val="dk1"/>
                </a:solidFill>
                <a:latin typeface="Roboto"/>
                <a:ea typeface="Roboto"/>
                <a:cs typeface="Roboto"/>
                <a:sym typeface="Roboto"/>
              </a:defRPr>
            </a:lvl2pPr>
            <a:lvl3pPr marL="1371600" marR="0" lvl="2" indent="-342900" algn="l" rtl="0">
              <a:lnSpc>
                <a:spcPct val="90000"/>
              </a:lnSpc>
              <a:spcBef>
                <a:spcPts val="500"/>
              </a:spcBef>
              <a:spcAft>
                <a:spcPts val="0"/>
              </a:spcAft>
              <a:buClr>
                <a:schemeClr val="dk1"/>
              </a:buClr>
              <a:buSzPts val="1800"/>
              <a:buFont typeface="Roboto"/>
              <a:buChar char="■"/>
              <a:defRPr sz="1800" b="0" i="0" u="none" strike="noStrike" cap="none">
                <a:solidFill>
                  <a:schemeClr val="dk1"/>
                </a:solidFill>
                <a:latin typeface="Roboto"/>
                <a:ea typeface="Roboto"/>
                <a:cs typeface="Roboto"/>
                <a:sym typeface="Roboto"/>
              </a:defRPr>
            </a:lvl3pPr>
            <a:lvl4pPr marL="1828800" marR="0" lvl="3"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4pPr>
            <a:lvl5pPr marL="2286000" marR="0" lvl="4"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5pPr>
            <a:lvl6pPr marL="2743200" marR="0" lvl="5"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6pPr>
            <a:lvl7pPr marL="3200400" marR="0" lvl="6"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7pPr>
            <a:lvl8pPr marL="3657600" marR="0" lvl="7"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8pPr>
            <a:lvl9pPr marL="4114800" marR="0" lvl="8" indent="-342900" algn="l" rtl="0">
              <a:lnSpc>
                <a:spcPct val="90000"/>
              </a:lnSpc>
              <a:spcBef>
                <a:spcPts val="500"/>
              </a:spcBef>
              <a:spcAft>
                <a:spcPts val="0"/>
              </a:spcAft>
              <a:buClr>
                <a:schemeClr val="dk1"/>
              </a:buClr>
              <a:buSzPts val="1800"/>
              <a:buFont typeface="Roboto"/>
              <a:buChar char="■"/>
              <a:defRPr sz="1600" b="0" i="0" u="none" strike="noStrike" cap="none">
                <a:solidFill>
                  <a:schemeClr val="dk1"/>
                </a:solidFill>
                <a:latin typeface="Roboto"/>
                <a:ea typeface="Roboto"/>
                <a:cs typeface="Roboto"/>
                <a:sym typeface="Roboto"/>
              </a:defRPr>
            </a:lvl9pPr>
          </a:lstStyle>
          <a:p>
            <a:r>
              <a:rPr lang="es-MX" sz="2000" b="1" dirty="0">
                <a:latin typeface="+mn-lt"/>
                <a:ea typeface="Roboto" panose="02000000000000000000" pitchFamily="2" charset="0"/>
              </a:rPr>
              <a:t>Ejemplo</a:t>
            </a:r>
            <a:r>
              <a:rPr lang="es-MX" sz="2000" dirty="0">
                <a:latin typeface="+mn-lt"/>
                <a:ea typeface="Roboto" panose="02000000000000000000" pitchFamily="2" charset="0"/>
              </a:rPr>
              <a:t>: Si Bart saco un 5.0 en la clase podemos decir que al menos un estudiante saco un 5.0 en la clase.</a:t>
            </a:r>
          </a:p>
        </p:txBody>
      </p:sp>
      <mc:AlternateContent xmlns:mc="http://schemas.openxmlformats.org/markup-compatibility/2006" xmlns:a14="http://schemas.microsoft.com/office/drawing/2010/main">
        <mc:Choice Requires="a14">
          <p:graphicFrame>
            <p:nvGraphicFramePr>
              <p:cNvPr id="29" name="Tabla 2">
                <a:extLst>
                  <a:ext uri="{FF2B5EF4-FFF2-40B4-BE49-F238E27FC236}">
                    <a16:creationId xmlns:a16="http://schemas.microsoft.com/office/drawing/2014/main" id="{A24D11BF-089C-4010-88DE-693935762966}"/>
                  </a:ext>
                </a:extLst>
              </p:cNvPr>
              <p:cNvGraphicFramePr>
                <a:graphicFrameLocks noGrp="1"/>
              </p:cNvGraphicFramePr>
              <p:nvPr>
                <p:extLst>
                  <p:ext uri="{D42A27DB-BD31-4B8C-83A1-F6EECF244321}">
                    <p14:modId xmlns:p14="http://schemas.microsoft.com/office/powerpoint/2010/main" val="1433435891"/>
                  </p:ext>
                </p:extLst>
              </p:nvPr>
            </p:nvGraphicFramePr>
            <p:xfrm>
              <a:off x="2769656" y="4497512"/>
              <a:ext cx="3819829" cy="1341120"/>
            </p:xfrm>
            <a:graphic>
              <a:graphicData uri="http://schemas.openxmlformats.org/drawingml/2006/table">
                <a:tbl>
                  <a:tblPr firstRow="1" bandRow="1">
                    <a:tableStyleId>{AD6A3598-7CB8-4345-8D95-17CE05F158A0}</a:tableStyleId>
                  </a:tblPr>
                  <a:tblGrid>
                    <a:gridCol w="1265314">
                      <a:extLst>
                        <a:ext uri="{9D8B030D-6E8A-4147-A177-3AD203B41FA5}">
                          <a16:colId xmlns:a16="http://schemas.microsoft.com/office/drawing/2014/main" val="55665907"/>
                        </a:ext>
                      </a:extLst>
                    </a:gridCol>
                    <a:gridCol w="2554515">
                      <a:extLst>
                        <a:ext uri="{9D8B030D-6E8A-4147-A177-3AD203B41FA5}">
                          <a16:colId xmlns:a16="http://schemas.microsoft.com/office/drawing/2014/main" val="2393994677"/>
                        </a:ext>
                      </a:extLst>
                    </a:gridCol>
                  </a:tblGrid>
                  <a:tr h="240030">
                    <a:tc>
                      <a:txBody>
                        <a:bodyPr/>
                        <a:lstStyle/>
                        <a:p>
                          <a:r>
                            <a:rPr lang="es-CO" sz="1600" b="1" dirty="0">
                              <a:latin typeface="Roboto" panose="02000000000000000000" pitchFamily="2" charset="0"/>
                              <a:ea typeface="Roboto" panose="02000000000000000000" pitchFamily="2" charset="0"/>
                            </a:rPr>
                            <a:t>Dominio</a:t>
                          </a:r>
                        </a:p>
                      </a:txBody>
                      <a:tcPr/>
                    </a:tc>
                    <a:tc>
                      <a:txBody>
                        <a:bodyPr/>
                        <a:lstStyle/>
                        <a:p>
                          <a:pPr/>
                          <a14:m>
                            <m:oMathPara xmlns:m="http://schemas.openxmlformats.org/officeDocument/2006/math">
                              <m:oMathParaPr>
                                <m:jc m:val="centerGroup"/>
                              </m:oMathParaPr>
                              <m:oMath xmlns:m="http://schemas.openxmlformats.org/officeDocument/2006/math">
                                <m:r>
                                  <a:rPr lang="es-MX" sz="1400" b="0" i="1" dirty="0" smtClean="0">
                                    <a:latin typeface="Cambria Math" panose="02040503050406030204" pitchFamily="18" charset="0"/>
                                    <a:ea typeface="Roboto" panose="02000000000000000000" pitchFamily="2" charset="0"/>
                                  </a:rPr>
                                  <m:t>𝑈</m:t>
                                </m:r>
                                <m:r>
                                  <a:rPr lang="es-MX" sz="1400" b="0" i="1" dirty="0" smtClean="0">
                                    <a:latin typeface="Cambria Math" panose="02040503050406030204" pitchFamily="18" charset="0"/>
                                    <a:ea typeface="Roboto" panose="02000000000000000000" pitchFamily="2" charset="0"/>
                                  </a:rPr>
                                  <m:t>={</m:t>
                                </m:r>
                                <m:r>
                                  <a:rPr lang="es-MX" sz="1400" b="0" i="1" dirty="0" smtClean="0">
                                    <a:latin typeface="Cambria Math" panose="02040503050406030204" pitchFamily="18" charset="0"/>
                                    <a:ea typeface="Roboto" panose="02000000000000000000" pitchFamily="2" charset="0"/>
                                  </a:rPr>
                                  <m:t>𝑇𝑜𝑑𝑜𝑠</m:t>
                                </m:r>
                                <m:r>
                                  <a:rPr lang="es-MX" sz="1400" b="0" i="1" dirty="0" smtClean="0">
                                    <a:latin typeface="Cambria Math" panose="02040503050406030204" pitchFamily="18" charset="0"/>
                                    <a:ea typeface="Roboto" panose="02000000000000000000" pitchFamily="2" charset="0"/>
                                  </a:rPr>
                                  <m:t> </m:t>
                                </m:r>
                                <m:r>
                                  <a:rPr lang="es-MX" sz="1400" b="0" i="1" dirty="0" smtClean="0">
                                    <a:latin typeface="Cambria Math" panose="02040503050406030204" pitchFamily="18" charset="0"/>
                                    <a:ea typeface="Roboto" panose="02000000000000000000" pitchFamily="2" charset="0"/>
                                  </a:rPr>
                                  <m:t>𝑙𝑜𝑠</m:t>
                                </m:r>
                                <m:r>
                                  <a:rPr lang="es-MX" sz="1400" b="0" i="1" dirty="0" smtClean="0">
                                    <a:latin typeface="Cambria Math" panose="02040503050406030204" pitchFamily="18" charset="0"/>
                                    <a:ea typeface="Roboto" panose="02000000000000000000" pitchFamily="2" charset="0"/>
                                  </a:rPr>
                                  <m:t> </m:t>
                                </m:r>
                                <m:r>
                                  <a:rPr lang="es-MX" sz="1400" b="0" i="1" dirty="0" smtClean="0">
                                    <a:latin typeface="Cambria Math" panose="02040503050406030204" pitchFamily="18" charset="0"/>
                                    <a:ea typeface="Roboto" panose="02000000000000000000" pitchFamily="2" charset="0"/>
                                  </a:rPr>
                                  <m:t>𝑒𝑠𝑡𝑢𝑑𝑖𝑎𝑛𝑡𝑒𝑠</m:t>
                                </m:r>
                                <m:r>
                                  <a:rPr lang="es-MX" sz="1400" b="0" i="1" dirty="0" smtClean="0">
                                    <a:latin typeface="Cambria Math" panose="02040503050406030204" pitchFamily="18" charset="0"/>
                                    <a:ea typeface="Roboto" panose="02000000000000000000" pitchFamily="2" charset="0"/>
                                  </a:rPr>
                                  <m:t>}</m:t>
                                </m:r>
                              </m:oMath>
                            </m:oMathPara>
                          </a14:m>
                          <a:endParaRPr lang="es-CO" sz="1400" b="0" i="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554054099"/>
                      </a:ext>
                    </a:extLst>
                  </a:tr>
                  <a:tr h="240030">
                    <a:tc>
                      <a:txBody>
                        <a:bodyPr/>
                        <a:lstStyle/>
                        <a:p>
                          <a:r>
                            <a:rPr lang="es-CO" sz="1600" b="1" dirty="0">
                              <a:latin typeface="Roboto" panose="02000000000000000000" pitchFamily="2" charset="0"/>
                              <a:ea typeface="Roboto" panose="02000000000000000000" pitchFamily="2" charset="0"/>
                            </a:rPr>
                            <a:t>Variables</a:t>
                          </a:r>
                        </a:p>
                      </a:txBody>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rPr>
                                  <m:t>𝑥</m:t>
                                </m:r>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Cambria Math" panose="02040503050406030204" pitchFamily="18" charset="0"/>
                                  </a:rPr>
                                  <m:t>𝑈</m:t>
                                </m:r>
                              </m:oMath>
                            </m:oMathPara>
                          </a14:m>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590970474"/>
                      </a:ext>
                    </a:extLst>
                  </a:tr>
                  <a:tr h="0">
                    <a:tc>
                      <a:txBody>
                        <a:bodyPr/>
                        <a:lstStyle/>
                        <a:p>
                          <a:r>
                            <a:rPr lang="es-CO" sz="1600" b="1" dirty="0">
                              <a:latin typeface="Roboto" panose="02000000000000000000" pitchFamily="2" charset="0"/>
                              <a:ea typeface="Roboto" panose="02000000000000000000" pitchFamily="2" charset="0"/>
                            </a:rPr>
                            <a:t>Constantes</a:t>
                          </a:r>
                        </a:p>
                      </a:txBody>
                      <a:tcPr/>
                    </a:tc>
                    <a:tc>
                      <a:txBody>
                        <a:bodyPr/>
                        <a:lstStyle/>
                        <a:p>
                          <a:pPr marL="171450" marR="0" lvl="0" indent="-1714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400" b="0" i="1" smtClean="0">
                                  <a:latin typeface="Cambria Math" panose="02040503050406030204" pitchFamily="18" charset="0"/>
                                  <a:ea typeface="Cambria Math" panose="02040503050406030204" pitchFamily="18" charset="0"/>
                                </a:rPr>
                                <m:t>𝑥</m:t>
                              </m:r>
                              <m:r>
                                <a:rPr lang="es-MX" sz="1400" b="0" i="1" smtClean="0">
                                  <a:latin typeface="Cambria Math" panose="02040503050406030204" pitchFamily="18" charset="0"/>
                                  <a:ea typeface="Cambria Math" panose="02040503050406030204" pitchFamily="18" charset="0"/>
                                </a:rPr>
                                <m:t>=</m:t>
                              </m:r>
                              <m:r>
                                <m:rPr>
                                  <m:sty m:val="p"/>
                                </m:rPr>
                                <a:rPr lang="es-MX" sz="1400" b="0" i="0" smtClean="0">
                                  <a:latin typeface="Cambria Math" panose="02040503050406030204" pitchFamily="18" charset="0"/>
                                  <a:ea typeface="Cambria Math" panose="02040503050406030204" pitchFamily="18" charset="0"/>
                                </a:rPr>
                                <m:t>Bart</m:t>
                              </m:r>
                            </m:oMath>
                          </a14:m>
                          <a:endParaRPr lang="es-CO" sz="1400" i="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44736836"/>
                      </a:ext>
                    </a:extLst>
                  </a:tr>
                  <a:tr h="0">
                    <a:tc>
                      <a:txBody>
                        <a:bodyPr/>
                        <a:lstStyle/>
                        <a:p>
                          <a:r>
                            <a:rPr lang="es-CO" sz="1600" b="1" dirty="0">
                              <a:latin typeface="Roboto" panose="02000000000000000000" pitchFamily="2" charset="0"/>
                              <a:ea typeface="Roboto" panose="02000000000000000000" pitchFamily="2" charset="0"/>
                            </a:rPr>
                            <a:t>Predicados</a:t>
                          </a:r>
                        </a:p>
                      </a:txBody>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400" b="0" i="1" smtClean="0">
                                  <a:latin typeface="Cambria Math" panose="02040503050406030204" pitchFamily="18" charset="0"/>
                                  <a:ea typeface="Cambria Math" panose="02040503050406030204" pitchFamily="18" charset="0"/>
                                </a:rPr>
                                <m:t>𝑁</m:t>
                              </m:r>
                              <m:d>
                                <m:dPr>
                                  <m:ctrlPr>
                                    <a:rPr lang="es-MX" sz="1400" b="0" i="1" smtClean="0">
                                      <a:latin typeface="Cambria Math" panose="02040503050406030204" pitchFamily="18" charset="0"/>
                                      <a:ea typeface="Cambria Math" panose="02040503050406030204" pitchFamily="18" charset="0"/>
                                    </a:rPr>
                                  </m:ctrlPr>
                                </m:dPr>
                                <m:e>
                                  <m:r>
                                    <a:rPr lang="es-MX" sz="1400" b="0" i="1" smtClean="0">
                                      <a:latin typeface="Cambria Math" panose="02040503050406030204" pitchFamily="18" charset="0"/>
                                      <a:ea typeface="Cambria Math" panose="02040503050406030204" pitchFamily="18" charset="0"/>
                                    </a:rPr>
                                    <m:t>𝑥</m:t>
                                  </m:r>
                                </m:e>
                              </m:d>
                            </m:oMath>
                          </a14:m>
                          <a:r>
                            <a:rPr lang="es-MX" sz="1400" b="0" i="0" dirty="0">
                              <a:latin typeface="Roboto" panose="02000000000000000000" pitchFamily="2" charset="0"/>
                              <a:ea typeface="Roboto" panose="02000000000000000000" pitchFamily="2" charset="0"/>
                            </a:rPr>
                            <a:t>: </a:t>
                          </a:r>
                          <a14:m>
                            <m:oMath xmlns:m="http://schemas.openxmlformats.org/officeDocument/2006/math">
                              <m:r>
                                <a:rPr lang="es-MX" sz="1400" b="0" i="1" smtClean="0">
                                  <a:latin typeface="Cambria Math" panose="02040503050406030204" pitchFamily="18" charset="0"/>
                                  <a:ea typeface="Cambria Math" panose="02040503050406030204" pitchFamily="18" charset="0"/>
                                </a:rPr>
                                <m:t>𝑥</m:t>
                              </m:r>
                            </m:oMath>
                          </a14:m>
                          <a:r>
                            <a:rPr lang="es-CO" sz="1400" dirty="0">
                              <a:latin typeface="Roboto" panose="02000000000000000000" pitchFamily="2" charset="0"/>
                              <a:ea typeface="Roboto" panose="02000000000000000000" pitchFamily="2" charset="0"/>
                            </a:rPr>
                            <a:t> saco</a:t>
                          </a:r>
                          <a:r>
                            <a:rPr lang="es-CO" sz="1400" baseline="0" dirty="0">
                              <a:latin typeface="Roboto" panose="02000000000000000000" pitchFamily="2" charset="0"/>
                              <a:ea typeface="Roboto" panose="02000000000000000000" pitchFamily="2" charset="0"/>
                            </a:rPr>
                            <a:t> un 5.0</a:t>
                          </a:r>
                          <a:endParaRPr lang="es-CO" sz="14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362933263"/>
                      </a:ext>
                    </a:extLst>
                  </a:tr>
                </a:tbl>
              </a:graphicData>
            </a:graphic>
          </p:graphicFrame>
        </mc:Choice>
        <mc:Fallback xmlns="">
          <p:graphicFrame>
            <p:nvGraphicFramePr>
              <p:cNvPr id="29" name="Tabla 2">
                <a:extLst>
                  <a:ext uri="{FF2B5EF4-FFF2-40B4-BE49-F238E27FC236}">
                    <a16:creationId xmlns:a16="http://schemas.microsoft.com/office/drawing/2014/main" id="{A24D11BF-089C-4010-88DE-693935762966}"/>
                  </a:ext>
                </a:extLst>
              </p:cNvPr>
              <p:cNvGraphicFramePr>
                <a:graphicFrameLocks noGrp="1"/>
              </p:cNvGraphicFramePr>
              <p:nvPr>
                <p:extLst>
                  <p:ext uri="{D42A27DB-BD31-4B8C-83A1-F6EECF244321}">
                    <p14:modId xmlns:p14="http://schemas.microsoft.com/office/powerpoint/2010/main" val="1433435891"/>
                  </p:ext>
                </p:extLst>
              </p:nvPr>
            </p:nvGraphicFramePr>
            <p:xfrm>
              <a:off x="2769656" y="4497512"/>
              <a:ext cx="3819829" cy="1341120"/>
            </p:xfrm>
            <a:graphic>
              <a:graphicData uri="http://schemas.openxmlformats.org/drawingml/2006/table">
                <a:tbl>
                  <a:tblPr firstRow="1" bandRow="1">
                    <a:tableStyleId>{AD6A3598-7CB8-4345-8D95-17CE05F158A0}</a:tableStyleId>
                  </a:tblPr>
                  <a:tblGrid>
                    <a:gridCol w="1265314">
                      <a:extLst>
                        <a:ext uri="{9D8B030D-6E8A-4147-A177-3AD203B41FA5}">
                          <a16:colId xmlns:a16="http://schemas.microsoft.com/office/drawing/2014/main" val="55665907"/>
                        </a:ext>
                      </a:extLst>
                    </a:gridCol>
                    <a:gridCol w="2554515">
                      <a:extLst>
                        <a:ext uri="{9D8B030D-6E8A-4147-A177-3AD203B41FA5}">
                          <a16:colId xmlns:a16="http://schemas.microsoft.com/office/drawing/2014/main" val="2393994677"/>
                        </a:ext>
                      </a:extLst>
                    </a:gridCol>
                  </a:tblGrid>
                  <a:tr h="335280">
                    <a:tc>
                      <a:txBody>
                        <a:bodyPr/>
                        <a:lstStyle/>
                        <a:p>
                          <a:r>
                            <a:rPr lang="es-CO" sz="1600" b="1" dirty="0">
                              <a:latin typeface="Roboto" panose="02000000000000000000" pitchFamily="2" charset="0"/>
                              <a:ea typeface="Roboto" panose="02000000000000000000" pitchFamily="2" charset="0"/>
                            </a:rPr>
                            <a:t>Dominio</a:t>
                          </a:r>
                        </a:p>
                      </a:txBody>
                      <a:tcPr/>
                    </a:tc>
                    <a:tc>
                      <a:txBody>
                        <a:bodyPr/>
                        <a:lstStyle/>
                        <a:p>
                          <a:endParaRPr lang="es-CO"/>
                        </a:p>
                      </a:txBody>
                      <a:tcPr>
                        <a:blipFill>
                          <a:blip r:embed="rId4"/>
                          <a:stretch>
                            <a:fillRect l="-49881" t="-3636" r="-477" b="-325455"/>
                          </a:stretch>
                        </a:blipFill>
                      </a:tcPr>
                    </a:tc>
                    <a:extLst>
                      <a:ext uri="{0D108BD9-81ED-4DB2-BD59-A6C34878D82A}">
                        <a16:rowId xmlns:a16="http://schemas.microsoft.com/office/drawing/2014/main" val="2554054099"/>
                      </a:ext>
                    </a:extLst>
                  </a:tr>
                  <a:tr h="335280">
                    <a:tc>
                      <a:txBody>
                        <a:bodyPr/>
                        <a:lstStyle/>
                        <a:p>
                          <a:r>
                            <a:rPr lang="es-CO" sz="1600" b="1" dirty="0">
                              <a:latin typeface="Roboto" panose="02000000000000000000" pitchFamily="2" charset="0"/>
                              <a:ea typeface="Roboto" panose="02000000000000000000" pitchFamily="2" charset="0"/>
                            </a:rPr>
                            <a:t>Variables</a:t>
                          </a:r>
                        </a:p>
                      </a:txBody>
                      <a:tcPr/>
                    </a:tc>
                    <a:tc>
                      <a:txBody>
                        <a:bodyPr/>
                        <a:lstStyle/>
                        <a:p>
                          <a:endParaRPr lang="es-CO"/>
                        </a:p>
                      </a:txBody>
                      <a:tcPr>
                        <a:blipFill>
                          <a:blip r:embed="rId4"/>
                          <a:stretch>
                            <a:fillRect l="-49881" t="-101786" r="-477" b="-219643"/>
                          </a:stretch>
                        </a:blipFill>
                      </a:tcPr>
                    </a:tc>
                    <a:extLst>
                      <a:ext uri="{0D108BD9-81ED-4DB2-BD59-A6C34878D82A}">
                        <a16:rowId xmlns:a16="http://schemas.microsoft.com/office/drawing/2014/main" val="1590970474"/>
                      </a:ext>
                    </a:extLst>
                  </a:tr>
                  <a:tr h="335280">
                    <a:tc>
                      <a:txBody>
                        <a:bodyPr/>
                        <a:lstStyle/>
                        <a:p>
                          <a:r>
                            <a:rPr lang="es-CO" sz="1600" b="1" dirty="0">
                              <a:latin typeface="Roboto" panose="02000000000000000000" pitchFamily="2" charset="0"/>
                              <a:ea typeface="Roboto" panose="02000000000000000000" pitchFamily="2" charset="0"/>
                            </a:rPr>
                            <a:t>Constantes</a:t>
                          </a:r>
                        </a:p>
                      </a:txBody>
                      <a:tcPr/>
                    </a:tc>
                    <a:tc>
                      <a:txBody>
                        <a:bodyPr/>
                        <a:lstStyle/>
                        <a:p>
                          <a:endParaRPr lang="es-CO"/>
                        </a:p>
                      </a:txBody>
                      <a:tcPr>
                        <a:blipFill>
                          <a:blip r:embed="rId4"/>
                          <a:stretch>
                            <a:fillRect l="-49881" t="-205455" r="-477" b="-123636"/>
                          </a:stretch>
                        </a:blipFill>
                      </a:tcPr>
                    </a:tc>
                    <a:extLst>
                      <a:ext uri="{0D108BD9-81ED-4DB2-BD59-A6C34878D82A}">
                        <a16:rowId xmlns:a16="http://schemas.microsoft.com/office/drawing/2014/main" val="144736836"/>
                      </a:ext>
                    </a:extLst>
                  </a:tr>
                  <a:tr h="335280">
                    <a:tc>
                      <a:txBody>
                        <a:bodyPr/>
                        <a:lstStyle/>
                        <a:p>
                          <a:r>
                            <a:rPr lang="es-CO" sz="1600" b="1" dirty="0">
                              <a:latin typeface="Roboto" panose="02000000000000000000" pitchFamily="2" charset="0"/>
                              <a:ea typeface="Roboto" panose="02000000000000000000" pitchFamily="2" charset="0"/>
                            </a:rPr>
                            <a:t>Predicados</a:t>
                          </a:r>
                        </a:p>
                      </a:txBody>
                      <a:tcPr/>
                    </a:tc>
                    <a:tc>
                      <a:txBody>
                        <a:bodyPr/>
                        <a:lstStyle/>
                        <a:p>
                          <a:endParaRPr lang="es-CO"/>
                        </a:p>
                      </a:txBody>
                      <a:tcPr>
                        <a:blipFill>
                          <a:blip r:embed="rId4"/>
                          <a:stretch>
                            <a:fillRect l="-49881" t="-305455" r="-477" b="-23636"/>
                          </a:stretch>
                        </a:blipFill>
                      </a:tcPr>
                    </a:tc>
                    <a:extLst>
                      <a:ext uri="{0D108BD9-81ED-4DB2-BD59-A6C34878D82A}">
                        <a16:rowId xmlns:a16="http://schemas.microsoft.com/office/drawing/2014/main" val="1362933263"/>
                      </a:ext>
                    </a:extLst>
                  </a:tr>
                </a:tbl>
              </a:graphicData>
            </a:graphic>
          </p:graphicFrame>
        </mc:Fallback>
      </mc:AlternateContent>
      <p:grpSp>
        <p:nvGrpSpPr>
          <p:cNvPr id="30" name="Grupo 29">
            <a:extLst>
              <a:ext uri="{FF2B5EF4-FFF2-40B4-BE49-F238E27FC236}">
                <a16:creationId xmlns:a16="http://schemas.microsoft.com/office/drawing/2014/main" id="{4CE22D98-F5AC-404C-BF2F-7E7D4C295B47}"/>
              </a:ext>
            </a:extLst>
          </p:cNvPr>
          <p:cNvGrpSpPr/>
          <p:nvPr/>
        </p:nvGrpSpPr>
        <p:grpSpPr>
          <a:xfrm>
            <a:off x="7881152" y="4844906"/>
            <a:ext cx="1723943" cy="646331"/>
            <a:chOff x="4487791" y="3691267"/>
            <a:chExt cx="1051949" cy="646331"/>
          </a:xfrm>
        </p:grpSpPr>
        <mc:AlternateContent xmlns:mc="http://schemas.openxmlformats.org/markup-compatibility/2006" xmlns:a14="http://schemas.microsoft.com/office/drawing/2010/main">
          <mc:Choice Requires="a14">
            <p:sp>
              <p:nvSpPr>
                <p:cNvPr id="31" name="CuadroTexto 30">
                  <a:extLst>
                    <a:ext uri="{FF2B5EF4-FFF2-40B4-BE49-F238E27FC236}">
                      <a16:creationId xmlns:a16="http://schemas.microsoft.com/office/drawing/2014/main" id="{C20C1A7D-42B3-44C8-AAD8-D1A0E26FFB67}"/>
                    </a:ext>
                  </a:extLst>
                </p:cNvPr>
                <p:cNvSpPr txBox="1"/>
                <p:nvPr/>
              </p:nvSpPr>
              <p:spPr>
                <a:xfrm>
                  <a:off x="4487791" y="3691267"/>
                  <a:ext cx="1051949" cy="646331"/>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𝑁</m:t>
                        </m:r>
                        <m:d>
                          <m:dPr>
                            <m:ctrlPr>
                              <a:rPr lang="es-MX" sz="1800" b="0" i="1" smtClean="0">
                                <a:latin typeface="Cambria Math" panose="02040503050406030204" pitchFamily="18" charset="0"/>
                                <a:ea typeface="Cambria Math" panose="02040503050406030204" pitchFamily="18" charset="0"/>
                              </a:rPr>
                            </m:ctrlPr>
                          </m:dPr>
                          <m:e>
                            <m:r>
                              <m:rPr>
                                <m:sty m:val="p"/>
                              </m:rPr>
                              <a:rPr lang="es-MX" sz="1800" b="0" i="0" smtClean="0">
                                <a:latin typeface="Cambria Math" panose="02040503050406030204" pitchFamily="18" charset="0"/>
                                <a:ea typeface="Cambria Math" panose="02040503050406030204" pitchFamily="18" charset="0"/>
                              </a:rPr>
                              <m:t>Bart</m:t>
                            </m:r>
                          </m:e>
                        </m:d>
                      </m:oMath>
                    </m:oMathPara>
                  </a14:m>
                  <a:endParaRPr lang="es-MX" sz="1800" b="0" i="1" dirty="0">
                    <a:latin typeface="Cambria Math" panose="02040503050406030204" pitchFamily="18" charset="0"/>
                    <a:ea typeface="Cambria Math" panose="02040503050406030204" pitchFamily="18"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𝑥</m:t>
                        </m:r>
                        <m:r>
                          <a:rPr lang="es-MX" sz="1800" b="0" i="1" smtClean="0">
                            <a:latin typeface="Cambria Math" panose="02040503050406030204" pitchFamily="18" charset="0"/>
                            <a:ea typeface="Cambria Math" panose="02040503050406030204" pitchFamily="18" charset="0"/>
                          </a:rPr>
                          <m:t> </m:t>
                        </m:r>
                        <m:r>
                          <a:rPr lang="es-MX" sz="1800" i="1">
                            <a:latin typeface="Cambria Math" panose="02040503050406030204" pitchFamily="18" charset="0"/>
                            <a:ea typeface="Cambria Math" panose="02040503050406030204" pitchFamily="18" charset="0"/>
                          </a:rPr>
                          <m:t>𝑁</m:t>
                        </m:r>
                        <m:d>
                          <m:dPr>
                            <m:ctrlPr>
                              <a:rPr lang="es-MX" sz="1800" b="0" i="1" smtClean="0">
                                <a:latin typeface="Cambria Math" panose="02040503050406030204" pitchFamily="18" charset="0"/>
                                <a:ea typeface="Cambria Math" panose="02040503050406030204" pitchFamily="18" charset="0"/>
                              </a:rPr>
                            </m:ctrlPr>
                          </m:dPr>
                          <m:e>
                            <m:r>
                              <a:rPr lang="es-MX" sz="1800" b="0" i="1" smtClean="0">
                                <a:latin typeface="Cambria Math" panose="02040503050406030204" pitchFamily="18" charset="0"/>
                                <a:ea typeface="Cambria Math" panose="02040503050406030204" pitchFamily="18" charset="0"/>
                              </a:rPr>
                              <m:t>𝑥</m:t>
                            </m:r>
                          </m:e>
                        </m:d>
                      </m:oMath>
                    </m:oMathPara>
                  </a14:m>
                  <a:endParaRPr lang="es-MX" sz="1800" b="0" dirty="0">
                    <a:latin typeface="Roboto" panose="02000000000000000000" pitchFamily="2" charset="0"/>
                    <a:ea typeface="Cambria Math" panose="02040503050406030204" pitchFamily="18" charset="0"/>
                  </a:endParaRPr>
                </a:p>
              </p:txBody>
            </p:sp>
          </mc:Choice>
          <mc:Fallback xmlns="">
            <p:sp>
              <p:nvSpPr>
                <p:cNvPr id="31" name="CuadroTexto 30">
                  <a:extLst>
                    <a:ext uri="{FF2B5EF4-FFF2-40B4-BE49-F238E27FC236}">
                      <a16:creationId xmlns:a16="http://schemas.microsoft.com/office/drawing/2014/main" id="{C20C1A7D-42B3-44C8-AAD8-D1A0E26FFB67}"/>
                    </a:ext>
                  </a:extLst>
                </p:cNvPr>
                <p:cNvSpPr txBox="1">
                  <a:spLocks noRot="1" noChangeAspect="1" noMove="1" noResize="1" noEditPoints="1" noAdjustHandles="1" noChangeArrowheads="1" noChangeShapeType="1" noTextEdit="1"/>
                </p:cNvSpPr>
                <p:nvPr/>
              </p:nvSpPr>
              <p:spPr>
                <a:xfrm>
                  <a:off x="4487791" y="3691267"/>
                  <a:ext cx="1051949" cy="646331"/>
                </a:xfrm>
                <a:prstGeom prst="rect">
                  <a:avLst/>
                </a:prstGeom>
                <a:blipFill>
                  <a:blip r:embed="rId5"/>
                  <a:stretch>
                    <a:fillRect/>
                  </a:stretch>
                </a:blipFill>
              </p:spPr>
              <p:txBody>
                <a:bodyPr/>
                <a:lstStyle/>
                <a:p>
                  <a:r>
                    <a:rPr lang="es-CO">
                      <a:noFill/>
                    </a:rPr>
                    <a:t> </a:t>
                  </a:r>
                </a:p>
              </p:txBody>
            </p:sp>
          </mc:Fallback>
        </mc:AlternateContent>
        <p:cxnSp>
          <p:nvCxnSpPr>
            <p:cNvPr id="32" name="Conector recto 31">
              <a:extLst>
                <a:ext uri="{FF2B5EF4-FFF2-40B4-BE49-F238E27FC236}">
                  <a16:creationId xmlns:a16="http://schemas.microsoft.com/office/drawing/2014/main" id="{619940D5-E520-4668-8354-9C201AEC3375}"/>
                </a:ext>
              </a:extLst>
            </p:cNvPr>
            <p:cNvCxnSpPr>
              <a:cxnSpLocks/>
            </p:cNvCxnSpPr>
            <p:nvPr/>
          </p:nvCxnSpPr>
          <p:spPr>
            <a:xfrm>
              <a:off x="4487791" y="4030304"/>
              <a:ext cx="10519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19" name="Grupo 18">
            <a:extLst>
              <a:ext uri="{FF2B5EF4-FFF2-40B4-BE49-F238E27FC236}">
                <a16:creationId xmlns:a16="http://schemas.microsoft.com/office/drawing/2014/main" id="{2D88D3F1-A915-447C-9F9B-9B40D0727CBB}"/>
              </a:ext>
            </a:extLst>
          </p:cNvPr>
          <p:cNvGrpSpPr/>
          <p:nvPr/>
        </p:nvGrpSpPr>
        <p:grpSpPr>
          <a:xfrm>
            <a:off x="1185869" y="2562519"/>
            <a:ext cx="3167575" cy="707886"/>
            <a:chOff x="4487791" y="3598887"/>
            <a:chExt cx="1051949" cy="707886"/>
          </a:xfrm>
        </p:grpSpPr>
        <mc:AlternateContent xmlns:mc="http://schemas.openxmlformats.org/markup-compatibility/2006" xmlns:a14="http://schemas.microsoft.com/office/drawing/2010/main">
          <mc:Choice Requires="a14">
            <p:sp>
              <p:nvSpPr>
                <p:cNvPr id="20" name="CuadroTexto 19">
                  <a:extLst>
                    <a:ext uri="{FF2B5EF4-FFF2-40B4-BE49-F238E27FC236}">
                      <a16:creationId xmlns:a16="http://schemas.microsoft.com/office/drawing/2014/main" id="{C38CB799-0F92-4558-A0C2-59A5995ECAA3}"/>
                    </a:ext>
                  </a:extLst>
                </p:cNvPr>
                <p:cNvSpPr txBox="1"/>
                <p:nvPr/>
              </p:nvSpPr>
              <p:spPr>
                <a:xfrm>
                  <a:off x="4487791" y="3598887"/>
                  <a:ext cx="1051949" cy="707886"/>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2000" i="1">
                            <a:latin typeface="Cambria Math" panose="02040503050406030204" pitchFamily="18" charset="0"/>
                            <a:ea typeface="Cambria Math" panose="02040503050406030204" pitchFamily="18" charset="0"/>
                          </a:rPr>
                          <m:t>𝑃</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𝑐</m:t>
                            </m:r>
                          </m:e>
                        </m:d>
                        <m:r>
                          <a:rPr lang="es-MX" sz="2000" i="1">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para</m:t>
                        </m:r>
                        <m:r>
                          <a:rPr lang="es-MX" sz="2000">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un</m:t>
                        </m:r>
                        <m:r>
                          <a:rPr lang="es-MX" sz="2000">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𝑐</m:t>
                        </m:r>
                        <m:r>
                          <a:rPr lang="es-MX" sz="2000" i="1">
                            <a:latin typeface="Cambria Math" panose="02040503050406030204" pitchFamily="18" charset="0"/>
                            <a:ea typeface="Cambria Math" panose="02040503050406030204" pitchFamily="18" charset="0"/>
                          </a:rPr>
                          <m:t> </m:t>
                        </m:r>
                        <m:r>
                          <m:rPr>
                            <m:sty m:val="p"/>
                          </m:rPr>
                          <a:rPr lang="es-MX" sz="2000">
                            <a:latin typeface="Cambria Math" panose="02040503050406030204" pitchFamily="18" charset="0"/>
                            <a:ea typeface="Cambria Math" panose="02040503050406030204" pitchFamily="18" charset="0"/>
                          </a:rPr>
                          <m:t>arbitrario</m:t>
                        </m:r>
                        <m:r>
                          <a:rPr lang="es-MX" sz="2000" b="0" i="1" smtClean="0">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m:t>
                        </m:r>
                        <m:r>
                          <a:rPr lang="es-MX" sz="2000" i="1">
                            <a:latin typeface="Cambria Math" panose="02040503050406030204" pitchFamily="18" charset="0"/>
                            <a:ea typeface="Cambria Math" panose="02040503050406030204" pitchFamily="18" charset="0"/>
                          </a:rPr>
                          <m:t>𝑥</m:t>
                        </m:r>
                        <m:r>
                          <a:rPr lang="es-MX" sz="2000" i="1">
                            <a:latin typeface="Cambria Math" panose="02040503050406030204" pitchFamily="18" charset="0"/>
                            <a:ea typeface="Cambria Math" panose="02040503050406030204" pitchFamily="18" charset="0"/>
                          </a:rPr>
                          <m:t> </m:t>
                        </m:r>
                        <m:r>
                          <a:rPr lang="es-MX" sz="2000" i="1">
                            <a:latin typeface="Cambria Math" panose="02040503050406030204" pitchFamily="18" charset="0"/>
                            <a:ea typeface="Cambria Math" panose="02040503050406030204" pitchFamily="18" charset="0"/>
                          </a:rPr>
                          <m:t>𝑃</m:t>
                        </m:r>
                        <m:d>
                          <m:dPr>
                            <m:ctrlPr>
                              <a:rPr lang="es-MX" sz="2000" i="1">
                                <a:latin typeface="Cambria Math" panose="02040503050406030204" pitchFamily="18" charset="0"/>
                                <a:ea typeface="Cambria Math" panose="02040503050406030204" pitchFamily="18" charset="0"/>
                              </a:rPr>
                            </m:ctrlPr>
                          </m:dPr>
                          <m:e>
                            <m:r>
                              <a:rPr lang="es-MX" sz="2000" i="1">
                                <a:latin typeface="Cambria Math" panose="02040503050406030204" pitchFamily="18" charset="0"/>
                                <a:ea typeface="Cambria Math" panose="02040503050406030204" pitchFamily="18" charset="0"/>
                              </a:rPr>
                              <m:t>𝑥</m:t>
                            </m:r>
                          </m:e>
                        </m:d>
                      </m:oMath>
                    </m:oMathPara>
                  </a14:m>
                  <a:endParaRPr lang="es-MX" sz="2000" i="1" dirty="0">
                    <a:latin typeface="Cambria Math" panose="02040503050406030204" pitchFamily="18" charset="0"/>
                    <a:ea typeface="Cambria Math" panose="02040503050406030204" pitchFamily="18" charset="0"/>
                  </a:endParaRPr>
                </a:p>
              </p:txBody>
            </p:sp>
          </mc:Choice>
          <mc:Fallback xmlns="">
            <p:sp>
              <p:nvSpPr>
                <p:cNvPr id="20" name="CuadroTexto 19">
                  <a:extLst>
                    <a:ext uri="{FF2B5EF4-FFF2-40B4-BE49-F238E27FC236}">
                      <a16:creationId xmlns:a16="http://schemas.microsoft.com/office/drawing/2014/main" id="{C38CB799-0F92-4558-A0C2-59A5995ECAA3}"/>
                    </a:ext>
                  </a:extLst>
                </p:cNvPr>
                <p:cNvSpPr txBox="1">
                  <a:spLocks noRot="1" noChangeAspect="1" noMove="1" noResize="1" noEditPoints="1" noAdjustHandles="1" noChangeArrowheads="1" noChangeShapeType="1" noTextEdit="1"/>
                </p:cNvSpPr>
                <p:nvPr/>
              </p:nvSpPr>
              <p:spPr>
                <a:xfrm>
                  <a:off x="4487791" y="3598887"/>
                  <a:ext cx="1051949" cy="707886"/>
                </a:xfrm>
                <a:prstGeom prst="rect">
                  <a:avLst/>
                </a:prstGeom>
                <a:blipFill>
                  <a:blip r:embed="rId6"/>
                  <a:stretch>
                    <a:fillRect/>
                  </a:stretch>
                </a:blipFill>
              </p:spPr>
              <p:txBody>
                <a:bodyPr/>
                <a:lstStyle/>
                <a:p>
                  <a:r>
                    <a:rPr lang="es-CO">
                      <a:noFill/>
                    </a:rPr>
                    <a:t> </a:t>
                  </a:r>
                </a:p>
              </p:txBody>
            </p:sp>
          </mc:Fallback>
        </mc:AlternateContent>
        <p:cxnSp>
          <p:nvCxnSpPr>
            <p:cNvPr id="21" name="Conector recto 20">
              <a:extLst>
                <a:ext uri="{FF2B5EF4-FFF2-40B4-BE49-F238E27FC236}">
                  <a16:creationId xmlns:a16="http://schemas.microsoft.com/office/drawing/2014/main" id="{927AC83E-5CA1-4DA0-86A2-C50586945A18}"/>
                </a:ext>
              </a:extLst>
            </p:cNvPr>
            <p:cNvCxnSpPr>
              <a:cxnSpLocks/>
            </p:cNvCxnSpPr>
            <p:nvPr/>
          </p:nvCxnSpPr>
          <p:spPr>
            <a:xfrm>
              <a:off x="4487791" y="3957732"/>
              <a:ext cx="105194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13" name="CuadroTexto 12">
            <a:extLst>
              <a:ext uri="{FF2B5EF4-FFF2-40B4-BE49-F238E27FC236}">
                <a16:creationId xmlns:a16="http://schemas.microsoft.com/office/drawing/2014/main" id="{6F56A9D1-F613-49C8-A73A-F364866B7799}"/>
              </a:ext>
            </a:extLst>
          </p:cNvPr>
          <p:cNvSpPr txBox="1"/>
          <p:nvPr/>
        </p:nvSpPr>
        <p:spPr>
          <a:xfrm>
            <a:off x="4981565" y="2317545"/>
            <a:ext cx="6519174" cy="1015663"/>
          </a:xfrm>
          <a:prstGeom prst="rect">
            <a:avLst/>
          </a:prstGeom>
          <a:solidFill>
            <a:schemeClr val="bg1">
              <a:lumMod val="95000"/>
            </a:schemeClr>
          </a:solidFill>
        </p:spPr>
        <p:txBody>
          <a:bodyPr wrap="square">
            <a:spAutoFit/>
          </a:bodyPr>
          <a:lstStyle/>
          <a:p>
            <a:r>
              <a:rPr lang="es-MX" sz="2000" b="1" dirty="0">
                <a:ea typeface="Roboto" panose="02000000000000000000" pitchFamily="2" charset="0"/>
              </a:rPr>
              <a:t>Restricción fundamental</a:t>
            </a:r>
            <a:r>
              <a:rPr lang="es-MX" sz="2000" dirty="0">
                <a:ea typeface="Roboto" panose="02000000000000000000" pitchFamily="2" charset="0"/>
              </a:rPr>
              <a:t>: </a:t>
            </a:r>
            <a:r>
              <a:rPr lang="es-MX" sz="2000" dirty="0"/>
              <a:t>Si se conoce que alguien (o algo) cumple una propiedad, entonces se puede afirmar que existe al menos uno que la cumple</a:t>
            </a:r>
            <a:endParaRPr lang="es-CO" sz="2000" dirty="0">
              <a:ea typeface="Roboto" panose="02000000000000000000" pitchFamily="2" charset="0"/>
            </a:endParaRPr>
          </a:p>
        </p:txBody>
      </p:sp>
    </p:spTree>
    <p:extLst>
      <p:ext uri="{BB962C8B-B14F-4D97-AF65-F5344CB8AC3E}">
        <p14:creationId xmlns:p14="http://schemas.microsoft.com/office/powerpoint/2010/main" val="2477970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375618" y="180494"/>
            <a:ext cx="10515600" cy="896139"/>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Equivalencias lógica proposicional</a:t>
            </a:r>
            <a:endParaRPr dirty="0"/>
          </a:p>
        </p:txBody>
      </p:sp>
      <mc:AlternateContent xmlns:mc="http://schemas.openxmlformats.org/markup-compatibility/2006" xmlns:a14="http://schemas.microsoft.com/office/drawing/2010/main">
        <mc:Choice Requires="a14">
          <p:graphicFrame>
            <p:nvGraphicFramePr>
              <p:cNvPr id="5" name="Tabla 3">
                <a:extLst>
                  <a:ext uri="{FF2B5EF4-FFF2-40B4-BE49-F238E27FC236}">
                    <a16:creationId xmlns:a16="http://schemas.microsoft.com/office/drawing/2014/main" id="{B9252CBD-B080-409D-94D7-CAA8A680DF19}"/>
                  </a:ext>
                </a:extLst>
              </p:cNvPr>
              <p:cNvGraphicFramePr>
                <a:graphicFrameLocks noGrp="1"/>
              </p:cNvGraphicFramePr>
              <p:nvPr/>
            </p:nvGraphicFramePr>
            <p:xfrm>
              <a:off x="1569419" y="948813"/>
              <a:ext cx="9321799" cy="4724400"/>
            </p:xfrm>
            <a:graphic>
              <a:graphicData uri="http://schemas.openxmlformats.org/drawingml/2006/table">
                <a:tbl>
                  <a:tblPr firstRow="1" bandRow="1">
                    <a:tableStyleId>{AD6A3598-7CB8-4345-8D95-17CE05F158A0}</a:tableStyleId>
                  </a:tblPr>
                  <a:tblGrid>
                    <a:gridCol w="2256551">
                      <a:extLst>
                        <a:ext uri="{9D8B030D-6E8A-4147-A177-3AD203B41FA5}">
                          <a16:colId xmlns:a16="http://schemas.microsoft.com/office/drawing/2014/main" val="2419793140"/>
                        </a:ext>
                      </a:extLst>
                    </a:gridCol>
                    <a:gridCol w="3691790">
                      <a:extLst>
                        <a:ext uri="{9D8B030D-6E8A-4147-A177-3AD203B41FA5}">
                          <a16:colId xmlns:a16="http://schemas.microsoft.com/office/drawing/2014/main" val="2761119023"/>
                        </a:ext>
                      </a:extLst>
                    </a:gridCol>
                    <a:gridCol w="3373458">
                      <a:extLst>
                        <a:ext uri="{9D8B030D-6E8A-4147-A177-3AD203B41FA5}">
                          <a16:colId xmlns:a16="http://schemas.microsoft.com/office/drawing/2014/main" val="3891570482"/>
                        </a:ext>
                      </a:extLst>
                    </a:gridCol>
                  </a:tblGrid>
                  <a:tr h="270387">
                    <a:tc>
                      <a:txBody>
                        <a:bodyPr/>
                        <a:lstStyle/>
                        <a:p>
                          <a:r>
                            <a:rPr lang="es-CO" sz="1800" b="1" dirty="0">
                              <a:latin typeface="+mn-lt"/>
                              <a:ea typeface="Roboto" panose="02000000000000000000" pitchFamily="2" charset="0"/>
                            </a:rPr>
                            <a:t>Nombre</a:t>
                          </a:r>
                        </a:p>
                      </a:txBody>
                      <a:tcPr>
                        <a:solidFill>
                          <a:schemeClr val="bg1">
                            <a:lumMod val="95000"/>
                          </a:schemeClr>
                        </a:solidFill>
                      </a:tcPr>
                    </a:tc>
                    <a:tc gridSpan="2">
                      <a:txBody>
                        <a:bodyPr/>
                        <a:lstStyle/>
                        <a:p>
                          <a:pPr algn="ctr"/>
                          <a:r>
                            <a:rPr lang="es-CO" sz="1800" b="1" dirty="0">
                              <a:latin typeface="+mn-lt"/>
                              <a:ea typeface="Roboto" panose="02000000000000000000" pitchFamily="2" charset="0"/>
                            </a:rPr>
                            <a:t>Equivalencia lógica</a:t>
                          </a:r>
                        </a:p>
                      </a:txBody>
                      <a:tcPr>
                        <a:solidFill>
                          <a:schemeClr val="bg1">
                            <a:lumMod val="95000"/>
                          </a:schemeClr>
                        </a:solidFill>
                      </a:tcPr>
                    </a:tc>
                    <a:tc hMerge="1">
                      <a:txBody>
                        <a:bodyPr/>
                        <a:lstStyle/>
                        <a:p>
                          <a:endParaRPr lang="es-CO" sz="160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624526593"/>
                      </a:ext>
                    </a:extLst>
                  </a:tr>
                  <a:tr h="228789">
                    <a:tc>
                      <a:txBody>
                        <a:bodyPr/>
                        <a:lstStyle/>
                        <a:p>
                          <a:r>
                            <a:rPr lang="es-CO" sz="1600" b="1" dirty="0">
                              <a:latin typeface="+mn-lt"/>
                              <a:ea typeface="Roboto" panose="02000000000000000000" pitchFamily="2" charset="0"/>
                            </a:rPr>
                            <a:t>Conmutatividad</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3154515760"/>
                      </a:ext>
                    </a:extLst>
                  </a:tr>
                  <a:tr h="228789">
                    <a:tc>
                      <a:txBody>
                        <a:bodyPr/>
                        <a:lstStyle/>
                        <a:p>
                          <a:r>
                            <a:rPr lang="es-CO" sz="1600" b="1" dirty="0">
                              <a:latin typeface="+mn-lt"/>
                              <a:ea typeface="Roboto" panose="02000000000000000000" pitchFamily="2" charset="0"/>
                            </a:rPr>
                            <a:t>Asociatividad</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oMath>
                            </m:oMathPara>
                          </a14:m>
                          <a:endParaRPr lang="es-CO" sz="16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1913743916"/>
                      </a:ext>
                    </a:extLst>
                  </a:tr>
                  <a:tr h="228789">
                    <a:tc>
                      <a:txBody>
                        <a:bodyPr/>
                        <a:lstStyle/>
                        <a:p>
                          <a:r>
                            <a:rPr lang="es-CO" sz="1600" b="1" dirty="0">
                              <a:latin typeface="+mn-lt"/>
                              <a:ea typeface="Roboto" panose="02000000000000000000" pitchFamily="2" charset="0"/>
                            </a:rPr>
                            <a:t>Distributividad</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oMath>
                            </m:oMathPara>
                          </a14:m>
                          <a:endParaRPr lang="es-CO" sz="16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𝑅</m:t>
                                    </m:r>
                                  </m:e>
                                </m:d>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717401643"/>
                      </a:ext>
                    </a:extLst>
                  </a:tr>
                  <a:tr h="228789">
                    <a:tc>
                      <a:txBody>
                        <a:bodyPr/>
                        <a:lstStyle/>
                        <a:p>
                          <a:r>
                            <a:rPr lang="es-CO" sz="1600" b="1" dirty="0">
                              <a:latin typeface="+mn-lt"/>
                              <a:ea typeface="Roboto" panose="02000000000000000000" pitchFamily="2" charset="0"/>
                            </a:rPr>
                            <a:t>Idempotencia</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2246818852"/>
                      </a:ext>
                    </a:extLst>
                  </a:tr>
                  <a:tr h="228789">
                    <a:tc>
                      <a:txBody>
                        <a:bodyPr/>
                        <a:lstStyle/>
                        <a:p>
                          <a:r>
                            <a:rPr lang="es-CO" sz="1600" b="1" dirty="0">
                              <a:latin typeface="+mn-lt"/>
                              <a:ea typeface="Roboto" panose="02000000000000000000" pitchFamily="2" charset="0"/>
                            </a:rPr>
                            <a:t>Doble negación</a:t>
                          </a:r>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88149062"/>
                      </a:ext>
                    </a:extLst>
                  </a:tr>
                  <a:tr h="228789">
                    <a:tc>
                      <a:txBody>
                        <a:bodyPr/>
                        <a:lstStyle/>
                        <a:p>
                          <a:r>
                            <a:rPr lang="es-CO" sz="1600" b="1" dirty="0">
                              <a:latin typeface="+mn-lt"/>
                              <a:ea typeface="Roboto" panose="02000000000000000000" pitchFamily="2" charset="0"/>
                            </a:rPr>
                            <a:t>Leyes de Morgan</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oMath>
                            </m:oMathPara>
                          </a14:m>
                          <a:endParaRPr lang="es-CO" sz="16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2113060234"/>
                      </a:ext>
                    </a:extLst>
                  </a:tr>
                  <a:tr h="228789">
                    <a:tc>
                      <a:txBody>
                        <a:bodyPr/>
                        <a:lstStyle/>
                        <a:p>
                          <a:r>
                            <a:rPr lang="es-CO" sz="1600" b="1" dirty="0">
                              <a:latin typeface="+mn-lt"/>
                              <a:ea typeface="Roboto" panose="02000000000000000000" pitchFamily="2" charset="0"/>
                            </a:rPr>
                            <a:t>Identidad</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2494965197"/>
                      </a:ext>
                    </a:extLst>
                  </a:tr>
                  <a:tr h="228789">
                    <a:tc>
                      <a:txBody>
                        <a:bodyPr/>
                        <a:lstStyle/>
                        <a:p>
                          <a:r>
                            <a:rPr lang="es-CO" sz="1600" b="1" dirty="0">
                              <a:latin typeface="+mn-lt"/>
                              <a:ea typeface="Roboto" panose="02000000000000000000" pitchFamily="2" charset="0"/>
                            </a:rPr>
                            <a:t>Dominación</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oMath>
                            </m:oMathPara>
                          </a14:m>
                          <a:endParaRPr lang="es-CO" sz="16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707485840"/>
                      </a:ext>
                    </a:extLst>
                  </a:tr>
                  <a:tr h="228789">
                    <a:tc>
                      <a:txBody>
                        <a:bodyPr/>
                        <a:lstStyle/>
                        <a:p>
                          <a:r>
                            <a:rPr lang="es-CO" sz="1600" b="1" dirty="0">
                              <a:latin typeface="+mn-lt"/>
                              <a:ea typeface="Roboto" panose="02000000000000000000" pitchFamily="2" charset="0"/>
                            </a:rPr>
                            <a:t>Absorción</a:t>
                          </a:r>
                        </a:p>
                      </a:txBody>
                      <a:tcPr/>
                    </a:tc>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extLst>
                      <a:ext uri="{0D108BD9-81ED-4DB2-BD59-A6C34878D82A}">
                        <a16:rowId xmlns:a16="http://schemas.microsoft.com/office/drawing/2014/main" val="1232652958"/>
                      </a:ext>
                    </a:extLst>
                  </a:tr>
                  <a:tr h="228789">
                    <a:tc>
                      <a:txBody>
                        <a:bodyPr/>
                        <a:lstStyle/>
                        <a:p>
                          <a:r>
                            <a:rPr lang="es-CO" sz="1600" b="1" dirty="0">
                              <a:latin typeface="+mn-lt"/>
                              <a:ea typeface="Roboto" panose="02000000000000000000" pitchFamily="2" charset="0"/>
                            </a:rPr>
                            <a:t>Complemento</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𝑭</m:t>
                                </m:r>
                              </m:oMath>
                            </m:oMathPara>
                          </a14:m>
                          <a:endParaRPr lang="es-CO" sz="1600" b="1" dirty="0">
                            <a:latin typeface="+mn-lt"/>
                            <a:ea typeface="Roboto" panose="02000000000000000000" pitchFamily="2" charset="0"/>
                          </a:endParaRP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1" i="1" smtClean="0">
                                    <a:latin typeface="Cambria Math" panose="02040503050406030204" pitchFamily="18" charset="0"/>
                                    <a:ea typeface="Cambria Math" panose="02040503050406030204" pitchFamily="18" charset="0"/>
                                  </a:rPr>
                                  <m:t>𝑽</m:t>
                                </m:r>
                              </m:oMath>
                            </m:oMathPara>
                          </a14:m>
                          <a:endParaRPr lang="es-CO" sz="1600" b="1" dirty="0">
                            <a:latin typeface="+mn-lt"/>
                            <a:ea typeface="Roboto" panose="02000000000000000000" pitchFamily="2" charset="0"/>
                          </a:endParaRPr>
                        </a:p>
                      </a:txBody>
                      <a:tcPr/>
                    </a:tc>
                    <a:extLst>
                      <a:ext uri="{0D108BD9-81ED-4DB2-BD59-A6C34878D82A}">
                        <a16:rowId xmlns:a16="http://schemas.microsoft.com/office/drawing/2014/main" val="3770911309"/>
                      </a:ext>
                    </a:extLst>
                  </a:tr>
                  <a:tr h="228789">
                    <a:tc>
                      <a:txBody>
                        <a:bodyPr/>
                        <a:lstStyle/>
                        <a:p>
                          <a:r>
                            <a:rPr lang="es-CO" sz="1600" b="1" dirty="0">
                              <a:latin typeface="+mn-lt"/>
                              <a:ea typeface="Roboto" panose="02000000000000000000" pitchFamily="2" charset="0"/>
                            </a:rPr>
                            <a:t>Implicación</a:t>
                          </a:r>
                        </a:p>
                      </a:txBody>
                      <a:tcPr/>
                    </a:tc>
                    <a:tc gridSpan="2">
                      <a:txBody>
                        <a:bodyPr/>
                        <a:lstStyle/>
                        <a:p>
                          <a:pPr algn="ct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oMath>
                            </m:oMathPara>
                          </a14:m>
                          <a:endParaRPr lang="es-CO" sz="1600" dirty="0">
                            <a:latin typeface="+mn-lt"/>
                            <a:ea typeface="Roboto" panose="02000000000000000000" pitchFamily="2" charset="0"/>
                          </a:endParaRPr>
                        </a:p>
                      </a:txBody>
                      <a:tcPr/>
                    </a:tc>
                    <a:tc hMerge="1">
                      <a:txBody>
                        <a:bodyPr/>
                        <a:lstStyle/>
                        <a:p>
                          <a:pPr algn="ctr"/>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483938044"/>
                      </a:ext>
                    </a:extLst>
                  </a:tr>
                  <a:tr h="228789">
                    <a:tc>
                      <a:txBody>
                        <a:bodyPr/>
                        <a:lstStyle/>
                        <a:p>
                          <a:r>
                            <a:rPr lang="es-CO" sz="1600" b="1" dirty="0">
                              <a:latin typeface="+mn-lt"/>
                              <a:ea typeface="Roboto" panose="02000000000000000000" pitchFamily="2" charset="0"/>
                            </a:rPr>
                            <a:t>Contrarrecíproco</a:t>
                          </a:r>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oMath>
                            </m:oMathPara>
                          </a14:m>
                          <a:endParaRPr lang="es-CO" sz="1600" dirty="0">
                            <a:latin typeface="+mn-lt"/>
                            <a:ea typeface="Roboto" panose="02000000000000000000" pitchFamily="2" charset="0"/>
                          </a:endParaRPr>
                        </a:p>
                      </a:txBody>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255506134"/>
                      </a:ext>
                    </a:extLst>
                  </a:tr>
                  <a:tr h="228789">
                    <a:tc>
                      <a:txBody>
                        <a:bodyPr/>
                        <a:lstStyle/>
                        <a:p>
                          <a:r>
                            <a:rPr lang="es-CO" sz="1600" b="1" dirty="0">
                              <a:latin typeface="+mn-lt"/>
                              <a:ea typeface="Roboto" panose="02000000000000000000" pitchFamily="2" charset="0"/>
                            </a:rPr>
                            <a:t>Equivalencia</a:t>
                          </a:r>
                        </a:p>
                      </a:txBody>
                      <a:tcPr/>
                    </a:tc>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ea typeface="Roboto" panose="02000000000000000000" pitchFamily="2"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d>
                                  <m:dPr>
                                    <m:ctrlPr>
                                      <a:rPr lang="es-MX" sz="1600" b="0" i="1" smtClean="0">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𝑄</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𝑃</m:t>
                                    </m:r>
                                  </m:e>
                                </m:d>
                              </m:oMath>
                            </m:oMathPara>
                          </a14:m>
                          <a:endParaRPr lang="es-CO" sz="1600" dirty="0">
                            <a:latin typeface="+mn-lt"/>
                            <a:ea typeface="Roboto" panose="02000000000000000000" pitchFamily="2" charset="0"/>
                          </a:endParaRPr>
                        </a:p>
                      </a:txBody>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0457137"/>
                      </a:ext>
                    </a:extLst>
                  </a:tr>
                </a:tbl>
              </a:graphicData>
            </a:graphic>
          </p:graphicFrame>
        </mc:Choice>
        <mc:Fallback xmlns="">
          <p:graphicFrame>
            <p:nvGraphicFramePr>
              <p:cNvPr id="5" name="Tabla 3">
                <a:extLst>
                  <a:ext uri="{FF2B5EF4-FFF2-40B4-BE49-F238E27FC236}">
                    <a16:creationId xmlns:a16="http://schemas.microsoft.com/office/drawing/2014/main" id="{B9252CBD-B080-409D-94D7-CAA8A680DF19}"/>
                  </a:ext>
                </a:extLst>
              </p:cNvPr>
              <p:cNvGraphicFramePr>
                <a:graphicFrameLocks noGrp="1"/>
              </p:cNvGraphicFramePr>
              <p:nvPr>
                <p:extLst>
                  <p:ext uri="{D42A27DB-BD31-4B8C-83A1-F6EECF244321}">
                    <p14:modId xmlns:p14="http://schemas.microsoft.com/office/powerpoint/2010/main" val="415339476"/>
                  </p:ext>
                </p:extLst>
              </p:nvPr>
            </p:nvGraphicFramePr>
            <p:xfrm>
              <a:off x="1569419" y="948813"/>
              <a:ext cx="9321799" cy="4724400"/>
            </p:xfrm>
            <a:graphic>
              <a:graphicData uri="http://schemas.openxmlformats.org/drawingml/2006/table">
                <a:tbl>
                  <a:tblPr firstRow="1" bandRow="1">
                    <a:tableStyleId>{AD6A3598-7CB8-4345-8D95-17CE05F158A0}</a:tableStyleId>
                  </a:tblPr>
                  <a:tblGrid>
                    <a:gridCol w="2256551">
                      <a:extLst>
                        <a:ext uri="{9D8B030D-6E8A-4147-A177-3AD203B41FA5}">
                          <a16:colId xmlns:a16="http://schemas.microsoft.com/office/drawing/2014/main" val="2419793140"/>
                        </a:ext>
                      </a:extLst>
                    </a:gridCol>
                    <a:gridCol w="3691790">
                      <a:extLst>
                        <a:ext uri="{9D8B030D-6E8A-4147-A177-3AD203B41FA5}">
                          <a16:colId xmlns:a16="http://schemas.microsoft.com/office/drawing/2014/main" val="2761119023"/>
                        </a:ext>
                      </a:extLst>
                    </a:gridCol>
                    <a:gridCol w="3373458">
                      <a:extLst>
                        <a:ext uri="{9D8B030D-6E8A-4147-A177-3AD203B41FA5}">
                          <a16:colId xmlns:a16="http://schemas.microsoft.com/office/drawing/2014/main" val="3891570482"/>
                        </a:ext>
                      </a:extLst>
                    </a:gridCol>
                  </a:tblGrid>
                  <a:tr h="365760">
                    <a:tc>
                      <a:txBody>
                        <a:bodyPr/>
                        <a:lstStyle/>
                        <a:p>
                          <a:r>
                            <a:rPr lang="es-CO" sz="1800" b="1" dirty="0">
                              <a:latin typeface="+mn-lt"/>
                              <a:ea typeface="Roboto" panose="02000000000000000000" pitchFamily="2" charset="0"/>
                            </a:rPr>
                            <a:t>Nombre</a:t>
                          </a:r>
                        </a:p>
                      </a:txBody>
                      <a:tcPr>
                        <a:solidFill>
                          <a:schemeClr val="bg1">
                            <a:lumMod val="95000"/>
                          </a:schemeClr>
                        </a:solidFill>
                      </a:tcPr>
                    </a:tc>
                    <a:tc gridSpan="2">
                      <a:txBody>
                        <a:bodyPr/>
                        <a:lstStyle/>
                        <a:p>
                          <a:pPr algn="ctr"/>
                          <a:r>
                            <a:rPr lang="es-CO" sz="1800" b="1" dirty="0">
                              <a:latin typeface="+mn-lt"/>
                              <a:ea typeface="Roboto" panose="02000000000000000000" pitchFamily="2" charset="0"/>
                            </a:rPr>
                            <a:t>Equivalencia lógica</a:t>
                          </a:r>
                        </a:p>
                      </a:txBody>
                      <a:tcPr>
                        <a:solidFill>
                          <a:schemeClr val="bg1">
                            <a:lumMod val="95000"/>
                          </a:schemeClr>
                        </a:solidFill>
                      </a:tcPr>
                    </a:tc>
                    <a:tc hMerge="1">
                      <a:txBody>
                        <a:bodyPr/>
                        <a:lstStyle/>
                        <a:p>
                          <a:endParaRPr lang="es-CO" sz="1600" b="1"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624526593"/>
                      </a:ext>
                    </a:extLst>
                  </a:tr>
                  <a:tr h="335280">
                    <a:tc>
                      <a:txBody>
                        <a:bodyPr/>
                        <a:lstStyle/>
                        <a:p>
                          <a:r>
                            <a:rPr lang="es-CO" sz="1600" b="1" dirty="0">
                              <a:latin typeface="+mn-lt"/>
                              <a:ea typeface="Roboto" panose="02000000000000000000" pitchFamily="2" charset="0"/>
                            </a:rPr>
                            <a:t>Conmutatividad</a:t>
                          </a:r>
                        </a:p>
                      </a:txBody>
                      <a:tcPr/>
                    </a:tc>
                    <a:tc>
                      <a:txBody>
                        <a:bodyPr/>
                        <a:lstStyle/>
                        <a:p>
                          <a:endParaRPr lang="es-CO"/>
                        </a:p>
                      </a:txBody>
                      <a:tcPr>
                        <a:blipFill>
                          <a:blip r:embed="rId3"/>
                          <a:stretch>
                            <a:fillRect l="-61221" t="-118182" r="-91749" b="-1225455"/>
                          </a:stretch>
                        </a:blipFill>
                      </a:tcPr>
                    </a:tc>
                    <a:tc>
                      <a:txBody>
                        <a:bodyPr/>
                        <a:lstStyle/>
                        <a:p>
                          <a:endParaRPr lang="es-CO"/>
                        </a:p>
                      </a:txBody>
                      <a:tcPr>
                        <a:blipFill>
                          <a:blip r:embed="rId3"/>
                          <a:stretch>
                            <a:fillRect l="-176354" t="-118182" r="-361" b="-1225455"/>
                          </a:stretch>
                        </a:blipFill>
                      </a:tcPr>
                    </a:tc>
                    <a:extLst>
                      <a:ext uri="{0D108BD9-81ED-4DB2-BD59-A6C34878D82A}">
                        <a16:rowId xmlns:a16="http://schemas.microsoft.com/office/drawing/2014/main" val="3154515760"/>
                      </a:ext>
                    </a:extLst>
                  </a:tr>
                  <a:tr h="335280">
                    <a:tc>
                      <a:txBody>
                        <a:bodyPr/>
                        <a:lstStyle/>
                        <a:p>
                          <a:r>
                            <a:rPr lang="es-CO" sz="1600" b="1" dirty="0">
                              <a:latin typeface="+mn-lt"/>
                              <a:ea typeface="Roboto" panose="02000000000000000000" pitchFamily="2" charset="0"/>
                            </a:rPr>
                            <a:t>Asociatividad</a:t>
                          </a:r>
                        </a:p>
                      </a:txBody>
                      <a:tcPr/>
                    </a:tc>
                    <a:tc>
                      <a:txBody>
                        <a:bodyPr/>
                        <a:lstStyle/>
                        <a:p>
                          <a:endParaRPr lang="es-CO"/>
                        </a:p>
                      </a:txBody>
                      <a:tcPr>
                        <a:blipFill>
                          <a:blip r:embed="rId3"/>
                          <a:stretch>
                            <a:fillRect l="-61221" t="-218182" r="-91749" b="-1125455"/>
                          </a:stretch>
                        </a:blipFill>
                      </a:tcPr>
                    </a:tc>
                    <a:tc>
                      <a:txBody>
                        <a:bodyPr/>
                        <a:lstStyle/>
                        <a:p>
                          <a:endParaRPr lang="es-CO"/>
                        </a:p>
                      </a:txBody>
                      <a:tcPr>
                        <a:blipFill>
                          <a:blip r:embed="rId3"/>
                          <a:stretch>
                            <a:fillRect l="-176354" t="-218182" r="-361" b="-1125455"/>
                          </a:stretch>
                        </a:blipFill>
                      </a:tcPr>
                    </a:tc>
                    <a:extLst>
                      <a:ext uri="{0D108BD9-81ED-4DB2-BD59-A6C34878D82A}">
                        <a16:rowId xmlns:a16="http://schemas.microsoft.com/office/drawing/2014/main" val="1913743916"/>
                      </a:ext>
                    </a:extLst>
                  </a:tr>
                  <a:tr h="335280">
                    <a:tc>
                      <a:txBody>
                        <a:bodyPr/>
                        <a:lstStyle/>
                        <a:p>
                          <a:r>
                            <a:rPr lang="es-CO" sz="1600" b="1" dirty="0">
                              <a:latin typeface="+mn-lt"/>
                              <a:ea typeface="Roboto" panose="02000000000000000000" pitchFamily="2" charset="0"/>
                            </a:rPr>
                            <a:t>Distributividad</a:t>
                          </a:r>
                        </a:p>
                      </a:txBody>
                      <a:tcPr/>
                    </a:tc>
                    <a:tc>
                      <a:txBody>
                        <a:bodyPr/>
                        <a:lstStyle/>
                        <a:p>
                          <a:endParaRPr lang="es-CO"/>
                        </a:p>
                      </a:txBody>
                      <a:tcPr>
                        <a:blipFill>
                          <a:blip r:embed="rId3"/>
                          <a:stretch>
                            <a:fillRect l="-61221" t="-318182" r="-91749" b="-1025455"/>
                          </a:stretch>
                        </a:blipFill>
                      </a:tcPr>
                    </a:tc>
                    <a:tc>
                      <a:txBody>
                        <a:bodyPr/>
                        <a:lstStyle/>
                        <a:p>
                          <a:endParaRPr lang="es-CO"/>
                        </a:p>
                      </a:txBody>
                      <a:tcPr>
                        <a:blipFill>
                          <a:blip r:embed="rId3"/>
                          <a:stretch>
                            <a:fillRect l="-176354" t="-318182" r="-361" b="-1025455"/>
                          </a:stretch>
                        </a:blipFill>
                      </a:tcPr>
                    </a:tc>
                    <a:extLst>
                      <a:ext uri="{0D108BD9-81ED-4DB2-BD59-A6C34878D82A}">
                        <a16:rowId xmlns:a16="http://schemas.microsoft.com/office/drawing/2014/main" val="717401643"/>
                      </a:ext>
                    </a:extLst>
                  </a:tr>
                  <a:tr h="335280">
                    <a:tc>
                      <a:txBody>
                        <a:bodyPr/>
                        <a:lstStyle/>
                        <a:p>
                          <a:r>
                            <a:rPr lang="es-CO" sz="1600" b="1" dirty="0">
                              <a:latin typeface="+mn-lt"/>
                              <a:ea typeface="Roboto" panose="02000000000000000000" pitchFamily="2" charset="0"/>
                            </a:rPr>
                            <a:t>Idempotencia</a:t>
                          </a:r>
                        </a:p>
                      </a:txBody>
                      <a:tcPr/>
                    </a:tc>
                    <a:tc>
                      <a:txBody>
                        <a:bodyPr/>
                        <a:lstStyle/>
                        <a:p>
                          <a:endParaRPr lang="es-CO"/>
                        </a:p>
                      </a:txBody>
                      <a:tcPr>
                        <a:blipFill>
                          <a:blip r:embed="rId3"/>
                          <a:stretch>
                            <a:fillRect l="-61221" t="-418182" r="-91749" b="-925455"/>
                          </a:stretch>
                        </a:blipFill>
                      </a:tcPr>
                    </a:tc>
                    <a:tc>
                      <a:txBody>
                        <a:bodyPr/>
                        <a:lstStyle/>
                        <a:p>
                          <a:endParaRPr lang="es-CO"/>
                        </a:p>
                      </a:txBody>
                      <a:tcPr>
                        <a:blipFill>
                          <a:blip r:embed="rId3"/>
                          <a:stretch>
                            <a:fillRect l="-176354" t="-418182" r="-361" b="-925455"/>
                          </a:stretch>
                        </a:blipFill>
                      </a:tcPr>
                    </a:tc>
                    <a:extLst>
                      <a:ext uri="{0D108BD9-81ED-4DB2-BD59-A6C34878D82A}">
                        <a16:rowId xmlns:a16="http://schemas.microsoft.com/office/drawing/2014/main" val="2246818852"/>
                      </a:ext>
                    </a:extLst>
                  </a:tr>
                  <a:tr h="335280">
                    <a:tc>
                      <a:txBody>
                        <a:bodyPr/>
                        <a:lstStyle/>
                        <a:p>
                          <a:r>
                            <a:rPr lang="es-CO" sz="1600" b="1" dirty="0">
                              <a:latin typeface="+mn-lt"/>
                              <a:ea typeface="Roboto" panose="02000000000000000000" pitchFamily="2" charset="0"/>
                            </a:rPr>
                            <a:t>Doble negación</a:t>
                          </a:r>
                        </a:p>
                      </a:txBody>
                      <a:tcPr/>
                    </a:tc>
                    <a:tc gridSpan="2">
                      <a:txBody>
                        <a:bodyPr/>
                        <a:lstStyle/>
                        <a:p>
                          <a:endParaRPr lang="es-CO"/>
                        </a:p>
                      </a:txBody>
                      <a:tcPr>
                        <a:blipFill>
                          <a:blip r:embed="rId3"/>
                          <a:stretch>
                            <a:fillRect l="-31983" t="-518182" r="-172" b="-825455"/>
                          </a:stretch>
                        </a:blipFill>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88149062"/>
                      </a:ext>
                    </a:extLst>
                  </a:tr>
                  <a:tr h="335280">
                    <a:tc>
                      <a:txBody>
                        <a:bodyPr/>
                        <a:lstStyle/>
                        <a:p>
                          <a:r>
                            <a:rPr lang="es-CO" sz="1600" b="1" dirty="0">
                              <a:latin typeface="+mn-lt"/>
                              <a:ea typeface="Roboto" panose="02000000000000000000" pitchFamily="2" charset="0"/>
                            </a:rPr>
                            <a:t>Leyes de Morgan</a:t>
                          </a:r>
                        </a:p>
                      </a:txBody>
                      <a:tcPr/>
                    </a:tc>
                    <a:tc>
                      <a:txBody>
                        <a:bodyPr/>
                        <a:lstStyle/>
                        <a:p>
                          <a:endParaRPr lang="es-CO"/>
                        </a:p>
                      </a:txBody>
                      <a:tcPr>
                        <a:blipFill>
                          <a:blip r:embed="rId3"/>
                          <a:stretch>
                            <a:fillRect l="-61221" t="-607143" r="-91749" b="-710714"/>
                          </a:stretch>
                        </a:blipFill>
                      </a:tcPr>
                    </a:tc>
                    <a:tc>
                      <a:txBody>
                        <a:bodyPr/>
                        <a:lstStyle/>
                        <a:p>
                          <a:endParaRPr lang="es-CO"/>
                        </a:p>
                      </a:txBody>
                      <a:tcPr>
                        <a:blipFill>
                          <a:blip r:embed="rId3"/>
                          <a:stretch>
                            <a:fillRect l="-176354" t="-607143" r="-361" b="-710714"/>
                          </a:stretch>
                        </a:blipFill>
                      </a:tcPr>
                    </a:tc>
                    <a:extLst>
                      <a:ext uri="{0D108BD9-81ED-4DB2-BD59-A6C34878D82A}">
                        <a16:rowId xmlns:a16="http://schemas.microsoft.com/office/drawing/2014/main" val="2113060234"/>
                      </a:ext>
                    </a:extLst>
                  </a:tr>
                  <a:tr h="335280">
                    <a:tc>
                      <a:txBody>
                        <a:bodyPr/>
                        <a:lstStyle/>
                        <a:p>
                          <a:r>
                            <a:rPr lang="es-CO" sz="1600" b="1" dirty="0">
                              <a:latin typeface="+mn-lt"/>
                              <a:ea typeface="Roboto" panose="02000000000000000000" pitchFamily="2" charset="0"/>
                            </a:rPr>
                            <a:t>Identidad</a:t>
                          </a:r>
                        </a:p>
                      </a:txBody>
                      <a:tcPr/>
                    </a:tc>
                    <a:tc>
                      <a:txBody>
                        <a:bodyPr/>
                        <a:lstStyle/>
                        <a:p>
                          <a:endParaRPr lang="es-CO"/>
                        </a:p>
                      </a:txBody>
                      <a:tcPr>
                        <a:blipFill>
                          <a:blip r:embed="rId3"/>
                          <a:stretch>
                            <a:fillRect l="-61221" t="-720000" r="-91749" b="-623636"/>
                          </a:stretch>
                        </a:blipFill>
                      </a:tcPr>
                    </a:tc>
                    <a:tc>
                      <a:txBody>
                        <a:bodyPr/>
                        <a:lstStyle/>
                        <a:p>
                          <a:endParaRPr lang="es-CO"/>
                        </a:p>
                      </a:txBody>
                      <a:tcPr>
                        <a:blipFill>
                          <a:blip r:embed="rId3"/>
                          <a:stretch>
                            <a:fillRect l="-176354" t="-720000" r="-361" b="-623636"/>
                          </a:stretch>
                        </a:blipFill>
                      </a:tcPr>
                    </a:tc>
                    <a:extLst>
                      <a:ext uri="{0D108BD9-81ED-4DB2-BD59-A6C34878D82A}">
                        <a16:rowId xmlns:a16="http://schemas.microsoft.com/office/drawing/2014/main" val="2494965197"/>
                      </a:ext>
                    </a:extLst>
                  </a:tr>
                  <a:tr h="335280">
                    <a:tc>
                      <a:txBody>
                        <a:bodyPr/>
                        <a:lstStyle/>
                        <a:p>
                          <a:r>
                            <a:rPr lang="es-CO" sz="1600" b="1" dirty="0">
                              <a:latin typeface="+mn-lt"/>
                              <a:ea typeface="Roboto" panose="02000000000000000000" pitchFamily="2" charset="0"/>
                            </a:rPr>
                            <a:t>Dominación</a:t>
                          </a:r>
                        </a:p>
                      </a:txBody>
                      <a:tcPr/>
                    </a:tc>
                    <a:tc>
                      <a:txBody>
                        <a:bodyPr/>
                        <a:lstStyle/>
                        <a:p>
                          <a:endParaRPr lang="es-CO"/>
                        </a:p>
                      </a:txBody>
                      <a:tcPr>
                        <a:blipFill>
                          <a:blip r:embed="rId3"/>
                          <a:stretch>
                            <a:fillRect l="-61221" t="-820000" r="-91749" b="-523636"/>
                          </a:stretch>
                        </a:blipFill>
                      </a:tcPr>
                    </a:tc>
                    <a:tc>
                      <a:txBody>
                        <a:bodyPr/>
                        <a:lstStyle/>
                        <a:p>
                          <a:endParaRPr lang="es-CO"/>
                        </a:p>
                      </a:txBody>
                      <a:tcPr>
                        <a:blipFill>
                          <a:blip r:embed="rId3"/>
                          <a:stretch>
                            <a:fillRect l="-176354" t="-820000" r="-361" b="-523636"/>
                          </a:stretch>
                        </a:blipFill>
                      </a:tcPr>
                    </a:tc>
                    <a:extLst>
                      <a:ext uri="{0D108BD9-81ED-4DB2-BD59-A6C34878D82A}">
                        <a16:rowId xmlns:a16="http://schemas.microsoft.com/office/drawing/2014/main" val="707485840"/>
                      </a:ext>
                    </a:extLst>
                  </a:tr>
                  <a:tr h="335280">
                    <a:tc>
                      <a:txBody>
                        <a:bodyPr/>
                        <a:lstStyle/>
                        <a:p>
                          <a:r>
                            <a:rPr lang="es-CO" sz="1600" b="1" dirty="0">
                              <a:latin typeface="+mn-lt"/>
                              <a:ea typeface="Roboto" panose="02000000000000000000" pitchFamily="2" charset="0"/>
                            </a:rPr>
                            <a:t>Absorción</a:t>
                          </a:r>
                        </a:p>
                      </a:txBody>
                      <a:tcPr/>
                    </a:tc>
                    <a:tc>
                      <a:txBody>
                        <a:bodyPr/>
                        <a:lstStyle/>
                        <a:p>
                          <a:endParaRPr lang="es-CO"/>
                        </a:p>
                      </a:txBody>
                      <a:tcPr>
                        <a:blipFill>
                          <a:blip r:embed="rId3"/>
                          <a:stretch>
                            <a:fillRect l="-61221" t="-920000" r="-91749" b="-423636"/>
                          </a:stretch>
                        </a:blipFill>
                      </a:tcPr>
                    </a:tc>
                    <a:tc>
                      <a:txBody>
                        <a:bodyPr/>
                        <a:lstStyle/>
                        <a:p>
                          <a:endParaRPr lang="es-CO"/>
                        </a:p>
                      </a:txBody>
                      <a:tcPr>
                        <a:blipFill>
                          <a:blip r:embed="rId3"/>
                          <a:stretch>
                            <a:fillRect l="-176354" t="-920000" r="-361" b="-423636"/>
                          </a:stretch>
                        </a:blipFill>
                      </a:tcPr>
                    </a:tc>
                    <a:extLst>
                      <a:ext uri="{0D108BD9-81ED-4DB2-BD59-A6C34878D82A}">
                        <a16:rowId xmlns:a16="http://schemas.microsoft.com/office/drawing/2014/main" val="1232652958"/>
                      </a:ext>
                    </a:extLst>
                  </a:tr>
                  <a:tr h="335280">
                    <a:tc>
                      <a:txBody>
                        <a:bodyPr/>
                        <a:lstStyle/>
                        <a:p>
                          <a:r>
                            <a:rPr lang="es-CO" sz="1600" b="1" dirty="0">
                              <a:latin typeface="+mn-lt"/>
                              <a:ea typeface="Roboto" panose="02000000000000000000" pitchFamily="2" charset="0"/>
                            </a:rPr>
                            <a:t>Complemento</a:t>
                          </a:r>
                        </a:p>
                      </a:txBody>
                      <a:tcPr/>
                    </a:tc>
                    <a:tc>
                      <a:txBody>
                        <a:bodyPr/>
                        <a:lstStyle/>
                        <a:p>
                          <a:endParaRPr lang="es-CO"/>
                        </a:p>
                      </a:txBody>
                      <a:tcPr>
                        <a:blipFill>
                          <a:blip r:embed="rId3"/>
                          <a:stretch>
                            <a:fillRect l="-61221" t="-1020000" r="-91749" b="-323636"/>
                          </a:stretch>
                        </a:blipFill>
                      </a:tcPr>
                    </a:tc>
                    <a:tc>
                      <a:txBody>
                        <a:bodyPr/>
                        <a:lstStyle/>
                        <a:p>
                          <a:endParaRPr lang="es-CO"/>
                        </a:p>
                      </a:txBody>
                      <a:tcPr>
                        <a:blipFill>
                          <a:blip r:embed="rId3"/>
                          <a:stretch>
                            <a:fillRect l="-176354" t="-1020000" r="-361" b="-323636"/>
                          </a:stretch>
                        </a:blipFill>
                      </a:tcPr>
                    </a:tc>
                    <a:extLst>
                      <a:ext uri="{0D108BD9-81ED-4DB2-BD59-A6C34878D82A}">
                        <a16:rowId xmlns:a16="http://schemas.microsoft.com/office/drawing/2014/main" val="3770911309"/>
                      </a:ext>
                    </a:extLst>
                  </a:tr>
                  <a:tr h="335280">
                    <a:tc>
                      <a:txBody>
                        <a:bodyPr/>
                        <a:lstStyle/>
                        <a:p>
                          <a:r>
                            <a:rPr lang="es-CO" sz="1600" b="1" dirty="0">
                              <a:latin typeface="+mn-lt"/>
                              <a:ea typeface="Roboto" panose="02000000000000000000" pitchFamily="2" charset="0"/>
                            </a:rPr>
                            <a:t>Implicación</a:t>
                          </a:r>
                        </a:p>
                      </a:txBody>
                      <a:tcPr/>
                    </a:tc>
                    <a:tc gridSpan="2">
                      <a:txBody>
                        <a:bodyPr/>
                        <a:lstStyle/>
                        <a:p>
                          <a:endParaRPr lang="es-CO"/>
                        </a:p>
                      </a:txBody>
                      <a:tcPr>
                        <a:blipFill>
                          <a:blip r:embed="rId3"/>
                          <a:stretch>
                            <a:fillRect l="-31983" t="-1120000" r="-172" b="-223636"/>
                          </a:stretch>
                        </a:blipFill>
                      </a:tcPr>
                    </a:tc>
                    <a:tc hMerge="1">
                      <a:txBody>
                        <a:bodyPr/>
                        <a:lstStyle/>
                        <a:p>
                          <a:pPr algn="ctr"/>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483938044"/>
                      </a:ext>
                    </a:extLst>
                  </a:tr>
                  <a:tr h="335280">
                    <a:tc>
                      <a:txBody>
                        <a:bodyPr/>
                        <a:lstStyle/>
                        <a:p>
                          <a:r>
                            <a:rPr lang="es-CO" sz="1600" b="1" dirty="0">
                              <a:latin typeface="+mn-lt"/>
                              <a:ea typeface="Roboto" panose="02000000000000000000" pitchFamily="2" charset="0"/>
                            </a:rPr>
                            <a:t>Contrarrecíproco</a:t>
                          </a:r>
                        </a:p>
                      </a:txBody>
                      <a:tcPr/>
                    </a:tc>
                    <a:tc gridSpan="2">
                      <a:txBody>
                        <a:bodyPr/>
                        <a:lstStyle/>
                        <a:p>
                          <a:endParaRPr lang="es-CO"/>
                        </a:p>
                      </a:txBody>
                      <a:tcPr>
                        <a:blipFill>
                          <a:blip r:embed="rId3"/>
                          <a:stretch>
                            <a:fillRect l="-31983" t="-1220000" r="-172" b="-123636"/>
                          </a:stretch>
                        </a:blipFill>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255506134"/>
                      </a:ext>
                    </a:extLst>
                  </a:tr>
                  <a:tr h="335280">
                    <a:tc>
                      <a:txBody>
                        <a:bodyPr/>
                        <a:lstStyle/>
                        <a:p>
                          <a:r>
                            <a:rPr lang="es-CO" sz="1600" b="1" dirty="0">
                              <a:latin typeface="+mn-lt"/>
                              <a:ea typeface="Roboto" panose="02000000000000000000" pitchFamily="2" charset="0"/>
                            </a:rPr>
                            <a:t>Equivalencia</a:t>
                          </a:r>
                        </a:p>
                      </a:txBody>
                      <a:tcPr/>
                    </a:tc>
                    <a:tc gridSpan="2">
                      <a:txBody>
                        <a:bodyPr/>
                        <a:lstStyle/>
                        <a:p>
                          <a:endParaRPr lang="es-CO"/>
                        </a:p>
                      </a:txBody>
                      <a:tcPr>
                        <a:blipFill>
                          <a:blip r:embed="rId3"/>
                          <a:stretch>
                            <a:fillRect l="-31983" t="-1320000" r="-172" b="-23636"/>
                          </a:stretch>
                        </a:blipFill>
                      </a:tcPr>
                    </a:tc>
                    <a:tc hMerge="1">
                      <a:txBody>
                        <a:bodyPr/>
                        <a:lstStyle/>
                        <a:p>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0457137"/>
                      </a:ext>
                    </a:extLst>
                  </a:tr>
                </a:tbl>
              </a:graphicData>
            </a:graphic>
          </p:graphicFrame>
        </mc:Fallback>
      </mc:AlternateContent>
      <p:sp>
        <p:nvSpPr>
          <p:cNvPr id="2" name="CuadroTexto 1">
            <a:extLst>
              <a:ext uri="{FF2B5EF4-FFF2-40B4-BE49-F238E27FC236}">
                <a16:creationId xmlns:a16="http://schemas.microsoft.com/office/drawing/2014/main" id="{BF193BB1-6C3F-4ED7-8133-55EF45015CA1}"/>
              </a:ext>
            </a:extLst>
          </p:cNvPr>
          <p:cNvSpPr txBox="1"/>
          <p:nvPr/>
        </p:nvSpPr>
        <p:spPr>
          <a:xfrm>
            <a:off x="375618" y="5889522"/>
            <a:ext cx="11437840" cy="646331"/>
          </a:xfrm>
          <a:prstGeom prst="rect">
            <a:avLst/>
          </a:prstGeom>
          <a:solidFill>
            <a:schemeClr val="bg1">
              <a:lumMod val="95000"/>
            </a:schemeClr>
          </a:solidFill>
        </p:spPr>
        <p:txBody>
          <a:bodyPr wrap="square" rtlCol="0">
            <a:spAutoFit/>
          </a:bodyPr>
          <a:lstStyle/>
          <a:p>
            <a:r>
              <a:rPr lang="es-MX" b="1" dirty="0">
                <a:solidFill>
                  <a:schemeClr val="accent1"/>
                </a:solidFill>
              </a:rPr>
              <a:t>Nota importante</a:t>
            </a:r>
            <a:r>
              <a:rPr lang="es-MX" dirty="0">
                <a:solidFill>
                  <a:schemeClr val="accent1"/>
                </a:solidFill>
              </a:rPr>
              <a:t>:</a:t>
            </a:r>
            <a:r>
              <a:rPr lang="es-MX" dirty="0"/>
              <a:t> Todas las equivalencias </a:t>
            </a:r>
            <a:r>
              <a:rPr lang="es-MX" b="1" dirty="0"/>
              <a:t>lógicas proposicionales</a:t>
            </a:r>
            <a:r>
              <a:rPr lang="es-MX" dirty="0"/>
              <a:t> son válidas en </a:t>
            </a:r>
            <a:r>
              <a:rPr lang="es-MX" b="1" dirty="0"/>
              <a:t>lógica cuantificacional</a:t>
            </a:r>
            <a:r>
              <a:rPr lang="es-MX" dirty="0"/>
              <a:t>, aplicándose a las fórmulas dentro del alcance de los cuantificadores</a:t>
            </a:r>
            <a:endParaRPr lang="es-CO" dirty="0"/>
          </a:p>
        </p:txBody>
      </p:sp>
    </p:spTree>
    <p:extLst>
      <p:ext uri="{BB962C8B-B14F-4D97-AF65-F5344CB8AC3E}">
        <p14:creationId xmlns:p14="http://schemas.microsoft.com/office/powerpoint/2010/main" val="39086665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375618" y="180494"/>
            <a:ext cx="10515600" cy="896139"/>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Reglas de inferencia</a:t>
            </a:r>
            <a:endParaRPr dirty="0"/>
          </a:p>
        </p:txBody>
      </p:sp>
      <mc:AlternateContent xmlns:mc="http://schemas.openxmlformats.org/markup-compatibility/2006" xmlns:a14="http://schemas.microsoft.com/office/drawing/2010/main">
        <mc:Choice Requires="a14">
          <p:graphicFrame>
            <p:nvGraphicFramePr>
              <p:cNvPr id="6" name="Tabla 4">
                <a:extLst>
                  <a:ext uri="{FF2B5EF4-FFF2-40B4-BE49-F238E27FC236}">
                    <a16:creationId xmlns:a16="http://schemas.microsoft.com/office/drawing/2014/main" id="{EE435E6A-4659-42FF-A225-1D743161992E}"/>
                  </a:ext>
                </a:extLst>
              </p:cNvPr>
              <p:cNvGraphicFramePr>
                <a:graphicFrameLocks noGrp="1"/>
              </p:cNvGraphicFramePr>
              <p:nvPr/>
            </p:nvGraphicFramePr>
            <p:xfrm>
              <a:off x="1415404" y="1173480"/>
              <a:ext cx="9361191" cy="4511040"/>
            </p:xfrm>
            <a:graphic>
              <a:graphicData uri="http://schemas.openxmlformats.org/drawingml/2006/table">
                <a:tbl>
                  <a:tblPr firstRow="1" bandRow="1">
                    <a:tableStyleId>{AD6A3598-7CB8-4345-8D95-17CE05F158A0}</a:tableStyleId>
                  </a:tblPr>
                  <a:tblGrid>
                    <a:gridCol w="2261143">
                      <a:extLst>
                        <a:ext uri="{9D8B030D-6E8A-4147-A177-3AD203B41FA5}">
                          <a16:colId xmlns:a16="http://schemas.microsoft.com/office/drawing/2014/main" val="3517824357"/>
                        </a:ext>
                      </a:extLst>
                    </a:gridCol>
                    <a:gridCol w="2447364">
                      <a:extLst>
                        <a:ext uri="{9D8B030D-6E8A-4147-A177-3AD203B41FA5}">
                          <a16:colId xmlns:a16="http://schemas.microsoft.com/office/drawing/2014/main" val="2212776800"/>
                        </a:ext>
                      </a:extLst>
                    </a:gridCol>
                    <a:gridCol w="2191871">
                      <a:extLst>
                        <a:ext uri="{9D8B030D-6E8A-4147-A177-3AD203B41FA5}">
                          <a16:colId xmlns:a16="http://schemas.microsoft.com/office/drawing/2014/main" val="3724117940"/>
                        </a:ext>
                      </a:extLst>
                    </a:gridCol>
                    <a:gridCol w="2460813">
                      <a:extLst>
                        <a:ext uri="{9D8B030D-6E8A-4147-A177-3AD203B41FA5}">
                          <a16:colId xmlns:a16="http://schemas.microsoft.com/office/drawing/2014/main" val="333003826"/>
                        </a:ext>
                      </a:extLst>
                    </a:gridCol>
                  </a:tblGrid>
                  <a:tr h="0">
                    <a:tc>
                      <a:txBody>
                        <a:bodyPr/>
                        <a:lstStyle/>
                        <a:p>
                          <a:r>
                            <a:rPr lang="es-CO" sz="2000" b="1" dirty="0">
                              <a:latin typeface="+mn-lt"/>
                              <a:ea typeface="Roboto" panose="02000000000000000000" pitchFamily="2" charset="0"/>
                            </a:rPr>
                            <a:t>Nombre</a:t>
                          </a:r>
                        </a:p>
                      </a:txBody>
                      <a:tcPr>
                        <a:solidFill>
                          <a:schemeClr val="bg1">
                            <a:lumMod val="95000"/>
                          </a:schemeClr>
                        </a:solidFill>
                      </a:tcPr>
                    </a:tc>
                    <a:tc>
                      <a:txBody>
                        <a:bodyPr/>
                        <a:lstStyle/>
                        <a:p>
                          <a:r>
                            <a:rPr lang="es-CO" sz="2000" b="1" dirty="0">
                              <a:latin typeface="+mn-lt"/>
                              <a:ea typeface="Roboto" panose="02000000000000000000" pitchFamily="2" charset="0"/>
                            </a:rPr>
                            <a:t>Regla de inferencia</a:t>
                          </a:r>
                        </a:p>
                      </a:txBody>
                      <a:tcPr>
                        <a:solidFill>
                          <a:schemeClr val="bg1">
                            <a:lumMod val="95000"/>
                          </a:schemeClr>
                        </a:solidFill>
                      </a:tcPr>
                    </a:tc>
                    <a:tc>
                      <a:txBody>
                        <a:bodyPr/>
                        <a:lstStyle/>
                        <a:p>
                          <a:r>
                            <a:rPr lang="es-CO" sz="2000" b="1" dirty="0">
                              <a:latin typeface="+mn-lt"/>
                              <a:ea typeface="Roboto" panose="02000000000000000000" pitchFamily="2" charset="0"/>
                            </a:rPr>
                            <a:t>Nombre</a:t>
                          </a:r>
                        </a:p>
                      </a:txBody>
                      <a:tcPr>
                        <a:solidFill>
                          <a:schemeClr val="bg1">
                            <a:lumMod val="95000"/>
                          </a:schemeClr>
                        </a:solidFill>
                      </a:tcPr>
                    </a:tc>
                    <a:tc>
                      <a:txBody>
                        <a:bodyPr/>
                        <a:lstStyle/>
                        <a:p>
                          <a:r>
                            <a:rPr lang="es-CO" sz="2000" b="1" dirty="0">
                              <a:latin typeface="+mn-lt"/>
                              <a:ea typeface="Roboto" panose="02000000000000000000" pitchFamily="2" charset="0"/>
                            </a:rPr>
                            <a:t>Regla de inferencia</a:t>
                          </a:r>
                        </a:p>
                      </a:txBody>
                      <a:tcPr>
                        <a:solidFill>
                          <a:schemeClr val="bg1">
                            <a:lumMod val="95000"/>
                          </a:schemeClr>
                        </a:solidFill>
                      </a:tcPr>
                    </a:tc>
                    <a:extLst>
                      <a:ext uri="{0D108BD9-81ED-4DB2-BD59-A6C34878D82A}">
                        <a16:rowId xmlns:a16="http://schemas.microsoft.com/office/drawing/2014/main" val="3873507432"/>
                      </a:ext>
                    </a:extLst>
                  </a:tr>
                  <a:tr h="243775">
                    <a:tc>
                      <a:txBody>
                        <a:bodyPr/>
                        <a:lstStyle/>
                        <a:p>
                          <a:r>
                            <a:rPr lang="es-CO" sz="1800" dirty="0">
                              <a:latin typeface="+mn-lt"/>
                              <a:ea typeface="Roboto" panose="02000000000000000000" pitchFamily="2" charset="0"/>
                            </a:rPr>
                            <a:t>Modus Ponens</a:t>
                          </a:r>
                        </a:p>
                      </a:txBody>
                      <a:tcPr/>
                    </a:tc>
                    <a:tc>
                      <a:txBody>
                        <a:bodyPr/>
                        <a:lstStyle/>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𝑞</m:t>
                                </m:r>
                              </m:oMath>
                            </m:oMathPara>
                          </a14:m>
                          <a:endParaRPr lang="es-CO" sz="1600" dirty="0">
                            <a:latin typeface="Roboto" panose="02000000000000000000" pitchFamily="2" charset="0"/>
                            <a:ea typeface="Roboto" panose="02000000000000000000" pitchFamily="2" charset="0"/>
                          </a:endParaRPr>
                        </a:p>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oMath>
                            </m:oMathPara>
                          </a14:m>
                          <a:endParaRPr lang="es-CO" sz="1600" dirty="0">
                            <a:latin typeface="Roboto" panose="02000000000000000000" pitchFamily="2" charset="0"/>
                            <a:ea typeface="Roboto" panose="02000000000000000000" pitchFamily="2" charset="0"/>
                          </a:endParaRPr>
                        </a:p>
                        <a:p>
                          <a:pPr marL="0" marR="0" lvl="0" indent="-45720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oMath>
                            </m:oMathPara>
                          </a14:m>
                          <a:endParaRPr lang="es-CO" sz="1600" dirty="0">
                            <a:latin typeface="Roboto" panose="02000000000000000000" pitchFamily="2" charset="0"/>
                            <a:ea typeface="Roboto" panose="02000000000000000000" pitchFamily="2" charset="0"/>
                          </a:endParaRPr>
                        </a:p>
                      </a:txBody>
                      <a:tcPr/>
                    </a:tc>
                    <a:tc>
                      <a:txBody>
                        <a:bodyPr/>
                        <a:lstStyle/>
                        <a:p>
                          <a:r>
                            <a:rPr lang="es-CO" sz="1800" dirty="0">
                              <a:latin typeface="+mn-lt"/>
                              <a:ea typeface="Roboto" panose="02000000000000000000" pitchFamily="2" charset="0"/>
                            </a:rPr>
                            <a:t>Simplificación</a:t>
                          </a:r>
                        </a:p>
                      </a:txBody>
                      <a:tcPr/>
                    </a:tc>
                    <a:tc>
                      <a:txBody>
                        <a:bodyPr/>
                        <a:lstStyle/>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oMath>
                            </m:oMathPara>
                          </a14:m>
                          <a:endParaRPr lang="es-CO" sz="1600" dirty="0">
                            <a:latin typeface="Roboto" panose="02000000000000000000" pitchFamily="2" charset="0"/>
                            <a:ea typeface="Roboto" panose="02000000000000000000" pitchFamily="2" charset="0"/>
                          </a:endParaRPr>
                        </a:p>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𝑝</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4259179385"/>
                      </a:ext>
                    </a:extLst>
                  </a:tr>
                  <a:tr h="243775">
                    <a:tc>
                      <a:txBody>
                        <a:bodyPr/>
                        <a:lstStyle/>
                        <a:p>
                          <a:r>
                            <a:rPr lang="es-CO" sz="1800" dirty="0">
                              <a:latin typeface="+mn-lt"/>
                              <a:ea typeface="Roboto" panose="02000000000000000000" pitchFamily="2" charset="0"/>
                            </a:rPr>
                            <a:t>Modus Tollens</a:t>
                          </a:r>
                        </a:p>
                      </a:txBody>
                      <a:tcPr/>
                    </a:tc>
                    <a:tc>
                      <a:txBody>
                        <a:bodyPr/>
                        <a:lstStyle/>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𝑞</m:t>
                                </m:r>
                              </m:oMath>
                            </m:oMathPara>
                          </a14:m>
                          <a:endParaRPr lang="es-CO" sz="1600" dirty="0">
                            <a:latin typeface="Roboto" panose="02000000000000000000" pitchFamily="2" charset="0"/>
                            <a:ea typeface="Roboto" panose="02000000000000000000" pitchFamily="2" charset="0"/>
                          </a:endParaRPr>
                        </a:p>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𝑞</m:t>
                                </m:r>
                              </m:oMath>
                            </m:oMathPara>
                          </a14:m>
                          <a:endParaRPr lang="es-CO" sz="1600" dirty="0">
                            <a:latin typeface="Roboto" panose="02000000000000000000" pitchFamily="2" charset="0"/>
                            <a:ea typeface="Roboto" panose="02000000000000000000" pitchFamily="2" charset="0"/>
                          </a:endParaRPr>
                        </a:p>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 ∴¬</m:t>
                                </m:r>
                                <m:r>
                                  <a:rPr lang="es-MX" sz="1600" b="0" i="1" smtClean="0">
                                    <a:latin typeface="Cambria Math" panose="02040503050406030204" pitchFamily="18" charset="0"/>
                                    <a:ea typeface="Cambria Math" panose="02040503050406030204" pitchFamily="18" charset="0"/>
                                  </a:rPr>
                                  <m:t>𝑝</m:t>
                                </m:r>
                              </m:oMath>
                            </m:oMathPara>
                          </a14:m>
                          <a:endParaRPr lang="es-CO" sz="1600" dirty="0">
                            <a:latin typeface="Roboto" panose="02000000000000000000" pitchFamily="2" charset="0"/>
                            <a:ea typeface="Roboto" panose="02000000000000000000" pitchFamily="2" charset="0"/>
                          </a:endParaRPr>
                        </a:p>
                      </a:txBody>
                      <a:tcPr/>
                    </a:tc>
                    <a:tc>
                      <a:txBody>
                        <a:bodyPr/>
                        <a:lstStyle/>
                        <a:p>
                          <a:r>
                            <a:rPr lang="es-CO" sz="1800" dirty="0">
                              <a:latin typeface="+mn-lt"/>
                              <a:ea typeface="Roboto" panose="02000000000000000000" pitchFamily="2" charset="0"/>
                            </a:rPr>
                            <a:t>Conjunción</a:t>
                          </a:r>
                        </a:p>
                      </a:txBody>
                      <a:tcPr/>
                    </a:tc>
                    <a:tc>
                      <a:txBody>
                        <a:bodyPr/>
                        <a:lstStyle/>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oMath>
                            </m:oMathPara>
                          </a14:m>
                          <a:endParaRPr lang="es-CO" sz="1600" dirty="0">
                            <a:latin typeface="Roboto" panose="02000000000000000000" pitchFamily="2" charset="0"/>
                            <a:ea typeface="Roboto" panose="02000000000000000000" pitchFamily="2" charset="0"/>
                          </a:endParaRPr>
                        </a:p>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𝑞</m:t>
                                </m:r>
                              </m:oMath>
                            </m:oMathPara>
                          </a14:m>
                          <a:endParaRPr lang="es-CO" sz="1600" dirty="0">
                            <a:latin typeface="Roboto" panose="02000000000000000000" pitchFamily="2" charset="0"/>
                            <a:ea typeface="Roboto" panose="02000000000000000000" pitchFamily="2" charset="0"/>
                          </a:endParaRPr>
                        </a:p>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078799334"/>
                      </a:ext>
                    </a:extLst>
                  </a:tr>
                  <a:tr h="243775">
                    <a:tc>
                      <a:txBody>
                        <a:bodyPr/>
                        <a:lstStyle/>
                        <a:p>
                          <a:r>
                            <a:rPr lang="es-CO" sz="1800" dirty="0">
                              <a:latin typeface="+mn-lt"/>
                              <a:ea typeface="Roboto" panose="02000000000000000000" pitchFamily="2" charset="0"/>
                            </a:rPr>
                            <a:t>Silogismo hipotético (Transitividad)</a:t>
                          </a:r>
                        </a:p>
                      </a:txBody>
                      <a:tcPr/>
                    </a:tc>
                    <a:tc>
                      <a:txBody>
                        <a:bodyPr/>
                        <a:lstStyle/>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𝑞</m:t>
                                </m:r>
                              </m:oMath>
                            </m:oMathPara>
                          </a14:m>
                          <a:endParaRPr lang="es-CO" sz="1600" dirty="0">
                            <a:latin typeface="Roboto" panose="02000000000000000000" pitchFamily="2" charset="0"/>
                            <a:ea typeface="Roboto" panose="02000000000000000000" pitchFamily="2" charset="0"/>
                          </a:endParaRPr>
                        </a:p>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𝑟</m:t>
                                </m:r>
                              </m:oMath>
                            </m:oMathPara>
                          </a14:m>
                          <a:endParaRPr lang="es-CO" sz="1600" dirty="0">
                            <a:latin typeface="Roboto" panose="02000000000000000000" pitchFamily="2" charset="0"/>
                            <a:ea typeface="Roboto" panose="02000000000000000000" pitchFamily="2" charset="0"/>
                          </a:endParaRPr>
                        </a:p>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oMath>
                            </m:oMathPara>
                          </a14:m>
                          <a:endParaRPr lang="es-CO" sz="1600" dirty="0">
                            <a:latin typeface="Roboto" panose="02000000000000000000" pitchFamily="2" charset="0"/>
                            <a:ea typeface="Roboto" panose="02000000000000000000" pitchFamily="2" charset="0"/>
                          </a:endParaRPr>
                        </a:p>
                      </a:txBody>
                      <a:tcPr/>
                    </a:tc>
                    <a:tc rowSpan="2">
                      <a:txBody>
                        <a:bodyPr/>
                        <a:lstStyle/>
                        <a:p>
                          <a:r>
                            <a:rPr lang="es-CO" sz="1800" dirty="0">
                              <a:latin typeface="+mn-lt"/>
                              <a:ea typeface="Roboto" panose="02000000000000000000" pitchFamily="2" charset="0"/>
                            </a:rPr>
                            <a:t>Prueba de división por casos</a:t>
                          </a:r>
                        </a:p>
                      </a:txBody>
                      <a:tcPr/>
                    </a:tc>
                    <a:tc rowSpan="2">
                      <a:txBody>
                        <a:bodyPr/>
                        <a:lstStyle/>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𝑞</m:t>
                                </m:r>
                              </m:oMath>
                            </m:oMathPara>
                          </a14:m>
                          <a:endParaRPr lang="es-CO" sz="1600" dirty="0">
                            <a:latin typeface="Roboto" panose="02000000000000000000" pitchFamily="2" charset="0"/>
                            <a:ea typeface="Roboto" panose="02000000000000000000" pitchFamily="2" charset="0"/>
                          </a:endParaRPr>
                        </a:p>
                        <a:p>
                          <a:pPr marL="0" marR="0" lvl="0" indent="-45720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𝑟</m:t>
                                </m:r>
                              </m:oMath>
                            </m:oMathPara>
                          </a14:m>
                          <a:endParaRPr lang="es-MX" sz="1600" b="0" dirty="0">
                            <a:latin typeface="Roboto" panose="02000000000000000000" pitchFamily="2" charset="0"/>
                            <a:ea typeface="Roboto" panose="02000000000000000000" pitchFamily="2" charset="0"/>
                          </a:endParaRPr>
                        </a:p>
                        <a:p>
                          <a:pPr marL="0" marR="0" lvl="0" indent="-45720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𝑞</m:t>
                                </m:r>
                                <m:r>
                                  <a:rPr lang="es-MX" sz="1600" b="0" i="1" smtClean="0">
                                    <a:latin typeface="Cambria Math" panose="02040503050406030204" pitchFamily="18" charset="0"/>
                                    <a:ea typeface="Roboto" panose="02000000000000000000" pitchFamily="2" charset="0"/>
                                  </a:rPr>
                                  <m:t>→</m:t>
                                </m:r>
                                <m:r>
                                  <a:rPr lang="es-MX" sz="1600" b="0" i="1" smtClean="0">
                                    <a:latin typeface="Cambria Math" panose="02040503050406030204" pitchFamily="18" charset="0"/>
                                    <a:ea typeface="Roboto" panose="02000000000000000000" pitchFamily="2" charset="0"/>
                                  </a:rPr>
                                  <m:t>𝑟</m:t>
                                </m:r>
                              </m:oMath>
                            </m:oMathPara>
                          </a14:m>
                          <a:endParaRPr lang="es-CO" sz="1600" dirty="0">
                            <a:latin typeface="Roboto" panose="02000000000000000000" pitchFamily="2" charset="0"/>
                            <a:ea typeface="Roboto" panose="02000000000000000000" pitchFamily="2" charset="0"/>
                          </a:endParaRPr>
                        </a:p>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682340052"/>
                      </a:ext>
                    </a:extLst>
                  </a:tr>
                  <a:tr h="243775">
                    <a:tc>
                      <a:txBody>
                        <a:bodyPr/>
                        <a:lstStyle/>
                        <a:p>
                          <a:r>
                            <a:rPr lang="es-CO" sz="1800" dirty="0">
                              <a:latin typeface="+mn-lt"/>
                              <a:ea typeface="Roboto" panose="02000000000000000000" pitchFamily="2" charset="0"/>
                            </a:rPr>
                            <a:t>Silogismo disyuntivo (Eliminación)</a:t>
                          </a:r>
                        </a:p>
                      </a:txBody>
                      <a:tcPr/>
                    </a:tc>
                    <a:tc>
                      <a:txBody>
                        <a:bodyPr/>
                        <a:lstStyle/>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𝑞</m:t>
                                </m:r>
                              </m:oMath>
                            </m:oMathPara>
                          </a14:m>
                          <a:endParaRPr lang="es-CO" sz="1600" dirty="0">
                            <a:latin typeface="Roboto" panose="02000000000000000000" pitchFamily="2" charset="0"/>
                            <a:ea typeface="Roboto" panose="02000000000000000000" pitchFamily="2" charset="0"/>
                          </a:endParaRPr>
                        </a:p>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oMath>
                            </m:oMathPara>
                          </a14:m>
                          <a:endParaRPr lang="es-CO" sz="1600" dirty="0">
                            <a:latin typeface="Roboto" panose="02000000000000000000" pitchFamily="2" charset="0"/>
                            <a:ea typeface="Roboto" panose="02000000000000000000" pitchFamily="2" charset="0"/>
                          </a:endParaRPr>
                        </a:p>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oMath>
                            </m:oMathPara>
                          </a14:m>
                          <a:endParaRPr lang="es-CO" sz="1600"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18226202"/>
                      </a:ext>
                    </a:extLst>
                  </a:tr>
                  <a:tr h="0">
                    <a:tc>
                      <a:txBody>
                        <a:bodyPr/>
                        <a:lstStyle/>
                        <a:p>
                          <a:r>
                            <a:rPr lang="es-CO" sz="1800" dirty="0">
                              <a:latin typeface="+mn-lt"/>
                              <a:ea typeface="Roboto" panose="02000000000000000000" pitchFamily="2" charset="0"/>
                            </a:rPr>
                            <a:t>Adición</a:t>
                          </a:r>
                        </a:p>
                      </a:txBody>
                      <a:tcPr/>
                    </a:tc>
                    <a:tc>
                      <a:txBody>
                        <a:bodyPr/>
                        <a:lstStyle/>
                        <a:p>
                          <a:pPr lvl="0" algn="ct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oMath>
                            </m:oMathPara>
                          </a14:m>
                          <a:endParaRPr lang="es-CO" sz="1600" dirty="0">
                            <a:latin typeface="Roboto" panose="02000000000000000000" pitchFamily="2" charset="0"/>
                            <a:ea typeface="Roboto" panose="02000000000000000000" pitchFamily="2" charset="0"/>
                          </a:endParaRPr>
                        </a:p>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oMath>
                            </m:oMathPara>
                          </a14:m>
                          <a:endParaRPr lang="es-CO" sz="1600" dirty="0">
                            <a:latin typeface="Roboto" panose="02000000000000000000" pitchFamily="2" charset="0"/>
                            <a:ea typeface="Roboto" panose="02000000000000000000" pitchFamily="2" charset="0"/>
                          </a:endParaRPr>
                        </a:p>
                      </a:txBody>
                      <a:tcPr/>
                    </a:tc>
                    <a:tc>
                      <a:txBody>
                        <a:bodyPr/>
                        <a:lstStyle/>
                        <a:p>
                          <a:r>
                            <a:rPr lang="es-CO" sz="1800" dirty="0">
                              <a:latin typeface="+mn-lt"/>
                              <a:ea typeface="Roboto" panose="02000000000000000000" pitchFamily="2" charset="0"/>
                            </a:rPr>
                            <a:t>Resolución</a:t>
                          </a:r>
                        </a:p>
                      </a:txBody>
                      <a:tcPr/>
                    </a:tc>
                    <a:tc>
                      <a:txBody>
                        <a:bodyPr/>
                        <a:lstStyle/>
                        <a:p>
                          <a:pPr marL="0" marR="0" lvl="0" indent="-45720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𝑟</m:t>
                                </m:r>
                              </m:oMath>
                            </m:oMathPara>
                          </a14:m>
                          <a:endParaRPr lang="es-MX" sz="1600" b="0" dirty="0">
                            <a:latin typeface="Roboto" panose="02000000000000000000" pitchFamily="2" charset="0"/>
                            <a:ea typeface="Roboto" panose="02000000000000000000" pitchFamily="2" charset="0"/>
                          </a:endParaRPr>
                        </a:p>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Roboto" panose="02000000000000000000" pitchFamily="2" charset="0"/>
                                  </a:rPr>
                                  <m:t>    </m:t>
                                </m:r>
                                <m:r>
                                  <a:rPr lang="es-MX" sz="1600" b="0" i="1" smtClean="0">
                                    <a:latin typeface="Cambria Math" panose="02040503050406030204" pitchFamily="18" charset="0"/>
                                    <a:ea typeface="Roboto" panose="02000000000000000000" pitchFamily="2" charset="0"/>
                                  </a:rPr>
                                  <m:t>𝑝</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Roboto" panose="02000000000000000000" pitchFamily="2" charset="0"/>
                                  </a:rPr>
                                  <m:t>𝑞</m:t>
                                </m:r>
                              </m:oMath>
                            </m:oMathPara>
                          </a14:m>
                          <a:endParaRPr lang="es-CO" sz="1600" dirty="0">
                            <a:latin typeface="Roboto" panose="02000000000000000000" pitchFamily="2" charset="0"/>
                            <a:ea typeface="Roboto" panose="02000000000000000000" pitchFamily="2" charset="0"/>
                          </a:endParaRPr>
                        </a:p>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𝑞</m:t>
                                </m:r>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𝑟</m:t>
                                </m:r>
                              </m:oMath>
                            </m:oMathPara>
                          </a14:m>
                          <a:endParaRPr lang="es-CO" sz="16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217682141"/>
                      </a:ext>
                    </a:extLst>
                  </a:tr>
                </a:tbl>
              </a:graphicData>
            </a:graphic>
          </p:graphicFrame>
        </mc:Choice>
        <mc:Fallback xmlns="">
          <p:graphicFrame>
            <p:nvGraphicFramePr>
              <p:cNvPr id="6" name="Tabla 4">
                <a:extLst>
                  <a:ext uri="{FF2B5EF4-FFF2-40B4-BE49-F238E27FC236}">
                    <a16:creationId xmlns:a16="http://schemas.microsoft.com/office/drawing/2014/main" id="{EE435E6A-4659-42FF-A225-1D743161992E}"/>
                  </a:ext>
                </a:extLst>
              </p:cNvPr>
              <p:cNvGraphicFramePr>
                <a:graphicFrameLocks noGrp="1"/>
              </p:cNvGraphicFramePr>
              <p:nvPr/>
            </p:nvGraphicFramePr>
            <p:xfrm>
              <a:off x="1415404" y="1173480"/>
              <a:ext cx="9361191" cy="4511040"/>
            </p:xfrm>
            <a:graphic>
              <a:graphicData uri="http://schemas.openxmlformats.org/drawingml/2006/table">
                <a:tbl>
                  <a:tblPr firstRow="1" bandRow="1">
                    <a:tableStyleId>{AD6A3598-7CB8-4345-8D95-17CE05F158A0}</a:tableStyleId>
                  </a:tblPr>
                  <a:tblGrid>
                    <a:gridCol w="2261143">
                      <a:extLst>
                        <a:ext uri="{9D8B030D-6E8A-4147-A177-3AD203B41FA5}">
                          <a16:colId xmlns:a16="http://schemas.microsoft.com/office/drawing/2014/main" val="3517824357"/>
                        </a:ext>
                      </a:extLst>
                    </a:gridCol>
                    <a:gridCol w="2447364">
                      <a:extLst>
                        <a:ext uri="{9D8B030D-6E8A-4147-A177-3AD203B41FA5}">
                          <a16:colId xmlns:a16="http://schemas.microsoft.com/office/drawing/2014/main" val="2212776800"/>
                        </a:ext>
                      </a:extLst>
                    </a:gridCol>
                    <a:gridCol w="2191871">
                      <a:extLst>
                        <a:ext uri="{9D8B030D-6E8A-4147-A177-3AD203B41FA5}">
                          <a16:colId xmlns:a16="http://schemas.microsoft.com/office/drawing/2014/main" val="3724117940"/>
                        </a:ext>
                      </a:extLst>
                    </a:gridCol>
                    <a:gridCol w="2460813">
                      <a:extLst>
                        <a:ext uri="{9D8B030D-6E8A-4147-A177-3AD203B41FA5}">
                          <a16:colId xmlns:a16="http://schemas.microsoft.com/office/drawing/2014/main" val="333003826"/>
                        </a:ext>
                      </a:extLst>
                    </a:gridCol>
                  </a:tblGrid>
                  <a:tr h="396240">
                    <a:tc>
                      <a:txBody>
                        <a:bodyPr/>
                        <a:lstStyle/>
                        <a:p>
                          <a:r>
                            <a:rPr lang="es-CO" sz="2000" b="1" dirty="0">
                              <a:latin typeface="+mn-lt"/>
                              <a:ea typeface="Roboto" panose="02000000000000000000" pitchFamily="2" charset="0"/>
                            </a:rPr>
                            <a:t>Nombre</a:t>
                          </a:r>
                        </a:p>
                      </a:txBody>
                      <a:tcPr>
                        <a:solidFill>
                          <a:schemeClr val="bg1">
                            <a:lumMod val="95000"/>
                          </a:schemeClr>
                        </a:solidFill>
                      </a:tcPr>
                    </a:tc>
                    <a:tc>
                      <a:txBody>
                        <a:bodyPr/>
                        <a:lstStyle/>
                        <a:p>
                          <a:r>
                            <a:rPr lang="es-CO" sz="2000" b="1" dirty="0">
                              <a:latin typeface="+mn-lt"/>
                              <a:ea typeface="Roboto" panose="02000000000000000000" pitchFamily="2" charset="0"/>
                            </a:rPr>
                            <a:t>Regla de inferencia</a:t>
                          </a:r>
                        </a:p>
                      </a:txBody>
                      <a:tcPr>
                        <a:solidFill>
                          <a:schemeClr val="bg1">
                            <a:lumMod val="95000"/>
                          </a:schemeClr>
                        </a:solidFill>
                      </a:tcPr>
                    </a:tc>
                    <a:tc>
                      <a:txBody>
                        <a:bodyPr/>
                        <a:lstStyle/>
                        <a:p>
                          <a:r>
                            <a:rPr lang="es-CO" sz="2000" b="1" dirty="0">
                              <a:latin typeface="+mn-lt"/>
                              <a:ea typeface="Roboto" panose="02000000000000000000" pitchFamily="2" charset="0"/>
                            </a:rPr>
                            <a:t>Nombre</a:t>
                          </a:r>
                        </a:p>
                      </a:txBody>
                      <a:tcPr>
                        <a:solidFill>
                          <a:schemeClr val="bg1">
                            <a:lumMod val="95000"/>
                          </a:schemeClr>
                        </a:solidFill>
                      </a:tcPr>
                    </a:tc>
                    <a:tc>
                      <a:txBody>
                        <a:bodyPr/>
                        <a:lstStyle/>
                        <a:p>
                          <a:r>
                            <a:rPr lang="es-CO" sz="2000" b="1" dirty="0">
                              <a:latin typeface="+mn-lt"/>
                              <a:ea typeface="Roboto" panose="02000000000000000000" pitchFamily="2" charset="0"/>
                            </a:rPr>
                            <a:t>Regla de inferencia</a:t>
                          </a:r>
                        </a:p>
                      </a:txBody>
                      <a:tcPr>
                        <a:solidFill>
                          <a:schemeClr val="bg1">
                            <a:lumMod val="95000"/>
                          </a:schemeClr>
                        </a:solidFill>
                      </a:tcPr>
                    </a:tc>
                    <a:extLst>
                      <a:ext uri="{0D108BD9-81ED-4DB2-BD59-A6C34878D82A}">
                        <a16:rowId xmlns:a16="http://schemas.microsoft.com/office/drawing/2014/main" val="3873507432"/>
                      </a:ext>
                    </a:extLst>
                  </a:tr>
                  <a:tr h="822960">
                    <a:tc>
                      <a:txBody>
                        <a:bodyPr/>
                        <a:lstStyle/>
                        <a:p>
                          <a:r>
                            <a:rPr lang="es-CO" sz="1800" dirty="0">
                              <a:latin typeface="+mn-lt"/>
                              <a:ea typeface="Roboto" panose="02000000000000000000" pitchFamily="2" charset="0"/>
                            </a:rPr>
                            <a:t>Modus Ponens</a:t>
                          </a:r>
                        </a:p>
                      </a:txBody>
                      <a:tcPr/>
                    </a:tc>
                    <a:tc>
                      <a:txBody>
                        <a:bodyPr/>
                        <a:lstStyle/>
                        <a:p>
                          <a:endParaRPr lang="es-CO"/>
                        </a:p>
                      </a:txBody>
                      <a:tcPr>
                        <a:blipFill>
                          <a:blip r:embed="rId3"/>
                          <a:stretch>
                            <a:fillRect l="-92537" t="-51852" r="-190299" b="-402963"/>
                          </a:stretch>
                        </a:blipFill>
                      </a:tcPr>
                    </a:tc>
                    <a:tc>
                      <a:txBody>
                        <a:bodyPr/>
                        <a:lstStyle/>
                        <a:p>
                          <a:r>
                            <a:rPr lang="es-CO" sz="1800" dirty="0">
                              <a:latin typeface="+mn-lt"/>
                              <a:ea typeface="Roboto" panose="02000000000000000000" pitchFamily="2" charset="0"/>
                            </a:rPr>
                            <a:t>Simplificación</a:t>
                          </a:r>
                        </a:p>
                      </a:txBody>
                      <a:tcPr/>
                    </a:tc>
                    <a:tc>
                      <a:txBody>
                        <a:bodyPr/>
                        <a:lstStyle/>
                        <a:p>
                          <a:endParaRPr lang="es-CO"/>
                        </a:p>
                      </a:txBody>
                      <a:tcPr>
                        <a:blipFill>
                          <a:blip r:embed="rId3"/>
                          <a:stretch>
                            <a:fillRect l="-280446" t="-51852" r="-495" b="-402963"/>
                          </a:stretch>
                        </a:blipFill>
                      </a:tcPr>
                    </a:tc>
                    <a:extLst>
                      <a:ext uri="{0D108BD9-81ED-4DB2-BD59-A6C34878D82A}">
                        <a16:rowId xmlns:a16="http://schemas.microsoft.com/office/drawing/2014/main" val="4259179385"/>
                      </a:ext>
                    </a:extLst>
                  </a:tr>
                  <a:tr h="822960">
                    <a:tc>
                      <a:txBody>
                        <a:bodyPr/>
                        <a:lstStyle/>
                        <a:p>
                          <a:r>
                            <a:rPr lang="es-CO" sz="1800" dirty="0">
                              <a:latin typeface="+mn-lt"/>
                              <a:ea typeface="Roboto" panose="02000000000000000000" pitchFamily="2" charset="0"/>
                            </a:rPr>
                            <a:t>Modus Tollens</a:t>
                          </a:r>
                        </a:p>
                      </a:txBody>
                      <a:tcPr/>
                    </a:tc>
                    <a:tc>
                      <a:txBody>
                        <a:bodyPr/>
                        <a:lstStyle/>
                        <a:p>
                          <a:endParaRPr lang="es-CO"/>
                        </a:p>
                      </a:txBody>
                      <a:tcPr>
                        <a:blipFill>
                          <a:blip r:embed="rId3"/>
                          <a:stretch>
                            <a:fillRect l="-92537" t="-151852" r="-190299" b="-302963"/>
                          </a:stretch>
                        </a:blipFill>
                      </a:tcPr>
                    </a:tc>
                    <a:tc>
                      <a:txBody>
                        <a:bodyPr/>
                        <a:lstStyle/>
                        <a:p>
                          <a:r>
                            <a:rPr lang="es-CO" sz="1800" dirty="0">
                              <a:latin typeface="+mn-lt"/>
                              <a:ea typeface="Roboto" panose="02000000000000000000" pitchFamily="2" charset="0"/>
                            </a:rPr>
                            <a:t>Conjunción</a:t>
                          </a:r>
                        </a:p>
                      </a:txBody>
                      <a:tcPr/>
                    </a:tc>
                    <a:tc>
                      <a:txBody>
                        <a:bodyPr/>
                        <a:lstStyle/>
                        <a:p>
                          <a:endParaRPr lang="es-CO"/>
                        </a:p>
                      </a:txBody>
                      <a:tcPr>
                        <a:blipFill>
                          <a:blip r:embed="rId3"/>
                          <a:stretch>
                            <a:fillRect l="-280446" t="-151852" r="-495" b="-302963"/>
                          </a:stretch>
                        </a:blipFill>
                      </a:tcPr>
                    </a:tc>
                    <a:extLst>
                      <a:ext uri="{0D108BD9-81ED-4DB2-BD59-A6C34878D82A}">
                        <a16:rowId xmlns:a16="http://schemas.microsoft.com/office/drawing/2014/main" val="1078799334"/>
                      </a:ext>
                    </a:extLst>
                  </a:tr>
                  <a:tr h="822960">
                    <a:tc>
                      <a:txBody>
                        <a:bodyPr/>
                        <a:lstStyle/>
                        <a:p>
                          <a:r>
                            <a:rPr lang="es-CO" sz="1800" dirty="0">
                              <a:latin typeface="+mn-lt"/>
                              <a:ea typeface="Roboto" panose="02000000000000000000" pitchFamily="2" charset="0"/>
                            </a:rPr>
                            <a:t>Silogismo hipotético (Transitividad)</a:t>
                          </a:r>
                        </a:p>
                      </a:txBody>
                      <a:tcPr/>
                    </a:tc>
                    <a:tc>
                      <a:txBody>
                        <a:bodyPr/>
                        <a:lstStyle/>
                        <a:p>
                          <a:endParaRPr lang="es-CO"/>
                        </a:p>
                      </a:txBody>
                      <a:tcPr>
                        <a:blipFill>
                          <a:blip r:embed="rId3"/>
                          <a:stretch>
                            <a:fillRect l="-92537" t="-250000" r="-190299" b="-200735"/>
                          </a:stretch>
                        </a:blipFill>
                      </a:tcPr>
                    </a:tc>
                    <a:tc rowSpan="2">
                      <a:txBody>
                        <a:bodyPr/>
                        <a:lstStyle/>
                        <a:p>
                          <a:r>
                            <a:rPr lang="es-CO" sz="1800" dirty="0">
                              <a:latin typeface="+mn-lt"/>
                              <a:ea typeface="Roboto" panose="02000000000000000000" pitchFamily="2" charset="0"/>
                            </a:rPr>
                            <a:t>Prueba de división por casos</a:t>
                          </a:r>
                        </a:p>
                      </a:txBody>
                      <a:tcPr/>
                    </a:tc>
                    <a:tc rowSpan="2">
                      <a:txBody>
                        <a:bodyPr/>
                        <a:lstStyle/>
                        <a:p>
                          <a:endParaRPr lang="es-CO"/>
                        </a:p>
                      </a:txBody>
                      <a:tcPr>
                        <a:blipFill>
                          <a:blip r:embed="rId3"/>
                          <a:stretch>
                            <a:fillRect l="-280446" t="-125461" r="-495" b="-50923"/>
                          </a:stretch>
                        </a:blipFill>
                      </a:tcPr>
                    </a:tc>
                    <a:extLst>
                      <a:ext uri="{0D108BD9-81ED-4DB2-BD59-A6C34878D82A}">
                        <a16:rowId xmlns:a16="http://schemas.microsoft.com/office/drawing/2014/main" val="682340052"/>
                      </a:ext>
                    </a:extLst>
                  </a:tr>
                  <a:tr h="822960">
                    <a:tc>
                      <a:txBody>
                        <a:bodyPr/>
                        <a:lstStyle/>
                        <a:p>
                          <a:r>
                            <a:rPr lang="es-CO" sz="1800" dirty="0">
                              <a:latin typeface="+mn-lt"/>
                              <a:ea typeface="Roboto" panose="02000000000000000000" pitchFamily="2" charset="0"/>
                            </a:rPr>
                            <a:t>Silogismo disyuntivo (Eliminación)</a:t>
                          </a:r>
                        </a:p>
                      </a:txBody>
                      <a:tcPr/>
                    </a:tc>
                    <a:tc>
                      <a:txBody>
                        <a:bodyPr/>
                        <a:lstStyle/>
                        <a:p>
                          <a:endParaRPr lang="es-CO"/>
                        </a:p>
                      </a:txBody>
                      <a:tcPr>
                        <a:blipFill>
                          <a:blip r:embed="rId3"/>
                          <a:stretch>
                            <a:fillRect l="-92537" t="-352593" r="-190299" b="-102222"/>
                          </a:stretch>
                        </a:blipFill>
                      </a:tcPr>
                    </a:tc>
                    <a:tc vMerge="1">
                      <a:txBody>
                        <a:bodyPr/>
                        <a:lstStyle/>
                        <a:p>
                          <a:endParaRPr lang="es-CO" dirty="0">
                            <a:latin typeface="Roboto" panose="02000000000000000000" pitchFamily="2" charset="0"/>
                            <a:ea typeface="Roboto" panose="02000000000000000000" pitchFamily="2" charset="0"/>
                          </a:endParaRPr>
                        </a:p>
                      </a:txBody>
                      <a:tcPr/>
                    </a:tc>
                    <a:tc vMerge="1">
                      <a:txBody>
                        <a:bodyPr/>
                        <a:lstStyle/>
                        <a:p>
                          <a:endParaRPr lang="es-CO"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3118226202"/>
                      </a:ext>
                    </a:extLst>
                  </a:tr>
                  <a:tr h="822960">
                    <a:tc>
                      <a:txBody>
                        <a:bodyPr/>
                        <a:lstStyle/>
                        <a:p>
                          <a:r>
                            <a:rPr lang="es-CO" sz="1800" dirty="0">
                              <a:latin typeface="+mn-lt"/>
                              <a:ea typeface="Roboto" panose="02000000000000000000" pitchFamily="2" charset="0"/>
                            </a:rPr>
                            <a:t>Adición</a:t>
                          </a:r>
                        </a:p>
                      </a:txBody>
                      <a:tcPr/>
                    </a:tc>
                    <a:tc>
                      <a:txBody>
                        <a:bodyPr/>
                        <a:lstStyle/>
                        <a:p>
                          <a:endParaRPr lang="es-CO"/>
                        </a:p>
                      </a:txBody>
                      <a:tcPr>
                        <a:blipFill>
                          <a:blip r:embed="rId3"/>
                          <a:stretch>
                            <a:fillRect l="-92537" t="-452593" r="-190299" b="-2222"/>
                          </a:stretch>
                        </a:blipFill>
                      </a:tcPr>
                    </a:tc>
                    <a:tc>
                      <a:txBody>
                        <a:bodyPr/>
                        <a:lstStyle/>
                        <a:p>
                          <a:r>
                            <a:rPr lang="es-CO" sz="1800" dirty="0">
                              <a:latin typeface="+mn-lt"/>
                              <a:ea typeface="Roboto" panose="02000000000000000000" pitchFamily="2" charset="0"/>
                            </a:rPr>
                            <a:t>Resolución</a:t>
                          </a:r>
                        </a:p>
                      </a:txBody>
                      <a:tcPr/>
                    </a:tc>
                    <a:tc>
                      <a:txBody>
                        <a:bodyPr/>
                        <a:lstStyle/>
                        <a:p>
                          <a:endParaRPr lang="es-CO"/>
                        </a:p>
                      </a:txBody>
                      <a:tcPr>
                        <a:blipFill>
                          <a:blip r:embed="rId3"/>
                          <a:stretch>
                            <a:fillRect l="-280446" t="-452593" r="-495" b="-2222"/>
                          </a:stretch>
                        </a:blipFill>
                      </a:tcPr>
                    </a:tc>
                    <a:extLst>
                      <a:ext uri="{0D108BD9-81ED-4DB2-BD59-A6C34878D82A}">
                        <a16:rowId xmlns:a16="http://schemas.microsoft.com/office/drawing/2014/main" val="2217682141"/>
                      </a:ext>
                    </a:extLst>
                  </a:tr>
                </a:tbl>
              </a:graphicData>
            </a:graphic>
          </p:graphicFrame>
        </mc:Fallback>
      </mc:AlternateContent>
    </p:spTree>
    <p:extLst>
      <p:ext uri="{BB962C8B-B14F-4D97-AF65-F5344CB8AC3E}">
        <p14:creationId xmlns:p14="http://schemas.microsoft.com/office/powerpoint/2010/main" val="19773489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07"/>
        <p:cNvGrpSpPr/>
        <p:nvPr/>
      </p:nvGrpSpPr>
      <p:grpSpPr>
        <a:xfrm>
          <a:off x="0" y="0"/>
          <a:ext cx="0" cy="0"/>
          <a:chOff x="0" y="0"/>
          <a:chExt cx="0" cy="0"/>
        </a:xfrm>
      </p:grpSpPr>
      <p:sp>
        <p:nvSpPr>
          <p:cNvPr id="208" name="Google Shape;208;p26"/>
          <p:cNvSpPr txBox="1">
            <a:spLocks noGrp="1"/>
          </p:cNvSpPr>
          <p:nvPr>
            <p:ph type="title"/>
          </p:nvPr>
        </p:nvSpPr>
        <p:spPr>
          <a:xfrm>
            <a:off x="375618" y="180494"/>
            <a:ext cx="10515600" cy="896139"/>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t>Equivalencias lógica cuantificacional</a:t>
            </a:r>
            <a:endParaRPr dirty="0"/>
          </a:p>
        </p:txBody>
      </p:sp>
      <mc:AlternateContent xmlns:mc="http://schemas.openxmlformats.org/markup-compatibility/2006" xmlns:a14="http://schemas.microsoft.com/office/drawing/2010/main">
        <mc:Choice Requires="a14">
          <p:graphicFrame>
            <p:nvGraphicFramePr>
              <p:cNvPr id="4" name="Tabla 3">
                <a:extLst>
                  <a:ext uri="{FF2B5EF4-FFF2-40B4-BE49-F238E27FC236}">
                    <a16:creationId xmlns:a16="http://schemas.microsoft.com/office/drawing/2014/main" id="{E6F16F2C-94A0-4B3D-BF58-A745943E44A0}"/>
                  </a:ext>
                </a:extLst>
              </p:cNvPr>
              <p:cNvGraphicFramePr>
                <a:graphicFrameLocks noGrp="1"/>
              </p:cNvGraphicFramePr>
              <p:nvPr>
                <p:extLst>
                  <p:ext uri="{D42A27DB-BD31-4B8C-83A1-F6EECF244321}">
                    <p14:modId xmlns:p14="http://schemas.microsoft.com/office/powerpoint/2010/main" val="438373591"/>
                  </p:ext>
                </p:extLst>
              </p:nvPr>
            </p:nvGraphicFramePr>
            <p:xfrm>
              <a:off x="497606" y="1108237"/>
              <a:ext cx="6973739" cy="5293614"/>
            </p:xfrm>
            <a:graphic>
              <a:graphicData uri="http://schemas.openxmlformats.org/drawingml/2006/table">
                <a:tbl>
                  <a:tblPr firstRow="1" bandRow="1">
                    <a:tableStyleId>{AD6A3598-7CB8-4345-8D95-17CE05F158A0}</a:tableStyleId>
                  </a:tblPr>
                  <a:tblGrid>
                    <a:gridCol w="3464794">
                      <a:extLst>
                        <a:ext uri="{9D8B030D-6E8A-4147-A177-3AD203B41FA5}">
                          <a16:colId xmlns:a16="http://schemas.microsoft.com/office/drawing/2014/main" val="2419793140"/>
                        </a:ext>
                      </a:extLst>
                    </a:gridCol>
                    <a:gridCol w="3508945">
                      <a:extLst>
                        <a:ext uri="{9D8B030D-6E8A-4147-A177-3AD203B41FA5}">
                          <a16:colId xmlns:a16="http://schemas.microsoft.com/office/drawing/2014/main" val="2761119023"/>
                        </a:ext>
                      </a:extLst>
                    </a:gridCol>
                  </a:tblGrid>
                  <a:tr h="259643">
                    <a:tc>
                      <a:txBody>
                        <a:bodyPr/>
                        <a:lstStyle/>
                        <a:p>
                          <a:r>
                            <a:rPr lang="es-CO" sz="1600" b="1" dirty="0">
                              <a:latin typeface="+mn-lt"/>
                              <a:ea typeface="Roboto" panose="02000000000000000000" pitchFamily="2" charset="0"/>
                            </a:rPr>
                            <a:t>Nombre</a:t>
                          </a:r>
                        </a:p>
                      </a:txBody>
                      <a:tcPr>
                        <a:solidFill>
                          <a:schemeClr val="bg1">
                            <a:lumMod val="95000"/>
                          </a:schemeClr>
                        </a:solidFill>
                      </a:tcPr>
                    </a:tc>
                    <a:tc>
                      <a:txBody>
                        <a:bodyPr/>
                        <a:lstStyle/>
                        <a:p>
                          <a:pPr algn="ctr"/>
                          <a:r>
                            <a:rPr lang="es-CO" sz="1600" b="1" dirty="0">
                              <a:latin typeface="+mn-lt"/>
                              <a:ea typeface="Roboto" panose="02000000000000000000" pitchFamily="2" charset="0"/>
                            </a:rPr>
                            <a:t>Equivalencia lógica</a:t>
                          </a:r>
                        </a:p>
                      </a:txBody>
                      <a:tcPr>
                        <a:solidFill>
                          <a:schemeClr val="bg1">
                            <a:lumMod val="95000"/>
                          </a:schemeClr>
                        </a:solidFill>
                      </a:tcPr>
                    </a:tc>
                    <a:extLst>
                      <a:ext uri="{0D108BD9-81ED-4DB2-BD59-A6C34878D82A}">
                        <a16:rowId xmlns:a16="http://schemas.microsoft.com/office/drawing/2014/main" val="1624526593"/>
                      </a:ext>
                    </a:extLst>
                  </a:tr>
                  <a:tr h="389464">
                    <a:tc>
                      <a:txBody>
                        <a:bodyPr/>
                        <a:lstStyle/>
                        <a:p>
                          <a:r>
                            <a:rPr lang="es-MX" sz="1400" b="0" dirty="0">
                              <a:latin typeface="+mn-lt"/>
                              <a:ea typeface="Roboto" panose="02000000000000000000" pitchFamily="2" charset="0"/>
                            </a:rPr>
                            <a:t>Negación de cuantificadores (De Morgan cuántico)</a:t>
                          </a:r>
                        </a:p>
                      </a:txBody>
                      <a:tcPr anchor="ct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oMath>
                            </m:oMathPara>
                          </a14:m>
                          <a:endParaRPr lang="es-MX" sz="1300" b="0" i="1" dirty="0">
                            <a:latin typeface="Cambria Math" panose="02040503050406030204" pitchFamily="18" charset="0"/>
                            <a:ea typeface="Roboto" panose="02000000000000000000" pitchFamily="2" charset="0"/>
                          </a:endParaRPr>
                        </a:p>
                        <a:p>
                          <a:pPr/>
                          <a14:m>
                            <m:oMathPara xmlns:m="http://schemas.openxmlformats.org/officeDocument/2006/math">
                              <m:oMathParaPr>
                                <m:jc m:val="centerGroup"/>
                              </m:oMathParaPr>
                              <m:oMath xmlns:m="http://schemas.openxmlformats.org/officeDocument/2006/math">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oMath>
                            </m:oMathPara>
                          </a14:m>
                          <a:endParaRPr lang="es-MX" sz="1300" b="0" i="1" dirty="0">
                            <a:latin typeface="Cambria Math" panose="02040503050406030204" pitchFamily="18" charset="0"/>
                            <a:ea typeface="Roboto" panose="02000000000000000000" pitchFamily="2" charset="0"/>
                          </a:endParaRPr>
                        </a:p>
                      </a:txBody>
                      <a:tcPr>
                        <a:solidFill>
                          <a:schemeClr val="bg1"/>
                        </a:solidFill>
                      </a:tcPr>
                    </a:tc>
                    <a:extLst>
                      <a:ext uri="{0D108BD9-81ED-4DB2-BD59-A6C34878D82A}">
                        <a16:rowId xmlns:a16="http://schemas.microsoft.com/office/drawing/2014/main" val="3154515760"/>
                      </a:ext>
                    </a:extLst>
                  </a:tr>
                  <a:tr h="389464">
                    <a:tc>
                      <a:txBody>
                        <a:bodyPr/>
                        <a:lstStyle/>
                        <a:p>
                          <a:r>
                            <a:rPr lang="es-MX" sz="1400" b="0" dirty="0">
                              <a:latin typeface="+mn-lt"/>
                              <a:ea typeface="Roboto" panose="02000000000000000000" pitchFamily="2" charset="0"/>
                            </a:rPr>
                            <a:t>Distributividad del cuantificador universal sobre la conjunción</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𝑄</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𝑄</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oMath>
                            </m:oMathPara>
                          </a14:m>
                          <a:endParaRPr lang="es-CO" sz="1300" dirty="0">
                            <a:latin typeface="Roboto" panose="02000000000000000000" pitchFamily="2" charset="0"/>
                            <a:ea typeface="Roboto" panose="02000000000000000000" pitchFamily="2" charset="0"/>
                          </a:endParaRPr>
                        </a:p>
                      </a:txBody>
                      <a:tcPr>
                        <a:solidFill>
                          <a:schemeClr val="bg1"/>
                        </a:solidFill>
                      </a:tcPr>
                    </a:tc>
                    <a:extLst>
                      <a:ext uri="{0D108BD9-81ED-4DB2-BD59-A6C34878D82A}">
                        <a16:rowId xmlns:a16="http://schemas.microsoft.com/office/drawing/2014/main" val="1913743916"/>
                      </a:ext>
                    </a:extLst>
                  </a:tr>
                  <a:tr h="40953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0" dirty="0">
                              <a:latin typeface="+mn-lt"/>
                              <a:ea typeface="Roboto" panose="02000000000000000000" pitchFamily="2" charset="0"/>
                            </a:rPr>
                            <a:t>Distributividad (en un solo sentido) del cuantificador universal sobre la disyunción</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𝑄</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𝑄</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oMath>
                            </m:oMathPara>
                          </a14:m>
                          <a:endParaRPr lang="es-CO" sz="13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300" dirty="0">
                            <a:latin typeface="Roboto" panose="02000000000000000000" pitchFamily="2" charset="0"/>
                            <a:ea typeface="Roboto" panose="02000000000000000000" pitchFamily="2" charset="0"/>
                          </a:endParaRPr>
                        </a:p>
                      </a:txBody>
                      <a:tcPr>
                        <a:solidFill>
                          <a:schemeClr val="bg1"/>
                        </a:solidFill>
                      </a:tcPr>
                    </a:tc>
                    <a:extLst>
                      <a:ext uri="{0D108BD9-81ED-4DB2-BD59-A6C34878D82A}">
                        <a16:rowId xmlns:a16="http://schemas.microsoft.com/office/drawing/2014/main" val="2329748753"/>
                      </a:ext>
                    </a:extLst>
                  </a:tr>
                  <a:tr h="409533">
                    <a:tc>
                      <a:txBody>
                        <a:bodyPr/>
                        <a:lstStyle/>
                        <a:p>
                          <a:r>
                            <a:rPr lang="es-MX" sz="1400" b="0" dirty="0">
                              <a:latin typeface="+mn-lt"/>
                              <a:ea typeface="Roboto" panose="02000000000000000000" pitchFamily="2" charset="0"/>
                            </a:rPr>
                            <a:t>Distributividad del cuantificador existencial sobre la disyunción</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𝑄</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𝑄</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oMath>
                            </m:oMathPara>
                          </a14:m>
                          <a:endParaRPr lang="es-CO" sz="13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300" dirty="0">
                            <a:latin typeface="Roboto" panose="02000000000000000000" pitchFamily="2" charset="0"/>
                            <a:ea typeface="Roboto" panose="02000000000000000000" pitchFamily="2" charset="0"/>
                          </a:endParaRPr>
                        </a:p>
                      </a:txBody>
                      <a:tcPr>
                        <a:solidFill>
                          <a:schemeClr val="bg1"/>
                        </a:solidFill>
                      </a:tcPr>
                    </a:tc>
                    <a:extLst>
                      <a:ext uri="{0D108BD9-81ED-4DB2-BD59-A6C34878D82A}">
                        <a16:rowId xmlns:a16="http://schemas.microsoft.com/office/drawing/2014/main" val="717401643"/>
                      </a:ext>
                    </a:extLst>
                  </a:tr>
                  <a:tr h="409533">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0" dirty="0">
                              <a:latin typeface="+mn-lt"/>
                              <a:ea typeface="Roboto" panose="02000000000000000000" pitchFamily="2" charset="0"/>
                            </a:rPr>
                            <a:t>Distributividad (en un solo sentido) del cuantificador existencial sobre la conjunción</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𝑄</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𝑄</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oMath>
                            </m:oMathPara>
                          </a14:m>
                          <a:endParaRPr lang="es-CO" sz="13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300" dirty="0">
                            <a:latin typeface="Roboto" panose="02000000000000000000" pitchFamily="2" charset="0"/>
                            <a:ea typeface="Roboto" panose="02000000000000000000" pitchFamily="2" charset="0"/>
                          </a:endParaRPr>
                        </a:p>
                      </a:txBody>
                      <a:tcPr>
                        <a:solidFill>
                          <a:schemeClr val="bg1"/>
                        </a:solidFill>
                      </a:tcPr>
                    </a:tc>
                    <a:extLst>
                      <a:ext uri="{0D108BD9-81ED-4DB2-BD59-A6C34878D82A}">
                        <a16:rowId xmlns:a16="http://schemas.microsoft.com/office/drawing/2014/main" val="1263083683"/>
                      </a:ext>
                    </a:extLst>
                  </a:tr>
                  <a:tr h="896957">
                    <a:tc>
                      <a:txBody>
                        <a:bodyPr/>
                        <a:lstStyle/>
                        <a:p>
                          <a:r>
                            <a:rPr lang="es-CO" sz="1400" b="0" dirty="0">
                              <a:latin typeface="+mn-lt"/>
                              <a:ea typeface="Roboto" panose="02000000000000000000" pitchFamily="2" charset="0"/>
                            </a:rPr>
                            <a:t>Distribución de cuantificadores (restricciones)</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300" dirty="0">
                              <a:latin typeface="Roboto" panose="02000000000000000000" pitchFamily="2" charset="0"/>
                              <a:ea typeface="Roboto" panose="02000000000000000000" pitchFamily="2" charset="0"/>
                            </a:rPr>
                            <a:t>Si la formula </a:t>
                          </a:r>
                          <a14:m>
                            <m:oMath xmlns:m="http://schemas.openxmlformats.org/officeDocument/2006/math">
                              <m:r>
                                <a:rPr lang="es-MX" sz="1300" b="0" i="1" smtClean="0">
                                  <a:latin typeface="Cambria Math" panose="02040503050406030204" pitchFamily="18" charset="0"/>
                                  <a:ea typeface="Roboto" panose="02000000000000000000" pitchFamily="2" charset="0"/>
                                </a:rPr>
                                <m:t>𝑄</m:t>
                              </m:r>
                            </m:oMath>
                          </a14:m>
                          <a:r>
                            <a:rPr lang="es-CO" sz="1300" dirty="0">
                              <a:latin typeface="Roboto" panose="02000000000000000000" pitchFamily="2" charset="0"/>
                              <a:ea typeface="Roboto" panose="02000000000000000000" pitchFamily="2" charset="0"/>
                            </a:rPr>
                            <a:t> no contiene</a:t>
                          </a:r>
                          <a:r>
                            <a:rPr lang="es-CO" sz="1300" baseline="0" dirty="0">
                              <a:latin typeface="Roboto" panose="02000000000000000000" pitchFamily="2" charset="0"/>
                              <a:ea typeface="Roboto" panose="02000000000000000000" pitchFamily="2" charset="0"/>
                            </a:rPr>
                            <a:t> la variable cuantificada </a:t>
                          </a:r>
                          <a14:m>
                            <m:oMath xmlns:m="http://schemas.openxmlformats.org/officeDocument/2006/math">
                              <m:r>
                                <a:rPr lang="es-MX" sz="1300" b="0" i="1" smtClean="0">
                                  <a:latin typeface="Cambria Math" panose="02040503050406030204" pitchFamily="18" charset="0"/>
                                  <a:ea typeface="Roboto" panose="02000000000000000000" pitchFamily="2" charset="0"/>
                                </a:rPr>
                                <m:t>𝑥</m:t>
                              </m:r>
                            </m:oMath>
                          </a14:m>
                          <a:r>
                            <a:rPr lang="es-CO" sz="1300" dirty="0">
                              <a:latin typeface="Roboto" panose="02000000000000000000" pitchFamily="2" charset="0"/>
                              <a:ea typeface="Roboto" panose="02000000000000000000" pitchFamily="2" charset="0"/>
                            </a:rPr>
                            <a:t>:</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3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𝑄</m:t>
                                    </m:r>
                                  </m:e>
                                </m:d>
                                <m:r>
                                  <a:rPr lang="es-MX" sz="1300" b="0" i="1" smtClean="0">
                                    <a:latin typeface="Cambria Math" panose="02040503050406030204" pitchFamily="18" charset="0"/>
                                    <a:ea typeface="Cambria Math" panose="02040503050406030204" pitchFamily="18" charset="0"/>
                                  </a:rPr>
                                  <m:t>≡</m:t>
                                </m:r>
                                <m:d>
                                  <m:dPr>
                                    <m:ctrlPr>
                                      <a:rPr lang="es-MX" sz="1300" b="0" i="1" smtClean="0">
                                        <a:latin typeface="Cambria Math" panose="02040503050406030204" pitchFamily="18" charset="0"/>
                                        <a:ea typeface="Cambria Math" panose="02040503050406030204" pitchFamily="18" charset="0"/>
                                      </a:rPr>
                                    </m:ctrlPr>
                                  </m:dPr>
                                  <m:e>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𝑄</m:t>
                                </m:r>
                              </m:oMath>
                            </m:oMathPara>
                          </a14:m>
                          <a:endParaRPr lang="es-MX" sz="1300" b="0" i="1" dirty="0">
                            <a:latin typeface="Cambria Math" panose="02040503050406030204" pitchFamily="18"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𝑄</m:t>
                                    </m:r>
                                  </m:e>
                                </m:d>
                                <m:r>
                                  <a:rPr lang="es-MX" sz="1300" b="0" i="1" smtClean="0">
                                    <a:latin typeface="Cambria Math" panose="02040503050406030204" pitchFamily="18" charset="0"/>
                                    <a:ea typeface="Cambria Math" panose="02040503050406030204" pitchFamily="18" charset="0"/>
                                  </a:rPr>
                                  <m:t>≡</m:t>
                                </m:r>
                                <m:d>
                                  <m:dPr>
                                    <m:ctrlPr>
                                      <a:rPr lang="es-MX" sz="1300" b="0" i="1" smtClean="0">
                                        <a:latin typeface="Cambria Math" panose="02040503050406030204" pitchFamily="18" charset="0"/>
                                        <a:ea typeface="Cambria Math" panose="02040503050406030204" pitchFamily="18" charset="0"/>
                                      </a:rPr>
                                    </m:ctrlPr>
                                  </m:dPr>
                                  <m:e>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e>
                                    </m:d>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𝑄</m:t>
                                </m:r>
                              </m:oMath>
                            </m:oMathPara>
                          </a14:m>
                          <a:endParaRPr lang="es-CO" sz="1300" dirty="0">
                            <a:latin typeface="Roboto" panose="02000000000000000000" pitchFamily="2" charset="0"/>
                            <a:ea typeface="Roboto" panose="02000000000000000000" pitchFamily="2" charset="0"/>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300" dirty="0">
                            <a:latin typeface="Roboto" panose="02000000000000000000" pitchFamily="2" charset="0"/>
                            <a:ea typeface="Roboto" panose="02000000000000000000" pitchFamily="2" charset="0"/>
                          </a:endParaRPr>
                        </a:p>
                      </a:txBody>
                      <a:tcPr>
                        <a:solidFill>
                          <a:schemeClr val="bg1"/>
                        </a:solidFill>
                      </a:tcPr>
                    </a:tc>
                    <a:extLst>
                      <a:ext uri="{0D108BD9-81ED-4DB2-BD59-A6C34878D82A}">
                        <a16:rowId xmlns:a16="http://schemas.microsoft.com/office/drawing/2014/main" val="2246818852"/>
                      </a:ext>
                    </a:extLst>
                  </a:tr>
                  <a:tr h="389464">
                    <a:tc>
                      <a:txBody>
                        <a:bodyPr/>
                        <a:lstStyle/>
                        <a:p>
                          <a:r>
                            <a:rPr lang="es-MX" sz="1400" b="0" i="0" u="none" strike="noStrike" cap="none" dirty="0">
                              <a:solidFill>
                                <a:srgbClr val="000000"/>
                              </a:solidFill>
                              <a:latin typeface="+mn-lt"/>
                              <a:ea typeface="Roboto" panose="02000000000000000000" pitchFamily="2" charset="0"/>
                              <a:cs typeface="Arial"/>
                              <a:sym typeface="Arial"/>
                            </a:rPr>
                            <a:t>Intercambio del orden de cuantificadores iguales</a:t>
                          </a:r>
                        </a:p>
                      </a:txBody>
                      <a:tcPr anchor="ct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𝑦</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𝑦</m:t>
                                    </m:r>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𝑦</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𝑦</m:t>
                                    </m:r>
                                  </m:e>
                                </m:d>
                              </m:oMath>
                            </m:oMathPara>
                          </a14:m>
                          <a:endParaRPr lang="es-MX" sz="1300" b="0" i="1" dirty="0">
                            <a:latin typeface="Cambria Math" panose="02040503050406030204" pitchFamily="18" charset="0"/>
                            <a:ea typeface="Roboto" panose="02000000000000000000" pitchFamily="2" charset="0"/>
                          </a:endParaRPr>
                        </a:p>
                        <a:p>
                          <a:pPr/>
                          <a14:m>
                            <m:oMathPara xmlns:m="http://schemas.openxmlformats.org/officeDocument/2006/math">
                              <m:oMathParaPr>
                                <m:jc m:val="centerGroup"/>
                              </m:oMathParaPr>
                              <m:oMath xmlns:m="http://schemas.openxmlformats.org/officeDocument/2006/math">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𝑦</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𝑦</m:t>
                                    </m:r>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𝑦</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𝑦</m:t>
                                    </m:r>
                                  </m:e>
                                </m:d>
                              </m:oMath>
                            </m:oMathPara>
                          </a14:m>
                          <a:endParaRPr lang="es-MX" sz="1300" b="0" i="1" dirty="0">
                            <a:latin typeface="Cambria Math" panose="02040503050406030204" pitchFamily="18" charset="0"/>
                            <a:ea typeface="Roboto" panose="02000000000000000000" pitchFamily="2" charset="0"/>
                          </a:endParaRPr>
                        </a:p>
                      </a:txBody>
                      <a:tcPr>
                        <a:solidFill>
                          <a:schemeClr val="bg1"/>
                        </a:solidFill>
                      </a:tcPr>
                    </a:tc>
                    <a:extLst>
                      <a:ext uri="{0D108BD9-81ED-4DB2-BD59-A6C34878D82A}">
                        <a16:rowId xmlns:a16="http://schemas.microsoft.com/office/drawing/2014/main" val="1684315241"/>
                      </a:ext>
                    </a:extLst>
                  </a:tr>
                  <a:tr h="383517">
                    <a:tc>
                      <a:txBody>
                        <a:bodyPr/>
                        <a:lstStyle/>
                        <a:p>
                          <a:r>
                            <a:rPr lang="es-MX" sz="1400" b="0" dirty="0">
                              <a:latin typeface="+mn-lt"/>
                              <a:ea typeface="Roboto" panose="02000000000000000000" pitchFamily="2" charset="0"/>
                            </a:rPr>
                            <a:t>No conmutatividad entre cuantificadores diferentes</a:t>
                          </a:r>
                        </a:p>
                      </a:txBody>
                      <a:tcPr anchor="c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𝑦𝑃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𝑦</m:t>
                                    </m:r>
                                  </m:e>
                                </m:d>
                                <m:r>
                                  <a:rPr lang="es-MX" sz="1300" b="0" i="1" smtClean="0">
                                    <a:latin typeface="Cambria Math" panose="02040503050406030204" pitchFamily="18" charset="0"/>
                                    <a:ea typeface="Cambria Math" panose="02040503050406030204" pitchFamily="18" charset="0"/>
                                  </a:rPr>
                                  <m:t>≢</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𝑦</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 </m:t>
                                </m:r>
                                <m:r>
                                  <a:rPr lang="es-MX" sz="1300" b="0" i="1" smtClean="0">
                                    <a:latin typeface="Cambria Math" panose="02040503050406030204" pitchFamily="18" charset="0"/>
                                    <a:ea typeface="Roboto" panose="02000000000000000000" pitchFamily="2" charset="0"/>
                                  </a:rPr>
                                  <m:t>𝑃</m:t>
                                </m:r>
                                <m:d>
                                  <m:dPr>
                                    <m:ctrlPr>
                                      <a:rPr lang="es-MX" sz="1300" b="0" i="1" smtClean="0">
                                        <a:latin typeface="Cambria Math" panose="02040503050406030204" pitchFamily="18" charset="0"/>
                                        <a:ea typeface="Roboto" panose="02000000000000000000" pitchFamily="2" charset="0"/>
                                      </a:rPr>
                                    </m:ctrlPr>
                                  </m:dPr>
                                  <m:e>
                                    <m:r>
                                      <a:rPr lang="es-MX" sz="1300" b="0" i="1" smtClean="0">
                                        <a:latin typeface="Cambria Math" panose="02040503050406030204" pitchFamily="18" charset="0"/>
                                        <a:ea typeface="Roboto" panose="02000000000000000000" pitchFamily="2" charset="0"/>
                                      </a:rPr>
                                      <m:t>𝑥</m:t>
                                    </m:r>
                                    <m:r>
                                      <a:rPr lang="es-MX" sz="1300" b="0" i="1" smtClean="0">
                                        <a:latin typeface="Cambria Math" panose="02040503050406030204" pitchFamily="18" charset="0"/>
                                        <a:ea typeface="Roboto" panose="02000000000000000000" pitchFamily="2" charset="0"/>
                                      </a:rPr>
                                      <m:t>,</m:t>
                                    </m:r>
                                    <m:r>
                                      <a:rPr lang="es-MX" sz="1300" b="0" i="1" smtClean="0">
                                        <a:latin typeface="Cambria Math" panose="02040503050406030204" pitchFamily="18" charset="0"/>
                                        <a:ea typeface="Roboto" panose="02000000000000000000" pitchFamily="2" charset="0"/>
                                      </a:rPr>
                                      <m:t>𝑦</m:t>
                                    </m:r>
                                  </m:e>
                                </m:d>
                              </m:oMath>
                            </m:oMathPara>
                          </a14:m>
                          <a:endParaRPr lang="es-CO" sz="1300" dirty="0">
                            <a:latin typeface="Roboto" panose="02000000000000000000" pitchFamily="2" charset="0"/>
                            <a:ea typeface="Roboto" panose="02000000000000000000" pitchFamily="2" charset="0"/>
                          </a:endParaRPr>
                        </a:p>
                      </a:txBody>
                      <a:tcPr>
                        <a:solidFill>
                          <a:schemeClr val="bg1"/>
                        </a:solidFill>
                      </a:tcPr>
                    </a:tc>
                    <a:extLst>
                      <a:ext uri="{0D108BD9-81ED-4DB2-BD59-A6C34878D82A}">
                        <a16:rowId xmlns:a16="http://schemas.microsoft.com/office/drawing/2014/main" val="2582935017"/>
                      </a:ext>
                    </a:extLst>
                  </a:tr>
                </a:tbl>
              </a:graphicData>
            </a:graphic>
          </p:graphicFrame>
        </mc:Choice>
        <mc:Fallback xmlns="">
          <p:graphicFrame>
            <p:nvGraphicFramePr>
              <p:cNvPr id="4" name="Tabla 3">
                <a:extLst>
                  <a:ext uri="{FF2B5EF4-FFF2-40B4-BE49-F238E27FC236}">
                    <a16:creationId xmlns:a16="http://schemas.microsoft.com/office/drawing/2014/main" id="{E6F16F2C-94A0-4B3D-BF58-A745943E44A0}"/>
                  </a:ext>
                </a:extLst>
              </p:cNvPr>
              <p:cNvGraphicFramePr>
                <a:graphicFrameLocks noGrp="1"/>
              </p:cNvGraphicFramePr>
              <p:nvPr>
                <p:extLst>
                  <p:ext uri="{D42A27DB-BD31-4B8C-83A1-F6EECF244321}">
                    <p14:modId xmlns:p14="http://schemas.microsoft.com/office/powerpoint/2010/main" val="438373591"/>
                  </p:ext>
                </p:extLst>
              </p:nvPr>
            </p:nvGraphicFramePr>
            <p:xfrm>
              <a:off x="497606" y="1108237"/>
              <a:ext cx="6973739" cy="5293614"/>
            </p:xfrm>
            <a:graphic>
              <a:graphicData uri="http://schemas.openxmlformats.org/drawingml/2006/table">
                <a:tbl>
                  <a:tblPr firstRow="1" bandRow="1">
                    <a:tableStyleId>{AD6A3598-7CB8-4345-8D95-17CE05F158A0}</a:tableStyleId>
                  </a:tblPr>
                  <a:tblGrid>
                    <a:gridCol w="3464794">
                      <a:extLst>
                        <a:ext uri="{9D8B030D-6E8A-4147-A177-3AD203B41FA5}">
                          <a16:colId xmlns:a16="http://schemas.microsoft.com/office/drawing/2014/main" val="2419793140"/>
                        </a:ext>
                      </a:extLst>
                    </a:gridCol>
                    <a:gridCol w="3508945">
                      <a:extLst>
                        <a:ext uri="{9D8B030D-6E8A-4147-A177-3AD203B41FA5}">
                          <a16:colId xmlns:a16="http://schemas.microsoft.com/office/drawing/2014/main" val="2761119023"/>
                        </a:ext>
                      </a:extLst>
                    </a:gridCol>
                  </a:tblGrid>
                  <a:tr h="335280">
                    <a:tc>
                      <a:txBody>
                        <a:bodyPr/>
                        <a:lstStyle/>
                        <a:p>
                          <a:r>
                            <a:rPr lang="es-CO" sz="1600" b="1" dirty="0">
                              <a:latin typeface="+mn-lt"/>
                              <a:ea typeface="Roboto" panose="02000000000000000000" pitchFamily="2" charset="0"/>
                            </a:rPr>
                            <a:t>Nombre</a:t>
                          </a:r>
                        </a:p>
                      </a:txBody>
                      <a:tcPr>
                        <a:solidFill>
                          <a:schemeClr val="bg1">
                            <a:lumMod val="95000"/>
                          </a:schemeClr>
                        </a:solidFill>
                      </a:tcPr>
                    </a:tc>
                    <a:tc>
                      <a:txBody>
                        <a:bodyPr/>
                        <a:lstStyle/>
                        <a:p>
                          <a:pPr algn="ctr"/>
                          <a:r>
                            <a:rPr lang="es-CO" sz="1600" b="1" dirty="0">
                              <a:latin typeface="+mn-lt"/>
                              <a:ea typeface="Roboto" panose="02000000000000000000" pitchFamily="2" charset="0"/>
                            </a:rPr>
                            <a:t>Equivalencia lógica</a:t>
                          </a:r>
                        </a:p>
                      </a:txBody>
                      <a:tcPr>
                        <a:solidFill>
                          <a:schemeClr val="bg1">
                            <a:lumMod val="95000"/>
                          </a:schemeClr>
                        </a:solidFill>
                      </a:tcPr>
                    </a:tc>
                    <a:extLst>
                      <a:ext uri="{0D108BD9-81ED-4DB2-BD59-A6C34878D82A}">
                        <a16:rowId xmlns:a16="http://schemas.microsoft.com/office/drawing/2014/main" val="1624526593"/>
                      </a:ext>
                    </a:extLst>
                  </a:tr>
                  <a:tr h="518160">
                    <a:tc>
                      <a:txBody>
                        <a:bodyPr/>
                        <a:lstStyle/>
                        <a:p>
                          <a:r>
                            <a:rPr lang="es-MX" sz="1400" b="0" dirty="0">
                              <a:latin typeface="+mn-lt"/>
                              <a:ea typeface="Roboto" panose="02000000000000000000" pitchFamily="2" charset="0"/>
                            </a:rPr>
                            <a:t>Negación de cuantificadores (De Morgan cuántico)</a:t>
                          </a:r>
                        </a:p>
                      </a:txBody>
                      <a:tcPr anchor="ctr">
                        <a:solidFill>
                          <a:schemeClr val="bg1"/>
                        </a:solidFill>
                      </a:tcPr>
                    </a:tc>
                    <a:tc>
                      <a:txBody>
                        <a:bodyPr/>
                        <a:lstStyle/>
                        <a:p>
                          <a:endParaRPr lang="es-CO"/>
                        </a:p>
                      </a:txBody>
                      <a:tcPr>
                        <a:blipFill>
                          <a:blip r:embed="rId3"/>
                          <a:stretch>
                            <a:fillRect l="-98958" t="-67059" r="-347" b="-870588"/>
                          </a:stretch>
                        </a:blipFill>
                      </a:tcPr>
                    </a:tc>
                    <a:extLst>
                      <a:ext uri="{0D108BD9-81ED-4DB2-BD59-A6C34878D82A}">
                        <a16:rowId xmlns:a16="http://schemas.microsoft.com/office/drawing/2014/main" val="3154515760"/>
                      </a:ext>
                    </a:extLst>
                  </a:tr>
                  <a:tr h="518160">
                    <a:tc>
                      <a:txBody>
                        <a:bodyPr/>
                        <a:lstStyle/>
                        <a:p>
                          <a:r>
                            <a:rPr lang="es-MX" sz="1400" b="0" dirty="0">
                              <a:latin typeface="+mn-lt"/>
                              <a:ea typeface="Roboto" panose="02000000000000000000" pitchFamily="2" charset="0"/>
                            </a:rPr>
                            <a:t>Distributividad del cuantificador universal sobre la conjunción</a:t>
                          </a:r>
                        </a:p>
                      </a:txBody>
                      <a:tcPr anchor="ctr">
                        <a:solidFill>
                          <a:schemeClr val="bg1"/>
                        </a:solidFill>
                      </a:tcPr>
                    </a:tc>
                    <a:tc>
                      <a:txBody>
                        <a:bodyPr/>
                        <a:lstStyle/>
                        <a:p>
                          <a:endParaRPr lang="es-CO"/>
                        </a:p>
                      </a:txBody>
                      <a:tcPr>
                        <a:blipFill>
                          <a:blip r:embed="rId3"/>
                          <a:stretch>
                            <a:fillRect l="-98958" t="-167059" r="-347" b="-770588"/>
                          </a:stretch>
                        </a:blipFill>
                      </a:tcPr>
                    </a:tc>
                    <a:extLst>
                      <a:ext uri="{0D108BD9-81ED-4DB2-BD59-A6C34878D82A}">
                        <a16:rowId xmlns:a16="http://schemas.microsoft.com/office/drawing/2014/main" val="1913743916"/>
                      </a:ext>
                    </a:extLst>
                  </a:tr>
                  <a:tr h="51816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0" dirty="0">
                              <a:latin typeface="+mn-lt"/>
                              <a:ea typeface="Roboto" panose="02000000000000000000" pitchFamily="2" charset="0"/>
                            </a:rPr>
                            <a:t>Distributividad (en un solo sentido) del cuantificador universal sobre la disyunción</a:t>
                          </a:r>
                        </a:p>
                      </a:txBody>
                      <a:tcPr anchor="ctr">
                        <a:solidFill>
                          <a:schemeClr val="bg1"/>
                        </a:solidFill>
                      </a:tcPr>
                    </a:tc>
                    <a:tc>
                      <a:txBody>
                        <a:bodyPr/>
                        <a:lstStyle/>
                        <a:p>
                          <a:endParaRPr lang="es-CO"/>
                        </a:p>
                      </a:txBody>
                      <a:tcPr>
                        <a:blipFill>
                          <a:blip r:embed="rId3"/>
                          <a:stretch>
                            <a:fillRect l="-98958" t="-263953" r="-347" b="-661628"/>
                          </a:stretch>
                        </a:blipFill>
                      </a:tcPr>
                    </a:tc>
                    <a:extLst>
                      <a:ext uri="{0D108BD9-81ED-4DB2-BD59-A6C34878D82A}">
                        <a16:rowId xmlns:a16="http://schemas.microsoft.com/office/drawing/2014/main" val="2329748753"/>
                      </a:ext>
                    </a:extLst>
                  </a:tr>
                  <a:tr h="518160">
                    <a:tc>
                      <a:txBody>
                        <a:bodyPr/>
                        <a:lstStyle/>
                        <a:p>
                          <a:r>
                            <a:rPr lang="es-MX" sz="1400" b="0" dirty="0">
                              <a:latin typeface="+mn-lt"/>
                              <a:ea typeface="Roboto" panose="02000000000000000000" pitchFamily="2" charset="0"/>
                            </a:rPr>
                            <a:t>Distributividad del cuantificador existencial sobre la disyunción</a:t>
                          </a:r>
                        </a:p>
                      </a:txBody>
                      <a:tcPr anchor="ctr">
                        <a:solidFill>
                          <a:schemeClr val="bg1"/>
                        </a:solidFill>
                      </a:tcPr>
                    </a:tc>
                    <a:tc>
                      <a:txBody>
                        <a:bodyPr/>
                        <a:lstStyle/>
                        <a:p>
                          <a:endParaRPr lang="es-CO"/>
                        </a:p>
                      </a:txBody>
                      <a:tcPr>
                        <a:blipFill>
                          <a:blip r:embed="rId3"/>
                          <a:stretch>
                            <a:fillRect l="-98958" t="-368235" r="-347" b="-569412"/>
                          </a:stretch>
                        </a:blipFill>
                      </a:tcPr>
                    </a:tc>
                    <a:extLst>
                      <a:ext uri="{0D108BD9-81ED-4DB2-BD59-A6C34878D82A}">
                        <a16:rowId xmlns:a16="http://schemas.microsoft.com/office/drawing/2014/main" val="717401643"/>
                      </a:ext>
                    </a:extLst>
                  </a:tr>
                  <a:tr h="51816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0" dirty="0">
                              <a:latin typeface="+mn-lt"/>
                              <a:ea typeface="Roboto" panose="02000000000000000000" pitchFamily="2" charset="0"/>
                            </a:rPr>
                            <a:t>Distributividad (en un solo sentido) del cuantificador existencial sobre la conjunción</a:t>
                          </a:r>
                        </a:p>
                      </a:txBody>
                      <a:tcPr anchor="ctr">
                        <a:solidFill>
                          <a:schemeClr val="bg1"/>
                        </a:solidFill>
                      </a:tcPr>
                    </a:tc>
                    <a:tc>
                      <a:txBody>
                        <a:bodyPr/>
                        <a:lstStyle/>
                        <a:p>
                          <a:endParaRPr lang="es-CO"/>
                        </a:p>
                      </a:txBody>
                      <a:tcPr>
                        <a:blipFill>
                          <a:blip r:embed="rId3"/>
                          <a:stretch>
                            <a:fillRect l="-98958" t="-468235" r="-347" b="-469412"/>
                          </a:stretch>
                        </a:blipFill>
                      </a:tcPr>
                    </a:tc>
                    <a:extLst>
                      <a:ext uri="{0D108BD9-81ED-4DB2-BD59-A6C34878D82A}">
                        <a16:rowId xmlns:a16="http://schemas.microsoft.com/office/drawing/2014/main" val="1263083683"/>
                      </a:ext>
                    </a:extLst>
                  </a:tr>
                  <a:tr h="1331214">
                    <a:tc>
                      <a:txBody>
                        <a:bodyPr/>
                        <a:lstStyle/>
                        <a:p>
                          <a:r>
                            <a:rPr lang="es-CO" sz="1400" b="0" dirty="0">
                              <a:latin typeface="+mn-lt"/>
                              <a:ea typeface="Roboto" panose="02000000000000000000" pitchFamily="2" charset="0"/>
                            </a:rPr>
                            <a:t>Distribución de cuantificadores (restricciones)</a:t>
                          </a:r>
                        </a:p>
                      </a:txBody>
                      <a:tcPr anchor="ctr">
                        <a:solidFill>
                          <a:schemeClr val="bg1"/>
                        </a:solidFill>
                      </a:tcPr>
                    </a:tc>
                    <a:tc>
                      <a:txBody>
                        <a:bodyPr/>
                        <a:lstStyle/>
                        <a:p>
                          <a:endParaRPr lang="es-CO"/>
                        </a:p>
                      </a:txBody>
                      <a:tcPr>
                        <a:blipFill>
                          <a:blip r:embed="rId3"/>
                          <a:stretch>
                            <a:fillRect l="-98958" t="-220548" r="-347" b="-82192"/>
                          </a:stretch>
                        </a:blipFill>
                      </a:tcPr>
                    </a:tc>
                    <a:extLst>
                      <a:ext uri="{0D108BD9-81ED-4DB2-BD59-A6C34878D82A}">
                        <a16:rowId xmlns:a16="http://schemas.microsoft.com/office/drawing/2014/main" val="2246818852"/>
                      </a:ext>
                    </a:extLst>
                  </a:tr>
                  <a:tr h="518160">
                    <a:tc>
                      <a:txBody>
                        <a:bodyPr/>
                        <a:lstStyle/>
                        <a:p>
                          <a:r>
                            <a:rPr lang="es-MX" sz="1400" b="0" i="0" u="none" strike="noStrike" cap="none" dirty="0">
                              <a:solidFill>
                                <a:srgbClr val="000000"/>
                              </a:solidFill>
                              <a:latin typeface="+mn-lt"/>
                              <a:ea typeface="Roboto" panose="02000000000000000000" pitchFamily="2" charset="0"/>
                              <a:cs typeface="Arial"/>
                              <a:sym typeface="Arial"/>
                            </a:rPr>
                            <a:t>Intercambio del orden de cuantificadores iguales</a:t>
                          </a:r>
                        </a:p>
                      </a:txBody>
                      <a:tcPr anchor="ctr">
                        <a:solidFill>
                          <a:schemeClr val="bg1"/>
                        </a:solidFill>
                      </a:tcPr>
                    </a:tc>
                    <a:tc>
                      <a:txBody>
                        <a:bodyPr/>
                        <a:lstStyle/>
                        <a:p>
                          <a:endParaRPr lang="es-CO"/>
                        </a:p>
                      </a:txBody>
                      <a:tcPr>
                        <a:blipFill>
                          <a:blip r:embed="rId3"/>
                          <a:stretch>
                            <a:fillRect l="-98958" t="-825882" r="-347" b="-111765"/>
                          </a:stretch>
                        </a:blipFill>
                      </a:tcPr>
                    </a:tc>
                    <a:extLst>
                      <a:ext uri="{0D108BD9-81ED-4DB2-BD59-A6C34878D82A}">
                        <a16:rowId xmlns:a16="http://schemas.microsoft.com/office/drawing/2014/main" val="1684315241"/>
                      </a:ext>
                    </a:extLst>
                  </a:tr>
                  <a:tr h="518160">
                    <a:tc>
                      <a:txBody>
                        <a:bodyPr/>
                        <a:lstStyle/>
                        <a:p>
                          <a:r>
                            <a:rPr lang="es-MX" sz="1400" b="0" dirty="0">
                              <a:latin typeface="+mn-lt"/>
                              <a:ea typeface="Roboto" panose="02000000000000000000" pitchFamily="2" charset="0"/>
                            </a:rPr>
                            <a:t>No conmutatividad entre cuantificadores diferentes</a:t>
                          </a:r>
                        </a:p>
                      </a:txBody>
                      <a:tcPr anchor="ctr">
                        <a:solidFill>
                          <a:schemeClr val="bg1"/>
                        </a:solidFill>
                      </a:tcPr>
                    </a:tc>
                    <a:tc>
                      <a:txBody>
                        <a:bodyPr/>
                        <a:lstStyle/>
                        <a:p>
                          <a:endParaRPr lang="es-CO"/>
                        </a:p>
                      </a:txBody>
                      <a:tcPr>
                        <a:blipFill>
                          <a:blip r:embed="rId3"/>
                          <a:stretch>
                            <a:fillRect l="-98958" t="-925882" r="-347" b="-11765"/>
                          </a:stretch>
                        </a:blipFill>
                      </a:tcPr>
                    </a:tc>
                    <a:extLst>
                      <a:ext uri="{0D108BD9-81ED-4DB2-BD59-A6C34878D82A}">
                        <a16:rowId xmlns:a16="http://schemas.microsoft.com/office/drawing/2014/main" val="2582935017"/>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5" name="Tabla 4">
                <a:extLst>
                  <a:ext uri="{FF2B5EF4-FFF2-40B4-BE49-F238E27FC236}">
                    <a16:creationId xmlns:a16="http://schemas.microsoft.com/office/drawing/2014/main" id="{30904E27-22AA-4594-8553-5A9D41A4521B}"/>
                  </a:ext>
                </a:extLst>
              </p:cNvPr>
              <p:cNvGraphicFramePr>
                <a:graphicFrameLocks noGrp="1"/>
              </p:cNvGraphicFramePr>
              <p:nvPr>
                <p:extLst>
                  <p:ext uri="{D42A27DB-BD31-4B8C-83A1-F6EECF244321}">
                    <p14:modId xmlns:p14="http://schemas.microsoft.com/office/powerpoint/2010/main" val="1645425466"/>
                  </p:ext>
                </p:extLst>
              </p:nvPr>
            </p:nvGraphicFramePr>
            <p:xfrm>
              <a:off x="8026224" y="2793732"/>
              <a:ext cx="3512165" cy="2407920"/>
            </p:xfrm>
            <a:graphic>
              <a:graphicData uri="http://schemas.openxmlformats.org/drawingml/2006/table">
                <a:tbl>
                  <a:tblPr firstRow="1" bandRow="1">
                    <a:tableStyleId>{AD6A3598-7CB8-4345-8D95-17CE05F158A0}</a:tableStyleId>
                  </a:tblPr>
                  <a:tblGrid>
                    <a:gridCol w="650978">
                      <a:extLst>
                        <a:ext uri="{9D8B030D-6E8A-4147-A177-3AD203B41FA5}">
                          <a16:colId xmlns:a16="http://schemas.microsoft.com/office/drawing/2014/main" val="2874355610"/>
                        </a:ext>
                      </a:extLst>
                    </a:gridCol>
                    <a:gridCol w="1362072">
                      <a:extLst>
                        <a:ext uri="{9D8B030D-6E8A-4147-A177-3AD203B41FA5}">
                          <a16:colId xmlns:a16="http://schemas.microsoft.com/office/drawing/2014/main" val="2423713577"/>
                        </a:ext>
                      </a:extLst>
                    </a:gridCol>
                    <a:gridCol w="1499115">
                      <a:extLst>
                        <a:ext uri="{9D8B030D-6E8A-4147-A177-3AD203B41FA5}">
                          <a16:colId xmlns:a16="http://schemas.microsoft.com/office/drawing/2014/main" val="1166162323"/>
                        </a:ext>
                      </a:extLst>
                    </a:gridCol>
                  </a:tblGrid>
                  <a:tr h="233997">
                    <a:tc>
                      <a:txBody>
                        <a:bodyPr/>
                        <a:lstStyle/>
                        <a:p>
                          <a:r>
                            <a:rPr lang="es-CO" sz="1600" b="1" dirty="0">
                              <a:latin typeface="+mn-lt"/>
                              <a:ea typeface="Roboto" panose="02000000000000000000" pitchFamily="2" charset="0"/>
                            </a:rPr>
                            <a:t>Regla</a:t>
                          </a:r>
                        </a:p>
                      </a:txBody>
                      <a:tcPr>
                        <a:solidFill>
                          <a:schemeClr val="bg1">
                            <a:lumMod val="95000"/>
                          </a:schemeClr>
                        </a:solidFill>
                      </a:tcPr>
                    </a:tc>
                    <a:tc>
                      <a:txBody>
                        <a:bodyPr/>
                        <a:lstStyle/>
                        <a:p>
                          <a:r>
                            <a:rPr lang="es-CO" sz="1600" b="1" dirty="0">
                              <a:latin typeface="+mn-lt"/>
                              <a:ea typeface="Roboto" panose="02000000000000000000" pitchFamily="2" charset="0"/>
                            </a:rPr>
                            <a:t>Nombre</a:t>
                          </a:r>
                        </a:p>
                      </a:txBody>
                      <a:tcPr>
                        <a:solidFill>
                          <a:schemeClr val="bg1">
                            <a:lumMod val="95000"/>
                          </a:schemeClr>
                        </a:solidFill>
                      </a:tcPr>
                    </a:tc>
                    <a:tc>
                      <a:txBody>
                        <a:bodyPr/>
                        <a:lstStyle/>
                        <a:p>
                          <a:r>
                            <a:rPr lang="es-CO" sz="1600" b="1" dirty="0">
                              <a:latin typeface="+mn-lt"/>
                              <a:ea typeface="Roboto" panose="02000000000000000000" pitchFamily="2" charset="0"/>
                            </a:rPr>
                            <a:t>Forma</a:t>
                          </a:r>
                        </a:p>
                      </a:txBody>
                      <a:tcPr>
                        <a:solidFill>
                          <a:schemeClr val="bg1">
                            <a:lumMod val="95000"/>
                          </a:schemeClr>
                        </a:solidFill>
                      </a:tcPr>
                    </a:tc>
                    <a:extLst>
                      <a:ext uri="{0D108BD9-81ED-4DB2-BD59-A6C34878D82A}">
                        <a16:rowId xmlns:a16="http://schemas.microsoft.com/office/drawing/2014/main" val="3285160449"/>
                      </a:ext>
                    </a:extLst>
                  </a:tr>
                  <a:tr h="23399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m:t>
                                </m:r>
                                <m:r>
                                  <a:rPr lang="es-MX" sz="1400" b="0" i="1" smtClean="0">
                                    <a:latin typeface="Cambria Math" panose="02040503050406030204" pitchFamily="18" charset="0"/>
                                    <a:ea typeface="Roboto" panose="02000000000000000000" pitchFamily="2" charset="0"/>
                                  </a:rPr>
                                  <m:t>𝐼</m:t>
                                </m:r>
                              </m:oMath>
                            </m:oMathPara>
                          </a14:m>
                          <a:endParaRPr lang="es-CO" sz="1400" dirty="0">
                            <a:latin typeface="+mn-lt"/>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Instanciación universal</a:t>
                          </a:r>
                        </a:p>
                      </a:txBody>
                      <a:tcPr>
                        <a:solidFill>
                          <a:schemeClr val="bg1"/>
                        </a:solidFill>
                      </a:tcPr>
                    </a:tc>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m:t>
                                </m:r>
                                <m:r>
                                  <a:rPr lang="es-MX" sz="1400" b="0" i="1" smtClean="0">
                                    <a:latin typeface="Cambria Math" panose="02040503050406030204" pitchFamily="18" charset="0"/>
                                    <a:ea typeface="Roboto" panose="02000000000000000000" pitchFamily="2" charset="0"/>
                                  </a:rPr>
                                  <m:t>𝑥</m:t>
                                </m:r>
                                <m:r>
                                  <a:rPr lang="es-MX" sz="1400" b="0" i="1" smtClean="0">
                                    <a:latin typeface="Cambria Math" panose="02040503050406030204" pitchFamily="18" charset="0"/>
                                    <a:ea typeface="Roboto" panose="02000000000000000000" pitchFamily="2" charset="0"/>
                                  </a:rPr>
                                  <m:t> </m:t>
                                </m:r>
                                <m:r>
                                  <a:rPr lang="es-MX" sz="1400" b="0" i="1" smtClean="0">
                                    <a:latin typeface="Cambria Math" panose="02040503050406030204" pitchFamily="18" charset="0"/>
                                    <a:ea typeface="Roboto" panose="02000000000000000000" pitchFamily="2" charset="0"/>
                                  </a:rPr>
                                  <m:t>𝑃</m:t>
                                </m:r>
                                <m:d>
                                  <m:dPr>
                                    <m:ctrlPr>
                                      <a:rPr lang="es-MX" sz="1400" b="0" i="1" smtClean="0">
                                        <a:latin typeface="Cambria Math" panose="02040503050406030204" pitchFamily="18" charset="0"/>
                                        <a:ea typeface="Roboto" panose="02000000000000000000" pitchFamily="2" charset="0"/>
                                      </a:rPr>
                                    </m:ctrlPr>
                                  </m:dPr>
                                  <m:e>
                                    <m:r>
                                      <a:rPr lang="es-MX" sz="1400" b="0" i="1" smtClean="0">
                                        <a:latin typeface="Cambria Math" panose="02040503050406030204" pitchFamily="18" charset="0"/>
                                        <a:ea typeface="Roboto" panose="02000000000000000000" pitchFamily="2" charset="0"/>
                                      </a:rPr>
                                      <m:t>𝑥</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Roboto" panose="02000000000000000000" pitchFamily="2" charset="0"/>
                                  </a:rPr>
                                  <m:t>𝑃</m:t>
                                </m:r>
                                <m:d>
                                  <m:dPr>
                                    <m:ctrlPr>
                                      <a:rPr lang="es-MX" sz="1400" b="0" i="1" smtClean="0">
                                        <a:latin typeface="Cambria Math" panose="02040503050406030204" pitchFamily="18" charset="0"/>
                                        <a:ea typeface="Roboto" panose="02000000000000000000" pitchFamily="2" charset="0"/>
                                      </a:rPr>
                                    </m:ctrlPr>
                                  </m:dPr>
                                  <m:e>
                                    <m:r>
                                      <a:rPr lang="es-MX" sz="1400" b="0" i="1" smtClean="0">
                                        <a:latin typeface="Cambria Math" panose="02040503050406030204" pitchFamily="18" charset="0"/>
                                        <a:ea typeface="Roboto" panose="02000000000000000000" pitchFamily="2" charset="0"/>
                                      </a:rPr>
                                      <m:t>𝑐</m:t>
                                    </m:r>
                                  </m:e>
                                </m:d>
                              </m:oMath>
                            </m:oMathPara>
                          </a14:m>
                          <a:endParaRPr lang="es-CO" sz="1400" dirty="0">
                            <a:latin typeface="+mn-lt"/>
                            <a:ea typeface="Roboto" panose="02000000000000000000" pitchFamily="2" charset="0"/>
                          </a:endParaRPr>
                        </a:p>
                      </a:txBody>
                      <a:tcPr>
                        <a:solidFill>
                          <a:schemeClr val="bg1"/>
                        </a:solidFill>
                      </a:tcPr>
                    </a:tc>
                    <a:extLst>
                      <a:ext uri="{0D108BD9-81ED-4DB2-BD59-A6C34878D82A}">
                        <a16:rowId xmlns:a16="http://schemas.microsoft.com/office/drawing/2014/main" val="1973686763"/>
                      </a:ext>
                    </a:extLst>
                  </a:tr>
                  <a:tr h="233997">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m:t>
                                </m:r>
                                <m:r>
                                  <a:rPr lang="es-MX" sz="1400" b="0" i="1" smtClean="0">
                                    <a:latin typeface="Cambria Math" panose="02040503050406030204" pitchFamily="18" charset="0"/>
                                    <a:ea typeface="Roboto" panose="02000000000000000000" pitchFamily="2" charset="0"/>
                                  </a:rPr>
                                  <m:t>𝐺</m:t>
                                </m:r>
                              </m:oMath>
                            </m:oMathPara>
                          </a14:m>
                          <a:endParaRPr lang="es-CO" sz="1400" dirty="0">
                            <a:latin typeface="+mn-lt"/>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Generalización universal</a:t>
                          </a: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d>
                                  <m:dPr>
                                    <m:ctrlPr>
                                      <a:rPr lang="es-MX" sz="1400" b="0" i="1" smtClean="0">
                                        <a:latin typeface="Cambria Math" panose="02040503050406030204" pitchFamily="18" charset="0"/>
                                        <a:ea typeface="Roboto" panose="02000000000000000000" pitchFamily="2" charset="0"/>
                                      </a:rPr>
                                    </m:ctrlPr>
                                  </m:dPr>
                                  <m:e>
                                    <m:r>
                                      <a:rPr lang="es-MX" sz="1400" b="0" i="1" smtClean="0">
                                        <a:latin typeface="Cambria Math" panose="02040503050406030204" pitchFamily="18" charset="0"/>
                                        <a:ea typeface="Roboto" panose="02000000000000000000" pitchFamily="2" charset="0"/>
                                      </a:rPr>
                                      <m:t>𝑐</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Roboto" panose="02000000000000000000" pitchFamily="2" charset="0"/>
                                  </a:rPr>
                                  <m:t>∀</m:t>
                                </m:r>
                                <m:r>
                                  <a:rPr lang="es-MX" sz="1400" b="0" i="1" smtClean="0">
                                    <a:latin typeface="Cambria Math" panose="02040503050406030204" pitchFamily="18" charset="0"/>
                                    <a:ea typeface="Roboto" panose="02000000000000000000" pitchFamily="2" charset="0"/>
                                  </a:rPr>
                                  <m:t>𝑥</m:t>
                                </m:r>
                                <m:r>
                                  <a:rPr lang="es-MX" sz="1400" b="0" i="1" smtClean="0">
                                    <a:latin typeface="Cambria Math" panose="02040503050406030204" pitchFamily="18" charset="0"/>
                                    <a:ea typeface="Roboto" panose="02000000000000000000" pitchFamily="2" charset="0"/>
                                  </a:rPr>
                                  <m:t> </m:t>
                                </m:r>
                                <m:r>
                                  <a:rPr lang="es-MX" sz="1400" b="0" i="1" smtClean="0">
                                    <a:latin typeface="Cambria Math" panose="02040503050406030204" pitchFamily="18" charset="0"/>
                                    <a:ea typeface="Roboto" panose="02000000000000000000" pitchFamily="2" charset="0"/>
                                  </a:rPr>
                                  <m:t>𝑃</m:t>
                                </m:r>
                                <m:d>
                                  <m:dPr>
                                    <m:ctrlPr>
                                      <a:rPr lang="es-MX" sz="1400" b="0" i="1" smtClean="0">
                                        <a:latin typeface="Cambria Math" panose="02040503050406030204" pitchFamily="18" charset="0"/>
                                        <a:ea typeface="Roboto" panose="02000000000000000000" pitchFamily="2" charset="0"/>
                                      </a:rPr>
                                    </m:ctrlPr>
                                  </m:dPr>
                                  <m:e>
                                    <m:r>
                                      <a:rPr lang="es-MX" sz="1400" b="0" i="1" smtClean="0">
                                        <a:latin typeface="Cambria Math" panose="02040503050406030204" pitchFamily="18" charset="0"/>
                                        <a:ea typeface="Roboto" panose="02000000000000000000" pitchFamily="2" charset="0"/>
                                      </a:rPr>
                                      <m:t>𝑥</m:t>
                                    </m:r>
                                  </m:e>
                                </m:d>
                              </m:oMath>
                            </m:oMathPara>
                          </a14:m>
                          <a:endParaRPr lang="es-CO" sz="1400" dirty="0">
                            <a:latin typeface="+mn-lt"/>
                            <a:ea typeface="Roboto" panose="02000000000000000000" pitchFamily="2" charset="0"/>
                          </a:endParaRPr>
                        </a:p>
                      </a:txBody>
                      <a:tcPr>
                        <a:solidFill>
                          <a:schemeClr val="bg1"/>
                        </a:solidFill>
                      </a:tcPr>
                    </a:tc>
                    <a:extLst>
                      <a:ext uri="{0D108BD9-81ED-4DB2-BD59-A6C34878D82A}">
                        <a16:rowId xmlns:a16="http://schemas.microsoft.com/office/drawing/2014/main" val="3375821675"/>
                      </a:ext>
                    </a:extLst>
                  </a:tr>
                  <a:tr h="23399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m:t>
                                </m:r>
                                <m:r>
                                  <a:rPr lang="es-MX" sz="1400" b="0" i="1" smtClean="0">
                                    <a:latin typeface="Cambria Math" panose="02040503050406030204" pitchFamily="18" charset="0"/>
                                    <a:ea typeface="Roboto" panose="02000000000000000000" pitchFamily="2" charset="0"/>
                                  </a:rPr>
                                  <m:t>𝐼</m:t>
                                </m:r>
                              </m:oMath>
                            </m:oMathPara>
                          </a14:m>
                          <a:endParaRPr lang="es-CO" sz="1400" dirty="0">
                            <a:latin typeface="+mn-lt"/>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Instanciación existencial</a:t>
                          </a: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m:t>
                                </m:r>
                                <m:r>
                                  <a:rPr lang="es-MX" sz="1400" b="0" i="1" smtClean="0">
                                    <a:latin typeface="Cambria Math" panose="02040503050406030204" pitchFamily="18" charset="0"/>
                                    <a:ea typeface="Roboto" panose="02000000000000000000" pitchFamily="2" charset="0"/>
                                  </a:rPr>
                                  <m:t>𝑥</m:t>
                                </m:r>
                                <m:r>
                                  <a:rPr lang="es-MX" sz="1400" b="0" i="1" smtClean="0">
                                    <a:latin typeface="Cambria Math" panose="02040503050406030204" pitchFamily="18" charset="0"/>
                                    <a:ea typeface="Roboto" panose="02000000000000000000" pitchFamily="2" charset="0"/>
                                  </a:rPr>
                                  <m:t> </m:t>
                                </m:r>
                                <m:r>
                                  <a:rPr lang="es-MX" sz="1400" b="0" i="1" smtClean="0">
                                    <a:latin typeface="Cambria Math" panose="02040503050406030204" pitchFamily="18" charset="0"/>
                                    <a:ea typeface="Roboto" panose="02000000000000000000" pitchFamily="2" charset="0"/>
                                  </a:rPr>
                                  <m:t>𝑃</m:t>
                                </m:r>
                                <m:d>
                                  <m:dPr>
                                    <m:ctrlPr>
                                      <a:rPr lang="es-MX" sz="1400" b="0" i="1" smtClean="0">
                                        <a:latin typeface="Cambria Math" panose="02040503050406030204" pitchFamily="18" charset="0"/>
                                        <a:ea typeface="Roboto" panose="02000000000000000000" pitchFamily="2" charset="0"/>
                                      </a:rPr>
                                    </m:ctrlPr>
                                  </m:dPr>
                                  <m:e>
                                    <m:r>
                                      <a:rPr lang="es-MX" sz="1400" b="0" i="1" smtClean="0">
                                        <a:latin typeface="Cambria Math" panose="02040503050406030204" pitchFamily="18" charset="0"/>
                                        <a:ea typeface="Roboto" panose="02000000000000000000" pitchFamily="2" charset="0"/>
                                      </a:rPr>
                                      <m:t>𝑥</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Roboto" panose="02000000000000000000" pitchFamily="2" charset="0"/>
                                  </a:rPr>
                                  <m:t>𝑃</m:t>
                                </m:r>
                                <m:d>
                                  <m:dPr>
                                    <m:ctrlPr>
                                      <a:rPr lang="es-MX" sz="1400" b="0" i="1" smtClean="0">
                                        <a:latin typeface="Cambria Math" panose="02040503050406030204" pitchFamily="18" charset="0"/>
                                        <a:ea typeface="Roboto" panose="02000000000000000000" pitchFamily="2" charset="0"/>
                                      </a:rPr>
                                    </m:ctrlPr>
                                  </m:dPr>
                                  <m:e>
                                    <m:r>
                                      <a:rPr lang="es-MX" sz="1400" b="0" i="1" smtClean="0">
                                        <a:latin typeface="Cambria Math" panose="02040503050406030204" pitchFamily="18" charset="0"/>
                                        <a:ea typeface="Roboto" panose="02000000000000000000" pitchFamily="2" charset="0"/>
                                      </a:rPr>
                                      <m:t>𝑐</m:t>
                                    </m:r>
                                  </m:e>
                                </m:d>
                              </m:oMath>
                            </m:oMathPara>
                          </a14:m>
                          <a:endParaRPr lang="es-CO" sz="1400" dirty="0">
                            <a:latin typeface="+mn-lt"/>
                            <a:ea typeface="Roboto" panose="02000000000000000000" pitchFamily="2" charset="0"/>
                          </a:endParaRPr>
                        </a:p>
                      </a:txBody>
                      <a:tcPr>
                        <a:solidFill>
                          <a:schemeClr val="bg1"/>
                        </a:solidFill>
                      </a:tcPr>
                    </a:tc>
                    <a:extLst>
                      <a:ext uri="{0D108BD9-81ED-4DB2-BD59-A6C34878D82A}">
                        <a16:rowId xmlns:a16="http://schemas.microsoft.com/office/drawing/2014/main" val="1426096953"/>
                      </a:ext>
                    </a:extLst>
                  </a:tr>
                  <a:tr h="233997">
                    <a:tc>
                      <a:txBody>
                        <a:bodyPr/>
                        <a:lstStyle/>
                        <a:p>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m:t>
                                </m:r>
                                <m:r>
                                  <a:rPr lang="es-MX" sz="1400" b="0" i="1" smtClean="0">
                                    <a:latin typeface="Cambria Math" panose="02040503050406030204" pitchFamily="18" charset="0"/>
                                    <a:ea typeface="Roboto" panose="02000000000000000000" pitchFamily="2" charset="0"/>
                                  </a:rPr>
                                  <m:t>𝐺</m:t>
                                </m:r>
                              </m:oMath>
                            </m:oMathPara>
                          </a14:m>
                          <a:endParaRPr lang="es-CO" sz="1400" dirty="0">
                            <a:latin typeface="+mn-lt"/>
                            <a:ea typeface="Roboto" panose="02000000000000000000" pitchFamily="2" charset="0"/>
                          </a:endParaRP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Generalización existencial</a:t>
                          </a:r>
                        </a:p>
                      </a:txBody>
                      <a:tcP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400" b="0" i="1" smtClean="0">
                                    <a:latin typeface="Cambria Math" panose="02040503050406030204" pitchFamily="18" charset="0"/>
                                    <a:ea typeface="Roboto" panose="02000000000000000000" pitchFamily="2" charset="0"/>
                                  </a:rPr>
                                  <m:t>𝑃</m:t>
                                </m:r>
                                <m:d>
                                  <m:dPr>
                                    <m:ctrlPr>
                                      <a:rPr lang="es-MX" sz="1400" b="0" i="1" smtClean="0">
                                        <a:latin typeface="Cambria Math" panose="02040503050406030204" pitchFamily="18" charset="0"/>
                                        <a:ea typeface="Roboto" panose="02000000000000000000" pitchFamily="2" charset="0"/>
                                      </a:rPr>
                                    </m:ctrlPr>
                                  </m:dPr>
                                  <m:e>
                                    <m:r>
                                      <a:rPr lang="es-MX" sz="1400" b="0" i="1" smtClean="0">
                                        <a:latin typeface="Cambria Math" panose="02040503050406030204" pitchFamily="18" charset="0"/>
                                        <a:ea typeface="Roboto" panose="02000000000000000000" pitchFamily="2" charset="0"/>
                                      </a:rPr>
                                      <m:t>𝑐</m:t>
                                    </m:r>
                                  </m:e>
                                </m:d>
                                <m:r>
                                  <a:rPr lang="es-MX" sz="1400" b="0" i="1" smtClean="0">
                                    <a:latin typeface="Cambria Math" panose="02040503050406030204" pitchFamily="18" charset="0"/>
                                    <a:ea typeface="Cambria Math" panose="02040503050406030204" pitchFamily="18" charset="0"/>
                                  </a:rPr>
                                  <m:t>⇒</m:t>
                                </m:r>
                                <m:r>
                                  <a:rPr lang="es-MX" sz="1400" b="0" i="1" smtClean="0">
                                    <a:latin typeface="Cambria Math" panose="02040503050406030204" pitchFamily="18" charset="0"/>
                                    <a:ea typeface="Roboto" panose="02000000000000000000" pitchFamily="2" charset="0"/>
                                  </a:rPr>
                                  <m:t>∃</m:t>
                                </m:r>
                                <m:r>
                                  <a:rPr lang="es-MX" sz="1400" b="0" i="1" smtClean="0">
                                    <a:latin typeface="Cambria Math" panose="02040503050406030204" pitchFamily="18" charset="0"/>
                                    <a:ea typeface="Roboto" panose="02000000000000000000" pitchFamily="2" charset="0"/>
                                  </a:rPr>
                                  <m:t>𝑥</m:t>
                                </m:r>
                                <m:r>
                                  <a:rPr lang="es-MX" sz="1400" b="0" i="1" smtClean="0">
                                    <a:latin typeface="Cambria Math" panose="02040503050406030204" pitchFamily="18" charset="0"/>
                                    <a:ea typeface="Roboto" panose="02000000000000000000" pitchFamily="2" charset="0"/>
                                  </a:rPr>
                                  <m:t> </m:t>
                                </m:r>
                                <m:r>
                                  <a:rPr lang="es-MX" sz="1400" b="0" i="1" smtClean="0">
                                    <a:latin typeface="Cambria Math" panose="02040503050406030204" pitchFamily="18" charset="0"/>
                                    <a:ea typeface="Roboto" panose="02000000000000000000" pitchFamily="2" charset="0"/>
                                  </a:rPr>
                                  <m:t>𝑃</m:t>
                                </m:r>
                                <m:d>
                                  <m:dPr>
                                    <m:ctrlPr>
                                      <a:rPr lang="es-MX" sz="1400" b="0" i="1" smtClean="0">
                                        <a:latin typeface="Cambria Math" panose="02040503050406030204" pitchFamily="18" charset="0"/>
                                        <a:ea typeface="Roboto" panose="02000000000000000000" pitchFamily="2" charset="0"/>
                                      </a:rPr>
                                    </m:ctrlPr>
                                  </m:dPr>
                                  <m:e>
                                    <m:r>
                                      <a:rPr lang="es-MX" sz="1400" b="0" i="1" smtClean="0">
                                        <a:latin typeface="Cambria Math" panose="02040503050406030204" pitchFamily="18" charset="0"/>
                                        <a:ea typeface="Roboto" panose="02000000000000000000" pitchFamily="2" charset="0"/>
                                      </a:rPr>
                                      <m:t>𝑥</m:t>
                                    </m:r>
                                  </m:e>
                                </m:d>
                              </m:oMath>
                            </m:oMathPara>
                          </a14:m>
                          <a:endParaRPr lang="es-CO" sz="1400" dirty="0">
                            <a:latin typeface="+mn-lt"/>
                            <a:ea typeface="Roboto" panose="02000000000000000000" pitchFamily="2" charset="0"/>
                          </a:endParaRPr>
                        </a:p>
                      </a:txBody>
                      <a:tcPr>
                        <a:solidFill>
                          <a:schemeClr val="bg1"/>
                        </a:solidFill>
                      </a:tcPr>
                    </a:tc>
                    <a:extLst>
                      <a:ext uri="{0D108BD9-81ED-4DB2-BD59-A6C34878D82A}">
                        <a16:rowId xmlns:a16="http://schemas.microsoft.com/office/drawing/2014/main" val="2271411488"/>
                      </a:ext>
                    </a:extLst>
                  </a:tr>
                </a:tbl>
              </a:graphicData>
            </a:graphic>
          </p:graphicFrame>
        </mc:Choice>
        <mc:Fallback xmlns="">
          <p:graphicFrame>
            <p:nvGraphicFramePr>
              <p:cNvPr id="5" name="Tabla 4">
                <a:extLst>
                  <a:ext uri="{FF2B5EF4-FFF2-40B4-BE49-F238E27FC236}">
                    <a16:creationId xmlns:a16="http://schemas.microsoft.com/office/drawing/2014/main" id="{30904E27-22AA-4594-8553-5A9D41A4521B}"/>
                  </a:ext>
                </a:extLst>
              </p:cNvPr>
              <p:cNvGraphicFramePr>
                <a:graphicFrameLocks noGrp="1"/>
              </p:cNvGraphicFramePr>
              <p:nvPr>
                <p:extLst>
                  <p:ext uri="{D42A27DB-BD31-4B8C-83A1-F6EECF244321}">
                    <p14:modId xmlns:p14="http://schemas.microsoft.com/office/powerpoint/2010/main" val="1645425466"/>
                  </p:ext>
                </p:extLst>
              </p:nvPr>
            </p:nvGraphicFramePr>
            <p:xfrm>
              <a:off x="8026224" y="2793732"/>
              <a:ext cx="3512165" cy="2407920"/>
            </p:xfrm>
            <a:graphic>
              <a:graphicData uri="http://schemas.openxmlformats.org/drawingml/2006/table">
                <a:tbl>
                  <a:tblPr firstRow="1" bandRow="1">
                    <a:tableStyleId>{AD6A3598-7CB8-4345-8D95-17CE05F158A0}</a:tableStyleId>
                  </a:tblPr>
                  <a:tblGrid>
                    <a:gridCol w="650978">
                      <a:extLst>
                        <a:ext uri="{9D8B030D-6E8A-4147-A177-3AD203B41FA5}">
                          <a16:colId xmlns:a16="http://schemas.microsoft.com/office/drawing/2014/main" val="2874355610"/>
                        </a:ext>
                      </a:extLst>
                    </a:gridCol>
                    <a:gridCol w="1362072">
                      <a:extLst>
                        <a:ext uri="{9D8B030D-6E8A-4147-A177-3AD203B41FA5}">
                          <a16:colId xmlns:a16="http://schemas.microsoft.com/office/drawing/2014/main" val="2423713577"/>
                        </a:ext>
                      </a:extLst>
                    </a:gridCol>
                    <a:gridCol w="1499115">
                      <a:extLst>
                        <a:ext uri="{9D8B030D-6E8A-4147-A177-3AD203B41FA5}">
                          <a16:colId xmlns:a16="http://schemas.microsoft.com/office/drawing/2014/main" val="1166162323"/>
                        </a:ext>
                      </a:extLst>
                    </a:gridCol>
                  </a:tblGrid>
                  <a:tr h="335280">
                    <a:tc>
                      <a:txBody>
                        <a:bodyPr/>
                        <a:lstStyle/>
                        <a:p>
                          <a:r>
                            <a:rPr lang="es-CO" sz="1600" b="1" dirty="0">
                              <a:latin typeface="+mn-lt"/>
                              <a:ea typeface="Roboto" panose="02000000000000000000" pitchFamily="2" charset="0"/>
                            </a:rPr>
                            <a:t>Regla</a:t>
                          </a:r>
                        </a:p>
                      </a:txBody>
                      <a:tcPr>
                        <a:solidFill>
                          <a:schemeClr val="bg1">
                            <a:lumMod val="95000"/>
                          </a:schemeClr>
                        </a:solidFill>
                      </a:tcPr>
                    </a:tc>
                    <a:tc>
                      <a:txBody>
                        <a:bodyPr/>
                        <a:lstStyle/>
                        <a:p>
                          <a:r>
                            <a:rPr lang="es-CO" sz="1600" b="1" dirty="0">
                              <a:latin typeface="+mn-lt"/>
                              <a:ea typeface="Roboto" panose="02000000000000000000" pitchFamily="2" charset="0"/>
                            </a:rPr>
                            <a:t>Nombre</a:t>
                          </a:r>
                        </a:p>
                      </a:txBody>
                      <a:tcPr>
                        <a:solidFill>
                          <a:schemeClr val="bg1">
                            <a:lumMod val="95000"/>
                          </a:schemeClr>
                        </a:solidFill>
                      </a:tcPr>
                    </a:tc>
                    <a:tc>
                      <a:txBody>
                        <a:bodyPr/>
                        <a:lstStyle/>
                        <a:p>
                          <a:r>
                            <a:rPr lang="es-CO" sz="1600" b="1" dirty="0">
                              <a:latin typeface="+mn-lt"/>
                              <a:ea typeface="Roboto" panose="02000000000000000000" pitchFamily="2" charset="0"/>
                            </a:rPr>
                            <a:t>Forma</a:t>
                          </a:r>
                        </a:p>
                      </a:txBody>
                      <a:tcPr>
                        <a:solidFill>
                          <a:schemeClr val="bg1">
                            <a:lumMod val="95000"/>
                          </a:schemeClr>
                        </a:solidFill>
                      </a:tcPr>
                    </a:tc>
                    <a:extLst>
                      <a:ext uri="{0D108BD9-81ED-4DB2-BD59-A6C34878D82A}">
                        <a16:rowId xmlns:a16="http://schemas.microsoft.com/office/drawing/2014/main" val="3285160449"/>
                      </a:ext>
                    </a:extLst>
                  </a:tr>
                  <a:tr h="518160">
                    <a:tc>
                      <a:txBody>
                        <a:bodyPr/>
                        <a:lstStyle/>
                        <a:p>
                          <a:endParaRPr lang="es-CO"/>
                        </a:p>
                      </a:txBody>
                      <a:tcPr>
                        <a:blipFill>
                          <a:blip r:embed="rId4"/>
                          <a:stretch>
                            <a:fillRect l="-935" t="-68235" r="-441121" b="-312941"/>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Instanciación universal</a:t>
                          </a:r>
                        </a:p>
                      </a:txBody>
                      <a:tcPr>
                        <a:solidFill>
                          <a:schemeClr val="bg1"/>
                        </a:solidFill>
                      </a:tcPr>
                    </a:tc>
                    <a:tc>
                      <a:txBody>
                        <a:bodyPr/>
                        <a:lstStyle/>
                        <a:p>
                          <a:endParaRPr lang="es-CO"/>
                        </a:p>
                      </a:txBody>
                      <a:tcPr>
                        <a:blipFill>
                          <a:blip r:embed="rId4"/>
                          <a:stretch>
                            <a:fillRect l="-134959" t="-68235" r="-813" b="-312941"/>
                          </a:stretch>
                        </a:blipFill>
                      </a:tcPr>
                    </a:tc>
                    <a:extLst>
                      <a:ext uri="{0D108BD9-81ED-4DB2-BD59-A6C34878D82A}">
                        <a16:rowId xmlns:a16="http://schemas.microsoft.com/office/drawing/2014/main" val="1973686763"/>
                      </a:ext>
                    </a:extLst>
                  </a:tr>
                  <a:tr h="518160">
                    <a:tc>
                      <a:txBody>
                        <a:bodyPr/>
                        <a:lstStyle/>
                        <a:p>
                          <a:endParaRPr lang="es-CO"/>
                        </a:p>
                      </a:txBody>
                      <a:tcPr>
                        <a:blipFill>
                          <a:blip r:embed="rId4"/>
                          <a:stretch>
                            <a:fillRect l="-935" t="-166279" r="-441121" b="-209302"/>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Generalización universal</a:t>
                          </a:r>
                        </a:p>
                      </a:txBody>
                      <a:tcPr>
                        <a:solidFill>
                          <a:schemeClr val="bg1"/>
                        </a:solidFill>
                      </a:tcPr>
                    </a:tc>
                    <a:tc>
                      <a:txBody>
                        <a:bodyPr/>
                        <a:lstStyle/>
                        <a:p>
                          <a:endParaRPr lang="es-CO"/>
                        </a:p>
                      </a:txBody>
                      <a:tcPr>
                        <a:blipFill>
                          <a:blip r:embed="rId4"/>
                          <a:stretch>
                            <a:fillRect l="-134959" t="-166279" r="-813" b="-209302"/>
                          </a:stretch>
                        </a:blipFill>
                      </a:tcPr>
                    </a:tc>
                    <a:extLst>
                      <a:ext uri="{0D108BD9-81ED-4DB2-BD59-A6C34878D82A}">
                        <a16:rowId xmlns:a16="http://schemas.microsoft.com/office/drawing/2014/main" val="3375821675"/>
                      </a:ext>
                    </a:extLst>
                  </a:tr>
                  <a:tr h="518160">
                    <a:tc>
                      <a:txBody>
                        <a:bodyPr/>
                        <a:lstStyle/>
                        <a:p>
                          <a:endParaRPr lang="es-CO"/>
                        </a:p>
                      </a:txBody>
                      <a:tcPr>
                        <a:blipFill>
                          <a:blip r:embed="rId4"/>
                          <a:stretch>
                            <a:fillRect l="-935" t="-269412" r="-441121" b="-111765"/>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Instanciación existencial</a:t>
                          </a:r>
                        </a:p>
                      </a:txBody>
                      <a:tcPr>
                        <a:solidFill>
                          <a:schemeClr val="bg1"/>
                        </a:solidFill>
                      </a:tcPr>
                    </a:tc>
                    <a:tc>
                      <a:txBody>
                        <a:bodyPr/>
                        <a:lstStyle/>
                        <a:p>
                          <a:endParaRPr lang="es-CO"/>
                        </a:p>
                      </a:txBody>
                      <a:tcPr>
                        <a:blipFill>
                          <a:blip r:embed="rId4"/>
                          <a:stretch>
                            <a:fillRect l="-134959" t="-269412" r="-813" b="-111765"/>
                          </a:stretch>
                        </a:blipFill>
                      </a:tcPr>
                    </a:tc>
                    <a:extLst>
                      <a:ext uri="{0D108BD9-81ED-4DB2-BD59-A6C34878D82A}">
                        <a16:rowId xmlns:a16="http://schemas.microsoft.com/office/drawing/2014/main" val="1426096953"/>
                      </a:ext>
                    </a:extLst>
                  </a:tr>
                  <a:tr h="518160">
                    <a:tc>
                      <a:txBody>
                        <a:bodyPr/>
                        <a:lstStyle/>
                        <a:p>
                          <a:endParaRPr lang="es-CO"/>
                        </a:p>
                      </a:txBody>
                      <a:tcPr>
                        <a:blipFill>
                          <a:blip r:embed="rId4"/>
                          <a:stretch>
                            <a:fillRect l="-935" t="-369412" r="-441121" b="-11765"/>
                          </a:stretch>
                        </a:blip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Generalización existencial</a:t>
                          </a:r>
                        </a:p>
                      </a:txBody>
                      <a:tcPr>
                        <a:solidFill>
                          <a:schemeClr val="bg1"/>
                        </a:solidFill>
                      </a:tcPr>
                    </a:tc>
                    <a:tc>
                      <a:txBody>
                        <a:bodyPr/>
                        <a:lstStyle/>
                        <a:p>
                          <a:endParaRPr lang="es-CO"/>
                        </a:p>
                      </a:txBody>
                      <a:tcPr>
                        <a:blipFill>
                          <a:blip r:embed="rId4"/>
                          <a:stretch>
                            <a:fillRect l="-134959" t="-369412" r="-813" b="-11765"/>
                          </a:stretch>
                        </a:blipFill>
                      </a:tcPr>
                    </a:tc>
                    <a:extLst>
                      <a:ext uri="{0D108BD9-81ED-4DB2-BD59-A6C34878D82A}">
                        <a16:rowId xmlns:a16="http://schemas.microsoft.com/office/drawing/2014/main" val="2271411488"/>
                      </a:ext>
                    </a:extLst>
                  </a:tr>
                </a:tbl>
              </a:graphicData>
            </a:graphic>
          </p:graphicFrame>
        </mc:Fallback>
      </mc:AlternateContent>
    </p:spTree>
    <p:extLst>
      <p:ext uri="{BB962C8B-B14F-4D97-AF65-F5344CB8AC3E}">
        <p14:creationId xmlns:p14="http://schemas.microsoft.com/office/powerpoint/2010/main" val="224789208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508000" y="96038"/>
            <a:ext cx="87126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24" name="CuadroTexto 23">
            <a:extLst>
              <a:ext uri="{FF2B5EF4-FFF2-40B4-BE49-F238E27FC236}">
                <a16:creationId xmlns:a16="http://schemas.microsoft.com/office/drawing/2014/main" id="{56528687-85B1-4CEE-A444-E2F774570C64}"/>
              </a:ext>
            </a:extLst>
          </p:cNvPr>
          <p:cNvSpPr txBox="1"/>
          <p:nvPr/>
        </p:nvSpPr>
        <p:spPr>
          <a:xfrm>
            <a:off x="508000" y="890259"/>
            <a:ext cx="11044291"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Ejemplo 1</a:t>
            </a:r>
          </a:p>
        </p:txBody>
      </p:sp>
      <p:sp>
        <p:nvSpPr>
          <p:cNvPr id="5" name="CuadroTexto 4">
            <a:extLst>
              <a:ext uri="{FF2B5EF4-FFF2-40B4-BE49-F238E27FC236}">
                <a16:creationId xmlns:a16="http://schemas.microsoft.com/office/drawing/2014/main" id="{D055498E-B21E-4DD3-9366-5DAC438D31FC}"/>
              </a:ext>
            </a:extLst>
          </p:cNvPr>
          <p:cNvSpPr txBox="1"/>
          <p:nvPr/>
        </p:nvSpPr>
        <p:spPr>
          <a:xfrm>
            <a:off x="508000" y="1382702"/>
            <a:ext cx="11356469" cy="707886"/>
          </a:xfrm>
          <a:prstGeom prst="rect">
            <a:avLst/>
          </a:prstGeom>
          <a:noFill/>
        </p:spPr>
        <p:txBody>
          <a:bodyPr wrap="square" rtlCol="0">
            <a:spAutoFit/>
          </a:bodyPr>
          <a:lstStyle/>
          <a:p>
            <a:r>
              <a:rPr lang="es-MX" sz="2000" b="1" dirty="0">
                <a:ea typeface="Roboto" panose="02000000000000000000" pitchFamily="2" charset="0"/>
              </a:rPr>
              <a:t>Ejemplo</a:t>
            </a:r>
            <a:r>
              <a:rPr lang="es-MX" sz="2000" dirty="0">
                <a:ea typeface="Roboto" panose="02000000000000000000" pitchFamily="2" charset="0"/>
              </a:rPr>
              <a:t>: Demuestre que las premisas “</a:t>
            </a:r>
            <a:r>
              <a:rPr lang="es-MX" sz="2000" dirty="0"/>
              <a:t>Todos los hombres son mortales</a:t>
            </a:r>
            <a:r>
              <a:rPr lang="es-MX" sz="2000" dirty="0">
                <a:ea typeface="Roboto" panose="02000000000000000000" pitchFamily="2" charset="0"/>
              </a:rPr>
              <a:t>” y “</a:t>
            </a:r>
            <a:r>
              <a:rPr lang="es-MX" sz="2000" dirty="0"/>
              <a:t>Sócrates es un hombre</a:t>
            </a:r>
            <a:r>
              <a:rPr lang="es-MX" sz="2000" dirty="0">
                <a:ea typeface="Roboto" panose="02000000000000000000" pitchFamily="2" charset="0"/>
              </a:rPr>
              <a:t>” implican la conclusión “</a:t>
            </a:r>
            <a:r>
              <a:rPr lang="es-MX" sz="2000" dirty="0"/>
              <a:t>Sócrates es Mortal</a:t>
            </a:r>
            <a:r>
              <a:rPr lang="es-MX" sz="2000" dirty="0">
                <a:ea typeface="Roboto" panose="02000000000000000000" pitchFamily="2" charset="0"/>
              </a:rPr>
              <a:t>”.</a:t>
            </a:r>
          </a:p>
        </p:txBody>
      </p:sp>
      <p:pic>
        <p:nvPicPr>
          <p:cNvPr id="6" name="Imagen 5">
            <a:extLst>
              <a:ext uri="{FF2B5EF4-FFF2-40B4-BE49-F238E27FC236}">
                <a16:creationId xmlns:a16="http://schemas.microsoft.com/office/drawing/2014/main" id="{11CED77E-5F73-40E1-B570-C348EE1EB30F}"/>
              </a:ext>
            </a:extLst>
          </p:cNvPr>
          <p:cNvPicPr>
            <a:picLocks noChangeAspect="1"/>
          </p:cNvPicPr>
          <p:nvPr/>
        </p:nvPicPr>
        <p:blipFill>
          <a:blip r:embed="rId3"/>
          <a:stretch>
            <a:fillRect/>
          </a:stretch>
        </p:blipFill>
        <p:spPr>
          <a:xfrm>
            <a:off x="4805938" y="2530612"/>
            <a:ext cx="2580124" cy="2701788"/>
          </a:xfrm>
          <a:prstGeom prst="rect">
            <a:avLst/>
          </a:prstGeom>
        </p:spPr>
      </p:pic>
    </p:spTree>
    <p:extLst>
      <p:ext uri="{BB962C8B-B14F-4D97-AF65-F5344CB8AC3E}">
        <p14:creationId xmlns:p14="http://schemas.microsoft.com/office/powerpoint/2010/main" val="2131126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537029" y="96038"/>
            <a:ext cx="8683621"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24" name="CuadroTexto 23">
            <a:extLst>
              <a:ext uri="{FF2B5EF4-FFF2-40B4-BE49-F238E27FC236}">
                <a16:creationId xmlns:a16="http://schemas.microsoft.com/office/drawing/2014/main" id="{56528687-85B1-4CEE-A444-E2F774570C64}"/>
              </a:ext>
            </a:extLst>
          </p:cNvPr>
          <p:cNvSpPr txBox="1"/>
          <p:nvPr/>
        </p:nvSpPr>
        <p:spPr>
          <a:xfrm>
            <a:off x="537029" y="922427"/>
            <a:ext cx="11322312"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Ejemplo 1</a:t>
            </a:r>
          </a:p>
        </p:txBody>
      </p:sp>
      <mc:AlternateContent xmlns:mc="http://schemas.openxmlformats.org/markup-compatibility/2006" xmlns:a14="http://schemas.microsoft.com/office/drawing/2010/main">
        <mc:Choice Requires="a14">
          <p:graphicFrame>
            <p:nvGraphicFramePr>
              <p:cNvPr id="6" name="Tabla 3">
                <a:extLst>
                  <a:ext uri="{FF2B5EF4-FFF2-40B4-BE49-F238E27FC236}">
                    <a16:creationId xmlns:a16="http://schemas.microsoft.com/office/drawing/2014/main" id="{B268220F-8A60-4908-981E-8C2BA0B3EB23}"/>
                  </a:ext>
                </a:extLst>
              </p:cNvPr>
              <p:cNvGraphicFramePr>
                <a:graphicFrameLocks noGrp="1"/>
              </p:cNvGraphicFramePr>
              <p:nvPr>
                <p:extLst>
                  <p:ext uri="{D42A27DB-BD31-4B8C-83A1-F6EECF244321}">
                    <p14:modId xmlns:p14="http://schemas.microsoft.com/office/powerpoint/2010/main" val="1364134628"/>
                  </p:ext>
                </p:extLst>
              </p:nvPr>
            </p:nvGraphicFramePr>
            <p:xfrm>
              <a:off x="332659" y="4512650"/>
              <a:ext cx="4371679" cy="1859280"/>
            </p:xfrm>
            <a:graphic>
              <a:graphicData uri="http://schemas.openxmlformats.org/drawingml/2006/table">
                <a:tbl>
                  <a:tblPr firstRow="1" bandRow="1">
                    <a:tableStyleId>{AD6A3598-7CB8-4345-8D95-17CE05F158A0}</a:tableStyleId>
                  </a:tblPr>
                  <a:tblGrid>
                    <a:gridCol w="245257">
                      <a:extLst>
                        <a:ext uri="{9D8B030D-6E8A-4147-A177-3AD203B41FA5}">
                          <a16:colId xmlns:a16="http://schemas.microsoft.com/office/drawing/2014/main" val="2057099001"/>
                        </a:ext>
                      </a:extLst>
                    </a:gridCol>
                    <a:gridCol w="1827723">
                      <a:extLst>
                        <a:ext uri="{9D8B030D-6E8A-4147-A177-3AD203B41FA5}">
                          <a16:colId xmlns:a16="http://schemas.microsoft.com/office/drawing/2014/main" val="2721384015"/>
                        </a:ext>
                      </a:extLst>
                    </a:gridCol>
                    <a:gridCol w="2298699">
                      <a:extLst>
                        <a:ext uri="{9D8B030D-6E8A-4147-A177-3AD203B41FA5}">
                          <a16:colId xmlns:a16="http://schemas.microsoft.com/office/drawing/2014/main" val="3804441368"/>
                        </a:ext>
                      </a:extLst>
                    </a:gridCol>
                  </a:tblGrid>
                  <a:tr h="276552">
                    <a:tc>
                      <a:txBody>
                        <a:bodyPr/>
                        <a:lstStyle/>
                        <a:p>
                          <a:pPr algn="ctr"/>
                          <a:r>
                            <a:rPr lang="es-CO" sz="1400" b="1" dirty="0">
                              <a:latin typeface="+mn-lt"/>
                              <a:ea typeface="Roboto" panose="02000000000000000000" pitchFamily="2" charset="0"/>
                            </a:rPr>
                            <a:t>#</a:t>
                          </a:r>
                        </a:p>
                      </a:txBody>
                      <a:tcPr/>
                    </a:tc>
                    <a:tc>
                      <a:txBody>
                        <a:bodyPr/>
                        <a:lstStyle/>
                        <a:p>
                          <a:r>
                            <a:rPr lang="es-CO" sz="1400" b="1" dirty="0">
                              <a:latin typeface="+mn-lt"/>
                              <a:ea typeface="Roboto" panose="02000000000000000000" pitchFamily="2" charset="0"/>
                            </a:rPr>
                            <a:t>Enunciado</a:t>
                          </a:r>
                        </a:p>
                      </a:txBody>
                      <a:tcPr/>
                    </a:tc>
                    <a:tc>
                      <a:txBody>
                        <a:bodyPr/>
                        <a:lstStyle/>
                        <a:p>
                          <a:r>
                            <a:rPr lang="es-CO" sz="1400" b="1" dirty="0">
                              <a:latin typeface="+mn-lt"/>
                              <a:ea typeface="Roboto" panose="02000000000000000000" pitchFamily="2" charset="0"/>
                            </a:rPr>
                            <a:t>Representación</a:t>
                          </a:r>
                        </a:p>
                      </a:txBody>
                      <a:tcPr/>
                    </a:tc>
                    <a:extLst>
                      <a:ext uri="{0D108BD9-81ED-4DB2-BD59-A6C34878D82A}">
                        <a16:rowId xmlns:a16="http://schemas.microsoft.com/office/drawing/2014/main" val="3910282906"/>
                      </a:ext>
                    </a:extLst>
                  </a:tr>
                  <a:tr h="276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400" dirty="0">
                              <a:latin typeface="+mn-lt"/>
                              <a:ea typeface="Roboto" panose="02000000000000000000" pitchFamily="2" charset="0"/>
                            </a:rPr>
                            <a:t>1</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1" dirty="0">
                              <a:latin typeface="+mn-lt"/>
                              <a:ea typeface="Roboto" panose="02000000000000000000" pitchFamily="2" charset="0"/>
                            </a:rPr>
                            <a:t>Premisa1</a:t>
                          </a:r>
                          <a:r>
                            <a:rPr lang="es-MX" sz="1400" dirty="0">
                              <a:latin typeface="+mn-lt"/>
                              <a:ea typeface="Roboto" panose="02000000000000000000" pitchFamily="2" charset="0"/>
                            </a:rPr>
                            <a:t>: </a:t>
                          </a:r>
                          <a:r>
                            <a:rPr lang="es-MX" sz="1400" dirty="0">
                              <a:latin typeface="+mn-lt"/>
                            </a:rPr>
                            <a:t>Todos los hombres son mortales</a:t>
                          </a:r>
                          <a:endParaRPr lang="es-CO" sz="1400" dirty="0">
                            <a:latin typeface="+mn-lt"/>
                            <a:ea typeface="Roboto" panose="02000000000000000000" pitchFamily="2" charset="0"/>
                          </a:endParaRPr>
                        </a:p>
                      </a:txBody>
                      <a:tcPr anchor="ctr"/>
                    </a:tc>
                    <a:tc>
                      <a:txBody>
                        <a:bodyPr/>
                        <a:lstStyle/>
                        <a:p>
                          <a:pPr algn="l"/>
                          <a14:m>
                            <m:oMathPara xmlns:m="http://schemas.openxmlformats.org/officeDocument/2006/math">
                              <m:oMathParaPr>
                                <m:jc m:val="left"/>
                              </m:oMathParaPr>
                              <m:oMath xmlns:m="http://schemas.openxmlformats.org/officeDocument/2006/math">
                                <m:r>
                                  <a:rPr lang="es-MX" sz="1200" b="0" i="1" smtClean="0">
                                    <a:latin typeface="Cambria Math" panose="02040503050406030204" pitchFamily="18" charset="0"/>
                                    <a:ea typeface="Cambria Math" panose="02040503050406030204" pitchFamily="18" charset="0"/>
                                  </a:rPr>
                                  <m:t>∀</m:t>
                                </m:r>
                                <m:r>
                                  <a:rPr lang="es-MX" sz="1200" b="0" i="1" smtClean="0">
                                    <a:latin typeface="Cambria Math" panose="02040503050406030204" pitchFamily="18" charset="0"/>
                                    <a:ea typeface="Cambria Math" panose="02040503050406030204" pitchFamily="18" charset="0"/>
                                  </a:rPr>
                                  <m:t>𝑥</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h𝑜𝑚𝑏𝑟𝑒</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𝑥</m:t>
                                        </m:r>
                                      </m:e>
                                    </m:d>
                                    <m:r>
                                      <a:rPr lang="es-MX" sz="1200" b="0" i="1" smtClean="0">
                                        <a:latin typeface="Cambria Math" panose="02040503050406030204" pitchFamily="18" charset="0"/>
                                        <a:ea typeface="Cambria Math" panose="02040503050406030204" pitchFamily="18" charset="0"/>
                                      </a:rPr>
                                      <m:t>→</m:t>
                                    </m:r>
                                    <m:r>
                                      <a:rPr lang="es-MX" sz="1200" b="0" i="1" smtClean="0">
                                        <a:latin typeface="Cambria Math" panose="02040503050406030204" pitchFamily="18" charset="0"/>
                                        <a:ea typeface="Cambria Math" panose="02040503050406030204" pitchFamily="18" charset="0"/>
                                      </a:rPr>
                                      <m:t>𝑚𝑜𝑟𝑡𝑎𝑙</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𝑥</m:t>
                                        </m:r>
                                      </m:e>
                                    </m:d>
                                  </m:e>
                                </m:d>
                              </m:oMath>
                            </m:oMathPara>
                          </a14:m>
                          <a:endParaRPr lang="es-MX" sz="1200" dirty="0">
                            <a:latin typeface="+mn-lt"/>
                            <a:ea typeface="Roboto" panose="02000000000000000000" pitchFamily="2" charset="0"/>
                          </a:endParaRPr>
                        </a:p>
                      </a:txBody>
                      <a:tcPr anchor="ctr"/>
                    </a:tc>
                    <a:extLst>
                      <a:ext uri="{0D108BD9-81ED-4DB2-BD59-A6C34878D82A}">
                        <a16:rowId xmlns:a16="http://schemas.microsoft.com/office/drawing/2014/main" val="3412829917"/>
                      </a:ext>
                    </a:extLst>
                  </a:tr>
                  <a:tr h="276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2</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400" b="1" dirty="0">
                              <a:latin typeface="+mn-lt"/>
                            </a:rPr>
                            <a:t>Premisa 2</a:t>
                          </a:r>
                          <a:r>
                            <a:rPr lang="es-CO" sz="1400" dirty="0">
                              <a:latin typeface="+mn-lt"/>
                            </a:rPr>
                            <a:t>: </a:t>
                          </a:r>
                          <a:r>
                            <a:rPr lang="es-MX" sz="1400" dirty="0">
                              <a:latin typeface="+mn-lt"/>
                            </a:rPr>
                            <a:t>Sócrates es un hombre</a:t>
                          </a:r>
                          <a:endParaRPr lang="es-MX" sz="1400" dirty="0">
                            <a:latin typeface="+mn-lt"/>
                            <a:ea typeface="Roboto" panose="02000000000000000000"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200" b="0" i="1" smtClean="0">
                                    <a:latin typeface="Cambria Math" panose="02040503050406030204" pitchFamily="18" charset="0"/>
                                    <a:ea typeface="Roboto" panose="02000000000000000000" pitchFamily="2" charset="0"/>
                                  </a:rPr>
                                  <m:t>h𝑜𝑚𝑏𝑟𝑒</m:t>
                                </m:r>
                                <m:d>
                                  <m:dPr>
                                    <m:ctrlPr>
                                      <a:rPr lang="es-MX" sz="1200" b="0" i="1" smtClean="0">
                                        <a:latin typeface="Cambria Math" panose="02040503050406030204" pitchFamily="18" charset="0"/>
                                        <a:ea typeface="Roboto" panose="02000000000000000000" pitchFamily="2" charset="0"/>
                                      </a:rPr>
                                    </m:ctrlPr>
                                  </m:dPr>
                                  <m:e>
                                    <m:r>
                                      <m:rPr>
                                        <m:sty m:val="p"/>
                                      </m:rPr>
                                      <a:rPr lang="es-MX" sz="1200" b="0" i="0" smtClean="0">
                                        <a:latin typeface="Cambria Math" panose="02040503050406030204" pitchFamily="18" charset="0"/>
                                        <a:ea typeface="Roboto" panose="02000000000000000000" pitchFamily="2" charset="0"/>
                                      </a:rPr>
                                      <m:t>Socrates</m:t>
                                    </m:r>
                                  </m:e>
                                </m:d>
                              </m:oMath>
                            </m:oMathPara>
                          </a14:m>
                          <a:endParaRPr lang="es-MX" sz="1200" dirty="0">
                            <a:latin typeface="+mn-lt"/>
                            <a:ea typeface="Roboto" panose="02000000000000000000" pitchFamily="2" charset="0"/>
                          </a:endParaRPr>
                        </a:p>
                      </a:txBody>
                      <a:tcPr anchor="ctr"/>
                    </a:tc>
                    <a:extLst>
                      <a:ext uri="{0D108BD9-81ED-4DB2-BD59-A6C34878D82A}">
                        <a16:rowId xmlns:a16="http://schemas.microsoft.com/office/drawing/2014/main" val="1575296453"/>
                      </a:ext>
                    </a:extLst>
                  </a:tr>
                  <a:tr h="276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3</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1" dirty="0">
                              <a:latin typeface="+mn-lt"/>
                              <a:ea typeface="Roboto" panose="02000000000000000000" pitchFamily="2" charset="0"/>
                            </a:rPr>
                            <a:t>Conclusión</a:t>
                          </a:r>
                          <a:r>
                            <a:rPr lang="es-MX" sz="1400" dirty="0">
                              <a:latin typeface="+mn-lt"/>
                              <a:ea typeface="Roboto" panose="02000000000000000000" pitchFamily="2" charset="0"/>
                            </a:rPr>
                            <a:t>: </a:t>
                          </a:r>
                          <a:r>
                            <a:rPr lang="es-MX" sz="1400" dirty="0">
                              <a:latin typeface="+mn-lt"/>
                            </a:rPr>
                            <a:t>Sócrates es Mortal</a:t>
                          </a:r>
                          <a:endParaRPr lang="es-MX" sz="1400" dirty="0">
                            <a:latin typeface="+mn-lt"/>
                            <a:ea typeface="Roboto" panose="02000000000000000000"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200" b="0" i="1" smtClean="0">
                                    <a:latin typeface="Cambria Math" panose="02040503050406030204" pitchFamily="18" charset="0"/>
                                    <a:ea typeface="Roboto" panose="02000000000000000000" pitchFamily="2" charset="0"/>
                                  </a:rPr>
                                  <m:t>𝑚𝑜𝑟𝑡𝑎𝑙</m:t>
                                </m:r>
                                <m:d>
                                  <m:dPr>
                                    <m:ctrlPr>
                                      <a:rPr lang="es-MX" sz="1200" b="0" i="1" smtClean="0">
                                        <a:latin typeface="Cambria Math" panose="02040503050406030204" pitchFamily="18" charset="0"/>
                                        <a:ea typeface="Roboto" panose="02000000000000000000" pitchFamily="2" charset="0"/>
                                      </a:rPr>
                                    </m:ctrlPr>
                                  </m:dPr>
                                  <m:e>
                                    <m:r>
                                      <m:rPr>
                                        <m:sty m:val="p"/>
                                      </m:rPr>
                                      <a:rPr lang="es-MX" sz="1200" b="0" i="0" smtClean="0">
                                        <a:latin typeface="Cambria Math" panose="02040503050406030204" pitchFamily="18" charset="0"/>
                                        <a:ea typeface="Roboto" panose="02000000000000000000" pitchFamily="2" charset="0"/>
                                      </a:rPr>
                                      <m:t>Socrates</m:t>
                                    </m:r>
                                  </m:e>
                                </m:d>
                              </m:oMath>
                            </m:oMathPara>
                          </a14:m>
                          <a:endParaRPr lang="es-MX" sz="1200" dirty="0">
                            <a:latin typeface="+mn-lt"/>
                            <a:ea typeface="Roboto" panose="02000000000000000000" pitchFamily="2" charset="0"/>
                          </a:endParaRPr>
                        </a:p>
                      </a:txBody>
                      <a:tcPr anchor="ctr"/>
                    </a:tc>
                    <a:extLst>
                      <a:ext uri="{0D108BD9-81ED-4DB2-BD59-A6C34878D82A}">
                        <a16:rowId xmlns:a16="http://schemas.microsoft.com/office/drawing/2014/main" val="3379990816"/>
                      </a:ext>
                    </a:extLst>
                  </a:tr>
                </a:tbl>
              </a:graphicData>
            </a:graphic>
          </p:graphicFrame>
        </mc:Choice>
        <mc:Fallback xmlns="">
          <p:graphicFrame>
            <p:nvGraphicFramePr>
              <p:cNvPr id="6" name="Tabla 3">
                <a:extLst>
                  <a:ext uri="{FF2B5EF4-FFF2-40B4-BE49-F238E27FC236}">
                    <a16:creationId xmlns:a16="http://schemas.microsoft.com/office/drawing/2014/main" id="{B268220F-8A60-4908-981E-8C2BA0B3EB23}"/>
                  </a:ext>
                </a:extLst>
              </p:cNvPr>
              <p:cNvGraphicFramePr>
                <a:graphicFrameLocks noGrp="1"/>
              </p:cNvGraphicFramePr>
              <p:nvPr>
                <p:extLst>
                  <p:ext uri="{D42A27DB-BD31-4B8C-83A1-F6EECF244321}">
                    <p14:modId xmlns:p14="http://schemas.microsoft.com/office/powerpoint/2010/main" val="1364134628"/>
                  </p:ext>
                </p:extLst>
              </p:nvPr>
            </p:nvGraphicFramePr>
            <p:xfrm>
              <a:off x="332659" y="4512650"/>
              <a:ext cx="4371679" cy="1859280"/>
            </p:xfrm>
            <a:graphic>
              <a:graphicData uri="http://schemas.openxmlformats.org/drawingml/2006/table">
                <a:tbl>
                  <a:tblPr firstRow="1" bandRow="1">
                    <a:tableStyleId>{AD6A3598-7CB8-4345-8D95-17CE05F158A0}</a:tableStyleId>
                  </a:tblPr>
                  <a:tblGrid>
                    <a:gridCol w="245257">
                      <a:extLst>
                        <a:ext uri="{9D8B030D-6E8A-4147-A177-3AD203B41FA5}">
                          <a16:colId xmlns:a16="http://schemas.microsoft.com/office/drawing/2014/main" val="2057099001"/>
                        </a:ext>
                      </a:extLst>
                    </a:gridCol>
                    <a:gridCol w="1827723">
                      <a:extLst>
                        <a:ext uri="{9D8B030D-6E8A-4147-A177-3AD203B41FA5}">
                          <a16:colId xmlns:a16="http://schemas.microsoft.com/office/drawing/2014/main" val="2721384015"/>
                        </a:ext>
                      </a:extLst>
                    </a:gridCol>
                    <a:gridCol w="2298699">
                      <a:extLst>
                        <a:ext uri="{9D8B030D-6E8A-4147-A177-3AD203B41FA5}">
                          <a16:colId xmlns:a16="http://schemas.microsoft.com/office/drawing/2014/main" val="3804441368"/>
                        </a:ext>
                      </a:extLst>
                    </a:gridCol>
                  </a:tblGrid>
                  <a:tr h="304800">
                    <a:tc>
                      <a:txBody>
                        <a:bodyPr/>
                        <a:lstStyle/>
                        <a:p>
                          <a:pPr algn="ctr"/>
                          <a:r>
                            <a:rPr lang="es-CO" sz="1400" b="1" dirty="0">
                              <a:latin typeface="+mn-lt"/>
                              <a:ea typeface="Roboto" panose="02000000000000000000" pitchFamily="2" charset="0"/>
                            </a:rPr>
                            <a:t>#</a:t>
                          </a:r>
                        </a:p>
                      </a:txBody>
                      <a:tcPr/>
                    </a:tc>
                    <a:tc>
                      <a:txBody>
                        <a:bodyPr/>
                        <a:lstStyle/>
                        <a:p>
                          <a:r>
                            <a:rPr lang="es-CO" sz="1400" b="1" dirty="0">
                              <a:latin typeface="+mn-lt"/>
                              <a:ea typeface="Roboto" panose="02000000000000000000" pitchFamily="2" charset="0"/>
                            </a:rPr>
                            <a:t>Enunciado</a:t>
                          </a:r>
                        </a:p>
                      </a:txBody>
                      <a:tcPr/>
                    </a:tc>
                    <a:tc>
                      <a:txBody>
                        <a:bodyPr/>
                        <a:lstStyle/>
                        <a:p>
                          <a:r>
                            <a:rPr lang="es-CO" sz="1400" b="1" dirty="0">
                              <a:latin typeface="+mn-lt"/>
                              <a:ea typeface="Roboto" panose="02000000000000000000" pitchFamily="2" charset="0"/>
                            </a:rPr>
                            <a:t>Representación</a:t>
                          </a:r>
                        </a:p>
                      </a:txBody>
                      <a:tcPr/>
                    </a:tc>
                    <a:extLst>
                      <a:ext uri="{0D108BD9-81ED-4DB2-BD59-A6C34878D82A}">
                        <a16:rowId xmlns:a16="http://schemas.microsoft.com/office/drawing/2014/main" val="3910282906"/>
                      </a:ext>
                    </a:extLst>
                  </a:tr>
                  <a:tr h="5181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400" dirty="0">
                              <a:latin typeface="+mn-lt"/>
                              <a:ea typeface="Roboto" panose="02000000000000000000" pitchFamily="2" charset="0"/>
                            </a:rPr>
                            <a:t>1</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1" dirty="0">
                              <a:latin typeface="+mn-lt"/>
                              <a:ea typeface="Roboto" panose="02000000000000000000" pitchFamily="2" charset="0"/>
                            </a:rPr>
                            <a:t>Premisa1</a:t>
                          </a:r>
                          <a:r>
                            <a:rPr lang="es-MX" sz="1400" dirty="0">
                              <a:latin typeface="+mn-lt"/>
                              <a:ea typeface="Roboto" panose="02000000000000000000" pitchFamily="2" charset="0"/>
                            </a:rPr>
                            <a:t>: </a:t>
                          </a:r>
                          <a:r>
                            <a:rPr lang="es-MX" sz="1400" dirty="0">
                              <a:latin typeface="+mn-lt"/>
                            </a:rPr>
                            <a:t>Todos los hombres son mortales</a:t>
                          </a:r>
                          <a:endParaRPr lang="es-CO" sz="1400" dirty="0">
                            <a:latin typeface="+mn-lt"/>
                            <a:ea typeface="Roboto" panose="02000000000000000000" pitchFamily="2" charset="0"/>
                          </a:endParaRPr>
                        </a:p>
                      </a:txBody>
                      <a:tcPr anchor="ctr"/>
                    </a:tc>
                    <a:tc>
                      <a:txBody>
                        <a:bodyPr/>
                        <a:lstStyle/>
                        <a:p>
                          <a:endParaRPr lang="es-CO"/>
                        </a:p>
                      </a:txBody>
                      <a:tcPr anchor="ctr">
                        <a:blipFill>
                          <a:blip r:embed="rId3"/>
                          <a:stretch>
                            <a:fillRect l="-90212" t="-60000" r="-529" b="-212941"/>
                          </a:stretch>
                        </a:blipFill>
                      </a:tcPr>
                    </a:tc>
                    <a:extLst>
                      <a:ext uri="{0D108BD9-81ED-4DB2-BD59-A6C34878D82A}">
                        <a16:rowId xmlns:a16="http://schemas.microsoft.com/office/drawing/2014/main" val="3412829917"/>
                      </a:ext>
                    </a:extLst>
                  </a:tr>
                  <a:tr h="5181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2</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400" b="1" dirty="0">
                              <a:latin typeface="+mn-lt"/>
                            </a:rPr>
                            <a:t>Premisa 2</a:t>
                          </a:r>
                          <a:r>
                            <a:rPr lang="es-CO" sz="1400" dirty="0">
                              <a:latin typeface="+mn-lt"/>
                            </a:rPr>
                            <a:t>: </a:t>
                          </a:r>
                          <a:r>
                            <a:rPr lang="es-MX" sz="1400" dirty="0">
                              <a:latin typeface="+mn-lt"/>
                            </a:rPr>
                            <a:t>Sócrates es un hombre</a:t>
                          </a:r>
                          <a:endParaRPr lang="es-MX" sz="1400" dirty="0">
                            <a:latin typeface="+mn-lt"/>
                            <a:ea typeface="Roboto" panose="02000000000000000000" pitchFamily="2" charset="0"/>
                          </a:endParaRPr>
                        </a:p>
                      </a:txBody>
                      <a:tcPr anchor="ctr"/>
                    </a:tc>
                    <a:tc>
                      <a:txBody>
                        <a:bodyPr/>
                        <a:lstStyle/>
                        <a:p>
                          <a:endParaRPr lang="es-CO"/>
                        </a:p>
                      </a:txBody>
                      <a:tcPr anchor="ctr">
                        <a:blipFill>
                          <a:blip r:embed="rId3"/>
                          <a:stretch>
                            <a:fillRect l="-90212" t="-158140" r="-529" b="-110465"/>
                          </a:stretch>
                        </a:blipFill>
                      </a:tcPr>
                    </a:tc>
                    <a:extLst>
                      <a:ext uri="{0D108BD9-81ED-4DB2-BD59-A6C34878D82A}">
                        <a16:rowId xmlns:a16="http://schemas.microsoft.com/office/drawing/2014/main" val="1575296453"/>
                      </a:ext>
                    </a:extLst>
                  </a:tr>
                  <a:tr h="5181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3</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1" dirty="0">
                              <a:latin typeface="+mn-lt"/>
                              <a:ea typeface="Roboto" panose="02000000000000000000" pitchFamily="2" charset="0"/>
                            </a:rPr>
                            <a:t>Conclusión</a:t>
                          </a:r>
                          <a:r>
                            <a:rPr lang="es-MX" sz="1400" dirty="0">
                              <a:latin typeface="+mn-lt"/>
                              <a:ea typeface="Roboto" panose="02000000000000000000" pitchFamily="2" charset="0"/>
                            </a:rPr>
                            <a:t>: </a:t>
                          </a:r>
                          <a:r>
                            <a:rPr lang="es-MX" sz="1400" dirty="0">
                              <a:latin typeface="+mn-lt"/>
                            </a:rPr>
                            <a:t>Sócrates es Mortal</a:t>
                          </a:r>
                          <a:endParaRPr lang="es-MX" sz="1400" dirty="0">
                            <a:latin typeface="+mn-lt"/>
                            <a:ea typeface="Roboto" panose="02000000000000000000" pitchFamily="2" charset="0"/>
                          </a:endParaRPr>
                        </a:p>
                      </a:txBody>
                      <a:tcPr anchor="ctr"/>
                    </a:tc>
                    <a:tc>
                      <a:txBody>
                        <a:bodyPr/>
                        <a:lstStyle/>
                        <a:p>
                          <a:endParaRPr lang="es-CO"/>
                        </a:p>
                      </a:txBody>
                      <a:tcPr anchor="ctr">
                        <a:blipFill>
                          <a:blip r:embed="rId3"/>
                          <a:stretch>
                            <a:fillRect l="-90212" t="-261176" r="-529" b="-11765"/>
                          </a:stretch>
                        </a:blipFill>
                      </a:tcPr>
                    </a:tc>
                    <a:extLst>
                      <a:ext uri="{0D108BD9-81ED-4DB2-BD59-A6C34878D82A}">
                        <a16:rowId xmlns:a16="http://schemas.microsoft.com/office/drawing/2014/main" val="337999081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a 2">
                <a:extLst>
                  <a:ext uri="{FF2B5EF4-FFF2-40B4-BE49-F238E27FC236}">
                    <a16:creationId xmlns:a16="http://schemas.microsoft.com/office/drawing/2014/main" id="{48F87D2B-4563-4CD2-AC3D-E9D326A69BAA}"/>
                  </a:ext>
                </a:extLst>
              </p:cNvPr>
              <p:cNvGraphicFramePr>
                <a:graphicFrameLocks noGrp="1"/>
              </p:cNvGraphicFramePr>
              <p:nvPr>
                <p:extLst>
                  <p:ext uri="{D42A27DB-BD31-4B8C-83A1-F6EECF244321}">
                    <p14:modId xmlns:p14="http://schemas.microsoft.com/office/powerpoint/2010/main" val="32628194"/>
                  </p:ext>
                </p:extLst>
              </p:nvPr>
            </p:nvGraphicFramePr>
            <p:xfrm>
              <a:off x="332659" y="3187973"/>
              <a:ext cx="4371679" cy="1066800"/>
            </p:xfrm>
            <a:graphic>
              <a:graphicData uri="http://schemas.openxmlformats.org/drawingml/2006/table">
                <a:tbl>
                  <a:tblPr firstRow="1" bandRow="1">
                    <a:tableStyleId>{AD6A3598-7CB8-4345-8D95-17CE05F158A0}</a:tableStyleId>
                  </a:tblPr>
                  <a:tblGrid>
                    <a:gridCol w="1056979">
                      <a:extLst>
                        <a:ext uri="{9D8B030D-6E8A-4147-A177-3AD203B41FA5}">
                          <a16:colId xmlns:a16="http://schemas.microsoft.com/office/drawing/2014/main" val="55665907"/>
                        </a:ext>
                      </a:extLst>
                    </a:gridCol>
                    <a:gridCol w="3314700">
                      <a:extLst>
                        <a:ext uri="{9D8B030D-6E8A-4147-A177-3AD203B41FA5}">
                          <a16:colId xmlns:a16="http://schemas.microsoft.com/office/drawing/2014/main" val="2393994677"/>
                        </a:ext>
                      </a:extLst>
                    </a:gridCol>
                  </a:tblGrid>
                  <a:tr h="0">
                    <a:tc>
                      <a:txBody>
                        <a:bodyPr/>
                        <a:lstStyle/>
                        <a:p>
                          <a:r>
                            <a:rPr lang="es-CO" sz="1400" b="1" dirty="0">
                              <a:latin typeface="+mn-lt"/>
                              <a:ea typeface="Roboto" panose="02000000000000000000" pitchFamily="2" charset="0"/>
                            </a:rPr>
                            <a:t>Dominio</a:t>
                          </a:r>
                        </a:p>
                      </a:txBody>
                      <a:tcPr/>
                    </a:tc>
                    <a:tc>
                      <a:txBody>
                        <a:bodyPr/>
                        <a:lstStyle/>
                        <a:p>
                          <a:pPr/>
                          <a14:m>
                            <m:oMathPara xmlns:m="http://schemas.openxmlformats.org/officeDocument/2006/math">
                              <m:oMathParaPr>
                                <m:jc m:val="centerGroup"/>
                              </m:oMathParaPr>
                              <m:oMath xmlns:m="http://schemas.openxmlformats.org/officeDocument/2006/math">
                                <m:r>
                                  <a:rPr lang="es-MX" sz="1200" b="0" i="1" dirty="0" smtClean="0">
                                    <a:latin typeface="Cambria Math" panose="02040503050406030204" pitchFamily="18" charset="0"/>
                                    <a:ea typeface="Roboto" panose="02000000000000000000" pitchFamily="2" charset="0"/>
                                  </a:rPr>
                                  <m:t>𝑈</m:t>
                                </m:r>
                                <m:r>
                                  <a:rPr lang="es-MX" sz="1200" b="0" i="1" dirty="0" smtClean="0">
                                    <a:latin typeface="Cambria Math" panose="02040503050406030204" pitchFamily="18" charset="0"/>
                                    <a:ea typeface="Roboto" panose="02000000000000000000" pitchFamily="2" charset="0"/>
                                  </a:rPr>
                                  <m:t>:</m:t>
                                </m:r>
                                <m:r>
                                  <m:rPr>
                                    <m:sty m:val="p"/>
                                  </m:rPr>
                                  <a:rPr lang="es-MX" sz="1200" b="0" i="0" dirty="0" smtClean="0">
                                    <a:latin typeface="Cambria Math" panose="02040503050406030204" pitchFamily="18" charset="0"/>
                                    <a:ea typeface="Roboto" panose="02000000000000000000" pitchFamily="2" charset="0"/>
                                  </a:rPr>
                                  <m:t>Todos</m:t>
                                </m:r>
                                <m:r>
                                  <a:rPr lang="es-MX" sz="1200" b="0" i="0" dirty="0" smtClean="0">
                                    <a:latin typeface="Cambria Math" panose="02040503050406030204" pitchFamily="18" charset="0"/>
                                    <a:ea typeface="Roboto" panose="02000000000000000000" pitchFamily="2" charset="0"/>
                                  </a:rPr>
                                  <m:t> </m:t>
                                </m:r>
                                <m:r>
                                  <m:rPr>
                                    <m:sty m:val="p"/>
                                  </m:rPr>
                                  <a:rPr lang="es-MX" sz="1200" b="0" i="0" dirty="0" smtClean="0">
                                    <a:latin typeface="Cambria Math" panose="02040503050406030204" pitchFamily="18" charset="0"/>
                                    <a:ea typeface="Roboto" panose="02000000000000000000" pitchFamily="2" charset="0"/>
                                  </a:rPr>
                                  <m:t>los</m:t>
                                </m:r>
                                <m:r>
                                  <a:rPr lang="es-MX" sz="1200" b="0" i="0" dirty="0" smtClean="0">
                                    <a:latin typeface="Cambria Math" panose="02040503050406030204" pitchFamily="18" charset="0"/>
                                    <a:ea typeface="Roboto" panose="02000000000000000000" pitchFamily="2" charset="0"/>
                                  </a:rPr>
                                  <m:t> </m:t>
                                </m:r>
                                <m:r>
                                  <m:rPr>
                                    <m:sty m:val="p"/>
                                  </m:rPr>
                                  <a:rPr lang="es-MX" sz="1200" b="0" i="0" dirty="0" smtClean="0">
                                    <a:latin typeface="Cambria Math" panose="02040503050406030204" pitchFamily="18" charset="0"/>
                                    <a:ea typeface="Roboto" panose="02000000000000000000" pitchFamily="2" charset="0"/>
                                  </a:rPr>
                                  <m:t>estudiantes</m:t>
                                </m:r>
                              </m:oMath>
                            </m:oMathPara>
                          </a14:m>
                          <a:endParaRPr lang="es-CO" sz="1200" b="0" i="0" dirty="0">
                            <a:latin typeface="+mn-lt"/>
                            <a:ea typeface="Roboto" panose="02000000000000000000" pitchFamily="2" charset="0"/>
                          </a:endParaRPr>
                        </a:p>
                      </a:txBody>
                      <a:tcPr/>
                    </a:tc>
                    <a:extLst>
                      <a:ext uri="{0D108BD9-81ED-4DB2-BD59-A6C34878D82A}">
                        <a16:rowId xmlns:a16="http://schemas.microsoft.com/office/drawing/2014/main" val="2554054099"/>
                      </a:ext>
                    </a:extLst>
                  </a:tr>
                  <a:tr h="0">
                    <a:tc>
                      <a:txBody>
                        <a:bodyPr/>
                        <a:lstStyle/>
                        <a:p>
                          <a:r>
                            <a:rPr lang="es-CO" sz="1400" b="1" dirty="0">
                              <a:latin typeface="+mn-lt"/>
                              <a:ea typeface="Roboto" panose="02000000000000000000" pitchFamily="2" charset="0"/>
                            </a:rPr>
                            <a:t>Variables</a:t>
                          </a:r>
                        </a:p>
                      </a:txBody>
                      <a:tcPr/>
                    </a:tc>
                    <a:tc>
                      <a:txBody>
                        <a:bodyPr/>
                        <a:lstStyle/>
                        <a:p>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rPr>
                                  <m:t>𝑥</m:t>
                                </m:r>
                              </m:oMath>
                            </m:oMathPara>
                          </a14:m>
                          <a:endParaRPr lang="es-CO" sz="1200" dirty="0">
                            <a:latin typeface="+mn-lt"/>
                            <a:ea typeface="Roboto" panose="02000000000000000000" pitchFamily="2" charset="0"/>
                          </a:endParaRPr>
                        </a:p>
                      </a:txBody>
                      <a:tcPr/>
                    </a:tc>
                    <a:extLst>
                      <a:ext uri="{0D108BD9-81ED-4DB2-BD59-A6C34878D82A}">
                        <a16:rowId xmlns:a16="http://schemas.microsoft.com/office/drawing/2014/main" val="1590970474"/>
                      </a:ext>
                    </a:extLst>
                  </a:tr>
                  <a:tr h="192056">
                    <a:tc>
                      <a:txBody>
                        <a:bodyPr/>
                        <a:lstStyle/>
                        <a:p>
                          <a:r>
                            <a:rPr lang="es-CO" sz="1400" b="1" dirty="0">
                              <a:latin typeface="+mn-lt"/>
                              <a:ea typeface="Roboto" panose="02000000000000000000" pitchFamily="2" charset="0"/>
                            </a:rPr>
                            <a:t>Predicados</a:t>
                          </a:r>
                        </a:p>
                      </a:txBody>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200" b="0" i="1" smtClean="0">
                                  <a:latin typeface="Cambria Math" panose="02040503050406030204" pitchFamily="18" charset="0"/>
                                  <a:ea typeface="Cambria Math" panose="02040503050406030204" pitchFamily="18" charset="0"/>
                                </a:rPr>
                                <m:t>h𝑜𝑚𝑏𝑟𝑒</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𝑥</m:t>
                                  </m:r>
                                </m:e>
                              </m:d>
                              <m:r>
                                <a:rPr lang="es-MX" sz="1200" b="0" i="1" smtClean="0">
                                  <a:latin typeface="Cambria Math" panose="02040503050406030204" pitchFamily="18" charset="0"/>
                                  <a:ea typeface="Cambria Math" panose="02040503050406030204" pitchFamily="18" charset="0"/>
                                </a:rPr>
                                <m:t>:</m:t>
                              </m:r>
                              <m:r>
                                <a:rPr lang="es-MX" sz="1200" b="0" i="1" smtClean="0">
                                  <a:latin typeface="Cambria Math" panose="02040503050406030204" pitchFamily="18" charset="0"/>
                                  <a:ea typeface="Cambria Math" panose="02040503050406030204" pitchFamily="18" charset="0"/>
                                </a:rPr>
                                <m:t>𝑥</m:t>
                              </m:r>
                              <m:r>
                                <a:rPr lang="es-MX" sz="1200" b="0" i="1" smtClean="0">
                                  <a:latin typeface="Cambria Math" panose="02040503050406030204" pitchFamily="18" charset="0"/>
                                  <a:ea typeface="Cambria Math" panose="02040503050406030204" pitchFamily="18" charset="0"/>
                                </a:rPr>
                                <m:t> </m:t>
                              </m:r>
                              <m:r>
                                <m:rPr>
                                  <m:sty m:val="p"/>
                                </m:rPr>
                                <a:rPr lang="es-MX" sz="1200" b="0" i="0" smtClean="0">
                                  <a:latin typeface="Cambria Math" panose="02040503050406030204" pitchFamily="18" charset="0"/>
                                  <a:ea typeface="Cambria Math" panose="02040503050406030204" pitchFamily="18" charset="0"/>
                                </a:rPr>
                                <m:t>es</m:t>
                              </m:r>
                              <m:r>
                                <a:rPr lang="es-MX" sz="1200" b="0" i="0" smtClean="0">
                                  <a:latin typeface="Cambria Math" panose="02040503050406030204" pitchFamily="18" charset="0"/>
                                  <a:ea typeface="Cambria Math" panose="02040503050406030204" pitchFamily="18" charset="0"/>
                                </a:rPr>
                                <m:t> </m:t>
                              </m:r>
                              <m:r>
                                <m:rPr>
                                  <m:sty m:val="p"/>
                                </m:rPr>
                                <a:rPr lang="es-MX" sz="1200" b="0" i="0" smtClean="0">
                                  <a:latin typeface="Cambria Math" panose="02040503050406030204" pitchFamily="18" charset="0"/>
                                  <a:ea typeface="Cambria Math" panose="02040503050406030204" pitchFamily="18" charset="0"/>
                                </a:rPr>
                                <m:t>un</m:t>
                              </m:r>
                              <m:r>
                                <a:rPr lang="es-MX" sz="1200" b="0" i="0" smtClean="0">
                                  <a:latin typeface="Cambria Math" panose="02040503050406030204" pitchFamily="18" charset="0"/>
                                  <a:ea typeface="Cambria Math" panose="02040503050406030204" pitchFamily="18" charset="0"/>
                                </a:rPr>
                                <m:t> </m:t>
                              </m:r>
                              <m:r>
                                <m:rPr>
                                  <m:sty m:val="p"/>
                                </m:rPr>
                                <a:rPr lang="es-MX" sz="1200" b="0" i="0" smtClean="0">
                                  <a:latin typeface="Cambria Math" panose="02040503050406030204" pitchFamily="18" charset="0"/>
                                  <a:ea typeface="Cambria Math" panose="02040503050406030204" pitchFamily="18" charset="0"/>
                                </a:rPr>
                                <m:t>hombre</m:t>
                              </m:r>
                            </m:oMath>
                          </a14:m>
                          <a:endParaRPr lang="es-MX" sz="1200" b="0" i="1" dirty="0">
                            <a:latin typeface="+mn-lt"/>
                            <a:ea typeface="Cambria Math" panose="02040503050406030204" pitchFamily="18" charset="0"/>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200" b="0" i="1" smtClean="0">
                                  <a:solidFill>
                                    <a:schemeClr val="tx1"/>
                                  </a:solidFill>
                                  <a:latin typeface="Cambria Math" panose="02040503050406030204" pitchFamily="18" charset="0"/>
                                  <a:ea typeface="Cambria Math" panose="02040503050406030204" pitchFamily="18" charset="0"/>
                                </a:rPr>
                                <m:t>𝑚𝑜𝑟𝑡𝑎𝑙</m:t>
                              </m:r>
                              <m:d>
                                <m:dPr>
                                  <m:ctrlPr>
                                    <a:rPr lang="es-MX" sz="1200" b="0" i="1" smtClean="0">
                                      <a:solidFill>
                                        <a:schemeClr val="tx1"/>
                                      </a:solidFill>
                                      <a:latin typeface="Cambria Math" panose="02040503050406030204" pitchFamily="18" charset="0"/>
                                      <a:ea typeface="Cambria Math" panose="02040503050406030204" pitchFamily="18" charset="0"/>
                                    </a:rPr>
                                  </m:ctrlPr>
                                </m:dPr>
                                <m:e>
                                  <m:r>
                                    <a:rPr lang="es-MX" sz="1200" b="0" i="1" smtClean="0">
                                      <a:solidFill>
                                        <a:schemeClr val="tx1"/>
                                      </a:solidFill>
                                      <a:latin typeface="Cambria Math" panose="02040503050406030204" pitchFamily="18" charset="0"/>
                                      <a:ea typeface="Cambria Math" panose="02040503050406030204" pitchFamily="18" charset="0"/>
                                    </a:rPr>
                                    <m:t>𝑥</m:t>
                                  </m:r>
                                </m:e>
                              </m:d>
                              <m:r>
                                <a:rPr lang="es-MX" sz="1200" b="0" i="1" smtClean="0">
                                  <a:solidFill>
                                    <a:schemeClr val="tx1"/>
                                  </a:solidFill>
                                  <a:latin typeface="Cambria Math" panose="02040503050406030204" pitchFamily="18" charset="0"/>
                                  <a:ea typeface="Cambria Math" panose="02040503050406030204" pitchFamily="18" charset="0"/>
                                </a:rPr>
                                <m:t>: </m:t>
                              </m:r>
                              <m:r>
                                <a:rPr lang="es-MX" sz="1200" b="0" i="1" smtClean="0">
                                  <a:solidFill>
                                    <a:schemeClr val="tx1"/>
                                  </a:solidFill>
                                  <a:latin typeface="Cambria Math" panose="02040503050406030204" pitchFamily="18" charset="0"/>
                                  <a:ea typeface="Cambria Math" panose="02040503050406030204" pitchFamily="18" charset="0"/>
                                </a:rPr>
                                <m:t>𝑥</m:t>
                              </m:r>
                              <m:r>
                                <a:rPr lang="es-MX" sz="1200" b="0" i="1" smtClean="0">
                                  <a:solidFill>
                                    <a:schemeClr val="tx1"/>
                                  </a:solidFill>
                                  <a:latin typeface="Cambria Math" panose="02040503050406030204" pitchFamily="18" charset="0"/>
                                  <a:ea typeface="Cambria Math" panose="02040503050406030204" pitchFamily="18" charset="0"/>
                                </a:rPr>
                                <m:t> </m:t>
                              </m:r>
                              <m:r>
                                <m:rPr>
                                  <m:sty m:val="p"/>
                                </m:rPr>
                                <a:rPr lang="es-MX" sz="1200" b="0" i="0" smtClean="0">
                                  <a:solidFill>
                                    <a:schemeClr val="tx1"/>
                                  </a:solidFill>
                                  <a:latin typeface="Cambria Math" panose="02040503050406030204" pitchFamily="18" charset="0"/>
                                  <a:ea typeface="Cambria Math" panose="02040503050406030204" pitchFamily="18" charset="0"/>
                                </a:rPr>
                                <m:t>es</m:t>
                              </m:r>
                              <m:r>
                                <a:rPr lang="es-MX" sz="1200" b="0" i="0" smtClean="0">
                                  <a:solidFill>
                                    <a:schemeClr val="tx1"/>
                                  </a:solidFill>
                                  <a:latin typeface="Cambria Math" panose="02040503050406030204" pitchFamily="18" charset="0"/>
                                  <a:ea typeface="Cambria Math" panose="02040503050406030204" pitchFamily="18" charset="0"/>
                                </a:rPr>
                                <m:t> </m:t>
                              </m:r>
                              <m:r>
                                <m:rPr>
                                  <m:sty m:val="p"/>
                                </m:rPr>
                                <a:rPr lang="es-MX" sz="1200" b="0" i="0" smtClean="0">
                                  <a:solidFill>
                                    <a:schemeClr val="tx1"/>
                                  </a:solidFill>
                                  <a:latin typeface="Cambria Math" panose="02040503050406030204" pitchFamily="18" charset="0"/>
                                  <a:ea typeface="Cambria Math" panose="02040503050406030204" pitchFamily="18" charset="0"/>
                                </a:rPr>
                                <m:t>mortal</m:t>
                              </m:r>
                            </m:oMath>
                          </a14:m>
                          <a:endParaRPr lang="es-MX" sz="1200" b="0" i="0" dirty="0">
                            <a:solidFill>
                              <a:schemeClr val="tx1"/>
                            </a:solidFill>
                            <a:latin typeface="+mn-lt"/>
                            <a:ea typeface="Cambria Math" panose="02040503050406030204" pitchFamily="18" charset="0"/>
                          </a:endParaRPr>
                        </a:p>
                      </a:txBody>
                      <a:tcPr/>
                    </a:tc>
                    <a:extLst>
                      <a:ext uri="{0D108BD9-81ED-4DB2-BD59-A6C34878D82A}">
                        <a16:rowId xmlns:a16="http://schemas.microsoft.com/office/drawing/2014/main" val="1362933263"/>
                      </a:ext>
                    </a:extLst>
                  </a:tr>
                </a:tbl>
              </a:graphicData>
            </a:graphic>
          </p:graphicFrame>
        </mc:Choice>
        <mc:Fallback xmlns="">
          <p:graphicFrame>
            <p:nvGraphicFramePr>
              <p:cNvPr id="7" name="Tabla 2">
                <a:extLst>
                  <a:ext uri="{FF2B5EF4-FFF2-40B4-BE49-F238E27FC236}">
                    <a16:creationId xmlns:a16="http://schemas.microsoft.com/office/drawing/2014/main" id="{48F87D2B-4563-4CD2-AC3D-E9D326A69BAA}"/>
                  </a:ext>
                </a:extLst>
              </p:cNvPr>
              <p:cNvGraphicFramePr>
                <a:graphicFrameLocks noGrp="1"/>
              </p:cNvGraphicFramePr>
              <p:nvPr>
                <p:extLst>
                  <p:ext uri="{D42A27DB-BD31-4B8C-83A1-F6EECF244321}">
                    <p14:modId xmlns:p14="http://schemas.microsoft.com/office/powerpoint/2010/main" val="32628194"/>
                  </p:ext>
                </p:extLst>
              </p:nvPr>
            </p:nvGraphicFramePr>
            <p:xfrm>
              <a:off x="332659" y="3187973"/>
              <a:ext cx="4371679" cy="1066800"/>
            </p:xfrm>
            <a:graphic>
              <a:graphicData uri="http://schemas.openxmlformats.org/drawingml/2006/table">
                <a:tbl>
                  <a:tblPr firstRow="1" bandRow="1">
                    <a:tableStyleId>{AD6A3598-7CB8-4345-8D95-17CE05F158A0}</a:tableStyleId>
                  </a:tblPr>
                  <a:tblGrid>
                    <a:gridCol w="1056979">
                      <a:extLst>
                        <a:ext uri="{9D8B030D-6E8A-4147-A177-3AD203B41FA5}">
                          <a16:colId xmlns:a16="http://schemas.microsoft.com/office/drawing/2014/main" val="55665907"/>
                        </a:ext>
                      </a:extLst>
                    </a:gridCol>
                    <a:gridCol w="3314700">
                      <a:extLst>
                        <a:ext uri="{9D8B030D-6E8A-4147-A177-3AD203B41FA5}">
                          <a16:colId xmlns:a16="http://schemas.microsoft.com/office/drawing/2014/main" val="2393994677"/>
                        </a:ext>
                      </a:extLst>
                    </a:gridCol>
                  </a:tblGrid>
                  <a:tr h="304800">
                    <a:tc>
                      <a:txBody>
                        <a:bodyPr/>
                        <a:lstStyle/>
                        <a:p>
                          <a:r>
                            <a:rPr lang="es-CO" sz="1400" b="1" dirty="0">
                              <a:latin typeface="+mn-lt"/>
                              <a:ea typeface="Roboto" panose="02000000000000000000" pitchFamily="2" charset="0"/>
                            </a:rPr>
                            <a:t>Dominio</a:t>
                          </a:r>
                        </a:p>
                      </a:txBody>
                      <a:tcPr/>
                    </a:tc>
                    <a:tc>
                      <a:txBody>
                        <a:bodyPr/>
                        <a:lstStyle/>
                        <a:p>
                          <a:endParaRPr lang="es-CO"/>
                        </a:p>
                      </a:txBody>
                      <a:tcPr>
                        <a:blipFill>
                          <a:blip r:embed="rId4"/>
                          <a:stretch>
                            <a:fillRect l="-32169" t="-2000" r="-368" b="-262000"/>
                          </a:stretch>
                        </a:blipFill>
                      </a:tcPr>
                    </a:tc>
                    <a:extLst>
                      <a:ext uri="{0D108BD9-81ED-4DB2-BD59-A6C34878D82A}">
                        <a16:rowId xmlns:a16="http://schemas.microsoft.com/office/drawing/2014/main" val="2554054099"/>
                      </a:ext>
                    </a:extLst>
                  </a:tr>
                  <a:tr h="304800">
                    <a:tc>
                      <a:txBody>
                        <a:bodyPr/>
                        <a:lstStyle/>
                        <a:p>
                          <a:r>
                            <a:rPr lang="es-CO" sz="1400" b="1" dirty="0">
                              <a:latin typeface="+mn-lt"/>
                              <a:ea typeface="Roboto" panose="02000000000000000000" pitchFamily="2" charset="0"/>
                            </a:rPr>
                            <a:t>Variables</a:t>
                          </a:r>
                        </a:p>
                      </a:txBody>
                      <a:tcPr/>
                    </a:tc>
                    <a:tc>
                      <a:txBody>
                        <a:bodyPr/>
                        <a:lstStyle/>
                        <a:p>
                          <a:endParaRPr lang="es-CO"/>
                        </a:p>
                      </a:txBody>
                      <a:tcPr>
                        <a:blipFill>
                          <a:blip r:embed="rId4"/>
                          <a:stretch>
                            <a:fillRect l="-32169" t="-100000" r="-368" b="-156863"/>
                          </a:stretch>
                        </a:blipFill>
                      </a:tcPr>
                    </a:tc>
                    <a:extLst>
                      <a:ext uri="{0D108BD9-81ED-4DB2-BD59-A6C34878D82A}">
                        <a16:rowId xmlns:a16="http://schemas.microsoft.com/office/drawing/2014/main" val="1590970474"/>
                      </a:ext>
                    </a:extLst>
                  </a:tr>
                  <a:tr h="457200">
                    <a:tc>
                      <a:txBody>
                        <a:bodyPr/>
                        <a:lstStyle/>
                        <a:p>
                          <a:r>
                            <a:rPr lang="es-CO" sz="1400" b="1" dirty="0">
                              <a:latin typeface="+mn-lt"/>
                              <a:ea typeface="Roboto" panose="02000000000000000000" pitchFamily="2" charset="0"/>
                            </a:rPr>
                            <a:t>Predicados</a:t>
                          </a:r>
                        </a:p>
                      </a:txBody>
                      <a:tcPr/>
                    </a:tc>
                    <a:tc>
                      <a:txBody>
                        <a:bodyPr/>
                        <a:lstStyle/>
                        <a:p>
                          <a:endParaRPr lang="es-CO"/>
                        </a:p>
                      </a:txBody>
                      <a:tcPr>
                        <a:blipFill>
                          <a:blip r:embed="rId4"/>
                          <a:stretch>
                            <a:fillRect l="-32169" t="-136000" r="-368" b="-6667"/>
                          </a:stretch>
                        </a:blipFill>
                      </a:tcPr>
                    </a:tc>
                    <a:extLst>
                      <a:ext uri="{0D108BD9-81ED-4DB2-BD59-A6C34878D82A}">
                        <a16:rowId xmlns:a16="http://schemas.microsoft.com/office/drawing/2014/main" val="1362933263"/>
                      </a:ext>
                    </a:extLst>
                  </a:tr>
                </a:tbl>
              </a:graphicData>
            </a:graphic>
          </p:graphicFrame>
        </mc:Fallback>
      </mc:AlternateContent>
      <p:grpSp>
        <p:nvGrpSpPr>
          <p:cNvPr id="11" name="Grupo 10">
            <a:extLst>
              <a:ext uri="{FF2B5EF4-FFF2-40B4-BE49-F238E27FC236}">
                <a16:creationId xmlns:a16="http://schemas.microsoft.com/office/drawing/2014/main" id="{F3448778-D45A-4A59-83D2-F2D1FBF2CAD1}"/>
              </a:ext>
            </a:extLst>
          </p:cNvPr>
          <p:cNvGrpSpPr/>
          <p:nvPr/>
        </p:nvGrpSpPr>
        <p:grpSpPr>
          <a:xfrm>
            <a:off x="359004" y="1844195"/>
            <a:ext cx="4029185" cy="958980"/>
            <a:chOff x="4142522" y="4512927"/>
            <a:chExt cx="2392093" cy="958980"/>
          </a:xfrm>
        </p:grpSpPr>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F91D5BB4-8EBF-40C5-9626-9D0B1F9C3BDA}"/>
                    </a:ext>
                  </a:extLst>
                </p:cNvPr>
                <p:cNvSpPr txBox="1"/>
                <p:nvPr/>
              </p:nvSpPr>
              <p:spPr>
                <a:xfrm>
                  <a:off x="4142522" y="4512927"/>
                  <a:ext cx="2392093" cy="95898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1800" i="1" smtClean="0">
                            <a:latin typeface="Cambria Math" panose="02040503050406030204" pitchFamily="18" charset="0"/>
                            <a:ea typeface="Cambria Math" panose="02040503050406030204" pitchFamily="18" charset="0"/>
                          </a:rPr>
                          <m:t>∀</m:t>
                        </m:r>
                        <m:r>
                          <a:rPr lang="es-MX" sz="1800" i="1" smtClean="0">
                            <a:latin typeface="Cambria Math" panose="02040503050406030204" pitchFamily="18" charset="0"/>
                            <a:ea typeface="Cambria Math" panose="02040503050406030204" pitchFamily="18" charset="0"/>
                          </a:rPr>
                          <m:t>𝑥</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h𝑜𝑚𝑏𝑟𝑒</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𝑥</m:t>
                                </m:r>
                              </m:e>
                            </m:d>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𝑚𝑜𝑟𝑡𝑎𝑙</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𝑥</m:t>
                                </m:r>
                              </m:e>
                            </m:d>
                          </m:e>
                        </m:d>
                        <m:r>
                          <a:rPr lang="es-MX" sz="1800" b="0" i="0"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𝑎</m:t>
                        </m:r>
                        <m:r>
                          <a:rPr lang="es-MX" sz="1800" b="0" i="1" smtClean="0">
                            <a:latin typeface="Cambria Math" panose="02040503050406030204" pitchFamily="18" charset="0"/>
                            <a:ea typeface="Roboto" panose="02000000000000000000" pitchFamily="2" charset="0"/>
                          </a:rPr>
                          <m:t>)</m:t>
                        </m:r>
                      </m:oMath>
                    </m:oMathPara>
                  </a14:m>
                  <a:endParaRPr lang="es-MX" sz="1800" b="0" i="1" dirty="0">
                    <a:latin typeface="Cambria Math" panose="02040503050406030204" pitchFamily="18" charset="0"/>
                    <a:ea typeface="Roboto" panose="02000000000000000000" pitchFamily="2" charset="0"/>
                  </a:endParaRPr>
                </a:p>
                <a:p>
                  <a:pPr/>
                  <a14:m>
                    <m:oMathPara xmlns:m="http://schemas.openxmlformats.org/officeDocument/2006/math">
                      <m:oMathParaPr>
                        <m:jc m:val="left"/>
                      </m:oMathParaPr>
                      <m:oMath xmlns:m="http://schemas.openxmlformats.org/officeDocument/2006/math">
                        <m:r>
                          <a:rPr lang="es-MX" sz="1800" i="1">
                            <a:latin typeface="Cambria Math" panose="02040503050406030204" pitchFamily="18" charset="0"/>
                            <a:ea typeface="Roboto" panose="02000000000000000000" pitchFamily="2" charset="0"/>
                          </a:rPr>
                          <m:t>h𝑜𝑚𝑏𝑟𝑒</m:t>
                        </m:r>
                        <m:d>
                          <m:dPr>
                            <m:ctrlPr>
                              <a:rPr lang="es-MX" sz="1800" i="1">
                                <a:latin typeface="Cambria Math" panose="02040503050406030204" pitchFamily="18" charset="0"/>
                                <a:ea typeface="Roboto" panose="02000000000000000000" pitchFamily="2" charset="0"/>
                              </a:rPr>
                            </m:ctrlPr>
                          </m:dPr>
                          <m:e>
                            <m:r>
                              <m:rPr>
                                <m:sty m:val="p"/>
                              </m:rPr>
                              <a:rPr lang="es-MX" sz="1800">
                                <a:latin typeface="Cambria Math" panose="02040503050406030204" pitchFamily="18" charset="0"/>
                                <a:ea typeface="Roboto" panose="02000000000000000000" pitchFamily="2" charset="0"/>
                              </a:rPr>
                              <m:t>Socrates</m:t>
                            </m:r>
                          </m:e>
                        </m:d>
                        <m:r>
                          <a:rPr lang="es-MX" sz="1800" b="0" i="1" smtClean="0">
                            <a:latin typeface="Cambria Math" panose="02040503050406030204" pitchFamily="18" charset="0"/>
                            <a:ea typeface="Roboto" panose="02000000000000000000" pitchFamily="2" charset="0"/>
                          </a:rPr>
                          <m:t>                           </m:t>
                        </m:r>
                        <m:d>
                          <m:dPr>
                            <m:ctrlPr>
                              <a:rPr lang="es-MX" sz="1800" b="0" i="1" smtClean="0">
                                <a:latin typeface="Cambria Math" panose="02040503050406030204" pitchFamily="18" charset="0"/>
                                <a:ea typeface="Cambria Math" panose="02040503050406030204" pitchFamily="18" charset="0"/>
                              </a:rPr>
                            </m:ctrlPr>
                          </m:dPr>
                          <m:e>
                            <m:r>
                              <a:rPr lang="es-MX" sz="1800" b="0" i="1" smtClean="0">
                                <a:latin typeface="Cambria Math" panose="02040503050406030204" pitchFamily="18" charset="0"/>
                                <a:ea typeface="Cambria Math" panose="02040503050406030204" pitchFamily="18" charset="0"/>
                              </a:rPr>
                              <m:t>𝑏</m:t>
                            </m:r>
                          </m:e>
                        </m:d>
                      </m:oMath>
                    </m:oMathPara>
                  </a14:m>
                  <a:endParaRPr lang="es-MX" sz="1800" b="0" i="1" dirty="0">
                    <a:latin typeface="Cambria Math" panose="02040503050406030204" pitchFamily="18" charset="0"/>
                    <a:ea typeface="Roboto" panose="02000000000000000000" pitchFamily="2" charset="0"/>
                  </a:endParaRPr>
                </a:p>
                <a:p>
                  <a:pPr lvl="0">
                    <a:defRPr/>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Roboto" panose="02000000000000000000" pitchFamily="2" charset="0"/>
                          </a:rPr>
                          <m:t>𝑚𝑜𝑟𝑡𝑎𝑙</m:t>
                        </m:r>
                        <m:d>
                          <m:dPr>
                            <m:ctrlPr>
                              <a:rPr lang="es-MX" sz="1800" i="1">
                                <a:latin typeface="Cambria Math" panose="02040503050406030204" pitchFamily="18" charset="0"/>
                                <a:ea typeface="Roboto" panose="02000000000000000000" pitchFamily="2" charset="0"/>
                              </a:rPr>
                            </m:ctrlPr>
                          </m:dPr>
                          <m:e>
                            <m:r>
                              <m:rPr>
                                <m:sty m:val="p"/>
                              </m:rPr>
                              <a:rPr lang="es-MX" sz="1800">
                                <a:latin typeface="Cambria Math" panose="02040503050406030204" pitchFamily="18" charset="0"/>
                                <a:ea typeface="Roboto" panose="02000000000000000000" pitchFamily="2" charset="0"/>
                              </a:rPr>
                              <m:t>Socrates</m:t>
                            </m:r>
                          </m:e>
                        </m:d>
                      </m:oMath>
                    </m:oMathPara>
                  </a14:m>
                  <a:endParaRPr lang="es-MX" sz="1800" dirty="0">
                    <a:latin typeface="Roboto" panose="02000000000000000000" pitchFamily="2" charset="0"/>
                    <a:ea typeface="Roboto" panose="02000000000000000000" pitchFamily="2" charset="0"/>
                  </a:endParaRPr>
                </a:p>
              </p:txBody>
            </p:sp>
          </mc:Choice>
          <mc:Fallback xmlns="">
            <p:sp>
              <p:nvSpPr>
                <p:cNvPr id="12" name="CuadroTexto 11">
                  <a:extLst>
                    <a:ext uri="{FF2B5EF4-FFF2-40B4-BE49-F238E27FC236}">
                      <a16:creationId xmlns:a16="http://schemas.microsoft.com/office/drawing/2014/main" id="{F91D5BB4-8EBF-40C5-9626-9D0B1F9C3BDA}"/>
                    </a:ext>
                  </a:extLst>
                </p:cNvPr>
                <p:cNvSpPr txBox="1">
                  <a:spLocks noRot="1" noChangeAspect="1" noMove="1" noResize="1" noEditPoints="1" noAdjustHandles="1" noChangeArrowheads="1" noChangeShapeType="1" noTextEdit="1"/>
                </p:cNvSpPr>
                <p:nvPr/>
              </p:nvSpPr>
              <p:spPr>
                <a:xfrm>
                  <a:off x="4142522" y="4512927"/>
                  <a:ext cx="2392093" cy="958980"/>
                </a:xfrm>
                <a:prstGeom prst="rect">
                  <a:avLst/>
                </a:prstGeom>
                <a:blipFill>
                  <a:blip r:embed="rId5"/>
                  <a:stretch>
                    <a:fillRect/>
                  </a:stretch>
                </a:blipFill>
              </p:spPr>
              <p:txBody>
                <a:bodyPr/>
                <a:lstStyle/>
                <a:p>
                  <a:r>
                    <a:rPr lang="es-CO">
                      <a:noFill/>
                    </a:rPr>
                    <a:t> </a:t>
                  </a:r>
                </a:p>
              </p:txBody>
            </p:sp>
          </mc:Fallback>
        </mc:AlternateContent>
        <p:cxnSp>
          <p:nvCxnSpPr>
            <p:cNvPr id="13" name="Conector recto 12">
              <a:extLst>
                <a:ext uri="{FF2B5EF4-FFF2-40B4-BE49-F238E27FC236}">
                  <a16:creationId xmlns:a16="http://schemas.microsoft.com/office/drawing/2014/main" id="{8FC17297-35A7-4004-B285-1FA8C4731820}"/>
                </a:ext>
              </a:extLst>
            </p:cNvPr>
            <p:cNvCxnSpPr>
              <a:cxnSpLocks/>
            </p:cNvCxnSpPr>
            <p:nvPr/>
          </p:nvCxnSpPr>
          <p:spPr>
            <a:xfrm>
              <a:off x="4218931" y="5153139"/>
              <a:ext cx="21929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graphicFrame>
            <p:nvGraphicFramePr>
              <p:cNvPr id="14" name="Tabla 2">
                <a:extLst>
                  <a:ext uri="{FF2B5EF4-FFF2-40B4-BE49-F238E27FC236}">
                    <a16:creationId xmlns:a16="http://schemas.microsoft.com/office/drawing/2014/main" id="{7220BB13-3652-457C-A378-3DF759F1EC07}"/>
                  </a:ext>
                </a:extLst>
              </p:cNvPr>
              <p:cNvGraphicFramePr>
                <a:graphicFrameLocks noGrp="1"/>
              </p:cNvGraphicFramePr>
              <p:nvPr>
                <p:extLst>
                  <p:ext uri="{D42A27DB-BD31-4B8C-83A1-F6EECF244321}">
                    <p14:modId xmlns:p14="http://schemas.microsoft.com/office/powerpoint/2010/main" val="2078332936"/>
                  </p:ext>
                </p:extLst>
              </p:nvPr>
            </p:nvGraphicFramePr>
            <p:xfrm>
              <a:off x="4900739" y="1795482"/>
              <a:ext cx="7026301" cy="1854200"/>
            </p:xfrm>
            <a:graphic>
              <a:graphicData uri="http://schemas.openxmlformats.org/drawingml/2006/table">
                <a:tbl>
                  <a:tblPr firstRow="1" bandRow="1">
                    <a:tableStyleId>{AD6A3598-7CB8-4345-8D95-17CE05F158A0}</a:tableStyleId>
                  </a:tblPr>
                  <a:tblGrid>
                    <a:gridCol w="564192">
                      <a:extLst>
                        <a:ext uri="{9D8B030D-6E8A-4147-A177-3AD203B41FA5}">
                          <a16:colId xmlns:a16="http://schemas.microsoft.com/office/drawing/2014/main" val="1610952478"/>
                        </a:ext>
                      </a:extLst>
                    </a:gridCol>
                    <a:gridCol w="3703225">
                      <a:extLst>
                        <a:ext uri="{9D8B030D-6E8A-4147-A177-3AD203B41FA5}">
                          <a16:colId xmlns:a16="http://schemas.microsoft.com/office/drawing/2014/main" val="2942974496"/>
                        </a:ext>
                      </a:extLst>
                    </a:gridCol>
                    <a:gridCol w="2758884">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Afirmación</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𝟏</m:t>
                                </m:r>
                              </m:oMath>
                            </m:oMathPara>
                          </a14:m>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Cambria Math" panose="02040503050406030204" pitchFamily="18" charset="0"/>
                                  </a:rPr>
                                  <m:t>∀</m:t>
                                </m:r>
                                <m:r>
                                  <a:rPr lang="es-MX" sz="1600" i="1" smtClean="0">
                                    <a:latin typeface="Cambria Math" panose="02040503050406030204" pitchFamily="18" charset="0"/>
                                    <a:ea typeface="Cambria Math" panose="02040503050406030204" pitchFamily="18" charset="0"/>
                                  </a:rPr>
                                  <m:t>𝑥</m:t>
                                </m:r>
                                <m:d>
                                  <m:dPr>
                                    <m:ctrlPr>
                                      <a:rPr lang="es-MX" sz="1600" i="1">
                                        <a:latin typeface="Cambria Math" panose="02040503050406030204" pitchFamily="18" charset="0"/>
                                        <a:ea typeface="Cambria Math" panose="02040503050406030204" pitchFamily="18" charset="0"/>
                                      </a:rPr>
                                    </m:ctrlPr>
                                  </m:dPr>
                                  <m:e>
                                    <m:r>
                                      <a:rPr lang="es-MX" sz="1600" i="1">
                                        <a:latin typeface="Cambria Math" panose="02040503050406030204" pitchFamily="18" charset="0"/>
                                        <a:ea typeface="Cambria Math" panose="02040503050406030204" pitchFamily="18" charset="0"/>
                                      </a:rPr>
                                      <m:t>h𝑜𝑚𝑏𝑟𝑒</m:t>
                                    </m:r>
                                    <m:d>
                                      <m:dPr>
                                        <m:ctrlPr>
                                          <a:rPr lang="es-MX" sz="1600" i="1">
                                            <a:latin typeface="Cambria Math" panose="02040503050406030204" pitchFamily="18" charset="0"/>
                                            <a:ea typeface="Cambria Math" panose="02040503050406030204" pitchFamily="18" charset="0"/>
                                          </a:rPr>
                                        </m:ctrlPr>
                                      </m:dPr>
                                      <m:e>
                                        <m:r>
                                          <a:rPr lang="es-MX" sz="1600" i="1">
                                            <a:latin typeface="Cambria Math" panose="02040503050406030204" pitchFamily="18" charset="0"/>
                                            <a:ea typeface="Cambria Math" panose="02040503050406030204" pitchFamily="18" charset="0"/>
                                          </a:rPr>
                                          <m:t>𝑥</m:t>
                                        </m:r>
                                      </m:e>
                                    </m:d>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𝑚𝑜𝑟𝑡𝑎𝑙</m:t>
                                    </m:r>
                                    <m:d>
                                      <m:dPr>
                                        <m:ctrlPr>
                                          <a:rPr lang="es-MX" sz="1600" i="1">
                                            <a:latin typeface="Cambria Math" panose="02040503050406030204" pitchFamily="18" charset="0"/>
                                            <a:ea typeface="Cambria Math" panose="02040503050406030204" pitchFamily="18" charset="0"/>
                                          </a:rPr>
                                        </m:ctrlPr>
                                      </m:dPr>
                                      <m:e>
                                        <m:r>
                                          <a:rPr lang="es-MX" sz="1600" i="1">
                                            <a:latin typeface="Cambria Math" panose="02040503050406030204" pitchFamily="18" charset="0"/>
                                            <a:ea typeface="Cambria Math" panose="02040503050406030204" pitchFamily="18" charset="0"/>
                                          </a:rPr>
                                          <m:t>𝑥</m:t>
                                        </m:r>
                                      </m:e>
                                    </m:d>
                                  </m:e>
                                </m:d>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Premisa </a:t>
                          </a:r>
                          <a:r>
                            <a:rPr lang="es-CO" sz="1800" b="1" dirty="0">
                              <a:latin typeface="+mn-lt"/>
                              <a:ea typeface="Roboto" panose="02000000000000000000" pitchFamily="2" charset="0"/>
                            </a:rPr>
                            <a:t>a</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𝟐</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Cambria Math" panose="02040503050406030204" pitchFamily="18" charset="0"/>
                                  </a:rPr>
                                  <m:t>h𝑜𝑚𝑏𝑟𝑒</m:t>
                                </m:r>
                                <m:d>
                                  <m:dPr>
                                    <m:ctrlPr>
                                      <a:rPr lang="es-MX" sz="1600" i="1">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𝑆𝑜𝑐𝑟𝑎𝑡𝑒𝑠</m:t>
                                    </m:r>
                                  </m:e>
                                </m:d>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𝑚𝑜𝑟𝑡𝑎𝑙</m:t>
                                </m:r>
                                <m:d>
                                  <m:dPr>
                                    <m:ctrlPr>
                                      <a:rPr lang="es-MX" sz="1600" i="1">
                                        <a:latin typeface="Cambria Math" panose="02040503050406030204" pitchFamily="18" charset="0"/>
                                        <a:ea typeface="Cambria Math" panose="02040503050406030204" pitchFamily="18" charset="0"/>
                                      </a:rPr>
                                    </m:ctrlPr>
                                  </m:dPr>
                                  <m:e>
                                    <m:r>
                                      <m:rPr>
                                        <m:sty m:val="p"/>
                                      </m:rPr>
                                      <a:rPr lang="es-MX" sz="1600" b="0" i="0" smtClean="0">
                                        <a:latin typeface="Cambria Math" panose="02040503050406030204" pitchFamily="18" charset="0"/>
                                        <a:ea typeface="Cambria Math" panose="02040503050406030204" pitchFamily="18" charset="0"/>
                                      </a:rPr>
                                      <m:t>Socrates</m:t>
                                    </m:r>
                                  </m:e>
                                </m:d>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Instanciación universal en </a:t>
                          </a:r>
                          <a:r>
                            <a:rPr lang="es-CO" sz="1800" b="1" dirty="0">
                              <a:latin typeface="+mn-lt"/>
                              <a:ea typeface="Roboto" panose="02000000000000000000" pitchFamily="2" charset="0"/>
                            </a:rPr>
                            <a:t>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𝟑</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Roboto" panose="02000000000000000000" pitchFamily="2" charset="0"/>
                                  </a:rPr>
                                  <m:t>h𝑜𝑚𝑏𝑟𝑒</m:t>
                                </m:r>
                                <m:d>
                                  <m:dPr>
                                    <m:ctrlPr>
                                      <a:rPr lang="es-MX" sz="1600" i="1">
                                        <a:latin typeface="Cambria Math" panose="02040503050406030204" pitchFamily="18" charset="0"/>
                                        <a:ea typeface="Roboto" panose="02000000000000000000" pitchFamily="2" charset="0"/>
                                      </a:rPr>
                                    </m:ctrlPr>
                                  </m:dPr>
                                  <m:e>
                                    <m:r>
                                      <m:rPr>
                                        <m:sty m:val="p"/>
                                      </m:rPr>
                                      <a:rPr lang="es-MX" sz="1600">
                                        <a:latin typeface="Cambria Math" panose="02040503050406030204" pitchFamily="18" charset="0"/>
                                        <a:ea typeface="Roboto" panose="02000000000000000000" pitchFamily="2" charset="0"/>
                                      </a:rPr>
                                      <m:t>Socrates</m:t>
                                    </m:r>
                                  </m:e>
                                </m:d>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Premisa </a:t>
                          </a:r>
                          <a:r>
                            <a:rPr lang="es-CO" sz="1800" b="1" dirty="0">
                              <a:latin typeface="+mn-lt"/>
                              <a:ea typeface="Roboto" panose="02000000000000000000" pitchFamily="2" charset="0"/>
                            </a:rPr>
                            <a:t>b</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𝟒</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Cambria Math" panose="02040503050406030204" pitchFamily="18" charset="0"/>
                                  </a:rPr>
                                  <m:t>𝑚𝑜𝑟𝑡𝑎𝑙</m:t>
                                </m:r>
                                <m:d>
                                  <m:dPr>
                                    <m:ctrlPr>
                                      <a:rPr lang="es-MX" sz="1600" i="1">
                                        <a:latin typeface="Cambria Math" panose="02040503050406030204" pitchFamily="18" charset="0"/>
                                        <a:ea typeface="Cambria Math" panose="02040503050406030204" pitchFamily="18" charset="0"/>
                                      </a:rPr>
                                    </m:ctrlPr>
                                  </m:dPr>
                                  <m:e>
                                    <m:r>
                                      <m:rPr>
                                        <m:sty m:val="p"/>
                                      </m:rPr>
                                      <a:rPr lang="es-MX" sz="1600" b="0" i="0" smtClean="0">
                                        <a:latin typeface="Cambria Math" panose="02040503050406030204" pitchFamily="18" charset="0"/>
                                        <a:ea typeface="Cambria Math" panose="02040503050406030204" pitchFamily="18" charset="0"/>
                                      </a:rPr>
                                      <m:t>Socrates</m:t>
                                    </m:r>
                                  </m:e>
                                </m:d>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Modus ponens </a:t>
                          </a:r>
                          <a:r>
                            <a:rPr lang="es-CO" sz="1800" b="1" dirty="0">
                              <a:latin typeface="+mn-lt"/>
                              <a:ea typeface="Roboto" panose="02000000000000000000" pitchFamily="2" charset="0"/>
                            </a:rPr>
                            <a:t>2 </a:t>
                          </a:r>
                          <a:r>
                            <a:rPr lang="es-CO" sz="1800" b="0" dirty="0">
                              <a:latin typeface="+mn-lt"/>
                              <a:ea typeface="Roboto" panose="02000000000000000000" pitchFamily="2" charset="0"/>
                            </a:rPr>
                            <a:t>y</a:t>
                          </a:r>
                          <a:r>
                            <a:rPr lang="es-CO" sz="1800" b="1" dirty="0">
                              <a:latin typeface="+mn-lt"/>
                              <a:ea typeface="Roboto" panose="02000000000000000000" pitchFamily="2" charset="0"/>
                            </a:rPr>
                            <a:t> 3</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bl>
              </a:graphicData>
            </a:graphic>
          </p:graphicFrame>
        </mc:Choice>
        <mc:Fallback xmlns="">
          <p:graphicFrame>
            <p:nvGraphicFramePr>
              <p:cNvPr id="14" name="Tabla 2">
                <a:extLst>
                  <a:ext uri="{FF2B5EF4-FFF2-40B4-BE49-F238E27FC236}">
                    <a16:creationId xmlns:a16="http://schemas.microsoft.com/office/drawing/2014/main" id="{7220BB13-3652-457C-A378-3DF759F1EC07}"/>
                  </a:ext>
                </a:extLst>
              </p:cNvPr>
              <p:cNvGraphicFramePr>
                <a:graphicFrameLocks noGrp="1"/>
              </p:cNvGraphicFramePr>
              <p:nvPr>
                <p:extLst>
                  <p:ext uri="{D42A27DB-BD31-4B8C-83A1-F6EECF244321}">
                    <p14:modId xmlns:p14="http://schemas.microsoft.com/office/powerpoint/2010/main" val="2078332936"/>
                  </p:ext>
                </p:extLst>
              </p:nvPr>
            </p:nvGraphicFramePr>
            <p:xfrm>
              <a:off x="4900739" y="1795482"/>
              <a:ext cx="7026301" cy="1854200"/>
            </p:xfrm>
            <a:graphic>
              <a:graphicData uri="http://schemas.openxmlformats.org/drawingml/2006/table">
                <a:tbl>
                  <a:tblPr firstRow="1" bandRow="1">
                    <a:tableStyleId>{AD6A3598-7CB8-4345-8D95-17CE05F158A0}</a:tableStyleId>
                  </a:tblPr>
                  <a:tblGrid>
                    <a:gridCol w="564192">
                      <a:extLst>
                        <a:ext uri="{9D8B030D-6E8A-4147-A177-3AD203B41FA5}">
                          <a16:colId xmlns:a16="http://schemas.microsoft.com/office/drawing/2014/main" val="1610952478"/>
                        </a:ext>
                      </a:extLst>
                    </a:gridCol>
                    <a:gridCol w="3703225">
                      <a:extLst>
                        <a:ext uri="{9D8B030D-6E8A-4147-A177-3AD203B41FA5}">
                          <a16:colId xmlns:a16="http://schemas.microsoft.com/office/drawing/2014/main" val="2942974496"/>
                        </a:ext>
                      </a:extLst>
                    </a:gridCol>
                    <a:gridCol w="2758884">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Afirmación</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600" b="1" dirty="0">
                              <a:latin typeface="+mn-lt"/>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108197" r="-1141935" b="-32459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15296" t="-108197" r="-74671" b="-324590"/>
                          </a:stretch>
                        </a:blipFill>
                      </a:tcPr>
                    </a:tc>
                    <a:tc>
                      <a:txBody>
                        <a:bodyPr/>
                        <a:lstStyle/>
                        <a:p>
                          <a:r>
                            <a:rPr lang="es-CO" sz="1800" dirty="0">
                              <a:latin typeface="+mn-lt"/>
                              <a:ea typeface="Roboto" panose="02000000000000000000" pitchFamily="2" charset="0"/>
                            </a:rPr>
                            <a:t>Premisa </a:t>
                          </a:r>
                          <a:r>
                            <a:rPr lang="es-CO" sz="1800" b="1" dirty="0">
                              <a:latin typeface="+mn-lt"/>
                              <a:ea typeface="Roboto" panose="02000000000000000000" pitchFamily="2" charset="0"/>
                            </a:rPr>
                            <a:t>a</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208197" r="-1141935" b="-22459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15296" t="-208197" r="-74671" b="-224590"/>
                          </a:stretch>
                        </a:blipFill>
                      </a:tcPr>
                    </a:tc>
                    <a:tc>
                      <a:txBody>
                        <a:bodyPr/>
                        <a:lstStyle/>
                        <a:p>
                          <a:r>
                            <a:rPr lang="es-CO" sz="1800" dirty="0">
                              <a:latin typeface="+mn-lt"/>
                              <a:ea typeface="Roboto" panose="02000000000000000000" pitchFamily="2" charset="0"/>
                            </a:rPr>
                            <a:t>Instanciación universal en </a:t>
                          </a:r>
                          <a:r>
                            <a:rPr lang="es-CO" sz="1800" b="1" dirty="0">
                              <a:latin typeface="+mn-lt"/>
                              <a:ea typeface="Roboto" panose="02000000000000000000" pitchFamily="2" charset="0"/>
                            </a:rPr>
                            <a:t>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308197" r="-1141935" b="-12459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15296" t="-308197" r="-74671" b="-124590"/>
                          </a:stretch>
                        </a:blipFill>
                      </a:tcPr>
                    </a:tc>
                    <a:tc>
                      <a:txBody>
                        <a:bodyPr/>
                        <a:lstStyle/>
                        <a:p>
                          <a:r>
                            <a:rPr lang="es-CO" sz="1800" dirty="0">
                              <a:latin typeface="+mn-lt"/>
                              <a:ea typeface="Roboto" panose="02000000000000000000" pitchFamily="2" charset="0"/>
                            </a:rPr>
                            <a:t>Premisa </a:t>
                          </a:r>
                          <a:r>
                            <a:rPr lang="es-CO" sz="1800" b="1" dirty="0">
                              <a:latin typeface="+mn-lt"/>
                              <a:ea typeface="Roboto" panose="02000000000000000000" pitchFamily="2" charset="0"/>
                            </a:rPr>
                            <a:t>b</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408197" r="-1141935" b="-2459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15296" t="-408197" r="-74671" b="-24590"/>
                          </a:stretch>
                        </a:blipFill>
                      </a:tcPr>
                    </a:tc>
                    <a:tc>
                      <a:txBody>
                        <a:bodyPr/>
                        <a:lstStyle/>
                        <a:p>
                          <a:r>
                            <a:rPr lang="es-CO" sz="1800" dirty="0">
                              <a:latin typeface="+mn-lt"/>
                              <a:ea typeface="Roboto" panose="02000000000000000000" pitchFamily="2" charset="0"/>
                            </a:rPr>
                            <a:t>Modus ponens </a:t>
                          </a:r>
                          <a:r>
                            <a:rPr lang="es-CO" sz="1800" b="1" dirty="0">
                              <a:latin typeface="+mn-lt"/>
                              <a:ea typeface="Roboto" panose="02000000000000000000" pitchFamily="2" charset="0"/>
                            </a:rPr>
                            <a:t>2 </a:t>
                          </a:r>
                          <a:r>
                            <a:rPr lang="es-CO" sz="1800" b="0" dirty="0">
                              <a:latin typeface="+mn-lt"/>
                              <a:ea typeface="Roboto" panose="02000000000000000000" pitchFamily="2" charset="0"/>
                            </a:rPr>
                            <a:t>y</a:t>
                          </a:r>
                          <a:r>
                            <a:rPr lang="es-CO" sz="1800" b="1" dirty="0">
                              <a:latin typeface="+mn-lt"/>
                              <a:ea typeface="Roboto" panose="02000000000000000000" pitchFamily="2" charset="0"/>
                            </a:rPr>
                            <a:t> 3</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bl>
              </a:graphicData>
            </a:graphic>
          </p:graphicFrame>
        </mc:Fallback>
      </mc:AlternateContent>
    </p:spTree>
    <p:extLst>
      <p:ext uri="{BB962C8B-B14F-4D97-AF65-F5344CB8AC3E}">
        <p14:creationId xmlns:p14="http://schemas.microsoft.com/office/powerpoint/2010/main" val="7668626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466707" y="96038"/>
            <a:ext cx="8753943"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24" name="CuadroTexto 23">
            <a:extLst>
              <a:ext uri="{FF2B5EF4-FFF2-40B4-BE49-F238E27FC236}">
                <a16:creationId xmlns:a16="http://schemas.microsoft.com/office/drawing/2014/main" id="{56528687-85B1-4CEE-A444-E2F774570C64}"/>
              </a:ext>
            </a:extLst>
          </p:cNvPr>
          <p:cNvSpPr txBox="1"/>
          <p:nvPr/>
        </p:nvSpPr>
        <p:spPr>
          <a:xfrm>
            <a:off x="466707" y="994762"/>
            <a:ext cx="11044291"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Ejemplo 2</a:t>
            </a:r>
          </a:p>
        </p:txBody>
      </p:sp>
      <p:sp>
        <p:nvSpPr>
          <p:cNvPr id="5" name="CuadroTexto 4">
            <a:extLst>
              <a:ext uri="{FF2B5EF4-FFF2-40B4-BE49-F238E27FC236}">
                <a16:creationId xmlns:a16="http://schemas.microsoft.com/office/drawing/2014/main" id="{D055498E-B21E-4DD3-9366-5DAC438D31FC}"/>
              </a:ext>
            </a:extLst>
          </p:cNvPr>
          <p:cNvSpPr txBox="1"/>
          <p:nvPr/>
        </p:nvSpPr>
        <p:spPr>
          <a:xfrm>
            <a:off x="466707" y="1675891"/>
            <a:ext cx="10947819" cy="1015663"/>
          </a:xfrm>
          <a:prstGeom prst="rect">
            <a:avLst/>
          </a:prstGeom>
          <a:noFill/>
        </p:spPr>
        <p:txBody>
          <a:bodyPr wrap="square" rtlCol="0">
            <a:spAutoFit/>
          </a:bodyPr>
          <a:lstStyle/>
          <a:p>
            <a:r>
              <a:rPr lang="es-MX" sz="2000" b="1" dirty="0">
                <a:ea typeface="Roboto" panose="02000000000000000000" pitchFamily="2" charset="0"/>
              </a:rPr>
              <a:t>Ejemplo</a:t>
            </a:r>
            <a:r>
              <a:rPr lang="es-MX" sz="2000" dirty="0">
                <a:ea typeface="Roboto" panose="02000000000000000000" pitchFamily="2" charset="0"/>
              </a:rPr>
              <a:t>: Demuestre que las premisas “Todos en esta clase de matemáticas discretas han tomado un curso de informática” y “Josefina es una estudiante de esta clase” implican la conclusión “Josefina ha tomado un curso de informática”.</a:t>
            </a:r>
          </a:p>
        </p:txBody>
      </p:sp>
    </p:spTree>
    <p:extLst>
      <p:ext uri="{BB962C8B-B14F-4D97-AF65-F5344CB8AC3E}">
        <p14:creationId xmlns:p14="http://schemas.microsoft.com/office/powerpoint/2010/main" val="581769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690507" y="96038"/>
            <a:ext cx="8530143"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24" name="CuadroTexto 23">
            <a:extLst>
              <a:ext uri="{FF2B5EF4-FFF2-40B4-BE49-F238E27FC236}">
                <a16:creationId xmlns:a16="http://schemas.microsoft.com/office/drawing/2014/main" id="{56528687-85B1-4CEE-A444-E2F774570C64}"/>
              </a:ext>
            </a:extLst>
          </p:cNvPr>
          <p:cNvSpPr txBox="1"/>
          <p:nvPr/>
        </p:nvSpPr>
        <p:spPr>
          <a:xfrm>
            <a:off x="690507" y="937062"/>
            <a:ext cx="11044291"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Ejemplo 2</a:t>
            </a:r>
          </a:p>
        </p:txBody>
      </p:sp>
      <mc:AlternateContent xmlns:mc="http://schemas.openxmlformats.org/markup-compatibility/2006" xmlns:a14="http://schemas.microsoft.com/office/drawing/2010/main">
        <mc:Choice Requires="a14">
          <p:graphicFrame>
            <p:nvGraphicFramePr>
              <p:cNvPr id="6" name="Tabla 3">
                <a:extLst>
                  <a:ext uri="{FF2B5EF4-FFF2-40B4-BE49-F238E27FC236}">
                    <a16:creationId xmlns:a16="http://schemas.microsoft.com/office/drawing/2014/main" id="{B268220F-8A60-4908-981E-8C2BA0B3EB23}"/>
                  </a:ext>
                </a:extLst>
              </p:cNvPr>
              <p:cNvGraphicFramePr>
                <a:graphicFrameLocks noGrp="1"/>
              </p:cNvGraphicFramePr>
              <p:nvPr>
                <p:extLst>
                  <p:ext uri="{D42A27DB-BD31-4B8C-83A1-F6EECF244321}">
                    <p14:modId xmlns:p14="http://schemas.microsoft.com/office/powerpoint/2010/main" val="3418826510"/>
                  </p:ext>
                </p:extLst>
              </p:nvPr>
            </p:nvGraphicFramePr>
            <p:xfrm>
              <a:off x="1013120" y="4503251"/>
              <a:ext cx="4371679" cy="2072640"/>
            </p:xfrm>
            <a:graphic>
              <a:graphicData uri="http://schemas.openxmlformats.org/drawingml/2006/table">
                <a:tbl>
                  <a:tblPr firstRow="1" bandRow="1">
                    <a:tableStyleId>{AD6A3598-7CB8-4345-8D95-17CE05F158A0}</a:tableStyleId>
                  </a:tblPr>
                  <a:tblGrid>
                    <a:gridCol w="245257">
                      <a:extLst>
                        <a:ext uri="{9D8B030D-6E8A-4147-A177-3AD203B41FA5}">
                          <a16:colId xmlns:a16="http://schemas.microsoft.com/office/drawing/2014/main" val="2057099001"/>
                        </a:ext>
                      </a:extLst>
                    </a:gridCol>
                    <a:gridCol w="2558880">
                      <a:extLst>
                        <a:ext uri="{9D8B030D-6E8A-4147-A177-3AD203B41FA5}">
                          <a16:colId xmlns:a16="http://schemas.microsoft.com/office/drawing/2014/main" val="2721384015"/>
                        </a:ext>
                      </a:extLst>
                    </a:gridCol>
                    <a:gridCol w="1567542">
                      <a:extLst>
                        <a:ext uri="{9D8B030D-6E8A-4147-A177-3AD203B41FA5}">
                          <a16:colId xmlns:a16="http://schemas.microsoft.com/office/drawing/2014/main" val="3804441368"/>
                        </a:ext>
                      </a:extLst>
                    </a:gridCol>
                  </a:tblGrid>
                  <a:tr h="276552">
                    <a:tc>
                      <a:txBody>
                        <a:bodyPr/>
                        <a:lstStyle/>
                        <a:p>
                          <a:pPr algn="ctr"/>
                          <a:r>
                            <a:rPr lang="es-CO" sz="1400" b="1" dirty="0">
                              <a:latin typeface="+mn-lt"/>
                              <a:ea typeface="Roboto" panose="02000000000000000000" pitchFamily="2" charset="0"/>
                            </a:rPr>
                            <a:t>#</a:t>
                          </a:r>
                        </a:p>
                      </a:txBody>
                      <a:tcPr/>
                    </a:tc>
                    <a:tc>
                      <a:txBody>
                        <a:bodyPr/>
                        <a:lstStyle/>
                        <a:p>
                          <a:r>
                            <a:rPr lang="es-CO" sz="1400" b="1" dirty="0">
                              <a:latin typeface="+mn-lt"/>
                              <a:ea typeface="Roboto" panose="02000000000000000000" pitchFamily="2" charset="0"/>
                            </a:rPr>
                            <a:t>Enunciado</a:t>
                          </a:r>
                        </a:p>
                      </a:txBody>
                      <a:tcPr/>
                    </a:tc>
                    <a:tc>
                      <a:txBody>
                        <a:bodyPr/>
                        <a:lstStyle/>
                        <a:p>
                          <a:r>
                            <a:rPr lang="es-CO" sz="1400" b="1" dirty="0">
                              <a:latin typeface="+mn-lt"/>
                              <a:ea typeface="Roboto" panose="02000000000000000000" pitchFamily="2" charset="0"/>
                            </a:rPr>
                            <a:t>Representación</a:t>
                          </a:r>
                        </a:p>
                      </a:txBody>
                      <a:tcPr/>
                    </a:tc>
                    <a:extLst>
                      <a:ext uri="{0D108BD9-81ED-4DB2-BD59-A6C34878D82A}">
                        <a16:rowId xmlns:a16="http://schemas.microsoft.com/office/drawing/2014/main" val="3910282906"/>
                      </a:ext>
                    </a:extLst>
                  </a:tr>
                  <a:tr h="276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400" dirty="0">
                              <a:latin typeface="+mn-lt"/>
                              <a:ea typeface="Roboto" panose="02000000000000000000" pitchFamily="2" charset="0"/>
                            </a:rPr>
                            <a:t>1</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1" dirty="0">
                              <a:latin typeface="+mn-lt"/>
                              <a:ea typeface="Roboto" panose="02000000000000000000" pitchFamily="2" charset="0"/>
                            </a:rPr>
                            <a:t>Premisa1</a:t>
                          </a:r>
                          <a:r>
                            <a:rPr lang="es-MX" sz="1400" dirty="0">
                              <a:latin typeface="+mn-lt"/>
                              <a:ea typeface="Roboto" panose="02000000000000000000" pitchFamily="2" charset="0"/>
                            </a:rPr>
                            <a:t>: Todos en esta clase de matemáticas discretas han tomado un curso de informática</a:t>
                          </a:r>
                          <a:endParaRPr lang="es-CO" sz="1400" dirty="0">
                            <a:latin typeface="+mn-lt"/>
                            <a:ea typeface="Roboto" panose="02000000000000000000" pitchFamily="2" charset="0"/>
                          </a:endParaRPr>
                        </a:p>
                      </a:txBody>
                      <a:tcPr anchor="ctr"/>
                    </a:tc>
                    <a:tc>
                      <a:txBody>
                        <a:bodyPr/>
                        <a:lstStyle/>
                        <a:p>
                          <a:pPr algn="l"/>
                          <a14:m>
                            <m:oMathPara xmlns:m="http://schemas.openxmlformats.org/officeDocument/2006/math">
                              <m:oMathParaPr>
                                <m:jc m:val="left"/>
                              </m:oMathParaPr>
                              <m:oMath xmlns:m="http://schemas.openxmlformats.org/officeDocument/2006/math">
                                <m:r>
                                  <a:rPr lang="es-MX" sz="1200" b="0" i="1" smtClean="0">
                                    <a:latin typeface="Cambria Math" panose="02040503050406030204" pitchFamily="18" charset="0"/>
                                    <a:ea typeface="Cambria Math" panose="02040503050406030204" pitchFamily="18" charset="0"/>
                                  </a:rPr>
                                  <m:t>∀</m:t>
                                </m:r>
                                <m:r>
                                  <a:rPr lang="es-MX" sz="1200" b="0" i="1" smtClean="0">
                                    <a:latin typeface="Cambria Math" panose="02040503050406030204" pitchFamily="18" charset="0"/>
                                    <a:ea typeface="Cambria Math" panose="02040503050406030204" pitchFamily="18" charset="0"/>
                                  </a:rPr>
                                  <m:t>𝑥</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𝐷</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𝑥</m:t>
                                        </m:r>
                                      </m:e>
                                    </m:d>
                                    <m:r>
                                      <a:rPr lang="es-MX" sz="1200" b="0" i="1" smtClean="0">
                                        <a:latin typeface="Cambria Math" panose="02040503050406030204" pitchFamily="18" charset="0"/>
                                        <a:ea typeface="Cambria Math" panose="02040503050406030204" pitchFamily="18" charset="0"/>
                                      </a:rPr>
                                      <m:t>→</m:t>
                                    </m:r>
                                    <m:r>
                                      <a:rPr lang="es-MX" sz="1200" b="0" i="1" smtClean="0">
                                        <a:latin typeface="Cambria Math" panose="02040503050406030204" pitchFamily="18" charset="0"/>
                                        <a:ea typeface="Cambria Math" panose="02040503050406030204" pitchFamily="18" charset="0"/>
                                      </a:rPr>
                                      <m:t>𝐼</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𝑥</m:t>
                                        </m:r>
                                      </m:e>
                                    </m:d>
                                  </m:e>
                                </m:d>
                              </m:oMath>
                            </m:oMathPara>
                          </a14:m>
                          <a:endParaRPr lang="es-MX" sz="1200" dirty="0">
                            <a:latin typeface="+mn-lt"/>
                            <a:ea typeface="Roboto" panose="02000000000000000000" pitchFamily="2" charset="0"/>
                          </a:endParaRPr>
                        </a:p>
                      </a:txBody>
                      <a:tcPr anchor="ctr"/>
                    </a:tc>
                    <a:extLst>
                      <a:ext uri="{0D108BD9-81ED-4DB2-BD59-A6C34878D82A}">
                        <a16:rowId xmlns:a16="http://schemas.microsoft.com/office/drawing/2014/main" val="3412829917"/>
                      </a:ext>
                    </a:extLst>
                  </a:tr>
                  <a:tr h="276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2</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400" b="1" dirty="0">
                              <a:latin typeface="+mn-lt"/>
                            </a:rPr>
                            <a:t>Premisa 2</a:t>
                          </a:r>
                          <a:r>
                            <a:rPr lang="es-CO" sz="1400" dirty="0">
                              <a:latin typeface="+mn-lt"/>
                            </a:rPr>
                            <a:t>: Josefina es una estudiante de esta clase</a:t>
                          </a:r>
                          <a:endParaRPr lang="es-MX" sz="1400" dirty="0">
                            <a:latin typeface="+mn-lt"/>
                            <a:ea typeface="Roboto" panose="02000000000000000000" pitchFamily="2" charset="0"/>
                          </a:endParaRP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200" b="0" i="1" smtClean="0">
                                    <a:latin typeface="Cambria Math" panose="02040503050406030204" pitchFamily="18" charset="0"/>
                                    <a:ea typeface="Roboto" panose="02000000000000000000" pitchFamily="2" charset="0"/>
                                  </a:rPr>
                                  <m:t>𝐷</m:t>
                                </m:r>
                                <m:d>
                                  <m:dPr>
                                    <m:ctrlPr>
                                      <a:rPr lang="es-MX" sz="1200" b="0" i="1" smtClean="0">
                                        <a:latin typeface="Cambria Math" panose="02040503050406030204" pitchFamily="18" charset="0"/>
                                        <a:ea typeface="Roboto" panose="02000000000000000000" pitchFamily="2" charset="0"/>
                                      </a:rPr>
                                    </m:ctrlPr>
                                  </m:dPr>
                                  <m:e>
                                    <m:r>
                                      <m:rPr>
                                        <m:sty m:val="p"/>
                                      </m:rPr>
                                      <a:rPr lang="es-MX" sz="1200" b="0" i="0" smtClean="0">
                                        <a:latin typeface="Cambria Math" panose="02040503050406030204" pitchFamily="18" charset="0"/>
                                        <a:ea typeface="Roboto" panose="02000000000000000000" pitchFamily="2" charset="0"/>
                                      </a:rPr>
                                      <m:t>Josefina</m:t>
                                    </m:r>
                                  </m:e>
                                </m:d>
                              </m:oMath>
                            </m:oMathPara>
                          </a14:m>
                          <a:endParaRPr lang="es-MX" sz="1200" dirty="0">
                            <a:latin typeface="+mn-lt"/>
                            <a:ea typeface="Roboto" panose="02000000000000000000" pitchFamily="2" charset="0"/>
                          </a:endParaRPr>
                        </a:p>
                      </a:txBody>
                      <a:tcPr anchor="ctr"/>
                    </a:tc>
                    <a:extLst>
                      <a:ext uri="{0D108BD9-81ED-4DB2-BD59-A6C34878D82A}">
                        <a16:rowId xmlns:a16="http://schemas.microsoft.com/office/drawing/2014/main" val="1575296453"/>
                      </a:ext>
                    </a:extLst>
                  </a:tr>
                  <a:tr h="276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3</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1" dirty="0">
                              <a:latin typeface="+mn-lt"/>
                              <a:ea typeface="Roboto" panose="02000000000000000000" pitchFamily="2" charset="0"/>
                            </a:rPr>
                            <a:t>Conclusión</a:t>
                          </a:r>
                          <a:r>
                            <a:rPr lang="es-MX" sz="1400" dirty="0">
                              <a:latin typeface="+mn-lt"/>
                              <a:ea typeface="Roboto" panose="02000000000000000000" pitchFamily="2" charset="0"/>
                            </a:rPr>
                            <a:t>: Josefina ha tomado un curso de informática</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200" b="0" i="1" smtClean="0">
                                    <a:latin typeface="Cambria Math" panose="02040503050406030204" pitchFamily="18" charset="0"/>
                                    <a:ea typeface="Roboto" panose="02000000000000000000" pitchFamily="2" charset="0"/>
                                  </a:rPr>
                                  <m:t>𝐼</m:t>
                                </m:r>
                                <m:d>
                                  <m:dPr>
                                    <m:ctrlPr>
                                      <a:rPr lang="es-MX" sz="1200" b="0" i="1" smtClean="0">
                                        <a:latin typeface="Cambria Math" panose="02040503050406030204" pitchFamily="18" charset="0"/>
                                        <a:ea typeface="Roboto" panose="02000000000000000000" pitchFamily="2" charset="0"/>
                                      </a:rPr>
                                    </m:ctrlPr>
                                  </m:dPr>
                                  <m:e>
                                    <m:r>
                                      <m:rPr>
                                        <m:sty m:val="p"/>
                                      </m:rPr>
                                      <a:rPr lang="es-MX" sz="1200" b="0" i="0" smtClean="0">
                                        <a:latin typeface="Cambria Math" panose="02040503050406030204" pitchFamily="18" charset="0"/>
                                        <a:ea typeface="Roboto" panose="02000000000000000000" pitchFamily="2" charset="0"/>
                                      </a:rPr>
                                      <m:t>Josefina</m:t>
                                    </m:r>
                                  </m:e>
                                </m:d>
                              </m:oMath>
                            </m:oMathPara>
                          </a14:m>
                          <a:endParaRPr lang="es-MX" sz="1200" dirty="0">
                            <a:latin typeface="+mn-lt"/>
                            <a:ea typeface="Roboto" panose="02000000000000000000" pitchFamily="2" charset="0"/>
                          </a:endParaRPr>
                        </a:p>
                      </a:txBody>
                      <a:tcPr anchor="ctr"/>
                    </a:tc>
                    <a:extLst>
                      <a:ext uri="{0D108BD9-81ED-4DB2-BD59-A6C34878D82A}">
                        <a16:rowId xmlns:a16="http://schemas.microsoft.com/office/drawing/2014/main" val="3379990816"/>
                      </a:ext>
                    </a:extLst>
                  </a:tr>
                </a:tbl>
              </a:graphicData>
            </a:graphic>
          </p:graphicFrame>
        </mc:Choice>
        <mc:Fallback xmlns="">
          <p:graphicFrame>
            <p:nvGraphicFramePr>
              <p:cNvPr id="6" name="Tabla 3">
                <a:extLst>
                  <a:ext uri="{FF2B5EF4-FFF2-40B4-BE49-F238E27FC236}">
                    <a16:creationId xmlns:a16="http://schemas.microsoft.com/office/drawing/2014/main" id="{B268220F-8A60-4908-981E-8C2BA0B3EB23}"/>
                  </a:ext>
                </a:extLst>
              </p:cNvPr>
              <p:cNvGraphicFramePr>
                <a:graphicFrameLocks noGrp="1"/>
              </p:cNvGraphicFramePr>
              <p:nvPr>
                <p:extLst>
                  <p:ext uri="{D42A27DB-BD31-4B8C-83A1-F6EECF244321}">
                    <p14:modId xmlns:p14="http://schemas.microsoft.com/office/powerpoint/2010/main" val="3418826510"/>
                  </p:ext>
                </p:extLst>
              </p:nvPr>
            </p:nvGraphicFramePr>
            <p:xfrm>
              <a:off x="1013120" y="4503251"/>
              <a:ext cx="4371679" cy="2072640"/>
            </p:xfrm>
            <a:graphic>
              <a:graphicData uri="http://schemas.openxmlformats.org/drawingml/2006/table">
                <a:tbl>
                  <a:tblPr firstRow="1" bandRow="1">
                    <a:tableStyleId>{AD6A3598-7CB8-4345-8D95-17CE05F158A0}</a:tableStyleId>
                  </a:tblPr>
                  <a:tblGrid>
                    <a:gridCol w="245257">
                      <a:extLst>
                        <a:ext uri="{9D8B030D-6E8A-4147-A177-3AD203B41FA5}">
                          <a16:colId xmlns:a16="http://schemas.microsoft.com/office/drawing/2014/main" val="2057099001"/>
                        </a:ext>
                      </a:extLst>
                    </a:gridCol>
                    <a:gridCol w="2558880">
                      <a:extLst>
                        <a:ext uri="{9D8B030D-6E8A-4147-A177-3AD203B41FA5}">
                          <a16:colId xmlns:a16="http://schemas.microsoft.com/office/drawing/2014/main" val="2721384015"/>
                        </a:ext>
                      </a:extLst>
                    </a:gridCol>
                    <a:gridCol w="1567542">
                      <a:extLst>
                        <a:ext uri="{9D8B030D-6E8A-4147-A177-3AD203B41FA5}">
                          <a16:colId xmlns:a16="http://schemas.microsoft.com/office/drawing/2014/main" val="3804441368"/>
                        </a:ext>
                      </a:extLst>
                    </a:gridCol>
                  </a:tblGrid>
                  <a:tr h="304800">
                    <a:tc>
                      <a:txBody>
                        <a:bodyPr/>
                        <a:lstStyle/>
                        <a:p>
                          <a:pPr algn="ctr"/>
                          <a:r>
                            <a:rPr lang="es-CO" sz="1400" b="1" dirty="0">
                              <a:latin typeface="+mn-lt"/>
                              <a:ea typeface="Roboto" panose="02000000000000000000" pitchFamily="2" charset="0"/>
                            </a:rPr>
                            <a:t>#</a:t>
                          </a:r>
                        </a:p>
                      </a:txBody>
                      <a:tcPr/>
                    </a:tc>
                    <a:tc>
                      <a:txBody>
                        <a:bodyPr/>
                        <a:lstStyle/>
                        <a:p>
                          <a:r>
                            <a:rPr lang="es-CO" sz="1400" b="1" dirty="0">
                              <a:latin typeface="+mn-lt"/>
                              <a:ea typeface="Roboto" panose="02000000000000000000" pitchFamily="2" charset="0"/>
                            </a:rPr>
                            <a:t>Enunciado</a:t>
                          </a:r>
                        </a:p>
                      </a:txBody>
                      <a:tcPr/>
                    </a:tc>
                    <a:tc>
                      <a:txBody>
                        <a:bodyPr/>
                        <a:lstStyle/>
                        <a:p>
                          <a:r>
                            <a:rPr lang="es-CO" sz="1400" b="1" dirty="0">
                              <a:latin typeface="+mn-lt"/>
                              <a:ea typeface="Roboto" panose="02000000000000000000" pitchFamily="2" charset="0"/>
                            </a:rPr>
                            <a:t>Representación</a:t>
                          </a:r>
                        </a:p>
                      </a:txBody>
                      <a:tcPr/>
                    </a:tc>
                    <a:extLst>
                      <a:ext uri="{0D108BD9-81ED-4DB2-BD59-A6C34878D82A}">
                        <a16:rowId xmlns:a16="http://schemas.microsoft.com/office/drawing/2014/main" val="3910282906"/>
                      </a:ext>
                    </a:extLst>
                  </a:tr>
                  <a:tr h="73152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400" dirty="0">
                              <a:latin typeface="+mn-lt"/>
                              <a:ea typeface="Roboto" panose="02000000000000000000" pitchFamily="2" charset="0"/>
                            </a:rPr>
                            <a:t>1</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1" dirty="0">
                              <a:latin typeface="+mn-lt"/>
                              <a:ea typeface="Roboto" panose="02000000000000000000" pitchFamily="2" charset="0"/>
                            </a:rPr>
                            <a:t>Premisa1</a:t>
                          </a:r>
                          <a:r>
                            <a:rPr lang="es-MX" sz="1400" dirty="0">
                              <a:latin typeface="+mn-lt"/>
                              <a:ea typeface="Roboto" panose="02000000000000000000" pitchFamily="2" charset="0"/>
                            </a:rPr>
                            <a:t>: Todos en esta clase de matemáticas discretas han tomado un curso de informática</a:t>
                          </a:r>
                          <a:endParaRPr lang="es-CO" sz="1400" dirty="0">
                            <a:latin typeface="+mn-lt"/>
                            <a:ea typeface="Roboto" panose="02000000000000000000" pitchFamily="2" charset="0"/>
                          </a:endParaRPr>
                        </a:p>
                      </a:txBody>
                      <a:tcPr anchor="ctr"/>
                    </a:tc>
                    <a:tc>
                      <a:txBody>
                        <a:bodyPr/>
                        <a:lstStyle/>
                        <a:p>
                          <a:endParaRPr lang="es-CO"/>
                        </a:p>
                      </a:txBody>
                      <a:tcPr anchor="ctr">
                        <a:blipFill>
                          <a:blip r:embed="rId3"/>
                          <a:stretch>
                            <a:fillRect l="-179767" t="-42149" r="-389" b="-148760"/>
                          </a:stretch>
                        </a:blipFill>
                      </a:tcPr>
                    </a:tc>
                    <a:extLst>
                      <a:ext uri="{0D108BD9-81ED-4DB2-BD59-A6C34878D82A}">
                        <a16:rowId xmlns:a16="http://schemas.microsoft.com/office/drawing/2014/main" val="3412829917"/>
                      </a:ext>
                    </a:extLst>
                  </a:tr>
                  <a:tr h="5181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2</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400" b="1" dirty="0">
                              <a:latin typeface="+mn-lt"/>
                            </a:rPr>
                            <a:t>Premisa 2</a:t>
                          </a:r>
                          <a:r>
                            <a:rPr lang="es-CO" sz="1400" dirty="0">
                              <a:latin typeface="+mn-lt"/>
                            </a:rPr>
                            <a:t>: Josefina es una estudiante de esta clase</a:t>
                          </a:r>
                          <a:endParaRPr lang="es-MX" sz="1400" dirty="0">
                            <a:latin typeface="+mn-lt"/>
                            <a:ea typeface="Roboto" panose="02000000000000000000" pitchFamily="2" charset="0"/>
                          </a:endParaRPr>
                        </a:p>
                      </a:txBody>
                      <a:tcPr anchor="ctr"/>
                    </a:tc>
                    <a:tc>
                      <a:txBody>
                        <a:bodyPr/>
                        <a:lstStyle/>
                        <a:p>
                          <a:endParaRPr lang="es-CO"/>
                        </a:p>
                      </a:txBody>
                      <a:tcPr anchor="ctr">
                        <a:blipFill>
                          <a:blip r:embed="rId3"/>
                          <a:stretch>
                            <a:fillRect l="-179767" t="-202353" r="-389" b="-111765"/>
                          </a:stretch>
                        </a:blipFill>
                      </a:tcPr>
                    </a:tc>
                    <a:extLst>
                      <a:ext uri="{0D108BD9-81ED-4DB2-BD59-A6C34878D82A}">
                        <a16:rowId xmlns:a16="http://schemas.microsoft.com/office/drawing/2014/main" val="1575296453"/>
                      </a:ext>
                    </a:extLst>
                  </a:tr>
                  <a:tr h="5181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3</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1" dirty="0">
                              <a:latin typeface="+mn-lt"/>
                              <a:ea typeface="Roboto" panose="02000000000000000000" pitchFamily="2" charset="0"/>
                            </a:rPr>
                            <a:t>Conclusión</a:t>
                          </a:r>
                          <a:r>
                            <a:rPr lang="es-MX" sz="1400" dirty="0">
                              <a:latin typeface="+mn-lt"/>
                              <a:ea typeface="Roboto" panose="02000000000000000000" pitchFamily="2" charset="0"/>
                            </a:rPr>
                            <a:t>: Josefina ha tomado un curso de informática</a:t>
                          </a:r>
                        </a:p>
                      </a:txBody>
                      <a:tcPr anchor="ctr"/>
                    </a:tc>
                    <a:tc>
                      <a:txBody>
                        <a:bodyPr/>
                        <a:lstStyle/>
                        <a:p>
                          <a:endParaRPr lang="es-CO"/>
                        </a:p>
                      </a:txBody>
                      <a:tcPr anchor="ctr">
                        <a:blipFill>
                          <a:blip r:embed="rId3"/>
                          <a:stretch>
                            <a:fillRect l="-179767" t="-302353" r="-389" b="-11765"/>
                          </a:stretch>
                        </a:blipFill>
                      </a:tcPr>
                    </a:tc>
                    <a:extLst>
                      <a:ext uri="{0D108BD9-81ED-4DB2-BD59-A6C34878D82A}">
                        <a16:rowId xmlns:a16="http://schemas.microsoft.com/office/drawing/2014/main" val="337999081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a 2">
                <a:extLst>
                  <a:ext uri="{FF2B5EF4-FFF2-40B4-BE49-F238E27FC236}">
                    <a16:creationId xmlns:a16="http://schemas.microsoft.com/office/drawing/2014/main" id="{48F87D2B-4563-4CD2-AC3D-E9D326A69BAA}"/>
                  </a:ext>
                </a:extLst>
              </p:cNvPr>
              <p:cNvGraphicFramePr>
                <a:graphicFrameLocks noGrp="1"/>
              </p:cNvGraphicFramePr>
              <p:nvPr>
                <p:extLst>
                  <p:ext uri="{D42A27DB-BD31-4B8C-83A1-F6EECF244321}">
                    <p14:modId xmlns:p14="http://schemas.microsoft.com/office/powerpoint/2010/main" val="2677312965"/>
                  </p:ext>
                </p:extLst>
              </p:nvPr>
            </p:nvGraphicFramePr>
            <p:xfrm>
              <a:off x="1013120" y="3073414"/>
              <a:ext cx="4371679" cy="1066800"/>
            </p:xfrm>
            <a:graphic>
              <a:graphicData uri="http://schemas.openxmlformats.org/drawingml/2006/table">
                <a:tbl>
                  <a:tblPr firstRow="1" bandRow="1">
                    <a:tableStyleId>{AD6A3598-7CB8-4345-8D95-17CE05F158A0}</a:tableStyleId>
                  </a:tblPr>
                  <a:tblGrid>
                    <a:gridCol w="1056979">
                      <a:extLst>
                        <a:ext uri="{9D8B030D-6E8A-4147-A177-3AD203B41FA5}">
                          <a16:colId xmlns:a16="http://schemas.microsoft.com/office/drawing/2014/main" val="55665907"/>
                        </a:ext>
                      </a:extLst>
                    </a:gridCol>
                    <a:gridCol w="3314700">
                      <a:extLst>
                        <a:ext uri="{9D8B030D-6E8A-4147-A177-3AD203B41FA5}">
                          <a16:colId xmlns:a16="http://schemas.microsoft.com/office/drawing/2014/main" val="2393994677"/>
                        </a:ext>
                      </a:extLst>
                    </a:gridCol>
                  </a:tblGrid>
                  <a:tr h="0">
                    <a:tc>
                      <a:txBody>
                        <a:bodyPr/>
                        <a:lstStyle/>
                        <a:p>
                          <a:r>
                            <a:rPr lang="es-CO" sz="1400" b="1" dirty="0">
                              <a:latin typeface="+mn-lt"/>
                              <a:ea typeface="Roboto" panose="02000000000000000000" pitchFamily="2" charset="0"/>
                            </a:rPr>
                            <a:t>Dominio</a:t>
                          </a:r>
                        </a:p>
                      </a:txBody>
                      <a:tcPr/>
                    </a:tc>
                    <a:tc>
                      <a:txBody>
                        <a:bodyPr/>
                        <a:lstStyle/>
                        <a:p>
                          <a:pPr/>
                          <a14:m>
                            <m:oMathPara xmlns:m="http://schemas.openxmlformats.org/officeDocument/2006/math">
                              <m:oMathParaPr>
                                <m:jc m:val="centerGroup"/>
                              </m:oMathParaPr>
                              <m:oMath xmlns:m="http://schemas.openxmlformats.org/officeDocument/2006/math">
                                <m:r>
                                  <a:rPr lang="es-MX" sz="1200" b="0" i="1" dirty="0" smtClean="0">
                                    <a:latin typeface="Cambria Math" panose="02040503050406030204" pitchFamily="18" charset="0"/>
                                    <a:ea typeface="Roboto" panose="02000000000000000000" pitchFamily="2" charset="0"/>
                                  </a:rPr>
                                  <m:t>𝑈</m:t>
                                </m:r>
                                <m:r>
                                  <a:rPr lang="es-MX" sz="1200" b="0" i="1" dirty="0" smtClean="0">
                                    <a:latin typeface="Cambria Math" panose="02040503050406030204" pitchFamily="18" charset="0"/>
                                    <a:ea typeface="Roboto" panose="02000000000000000000" pitchFamily="2" charset="0"/>
                                  </a:rPr>
                                  <m:t>:</m:t>
                                </m:r>
                                <m:r>
                                  <m:rPr>
                                    <m:sty m:val="p"/>
                                  </m:rPr>
                                  <a:rPr lang="es-MX" sz="1200" b="0" i="0" dirty="0" smtClean="0">
                                    <a:latin typeface="Cambria Math" panose="02040503050406030204" pitchFamily="18" charset="0"/>
                                    <a:ea typeface="Roboto" panose="02000000000000000000" pitchFamily="2" charset="0"/>
                                  </a:rPr>
                                  <m:t>Todos</m:t>
                                </m:r>
                                <m:r>
                                  <a:rPr lang="es-MX" sz="1200" b="0" i="0" dirty="0" smtClean="0">
                                    <a:latin typeface="Cambria Math" panose="02040503050406030204" pitchFamily="18" charset="0"/>
                                    <a:ea typeface="Roboto" panose="02000000000000000000" pitchFamily="2" charset="0"/>
                                  </a:rPr>
                                  <m:t> </m:t>
                                </m:r>
                                <m:r>
                                  <m:rPr>
                                    <m:sty m:val="p"/>
                                  </m:rPr>
                                  <a:rPr lang="es-MX" sz="1200" b="0" i="0" dirty="0" smtClean="0">
                                    <a:latin typeface="Cambria Math" panose="02040503050406030204" pitchFamily="18" charset="0"/>
                                    <a:ea typeface="Roboto" panose="02000000000000000000" pitchFamily="2" charset="0"/>
                                  </a:rPr>
                                  <m:t>los</m:t>
                                </m:r>
                                <m:r>
                                  <a:rPr lang="es-MX" sz="1200" b="0" i="0" dirty="0" smtClean="0">
                                    <a:latin typeface="Cambria Math" panose="02040503050406030204" pitchFamily="18" charset="0"/>
                                    <a:ea typeface="Roboto" panose="02000000000000000000" pitchFamily="2" charset="0"/>
                                  </a:rPr>
                                  <m:t> </m:t>
                                </m:r>
                                <m:r>
                                  <m:rPr>
                                    <m:sty m:val="p"/>
                                  </m:rPr>
                                  <a:rPr lang="es-MX" sz="1200" b="0" i="0" dirty="0" smtClean="0">
                                    <a:latin typeface="Cambria Math" panose="02040503050406030204" pitchFamily="18" charset="0"/>
                                    <a:ea typeface="Roboto" panose="02000000000000000000" pitchFamily="2" charset="0"/>
                                  </a:rPr>
                                  <m:t>estudiantes</m:t>
                                </m:r>
                              </m:oMath>
                            </m:oMathPara>
                          </a14:m>
                          <a:endParaRPr lang="es-CO" sz="1200" b="0" i="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554054099"/>
                      </a:ext>
                    </a:extLst>
                  </a:tr>
                  <a:tr h="0">
                    <a:tc>
                      <a:txBody>
                        <a:bodyPr/>
                        <a:lstStyle/>
                        <a:p>
                          <a:r>
                            <a:rPr lang="es-CO" sz="1400" b="1" dirty="0">
                              <a:latin typeface="+mn-lt"/>
                              <a:ea typeface="Roboto" panose="02000000000000000000" pitchFamily="2" charset="0"/>
                            </a:rPr>
                            <a:t>Variables</a:t>
                          </a:r>
                        </a:p>
                      </a:txBody>
                      <a:tcPr/>
                    </a:tc>
                    <a:tc>
                      <a:txBody>
                        <a:bodyPr/>
                        <a:lstStyle/>
                        <a:p>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rPr>
                                  <m:t>𝑥</m:t>
                                </m:r>
                              </m:oMath>
                            </m:oMathPara>
                          </a14:m>
                          <a:endParaRPr lang="es-CO" sz="12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590970474"/>
                      </a:ext>
                    </a:extLst>
                  </a:tr>
                  <a:tr h="192056">
                    <a:tc>
                      <a:txBody>
                        <a:bodyPr/>
                        <a:lstStyle/>
                        <a:p>
                          <a:r>
                            <a:rPr lang="es-CO" sz="1400" b="1" dirty="0">
                              <a:latin typeface="+mn-lt"/>
                              <a:ea typeface="Roboto" panose="02000000000000000000" pitchFamily="2" charset="0"/>
                            </a:rPr>
                            <a:t>Predicados</a:t>
                          </a:r>
                        </a:p>
                      </a:txBody>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200" b="0" i="1" smtClean="0">
                                  <a:latin typeface="Cambria Math" panose="02040503050406030204" pitchFamily="18" charset="0"/>
                                  <a:ea typeface="Cambria Math" panose="02040503050406030204" pitchFamily="18" charset="0"/>
                                </a:rPr>
                                <m:t>𝐷</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𝑥</m:t>
                                  </m:r>
                                </m:e>
                              </m:d>
                              <m:r>
                                <a:rPr lang="es-MX" sz="1200" b="0" i="1" smtClean="0">
                                  <a:latin typeface="Cambria Math" panose="02040503050406030204" pitchFamily="18" charset="0"/>
                                  <a:ea typeface="Cambria Math" panose="02040503050406030204" pitchFamily="18" charset="0"/>
                                </a:rPr>
                                <m:t>:</m:t>
                              </m:r>
                              <m:r>
                                <a:rPr lang="es-MX" sz="1200" b="0" i="1" smtClean="0">
                                  <a:latin typeface="Cambria Math" panose="02040503050406030204" pitchFamily="18" charset="0"/>
                                  <a:ea typeface="Cambria Math" panose="02040503050406030204" pitchFamily="18" charset="0"/>
                                </a:rPr>
                                <m:t>𝑥</m:t>
                              </m:r>
                              <m:r>
                                <a:rPr lang="es-MX" sz="1200" b="0" i="1" smtClean="0">
                                  <a:latin typeface="Cambria Math" panose="02040503050406030204" pitchFamily="18" charset="0"/>
                                  <a:ea typeface="Cambria Math" panose="02040503050406030204" pitchFamily="18" charset="0"/>
                                </a:rPr>
                                <m:t> </m:t>
                              </m:r>
                              <m:r>
                                <m:rPr>
                                  <m:sty m:val="p"/>
                                </m:rPr>
                                <a:rPr lang="es-MX" sz="1200" b="0" i="0" smtClean="0">
                                  <a:latin typeface="Cambria Math" panose="02040503050406030204" pitchFamily="18" charset="0"/>
                                  <a:ea typeface="Cambria Math" panose="02040503050406030204" pitchFamily="18" charset="0"/>
                                </a:rPr>
                                <m:t>esta</m:t>
                              </m:r>
                              <m:r>
                                <a:rPr lang="es-MX" sz="1200" b="0" i="0" smtClean="0">
                                  <a:latin typeface="Cambria Math" panose="02040503050406030204" pitchFamily="18" charset="0"/>
                                  <a:ea typeface="Cambria Math" panose="02040503050406030204" pitchFamily="18" charset="0"/>
                                </a:rPr>
                                <m:t> </m:t>
                              </m:r>
                              <m:r>
                                <m:rPr>
                                  <m:sty m:val="p"/>
                                </m:rPr>
                                <a:rPr lang="es-MX" sz="1200" b="0" i="0" smtClean="0">
                                  <a:latin typeface="Cambria Math" panose="02040503050406030204" pitchFamily="18" charset="0"/>
                                  <a:ea typeface="Cambria Math" panose="02040503050406030204" pitchFamily="18" charset="0"/>
                                </a:rPr>
                                <m:t>en</m:t>
                              </m:r>
                              <m:r>
                                <a:rPr lang="es-MX" sz="1200" b="0" i="0" smtClean="0">
                                  <a:latin typeface="Cambria Math" panose="02040503050406030204" pitchFamily="18" charset="0"/>
                                  <a:ea typeface="Cambria Math" panose="02040503050406030204" pitchFamily="18" charset="0"/>
                                </a:rPr>
                                <m:t> </m:t>
                              </m:r>
                              <m:r>
                                <m:rPr>
                                  <m:sty m:val="p"/>
                                </m:rPr>
                                <a:rPr lang="es-MX" sz="1200" b="0" i="0" smtClean="0">
                                  <a:latin typeface="Cambria Math" panose="02040503050406030204" pitchFamily="18" charset="0"/>
                                  <a:ea typeface="Cambria Math" panose="02040503050406030204" pitchFamily="18" charset="0"/>
                                </a:rPr>
                                <m:t>Matematicas</m:t>
                              </m:r>
                              <m:r>
                                <a:rPr lang="es-MX" sz="1200" b="0" i="0" smtClean="0">
                                  <a:latin typeface="Cambria Math" panose="02040503050406030204" pitchFamily="18" charset="0"/>
                                  <a:ea typeface="Cambria Math" panose="02040503050406030204" pitchFamily="18" charset="0"/>
                                </a:rPr>
                                <m:t> </m:t>
                              </m:r>
                              <m:r>
                                <m:rPr>
                                  <m:sty m:val="p"/>
                                </m:rPr>
                                <a:rPr lang="es-MX" sz="1200" b="0" i="0" smtClean="0">
                                  <a:latin typeface="Cambria Math" panose="02040503050406030204" pitchFamily="18" charset="0"/>
                                  <a:ea typeface="Cambria Math" panose="02040503050406030204" pitchFamily="18" charset="0"/>
                                </a:rPr>
                                <m:t>discretas</m:t>
                              </m:r>
                            </m:oMath>
                          </a14:m>
                          <a:endParaRPr lang="es-MX" sz="1200" b="0" i="1" dirty="0">
                            <a:latin typeface="Cambria Math" panose="02040503050406030204" pitchFamily="18" charset="0"/>
                            <a:ea typeface="Cambria Math" panose="02040503050406030204" pitchFamily="18" charset="0"/>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200" b="0" i="1" smtClean="0">
                                  <a:solidFill>
                                    <a:schemeClr val="tx1"/>
                                  </a:solidFill>
                                  <a:latin typeface="Cambria Math" panose="02040503050406030204" pitchFamily="18" charset="0"/>
                                  <a:ea typeface="Cambria Math" panose="02040503050406030204" pitchFamily="18" charset="0"/>
                                </a:rPr>
                                <m:t>𝐼</m:t>
                              </m:r>
                              <m:d>
                                <m:dPr>
                                  <m:ctrlPr>
                                    <a:rPr lang="es-MX" sz="1200" b="0" i="1" smtClean="0">
                                      <a:solidFill>
                                        <a:schemeClr val="tx1"/>
                                      </a:solidFill>
                                      <a:latin typeface="Cambria Math" panose="02040503050406030204" pitchFamily="18" charset="0"/>
                                      <a:ea typeface="Cambria Math" panose="02040503050406030204" pitchFamily="18" charset="0"/>
                                    </a:rPr>
                                  </m:ctrlPr>
                                </m:dPr>
                                <m:e>
                                  <m:r>
                                    <a:rPr lang="es-MX" sz="1200" b="0" i="1" smtClean="0">
                                      <a:solidFill>
                                        <a:schemeClr val="tx1"/>
                                      </a:solidFill>
                                      <a:latin typeface="Cambria Math" panose="02040503050406030204" pitchFamily="18" charset="0"/>
                                      <a:ea typeface="Cambria Math" panose="02040503050406030204" pitchFamily="18" charset="0"/>
                                    </a:rPr>
                                    <m:t>𝑥</m:t>
                                  </m:r>
                                </m:e>
                              </m:d>
                              <m:r>
                                <a:rPr lang="es-MX" sz="1200" b="0" i="1" smtClean="0">
                                  <a:solidFill>
                                    <a:schemeClr val="tx1"/>
                                  </a:solidFill>
                                  <a:latin typeface="Cambria Math" panose="02040503050406030204" pitchFamily="18" charset="0"/>
                                  <a:ea typeface="Cambria Math" panose="02040503050406030204" pitchFamily="18" charset="0"/>
                                </a:rPr>
                                <m:t>: </m:t>
                              </m:r>
                              <m:r>
                                <a:rPr lang="es-MX" sz="1200" b="0" i="1" smtClean="0">
                                  <a:solidFill>
                                    <a:schemeClr val="tx1"/>
                                  </a:solidFill>
                                  <a:latin typeface="Cambria Math" panose="02040503050406030204" pitchFamily="18" charset="0"/>
                                  <a:ea typeface="Cambria Math" panose="02040503050406030204" pitchFamily="18" charset="0"/>
                                </a:rPr>
                                <m:t>𝑥</m:t>
                              </m:r>
                              <m:r>
                                <a:rPr lang="es-MX" sz="1200" b="0" i="1" smtClean="0">
                                  <a:solidFill>
                                    <a:schemeClr val="tx1"/>
                                  </a:solidFill>
                                  <a:latin typeface="Cambria Math" panose="02040503050406030204" pitchFamily="18" charset="0"/>
                                  <a:ea typeface="Cambria Math" panose="02040503050406030204" pitchFamily="18" charset="0"/>
                                </a:rPr>
                                <m:t> </m:t>
                              </m:r>
                              <m:r>
                                <m:rPr>
                                  <m:sty m:val="p"/>
                                </m:rPr>
                                <a:rPr lang="es-MX" sz="1200" b="0" i="0" smtClean="0">
                                  <a:solidFill>
                                    <a:schemeClr val="tx1"/>
                                  </a:solidFill>
                                  <a:latin typeface="Cambria Math" panose="02040503050406030204" pitchFamily="18" charset="0"/>
                                  <a:ea typeface="Cambria Math" panose="02040503050406030204" pitchFamily="18" charset="0"/>
                                </a:rPr>
                                <m:t>ha</m:t>
                              </m:r>
                              <m:r>
                                <a:rPr lang="es-MX" sz="1200" b="0" i="0" smtClean="0">
                                  <a:solidFill>
                                    <a:schemeClr val="tx1"/>
                                  </a:solidFill>
                                  <a:latin typeface="Cambria Math" panose="02040503050406030204" pitchFamily="18" charset="0"/>
                                  <a:ea typeface="Cambria Math" panose="02040503050406030204" pitchFamily="18" charset="0"/>
                                </a:rPr>
                                <m:t> </m:t>
                              </m:r>
                              <m:r>
                                <m:rPr>
                                  <m:sty m:val="p"/>
                                </m:rPr>
                                <a:rPr lang="es-MX" sz="1200" b="0" i="0" smtClean="0">
                                  <a:solidFill>
                                    <a:schemeClr val="tx1"/>
                                  </a:solidFill>
                                  <a:latin typeface="Cambria Math" panose="02040503050406030204" pitchFamily="18" charset="0"/>
                                  <a:ea typeface="Cambria Math" panose="02040503050406030204" pitchFamily="18" charset="0"/>
                                </a:rPr>
                                <m:t>tomado</m:t>
                              </m:r>
                              <m:r>
                                <a:rPr lang="es-MX" sz="1200" b="0" i="0" smtClean="0">
                                  <a:solidFill>
                                    <a:schemeClr val="tx1"/>
                                  </a:solidFill>
                                  <a:latin typeface="Cambria Math" panose="02040503050406030204" pitchFamily="18" charset="0"/>
                                  <a:ea typeface="Cambria Math" panose="02040503050406030204" pitchFamily="18" charset="0"/>
                                </a:rPr>
                                <m:t> </m:t>
                              </m:r>
                              <m:r>
                                <m:rPr>
                                  <m:sty m:val="p"/>
                                </m:rPr>
                                <a:rPr lang="es-MX" sz="1200" b="0" i="0" smtClean="0">
                                  <a:solidFill>
                                    <a:schemeClr val="tx1"/>
                                  </a:solidFill>
                                  <a:latin typeface="Cambria Math" panose="02040503050406030204" pitchFamily="18" charset="0"/>
                                  <a:ea typeface="Cambria Math" panose="02040503050406030204" pitchFamily="18" charset="0"/>
                                </a:rPr>
                                <m:t>un</m:t>
                              </m:r>
                              <m:r>
                                <a:rPr lang="es-MX" sz="1200" b="0" i="0" smtClean="0">
                                  <a:solidFill>
                                    <a:schemeClr val="tx1"/>
                                  </a:solidFill>
                                  <a:latin typeface="Cambria Math" panose="02040503050406030204" pitchFamily="18" charset="0"/>
                                  <a:ea typeface="Cambria Math" panose="02040503050406030204" pitchFamily="18" charset="0"/>
                                </a:rPr>
                                <m:t> </m:t>
                              </m:r>
                              <m:r>
                                <m:rPr>
                                  <m:sty m:val="p"/>
                                </m:rPr>
                                <a:rPr lang="es-MX" sz="1200" b="0" i="0" smtClean="0">
                                  <a:solidFill>
                                    <a:schemeClr val="tx1"/>
                                  </a:solidFill>
                                  <a:latin typeface="Cambria Math" panose="02040503050406030204" pitchFamily="18" charset="0"/>
                                  <a:ea typeface="Cambria Math" panose="02040503050406030204" pitchFamily="18" charset="0"/>
                                </a:rPr>
                                <m:t>curso</m:t>
                              </m:r>
                              <m:r>
                                <a:rPr lang="es-MX" sz="1200" b="0" i="0" smtClean="0">
                                  <a:solidFill>
                                    <a:schemeClr val="tx1"/>
                                  </a:solidFill>
                                  <a:latin typeface="Cambria Math" panose="02040503050406030204" pitchFamily="18" charset="0"/>
                                  <a:ea typeface="Cambria Math" panose="02040503050406030204" pitchFamily="18" charset="0"/>
                                </a:rPr>
                                <m:t> </m:t>
                              </m:r>
                              <m:r>
                                <m:rPr>
                                  <m:sty m:val="p"/>
                                </m:rPr>
                                <a:rPr lang="es-MX" sz="1200" b="0" i="0" smtClean="0">
                                  <a:solidFill>
                                    <a:schemeClr val="tx1"/>
                                  </a:solidFill>
                                  <a:latin typeface="Cambria Math" panose="02040503050406030204" pitchFamily="18" charset="0"/>
                                  <a:ea typeface="Cambria Math" panose="02040503050406030204" pitchFamily="18" charset="0"/>
                                </a:rPr>
                                <m:t>de</m:t>
                              </m:r>
                              <m:r>
                                <a:rPr lang="es-MX" sz="1200" b="0" i="0" smtClean="0">
                                  <a:solidFill>
                                    <a:schemeClr val="tx1"/>
                                  </a:solidFill>
                                  <a:latin typeface="Cambria Math" panose="02040503050406030204" pitchFamily="18" charset="0"/>
                                  <a:ea typeface="Cambria Math" panose="02040503050406030204" pitchFamily="18" charset="0"/>
                                </a:rPr>
                                <m:t> </m:t>
                              </m:r>
                              <m:r>
                                <m:rPr>
                                  <m:sty m:val="p"/>
                                </m:rPr>
                                <a:rPr lang="es-MX" sz="1200" b="0" i="0" smtClean="0">
                                  <a:solidFill>
                                    <a:schemeClr val="tx1"/>
                                  </a:solidFill>
                                  <a:latin typeface="Cambria Math" panose="02040503050406030204" pitchFamily="18" charset="0"/>
                                  <a:ea typeface="Cambria Math" panose="02040503050406030204" pitchFamily="18" charset="0"/>
                                </a:rPr>
                                <m:t>informatica</m:t>
                              </m:r>
                            </m:oMath>
                          </a14:m>
                          <a:endParaRPr lang="es-MX" sz="1200" b="0" i="1" dirty="0">
                            <a:solidFill>
                              <a:schemeClr val="tx1"/>
                            </a:solidFill>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362933263"/>
                      </a:ext>
                    </a:extLst>
                  </a:tr>
                </a:tbl>
              </a:graphicData>
            </a:graphic>
          </p:graphicFrame>
        </mc:Choice>
        <mc:Fallback xmlns="">
          <p:graphicFrame>
            <p:nvGraphicFramePr>
              <p:cNvPr id="7" name="Tabla 2">
                <a:extLst>
                  <a:ext uri="{FF2B5EF4-FFF2-40B4-BE49-F238E27FC236}">
                    <a16:creationId xmlns:a16="http://schemas.microsoft.com/office/drawing/2014/main" id="{48F87D2B-4563-4CD2-AC3D-E9D326A69BAA}"/>
                  </a:ext>
                </a:extLst>
              </p:cNvPr>
              <p:cNvGraphicFramePr>
                <a:graphicFrameLocks noGrp="1"/>
              </p:cNvGraphicFramePr>
              <p:nvPr>
                <p:extLst>
                  <p:ext uri="{D42A27DB-BD31-4B8C-83A1-F6EECF244321}">
                    <p14:modId xmlns:p14="http://schemas.microsoft.com/office/powerpoint/2010/main" val="2677312965"/>
                  </p:ext>
                </p:extLst>
              </p:nvPr>
            </p:nvGraphicFramePr>
            <p:xfrm>
              <a:off x="1013120" y="3073414"/>
              <a:ext cx="4371679" cy="1066800"/>
            </p:xfrm>
            <a:graphic>
              <a:graphicData uri="http://schemas.openxmlformats.org/drawingml/2006/table">
                <a:tbl>
                  <a:tblPr firstRow="1" bandRow="1">
                    <a:tableStyleId>{AD6A3598-7CB8-4345-8D95-17CE05F158A0}</a:tableStyleId>
                  </a:tblPr>
                  <a:tblGrid>
                    <a:gridCol w="1056979">
                      <a:extLst>
                        <a:ext uri="{9D8B030D-6E8A-4147-A177-3AD203B41FA5}">
                          <a16:colId xmlns:a16="http://schemas.microsoft.com/office/drawing/2014/main" val="55665907"/>
                        </a:ext>
                      </a:extLst>
                    </a:gridCol>
                    <a:gridCol w="3314700">
                      <a:extLst>
                        <a:ext uri="{9D8B030D-6E8A-4147-A177-3AD203B41FA5}">
                          <a16:colId xmlns:a16="http://schemas.microsoft.com/office/drawing/2014/main" val="2393994677"/>
                        </a:ext>
                      </a:extLst>
                    </a:gridCol>
                  </a:tblGrid>
                  <a:tr h="304800">
                    <a:tc>
                      <a:txBody>
                        <a:bodyPr/>
                        <a:lstStyle/>
                        <a:p>
                          <a:r>
                            <a:rPr lang="es-CO" sz="1400" b="1" dirty="0">
                              <a:latin typeface="+mn-lt"/>
                              <a:ea typeface="Roboto" panose="02000000000000000000" pitchFamily="2" charset="0"/>
                            </a:rPr>
                            <a:t>Dominio</a:t>
                          </a:r>
                        </a:p>
                      </a:txBody>
                      <a:tcPr/>
                    </a:tc>
                    <a:tc>
                      <a:txBody>
                        <a:bodyPr/>
                        <a:lstStyle/>
                        <a:p>
                          <a:endParaRPr lang="es-CO"/>
                        </a:p>
                      </a:txBody>
                      <a:tcPr>
                        <a:blipFill>
                          <a:blip r:embed="rId4"/>
                          <a:stretch>
                            <a:fillRect l="-32169" t="-4000" r="-184" b="-262000"/>
                          </a:stretch>
                        </a:blipFill>
                      </a:tcPr>
                    </a:tc>
                    <a:extLst>
                      <a:ext uri="{0D108BD9-81ED-4DB2-BD59-A6C34878D82A}">
                        <a16:rowId xmlns:a16="http://schemas.microsoft.com/office/drawing/2014/main" val="2554054099"/>
                      </a:ext>
                    </a:extLst>
                  </a:tr>
                  <a:tr h="304800">
                    <a:tc>
                      <a:txBody>
                        <a:bodyPr/>
                        <a:lstStyle/>
                        <a:p>
                          <a:r>
                            <a:rPr lang="es-CO" sz="1400" b="1" dirty="0">
                              <a:latin typeface="+mn-lt"/>
                              <a:ea typeface="Roboto" panose="02000000000000000000" pitchFamily="2" charset="0"/>
                            </a:rPr>
                            <a:t>Variables</a:t>
                          </a:r>
                        </a:p>
                      </a:txBody>
                      <a:tcPr/>
                    </a:tc>
                    <a:tc>
                      <a:txBody>
                        <a:bodyPr/>
                        <a:lstStyle/>
                        <a:p>
                          <a:endParaRPr lang="es-CO"/>
                        </a:p>
                      </a:txBody>
                      <a:tcPr>
                        <a:blipFill>
                          <a:blip r:embed="rId4"/>
                          <a:stretch>
                            <a:fillRect l="-32169" t="-101961" r="-184" b="-156863"/>
                          </a:stretch>
                        </a:blipFill>
                      </a:tcPr>
                    </a:tc>
                    <a:extLst>
                      <a:ext uri="{0D108BD9-81ED-4DB2-BD59-A6C34878D82A}">
                        <a16:rowId xmlns:a16="http://schemas.microsoft.com/office/drawing/2014/main" val="1590970474"/>
                      </a:ext>
                    </a:extLst>
                  </a:tr>
                  <a:tr h="457200">
                    <a:tc>
                      <a:txBody>
                        <a:bodyPr/>
                        <a:lstStyle/>
                        <a:p>
                          <a:r>
                            <a:rPr lang="es-CO" sz="1400" b="1" dirty="0">
                              <a:latin typeface="+mn-lt"/>
                              <a:ea typeface="Roboto" panose="02000000000000000000" pitchFamily="2" charset="0"/>
                            </a:rPr>
                            <a:t>Predicados</a:t>
                          </a:r>
                        </a:p>
                      </a:txBody>
                      <a:tcPr/>
                    </a:tc>
                    <a:tc>
                      <a:txBody>
                        <a:bodyPr/>
                        <a:lstStyle/>
                        <a:p>
                          <a:endParaRPr lang="es-CO"/>
                        </a:p>
                      </a:txBody>
                      <a:tcPr>
                        <a:blipFill>
                          <a:blip r:embed="rId4"/>
                          <a:stretch>
                            <a:fillRect l="-32169" t="-137333" r="-184" b="-6667"/>
                          </a:stretch>
                        </a:blipFill>
                      </a:tcPr>
                    </a:tc>
                    <a:extLst>
                      <a:ext uri="{0D108BD9-81ED-4DB2-BD59-A6C34878D82A}">
                        <a16:rowId xmlns:a16="http://schemas.microsoft.com/office/drawing/2014/main" val="1362933263"/>
                      </a:ext>
                    </a:extLst>
                  </a:tr>
                </a:tbl>
              </a:graphicData>
            </a:graphic>
          </p:graphicFrame>
        </mc:Fallback>
      </mc:AlternateContent>
      <p:grpSp>
        <p:nvGrpSpPr>
          <p:cNvPr id="11" name="Grupo 10">
            <a:extLst>
              <a:ext uri="{FF2B5EF4-FFF2-40B4-BE49-F238E27FC236}">
                <a16:creationId xmlns:a16="http://schemas.microsoft.com/office/drawing/2014/main" id="{F3448778-D45A-4A59-83D2-F2D1FBF2CAD1}"/>
              </a:ext>
            </a:extLst>
          </p:cNvPr>
          <p:cNvGrpSpPr/>
          <p:nvPr/>
        </p:nvGrpSpPr>
        <p:grpSpPr>
          <a:xfrm>
            <a:off x="2104512" y="1798837"/>
            <a:ext cx="2392093" cy="958980"/>
            <a:chOff x="4134911" y="4512927"/>
            <a:chExt cx="2392093" cy="958980"/>
          </a:xfrm>
        </p:grpSpPr>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F91D5BB4-8EBF-40C5-9626-9D0B1F9C3BDA}"/>
                    </a:ext>
                  </a:extLst>
                </p:cNvPr>
                <p:cNvSpPr txBox="1"/>
                <p:nvPr/>
              </p:nvSpPr>
              <p:spPr>
                <a:xfrm>
                  <a:off x="4134911" y="4512927"/>
                  <a:ext cx="2392093" cy="958980"/>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1800" i="1" smtClean="0">
                            <a:latin typeface="Cambria Math" panose="02040503050406030204" pitchFamily="18" charset="0"/>
                            <a:ea typeface="Cambria Math" panose="02040503050406030204" pitchFamily="18" charset="0"/>
                          </a:rPr>
                          <m:t>∀</m:t>
                        </m:r>
                        <m:r>
                          <a:rPr lang="es-MX" sz="1800" i="1" smtClean="0">
                            <a:latin typeface="Cambria Math" panose="02040503050406030204" pitchFamily="18" charset="0"/>
                            <a:ea typeface="Cambria Math" panose="02040503050406030204" pitchFamily="18" charset="0"/>
                          </a:rPr>
                          <m:t>𝑥</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𝐷</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𝑥</m:t>
                                </m:r>
                              </m:e>
                            </m:d>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𝐼</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𝑥</m:t>
                                </m:r>
                              </m:e>
                            </m:d>
                          </m:e>
                        </m:d>
                        <m:r>
                          <a:rPr lang="es-MX" sz="1800" b="0" i="1"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𝑎</m:t>
                        </m:r>
                        <m:r>
                          <a:rPr lang="es-MX" sz="1800" b="0" i="1" smtClean="0">
                            <a:latin typeface="Cambria Math" panose="02040503050406030204" pitchFamily="18" charset="0"/>
                            <a:ea typeface="Roboto" panose="02000000000000000000" pitchFamily="2" charset="0"/>
                          </a:rPr>
                          <m:t>)</m:t>
                        </m:r>
                      </m:oMath>
                    </m:oMathPara>
                  </a14:m>
                  <a:endParaRPr lang="es-MX" sz="1800" b="0" i="1" dirty="0">
                    <a:latin typeface="Cambria Math" panose="02040503050406030204" pitchFamily="18" charset="0"/>
                    <a:ea typeface="Roboto" panose="02000000000000000000" pitchFamily="2" charset="0"/>
                  </a:endParaRPr>
                </a:p>
                <a:p>
                  <a:pPr/>
                  <a14:m>
                    <m:oMathPara xmlns:m="http://schemas.openxmlformats.org/officeDocument/2006/math">
                      <m:oMathParaPr>
                        <m:jc m:val="left"/>
                      </m:oMathParaPr>
                      <m:oMath xmlns:m="http://schemas.openxmlformats.org/officeDocument/2006/math">
                        <m:r>
                          <a:rPr lang="es-MX" sz="1800" i="1">
                            <a:latin typeface="Cambria Math" panose="02040503050406030204" pitchFamily="18" charset="0"/>
                            <a:ea typeface="Roboto" panose="02000000000000000000" pitchFamily="2" charset="0"/>
                          </a:rPr>
                          <m:t>𝐷</m:t>
                        </m:r>
                        <m:d>
                          <m:dPr>
                            <m:ctrlPr>
                              <a:rPr lang="es-MX" sz="1800" i="1">
                                <a:latin typeface="Cambria Math" panose="02040503050406030204" pitchFamily="18" charset="0"/>
                                <a:ea typeface="Roboto" panose="02000000000000000000" pitchFamily="2" charset="0"/>
                              </a:rPr>
                            </m:ctrlPr>
                          </m:dPr>
                          <m:e>
                            <m:r>
                              <m:rPr>
                                <m:sty m:val="p"/>
                              </m:rPr>
                              <a:rPr lang="es-MX" sz="1800">
                                <a:latin typeface="Cambria Math" panose="02040503050406030204" pitchFamily="18" charset="0"/>
                                <a:ea typeface="Roboto" panose="02000000000000000000" pitchFamily="2" charset="0"/>
                              </a:rPr>
                              <m:t>Josefina</m:t>
                            </m:r>
                          </m:e>
                        </m:d>
                        <m:r>
                          <a:rPr lang="es-MX" sz="1800" b="0" i="1" smtClean="0">
                            <a:latin typeface="Cambria Math" panose="02040503050406030204" pitchFamily="18" charset="0"/>
                            <a:ea typeface="Roboto" panose="02000000000000000000" pitchFamily="2" charset="0"/>
                          </a:rPr>
                          <m:t>              </m:t>
                        </m:r>
                        <m:d>
                          <m:dPr>
                            <m:ctrlPr>
                              <a:rPr lang="es-MX" sz="1800" b="0" i="1" smtClean="0">
                                <a:latin typeface="Cambria Math" panose="02040503050406030204" pitchFamily="18" charset="0"/>
                                <a:ea typeface="Cambria Math" panose="02040503050406030204" pitchFamily="18" charset="0"/>
                              </a:rPr>
                            </m:ctrlPr>
                          </m:dPr>
                          <m:e>
                            <m:r>
                              <a:rPr lang="es-MX" sz="1800" b="0" i="1" smtClean="0">
                                <a:latin typeface="Cambria Math" panose="02040503050406030204" pitchFamily="18" charset="0"/>
                                <a:ea typeface="Cambria Math" panose="02040503050406030204" pitchFamily="18" charset="0"/>
                              </a:rPr>
                              <m:t>𝑏</m:t>
                            </m:r>
                          </m:e>
                        </m:d>
                      </m:oMath>
                    </m:oMathPara>
                  </a14:m>
                  <a:endParaRPr lang="es-MX" sz="1800" b="0" i="1" dirty="0">
                    <a:latin typeface="Cambria Math" panose="02040503050406030204" pitchFamily="18" charset="0"/>
                    <a:ea typeface="Roboto" panose="02000000000000000000" pitchFamily="2"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Roboto" panose="02000000000000000000" pitchFamily="2" charset="0"/>
                          </a:rPr>
                          <m:t>𝐼</m:t>
                        </m:r>
                        <m:d>
                          <m:dPr>
                            <m:ctrlPr>
                              <a:rPr lang="es-MX" sz="1800" i="1">
                                <a:latin typeface="Cambria Math" panose="02040503050406030204" pitchFamily="18" charset="0"/>
                                <a:ea typeface="Roboto" panose="02000000000000000000" pitchFamily="2" charset="0"/>
                              </a:rPr>
                            </m:ctrlPr>
                          </m:dPr>
                          <m:e>
                            <m:r>
                              <m:rPr>
                                <m:sty m:val="p"/>
                              </m:rPr>
                              <a:rPr lang="es-MX" sz="1800">
                                <a:latin typeface="Cambria Math" panose="02040503050406030204" pitchFamily="18" charset="0"/>
                                <a:ea typeface="Roboto" panose="02000000000000000000" pitchFamily="2" charset="0"/>
                              </a:rPr>
                              <m:t>Josefina</m:t>
                            </m:r>
                          </m:e>
                        </m:d>
                      </m:oMath>
                    </m:oMathPara>
                  </a14:m>
                  <a:endParaRPr lang="es-MX" sz="1800" dirty="0">
                    <a:latin typeface="Roboto" panose="02000000000000000000" pitchFamily="2" charset="0"/>
                    <a:ea typeface="Roboto" panose="02000000000000000000" pitchFamily="2" charset="0"/>
                  </a:endParaRPr>
                </a:p>
              </p:txBody>
            </p:sp>
          </mc:Choice>
          <mc:Fallback xmlns="">
            <p:sp>
              <p:nvSpPr>
                <p:cNvPr id="12" name="CuadroTexto 11">
                  <a:extLst>
                    <a:ext uri="{FF2B5EF4-FFF2-40B4-BE49-F238E27FC236}">
                      <a16:creationId xmlns:a16="http://schemas.microsoft.com/office/drawing/2014/main" id="{F91D5BB4-8EBF-40C5-9626-9D0B1F9C3BDA}"/>
                    </a:ext>
                  </a:extLst>
                </p:cNvPr>
                <p:cNvSpPr txBox="1">
                  <a:spLocks noRot="1" noChangeAspect="1" noMove="1" noResize="1" noEditPoints="1" noAdjustHandles="1" noChangeArrowheads="1" noChangeShapeType="1" noTextEdit="1"/>
                </p:cNvSpPr>
                <p:nvPr/>
              </p:nvSpPr>
              <p:spPr>
                <a:xfrm>
                  <a:off x="4134911" y="4512927"/>
                  <a:ext cx="2392093" cy="958980"/>
                </a:xfrm>
                <a:prstGeom prst="rect">
                  <a:avLst/>
                </a:prstGeom>
                <a:blipFill>
                  <a:blip r:embed="rId5"/>
                  <a:stretch>
                    <a:fillRect b="-3822"/>
                  </a:stretch>
                </a:blipFill>
              </p:spPr>
              <p:txBody>
                <a:bodyPr/>
                <a:lstStyle/>
                <a:p>
                  <a:r>
                    <a:rPr lang="es-CO">
                      <a:noFill/>
                    </a:rPr>
                    <a:t> </a:t>
                  </a:r>
                </a:p>
              </p:txBody>
            </p:sp>
          </mc:Fallback>
        </mc:AlternateContent>
        <p:cxnSp>
          <p:nvCxnSpPr>
            <p:cNvPr id="13" name="Conector recto 12">
              <a:extLst>
                <a:ext uri="{FF2B5EF4-FFF2-40B4-BE49-F238E27FC236}">
                  <a16:creationId xmlns:a16="http://schemas.microsoft.com/office/drawing/2014/main" id="{8FC17297-35A7-4004-B285-1FA8C4731820}"/>
                </a:ext>
              </a:extLst>
            </p:cNvPr>
            <p:cNvCxnSpPr>
              <a:cxnSpLocks/>
            </p:cNvCxnSpPr>
            <p:nvPr/>
          </p:nvCxnSpPr>
          <p:spPr>
            <a:xfrm>
              <a:off x="4218931" y="5165839"/>
              <a:ext cx="21929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graphicFrame>
            <p:nvGraphicFramePr>
              <p:cNvPr id="14" name="Tabla 2">
                <a:extLst>
                  <a:ext uri="{FF2B5EF4-FFF2-40B4-BE49-F238E27FC236}">
                    <a16:creationId xmlns:a16="http://schemas.microsoft.com/office/drawing/2014/main" id="{7220BB13-3652-457C-A378-3DF759F1EC07}"/>
                  </a:ext>
                </a:extLst>
              </p:cNvPr>
              <p:cNvGraphicFramePr>
                <a:graphicFrameLocks noGrp="1"/>
              </p:cNvGraphicFramePr>
              <p:nvPr>
                <p:extLst>
                  <p:ext uri="{D42A27DB-BD31-4B8C-83A1-F6EECF244321}">
                    <p14:modId xmlns:p14="http://schemas.microsoft.com/office/powerpoint/2010/main" val="1088065446"/>
                  </p:ext>
                </p:extLst>
              </p:nvPr>
            </p:nvGraphicFramePr>
            <p:xfrm>
              <a:off x="5930900" y="1748816"/>
              <a:ext cx="5803898" cy="1879600"/>
            </p:xfrm>
            <a:graphic>
              <a:graphicData uri="http://schemas.openxmlformats.org/drawingml/2006/table">
                <a:tbl>
                  <a:tblPr firstRow="1" bandRow="1">
                    <a:tableStyleId>{AD6A3598-7CB8-4345-8D95-17CE05F158A0}</a:tableStyleId>
                  </a:tblPr>
                  <a:tblGrid>
                    <a:gridCol w="490576">
                      <a:extLst>
                        <a:ext uri="{9D8B030D-6E8A-4147-A177-3AD203B41FA5}">
                          <a16:colId xmlns:a16="http://schemas.microsoft.com/office/drawing/2014/main" val="1610952478"/>
                        </a:ext>
                      </a:extLst>
                    </a:gridCol>
                    <a:gridCol w="2430424">
                      <a:extLst>
                        <a:ext uri="{9D8B030D-6E8A-4147-A177-3AD203B41FA5}">
                          <a16:colId xmlns:a16="http://schemas.microsoft.com/office/drawing/2014/main" val="2942974496"/>
                        </a:ext>
                      </a:extLst>
                    </a:gridCol>
                    <a:gridCol w="2882898">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Afirmación</a:t>
                          </a:r>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𝟏</m:t>
                                </m:r>
                              </m:oMath>
                            </m:oMathPara>
                          </a14:m>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Cambria Math" panose="02040503050406030204" pitchFamily="18" charset="0"/>
                                  </a:rPr>
                                  <m:t>∀</m:t>
                                </m:r>
                                <m:r>
                                  <a:rPr lang="es-MX" sz="1600" i="1" smtClean="0">
                                    <a:latin typeface="Cambria Math" panose="02040503050406030204" pitchFamily="18" charset="0"/>
                                    <a:ea typeface="Cambria Math" panose="02040503050406030204" pitchFamily="18" charset="0"/>
                                  </a:rPr>
                                  <m:t>𝑥</m:t>
                                </m:r>
                                <m:d>
                                  <m:dPr>
                                    <m:ctrlPr>
                                      <a:rPr lang="es-MX" sz="1600" i="1">
                                        <a:latin typeface="Cambria Math" panose="02040503050406030204" pitchFamily="18" charset="0"/>
                                        <a:ea typeface="Cambria Math" panose="02040503050406030204" pitchFamily="18" charset="0"/>
                                      </a:rPr>
                                    </m:ctrlPr>
                                  </m:dPr>
                                  <m:e>
                                    <m:r>
                                      <a:rPr lang="es-MX" sz="1600" i="1">
                                        <a:latin typeface="Cambria Math" panose="02040503050406030204" pitchFamily="18" charset="0"/>
                                        <a:ea typeface="Cambria Math" panose="02040503050406030204" pitchFamily="18" charset="0"/>
                                      </a:rPr>
                                      <m:t>𝐷</m:t>
                                    </m:r>
                                    <m:d>
                                      <m:dPr>
                                        <m:ctrlPr>
                                          <a:rPr lang="es-MX" sz="1600" i="1">
                                            <a:latin typeface="Cambria Math" panose="02040503050406030204" pitchFamily="18" charset="0"/>
                                            <a:ea typeface="Cambria Math" panose="02040503050406030204" pitchFamily="18" charset="0"/>
                                          </a:rPr>
                                        </m:ctrlPr>
                                      </m:dPr>
                                      <m:e>
                                        <m:r>
                                          <a:rPr lang="es-MX" sz="1600" i="1">
                                            <a:latin typeface="Cambria Math" panose="02040503050406030204" pitchFamily="18" charset="0"/>
                                            <a:ea typeface="Cambria Math" panose="02040503050406030204" pitchFamily="18" charset="0"/>
                                          </a:rPr>
                                          <m:t>𝑥</m:t>
                                        </m:r>
                                      </m:e>
                                    </m:d>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𝐼</m:t>
                                    </m:r>
                                    <m:d>
                                      <m:dPr>
                                        <m:ctrlPr>
                                          <a:rPr lang="es-MX" sz="1600" i="1">
                                            <a:latin typeface="Cambria Math" panose="02040503050406030204" pitchFamily="18" charset="0"/>
                                            <a:ea typeface="Cambria Math" panose="02040503050406030204" pitchFamily="18" charset="0"/>
                                          </a:rPr>
                                        </m:ctrlPr>
                                      </m:dPr>
                                      <m:e>
                                        <m:r>
                                          <a:rPr lang="es-MX" sz="1600" i="1">
                                            <a:latin typeface="Cambria Math" panose="02040503050406030204" pitchFamily="18" charset="0"/>
                                            <a:ea typeface="Cambria Math" panose="02040503050406030204" pitchFamily="18" charset="0"/>
                                          </a:rPr>
                                          <m:t>𝑥</m:t>
                                        </m:r>
                                      </m:e>
                                    </m:d>
                                  </m:e>
                                </m:d>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Premisa </a:t>
                          </a:r>
                          <a:r>
                            <a:rPr lang="es-CO" sz="1800" b="1" dirty="0">
                              <a:latin typeface="+mn-lt"/>
                              <a:ea typeface="Roboto" panose="02000000000000000000" pitchFamily="2" charset="0"/>
                            </a:rPr>
                            <a:t>a</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𝟐</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Cambria Math" panose="02040503050406030204" pitchFamily="18" charset="0"/>
                                  </a:rPr>
                                  <m:t>𝐷</m:t>
                                </m:r>
                                <m:d>
                                  <m:dPr>
                                    <m:ctrlPr>
                                      <a:rPr lang="es-MX" sz="1600" i="1">
                                        <a:latin typeface="Cambria Math" panose="02040503050406030204" pitchFamily="18" charset="0"/>
                                        <a:ea typeface="Cambria Math" panose="02040503050406030204" pitchFamily="18" charset="0"/>
                                      </a:rPr>
                                    </m:ctrlPr>
                                  </m:dPr>
                                  <m:e>
                                    <m:r>
                                      <m:rPr>
                                        <m:sty m:val="p"/>
                                      </m:rPr>
                                      <a:rPr lang="es-MX" sz="1600" b="0" i="0" smtClean="0">
                                        <a:latin typeface="Cambria Math" panose="02040503050406030204" pitchFamily="18" charset="0"/>
                                        <a:ea typeface="Cambria Math" panose="02040503050406030204" pitchFamily="18" charset="0"/>
                                      </a:rPr>
                                      <m:t>Josefina</m:t>
                                    </m:r>
                                  </m:e>
                                </m:d>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𝐼</m:t>
                                </m:r>
                                <m:d>
                                  <m:dPr>
                                    <m:ctrlPr>
                                      <a:rPr lang="es-MX" sz="1600" i="1">
                                        <a:latin typeface="Cambria Math" panose="02040503050406030204" pitchFamily="18" charset="0"/>
                                        <a:ea typeface="Cambria Math" panose="02040503050406030204" pitchFamily="18" charset="0"/>
                                      </a:rPr>
                                    </m:ctrlPr>
                                  </m:dPr>
                                  <m:e>
                                    <m:r>
                                      <m:rPr>
                                        <m:sty m:val="p"/>
                                      </m:rPr>
                                      <a:rPr lang="es-MX" sz="1600" b="0" i="0" smtClean="0">
                                        <a:latin typeface="Cambria Math" panose="02040503050406030204" pitchFamily="18" charset="0"/>
                                        <a:ea typeface="Cambria Math" panose="02040503050406030204" pitchFamily="18" charset="0"/>
                                      </a:rPr>
                                      <m:t>Josefina</m:t>
                                    </m:r>
                                  </m:e>
                                </m:d>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Instanciación universal en 1</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𝟑</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Roboto" panose="02000000000000000000" pitchFamily="2" charset="0"/>
                                  </a:rPr>
                                  <m:t>𝐷</m:t>
                                </m:r>
                                <m:d>
                                  <m:dPr>
                                    <m:ctrlPr>
                                      <a:rPr lang="es-MX" sz="1600" i="1">
                                        <a:latin typeface="Cambria Math" panose="02040503050406030204" pitchFamily="18" charset="0"/>
                                        <a:ea typeface="Roboto" panose="02000000000000000000" pitchFamily="2" charset="0"/>
                                      </a:rPr>
                                    </m:ctrlPr>
                                  </m:dPr>
                                  <m:e>
                                    <m:r>
                                      <m:rPr>
                                        <m:sty m:val="p"/>
                                      </m:rPr>
                                      <a:rPr lang="es-MX" sz="1600">
                                        <a:latin typeface="Cambria Math" panose="02040503050406030204" pitchFamily="18" charset="0"/>
                                        <a:ea typeface="Roboto" panose="02000000000000000000" pitchFamily="2" charset="0"/>
                                      </a:rPr>
                                      <m:t>Josefina</m:t>
                                    </m:r>
                                  </m:e>
                                </m:d>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Premisa </a:t>
                          </a:r>
                          <a:r>
                            <a:rPr lang="es-CO" sz="1800" b="1" dirty="0">
                              <a:latin typeface="+mn-lt"/>
                              <a:ea typeface="Roboto" panose="02000000000000000000" pitchFamily="2" charset="0"/>
                            </a:rPr>
                            <a:t>b</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𝟒</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Cambria Math" panose="02040503050406030204" pitchFamily="18" charset="0"/>
                                  </a:rPr>
                                  <m:t>𝐼</m:t>
                                </m:r>
                                <m:d>
                                  <m:dPr>
                                    <m:ctrlPr>
                                      <a:rPr lang="es-MX" sz="1600" i="1">
                                        <a:latin typeface="Cambria Math" panose="02040503050406030204" pitchFamily="18" charset="0"/>
                                        <a:ea typeface="Cambria Math" panose="02040503050406030204" pitchFamily="18" charset="0"/>
                                      </a:rPr>
                                    </m:ctrlPr>
                                  </m:dPr>
                                  <m:e>
                                    <m:r>
                                      <m:rPr>
                                        <m:sty m:val="p"/>
                                      </m:rPr>
                                      <a:rPr lang="es-MX" sz="1600" b="0" i="0" smtClean="0">
                                        <a:latin typeface="Cambria Math" panose="02040503050406030204" pitchFamily="18" charset="0"/>
                                        <a:ea typeface="Cambria Math" panose="02040503050406030204" pitchFamily="18" charset="0"/>
                                      </a:rPr>
                                      <m:t>Josefina</m:t>
                                    </m:r>
                                  </m:e>
                                </m:d>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Modus ponens </a:t>
                          </a:r>
                          <a:r>
                            <a:rPr lang="es-CO" sz="1800" b="1" dirty="0">
                              <a:latin typeface="+mn-lt"/>
                              <a:ea typeface="Roboto" panose="02000000000000000000" pitchFamily="2" charset="0"/>
                            </a:rPr>
                            <a:t>2 </a:t>
                          </a:r>
                          <a:r>
                            <a:rPr lang="es-CO" sz="1800" b="0" dirty="0">
                              <a:latin typeface="+mn-lt"/>
                              <a:ea typeface="Roboto" panose="02000000000000000000" pitchFamily="2" charset="0"/>
                            </a:rPr>
                            <a:t>y</a:t>
                          </a:r>
                          <a:r>
                            <a:rPr lang="es-CO" sz="1800" b="1" dirty="0">
                              <a:latin typeface="+mn-lt"/>
                              <a:ea typeface="Roboto" panose="02000000000000000000" pitchFamily="2" charset="0"/>
                            </a:rPr>
                            <a:t> 3</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bl>
              </a:graphicData>
            </a:graphic>
          </p:graphicFrame>
        </mc:Choice>
        <mc:Fallback xmlns="">
          <p:graphicFrame>
            <p:nvGraphicFramePr>
              <p:cNvPr id="14" name="Tabla 2">
                <a:extLst>
                  <a:ext uri="{FF2B5EF4-FFF2-40B4-BE49-F238E27FC236}">
                    <a16:creationId xmlns:a16="http://schemas.microsoft.com/office/drawing/2014/main" id="{7220BB13-3652-457C-A378-3DF759F1EC07}"/>
                  </a:ext>
                </a:extLst>
              </p:cNvPr>
              <p:cNvGraphicFramePr>
                <a:graphicFrameLocks noGrp="1"/>
              </p:cNvGraphicFramePr>
              <p:nvPr>
                <p:extLst>
                  <p:ext uri="{D42A27DB-BD31-4B8C-83A1-F6EECF244321}">
                    <p14:modId xmlns:p14="http://schemas.microsoft.com/office/powerpoint/2010/main" val="1088065446"/>
                  </p:ext>
                </p:extLst>
              </p:nvPr>
            </p:nvGraphicFramePr>
            <p:xfrm>
              <a:off x="5930900" y="1748816"/>
              <a:ext cx="5803898" cy="1879600"/>
            </p:xfrm>
            <a:graphic>
              <a:graphicData uri="http://schemas.openxmlformats.org/drawingml/2006/table">
                <a:tbl>
                  <a:tblPr firstRow="1" bandRow="1">
                    <a:tableStyleId>{AD6A3598-7CB8-4345-8D95-17CE05F158A0}</a:tableStyleId>
                  </a:tblPr>
                  <a:tblGrid>
                    <a:gridCol w="490576">
                      <a:extLst>
                        <a:ext uri="{9D8B030D-6E8A-4147-A177-3AD203B41FA5}">
                          <a16:colId xmlns:a16="http://schemas.microsoft.com/office/drawing/2014/main" val="1610952478"/>
                        </a:ext>
                      </a:extLst>
                    </a:gridCol>
                    <a:gridCol w="2430424">
                      <a:extLst>
                        <a:ext uri="{9D8B030D-6E8A-4147-A177-3AD203B41FA5}">
                          <a16:colId xmlns:a16="http://schemas.microsoft.com/office/drawing/2014/main" val="2942974496"/>
                        </a:ext>
                      </a:extLst>
                    </a:gridCol>
                    <a:gridCol w="2882898">
                      <a:extLst>
                        <a:ext uri="{9D8B030D-6E8A-4147-A177-3AD203B41FA5}">
                          <a16:colId xmlns:a16="http://schemas.microsoft.com/office/drawing/2014/main" val="4281859008"/>
                        </a:ext>
                      </a:extLst>
                    </a:gridCol>
                  </a:tblGrid>
                  <a:tr h="3962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Afirmación</a:t>
                          </a:r>
                          <a:endParaRPr lang="es-CO" sz="1600" dirty="0">
                            <a:latin typeface="+mn-lt"/>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112903" r="-1079012" b="-319355"/>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0301" t="-112903" r="-119048" b="-319355"/>
                          </a:stretch>
                        </a:blipFill>
                      </a:tcPr>
                    </a:tc>
                    <a:tc>
                      <a:txBody>
                        <a:bodyPr/>
                        <a:lstStyle/>
                        <a:p>
                          <a:r>
                            <a:rPr lang="es-CO" sz="1800" dirty="0">
                              <a:latin typeface="+mn-lt"/>
                              <a:ea typeface="Roboto" panose="02000000000000000000" pitchFamily="2" charset="0"/>
                            </a:rPr>
                            <a:t>Premisa </a:t>
                          </a:r>
                          <a:r>
                            <a:rPr lang="es-CO" sz="1800" b="1" dirty="0">
                              <a:latin typeface="+mn-lt"/>
                              <a:ea typeface="Roboto" panose="02000000000000000000" pitchFamily="2" charset="0"/>
                            </a:rPr>
                            <a:t>a</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216393" r="-1079012" b="-22459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0301" t="-216393" r="-119048" b="-224590"/>
                          </a:stretch>
                        </a:blipFill>
                      </a:tcPr>
                    </a:tc>
                    <a:tc>
                      <a:txBody>
                        <a:bodyPr/>
                        <a:lstStyle/>
                        <a:p>
                          <a:r>
                            <a:rPr lang="es-CO" sz="1800" dirty="0">
                              <a:latin typeface="+mn-lt"/>
                              <a:ea typeface="Roboto" panose="02000000000000000000" pitchFamily="2" charset="0"/>
                            </a:rPr>
                            <a:t>Instanciación universal en 1</a:t>
                          </a:r>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316393" r="-1079012" b="-12459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0301" t="-316393" r="-119048" b="-124590"/>
                          </a:stretch>
                        </a:blipFill>
                      </a:tcPr>
                    </a:tc>
                    <a:tc>
                      <a:txBody>
                        <a:bodyPr/>
                        <a:lstStyle/>
                        <a:p>
                          <a:r>
                            <a:rPr lang="es-CO" sz="1800" dirty="0">
                              <a:latin typeface="+mn-lt"/>
                              <a:ea typeface="Roboto" panose="02000000000000000000" pitchFamily="2" charset="0"/>
                            </a:rPr>
                            <a:t>Premisa </a:t>
                          </a:r>
                          <a:r>
                            <a:rPr lang="es-CO" sz="1800" b="1" dirty="0">
                              <a:latin typeface="+mn-lt"/>
                              <a:ea typeface="Roboto" panose="02000000000000000000" pitchFamily="2" charset="0"/>
                            </a:rPr>
                            <a:t>b</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416393" r="-1079012" b="-24590"/>
                          </a:stretch>
                        </a:blip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0301" t="-416393" r="-119048" b="-24590"/>
                          </a:stretch>
                        </a:blipFill>
                      </a:tcPr>
                    </a:tc>
                    <a:tc>
                      <a:txBody>
                        <a:bodyPr/>
                        <a:lstStyle/>
                        <a:p>
                          <a:r>
                            <a:rPr lang="es-CO" sz="1800" dirty="0">
                              <a:latin typeface="+mn-lt"/>
                              <a:ea typeface="Roboto" panose="02000000000000000000" pitchFamily="2" charset="0"/>
                            </a:rPr>
                            <a:t>Modus ponens </a:t>
                          </a:r>
                          <a:r>
                            <a:rPr lang="es-CO" sz="1800" b="1" dirty="0">
                              <a:latin typeface="+mn-lt"/>
                              <a:ea typeface="Roboto" panose="02000000000000000000" pitchFamily="2" charset="0"/>
                            </a:rPr>
                            <a:t>2 </a:t>
                          </a:r>
                          <a:r>
                            <a:rPr lang="es-CO" sz="1800" b="0" dirty="0">
                              <a:latin typeface="+mn-lt"/>
                              <a:ea typeface="Roboto" panose="02000000000000000000" pitchFamily="2" charset="0"/>
                            </a:rPr>
                            <a:t>y</a:t>
                          </a:r>
                          <a:r>
                            <a:rPr lang="es-CO" sz="1800" b="1" dirty="0">
                              <a:latin typeface="+mn-lt"/>
                              <a:ea typeface="Roboto" panose="02000000000000000000" pitchFamily="2" charset="0"/>
                            </a:rPr>
                            <a:t> 3</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bl>
              </a:graphicData>
            </a:graphic>
          </p:graphicFrame>
        </mc:Fallback>
      </mc:AlternateContent>
    </p:spTree>
    <p:extLst>
      <p:ext uri="{BB962C8B-B14F-4D97-AF65-F5344CB8AC3E}">
        <p14:creationId xmlns:p14="http://schemas.microsoft.com/office/powerpoint/2010/main" val="190742985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391886" y="96038"/>
            <a:ext cx="8828764"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24" name="CuadroTexto 23">
            <a:extLst>
              <a:ext uri="{FF2B5EF4-FFF2-40B4-BE49-F238E27FC236}">
                <a16:creationId xmlns:a16="http://schemas.microsoft.com/office/drawing/2014/main" id="{56528687-85B1-4CEE-A444-E2F774570C64}"/>
              </a:ext>
            </a:extLst>
          </p:cNvPr>
          <p:cNvSpPr txBox="1"/>
          <p:nvPr/>
        </p:nvSpPr>
        <p:spPr>
          <a:xfrm>
            <a:off x="440121" y="890259"/>
            <a:ext cx="11472583"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Ejemplo 3</a:t>
            </a:r>
          </a:p>
        </p:txBody>
      </p:sp>
      <p:sp>
        <p:nvSpPr>
          <p:cNvPr id="5" name="CuadroTexto 4">
            <a:extLst>
              <a:ext uri="{FF2B5EF4-FFF2-40B4-BE49-F238E27FC236}">
                <a16:creationId xmlns:a16="http://schemas.microsoft.com/office/drawing/2014/main" id="{D055498E-B21E-4DD3-9366-5DAC438D31FC}"/>
              </a:ext>
            </a:extLst>
          </p:cNvPr>
          <p:cNvSpPr txBox="1"/>
          <p:nvPr/>
        </p:nvSpPr>
        <p:spPr>
          <a:xfrm>
            <a:off x="391886" y="1382702"/>
            <a:ext cx="11472583" cy="1015663"/>
          </a:xfrm>
          <a:prstGeom prst="rect">
            <a:avLst/>
          </a:prstGeom>
          <a:noFill/>
        </p:spPr>
        <p:txBody>
          <a:bodyPr wrap="square" rtlCol="0">
            <a:spAutoFit/>
          </a:bodyPr>
          <a:lstStyle/>
          <a:p>
            <a:r>
              <a:rPr lang="es-MX" sz="2000" b="1" dirty="0">
                <a:ea typeface="Roboto" panose="02000000000000000000" pitchFamily="2" charset="0"/>
              </a:rPr>
              <a:t>Ejemplo</a:t>
            </a:r>
            <a:r>
              <a:rPr lang="es-MX" sz="2000" dirty="0">
                <a:ea typeface="Roboto" panose="02000000000000000000" pitchFamily="2" charset="0"/>
              </a:rPr>
              <a:t>: Demuestre que las premisas “Un estudiante de esta clase no ha leído el libro” y “Todos en esta clase aprobaron el primer examen” implican la conclusión “Alguien que aprobó el primer examen no ha leído el libro”.</a:t>
            </a:r>
          </a:p>
        </p:txBody>
      </p:sp>
    </p:spTree>
    <p:extLst>
      <p:ext uri="{BB962C8B-B14F-4D97-AF65-F5344CB8AC3E}">
        <p14:creationId xmlns:p14="http://schemas.microsoft.com/office/powerpoint/2010/main" val="218723196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406400" y="96038"/>
            <a:ext cx="88142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Ejemplos</a:t>
            </a:r>
            <a:endParaRPr dirty="0">
              <a:latin typeface="+mj-lt"/>
            </a:endParaRPr>
          </a:p>
        </p:txBody>
      </p:sp>
      <p:sp>
        <p:nvSpPr>
          <p:cNvPr id="24" name="CuadroTexto 23">
            <a:extLst>
              <a:ext uri="{FF2B5EF4-FFF2-40B4-BE49-F238E27FC236}">
                <a16:creationId xmlns:a16="http://schemas.microsoft.com/office/drawing/2014/main" id="{56528687-85B1-4CEE-A444-E2F774570C64}"/>
              </a:ext>
            </a:extLst>
          </p:cNvPr>
          <p:cNvSpPr txBox="1"/>
          <p:nvPr/>
        </p:nvSpPr>
        <p:spPr>
          <a:xfrm>
            <a:off x="508000" y="799316"/>
            <a:ext cx="11452941" cy="492443"/>
          </a:xfrm>
          <a:prstGeom prst="rect">
            <a:avLst/>
          </a:prstGeom>
          <a:noFill/>
        </p:spPr>
        <p:txBody>
          <a:bodyPr wrap="square" rtlCol="0">
            <a:spAutoFit/>
          </a:bodyPr>
          <a:lstStyle/>
          <a:p>
            <a:r>
              <a:rPr lang="es-MX" sz="2600" b="1" dirty="0">
                <a:solidFill>
                  <a:schemeClr val="accent6"/>
                </a:solidFill>
                <a:ea typeface="Roboto" panose="02000000000000000000" pitchFamily="2" charset="0"/>
              </a:rPr>
              <a:t>Ejemplo 3</a:t>
            </a:r>
          </a:p>
        </p:txBody>
      </p:sp>
      <mc:AlternateContent xmlns:mc="http://schemas.openxmlformats.org/markup-compatibility/2006" xmlns:a14="http://schemas.microsoft.com/office/drawing/2010/main">
        <mc:Choice Requires="a14">
          <p:graphicFrame>
            <p:nvGraphicFramePr>
              <p:cNvPr id="6" name="Tabla 3">
                <a:extLst>
                  <a:ext uri="{FF2B5EF4-FFF2-40B4-BE49-F238E27FC236}">
                    <a16:creationId xmlns:a16="http://schemas.microsoft.com/office/drawing/2014/main" id="{B268220F-8A60-4908-981E-8C2BA0B3EB23}"/>
                  </a:ext>
                </a:extLst>
              </p:cNvPr>
              <p:cNvGraphicFramePr>
                <a:graphicFrameLocks noGrp="1"/>
              </p:cNvGraphicFramePr>
              <p:nvPr>
                <p:extLst>
                  <p:ext uri="{D42A27DB-BD31-4B8C-83A1-F6EECF244321}">
                    <p14:modId xmlns:p14="http://schemas.microsoft.com/office/powerpoint/2010/main" val="1830369051"/>
                  </p:ext>
                </p:extLst>
              </p:nvPr>
            </p:nvGraphicFramePr>
            <p:xfrm>
              <a:off x="995518" y="4281309"/>
              <a:ext cx="4371679" cy="2072640"/>
            </p:xfrm>
            <a:graphic>
              <a:graphicData uri="http://schemas.openxmlformats.org/drawingml/2006/table">
                <a:tbl>
                  <a:tblPr firstRow="1" bandRow="1">
                    <a:tableStyleId>{AD6A3598-7CB8-4345-8D95-17CE05F158A0}</a:tableStyleId>
                  </a:tblPr>
                  <a:tblGrid>
                    <a:gridCol w="245257">
                      <a:extLst>
                        <a:ext uri="{9D8B030D-6E8A-4147-A177-3AD203B41FA5}">
                          <a16:colId xmlns:a16="http://schemas.microsoft.com/office/drawing/2014/main" val="2057099001"/>
                        </a:ext>
                      </a:extLst>
                    </a:gridCol>
                    <a:gridCol w="2413737">
                      <a:extLst>
                        <a:ext uri="{9D8B030D-6E8A-4147-A177-3AD203B41FA5}">
                          <a16:colId xmlns:a16="http://schemas.microsoft.com/office/drawing/2014/main" val="2721384015"/>
                        </a:ext>
                      </a:extLst>
                    </a:gridCol>
                    <a:gridCol w="1712685">
                      <a:extLst>
                        <a:ext uri="{9D8B030D-6E8A-4147-A177-3AD203B41FA5}">
                          <a16:colId xmlns:a16="http://schemas.microsoft.com/office/drawing/2014/main" val="3804441368"/>
                        </a:ext>
                      </a:extLst>
                    </a:gridCol>
                  </a:tblGrid>
                  <a:tr h="276552">
                    <a:tc>
                      <a:txBody>
                        <a:bodyPr/>
                        <a:lstStyle/>
                        <a:p>
                          <a:pPr algn="ctr"/>
                          <a:r>
                            <a:rPr lang="es-CO" sz="1400" b="1" dirty="0">
                              <a:latin typeface="+mn-lt"/>
                              <a:ea typeface="Roboto" panose="02000000000000000000" pitchFamily="2" charset="0"/>
                            </a:rPr>
                            <a:t>#</a:t>
                          </a:r>
                        </a:p>
                      </a:txBody>
                      <a:tcPr/>
                    </a:tc>
                    <a:tc>
                      <a:txBody>
                        <a:bodyPr/>
                        <a:lstStyle/>
                        <a:p>
                          <a:r>
                            <a:rPr lang="es-CO" sz="1400" b="1" dirty="0">
                              <a:latin typeface="+mn-lt"/>
                              <a:ea typeface="Roboto" panose="02000000000000000000" pitchFamily="2" charset="0"/>
                            </a:rPr>
                            <a:t>Enunciado</a:t>
                          </a:r>
                        </a:p>
                      </a:txBody>
                      <a:tcPr/>
                    </a:tc>
                    <a:tc>
                      <a:txBody>
                        <a:bodyPr/>
                        <a:lstStyle/>
                        <a:p>
                          <a:r>
                            <a:rPr lang="es-CO" sz="1400" b="1" dirty="0">
                              <a:latin typeface="+mn-lt"/>
                              <a:ea typeface="Roboto" panose="02000000000000000000" pitchFamily="2" charset="0"/>
                            </a:rPr>
                            <a:t>Representación</a:t>
                          </a:r>
                        </a:p>
                      </a:txBody>
                      <a:tcPr/>
                    </a:tc>
                    <a:extLst>
                      <a:ext uri="{0D108BD9-81ED-4DB2-BD59-A6C34878D82A}">
                        <a16:rowId xmlns:a16="http://schemas.microsoft.com/office/drawing/2014/main" val="3910282906"/>
                      </a:ext>
                    </a:extLst>
                  </a:tr>
                  <a:tr h="276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400" dirty="0">
                              <a:latin typeface="+mn-lt"/>
                              <a:ea typeface="Roboto" panose="02000000000000000000" pitchFamily="2" charset="0"/>
                            </a:rPr>
                            <a:t>1</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1" dirty="0">
                              <a:latin typeface="+mn-lt"/>
                              <a:ea typeface="Roboto" panose="02000000000000000000" pitchFamily="2" charset="0"/>
                            </a:rPr>
                            <a:t>Premisa1</a:t>
                          </a:r>
                          <a:r>
                            <a:rPr lang="es-MX" sz="1400" dirty="0">
                              <a:latin typeface="+mn-lt"/>
                              <a:ea typeface="Roboto" panose="02000000000000000000" pitchFamily="2" charset="0"/>
                            </a:rPr>
                            <a:t>: Un estudiante de esta clase no ha leído el libro</a:t>
                          </a:r>
                          <a:endParaRPr lang="es-CO" sz="1400" dirty="0">
                            <a:latin typeface="+mn-lt"/>
                            <a:ea typeface="Roboto" panose="02000000000000000000" pitchFamily="2" charset="0"/>
                          </a:endParaRPr>
                        </a:p>
                      </a:txBody>
                      <a:tcPr anchor="ctr"/>
                    </a:tc>
                    <a:tc>
                      <a:txBody>
                        <a:bodyPr/>
                        <a:lstStyle/>
                        <a:p>
                          <a:pPr algn="l"/>
                          <a14:m>
                            <m:oMathPara xmlns:m="http://schemas.openxmlformats.org/officeDocument/2006/math">
                              <m:oMathParaPr>
                                <m:jc m:val="left"/>
                              </m:oMathParaPr>
                              <m:oMath xmlns:m="http://schemas.openxmlformats.org/officeDocument/2006/math">
                                <m:r>
                                  <a:rPr lang="es-MX" sz="1200" b="0" i="1" smtClean="0">
                                    <a:latin typeface="Cambria Math" panose="02040503050406030204" pitchFamily="18" charset="0"/>
                                    <a:ea typeface="Cambria Math" panose="02040503050406030204" pitchFamily="18" charset="0"/>
                                  </a:rPr>
                                  <m:t>∃</m:t>
                                </m:r>
                                <m:r>
                                  <a:rPr lang="es-MX" sz="1200" b="0" i="1" smtClean="0">
                                    <a:latin typeface="Cambria Math" panose="02040503050406030204" pitchFamily="18" charset="0"/>
                                    <a:ea typeface="Cambria Math" panose="02040503050406030204" pitchFamily="18" charset="0"/>
                                  </a:rPr>
                                  <m:t>𝑥</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𝐶</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𝑥</m:t>
                                        </m:r>
                                      </m:e>
                                    </m:d>
                                    <m:r>
                                      <a:rPr lang="es-MX" sz="1200" b="0" i="1" smtClean="0">
                                        <a:latin typeface="Cambria Math" panose="02040503050406030204" pitchFamily="18" charset="0"/>
                                        <a:ea typeface="Cambria Math" panose="02040503050406030204" pitchFamily="18" charset="0"/>
                                      </a:rPr>
                                      <m:t>∧¬</m:t>
                                    </m:r>
                                    <m:r>
                                      <a:rPr lang="es-MX" sz="1200" b="0" i="1" smtClean="0">
                                        <a:latin typeface="Cambria Math" panose="02040503050406030204" pitchFamily="18" charset="0"/>
                                        <a:ea typeface="Cambria Math" panose="02040503050406030204" pitchFamily="18" charset="0"/>
                                      </a:rPr>
                                      <m:t>𝐿</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𝑥</m:t>
                                        </m:r>
                                      </m:e>
                                    </m:d>
                                  </m:e>
                                </m:d>
                              </m:oMath>
                            </m:oMathPara>
                          </a14:m>
                          <a:endParaRPr lang="es-MX" sz="1200" dirty="0">
                            <a:latin typeface="+mn-lt"/>
                            <a:ea typeface="Roboto" panose="02000000000000000000" pitchFamily="2" charset="0"/>
                          </a:endParaRPr>
                        </a:p>
                      </a:txBody>
                      <a:tcPr anchor="ctr"/>
                    </a:tc>
                    <a:extLst>
                      <a:ext uri="{0D108BD9-81ED-4DB2-BD59-A6C34878D82A}">
                        <a16:rowId xmlns:a16="http://schemas.microsoft.com/office/drawing/2014/main" val="3412829917"/>
                      </a:ext>
                    </a:extLst>
                  </a:tr>
                  <a:tr h="276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2</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400" b="1" dirty="0">
                              <a:latin typeface="+mn-lt"/>
                            </a:rPr>
                            <a:t>Premisa 2</a:t>
                          </a:r>
                          <a:r>
                            <a:rPr lang="es-CO" sz="1400" dirty="0">
                              <a:latin typeface="+mn-lt"/>
                            </a:rPr>
                            <a:t>: </a:t>
                          </a:r>
                          <a:r>
                            <a:rPr lang="es-MX" sz="1400" dirty="0">
                              <a:latin typeface="+mn-lt"/>
                              <a:ea typeface="Roboto" panose="02000000000000000000" pitchFamily="2" charset="0"/>
                            </a:rPr>
                            <a:t>Todos en esta clase aprobaron el primer examen</a:t>
                          </a:r>
                        </a:p>
                      </a:txBody>
                      <a:tcPr anchor="ctr"/>
                    </a:tc>
                    <a:tc>
                      <a:txBody>
                        <a:bodyPr/>
                        <a:lstStyle/>
                        <a:p>
                          <a:pPr algn="l"/>
                          <a14:m>
                            <m:oMathPara xmlns:m="http://schemas.openxmlformats.org/officeDocument/2006/math">
                              <m:oMathParaPr>
                                <m:jc m:val="left"/>
                              </m:oMathParaPr>
                              <m:oMath xmlns:m="http://schemas.openxmlformats.org/officeDocument/2006/math">
                                <m:r>
                                  <a:rPr lang="es-MX" sz="1200" b="0" i="1" smtClean="0">
                                    <a:latin typeface="Cambria Math" panose="02040503050406030204" pitchFamily="18" charset="0"/>
                                    <a:ea typeface="Cambria Math" panose="02040503050406030204" pitchFamily="18" charset="0"/>
                                  </a:rPr>
                                  <m:t>∀</m:t>
                                </m:r>
                                <m:r>
                                  <a:rPr lang="es-MX" sz="1200" b="0" i="1" smtClean="0">
                                    <a:latin typeface="Cambria Math" panose="02040503050406030204" pitchFamily="18" charset="0"/>
                                    <a:ea typeface="Cambria Math" panose="02040503050406030204" pitchFamily="18" charset="0"/>
                                  </a:rPr>
                                  <m:t>𝑥</m:t>
                                </m:r>
                                <m:r>
                                  <a:rPr lang="es-MX" sz="1200" b="0" i="1" smtClean="0">
                                    <a:latin typeface="Cambria Math" panose="02040503050406030204" pitchFamily="18" charset="0"/>
                                    <a:ea typeface="Cambria Math" panose="02040503050406030204" pitchFamily="18" charset="0"/>
                                  </a:rPr>
                                  <m:t> </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𝐶</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𝑥</m:t>
                                        </m:r>
                                      </m:e>
                                    </m:d>
                                    <m:r>
                                      <a:rPr lang="es-MX" sz="1200" b="0" i="1" smtClean="0">
                                        <a:latin typeface="Cambria Math" panose="02040503050406030204" pitchFamily="18" charset="0"/>
                                        <a:ea typeface="Cambria Math" panose="02040503050406030204" pitchFamily="18" charset="0"/>
                                      </a:rPr>
                                      <m:t>→</m:t>
                                    </m:r>
                                    <m:r>
                                      <a:rPr lang="es-MX" sz="1200" b="0" i="1" smtClean="0">
                                        <a:latin typeface="Cambria Math" panose="02040503050406030204" pitchFamily="18" charset="0"/>
                                        <a:ea typeface="Cambria Math" panose="02040503050406030204" pitchFamily="18" charset="0"/>
                                      </a:rPr>
                                      <m:t>𝐴</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𝑥</m:t>
                                        </m:r>
                                      </m:e>
                                    </m:d>
                                  </m:e>
                                </m:d>
                              </m:oMath>
                            </m:oMathPara>
                          </a14:m>
                          <a:endParaRPr lang="es-MX" sz="1200" dirty="0">
                            <a:latin typeface="+mn-lt"/>
                            <a:ea typeface="Roboto" panose="02000000000000000000" pitchFamily="2" charset="0"/>
                          </a:endParaRPr>
                        </a:p>
                      </a:txBody>
                      <a:tcPr anchor="ctr"/>
                    </a:tc>
                    <a:extLst>
                      <a:ext uri="{0D108BD9-81ED-4DB2-BD59-A6C34878D82A}">
                        <a16:rowId xmlns:a16="http://schemas.microsoft.com/office/drawing/2014/main" val="1575296453"/>
                      </a:ext>
                    </a:extLst>
                  </a:tr>
                  <a:tr h="276552">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3</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1" dirty="0">
                              <a:latin typeface="+mn-lt"/>
                              <a:ea typeface="Roboto" panose="02000000000000000000" pitchFamily="2" charset="0"/>
                            </a:rPr>
                            <a:t>Conclusión</a:t>
                          </a:r>
                          <a:r>
                            <a:rPr lang="es-MX" sz="1400" dirty="0">
                              <a:latin typeface="+mn-lt"/>
                              <a:ea typeface="Roboto" panose="02000000000000000000" pitchFamily="2" charset="0"/>
                            </a:rPr>
                            <a:t>: Alguien que aprobó el primer examen no ha leído el libro</a:t>
                          </a:r>
                        </a:p>
                      </a:txBody>
                      <a:tcPr anchor="ctr"/>
                    </a:tc>
                    <a:tc>
                      <a:txBody>
                        <a:bodyPr/>
                        <a:lstStyle/>
                        <a:p>
                          <a:pPr algn="l"/>
                          <a14:m>
                            <m:oMathPara xmlns:m="http://schemas.openxmlformats.org/officeDocument/2006/math">
                              <m:oMathParaPr>
                                <m:jc m:val="left"/>
                              </m:oMathParaPr>
                              <m:oMath xmlns:m="http://schemas.openxmlformats.org/officeDocument/2006/math">
                                <m:r>
                                  <a:rPr lang="es-MX" sz="1200" b="0" i="1" smtClean="0">
                                    <a:latin typeface="Cambria Math" panose="02040503050406030204" pitchFamily="18" charset="0"/>
                                    <a:ea typeface="Cambria Math" panose="02040503050406030204" pitchFamily="18" charset="0"/>
                                  </a:rPr>
                                  <m:t>∃</m:t>
                                </m:r>
                                <m:r>
                                  <a:rPr lang="es-MX" sz="1200" b="0" i="1" smtClean="0">
                                    <a:latin typeface="Cambria Math" panose="02040503050406030204" pitchFamily="18" charset="0"/>
                                    <a:ea typeface="Cambria Math" panose="02040503050406030204" pitchFamily="18" charset="0"/>
                                  </a:rPr>
                                  <m:t>𝑥</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𝐴</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𝑥</m:t>
                                        </m:r>
                                      </m:e>
                                    </m:d>
                                    <m:r>
                                      <a:rPr lang="es-MX" sz="1200" b="0" i="1" smtClean="0">
                                        <a:latin typeface="Cambria Math" panose="02040503050406030204" pitchFamily="18" charset="0"/>
                                        <a:ea typeface="Cambria Math" panose="02040503050406030204" pitchFamily="18" charset="0"/>
                                      </a:rPr>
                                      <m:t>∧¬</m:t>
                                    </m:r>
                                    <m:r>
                                      <a:rPr lang="es-MX" sz="1200" b="0" i="1" smtClean="0">
                                        <a:latin typeface="Cambria Math" panose="02040503050406030204" pitchFamily="18" charset="0"/>
                                        <a:ea typeface="Cambria Math" panose="02040503050406030204" pitchFamily="18" charset="0"/>
                                      </a:rPr>
                                      <m:t>𝐿</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𝑥</m:t>
                                        </m:r>
                                      </m:e>
                                    </m:d>
                                  </m:e>
                                </m:d>
                              </m:oMath>
                            </m:oMathPara>
                          </a14:m>
                          <a:endParaRPr lang="es-MX" sz="1200" dirty="0">
                            <a:latin typeface="+mn-lt"/>
                            <a:ea typeface="Roboto" panose="02000000000000000000" pitchFamily="2" charset="0"/>
                          </a:endParaRPr>
                        </a:p>
                      </a:txBody>
                      <a:tcPr anchor="ctr"/>
                    </a:tc>
                    <a:extLst>
                      <a:ext uri="{0D108BD9-81ED-4DB2-BD59-A6C34878D82A}">
                        <a16:rowId xmlns:a16="http://schemas.microsoft.com/office/drawing/2014/main" val="3379990816"/>
                      </a:ext>
                    </a:extLst>
                  </a:tr>
                </a:tbl>
              </a:graphicData>
            </a:graphic>
          </p:graphicFrame>
        </mc:Choice>
        <mc:Fallback xmlns="">
          <p:graphicFrame>
            <p:nvGraphicFramePr>
              <p:cNvPr id="6" name="Tabla 3">
                <a:extLst>
                  <a:ext uri="{FF2B5EF4-FFF2-40B4-BE49-F238E27FC236}">
                    <a16:creationId xmlns:a16="http://schemas.microsoft.com/office/drawing/2014/main" id="{B268220F-8A60-4908-981E-8C2BA0B3EB23}"/>
                  </a:ext>
                </a:extLst>
              </p:cNvPr>
              <p:cNvGraphicFramePr>
                <a:graphicFrameLocks noGrp="1"/>
              </p:cNvGraphicFramePr>
              <p:nvPr>
                <p:extLst>
                  <p:ext uri="{D42A27DB-BD31-4B8C-83A1-F6EECF244321}">
                    <p14:modId xmlns:p14="http://schemas.microsoft.com/office/powerpoint/2010/main" val="1830369051"/>
                  </p:ext>
                </p:extLst>
              </p:nvPr>
            </p:nvGraphicFramePr>
            <p:xfrm>
              <a:off x="995518" y="4281309"/>
              <a:ext cx="4371679" cy="2072640"/>
            </p:xfrm>
            <a:graphic>
              <a:graphicData uri="http://schemas.openxmlformats.org/drawingml/2006/table">
                <a:tbl>
                  <a:tblPr firstRow="1" bandRow="1">
                    <a:tableStyleId>{AD6A3598-7CB8-4345-8D95-17CE05F158A0}</a:tableStyleId>
                  </a:tblPr>
                  <a:tblGrid>
                    <a:gridCol w="245257">
                      <a:extLst>
                        <a:ext uri="{9D8B030D-6E8A-4147-A177-3AD203B41FA5}">
                          <a16:colId xmlns:a16="http://schemas.microsoft.com/office/drawing/2014/main" val="2057099001"/>
                        </a:ext>
                      </a:extLst>
                    </a:gridCol>
                    <a:gridCol w="2413737">
                      <a:extLst>
                        <a:ext uri="{9D8B030D-6E8A-4147-A177-3AD203B41FA5}">
                          <a16:colId xmlns:a16="http://schemas.microsoft.com/office/drawing/2014/main" val="2721384015"/>
                        </a:ext>
                      </a:extLst>
                    </a:gridCol>
                    <a:gridCol w="1712685">
                      <a:extLst>
                        <a:ext uri="{9D8B030D-6E8A-4147-A177-3AD203B41FA5}">
                          <a16:colId xmlns:a16="http://schemas.microsoft.com/office/drawing/2014/main" val="3804441368"/>
                        </a:ext>
                      </a:extLst>
                    </a:gridCol>
                  </a:tblGrid>
                  <a:tr h="304800">
                    <a:tc>
                      <a:txBody>
                        <a:bodyPr/>
                        <a:lstStyle/>
                        <a:p>
                          <a:pPr algn="ctr"/>
                          <a:r>
                            <a:rPr lang="es-CO" sz="1400" b="1" dirty="0">
                              <a:latin typeface="+mn-lt"/>
                              <a:ea typeface="Roboto" panose="02000000000000000000" pitchFamily="2" charset="0"/>
                            </a:rPr>
                            <a:t>#</a:t>
                          </a:r>
                        </a:p>
                      </a:txBody>
                      <a:tcPr/>
                    </a:tc>
                    <a:tc>
                      <a:txBody>
                        <a:bodyPr/>
                        <a:lstStyle/>
                        <a:p>
                          <a:r>
                            <a:rPr lang="es-CO" sz="1400" b="1" dirty="0">
                              <a:latin typeface="+mn-lt"/>
                              <a:ea typeface="Roboto" panose="02000000000000000000" pitchFamily="2" charset="0"/>
                            </a:rPr>
                            <a:t>Enunciado</a:t>
                          </a:r>
                        </a:p>
                      </a:txBody>
                      <a:tcPr/>
                    </a:tc>
                    <a:tc>
                      <a:txBody>
                        <a:bodyPr/>
                        <a:lstStyle/>
                        <a:p>
                          <a:r>
                            <a:rPr lang="es-CO" sz="1400" b="1" dirty="0">
                              <a:latin typeface="+mn-lt"/>
                              <a:ea typeface="Roboto" panose="02000000000000000000" pitchFamily="2" charset="0"/>
                            </a:rPr>
                            <a:t>Representación</a:t>
                          </a:r>
                        </a:p>
                      </a:txBody>
                      <a:tcPr/>
                    </a:tc>
                    <a:extLst>
                      <a:ext uri="{0D108BD9-81ED-4DB2-BD59-A6C34878D82A}">
                        <a16:rowId xmlns:a16="http://schemas.microsoft.com/office/drawing/2014/main" val="3910282906"/>
                      </a:ext>
                    </a:extLst>
                  </a:tr>
                  <a:tr h="5181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400" dirty="0">
                              <a:latin typeface="+mn-lt"/>
                              <a:ea typeface="Roboto" panose="02000000000000000000" pitchFamily="2" charset="0"/>
                            </a:rPr>
                            <a:t>1</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1" dirty="0">
                              <a:latin typeface="+mn-lt"/>
                              <a:ea typeface="Roboto" panose="02000000000000000000" pitchFamily="2" charset="0"/>
                            </a:rPr>
                            <a:t>Premisa1</a:t>
                          </a:r>
                          <a:r>
                            <a:rPr lang="es-MX" sz="1400" dirty="0">
                              <a:latin typeface="+mn-lt"/>
                              <a:ea typeface="Roboto" panose="02000000000000000000" pitchFamily="2" charset="0"/>
                            </a:rPr>
                            <a:t>: Un estudiante de esta clase no ha leído el libro</a:t>
                          </a:r>
                          <a:endParaRPr lang="es-CO" sz="1400" dirty="0">
                            <a:latin typeface="+mn-lt"/>
                            <a:ea typeface="Roboto" panose="02000000000000000000" pitchFamily="2" charset="0"/>
                          </a:endParaRPr>
                        </a:p>
                      </a:txBody>
                      <a:tcPr anchor="ctr"/>
                    </a:tc>
                    <a:tc>
                      <a:txBody>
                        <a:bodyPr/>
                        <a:lstStyle/>
                        <a:p>
                          <a:endParaRPr lang="es-CO"/>
                        </a:p>
                      </a:txBody>
                      <a:tcPr anchor="ctr">
                        <a:blipFill>
                          <a:blip r:embed="rId3"/>
                          <a:stretch>
                            <a:fillRect l="-155872" t="-60000" r="-712" b="-254118"/>
                          </a:stretch>
                        </a:blipFill>
                      </a:tcPr>
                    </a:tc>
                    <a:extLst>
                      <a:ext uri="{0D108BD9-81ED-4DB2-BD59-A6C34878D82A}">
                        <a16:rowId xmlns:a16="http://schemas.microsoft.com/office/drawing/2014/main" val="3412829917"/>
                      </a:ext>
                    </a:extLst>
                  </a:tr>
                  <a:tr h="51816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2</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1400" b="1" dirty="0">
                              <a:latin typeface="+mn-lt"/>
                            </a:rPr>
                            <a:t>Premisa 2</a:t>
                          </a:r>
                          <a:r>
                            <a:rPr lang="es-CO" sz="1400" dirty="0">
                              <a:latin typeface="+mn-lt"/>
                            </a:rPr>
                            <a:t>: </a:t>
                          </a:r>
                          <a:r>
                            <a:rPr lang="es-MX" sz="1400" dirty="0">
                              <a:latin typeface="+mn-lt"/>
                              <a:ea typeface="Roboto" panose="02000000000000000000" pitchFamily="2" charset="0"/>
                            </a:rPr>
                            <a:t>Todos en esta clase aprobaron el primer examen</a:t>
                          </a:r>
                        </a:p>
                      </a:txBody>
                      <a:tcPr anchor="ctr"/>
                    </a:tc>
                    <a:tc>
                      <a:txBody>
                        <a:bodyPr/>
                        <a:lstStyle/>
                        <a:p>
                          <a:endParaRPr lang="es-CO"/>
                        </a:p>
                      </a:txBody>
                      <a:tcPr anchor="ctr">
                        <a:blipFill>
                          <a:blip r:embed="rId3"/>
                          <a:stretch>
                            <a:fillRect l="-155872" t="-158140" r="-712" b="-151163"/>
                          </a:stretch>
                        </a:blipFill>
                      </a:tcPr>
                    </a:tc>
                    <a:extLst>
                      <a:ext uri="{0D108BD9-81ED-4DB2-BD59-A6C34878D82A}">
                        <a16:rowId xmlns:a16="http://schemas.microsoft.com/office/drawing/2014/main" val="1575296453"/>
                      </a:ext>
                    </a:extLst>
                  </a:tr>
                  <a:tr h="73152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MX" sz="1400" dirty="0">
                              <a:latin typeface="+mn-lt"/>
                              <a:ea typeface="Roboto" panose="02000000000000000000" pitchFamily="2" charset="0"/>
                            </a:rPr>
                            <a:t>3</a:t>
                          </a:r>
                        </a:p>
                      </a:txBody>
                      <a:tcPr anchor="ct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MX" sz="1400" b="1" dirty="0">
                              <a:latin typeface="+mn-lt"/>
                              <a:ea typeface="Roboto" panose="02000000000000000000" pitchFamily="2" charset="0"/>
                            </a:rPr>
                            <a:t>Conclusión</a:t>
                          </a:r>
                          <a:r>
                            <a:rPr lang="es-MX" sz="1400" dirty="0">
                              <a:latin typeface="+mn-lt"/>
                              <a:ea typeface="Roboto" panose="02000000000000000000" pitchFamily="2" charset="0"/>
                            </a:rPr>
                            <a:t>: Alguien que aprobó el primer examen no ha leído el libro</a:t>
                          </a:r>
                        </a:p>
                      </a:txBody>
                      <a:tcPr anchor="ctr"/>
                    </a:tc>
                    <a:tc>
                      <a:txBody>
                        <a:bodyPr/>
                        <a:lstStyle/>
                        <a:p>
                          <a:endParaRPr lang="es-CO"/>
                        </a:p>
                      </a:txBody>
                      <a:tcPr anchor="ctr">
                        <a:blipFill>
                          <a:blip r:embed="rId3"/>
                          <a:stretch>
                            <a:fillRect l="-155872" t="-185000" r="-712" b="-8333"/>
                          </a:stretch>
                        </a:blipFill>
                      </a:tcPr>
                    </a:tc>
                    <a:extLst>
                      <a:ext uri="{0D108BD9-81ED-4DB2-BD59-A6C34878D82A}">
                        <a16:rowId xmlns:a16="http://schemas.microsoft.com/office/drawing/2014/main" val="337999081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a 2">
                <a:extLst>
                  <a:ext uri="{FF2B5EF4-FFF2-40B4-BE49-F238E27FC236}">
                    <a16:creationId xmlns:a16="http://schemas.microsoft.com/office/drawing/2014/main" id="{48F87D2B-4563-4CD2-AC3D-E9D326A69BAA}"/>
                  </a:ext>
                </a:extLst>
              </p:cNvPr>
              <p:cNvGraphicFramePr>
                <a:graphicFrameLocks noGrp="1"/>
              </p:cNvGraphicFramePr>
              <p:nvPr>
                <p:extLst>
                  <p:ext uri="{D42A27DB-BD31-4B8C-83A1-F6EECF244321}">
                    <p14:modId xmlns:p14="http://schemas.microsoft.com/office/powerpoint/2010/main" val="4288814367"/>
                  </p:ext>
                </p:extLst>
              </p:nvPr>
            </p:nvGraphicFramePr>
            <p:xfrm>
              <a:off x="1013120" y="2698760"/>
              <a:ext cx="4371679" cy="1249680"/>
            </p:xfrm>
            <a:graphic>
              <a:graphicData uri="http://schemas.openxmlformats.org/drawingml/2006/table">
                <a:tbl>
                  <a:tblPr firstRow="1" bandRow="1">
                    <a:tableStyleId>{AD6A3598-7CB8-4345-8D95-17CE05F158A0}</a:tableStyleId>
                  </a:tblPr>
                  <a:tblGrid>
                    <a:gridCol w="1004366">
                      <a:extLst>
                        <a:ext uri="{9D8B030D-6E8A-4147-A177-3AD203B41FA5}">
                          <a16:colId xmlns:a16="http://schemas.microsoft.com/office/drawing/2014/main" val="55665907"/>
                        </a:ext>
                      </a:extLst>
                    </a:gridCol>
                    <a:gridCol w="3367313">
                      <a:extLst>
                        <a:ext uri="{9D8B030D-6E8A-4147-A177-3AD203B41FA5}">
                          <a16:colId xmlns:a16="http://schemas.microsoft.com/office/drawing/2014/main" val="2393994677"/>
                        </a:ext>
                      </a:extLst>
                    </a:gridCol>
                  </a:tblGrid>
                  <a:tr h="0">
                    <a:tc>
                      <a:txBody>
                        <a:bodyPr/>
                        <a:lstStyle/>
                        <a:p>
                          <a:r>
                            <a:rPr lang="es-CO" sz="1400" b="1" dirty="0">
                              <a:latin typeface="+mn-lt"/>
                              <a:ea typeface="Roboto" panose="02000000000000000000" pitchFamily="2" charset="0"/>
                            </a:rPr>
                            <a:t>Dominio</a:t>
                          </a:r>
                        </a:p>
                      </a:txBody>
                      <a:tcPr/>
                    </a:tc>
                    <a:tc>
                      <a:txBody>
                        <a:bodyPr/>
                        <a:lstStyle/>
                        <a:p>
                          <a:pPr/>
                          <a14:m>
                            <m:oMathPara xmlns:m="http://schemas.openxmlformats.org/officeDocument/2006/math">
                              <m:oMathParaPr>
                                <m:jc m:val="centerGroup"/>
                              </m:oMathParaPr>
                              <m:oMath xmlns:m="http://schemas.openxmlformats.org/officeDocument/2006/math">
                                <m:r>
                                  <a:rPr lang="es-MX" sz="1200" b="0" i="1" dirty="0" smtClean="0">
                                    <a:latin typeface="Cambria Math" panose="02040503050406030204" pitchFamily="18" charset="0"/>
                                    <a:ea typeface="Roboto" panose="02000000000000000000" pitchFamily="2" charset="0"/>
                                  </a:rPr>
                                  <m:t>𝑈</m:t>
                                </m:r>
                                <m:r>
                                  <a:rPr lang="es-MX" sz="1200" b="0" i="1" dirty="0" smtClean="0">
                                    <a:latin typeface="Cambria Math" panose="02040503050406030204" pitchFamily="18" charset="0"/>
                                    <a:ea typeface="Roboto" panose="02000000000000000000" pitchFamily="2" charset="0"/>
                                  </a:rPr>
                                  <m:t>:</m:t>
                                </m:r>
                                <m:r>
                                  <m:rPr>
                                    <m:sty m:val="p"/>
                                  </m:rPr>
                                  <a:rPr lang="es-MX" sz="1200" b="0" i="0" dirty="0" smtClean="0">
                                    <a:latin typeface="Cambria Math" panose="02040503050406030204" pitchFamily="18" charset="0"/>
                                    <a:ea typeface="Roboto" panose="02000000000000000000" pitchFamily="2" charset="0"/>
                                  </a:rPr>
                                  <m:t>Todos</m:t>
                                </m:r>
                                <m:r>
                                  <a:rPr lang="es-MX" sz="1200" b="0" i="0" dirty="0" smtClean="0">
                                    <a:latin typeface="Cambria Math" panose="02040503050406030204" pitchFamily="18" charset="0"/>
                                    <a:ea typeface="Roboto" panose="02000000000000000000" pitchFamily="2" charset="0"/>
                                  </a:rPr>
                                  <m:t> </m:t>
                                </m:r>
                                <m:r>
                                  <m:rPr>
                                    <m:sty m:val="p"/>
                                  </m:rPr>
                                  <a:rPr lang="es-MX" sz="1200" b="0" i="0" dirty="0" smtClean="0">
                                    <a:latin typeface="Cambria Math" panose="02040503050406030204" pitchFamily="18" charset="0"/>
                                    <a:ea typeface="Roboto" panose="02000000000000000000" pitchFamily="2" charset="0"/>
                                  </a:rPr>
                                  <m:t>los</m:t>
                                </m:r>
                                <m:r>
                                  <a:rPr lang="es-MX" sz="1200" b="0" i="0" dirty="0" smtClean="0">
                                    <a:latin typeface="Cambria Math" panose="02040503050406030204" pitchFamily="18" charset="0"/>
                                    <a:ea typeface="Roboto" panose="02000000000000000000" pitchFamily="2" charset="0"/>
                                  </a:rPr>
                                  <m:t> </m:t>
                                </m:r>
                                <m:r>
                                  <m:rPr>
                                    <m:sty m:val="p"/>
                                  </m:rPr>
                                  <a:rPr lang="es-MX" sz="1200" b="0" i="0" dirty="0" smtClean="0">
                                    <a:latin typeface="Cambria Math" panose="02040503050406030204" pitchFamily="18" charset="0"/>
                                    <a:ea typeface="Roboto" panose="02000000000000000000" pitchFamily="2" charset="0"/>
                                  </a:rPr>
                                  <m:t>estudiantes</m:t>
                                </m:r>
                              </m:oMath>
                            </m:oMathPara>
                          </a14:m>
                          <a:endParaRPr lang="es-CO" sz="1200" b="0" i="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2554054099"/>
                      </a:ext>
                    </a:extLst>
                  </a:tr>
                  <a:tr h="0">
                    <a:tc>
                      <a:txBody>
                        <a:bodyPr/>
                        <a:lstStyle/>
                        <a:p>
                          <a:r>
                            <a:rPr lang="es-CO" sz="1400" b="1" dirty="0">
                              <a:latin typeface="+mn-lt"/>
                              <a:ea typeface="Roboto" panose="02000000000000000000" pitchFamily="2" charset="0"/>
                            </a:rPr>
                            <a:t>Variables</a:t>
                          </a:r>
                        </a:p>
                      </a:txBody>
                      <a:tcPr/>
                    </a:tc>
                    <a:tc>
                      <a:txBody>
                        <a:bodyPr/>
                        <a:lstStyle/>
                        <a:p>
                          <a:pPr/>
                          <a14:m>
                            <m:oMathPara xmlns:m="http://schemas.openxmlformats.org/officeDocument/2006/math">
                              <m:oMathParaPr>
                                <m:jc m:val="centerGroup"/>
                              </m:oMathParaPr>
                              <m:oMath xmlns:m="http://schemas.openxmlformats.org/officeDocument/2006/math">
                                <m:r>
                                  <a:rPr lang="es-MX" sz="1200" b="0" i="1" smtClean="0">
                                    <a:latin typeface="Cambria Math" panose="02040503050406030204" pitchFamily="18" charset="0"/>
                                  </a:rPr>
                                  <m:t>𝑥</m:t>
                                </m:r>
                              </m:oMath>
                            </m:oMathPara>
                          </a14:m>
                          <a:endParaRPr lang="es-CO" sz="1200" dirty="0">
                            <a:latin typeface="Roboto" panose="02000000000000000000" pitchFamily="2" charset="0"/>
                            <a:ea typeface="Roboto" panose="02000000000000000000" pitchFamily="2" charset="0"/>
                          </a:endParaRPr>
                        </a:p>
                      </a:txBody>
                      <a:tcPr/>
                    </a:tc>
                    <a:extLst>
                      <a:ext uri="{0D108BD9-81ED-4DB2-BD59-A6C34878D82A}">
                        <a16:rowId xmlns:a16="http://schemas.microsoft.com/office/drawing/2014/main" val="1590970474"/>
                      </a:ext>
                    </a:extLst>
                  </a:tr>
                  <a:tr h="192056">
                    <a:tc>
                      <a:txBody>
                        <a:bodyPr/>
                        <a:lstStyle/>
                        <a:p>
                          <a:r>
                            <a:rPr lang="es-CO" sz="1400" b="1" dirty="0">
                              <a:latin typeface="+mn-lt"/>
                              <a:ea typeface="Roboto" panose="02000000000000000000" pitchFamily="2" charset="0"/>
                            </a:rPr>
                            <a:t>Predicados</a:t>
                          </a:r>
                        </a:p>
                      </a:txBody>
                      <a:tcPr/>
                    </a:tc>
                    <a:tc>
                      <a:txBody>
                        <a:bodyPr/>
                        <a:lstStyle/>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200" b="0" i="1" smtClean="0">
                                  <a:latin typeface="Cambria Math" panose="02040503050406030204" pitchFamily="18" charset="0"/>
                                  <a:ea typeface="Cambria Math" panose="02040503050406030204" pitchFamily="18" charset="0"/>
                                </a:rPr>
                                <m:t>𝐶</m:t>
                              </m:r>
                              <m:d>
                                <m:dPr>
                                  <m:ctrlPr>
                                    <a:rPr lang="es-MX" sz="1200" b="0" i="1" smtClean="0">
                                      <a:latin typeface="Cambria Math" panose="02040503050406030204" pitchFamily="18" charset="0"/>
                                      <a:ea typeface="Cambria Math" panose="02040503050406030204" pitchFamily="18" charset="0"/>
                                    </a:rPr>
                                  </m:ctrlPr>
                                </m:dPr>
                                <m:e>
                                  <m:r>
                                    <a:rPr lang="es-MX" sz="1200" b="0" i="1" smtClean="0">
                                      <a:latin typeface="Cambria Math" panose="02040503050406030204" pitchFamily="18" charset="0"/>
                                      <a:ea typeface="Cambria Math" panose="02040503050406030204" pitchFamily="18" charset="0"/>
                                    </a:rPr>
                                    <m:t>𝑥</m:t>
                                  </m:r>
                                </m:e>
                              </m:d>
                              <m:r>
                                <a:rPr lang="es-MX" sz="1200" b="0" i="1" smtClean="0">
                                  <a:latin typeface="Cambria Math" panose="02040503050406030204" pitchFamily="18" charset="0"/>
                                  <a:ea typeface="Cambria Math" panose="02040503050406030204" pitchFamily="18" charset="0"/>
                                </a:rPr>
                                <m:t>:</m:t>
                              </m:r>
                              <m:r>
                                <a:rPr lang="es-MX" sz="1200" b="0" i="1" smtClean="0">
                                  <a:latin typeface="Cambria Math" panose="02040503050406030204" pitchFamily="18" charset="0"/>
                                  <a:ea typeface="Cambria Math" panose="02040503050406030204" pitchFamily="18" charset="0"/>
                                </a:rPr>
                                <m:t>𝑥</m:t>
                              </m:r>
                              <m:r>
                                <a:rPr lang="es-MX" sz="1200" b="0" i="1" smtClean="0">
                                  <a:latin typeface="Cambria Math" panose="02040503050406030204" pitchFamily="18" charset="0"/>
                                  <a:ea typeface="Cambria Math" panose="02040503050406030204" pitchFamily="18" charset="0"/>
                                </a:rPr>
                                <m:t> </m:t>
                              </m:r>
                              <m:r>
                                <m:rPr>
                                  <m:sty m:val="p"/>
                                </m:rPr>
                                <a:rPr lang="es-MX" sz="1200" b="0" i="0" smtClean="0">
                                  <a:latin typeface="Cambria Math" panose="02040503050406030204" pitchFamily="18" charset="0"/>
                                  <a:ea typeface="Cambria Math" panose="02040503050406030204" pitchFamily="18" charset="0"/>
                                </a:rPr>
                                <m:t>esta</m:t>
                              </m:r>
                              <m:r>
                                <a:rPr lang="es-MX" sz="1200" b="0" i="0" smtClean="0">
                                  <a:latin typeface="Cambria Math" panose="02040503050406030204" pitchFamily="18" charset="0"/>
                                  <a:ea typeface="Cambria Math" panose="02040503050406030204" pitchFamily="18" charset="0"/>
                                </a:rPr>
                                <m:t> </m:t>
                              </m:r>
                              <m:r>
                                <m:rPr>
                                  <m:sty m:val="p"/>
                                </m:rPr>
                                <a:rPr lang="es-MX" sz="1200" b="0" i="0" smtClean="0">
                                  <a:latin typeface="Cambria Math" panose="02040503050406030204" pitchFamily="18" charset="0"/>
                                  <a:ea typeface="Cambria Math" panose="02040503050406030204" pitchFamily="18" charset="0"/>
                                </a:rPr>
                                <m:t>en</m:t>
                              </m:r>
                              <m:r>
                                <a:rPr lang="es-MX" sz="1200" b="0" i="0" smtClean="0">
                                  <a:latin typeface="Cambria Math" panose="02040503050406030204" pitchFamily="18" charset="0"/>
                                  <a:ea typeface="Cambria Math" panose="02040503050406030204" pitchFamily="18" charset="0"/>
                                </a:rPr>
                                <m:t> </m:t>
                              </m:r>
                              <m:r>
                                <m:rPr>
                                  <m:sty m:val="p"/>
                                </m:rPr>
                                <a:rPr lang="es-MX" sz="1200" b="0" i="0" smtClean="0">
                                  <a:latin typeface="Cambria Math" panose="02040503050406030204" pitchFamily="18" charset="0"/>
                                  <a:ea typeface="Cambria Math" panose="02040503050406030204" pitchFamily="18" charset="0"/>
                                </a:rPr>
                                <m:t>esta</m:t>
                              </m:r>
                              <m:r>
                                <a:rPr lang="es-MX" sz="1200" b="0" i="0" smtClean="0">
                                  <a:latin typeface="Cambria Math" panose="02040503050406030204" pitchFamily="18" charset="0"/>
                                  <a:ea typeface="Cambria Math" panose="02040503050406030204" pitchFamily="18" charset="0"/>
                                </a:rPr>
                                <m:t> </m:t>
                              </m:r>
                              <m:r>
                                <m:rPr>
                                  <m:sty m:val="p"/>
                                </m:rPr>
                                <a:rPr lang="es-MX" sz="1200" b="0" i="0" smtClean="0">
                                  <a:latin typeface="Cambria Math" panose="02040503050406030204" pitchFamily="18" charset="0"/>
                                  <a:ea typeface="Cambria Math" panose="02040503050406030204" pitchFamily="18" charset="0"/>
                                </a:rPr>
                                <m:t>clase</m:t>
                              </m:r>
                            </m:oMath>
                          </a14:m>
                          <a:endParaRPr lang="es-MX" sz="1200" b="0" i="0" dirty="0">
                            <a:latin typeface="Cambria Math" panose="02040503050406030204" pitchFamily="18" charset="0"/>
                            <a:ea typeface="Cambria Math" panose="02040503050406030204" pitchFamily="18" charset="0"/>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200" b="0" i="1" smtClean="0">
                                  <a:solidFill>
                                    <a:schemeClr val="tx1"/>
                                  </a:solidFill>
                                  <a:latin typeface="Cambria Math" panose="02040503050406030204" pitchFamily="18" charset="0"/>
                                  <a:ea typeface="Cambria Math" panose="02040503050406030204" pitchFamily="18" charset="0"/>
                                </a:rPr>
                                <m:t>𝐿</m:t>
                              </m:r>
                              <m:d>
                                <m:dPr>
                                  <m:ctrlPr>
                                    <a:rPr lang="es-MX" sz="1200" b="0" i="1" smtClean="0">
                                      <a:solidFill>
                                        <a:schemeClr val="tx1"/>
                                      </a:solidFill>
                                      <a:latin typeface="Cambria Math" panose="02040503050406030204" pitchFamily="18" charset="0"/>
                                      <a:ea typeface="Cambria Math" panose="02040503050406030204" pitchFamily="18" charset="0"/>
                                    </a:rPr>
                                  </m:ctrlPr>
                                </m:dPr>
                                <m:e>
                                  <m:r>
                                    <a:rPr lang="es-MX" sz="1200" b="0" i="1" smtClean="0">
                                      <a:solidFill>
                                        <a:schemeClr val="tx1"/>
                                      </a:solidFill>
                                      <a:latin typeface="Cambria Math" panose="02040503050406030204" pitchFamily="18" charset="0"/>
                                      <a:ea typeface="Cambria Math" panose="02040503050406030204" pitchFamily="18" charset="0"/>
                                    </a:rPr>
                                    <m:t>𝑥</m:t>
                                  </m:r>
                                </m:e>
                              </m:d>
                              <m:r>
                                <a:rPr lang="es-MX" sz="1200" b="0" i="1" smtClean="0">
                                  <a:solidFill>
                                    <a:schemeClr val="tx1"/>
                                  </a:solidFill>
                                  <a:latin typeface="Cambria Math" panose="02040503050406030204" pitchFamily="18" charset="0"/>
                                  <a:ea typeface="Cambria Math" panose="02040503050406030204" pitchFamily="18" charset="0"/>
                                </a:rPr>
                                <m:t>: </m:t>
                              </m:r>
                              <m:r>
                                <a:rPr lang="es-MX" sz="1200" b="0" i="1" smtClean="0">
                                  <a:solidFill>
                                    <a:schemeClr val="tx1"/>
                                  </a:solidFill>
                                  <a:latin typeface="Cambria Math" panose="02040503050406030204" pitchFamily="18" charset="0"/>
                                  <a:ea typeface="Cambria Math" panose="02040503050406030204" pitchFamily="18" charset="0"/>
                                </a:rPr>
                                <m:t>𝑥</m:t>
                              </m:r>
                              <m:r>
                                <a:rPr lang="es-MX" sz="1200" b="0" i="1" smtClean="0">
                                  <a:solidFill>
                                    <a:schemeClr val="tx1"/>
                                  </a:solidFill>
                                  <a:latin typeface="Cambria Math" panose="02040503050406030204" pitchFamily="18" charset="0"/>
                                  <a:ea typeface="Cambria Math" panose="02040503050406030204" pitchFamily="18" charset="0"/>
                                </a:rPr>
                                <m:t> </m:t>
                              </m:r>
                              <m:r>
                                <m:rPr>
                                  <m:sty m:val="p"/>
                                </m:rPr>
                                <a:rPr lang="es-MX" sz="1200" b="0" i="0" smtClean="0">
                                  <a:solidFill>
                                    <a:schemeClr val="tx1"/>
                                  </a:solidFill>
                                  <a:latin typeface="Cambria Math" panose="02040503050406030204" pitchFamily="18" charset="0"/>
                                  <a:ea typeface="Cambria Math" panose="02040503050406030204" pitchFamily="18" charset="0"/>
                                </a:rPr>
                                <m:t>leyo</m:t>
                              </m:r>
                              <m:r>
                                <a:rPr lang="es-MX" sz="1200" b="0" i="0" smtClean="0">
                                  <a:solidFill>
                                    <a:schemeClr val="tx1"/>
                                  </a:solidFill>
                                  <a:latin typeface="Cambria Math" panose="02040503050406030204" pitchFamily="18" charset="0"/>
                                  <a:ea typeface="Cambria Math" panose="02040503050406030204" pitchFamily="18" charset="0"/>
                                </a:rPr>
                                <m:t> </m:t>
                              </m:r>
                              <m:r>
                                <m:rPr>
                                  <m:sty m:val="p"/>
                                </m:rPr>
                                <a:rPr lang="es-MX" sz="1200" b="0" i="0" smtClean="0">
                                  <a:solidFill>
                                    <a:schemeClr val="tx1"/>
                                  </a:solidFill>
                                  <a:latin typeface="Cambria Math" panose="02040503050406030204" pitchFamily="18" charset="0"/>
                                  <a:ea typeface="Cambria Math" panose="02040503050406030204" pitchFamily="18" charset="0"/>
                                </a:rPr>
                                <m:t>el</m:t>
                              </m:r>
                              <m:r>
                                <a:rPr lang="es-MX" sz="1200" b="0" i="0" smtClean="0">
                                  <a:solidFill>
                                    <a:schemeClr val="tx1"/>
                                  </a:solidFill>
                                  <a:latin typeface="Cambria Math" panose="02040503050406030204" pitchFamily="18" charset="0"/>
                                  <a:ea typeface="Cambria Math" panose="02040503050406030204" pitchFamily="18" charset="0"/>
                                </a:rPr>
                                <m:t> </m:t>
                              </m:r>
                              <m:r>
                                <m:rPr>
                                  <m:sty m:val="p"/>
                                </m:rPr>
                                <a:rPr lang="es-MX" sz="1200" b="0" i="0" smtClean="0">
                                  <a:solidFill>
                                    <a:schemeClr val="tx1"/>
                                  </a:solidFill>
                                  <a:latin typeface="Cambria Math" panose="02040503050406030204" pitchFamily="18" charset="0"/>
                                  <a:ea typeface="Cambria Math" panose="02040503050406030204" pitchFamily="18" charset="0"/>
                                </a:rPr>
                                <m:t>libro</m:t>
                              </m:r>
                            </m:oMath>
                          </a14:m>
                          <a:endParaRPr lang="es-MX" sz="1200" b="0" i="1" dirty="0">
                            <a:solidFill>
                              <a:schemeClr val="tx1"/>
                            </a:solidFill>
                            <a:latin typeface="Cambria Math" panose="02040503050406030204" pitchFamily="18" charset="0"/>
                            <a:ea typeface="Cambria Math" panose="02040503050406030204" pitchFamily="18" charset="0"/>
                          </a:endParaRPr>
                        </a:p>
                        <a:p>
                          <a:pPr marL="285750" marR="0" lvl="0" indent="-285750" algn="l" defTabSz="914400" rtl="0" eaLnBrk="1" fontAlgn="auto" latinLnBrk="0" hangingPunct="1">
                            <a:lnSpc>
                              <a:spcPct val="100000"/>
                            </a:lnSpc>
                            <a:spcBef>
                              <a:spcPts val="0"/>
                            </a:spcBef>
                            <a:spcAft>
                              <a:spcPts val="0"/>
                            </a:spcAft>
                            <a:buClr>
                              <a:srgbClr val="000000"/>
                            </a:buClr>
                            <a:buSzTx/>
                            <a:buFont typeface="Arial" panose="020B0604020202020204" pitchFamily="34" charset="0"/>
                            <a:buChar char="•"/>
                            <a:tabLst/>
                            <a:defRPr/>
                          </a:pPr>
                          <a14:m>
                            <m:oMath xmlns:m="http://schemas.openxmlformats.org/officeDocument/2006/math">
                              <m:r>
                                <a:rPr lang="es-MX" sz="1200" b="0" i="1" smtClean="0">
                                  <a:solidFill>
                                    <a:schemeClr val="tx1"/>
                                  </a:solidFill>
                                  <a:latin typeface="Cambria Math" panose="02040503050406030204" pitchFamily="18" charset="0"/>
                                  <a:ea typeface="Cambria Math" panose="02040503050406030204" pitchFamily="18" charset="0"/>
                                </a:rPr>
                                <m:t>𝐴</m:t>
                              </m:r>
                              <m:d>
                                <m:dPr>
                                  <m:ctrlPr>
                                    <a:rPr lang="es-MX" sz="1200" b="0" i="1" smtClean="0">
                                      <a:solidFill>
                                        <a:schemeClr val="tx1"/>
                                      </a:solidFill>
                                      <a:latin typeface="Cambria Math" panose="02040503050406030204" pitchFamily="18" charset="0"/>
                                      <a:ea typeface="Cambria Math" panose="02040503050406030204" pitchFamily="18" charset="0"/>
                                    </a:rPr>
                                  </m:ctrlPr>
                                </m:dPr>
                                <m:e>
                                  <m:r>
                                    <a:rPr lang="es-MX" sz="1200" b="0" i="1" smtClean="0">
                                      <a:solidFill>
                                        <a:schemeClr val="tx1"/>
                                      </a:solidFill>
                                      <a:latin typeface="Cambria Math" panose="02040503050406030204" pitchFamily="18" charset="0"/>
                                      <a:ea typeface="Cambria Math" panose="02040503050406030204" pitchFamily="18" charset="0"/>
                                    </a:rPr>
                                    <m:t>𝑥</m:t>
                                  </m:r>
                                </m:e>
                              </m:d>
                              <m:r>
                                <a:rPr lang="es-MX" sz="1200" b="0" i="1" smtClean="0">
                                  <a:solidFill>
                                    <a:schemeClr val="tx1"/>
                                  </a:solidFill>
                                  <a:latin typeface="Cambria Math" panose="02040503050406030204" pitchFamily="18" charset="0"/>
                                  <a:ea typeface="Cambria Math" panose="02040503050406030204" pitchFamily="18" charset="0"/>
                                </a:rPr>
                                <m:t>: </m:t>
                              </m:r>
                              <m:r>
                                <a:rPr lang="es-MX" sz="1200" b="0" i="1" smtClean="0">
                                  <a:solidFill>
                                    <a:schemeClr val="tx1"/>
                                  </a:solidFill>
                                  <a:latin typeface="Cambria Math" panose="02040503050406030204" pitchFamily="18" charset="0"/>
                                  <a:ea typeface="Cambria Math" panose="02040503050406030204" pitchFamily="18" charset="0"/>
                                </a:rPr>
                                <m:t>𝑥</m:t>
                              </m:r>
                              <m:r>
                                <a:rPr lang="es-MX" sz="1200" b="0" i="1" smtClean="0">
                                  <a:solidFill>
                                    <a:schemeClr val="tx1"/>
                                  </a:solidFill>
                                  <a:latin typeface="Cambria Math" panose="02040503050406030204" pitchFamily="18" charset="0"/>
                                  <a:ea typeface="Cambria Math" panose="02040503050406030204" pitchFamily="18" charset="0"/>
                                </a:rPr>
                                <m:t> </m:t>
                              </m:r>
                              <m:r>
                                <m:rPr>
                                  <m:sty m:val="p"/>
                                </m:rPr>
                                <a:rPr lang="es-MX" sz="1200" b="0" i="0" smtClean="0">
                                  <a:solidFill>
                                    <a:schemeClr val="tx1"/>
                                  </a:solidFill>
                                  <a:latin typeface="Cambria Math" panose="02040503050406030204" pitchFamily="18" charset="0"/>
                                  <a:ea typeface="Cambria Math" panose="02040503050406030204" pitchFamily="18" charset="0"/>
                                </a:rPr>
                                <m:t>aprobo</m:t>
                              </m:r>
                              <m:r>
                                <a:rPr lang="es-MX" sz="1200" b="0" i="0" smtClean="0">
                                  <a:solidFill>
                                    <a:schemeClr val="tx1"/>
                                  </a:solidFill>
                                  <a:latin typeface="Cambria Math" panose="02040503050406030204" pitchFamily="18" charset="0"/>
                                  <a:ea typeface="Cambria Math" panose="02040503050406030204" pitchFamily="18" charset="0"/>
                                </a:rPr>
                                <m:t> </m:t>
                              </m:r>
                              <m:r>
                                <m:rPr>
                                  <m:sty m:val="p"/>
                                </m:rPr>
                                <a:rPr lang="es-MX" sz="1200" b="0" i="0" smtClean="0">
                                  <a:solidFill>
                                    <a:schemeClr val="tx1"/>
                                  </a:solidFill>
                                  <a:latin typeface="Cambria Math" panose="02040503050406030204" pitchFamily="18" charset="0"/>
                                  <a:ea typeface="Cambria Math" panose="02040503050406030204" pitchFamily="18" charset="0"/>
                                </a:rPr>
                                <m:t>el</m:t>
                              </m:r>
                              <m:r>
                                <a:rPr lang="es-MX" sz="1200" b="0" i="0" smtClean="0">
                                  <a:solidFill>
                                    <a:schemeClr val="tx1"/>
                                  </a:solidFill>
                                  <a:latin typeface="Cambria Math" panose="02040503050406030204" pitchFamily="18" charset="0"/>
                                  <a:ea typeface="Cambria Math" panose="02040503050406030204" pitchFamily="18" charset="0"/>
                                </a:rPr>
                                <m:t> </m:t>
                              </m:r>
                              <m:r>
                                <m:rPr>
                                  <m:sty m:val="p"/>
                                </m:rPr>
                                <a:rPr lang="es-MX" sz="1200" b="0" i="0" smtClean="0">
                                  <a:solidFill>
                                    <a:schemeClr val="tx1"/>
                                  </a:solidFill>
                                  <a:latin typeface="Cambria Math" panose="02040503050406030204" pitchFamily="18" charset="0"/>
                                  <a:ea typeface="Cambria Math" panose="02040503050406030204" pitchFamily="18" charset="0"/>
                                </a:rPr>
                                <m:t>primer</m:t>
                              </m:r>
                              <m:r>
                                <a:rPr lang="es-MX" sz="1200" b="0" i="0" smtClean="0">
                                  <a:solidFill>
                                    <a:schemeClr val="tx1"/>
                                  </a:solidFill>
                                  <a:latin typeface="Cambria Math" panose="02040503050406030204" pitchFamily="18" charset="0"/>
                                  <a:ea typeface="Cambria Math" panose="02040503050406030204" pitchFamily="18" charset="0"/>
                                </a:rPr>
                                <m:t> </m:t>
                              </m:r>
                              <m:r>
                                <m:rPr>
                                  <m:sty m:val="p"/>
                                </m:rPr>
                                <a:rPr lang="es-MX" sz="1200" b="0" i="0" smtClean="0">
                                  <a:solidFill>
                                    <a:schemeClr val="tx1"/>
                                  </a:solidFill>
                                  <a:latin typeface="Cambria Math" panose="02040503050406030204" pitchFamily="18" charset="0"/>
                                  <a:ea typeface="Cambria Math" panose="02040503050406030204" pitchFamily="18" charset="0"/>
                                </a:rPr>
                                <m:t>examen</m:t>
                              </m:r>
                            </m:oMath>
                          </a14:m>
                          <a:endParaRPr lang="es-MX" sz="1200" b="0" i="1" dirty="0">
                            <a:solidFill>
                              <a:schemeClr val="tx1"/>
                            </a:solidFill>
                            <a:latin typeface="Cambria Math" panose="02040503050406030204" pitchFamily="18" charset="0"/>
                            <a:ea typeface="Cambria Math" panose="02040503050406030204" pitchFamily="18" charset="0"/>
                          </a:endParaRPr>
                        </a:p>
                      </a:txBody>
                      <a:tcPr/>
                    </a:tc>
                    <a:extLst>
                      <a:ext uri="{0D108BD9-81ED-4DB2-BD59-A6C34878D82A}">
                        <a16:rowId xmlns:a16="http://schemas.microsoft.com/office/drawing/2014/main" val="1362933263"/>
                      </a:ext>
                    </a:extLst>
                  </a:tr>
                </a:tbl>
              </a:graphicData>
            </a:graphic>
          </p:graphicFrame>
        </mc:Choice>
        <mc:Fallback xmlns="">
          <p:graphicFrame>
            <p:nvGraphicFramePr>
              <p:cNvPr id="7" name="Tabla 2">
                <a:extLst>
                  <a:ext uri="{FF2B5EF4-FFF2-40B4-BE49-F238E27FC236}">
                    <a16:creationId xmlns:a16="http://schemas.microsoft.com/office/drawing/2014/main" id="{48F87D2B-4563-4CD2-AC3D-E9D326A69BAA}"/>
                  </a:ext>
                </a:extLst>
              </p:cNvPr>
              <p:cNvGraphicFramePr>
                <a:graphicFrameLocks noGrp="1"/>
              </p:cNvGraphicFramePr>
              <p:nvPr>
                <p:extLst>
                  <p:ext uri="{D42A27DB-BD31-4B8C-83A1-F6EECF244321}">
                    <p14:modId xmlns:p14="http://schemas.microsoft.com/office/powerpoint/2010/main" val="4288814367"/>
                  </p:ext>
                </p:extLst>
              </p:nvPr>
            </p:nvGraphicFramePr>
            <p:xfrm>
              <a:off x="1013120" y="2698760"/>
              <a:ext cx="4371679" cy="1249680"/>
            </p:xfrm>
            <a:graphic>
              <a:graphicData uri="http://schemas.openxmlformats.org/drawingml/2006/table">
                <a:tbl>
                  <a:tblPr firstRow="1" bandRow="1">
                    <a:tableStyleId>{AD6A3598-7CB8-4345-8D95-17CE05F158A0}</a:tableStyleId>
                  </a:tblPr>
                  <a:tblGrid>
                    <a:gridCol w="1004366">
                      <a:extLst>
                        <a:ext uri="{9D8B030D-6E8A-4147-A177-3AD203B41FA5}">
                          <a16:colId xmlns:a16="http://schemas.microsoft.com/office/drawing/2014/main" val="55665907"/>
                        </a:ext>
                      </a:extLst>
                    </a:gridCol>
                    <a:gridCol w="3367313">
                      <a:extLst>
                        <a:ext uri="{9D8B030D-6E8A-4147-A177-3AD203B41FA5}">
                          <a16:colId xmlns:a16="http://schemas.microsoft.com/office/drawing/2014/main" val="2393994677"/>
                        </a:ext>
                      </a:extLst>
                    </a:gridCol>
                  </a:tblGrid>
                  <a:tr h="304800">
                    <a:tc>
                      <a:txBody>
                        <a:bodyPr/>
                        <a:lstStyle/>
                        <a:p>
                          <a:r>
                            <a:rPr lang="es-CO" sz="1400" b="1" dirty="0">
                              <a:latin typeface="+mn-lt"/>
                              <a:ea typeface="Roboto" panose="02000000000000000000" pitchFamily="2" charset="0"/>
                            </a:rPr>
                            <a:t>Dominio</a:t>
                          </a:r>
                        </a:p>
                      </a:txBody>
                      <a:tcPr/>
                    </a:tc>
                    <a:tc>
                      <a:txBody>
                        <a:bodyPr/>
                        <a:lstStyle/>
                        <a:p>
                          <a:endParaRPr lang="es-CO"/>
                        </a:p>
                      </a:txBody>
                      <a:tcPr>
                        <a:blipFill>
                          <a:blip r:embed="rId4"/>
                          <a:stretch>
                            <a:fillRect l="-30018" t="-2000" r="-181" b="-324000"/>
                          </a:stretch>
                        </a:blipFill>
                      </a:tcPr>
                    </a:tc>
                    <a:extLst>
                      <a:ext uri="{0D108BD9-81ED-4DB2-BD59-A6C34878D82A}">
                        <a16:rowId xmlns:a16="http://schemas.microsoft.com/office/drawing/2014/main" val="2554054099"/>
                      </a:ext>
                    </a:extLst>
                  </a:tr>
                  <a:tr h="304800">
                    <a:tc>
                      <a:txBody>
                        <a:bodyPr/>
                        <a:lstStyle/>
                        <a:p>
                          <a:r>
                            <a:rPr lang="es-CO" sz="1400" b="1" dirty="0">
                              <a:latin typeface="+mn-lt"/>
                              <a:ea typeface="Roboto" panose="02000000000000000000" pitchFamily="2" charset="0"/>
                            </a:rPr>
                            <a:t>Variables</a:t>
                          </a:r>
                        </a:p>
                      </a:txBody>
                      <a:tcPr/>
                    </a:tc>
                    <a:tc>
                      <a:txBody>
                        <a:bodyPr/>
                        <a:lstStyle/>
                        <a:p>
                          <a:endParaRPr lang="es-CO"/>
                        </a:p>
                      </a:txBody>
                      <a:tcPr>
                        <a:blipFill>
                          <a:blip r:embed="rId4"/>
                          <a:stretch>
                            <a:fillRect l="-30018" t="-102000" r="-181" b="-224000"/>
                          </a:stretch>
                        </a:blipFill>
                      </a:tcPr>
                    </a:tc>
                    <a:extLst>
                      <a:ext uri="{0D108BD9-81ED-4DB2-BD59-A6C34878D82A}">
                        <a16:rowId xmlns:a16="http://schemas.microsoft.com/office/drawing/2014/main" val="1590970474"/>
                      </a:ext>
                    </a:extLst>
                  </a:tr>
                  <a:tr h="640080">
                    <a:tc>
                      <a:txBody>
                        <a:bodyPr/>
                        <a:lstStyle/>
                        <a:p>
                          <a:r>
                            <a:rPr lang="es-CO" sz="1400" b="1" dirty="0">
                              <a:latin typeface="+mn-lt"/>
                              <a:ea typeface="Roboto" panose="02000000000000000000" pitchFamily="2" charset="0"/>
                            </a:rPr>
                            <a:t>Predicados</a:t>
                          </a:r>
                        </a:p>
                      </a:txBody>
                      <a:tcPr/>
                    </a:tc>
                    <a:tc>
                      <a:txBody>
                        <a:bodyPr/>
                        <a:lstStyle/>
                        <a:p>
                          <a:endParaRPr lang="es-CO"/>
                        </a:p>
                      </a:txBody>
                      <a:tcPr>
                        <a:blipFill>
                          <a:blip r:embed="rId4"/>
                          <a:stretch>
                            <a:fillRect l="-30018" t="-95283" r="-181" b="-5660"/>
                          </a:stretch>
                        </a:blipFill>
                      </a:tcPr>
                    </a:tc>
                    <a:extLst>
                      <a:ext uri="{0D108BD9-81ED-4DB2-BD59-A6C34878D82A}">
                        <a16:rowId xmlns:a16="http://schemas.microsoft.com/office/drawing/2014/main" val="1362933263"/>
                      </a:ext>
                    </a:extLst>
                  </a:tr>
                </a:tbl>
              </a:graphicData>
            </a:graphic>
          </p:graphicFrame>
        </mc:Fallback>
      </mc:AlternateContent>
      <p:grpSp>
        <p:nvGrpSpPr>
          <p:cNvPr id="11" name="Grupo 10">
            <a:extLst>
              <a:ext uri="{FF2B5EF4-FFF2-40B4-BE49-F238E27FC236}">
                <a16:creationId xmlns:a16="http://schemas.microsoft.com/office/drawing/2014/main" id="{F3448778-D45A-4A59-83D2-F2D1FBF2CAD1}"/>
              </a:ext>
            </a:extLst>
          </p:cNvPr>
          <p:cNvGrpSpPr/>
          <p:nvPr/>
        </p:nvGrpSpPr>
        <p:grpSpPr>
          <a:xfrm>
            <a:off x="1844564" y="1540371"/>
            <a:ext cx="2708789" cy="1030282"/>
            <a:chOff x="4134911" y="4512927"/>
            <a:chExt cx="2392093" cy="1030282"/>
          </a:xfrm>
        </p:grpSpPr>
        <mc:AlternateContent xmlns:mc="http://schemas.openxmlformats.org/markup-compatibility/2006" xmlns:a14="http://schemas.microsoft.com/office/drawing/2010/main">
          <mc:Choice Requires="a14">
            <p:sp>
              <p:nvSpPr>
                <p:cNvPr id="12" name="CuadroTexto 11">
                  <a:extLst>
                    <a:ext uri="{FF2B5EF4-FFF2-40B4-BE49-F238E27FC236}">
                      <a16:creationId xmlns:a16="http://schemas.microsoft.com/office/drawing/2014/main" id="{F91D5BB4-8EBF-40C5-9626-9D0B1F9C3BDA}"/>
                    </a:ext>
                  </a:extLst>
                </p:cNvPr>
                <p:cNvSpPr txBox="1"/>
                <p:nvPr/>
              </p:nvSpPr>
              <p:spPr>
                <a:xfrm>
                  <a:off x="4134911" y="4512927"/>
                  <a:ext cx="2392093" cy="1030282"/>
                </a:xfrm>
                <a:prstGeom prst="rect">
                  <a:avLst/>
                </a:prstGeom>
                <a:noFill/>
              </p:spPr>
              <p:txBody>
                <a:bodyPr wrap="square">
                  <a:spAutoFit/>
                </a:bodyPr>
                <a:lstStyle/>
                <a:p>
                  <a:pPr/>
                  <a14:m>
                    <m:oMathPara xmlns:m="http://schemas.openxmlformats.org/officeDocument/2006/math">
                      <m:oMathParaPr>
                        <m:jc m:val="left"/>
                      </m:oMathParaPr>
                      <m:oMath xmlns:m="http://schemas.openxmlformats.org/officeDocument/2006/math">
                        <m:r>
                          <a:rPr lang="es-MX" sz="1800" i="1" smtClean="0">
                            <a:latin typeface="Cambria Math" panose="02040503050406030204" pitchFamily="18" charset="0"/>
                            <a:ea typeface="Cambria Math" panose="02040503050406030204" pitchFamily="18" charset="0"/>
                          </a:rPr>
                          <m:t>∃</m:t>
                        </m:r>
                        <m:r>
                          <a:rPr lang="es-MX" sz="1800" i="1" smtClean="0">
                            <a:latin typeface="Cambria Math" panose="02040503050406030204" pitchFamily="18" charset="0"/>
                            <a:ea typeface="Cambria Math" panose="02040503050406030204" pitchFamily="18" charset="0"/>
                          </a:rPr>
                          <m:t>𝑥</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𝐶</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𝑥</m:t>
                                </m:r>
                              </m:e>
                            </m:d>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𝐿</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𝑥</m:t>
                                </m:r>
                              </m:e>
                            </m:d>
                          </m:e>
                        </m:d>
                        <m:r>
                          <a:rPr lang="es-MX" sz="1800" b="0" i="0" smtClean="0">
                            <a:latin typeface="Cambria Math" panose="02040503050406030204" pitchFamily="18" charset="0"/>
                            <a:ea typeface="Cambria Math" panose="02040503050406030204" pitchFamily="18" charset="0"/>
                          </a:rPr>
                          <m:t>     </m:t>
                        </m:r>
                        <m:r>
                          <a:rPr lang="es-MX" sz="1800" b="0" i="1" smtClean="0">
                            <a:latin typeface="Cambria Math" panose="02040503050406030204" pitchFamily="18" charset="0"/>
                            <a:ea typeface="Roboto" panose="02000000000000000000" pitchFamily="2" charset="0"/>
                          </a:rPr>
                          <m:t>(</m:t>
                        </m:r>
                        <m:r>
                          <a:rPr lang="es-MX" sz="1800" b="0" i="1" smtClean="0">
                            <a:latin typeface="Cambria Math" panose="02040503050406030204" pitchFamily="18" charset="0"/>
                            <a:ea typeface="Roboto" panose="02000000000000000000" pitchFamily="2" charset="0"/>
                          </a:rPr>
                          <m:t>𝑎</m:t>
                        </m:r>
                        <m:r>
                          <a:rPr lang="es-MX" sz="1800" b="0" i="1" smtClean="0">
                            <a:latin typeface="Cambria Math" panose="02040503050406030204" pitchFamily="18" charset="0"/>
                            <a:ea typeface="Roboto" panose="02000000000000000000" pitchFamily="2" charset="0"/>
                          </a:rPr>
                          <m:t>)</m:t>
                        </m:r>
                      </m:oMath>
                    </m:oMathPara>
                  </a14:m>
                  <a:endParaRPr lang="es-MX" sz="1800" b="0" i="1" dirty="0">
                    <a:latin typeface="Cambria Math" panose="02040503050406030204" pitchFamily="18" charset="0"/>
                    <a:ea typeface="Roboto" panose="02000000000000000000" pitchFamily="2" charset="0"/>
                  </a:endParaRPr>
                </a:p>
                <a:p>
                  <a:pPr/>
                  <a14:m>
                    <m:oMathPara xmlns:m="http://schemas.openxmlformats.org/officeDocument/2006/math">
                      <m:oMathParaPr>
                        <m:jc m:val="left"/>
                      </m:oMathParaPr>
                      <m:oMath xmlns:m="http://schemas.openxmlformats.org/officeDocument/2006/math">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𝑥</m:t>
                        </m:r>
                        <m:r>
                          <a:rPr lang="es-MX" sz="1800" i="1">
                            <a:latin typeface="Cambria Math" panose="02040503050406030204" pitchFamily="18" charset="0"/>
                            <a:ea typeface="Cambria Math" panose="02040503050406030204" pitchFamily="18" charset="0"/>
                          </a:rPr>
                          <m:t> </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𝐶</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𝑥</m:t>
                                </m:r>
                              </m:e>
                            </m:d>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𝐴</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𝑥</m:t>
                                </m:r>
                              </m:e>
                            </m:d>
                          </m:e>
                        </m:d>
                        <m:r>
                          <a:rPr lang="es-MX" sz="1800" b="0" i="0" smtClean="0">
                            <a:latin typeface="Cambria Math" panose="02040503050406030204" pitchFamily="18" charset="0"/>
                            <a:ea typeface="Cambria Math" panose="02040503050406030204" pitchFamily="18" charset="0"/>
                          </a:rPr>
                          <m:t>     </m:t>
                        </m:r>
                        <m:d>
                          <m:dPr>
                            <m:ctrlPr>
                              <a:rPr lang="es-MX" sz="1800" b="0" i="1" smtClean="0">
                                <a:latin typeface="Cambria Math" panose="02040503050406030204" pitchFamily="18" charset="0"/>
                                <a:ea typeface="Cambria Math" panose="02040503050406030204" pitchFamily="18" charset="0"/>
                              </a:rPr>
                            </m:ctrlPr>
                          </m:dPr>
                          <m:e>
                            <m:r>
                              <a:rPr lang="es-MX" sz="1800" b="0" i="1" smtClean="0">
                                <a:latin typeface="Cambria Math" panose="02040503050406030204" pitchFamily="18" charset="0"/>
                                <a:ea typeface="Cambria Math" panose="02040503050406030204" pitchFamily="18" charset="0"/>
                              </a:rPr>
                              <m:t>𝑏</m:t>
                            </m:r>
                          </m:e>
                        </m:d>
                      </m:oMath>
                    </m:oMathPara>
                  </a14:m>
                  <a:endParaRPr lang="es-MX" sz="1800" b="0" i="1" dirty="0">
                    <a:latin typeface="Cambria Math" panose="02040503050406030204" pitchFamily="18" charset="0"/>
                    <a:ea typeface="Roboto" panose="02000000000000000000" pitchFamily="2" charset="0"/>
                  </a:endParaRPr>
                </a:p>
                <a:p>
                  <a:pPr/>
                  <a14:m>
                    <m:oMathPara xmlns:m="http://schemas.openxmlformats.org/officeDocument/2006/math">
                      <m:oMathParaPr>
                        <m:jc m:val="left"/>
                      </m:oMathParaPr>
                      <m:oMath xmlns:m="http://schemas.openxmlformats.org/officeDocument/2006/math">
                        <m:r>
                          <a:rPr lang="es-MX" sz="1800" b="0" i="1" smtClean="0">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𝑥</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𝐴</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𝑥</m:t>
                                </m:r>
                              </m:e>
                            </m:d>
                            <m:r>
                              <a:rPr lang="es-MX" sz="1800" i="1">
                                <a:latin typeface="Cambria Math" panose="02040503050406030204" pitchFamily="18" charset="0"/>
                                <a:ea typeface="Cambria Math" panose="02040503050406030204" pitchFamily="18" charset="0"/>
                              </a:rPr>
                              <m:t>∧¬</m:t>
                            </m:r>
                            <m:r>
                              <a:rPr lang="es-MX" sz="1800" i="1">
                                <a:latin typeface="Cambria Math" panose="02040503050406030204" pitchFamily="18" charset="0"/>
                                <a:ea typeface="Cambria Math" panose="02040503050406030204" pitchFamily="18" charset="0"/>
                              </a:rPr>
                              <m:t>𝐿</m:t>
                            </m:r>
                            <m:d>
                              <m:dPr>
                                <m:ctrlPr>
                                  <a:rPr lang="es-MX" sz="1800" i="1">
                                    <a:latin typeface="Cambria Math" panose="02040503050406030204" pitchFamily="18" charset="0"/>
                                    <a:ea typeface="Cambria Math" panose="02040503050406030204" pitchFamily="18" charset="0"/>
                                  </a:rPr>
                                </m:ctrlPr>
                              </m:dPr>
                              <m:e>
                                <m:r>
                                  <a:rPr lang="es-MX" sz="1800" i="1">
                                    <a:latin typeface="Cambria Math" panose="02040503050406030204" pitchFamily="18" charset="0"/>
                                    <a:ea typeface="Cambria Math" panose="02040503050406030204" pitchFamily="18" charset="0"/>
                                  </a:rPr>
                                  <m:t>𝑥</m:t>
                                </m:r>
                              </m:e>
                            </m:d>
                          </m:e>
                        </m:d>
                      </m:oMath>
                    </m:oMathPara>
                  </a14:m>
                  <a:endParaRPr lang="es-MX" sz="1800" dirty="0">
                    <a:latin typeface="Roboto" panose="02000000000000000000" pitchFamily="2" charset="0"/>
                    <a:ea typeface="Roboto" panose="02000000000000000000" pitchFamily="2" charset="0"/>
                  </a:endParaRPr>
                </a:p>
              </p:txBody>
            </p:sp>
          </mc:Choice>
          <mc:Fallback xmlns="">
            <p:sp>
              <p:nvSpPr>
                <p:cNvPr id="12" name="CuadroTexto 11">
                  <a:extLst>
                    <a:ext uri="{FF2B5EF4-FFF2-40B4-BE49-F238E27FC236}">
                      <a16:creationId xmlns:a16="http://schemas.microsoft.com/office/drawing/2014/main" id="{F91D5BB4-8EBF-40C5-9626-9D0B1F9C3BDA}"/>
                    </a:ext>
                  </a:extLst>
                </p:cNvPr>
                <p:cNvSpPr txBox="1">
                  <a:spLocks noRot="1" noChangeAspect="1" noMove="1" noResize="1" noEditPoints="1" noAdjustHandles="1" noChangeArrowheads="1" noChangeShapeType="1" noTextEdit="1"/>
                </p:cNvSpPr>
                <p:nvPr/>
              </p:nvSpPr>
              <p:spPr>
                <a:xfrm>
                  <a:off x="4134911" y="4512927"/>
                  <a:ext cx="2392093" cy="1030282"/>
                </a:xfrm>
                <a:prstGeom prst="rect">
                  <a:avLst/>
                </a:prstGeom>
                <a:blipFill>
                  <a:blip r:embed="rId5"/>
                  <a:stretch>
                    <a:fillRect/>
                  </a:stretch>
                </a:blipFill>
              </p:spPr>
              <p:txBody>
                <a:bodyPr/>
                <a:lstStyle/>
                <a:p>
                  <a:r>
                    <a:rPr lang="es-CO">
                      <a:noFill/>
                    </a:rPr>
                    <a:t> </a:t>
                  </a:r>
                </a:p>
              </p:txBody>
            </p:sp>
          </mc:Fallback>
        </mc:AlternateContent>
        <p:cxnSp>
          <p:nvCxnSpPr>
            <p:cNvPr id="13" name="Conector recto 12">
              <a:extLst>
                <a:ext uri="{FF2B5EF4-FFF2-40B4-BE49-F238E27FC236}">
                  <a16:creationId xmlns:a16="http://schemas.microsoft.com/office/drawing/2014/main" id="{8FC17297-35A7-4004-B285-1FA8C4731820}"/>
                </a:ext>
              </a:extLst>
            </p:cNvPr>
            <p:cNvCxnSpPr>
              <a:cxnSpLocks/>
            </p:cNvCxnSpPr>
            <p:nvPr/>
          </p:nvCxnSpPr>
          <p:spPr>
            <a:xfrm>
              <a:off x="4218931" y="5165839"/>
              <a:ext cx="219296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a14="http://schemas.microsoft.com/office/drawing/2010/main">
        <mc:Choice Requires="a14">
          <p:graphicFrame>
            <p:nvGraphicFramePr>
              <p:cNvPr id="14" name="Tabla 2">
                <a:extLst>
                  <a:ext uri="{FF2B5EF4-FFF2-40B4-BE49-F238E27FC236}">
                    <a16:creationId xmlns:a16="http://schemas.microsoft.com/office/drawing/2014/main" id="{7220BB13-3652-457C-A378-3DF759F1EC07}"/>
                  </a:ext>
                </a:extLst>
              </p:cNvPr>
              <p:cNvGraphicFramePr>
                <a:graphicFrameLocks noGrp="1"/>
              </p:cNvGraphicFramePr>
              <p:nvPr>
                <p:extLst>
                  <p:ext uri="{D42A27DB-BD31-4B8C-83A1-F6EECF244321}">
                    <p14:modId xmlns:p14="http://schemas.microsoft.com/office/powerpoint/2010/main" val="2769316484"/>
                  </p:ext>
                </p:extLst>
              </p:nvPr>
            </p:nvGraphicFramePr>
            <p:xfrm>
              <a:off x="5854701" y="1668508"/>
              <a:ext cx="5991942" cy="3733800"/>
            </p:xfrm>
            <a:graphic>
              <a:graphicData uri="http://schemas.openxmlformats.org/drawingml/2006/table">
                <a:tbl>
                  <a:tblPr firstRow="1" bandRow="1">
                    <a:tableStyleId>{AD6A3598-7CB8-4345-8D95-17CE05F158A0}</a:tableStyleId>
                  </a:tblPr>
                  <a:tblGrid>
                    <a:gridCol w="371928">
                      <a:extLst>
                        <a:ext uri="{9D8B030D-6E8A-4147-A177-3AD203B41FA5}">
                          <a16:colId xmlns:a16="http://schemas.microsoft.com/office/drawing/2014/main" val="1610952478"/>
                        </a:ext>
                      </a:extLst>
                    </a:gridCol>
                    <a:gridCol w="134543">
                      <a:extLst>
                        <a:ext uri="{9D8B030D-6E8A-4147-A177-3AD203B41FA5}">
                          <a16:colId xmlns:a16="http://schemas.microsoft.com/office/drawing/2014/main" val="1919891108"/>
                        </a:ext>
                      </a:extLst>
                    </a:gridCol>
                    <a:gridCol w="2185929">
                      <a:extLst>
                        <a:ext uri="{9D8B030D-6E8A-4147-A177-3AD203B41FA5}">
                          <a16:colId xmlns:a16="http://schemas.microsoft.com/office/drawing/2014/main" val="2942974496"/>
                        </a:ext>
                      </a:extLst>
                    </a:gridCol>
                    <a:gridCol w="3299542">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Afirmación</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gridSpan="2">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𝟏</m:t>
                                </m:r>
                              </m:oMath>
                            </m:oMathPara>
                          </a14:m>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Cambria Math" panose="02040503050406030204" pitchFamily="18" charset="0"/>
                                  </a:rPr>
                                  <m:t>∃</m:t>
                                </m:r>
                                <m:r>
                                  <a:rPr lang="es-MX" sz="1600" i="1" smtClean="0">
                                    <a:latin typeface="Cambria Math" panose="02040503050406030204" pitchFamily="18" charset="0"/>
                                    <a:ea typeface="Cambria Math" panose="02040503050406030204" pitchFamily="18" charset="0"/>
                                  </a:rPr>
                                  <m:t>𝑥</m:t>
                                </m:r>
                                <m:d>
                                  <m:dPr>
                                    <m:ctrlPr>
                                      <a:rPr lang="es-MX" sz="1600" i="1">
                                        <a:latin typeface="Cambria Math" panose="02040503050406030204" pitchFamily="18" charset="0"/>
                                        <a:ea typeface="Cambria Math" panose="02040503050406030204" pitchFamily="18" charset="0"/>
                                      </a:rPr>
                                    </m:ctrlPr>
                                  </m:dPr>
                                  <m:e>
                                    <m:r>
                                      <a:rPr lang="es-MX" sz="1600" i="1">
                                        <a:latin typeface="Cambria Math" panose="02040503050406030204" pitchFamily="18" charset="0"/>
                                        <a:ea typeface="Cambria Math" panose="02040503050406030204" pitchFamily="18" charset="0"/>
                                      </a:rPr>
                                      <m:t>𝐶</m:t>
                                    </m:r>
                                    <m:d>
                                      <m:dPr>
                                        <m:ctrlPr>
                                          <a:rPr lang="es-MX" sz="1600" i="1">
                                            <a:latin typeface="Cambria Math" panose="02040503050406030204" pitchFamily="18" charset="0"/>
                                            <a:ea typeface="Cambria Math" panose="02040503050406030204" pitchFamily="18" charset="0"/>
                                          </a:rPr>
                                        </m:ctrlPr>
                                      </m:dPr>
                                      <m:e>
                                        <m:r>
                                          <a:rPr lang="es-MX" sz="1600" i="1">
                                            <a:latin typeface="Cambria Math" panose="02040503050406030204" pitchFamily="18" charset="0"/>
                                            <a:ea typeface="Cambria Math" panose="02040503050406030204" pitchFamily="18" charset="0"/>
                                          </a:rPr>
                                          <m:t>𝑥</m:t>
                                        </m:r>
                                      </m:e>
                                    </m:d>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𝐿</m:t>
                                    </m:r>
                                    <m:d>
                                      <m:dPr>
                                        <m:ctrlPr>
                                          <a:rPr lang="es-MX" sz="1600" i="1">
                                            <a:latin typeface="Cambria Math" panose="02040503050406030204" pitchFamily="18" charset="0"/>
                                            <a:ea typeface="Cambria Math" panose="02040503050406030204" pitchFamily="18" charset="0"/>
                                          </a:rPr>
                                        </m:ctrlPr>
                                      </m:dPr>
                                      <m:e>
                                        <m:r>
                                          <a:rPr lang="es-MX" sz="1600" i="1">
                                            <a:latin typeface="Cambria Math" panose="02040503050406030204" pitchFamily="18" charset="0"/>
                                            <a:ea typeface="Cambria Math" panose="02040503050406030204" pitchFamily="18" charset="0"/>
                                          </a:rPr>
                                          <m:t>𝑥</m:t>
                                        </m:r>
                                      </m:e>
                                    </m:d>
                                  </m:e>
                                </m:d>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Premisa </a:t>
                          </a:r>
                          <a:r>
                            <a:rPr lang="es-CO" sz="1800" b="1" dirty="0">
                              <a:latin typeface="+mn-lt"/>
                              <a:ea typeface="Roboto" panose="02000000000000000000" pitchFamily="2" charset="0"/>
                            </a:rPr>
                            <a:t>a</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gridSpan="2">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𝟐</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Cambria Math" panose="02040503050406030204" pitchFamily="18" charset="0"/>
                                  </a:rPr>
                                  <m:t>𝐶</m:t>
                                </m:r>
                                <m:d>
                                  <m:dPr>
                                    <m:ctrlPr>
                                      <a:rPr lang="es-MX" sz="1600" i="1">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𝑎</m:t>
                                    </m:r>
                                  </m:e>
                                </m:d>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𝐿</m:t>
                                </m:r>
                                <m:d>
                                  <m:dPr>
                                    <m:ctrlPr>
                                      <a:rPr lang="es-MX" sz="1600" i="1">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𝑎</m:t>
                                    </m:r>
                                  </m:e>
                                </m:d>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Instanciación existencial en </a:t>
                          </a:r>
                          <a:r>
                            <a:rPr lang="es-CO" sz="1800" b="1" dirty="0">
                              <a:latin typeface="+mn-lt"/>
                              <a:ea typeface="Roboto" panose="02000000000000000000" pitchFamily="2" charset="0"/>
                            </a:rPr>
                            <a:t>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gridSpan="2">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𝟑</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Cambria Math" panose="02040503050406030204" pitchFamily="18" charset="0"/>
                                  </a:rPr>
                                  <m:t>𝐶</m:t>
                                </m:r>
                                <m:d>
                                  <m:dPr>
                                    <m:ctrlPr>
                                      <a:rPr lang="es-MX" sz="1600" i="1">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𝑎</m:t>
                                    </m:r>
                                  </m:e>
                                </m:d>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b="0" dirty="0">
                              <a:latin typeface="+mn-lt"/>
                              <a:ea typeface="Roboto" panose="02000000000000000000" pitchFamily="2" charset="0"/>
                            </a:rPr>
                            <a:t>Simplificación en </a:t>
                          </a:r>
                          <a:r>
                            <a:rPr lang="es-CO" sz="1800" b="1" dirty="0">
                              <a:latin typeface="+mn-lt"/>
                              <a:ea typeface="Roboto" panose="02000000000000000000" pitchFamily="2" charset="0"/>
                            </a:rPr>
                            <a:t>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5827864"/>
                      </a:ext>
                    </a:extLst>
                  </a:tr>
                  <a:tr h="370840">
                    <a:tc gridSpan="2">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𝟒</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Cambria Math" panose="02040503050406030204" pitchFamily="18" charset="0"/>
                                  </a:rPr>
                                  <m:t>∀</m:t>
                                </m:r>
                                <m:r>
                                  <a:rPr lang="es-MX" sz="1600" i="1" smtClean="0">
                                    <a:latin typeface="Cambria Math" panose="02040503050406030204" pitchFamily="18" charset="0"/>
                                    <a:ea typeface="Cambria Math" panose="02040503050406030204" pitchFamily="18" charset="0"/>
                                  </a:rPr>
                                  <m:t>𝑥</m:t>
                                </m:r>
                                <m:r>
                                  <a:rPr lang="es-MX" sz="1600" i="1" smtClean="0">
                                    <a:latin typeface="Cambria Math" panose="02040503050406030204" pitchFamily="18" charset="0"/>
                                    <a:ea typeface="Cambria Math" panose="02040503050406030204" pitchFamily="18" charset="0"/>
                                  </a:rPr>
                                  <m:t> </m:t>
                                </m:r>
                                <m:d>
                                  <m:dPr>
                                    <m:ctrlPr>
                                      <a:rPr lang="es-MX" sz="1600" i="1">
                                        <a:latin typeface="Cambria Math" panose="02040503050406030204" pitchFamily="18" charset="0"/>
                                        <a:ea typeface="Cambria Math" panose="02040503050406030204" pitchFamily="18" charset="0"/>
                                      </a:rPr>
                                    </m:ctrlPr>
                                  </m:dPr>
                                  <m:e>
                                    <m:r>
                                      <a:rPr lang="es-MX" sz="1600" i="1">
                                        <a:latin typeface="Cambria Math" panose="02040503050406030204" pitchFamily="18" charset="0"/>
                                        <a:ea typeface="Cambria Math" panose="02040503050406030204" pitchFamily="18" charset="0"/>
                                      </a:rPr>
                                      <m:t>𝐶</m:t>
                                    </m:r>
                                    <m:d>
                                      <m:dPr>
                                        <m:ctrlPr>
                                          <a:rPr lang="es-MX" sz="1600" i="1">
                                            <a:latin typeface="Cambria Math" panose="02040503050406030204" pitchFamily="18" charset="0"/>
                                            <a:ea typeface="Cambria Math" panose="02040503050406030204" pitchFamily="18" charset="0"/>
                                          </a:rPr>
                                        </m:ctrlPr>
                                      </m:dPr>
                                      <m:e>
                                        <m:r>
                                          <a:rPr lang="es-MX" sz="1600" i="1">
                                            <a:latin typeface="Cambria Math" panose="02040503050406030204" pitchFamily="18" charset="0"/>
                                            <a:ea typeface="Cambria Math" panose="02040503050406030204" pitchFamily="18" charset="0"/>
                                          </a:rPr>
                                          <m:t>𝑥</m:t>
                                        </m:r>
                                      </m:e>
                                    </m:d>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𝐴</m:t>
                                    </m:r>
                                    <m:d>
                                      <m:dPr>
                                        <m:ctrlPr>
                                          <a:rPr lang="es-MX" sz="1600" i="1">
                                            <a:latin typeface="Cambria Math" panose="02040503050406030204" pitchFamily="18" charset="0"/>
                                            <a:ea typeface="Cambria Math" panose="02040503050406030204" pitchFamily="18" charset="0"/>
                                          </a:rPr>
                                        </m:ctrlPr>
                                      </m:dPr>
                                      <m:e>
                                        <m:r>
                                          <a:rPr lang="es-MX" sz="1600" i="1">
                                            <a:latin typeface="Cambria Math" panose="02040503050406030204" pitchFamily="18" charset="0"/>
                                            <a:ea typeface="Cambria Math" panose="02040503050406030204" pitchFamily="18" charset="0"/>
                                          </a:rPr>
                                          <m:t>𝑥</m:t>
                                        </m:r>
                                      </m:e>
                                    </m:d>
                                  </m:e>
                                </m:d>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Premisa </a:t>
                          </a:r>
                          <a:r>
                            <a:rPr lang="es-CO" sz="1800" b="1" dirty="0">
                              <a:latin typeface="+mn-lt"/>
                              <a:ea typeface="Roboto" panose="02000000000000000000" pitchFamily="2" charset="0"/>
                            </a:rPr>
                            <a:t>b</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gridSpan="2">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𝟓</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Cambria Math" panose="02040503050406030204" pitchFamily="18" charset="0"/>
                                  </a:rPr>
                                  <m:t>𝐶</m:t>
                                </m:r>
                                <m:d>
                                  <m:dPr>
                                    <m:ctrlPr>
                                      <a:rPr lang="es-MX" sz="1600" i="1">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𝑎</m:t>
                                    </m:r>
                                  </m:e>
                                </m:d>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𝐴</m:t>
                                </m:r>
                                <m:d>
                                  <m:dPr>
                                    <m:ctrlPr>
                                      <a:rPr lang="es-MX" sz="1600" i="1">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𝑎</m:t>
                                    </m:r>
                                  </m:e>
                                </m:d>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dirty="0">
                              <a:latin typeface="+mn-lt"/>
                              <a:ea typeface="Roboto" panose="02000000000000000000" pitchFamily="2" charset="0"/>
                            </a:rPr>
                            <a:t>Instanciación universal en </a:t>
                          </a:r>
                          <a:r>
                            <a:rPr lang="es-CO" sz="1800" b="1" dirty="0">
                              <a:latin typeface="+mn-lt"/>
                              <a:ea typeface="Roboto" panose="02000000000000000000" pitchFamily="2" charset="0"/>
                            </a:rPr>
                            <a:t>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𝟔</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Cambria Math" panose="02040503050406030204" pitchFamily="18" charset="0"/>
                                  </a:rPr>
                                  <m:t>𝐴</m:t>
                                </m:r>
                                <m:d>
                                  <m:dPr>
                                    <m:ctrlPr>
                                      <a:rPr lang="es-MX" sz="1600" i="1">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𝑎</m:t>
                                    </m:r>
                                  </m:e>
                                </m:d>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b="0" dirty="0">
                              <a:latin typeface="+mn-lt"/>
                              <a:ea typeface="Roboto" panose="02000000000000000000" pitchFamily="2" charset="0"/>
                            </a:rPr>
                            <a:t>Modus Ponens </a:t>
                          </a:r>
                          <a:r>
                            <a:rPr lang="es-CO" sz="1800" b="1" dirty="0">
                              <a:latin typeface="+mn-lt"/>
                              <a:ea typeface="Roboto" panose="02000000000000000000" pitchFamily="2" charset="0"/>
                            </a:rPr>
                            <a:t>3</a:t>
                          </a:r>
                          <a:r>
                            <a:rPr lang="es-CO" sz="1800" b="0" dirty="0">
                              <a:latin typeface="+mn-lt"/>
                              <a:ea typeface="Roboto" panose="02000000000000000000" pitchFamily="2" charset="0"/>
                            </a:rPr>
                            <a:t> y </a:t>
                          </a:r>
                          <a:r>
                            <a:rPr lang="es-CO" sz="1800" b="1" dirty="0">
                              <a:latin typeface="+mn-lt"/>
                              <a:ea typeface="Roboto" panose="02000000000000000000" pitchFamily="2" charset="0"/>
                            </a:rPr>
                            <a:t>5</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44816522"/>
                      </a:ext>
                    </a:extLst>
                  </a:tr>
                  <a:tr h="370840">
                    <a:tc gridSpan="2">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𝟕</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𝐿</m:t>
                                </m:r>
                                <m:d>
                                  <m:dPr>
                                    <m:ctrlPr>
                                      <a:rPr lang="es-MX" sz="1600" i="1">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𝑎</m:t>
                                    </m:r>
                                  </m:e>
                                </m:d>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b="0" dirty="0">
                              <a:latin typeface="+mn-lt"/>
                              <a:ea typeface="Roboto" panose="02000000000000000000" pitchFamily="2" charset="0"/>
                            </a:rPr>
                            <a:t>Simplificación en </a:t>
                          </a:r>
                          <a:r>
                            <a:rPr lang="es-CO" sz="1800" b="1" dirty="0">
                              <a:latin typeface="+mn-lt"/>
                              <a:ea typeface="Roboto" panose="02000000000000000000" pitchFamily="2" charset="0"/>
                            </a:rPr>
                            <a:t>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8459320"/>
                      </a:ext>
                    </a:extLst>
                  </a:tr>
                  <a:tr h="370840">
                    <a:tc gridSpan="2">
                      <a:txBody>
                        <a:bodyPr/>
                        <a:lstStyle/>
                        <a:p>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𝟖</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Cambria Math" panose="02040503050406030204" pitchFamily="18" charset="0"/>
                                  </a:rPr>
                                  <m:t>𝐴</m:t>
                                </m:r>
                                <m:d>
                                  <m:dPr>
                                    <m:ctrlPr>
                                      <a:rPr lang="es-MX" sz="1600" i="1">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𝑎</m:t>
                                    </m:r>
                                  </m:e>
                                </m:d>
                                <m:r>
                                  <a:rPr lang="es-MX" sz="1600" b="0" i="1" smtClean="0">
                                    <a:latin typeface="Cambria Math" panose="02040503050406030204" pitchFamily="18" charset="0"/>
                                    <a:ea typeface="Cambria Math" panose="02040503050406030204" pitchFamily="18" charset="0"/>
                                  </a:rPr>
                                  <m:t>∧¬</m:t>
                                </m:r>
                                <m:r>
                                  <a:rPr lang="es-MX" sz="1600" b="0" i="1" smtClean="0">
                                    <a:latin typeface="Cambria Math" panose="02040503050406030204" pitchFamily="18" charset="0"/>
                                    <a:ea typeface="Cambria Math" panose="02040503050406030204" pitchFamily="18" charset="0"/>
                                  </a:rPr>
                                  <m:t>𝐿</m:t>
                                </m:r>
                                <m:d>
                                  <m:dPr>
                                    <m:ctrlPr>
                                      <a:rPr lang="es-MX" sz="1600" i="1">
                                        <a:latin typeface="Cambria Math" panose="02040503050406030204" pitchFamily="18" charset="0"/>
                                        <a:ea typeface="Cambria Math" panose="02040503050406030204" pitchFamily="18" charset="0"/>
                                      </a:rPr>
                                    </m:ctrlPr>
                                  </m:dPr>
                                  <m:e>
                                    <m:r>
                                      <a:rPr lang="es-MX" sz="1600" b="0" i="1" smtClean="0">
                                        <a:latin typeface="Cambria Math" panose="02040503050406030204" pitchFamily="18" charset="0"/>
                                        <a:ea typeface="Cambria Math" panose="02040503050406030204" pitchFamily="18" charset="0"/>
                                      </a:rPr>
                                      <m:t>𝑎</m:t>
                                    </m:r>
                                  </m:e>
                                </m:d>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b="0" dirty="0">
                              <a:latin typeface="+mn-lt"/>
                              <a:ea typeface="Roboto" panose="02000000000000000000" pitchFamily="2" charset="0"/>
                            </a:rPr>
                            <a:t>Conjunción en </a:t>
                          </a:r>
                          <a:r>
                            <a:rPr lang="es-CO" sz="1800" b="1" dirty="0">
                              <a:latin typeface="+mn-lt"/>
                              <a:ea typeface="Roboto" panose="02000000000000000000" pitchFamily="2" charset="0"/>
                            </a:rPr>
                            <a:t>6 </a:t>
                          </a:r>
                          <a:r>
                            <a:rPr lang="es-CO" sz="1800" b="0" dirty="0">
                              <a:latin typeface="+mn-lt"/>
                              <a:ea typeface="Roboto" panose="02000000000000000000" pitchFamily="2" charset="0"/>
                            </a:rPr>
                            <a:t>y</a:t>
                          </a:r>
                          <a:r>
                            <a:rPr lang="es-CO" sz="1800" b="1" dirty="0">
                              <a:latin typeface="+mn-lt"/>
                              <a:ea typeface="Roboto" panose="02000000000000000000" pitchFamily="2" charset="0"/>
                            </a:rPr>
                            <a:t> 7</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0592092"/>
                      </a:ext>
                    </a:extLst>
                  </a:tr>
                  <a:tr h="370840">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lang="es-MX" sz="1600" b="1" i="1" smtClean="0">
                                    <a:latin typeface="Cambria Math" panose="02040503050406030204" pitchFamily="18" charset="0"/>
                                    <a:ea typeface="Cambria Math" panose="02040503050406030204" pitchFamily="18" charset="0"/>
                                  </a:rPr>
                                  <m:t>𝟗</m:t>
                                </m:r>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left"/>
                              </m:oMathParaPr>
                              <m:oMath xmlns:m="http://schemas.openxmlformats.org/officeDocument/2006/math">
                                <m:r>
                                  <a:rPr lang="es-MX" sz="1600" i="1" smtClean="0">
                                    <a:latin typeface="Cambria Math" panose="02040503050406030204" pitchFamily="18" charset="0"/>
                                    <a:ea typeface="Cambria Math" panose="02040503050406030204" pitchFamily="18" charset="0"/>
                                  </a:rPr>
                                  <m:t>∃</m:t>
                                </m:r>
                                <m:r>
                                  <a:rPr lang="es-MX" sz="1600" i="1" smtClean="0">
                                    <a:latin typeface="Cambria Math" panose="02040503050406030204" pitchFamily="18" charset="0"/>
                                    <a:ea typeface="Cambria Math" panose="02040503050406030204" pitchFamily="18" charset="0"/>
                                  </a:rPr>
                                  <m:t>𝑥</m:t>
                                </m:r>
                                <m:d>
                                  <m:dPr>
                                    <m:ctrlPr>
                                      <a:rPr lang="es-MX" sz="1600" i="1">
                                        <a:latin typeface="Cambria Math" panose="02040503050406030204" pitchFamily="18" charset="0"/>
                                        <a:ea typeface="Cambria Math" panose="02040503050406030204" pitchFamily="18" charset="0"/>
                                      </a:rPr>
                                    </m:ctrlPr>
                                  </m:dPr>
                                  <m:e>
                                    <m:r>
                                      <a:rPr lang="es-MX" sz="1600" i="1">
                                        <a:latin typeface="Cambria Math" panose="02040503050406030204" pitchFamily="18" charset="0"/>
                                        <a:ea typeface="Cambria Math" panose="02040503050406030204" pitchFamily="18" charset="0"/>
                                      </a:rPr>
                                      <m:t>𝐶</m:t>
                                    </m:r>
                                    <m:d>
                                      <m:dPr>
                                        <m:ctrlPr>
                                          <a:rPr lang="es-MX" sz="1600" i="1">
                                            <a:latin typeface="Cambria Math" panose="02040503050406030204" pitchFamily="18" charset="0"/>
                                            <a:ea typeface="Cambria Math" panose="02040503050406030204" pitchFamily="18" charset="0"/>
                                          </a:rPr>
                                        </m:ctrlPr>
                                      </m:dPr>
                                      <m:e>
                                        <m:r>
                                          <a:rPr lang="es-MX" sz="1600" i="1">
                                            <a:latin typeface="Cambria Math" panose="02040503050406030204" pitchFamily="18" charset="0"/>
                                            <a:ea typeface="Cambria Math" panose="02040503050406030204" pitchFamily="18" charset="0"/>
                                          </a:rPr>
                                          <m:t>𝑥</m:t>
                                        </m:r>
                                      </m:e>
                                    </m:d>
                                    <m:r>
                                      <a:rPr lang="es-MX" sz="1600" i="1">
                                        <a:latin typeface="Cambria Math" panose="02040503050406030204" pitchFamily="18" charset="0"/>
                                        <a:ea typeface="Cambria Math" panose="02040503050406030204" pitchFamily="18" charset="0"/>
                                      </a:rPr>
                                      <m:t>∧¬</m:t>
                                    </m:r>
                                    <m:r>
                                      <a:rPr lang="es-MX" sz="1600" i="1">
                                        <a:latin typeface="Cambria Math" panose="02040503050406030204" pitchFamily="18" charset="0"/>
                                        <a:ea typeface="Cambria Math" panose="02040503050406030204" pitchFamily="18" charset="0"/>
                                      </a:rPr>
                                      <m:t>𝐿</m:t>
                                    </m:r>
                                    <m:d>
                                      <m:dPr>
                                        <m:ctrlPr>
                                          <a:rPr lang="es-MX" sz="1600" i="1">
                                            <a:latin typeface="Cambria Math" panose="02040503050406030204" pitchFamily="18" charset="0"/>
                                            <a:ea typeface="Cambria Math" panose="02040503050406030204" pitchFamily="18" charset="0"/>
                                          </a:rPr>
                                        </m:ctrlPr>
                                      </m:dPr>
                                      <m:e>
                                        <m:r>
                                          <a:rPr lang="es-MX" sz="1600" i="1">
                                            <a:latin typeface="Cambria Math" panose="02040503050406030204" pitchFamily="18" charset="0"/>
                                            <a:ea typeface="Cambria Math" panose="02040503050406030204" pitchFamily="18" charset="0"/>
                                          </a:rPr>
                                          <m:t>𝑥</m:t>
                                        </m:r>
                                      </m:e>
                                    </m:d>
                                  </m:e>
                                </m:d>
                              </m:oMath>
                            </m:oMathPara>
                          </a14:m>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r>
                            <a:rPr lang="es-CO" sz="1800" b="0" dirty="0">
                              <a:latin typeface="+mn-lt"/>
                              <a:ea typeface="Roboto" panose="02000000000000000000" pitchFamily="2" charset="0"/>
                            </a:rPr>
                            <a:t>Generalización existencial en </a:t>
                          </a:r>
                          <a:r>
                            <a:rPr lang="es-CO" sz="1800" b="1" dirty="0">
                              <a:latin typeface="+mn-lt"/>
                              <a:ea typeface="Roboto" panose="02000000000000000000" pitchFamily="2" charset="0"/>
                            </a:rPr>
                            <a:t>8</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6840162"/>
                      </a:ext>
                    </a:extLst>
                  </a:tr>
                </a:tbl>
              </a:graphicData>
            </a:graphic>
          </p:graphicFrame>
        </mc:Choice>
        <mc:Fallback xmlns="">
          <p:graphicFrame>
            <p:nvGraphicFramePr>
              <p:cNvPr id="14" name="Tabla 2">
                <a:extLst>
                  <a:ext uri="{FF2B5EF4-FFF2-40B4-BE49-F238E27FC236}">
                    <a16:creationId xmlns:a16="http://schemas.microsoft.com/office/drawing/2014/main" id="{7220BB13-3652-457C-A378-3DF759F1EC07}"/>
                  </a:ext>
                </a:extLst>
              </p:cNvPr>
              <p:cNvGraphicFramePr>
                <a:graphicFrameLocks noGrp="1"/>
              </p:cNvGraphicFramePr>
              <p:nvPr>
                <p:extLst>
                  <p:ext uri="{D42A27DB-BD31-4B8C-83A1-F6EECF244321}">
                    <p14:modId xmlns:p14="http://schemas.microsoft.com/office/powerpoint/2010/main" val="2769316484"/>
                  </p:ext>
                </p:extLst>
              </p:nvPr>
            </p:nvGraphicFramePr>
            <p:xfrm>
              <a:off x="5854701" y="1668508"/>
              <a:ext cx="5991942" cy="3733800"/>
            </p:xfrm>
            <a:graphic>
              <a:graphicData uri="http://schemas.openxmlformats.org/drawingml/2006/table">
                <a:tbl>
                  <a:tblPr firstRow="1" bandRow="1">
                    <a:tableStyleId>{AD6A3598-7CB8-4345-8D95-17CE05F158A0}</a:tableStyleId>
                  </a:tblPr>
                  <a:tblGrid>
                    <a:gridCol w="371928">
                      <a:extLst>
                        <a:ext uri="{9D8B030D-6E8A-4147-A177-3AD203B41FA5}">
                          <a16:colId xmlns:a16="http://schemas.microsoft.com/office/drawing/2014/main" val="1610952478"/>
                        </a:ext>
                      </a:extLst>
                    </a:gridCol>
                    <a:gridCol w="134543">
                      <a:extLst>
                        <a:ext uri="{9D8B030D-6E8A-4147-A177-3AD203B41FA5}">
                          <a16:colId xmlns:a16="http://schemas.microsoft.com/office/drawing/2014/main" val="1919891108"/>
                        </a:ext>
                      </a:extLst>
                    </a:gridCol>
                    <a:gridCol w="2185929">
                      <a:extLst>
                        <a:ext uri="{9D8B030D-6E8A-4147-A177-3AD203B41FA5}">
                          <a16:colId xmlns:a16="http://schemas.microsoft.com/office/drawing/2014/main" val="2942974496"/>
                        </a:ext>
                      </a:extLst>
                    </a:gridCol>
                    <a:gridCol w="3299542">
                      <a:extLst>
                        <a:ext uri="{9D8B030D-6E8A-4147-A177-3AD203B41FA5}">
                          <a16:colId xmlns:a16="http://schemas.microsoft.com/office/drawing/2014/main" val="4281859008"/>
                        </a:ext>
                      </a:extLst>
                    </a:gridCol>
                  </a:tblGrid>
                  <a:tr h="3962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Afirmación</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114754" r="-1086747" b="-824590"/>
                          </a:stretch>
                        </a:blipFill>
                      </a:tcPr>
                    </a:tc>
                    <a:tc hMerge="1">
                      <a:txBody>
                        <a:bodyPr/>
                        <a:lstStyle/>
                        <a:p>
                          <a:pPr/>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3120" t="-114754" r="-151253" b="-824590"/>
                          </a:stretch>
                        </a:blipFill>
                      </a:tcPr>
                    </a:tc>
                    <a:tc>
                      <a:txBody>
                        <a:bodyPr/>
                        <a:lstStyle/>
                        <a:p>
                          <a:r>
                            <a:rPr lang="es-CO" sz="1800" dirty="0">
                              <a:latin typeface="+mn-lt"/>
                              <a:ea typeface="Roboto" panose="02000000000000000000" pitchFamily="2" charset="0"/>
                            </a:rPr>
                            <a:t>Premisa </a:t>
                          </a:r>
                          <a:r>
                            <a:rPr lang="es-CO" sz="1800" b="1" dirty="0">
                              <a:latin typeface="+mn-lt"/>
                              <a:ea typeface="Roboto" panose="02000000000000000000" pitchFamily="2" charset="0"/>
                            </a:rPr>
                            <a:t>a</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214754" r="-1086747" b="-724590"/>
                          </a:stretch>
                        </a:blipFill>
                      </a:tcPr>
                    </a:tc>
                    <a:tc hMerge="1">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3120" t="-214754" r="-151253" b="-724590"/>
                          </a:stretch>
                        </a:blipFill>
                      </a:tcPr>
                    </a:tc>
                    <a:tc>
                      <a:txBody>
                        <a:bodyPr/>
                        <a:lstStyle/>
                        <a:p>
                          <a:r>
                            <a:rPr lang="es-CO" sz="1800" dirty="0">
                              <a:latin typeface="+mn-lt"/>
                              <a:ea typeface="Roboto" panose="02000000000000000000" pitchFamily="2" charset="0"/>
                            </a:rPr>
                            <a:t>Instanciación existencial en </a:t>
                          </a:r>
                          <a:r>
                            <a:rPr lang="es-CO" sz="1800" b="1" dirty="0">
                              <a:latin typeface="+mn-lt"/>
                              <a:ea typeface="Roboto" panose="02000000000000000000" pitchFamily="2" charset="0"/>
                            </a:rPr>
                            <a:t>1</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314754" r="-1086747" b="-624590"/>
                          </a:stretch>
                        </a:blipFill>
                      </a:tcPr>
                    </a:tc>
                    <a:tc hMerge="1">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3120" t="-314754" r="-151253" b="-624590"/>
                          </a:stretch>
                        </a:blipFill>
                      </a:tcPr>
                    </a:tc>
                    <a:tc>
                      <a:txBody>
                        <a:bodyPr/>
                        <a:lstStyle/>
                        <a:p>
                          <a:r>
                            <a:rPr lang="es-CO" sz="1800" b="0" dirty="0">
                              <a:latin typeface="+mn-lt"/>
                              <a:ea typeface="Roboto" panose="02000000000000000000" pitchFamily="2" charset="0"/>
                            </a:rPr>
                            <a:t>Simplificación en </a:t>
                          </a:r>
                          <a:r>
                            <a:rPr lang="es-CO" sz="1800" b="1" dirty="0">
                              <a:latin typeface="+mn-lt"/>
                              <a:ea typeface="Roboto" panose="02000000000000000000" pitchFamily="2" charset="0"/>
                            </a:rPr>
                            <a:t>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5827864"/>
                      </a:ext>
                    </a:extLst>
                  </a:tr>
                  <a:tr h="370840">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414754" r="-1086747" b="-524590"/>
                          </a:stretch>
                        </a:blipFill>
                      </a:tcPr>
                    </a:tc>
                    <a:tc hMerge="1">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3120" t="-414754" r="-151253" b="-524590"/>
                          </a:stretch>
                        </a:blipFill>
                      </a:tcPr>
                    </a:tc>
                    <a:tc>
                      <a:txBody>
                        <a:bodyPr/>
                        <a:lstStyle/>
                        <a:p>
                          <a:r>
                            <a:rPr lang="es-CO" sz="1800" dirty="0">
                              <a:latin typeface="+mn-lt"/>
                              <a:ea typeface="Roboto" panose="02000000000000000000" pitchFamily="2" charset="0"/>
                            </a:rPr>
                            <a:t>Premisa </a:t>
                          </a:r>
                          <a:r>
                            <a:rPr lang="es-CO" sz="1800" b="1" dirty="0">
                              <a:latin typeface="+mn-lt"/>
                              <a:ea typeface="Roboto" panose="02000000000000000000" pitchFamily="2" charset="0"/>
                            </a:rPr>
                            <a:t>b</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514754" r="-1086747" b="-424590"/>
                          </a:stretch>
                        </a:blipFill>
                      </a:tcPr>
                    </a:tc>
                    <a:tc hMerge="1">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3120" t="-514754" r="-151253" b="-424590"/>
                          </a:stretch>
                        </a:blipFill>
                      </a:tcPr>
                    </a:tc>
                    <a:tc>
                      <a:txBody>
                        <a:bodyPr/>
                        <a:lstStyle/>
                        <a:p>
                          <a:r>
                            <a:rPr lang="es-CO" sz="1800" dirty="0">
                              <a:latin typeface="+mn-lt"/>
                              <a:ea typeface="Roboto" panose="02000000000000000000" pitchFamily="2" charset="0"/>
                            </a:rPr>
                            <a:t>Instanciación universal en </a:t>
                          </a:r>
                          <a:r>
                            <a:rPr lang="es-CO" sz="1800" b="1" dirty="0">
                              <a:latin typeface="+mn-lt"/>
                              <a:ea typeface="Roboto" panose="02000000000000000000" pitchFamily="2" charset="0"/>
                            </a:rPr>
                            <a:t>4</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614754" r="-1086747" b="-324590"/>
                          </a:stretch>
                        </a:blip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3120" t="-614754" r="-151253" b="-324590"/>
                          </a:stretch>
                        </a:blipFill>
                      </a:tcPr>
                    </a:tc>
                    <a:tc>
                      <a:txBody>
                        <a:bodyPr/>
                        <a:lstStyle/>
                        <a:p>
                          <a:r>
                            <a:rPr lang="es-CO" sz="1800" b="0" dirty="0">
                              <a:latin typeface="+mn-lt"/>
                              <a:ea typeface="Roboto" panose="02000000000000000000" pitchFamily="2" charset="0"/>
                            </a:rPr>
                            <a:t>Modus Ponens </a:t>
                          </a:r>
                          <a:r>
                            <a:rPr lang="es-CO" sz="1800" b="1" dirty="0">
                              <a:latin typeface="+mn-lt"/>
                              <a:ea typeface="Roboto" panose="02000000000000000000" pitchFamily="2" charset="0"/>
                            </a:rPr>
                            <a:t>3</a:t>
                          </a:r>
                          <a:r>
                            <a:rPr lang="es-CO" sz="1800" b="0" dirty="0">
                              <a:latin typeface="+mn-lt"/>
                              <a:ea typeface="Roboto" panose="02000000000000000000" pitchFamily="2" charset="0"/>
                            </a:rPr>
                            <a:t> y </a:t>
                          </a:r>
                          <a:r>
                            <a:rPr lang="es-CO" sz="1800" b="1" dirty="0">
                              <a:latin typeface="+mn-lt"/>
                              <a:ea typeface="Roboto" panose="02000000000000000000" pitchFamily="2" charset="0"/>
                            </a:rPr>
                            <a:t>5</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44816522"/>
                      </a:ext>
                    </a:extLst>
                  </a:tr>
                  <a:tr h="370840">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714754" r="-1086747" b="-224590"/>
                          </a:stretch>
                        </a:blipFill>
                      </a:tcPr>
                    </a:tc>
                    <a:tc hMerge="1">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3120" t="-714754" r="-151253" b="-224590"/>
                          </a:stretch>
                        </a:blipFill>
                      </a:tcPr>
                    </a:tc>
                    <a:tc>
                      <a:txBody>
                        <a:bodyPr/>
                        <a:lstStyle/>
                        <a:p>
                          <a:r>
                            <a:rPr lang="es-CO" sz="1800" b="0" dirty="0">
                              <a:latin typeface="+mn-lt"/>
                              <a:ea typeface="Roboto" panose="02000000000000000000" pitchFamily="2" charset="0"/>
                            </a:rPr>
                            <a:t>Simplificación en </a:t>
                          </a:r>
                          <a:r>
                            <a:rPr lang="es-CO" sz="1800" b="1" dirty="0">
                              <a:latin typeface="+mn-lt"/>
                              <a:ea typeface="Roboto" panose="02000000000000000000" pitchFamily="2" charset="0"/>
                            </a:rPr>
                            <a:t>2</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8459320"/>
                      </a:ext>
                    </a:extLst>
                  </a:tr>
                  <a:tr h="370840">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814754" r="-1086747" b="-124590"/>
                          </a:stretch>
                        </a:blipFill>
                      </a:tcPr>
                    </a:tc>
                    <a:tc hMerge="1">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3120" t="-814754" r="-151253" b="-124590"/>
                          </a:stretch>
                        </a:blipFill>
                      </a:tcPr>
                    </a:tc>
                    <a:tc>
                      <a:txBody>
                        <a:bodyPr/>
                        <a:lstStyle/>
                        <a:p>
                          <a:r>
                            <a:rPr lang="es-CO" sz="1800" b="0" dirty="0">
                              <a:latin typeface="+mn-lt"/>
                              <a:ea typeface="Roboto" panose="02000000000000000000" pitchFamily="2" charset="0"/>
                            </a:rPr>
                            <a:t>Conjunción en </a:t>
                          </a:r>
                          <a:r>
                            <a:rPr lang="es-CO" sz="1800" b="1" dirty="0">
                              <a:latin typeface="+mn-lt"/>
                              <a:ea typeface="Roboto" panose="02000000000000000000" pitchFamily="2" charset="0"/>
                            </a:rPr>
                            <a:t>6 </a:t>
                          </a:r>
                          <a:r>
                            <a:rPr lang="es-CO" sz="1800" b="0" dirty="0">
                              <a:latin typeface="+mn-lt"/>
                              <a:ea typeface="Roboto" panose="02000000000000000000" pitchFamily="2" charset="0"/>
                            </a:rPr>
                            <a:t>y</a:t>
                          </a:r>
                          <a:r>
                            <a:rPr lang="es-CO" sz="1800" b="1" dirty="0">
                              <a:latin typeface="+mn-lt"/>
                              <a:ea typeface="Roboto" panose="02000000000000000000" pitchFamily="2" charset="0"/>
                            </a:rPr>
                            <a:t> 7</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0592092"/>
                      </a:ext>
                    </a:extLst>
                  </a:tr>
                  <a:tr h="370840">
                    <a:tc gridSpan="2">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t="-914754" r="-1086747" b="-24590"/>
                          </a:stretch>
                        </a:blip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6"/>
                          <a:stretch>
                            <a:fillRect l="-23120" t="-914754" r="-151253" b="-24590"/>
                          </a:stretch>
                        </a:blipFill>
                      </a:tcPr>
                    </a:tc>
                    <a:tc>
                      <a:txBody>
                        <a:bodyPr/>
                        <a:lstStyle/>
                        <a:p>
                          <a:r>
                            <a:rPr lang="es-CO" sz="1800" b="0" dirty="0">
                              <a:latin typeface="+mn-lt"/>
                              <a:ea typeface="Roboto" panose="02000000000000000000" pitchFamily="2" charset="0"/>
                            </a:rPr>
                            <a:t>Generalización existencial en </a:t>
                          </a:r>
                          <a:r>
                            <a:rPr lang="es-CO" sz="1800" b="1" dirty="0">
                              <a:latin typeface="+mn-lt"/>
                              <a:ea typeface="Roboto" panose="02000000000000000000" pitchFamily="2" charset="0"/>
                            </a:rPr>
                            <a:t>8</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6840162"/>
                      </a:ext>
                    </a:extLst>
                  </a:tr>
                </a:tbl>
              </a:graphicData>
            </a:graphic>
          </p:graphicFrame>
        </mc:Fallback>
      </mc:AlternateContent>
    </p:spTree>
    <p:extLst>
      <p:ext uri="{BB962C8B-B14F-4D97-AF65-F5344CB8AC3E}">
        <p14:creationId xmlns:p14="http://schemas.microsoft.com/office/powerpoint/2010/main" val="16831413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508000" y="96038"/>
            <a:ext cx="87126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Ejercicios de repaso</a:t>
            </a:r>
            <a:endParaRPr dirty="0">
              <a:latin typeface="+mj-lt"/>
            </a:endParaRP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D055498E-B21E-4DD3-9366-5DAC438D31FC}"/>
                  </a:ext>
                </a:extLst>
              </p:cNvPr>
              <p:cNvSpPr txBox="1"/>
              <p:nvPr/>
            </p:nvSpPr>
            <p:spPr>
              <a:xfrm>
                <a:off x="283988" y="1045538"/>
                <a:ext cx="11356469" cy="5016758"/>
              </a:xfrm>
              <a:prstGeom prst="rect">
                <a:avLst/>
              </a:prstGeom>
              <a:noFill/>
            </p:spPr>
            <p:txBody>
              <a:bodyPr wrap="square" rtlCol="0">
                <a:spAutoFit/>
              </a:bodyPr>
              <a:lstStyle/>
              <a:p>
                <a:pPr marL="457200" indent="-457200">
                  <a:buFont typeface="+mj-lt"/>
                  <a:buAutoNum type="arabicPeriod"/>
                </a:pPr>
                <a:r>
                  <a:rPr lang="es-MX" sz="2000" dirty="0">
                    <a:ea typeface="Roboto" panose="02000000000000000000" pitchFamily="2" charset="0"/>
                  </a:rPr>
                  <a:t>Considere el conjunto de premisas dado por:</a:t>
                </a:r>
              </a:p>
              <a:p>
                <a:pPr marL="914400" lvl="1" indent="-457200">
                  <a:buFont typeface="+mj-lt"/>
                  <a:buAutoNum type="alphaLcPeriod"/>
                </a:pPr>
                <a:r>
                  <a:rPr lang="es-MX" sz="2000" dirty="0">
                    <a:ea typeface="Roboto" panose="02000000000000000000" pitchFamily="2" charset="0"/>
                  </a:rPr>
                  <a:t>Todo numero real es positivo o es negativo o es cero.</a:t>
                </a:r>
              </a:p>
              <a:p>
                <a:pPr marL="914400" lvl="1" indent="-457200">
                  <a:buFont typeface="+mj-lt"/>
                  <a:buAutoNum type="alphaLcPeriod"/>
                </a:pPr>
                <a:r>
                  <a:rPr lang="es-MX" sz="2000" dirty="0">
                    <a:ea typeface="Roboto" panose="02000000000000000000" pitchFamily="2" charset="0"/>
                  </a:rPr>
                  <a:t>4 no es un numero negativo.</a:t>
                </a:r>
              </a:p>
              <a:p>
                <a:pPr marL="914400" lvl="1" indent="-457200">
                  <a:buFont typeface="+mj-lt"/>
                  <a:buAutoNum type="alphaLcPeriod"/>
                </a:pPr>
                <a:r>
                  <a:rPr lang="es-MX" sz="2000" dirty="0">
                    <a:ea typeface="Roboto" panose="02000000000000000000" pitchFamily="2" charset="0"/>
                  </a:rPr>
                  <a:t>4 no es cero</a:t>
                </a:r>
              </a:p>
              <a:p>
                <a:pPr lvl="1"/>
                <a:r>
                  <a:rPr lang="es-MX" sz="2000" dirty="0">
                    <a:ea typeface="Roboto" panose="02000000000000000000" pitchFamily="2" charset="0"/>
                  </a:rPr>
                  <a:t>Y la siguiente conclusión: “4 es un numero positivo”.</a:t>
                </a:r>
              </a:p>
              <a:p>
                <a:pPr marL="457200" indent="-457200">
                  <a:buFont typeface="+mj-lt"/>
                  <a:buAutoNum type="arabicPeriod"/>
                </a:pPr>
                <a:r>
                  <a:rPr lang="es-MX" sz="2000" dirty="0">
                    <a:ea typeface="Roboto" panose="02000000000000000000" pitchFamily="2" charset="0"/>
                  </a:rPr>
                  <a:t>El dominio de referencia es </a:t>
                </a:r>
                <a14:m>
                  <m:oMath xmlns:m="http://schemas.openxmlformats.org/officeDocument/2006/math">
                    <m:r>
                      <a:rPr lang="es-MX" sz="2000" i="1" smtClean="0">
                        <a:latin typeface="Cambria Math" panose="02040503050406030204" pitchFamily="18" charset="0"/>
                        <a:ea typeface="Cambria Math" panose="02040503050406030204" pitchFamily="18" charset="0"/>
                      </a:rPr>
                      <m:t>ℤ</m:t>
                    </m:r>
                  </m:oMath>
                </a14:m>
                <a:r>
                  <a:rPr lang="es-MX" sz="2000" dirty="0">
                    <a:ea typeface="Roboto" panose="02000000000000000000" pitchFamily="2" charset="0"/>
                  </a:rPr>
                  <a:t> y se definen las siguientes premisas:</a:t>
                </a:r>
              </a:p>
              <a:p>
                <a:pPr marL="914400" lvl="1" indent="-457200">
                  <a:buFont typeface="+mj-lt"/>
                  <a:buAutoNum type="alphaLcPeriod"/>
                </a:pPr>
                <a:r>
                  <a:rPr lang="es-MX" sz="2000" dirty="0">
                    <a:ea typeface="Roboto" panose="02000000000000000000" pitchFamily="2" charset="0"/>
                  </a:rPr>
                  <a:t>Para cada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si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es un numero par, entonces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+4</m:t>
                    </m:r>
                  </m:oMath>
                </a14:m>
                <a:r>
                  <a:rPr lang="es-MX" sz="2000" dirty="0">
                    <a:ea typeface="Roboto" panose="02000000000000000000" pitchFamily="2" charset="0"/>
                  </a:rPr>
                  <a:t> es un numero par.</a:t>
                </a:r>
              </a:p>
              <a:p>
                <a:pPr marL="914400" lvl="1" indent="-457200">
                  <a:buFont typeface="+mj-lt"/>
                  <a:buAutoNum type="alphaLcPeriod"/>
                </a:pPr>
                <a:r>
                  <a:rPr lang="es-MX" sz="2000" dirty="0">
                    <a:ea typeface="Roboto" panose="02000000000000000000" pitchFamily="2" charset="0"/>
                  </a:rPr>
                  <a:t>Para cada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si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es un numero par, entonces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no es un numero par.</a:t>
                </a:r>
              </a:p>
              <a:p>
                <a:pPr marL="914400" lvl="1" indent="-457200">
                  <a:buFont typeface="+mj-lt"/>
                  <a:buAutoNum type="alphaLcPeriod"/>
                </a:pPr>
                <a:r>
                  <a:rPr lang="es-MX" sz="2000" dirty="0">
                    <a:ea typeface="Roboto" panose="02000000000000000000" pitchFamily="2" charset="0"/>
                  </a:rPr>
                  <a:t>Dos es un numero par.</a:t>
                </a:r>
              </a:p>
              <a:p>
                <a:pPr lvl="1"/>
                <a:r>
                  <a:rPr lang="es-MX" sz="2000" dirty="0">
                    <a:ea typeface="Roboto" panose="02000000000000000000" pitchFamily="2" charset="0"/>
                  </a:rPr>
                  <a:t>La conclusión que se sigue es: “2+4 no es un numero impar”</a:t>
                </a:r>
              </a:p>
              <a:p>
                <a:pPr marL="457200" indent="-457200">
                  <a:buFont typeface="+mj-lt"/>
                  <a:buAutoNum type="arabicPeriod"/>
                </a:pPr>
                <a:r>
                  <a:rPr lang="es-MX" sz="2000" dirty="0">
                    <a:ea typeface="Roboto" panose="02000000000000000000" pitchFamily="2" charset="0"/>
                  </a:rPr>
                  <a:t>“Alguien en esta clase disfruta observar ballenas, toda persona que disfruta observar ballenas se preocupa por la contaminación del océano”.</a:t>
                </a:r>
              </a:p>
              <a:p>
                <a:pPr lvl="1"/>
                <a:r>
                  <a:rPr lang="es-MX" sz="2000" dirty="0">
                    <a:ea typeface="Roboto" panose="02000000000000000000" pitchFamily="2" charset="0"/>
                  </a:rPr>
                  <a:t>Por lo tanto, “hay una persona en esta clase que se preocupa por la contaminación del océano”</a:t>
                </a:r>
              </a:p>
              <a:p>
                <a:pPr marL="457200" indent="-457200">
                  <a:buFont typeface="+mj-lt"/>
                  <a:buAutoNum type="arabicPeriod"/>
                </a:pPr>
                <a:r>
                  <a:rPr lang="es-MX" sz="2000" dirty="0">
                    <a:ea typeface="Roboto" panose="02000000000000000000" pitchFamily="2" charset="0"/>
                  </a:rPr>
                  <a:t>“Toda persona en Nueva Jersey vive a menos de 50 millas del océano. Alguien en Nueva Jersey nunca ha visto el océano”.</a:t>
                </a:r>
              </a:p>
              <a:p>
                <a:pPr lvl="1"/>
                <a:r>
                  <a:rPr lang="es-MX" sz="2000" dirty="0">
                    <a:ea typeface="Roboto" panose="02000000000000000000" pitchFamily="2" charset="0"/>
                  </a:rPr>
                  <a:t>Por lo tanto, “Alguien que vive a menos de 50 millas del océano nunca ha visto el océano”.</a:t>
                </a:r>
              </a:p>
            </p:txBody>
          </p:sp>
        </mc:Choice>
        <mc:Fallback xmlns="">
          <p:sp>
            <p:nvSpPr>
              <p:cNvPr id="5" name="CuadroTexto 4">
                <a:extLst>
                  <a:ext uri="{FF2B5EF4-FFF2-40B4-BE49-F238E27FC236}">
                    <a16:creationId xmlns:a16="http://schemas.microsoft.com/office/drawing/2014/main" id="{D055498E-B21E-4DD3-9366-5DAC438D31FC}"/>
                  </a:ext>
                </a:extLst>
              </p:cNvPr>
              <p:cNvSpPr txBox="1">
                <a:spLocks noRot="1" noChangeAspect="1" noMove="1" noResize="1" noEditPoints="1" noAdjustHandles="1" noChangeArrowheads="1" noChangeShapeType="1" noTextEdit="1"/>
              </p:cNvSpPr>
              <p:nvPr/>
            </p:nvSpPr>
            <p:spPr>
              <a:xfrm>
                <a:off x="283988" y="1045538"/>
                <a:ext cx="11356469" cy="5016758"/>
              </a:xfrm>
              <a:prstGeom prst="rect">
                <a:avLst/>
              </a:prstGeom>
              <a:blipFill>
                <a:blip r:embed="rId3"/>
                <a:stretch>
                  <a:fillRect l="-590" t="-852" b="-1338"/>
                </a:stretch>
              </a:blipFill>
            </p:spPr>
            <p:txBody>
              <a:bodyPr/>
              <a:lstStyle/>
              <a:p>
                <a:r>
                  <a:rPr lang="es-CO">
                    <a:noFill/>
                  </a:rPr>
                  <a:t> </a:t>
                </a:r>
              </a:p>
            </p:txBody>
          </p:sp>
        </mc:Fallback>
      </mc:AlternateContent>
    </p:spTree>
    <p:extLst>
      <p:ext uri="{BB962C8B-B14F-4D97-AF65-F5344CB8AC3E}">
        <p14:creationId xmlns:p14="http://schemas.microsoft.com/office/powerpoint/2010/main" val="17264560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508000" y="96038"/>
            <a:ext cx="87126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Ejercicios de repaso</a:t>
            </a:r>
            <a:endParaRPr dirty="0">
              <a:latin typeface="+mj-lt"/>
            </a:endParaRPr>
          </a:p>
        </p:txBody>
      </p:sp>
      <p:sp>
        <p:nvSpPr>
          <p:cNvPr id="5" name="CuadroTexto 4">
            <a:extLst>
              <a:ext uri="{FF2B5EF4-FFF2-40B4-BE49-F238E27FC236}">
                <a16:creationId xmlns:a16="http://schemas.microsoft.com/office/drawing/2014/main" id="{D055498E-B21E-4DD3-9366-5DAC438D31FC}"/>
              </a:ext>
            </a:extLst>
          </p:cNvPr>
          <p:cNvSpPr txBox="1"/>
          <p:nvPr/>
        </p:nvSpPr>
        <p:spPr>
          <a:xfrm>
            <a:off x="283988" y="1045538"/>
            <a:ext cx="11356469" cy="3170099"/>
          </a:xfrm>
          <a:prstGeom prst="rect">
            <a:avLst/>
          </a:prstGeom>
          <a:noFill/>
        </p:spPr>
        <p:txBody>
          <a:bodyPr wrap="square" rtlCol="0">
            <a:spAutoFit/>
          </a:bodyPr>
          <a:lstStyle/>
          <a:p>
            <a:pPr marL="457200" indent="-457200">
              <a:buFont typeface="+mj-lt"/>
              <a:buAutoNum type="arabicPeriod" startAt="5"/>
            </a:pPr>
            <a:r>
              <a:rPr lang="es-MX" sz="2000" dirty="0">
                <a:ea typeface="Roboto" panose="02000000000000000000" pitchFamily="2" charset="0"/>
              </a:rPr>
              <a:t>Deduzca los teoremas con base en el sistema de lógica cuantificacional.</a:t>
            </a: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r>
              <a:rPr lang="es-MX" sz="2000" dirty="0">
                <a:ea typeface="Roboto" panose="02000000000000000000" pitchFamily="2" charset="0"/>
              </a:rPr>
              <a:t>Deduzca los teoremas con base en el sistema de lógica cuantificacional.</a:t>
            </a:r>
          </a:p>
        </p:txBody>
      </p:sp>
      <mc:AlternateContent xmlns:mc="http://schemas.openxmlformats.org/markup-compatibility/2006" xmlns:a14="http://schemas.microsoft.com/office/drawing/2010/main">
        <mc:Choice Requires="a14">
          <p:graphicFrame>
            <p:nvGraphicFramePr>
              <p:cNvPr id="2" name="Tabla 2">
                <a:extLst>
                  <a:ext uri="{FF2B5EF4-FFF2-40B4-BE49-F238E27FC236}">
                    <a16:creationId xmlns:a16="http://schemas.microsoft.com/office/drawing/2014/main" id="{4758FF90-D44F-4BBD-B6DB-E09AB97BE035}"/>
                  </a:ext>
                </a:extLst>
              </p:cNvPr>
              <p:cNvGraphicFramePr>
                <a:graphicFrameLocks noGrp="1"/>
              </p:cNvGraphicFramePr>
              <p:nvPr>
                <p:extLst>
                  <p:ext uri="{D42A27DB-BD31-4B8C-83A1-F6EECF244321}">
                    <p14:modId xmlns:p14="http://schemas.microsoft.com/office/powerpoint/2010/main" val="957115633"/>
                  </p:ext>
                </p:extLst>
              </p:nvPr>
            </p:nvGraphicFramePr>
            <p:xfrm>
              <a:off x="1378858" y="1614528"/>
              <a:ext cx="8128000" cy="1655572"/>
            </p:xfrm>
            <a:graphic>
              <a:graphicData uri="http://schemas.openxmlformats.org/drawingml/2006/table">
                <a:tbl>
                  <a:tblPr firstRow="1" bandRow="1">
                    <a:tableStyleId>{AD6A3598-7CB8-4345-8D95-17CE05F158A0}</a:tableStyleId>
                  </a:tblPr>
                  <a:tblGrid>
                    <a:gridCol w="4064000">
                      <a:extLst>
                        <a:ext uri="{9D8B030D-6E8A-4147-A177-3AD203B41FA5}">
                          <a16:colId xmlns:a16="http://schemas.microsoft.com/office/drawing/2014/main" val="3377211390"/>
                        </a:ext>
                      </a:extLst>
                    </a:gridCol>
                    <a:gridCol w="4064000">
                      <a:extLst>
                        <a:ext uri="{9D8B030D-6E8A-4147-A177-3AD203B41FA5}">
                          <a16:colId xmlns:a16="http://schemas.microsoft.com/office/drawing/2014/main" val="1918659203"/>
                        </a:ext>
                      </a:extLst>
                    </a:gridCol>
                  </a:tblGrid>
                  <a:tr h="370840">
                    <a:tc>
                      <a:txBody>
                        <a:bodyPr/>
                        <a:lstStyle/>
                        <a:p>
                          <a:pPr algn="ctr"/>
                          <a:r>
                            <a:rPr lang="es-CO" sz="2000" b="1" dirty="0">
                              <a:latin typeface="+mn-lt"/>
                              <a:cs typeface="Arial" panose="020B0604020202020204" pitchFamily="34" charset="0"/>
                            </a:rPr>
                            <a:t>Premisas</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2000" b="1" dirty="0">
                              <a:latin typeface="+mn-lt"/>
                              <a:cs typeface="Arial" panose="020B0604020202020204" pitchFamily="34" charset="0"/>
                            </a:rPr>
                            <a:t>Conclusión</a:t>
                          </a: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2695394"/>
                      </a:ext>
                    </a:extLst>
                  </a:tr>
                  <a:tr h="370840">
                    <a:tc>
                      <a:txBody>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cs typeface="Arial" panose="020B0604020202020204" pitchFamily="34" charset="0"/>
                                  </a:rPr>
                                  <m:t>∀</m:t>
                                </m:r>
                                <m:r>
                                  <a:rPr lang="es-MX" b="0" i="1" smtClean="0">
                                    <a:latin typeface="Cambria Math" panose="02040503050406030204" pitchFamily="18" charset="0"/>
                                    <a:cs typeface="Arial" panose="020B0604020202020204" pitchFamily="34" charset="0"/>
                                  </a:rPr>
                                  <m:t>𝑥</m:t>
                                </m:r>
                                <m:d>
                                  <m:dPr>
                                    <m:ctrlPr>
                                      <a:rPr lang="es-MX" b="0" i="1" smtClean="0">
                                        <a:latin typeface="Cambria Math" panose="02040503050406030204" pitchFamily="18" charset="0"/>
                                        <a:cs typeface="Arial" panose="020B0604020202020204" pitchFamily="34" charset="0"/>
                                      </a:rPr>
                                    </m:ctrlPr>
                                  </m:dPr>
                                  <m:e>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𝑥</m:t>
                                        </m:r>
                                        <m:r>
                                          <a:rPr lang="es-MX" b="0" i="1" smtClean="0">
                                            <a:latin typeface="Cambria Math" panose="02040503050406030204" pitchFamily="18" charset="0"/>
                                            <a:cs typeface="Arial" panose="020B0604020202020204" pitchFamily="34" charset="0"/>
                                          </a:rPr>
                                          <m:t>&lt;4</m:t>
                                        </m:r>
                                      </m:e>
                                    </m:d>
                                    <m:r>
                                      <a:rPr lang="es-MX" b="0" i="1" smtClean="0">
                                        <a:latin typeface="Cambria Math" panose="02040503050406030204" pitchFamily="18" charset="0"/>
                                        <a:ea typeface="Cambria Math" panose="02040503050406030204" pitchFamily="18" charset="0"/>
                                        <a:cs typeface="Arial" panose="020B0604020202020204" pitchFamily="34" charset="0"/>
                                      </a:rPr>
                                      <m:t>∧</m:t>
                                    </m:r>
                                    <m:d>
                                      <m:dPr>
                                        <m:ctrlPr>
                                          <a:rPr lang="es-MX" b="0" i="1" smtClean="0">
                                            <a:latin typeface="Cambria Math" panose="02040503050406030204" pitchFamily="18" charset="0"/>
                                            <a:ea typeface="Cambria Math" panose="02040503050406030204" pitchFamily="18" charset="0"/>
                                            <a:cs typeface="Arial" panose="020B0604020202020204" pitchFamily="34" charset="0"/>
                                          </a:rPr>
                                        </m:ctrlPr>
                                      </m:dPr>
                                      <m:e>
                                        <m:r>
                                          <a:rPr lang="es-MX" b="0" i="1" smtClean="0">
                                            <a:latin typeface="Cambria Math" panose="02040503050406030204" pitchFamily="18" charset="0"/>
                                            <a:ea typeface="Cambria Math" panose="02040503050406030204" pitchFamily="18" charset="0"/>
                                            <a:cs typeface="Arial" panose="020B0604020202020204" pitchFamily="34" charset="0"/>
                                          </a:rPr>
                                          <m:t>4&lt;5</m:t>
                                        </m:r>
                                      </m:e>
                                    </m:d>
                                    <m:r>
                                      <a:rPr lang="es-MX" b="0" i="1" smtClean="0">
                                        <a:latin typeface="Cambria Math" panose="02040503050406030204" pitchFamily="18" charset="0"/>
                                        <a:ea typeface="Cambria Math" panose="02040503050406030204" pitchFamily="18" charset="0"/>
                                        <a:cs typeface="Arial" panose="020B0604020202020204" pitchFamily="34" charset="0"/>
                                      </a:rPr>
                                      <m:t>→</m:t>
                                    </m:r>
                                    <m:r>
                                      <a:rPr lang="es-MX" b="0" i="1" smtClean="0">
                                        <a:latin typeface="Cambria Math" panose="02040503050406030204" pitchFamily="18" charset="0"/>
                                        <a:ea typeface="Cambria Math" panose="02040503050406030204" pitchFamily="18" charset="0"/>
                                        <a:cs typeface="Arial" panose="020B0604020202020204" pitchFamily="34" charset="0"/>
                                      </a:rPr>
                                      <m:t>𝑥</m:t>
                                    </m:r>
                                    <m:r>
                                      <a:rPr lang="es-MX" b="0" i="1" smtClean="0">
                                        <a:latin typeface="Cambria Math" panose="02040503050406030204" pitchFamily="18" charset="0"/>
                                        <a:ea typeface="Cambria Math" panose="02040503050406030204" pitchFamily="18" charset="0"/>
                                        <a:cs typeface="Arial" panose="020B0604020202020204" pitchFamily="34" charset="0"/>
                                      </a:rPr>
                                      <m:t>&lt;5</m:t>
                                    </m:r>
                                  </m:e>
                                </m:d>
                              </m:oMath>
                            </m:oMathPara>
                          </a14:m>
                          <a:endParaRPr lang="es-MX" b="0" dirty="0">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cs typeface="Arial" panose="020B0604020202020204" pitchFamily="34" charset="0"/>
                                  </a:rPr>
                                  <m:t>∀</m:t>
                                </m:r>
                                <m:r>
                                  <a:rPr lang="es-MX" b="0" i="1" smtClean="0">
                                    <a:latin typeface="Cambria Math" panose="02040503050406030204" pitchFamily="18" charset="0"/>
                                    <a:cs typeface="Arial" panose="020B0604020202020204" pitchFamily="34" charset="0"/>
                                  </a:rPr>
                                  <m:t>𝑥</m:t>
                                </m:r>
                                <m:d>
                                  <m:dPr>
                                    <m:ctrlPr>
                                      <a:rPr lang="es-MX" b="0" i="1" smtClean="0">
                                        <a:latin typeface="Cambria Math" panose="02040503050406030204" pitchFamily="18" charset="0"/>
                                        <a:cs typeface="Arial" panose="020B0604020202020204" pitchFamily="34" charset="0"/>
                                      </a:rPr>
                                    </m:ctrlPr>
                                  </m:dPr>
                                  <m:e>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−4&lt;</m:t>
                                        </m:r>
                                        <m:r>
                                          <a:rPr lang="es-MX" b="0" i="1" smtClean="0">
                                            <a:latin typeface="Cambria Math" panose="02040503050406030204" pitchFamily="18" charset="0"/>
                                            <a:cs typeface="Arial" panose="020B0604020202020204" pitchFamily="34" charset="0"/>
                                          </a:rPr>
                                          <m:t>𝑥</m:t>
                                        </m:r>
                                      </m:e>
                                    </m:d>
                                    <m:r>
                                      <a:rPr lang="es-MX" b="0" i="1" smtClean="0">
                                        <a:latin typeface="Cambria Math" panose="02040503050406030204" pitchFamily="18" charset="0"/>
                                        <a:ea typeface="Cambria Math" panose="02040503050406030204" pitchFamily="18" charset="0"/>
                                        <a:cs typeface="Arial" panose="020B0604020202020204" pitchFamily="34" charset="0"/>
                                      </a:rPr>
                                      <m:t>↔</m:t>
                                    </m:r>
                                    <m:d>
                                      <m:dPr>
                                        <m:ctrlPr>
                                          <a:rPr lang="es-MX" b="0" i="1" smtClean="0">
                                            <a:latin typeface="Cambria Math" panose="02040503050406030204" pitchFamily="18" charset="0"/>
                                            <a:ea typeface="Cambria Math" panose="02040503050406030204" pitchFamily="18" charset="0"/>
                                            <a:cs typeface="Arial" panose="020B0604020202020204" pitchFamily="34" charset="0"/>
                                          </a:rPr>
                                        </m:ctrlPr>
                                      </m:dPr>
                                      <m:e>
                                        <m:r>
                                          <a:rPr lang="es-MX" b="0" i="1" smtClean="0">
                                            <a:latin typeface="Cambria Math" panose="02040503050406030204" pitchFamily="18" charset="0"/>
                                            <a:ea typeface="Cambria Math" panose="02040503050406030204" pitchFamily="18" charset="0"/>
                                            <a:cs typeface="Arial" panose="020B0604020202020204" pitchFamily="34" charset="0"/>
                                          </a:rPr>
                                          <m:t>𝑥</m:t>
                                        </m:r>
                                        <m:r>
                                          <a:rPr lang="es-MX" b="0" i="1" smtClean="0">
                                            <a:latin typeface="Cambria Math" panose="02040503050406030204" pitchFamily="18" charset="0"/>
                                            <a:ea typeface="Cambria Math" panose="02040503050406030204" pitchFamily="18" charset="0"/>
                                            <a:cs typeface="Arial" panose="020B0604020202020204" pitchFamily="34" charset="0"/>
                                          </a:rPr>
                                          <m:t>&lt;4</m:t>
                                        </m:r>
                                      </m:e>
                                    </m:d>
                                  </m:e>
                                </m:d>
                              </m:oMath>
                            </m:oMathPara>
                          </a14:m>
                          <a:endParaRPr lang="es-CO" sz="1800" kern="1200" dirty="0">
                            <a:solidFill>
                              <a:srgbClr val="000000"/>
                            </a:solidFill>
                            <a:latin typeface="Arial"/>
                            <a:ea typeface="Arial"/>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cs typeface="Arial" panose="020B0604020202020204" pitchFamily="34" charset="0"/>
                                  </a:rPr>
                                  <m:t>4&lt;5</m:t>
                                </m:r>
                              </m:oMath>
                            </m:oMathPara>
                          </a14:m>
                          <a:endParaRPr lang="es-MX" b="0" dirty="0">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cs typeface="Arial" panose="020B0604020202020204" pitchFamily="34" charset="0"/>
                                  </a:rPr>
                                  <m:t>−4&lt;−3</m:t>
                                </m:r>
                              </m:oMath>
                            </m:oMathPara>
                          </a14:m>
                          <a:endParaRPr lang="es-CO" sz="1800" kern="1200" dirty="0">
                            <a:solidFill>
                              <a:srgbClr val="000000"/>
                            </a:solidFill>
                            <a:latin typeface="Arial"/>
                            <a:ea typeface="Arial"/>
                            <a:cs typeface="Arial" panose="020B0604020202020204" pitchFamily="34"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cs typeface="Arial" panose="020B0604020202020204" pitchFamily="34" charset="0"/>
                                  </a:rPr>
                                  <m:t>3&lt;5</m:t>
                                </m:r>
                              </m:oMath>
                            </m:oMathPara>
                          </a14:m>
                          <a:endParaRPr lang="es-CO" sz="1800" kern="1200" dirty="0">
                            <a:solidFill>
                              <a:srgbClr val="000000"/>
                            </a:solidFill>
                            <a:latin typeface="Arial"/>
                            <a:ea typeface="Arial"/>
                            <a:cs typeface="Arial" panose="020B0604020202020204" pitchFamily="34" charset="0"/>
                          </a:endParaRPr>
                        </a:p>
                        <a:p>
                          <a:endParaRPr lang="es-CO"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714967203"/>
                      </a:ext>
                    </a:extLst>
                  </a:tr>
                </a:tbl>
              </a:graphicData>
            </a:graphic>
          </p:graphicFrame>
        </mc:Choice>
        <mc:Fallback xmlns="">
          <p:graphicFrame>
            <p:nvGraphicFramePr>
              <p:cNvPr id="2" name="Tabla 2">
                <a:extLst>
                  <a:ext uri="{FF2B5EF4-FFF2-40B4-BE49-F238E27FC236}">
                    <a16:creationId xmlns:a16="http://schemas.microsoft.com/office/drawing/2014/main" id="{4758FF90-D44F-4BBD-B6DB-E09AB97BE035}"/>
                  </a:ext>
                </a:extLst>
              </p:cNvPr>
              <p:cNvGraphicFramePr>
                <a:graphicFrameLocks noGrp="1"/>
              </p:cNvGraphicFramePr>
              <p:nvPr>
                <p:extLst>
                  <p:ext uri="{D42A27DB-BD31-4B8C-83A1-F6EECF244321}">
                    <p14:modId xmlns:p14="http://schemas.microsoft.com/office/powerpoint/2010/main" val="957115633"/>
                  </p:ext>
                </p:extLst>
              </p:nvPr>
            </p:nvGraphicFramePr>
            <p:xfrm>
              <a:off x="1378858" y="1614528"/>
              <a:ext cx="8128000" cy="1655572"/>
            </p:xfrm>
            <a:graphic>
              <a:graphicData uri="http://schemas.openxmlformats.org/drawingml/2006/table">
                <a:tbl>
                  <a:tblPr firstRow="1" bandRow="1">
                    <a:tableStyleId>{AD6A3598-7CB8-4345-8D95-17CE05F158A0}</a:tableStyleId>
                  </a:tblPr>
                  <a:tblGrid>
                    <a:gridCol w="4064000">
                      <a:extLst>
                        <a:ext uri="{9D8B030D-6E8A-4147-A177-3AD203B41FA5}">
                          <a16:colId xmlns:a16="http://schemas.microsoft.com/office/drawing/2014/main" val="3377211390"/>
                        </a:ext>
                      </a:extLst>
                    </a:gridCol>
                    <a:gridCol w="4064000">
                      <a:extLst>
                        <a:ext uri="{9D8B030D-6E8A-4147-A177-3AD203B41FA5}">
                          <a16:colId xmlns:a16="http://schemas.microsoft.com/office/drawing/2014/main" val="1918659203"/>
                        </a:ext>
                      </a:extLst>
                    </a:gridCol>
                  </a:tblGrid>
                  <a:tr h="396240">
                    <a:tc>
                      <a:txBody>
                        <a:bodyPr/>
                        <a:lstStyle/>
                        <a:p>
                          <a:pPr algn="ctr"/>
                          <a:r>
                            <a:rPr lang="es-CO" sz="2000" b="1" dirty="0">
                              <a:latin typeface="+mn-lt"/>
                              <a:cs typeface="Arial" panose="020B0604020202020204" pitchFamily="34" charset="0"/>
                            </a:rPr>
                            <a:t>Premisas</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2000" b="1" dirty="0">
                              <a:latin typeface="+mn-lt"/>
                              <a:cs typeface="Arial" panose="020B0604020202020204" pitchFamily="34" charset="0"/>
                            </a:rPr>
                            <a:t>Conclusión</a:t>
                          </a: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2695394"/>
                      </a:ext>
                    </a:extLst>
                  </a:tr>
                  <a:tr h="1259332">
                    <a:tc>
                      <a:txBody>
                        <a:bodyPr/>
                        <a:lstStyle/>
                        <a:p>
                          <a:endParaRPr lang="es-CO"/>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t="-33654" r="-100150" b="-481"/>
                          </a:stretch>
                        </a:blipFill>
                      </a:tcPr>
                    </a:tc>
                    <a:tc>
                      <a:txBody>
                        <a:bodyPr/>
                        <a:lstStyle/>
                        <a:p>
                          <a:endParaRPr lang="es-CO"/>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l="-100000" t="-33654" r="-150" b="-481"/>
                          </a:stretch>
                        </a:blipFill>
                      </a:tcPr>
                    </a:tc>
                    <a:extLst>
                      <a:ext uri="{0D108BD9-81ED-4DB2-BD59-A6C34878D82A}">
                        <a16:rowId xmlns:a16="http://schemas.microsoft.com/office/drawing/2014/main" val="714967203"/>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7" name="Tabla 2">
                <a:extLst>
                  <a:ext uri="{FF2B5EF4-FFF2-40B4-BE49-F238E27FC236}">
                    <a16:creationId xmlns:a16="http://schemas.microsoft.com/office/drawing/2014/main" id="{2C8D1343-44DE-4DBF-AF43-18191B859832}"/>
                  </a:ext>
                </a:extLst>
              </p:cNvPr>
              <p:cNvGraphicFramePr>
                <a:graphicFrameLocks noGrp="1"/>
              </p:cNvGraphicFramePr>
              <p:nvPr>
                <p:extLst>
                  <p:ext uri="{D42A27DB-BD31-4B8C-83A1-F6EECF244321}">
                    <p14:modId xmlns:p14="http://schemas.microsoft.com/office/powerpoint/2010/main" val="4118325175"/>
                  </p:ext>
                </p:extLst>
              </p:nvPr>
            </p:nvGraphicFramePr>
            <p:xfrm>
              <a:off x="1378858" y="4415686"/>
              <a:ext cx="8128000" cy="1416558"/>
            </p:xfrm>
            <a:graphic>
              <a:graphicData uri="http://schemas.openxmlformats.org/drawingml/2006/table">
                <a:tbl>
                  <a:tblPr firstRow="1" bandRow="1">
                    <a:tableStyleId>{AD6A3598-7CB8-4345-8D95-17CE05F158A0}</a:tableStyleId>
                  </a:tblPr>
                  <a:tblGrid>
                    <a:gridCol w="4064000">
                      <a:extLst>
                        <a:ext uri="{9D8B030D-6E8A-4147-A177-3AD203B41FA5}">
                          <a16:colId xmlns:a16="http://schemas.microsoft.com/office/drawing/2014/main" val="3377211390"/>
                        </a:ext>
                      </a:extLst>
                    </a:gridCol>
                    <a:gridCol w="4064000">
                      <a:extLst>
                        <a:ext uri="{9D8B030D-6E8A-4147-A177-3AD203B41FA5}">
                          <a16:colId xmlns:a16="http://schemas.microsoft.com/office/drawing/2014/main" val="1918659203"/>
                        </a:ext>
                      </a:extLst>
                    </a:gridCol>
                  </a:tblGrid>
                  <a:tr h="370840">
                    <a:tc>
                      <a:txBody>
                        <a:bodyPr/>
                        <a:lstStyle/>
                        <a:p>
                          <a:pPr algn="ctr"/>
                          <a:r>
                            <a:rPr lang="es-CO" sz="2000" b="1" dirty="0">
                              <a:latin typeface="+mn-lt"/>
                              <a:cs typeface="Arial" panose="020B0604020202020204" pitchFamily="34" charset="0"/>
                            </a:rPr>
                            <a:t>Premisas</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2000" b="1" dirty="0">
                              <a:latin typeface="+mn-lt"/>
                              <a:cs typeface="Arial" panose="020B0604020202020204" pitchFamily="34" charset="0"/>
                            </a:rPr>
                            <a:t>Conclusión</a:t>
                          </a: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2695394"/>
                      </a:ext>
                    </a:extLst>
                  </a:tr>
                  <a:tr h="370840">
                    <a:tc>
                      <a:txBody>
                        <a:bodyPr/>
                        <a:lstStyle/>
                        <a:p>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cs typeface="Arial" panose="020B0604020202020204" pitchFamily="34" charset="0"/>
                                  </a:rPr>
                                  <m:t>∀</m:t>
                                </m:r>
                                <m:r>
                                  <a:rPr lang="es-MX" b="0" i="1" smtClean="0">
                                    <a:latin typeface="Cambria Math" panose="02040503050406030204" pitchFamily="18" charset="0"/>
                                    <a:cs typeface="Arial" panose="020B0604020202020204" pitchFamily="34" charset="0"/>
                                  </a:rPr>
                                  <m:t>𝑥</m:t>
                                </m:r>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𝑅</m:t>
                                    </m:r>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𝑥</m:t>
                                        </m:r>
                                      </m:e>
                                    </m:d>
                                    <m:r>
                                      <a:rPr lang="es-MX" b="0" i="1" smtClean="0">
                                        <a:latin typeface="Cambria Math" panose="02040503050406030204" pitchFamily="18" charset="0"/>
                                        <a:ea typeface="Cambria Math" panose="02040503050406030204" pitchFamily="18" charset="0"/>
                                        <a:cs typeface="Arial" panose="020B0604020202020204" pitchFamily="34" charset="0"/>
                                      </a:rPr>
                                      <m:t>∨</m:t>
                                    </m:r>
                                    <m:r>
                                      <a:rPr lang="es-MX" b="0" i="1" smtClean="0">
                                        <a:latin typeface="Cambria Math" panose="02040503050406030204" pitchFamily="18" charset="0"/>
                                        <a:ea typeface="Cambria Math" panose="02040503050406030204" pitchFamily="18" charset="0"/>
                                        <a:cs typeface="Arial" panose="020B0604020202020204" pitchFamily="34" charset="0"/>
                                      </a:rPr>
                                      <m:t>𝑍</m:t>
                                    </m:r>
                                    <m:d>
                                      <m:dPr>
                                        <m:ctrlPr>
                                          <a:rPr lang="es-MX" b="0" i="1" smtClean="0">
                                            <a:latin typeface="Cambria Math" panose="02040503050406030204" pitchFamily="18" charset="0"/>
                                            <a:ea typeface="Cambria Math" panose="02040503050406030204" pitchFamily="18" charset="0"/>
                                            <a:cs typeface="Arial" panose="020B0604020202020204" pitchFamily="34" charset="0"/>
                                          </a:rPr>
                                        </m:ctrlPr>
                                      </m:dPr>
                                      <m:e>
                                        <m:r>
                                          <a:rPr lang="es-MX" b="0" i="1" smtClean="0">
                                            <a:latin typeface="Cambria Math" panose="02040503050406030204" pitchFamily="18" charset="0"/>
                                            <a:ea typeface="Cambria Math" panose="02040503050406030204" pitchFamily="18" charset="0"/>
                                            <a:cs typeface="Arial" panose="020B0604020202020204" pitchFamily="34" charset="0"/>
                                          </a:rPr>
                                          <m:t>𝑥</m:t>
                                        </m:r>
                                      </m:e>
                                    </m:d>
                                  </m:e>
                                </m:d>
                              </m:oMath>
                            </m:oMathPara>
                          </a14:m>
                          <a:endParaRPr lang="es-MX" b="0" dirty="0">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cs typeface="Arial" panose="020B0604020202020204" pitchFamily="34" charset="0"/>
                                  </a:rPr>
                                  <m:t>∀</m:t>
                                </m:r>
                                <m:r>
                                  <a:rPr lang="es-MX" b="0" i="1" smtClean="0">
                                    <a:latin typeface="Cambria Math" panose="02040503050406030204" pitchFamily="18" charset="0"/>
                                    <a:cs typeface="Arial" panose="020B0604020202020204" pitchFamily="34" charset="0"/>
                                  </a:rPr>
                                  <m:t>𝑥</m:t>
                                </m:r>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m:t>
                                    </m:r>
                                    <m:r>
                                      <a:rPr lang="es-MX" b="0" i="1" smtClean="0">
                                        <a:latin typeface="Cambria Math" panose="02040503050406030204" pitchFamily="18" charset="0"/>
                                        <a:cs typeface="Arial" panose="020B0604020202020204" pitchFamily="34" charset="0"/>
                                      </a:rPr>
                                      <m:t>𝑇</m:t>
                                    </m:r>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𝑥</m:t>
                                        </m:r>
                                      </m:e>
                                    </m:d>
                                    <m:r>
                                      <a:rPr lang="es-MX" b="0" i="1" smtClean="0">
                                        <a:latin typeface="Cambria Math" panose="02040503050406030204" pitchFamily="18" charset="0"/>
                                        <a:ea typeface="Cambria Math" panose="02040503050406030204" pitchFamily="18" charset="0"/>
                                        <a:cs typeface="Arial" panose="020B0604020202020204" pitchFamily="34" charset="0"/>
                                      </a:rPr>
                                      <m:t>→¬</m:t>
                                    </m:r>
                                    <m:r>
                                      <a:rPr lang="es-MX" b="0" i="1" smtClean="0">
                                        <a:latin typeface="Cambria Math" panose="02040503050406030204" pitchFamily="18" charset="0"/>
                                        <a:ea typeface="Cambria Math" panose="02040503050406030204" pitchFamily="18" charset="0"/>
                                        <a:cs typeface="Arial" panose="020B0604020202020204" pitchFamily="34" charset="0"/>
                                      </a:rPr>
                                      <m:t>𝑅</m:t>
                                    </m:r>
                                    <m:d>
                                      <m:dPr>
                                        <m:ctrlPr>
                                          <a:rPr lang="es-MX" b="0" i="1" smtClean="0">
                                            <a:latin typeface="Cambria Math" panose="02040503050406030204" pitchFamily="18" charset="0"/>
                                            <a:ea typeface="Cambria Math" panose="02040503050406030204" pitchFamily="18" charset="0"/>
                                            <a:cs typeface="Arial" panose="020B0604020202020204" pitchFamily="34" charset="0"/>
                                          </a:rPr>
                                        </m:ctrlPr>
                                      </m:dPr>
                                      <m:e>
                                        <m:r>
                                          <a:rPr lang="es-MX" b="0" i="1" smtClean="0">
                                            <a:latin typeface="Cambria Math" panose="02040503050406030204" pitchFamily="18" charset="0"/>
                                            <a:ea typeface="Cambria Math" panose="02040503050406030204" pitchFamily="18" charset="0"/>
                                            <a:cs typeface="Arial" panose="020B0604020202020204" pitchFamily="34" charset="0"/>
                                          </a:rPr>
                                          <m:t>𝑥</m:t>
                                        </m:r>
                                      </m:e>
                                    </m:d>
                                  </m:e>
                                </m:d>
                              </m:oMath>
                            </m:oMathPara>
                          </a14:m>
                          <a:endParaRPr lang="es-CO" sz="1800" kern="1200" dirty="0">
                            <a:solidFill>
                              <a:srgbClr val="000000"/>
                            </a:solidFill>
                            <a:latin typeface="Arial"/>
                            <a:ea typeface="Arial"/>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cs typeface="Arial" panose="020B0604020202020204" pitchFamily="34" charset="0"/>
                                  </a:rPr>
                                  <m:t>∃</m:t>
                                </m:r>
                                <m:r>
                                  <a:rPr lang="es-MX" b="0" i="1" smtClean="0">
                                    <a:latin typeface="Cambria Math" panose="02040503050406030204" pitchFamily="18" charset="0"/>
                                    <a:cs typeface="Arial" panose="020B0604020202020204" pitchFamily="34" charset="0"/>
                                  </a:rPr>
                                  <m:t>𝑥</m:t>
                                </m:r>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m:t>
                                    </m:r>
                                    <m:r>
                                      <a:rPr lang="es-MX" b="0" i="1" smtClean="0">
                                        <a:latin typeface="Cambria Math" panose="02040503050406030204" pitchFamily="18" charset="0"/>
                                        <a:cs typeface="Arial" panose="020B0604020202020204" pitchFamily="34" charset="0"/>
                                      </a:rPr>
                                      <m:t>𝑍</m:t>
                                    </m:r>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𝑥</m:t>
                                        </m:r>
                                      </m:e>
                                    </m:d>
                                    <m:r>
                                      <a:rPr lang="es-MX" b="0" i="1" smtClean="0">
                                        <a:latin typeface="Cambria Math" panose="02040503050406030204" pitchFamily="18" charset="0"/>
                                        <a:ea typeface="Cambria Math" panose="02040503050406030204" pitchFamily="18" charset="0"/>
                                        <a:cs typeface="Arial" panose="020B0604020202020204" pitchFamily="34" charset="0"/>
                                      </a:rPr>
                                      <m:t>∨</m:t>
                                    </m:r>
                                    <m:r>
                                      <a:rPr lang="es-MX" b="0" i="1" smtClean="0">
                                        <a:latin typeface="Cambria Math" panose="02040503050406030204" pitchFamily="18" charset="0"/>
                                        <a:ea typeface="Cambria Math" panose="02040503050406030204" pitchFamily="18" charset="0"/>
                                        <a:cs typeface="Arial" panose="020B0604020202020204" pitchFamily="34" charset="0"/>
                                      </a:rPr>
                                      <m:t>𝑄</m:t>
                                    </m:r>
                                    <m:d>
                                      <m:dPr>
                                        <m:ctrlPr>
                                          <a:rPr lang="es-MX" b="0" i="1" smtClean="0">
                                            <a:latin typeface="Cambria Math" panose="02040503050406030204" pitchFamily="18" charset="0"/>
                                            <a:ea typeface="Cambria Math" panose="02040503050406030204" pitchFamily="18" charset="0"/>
                                            <a:cs typeface="Arial" panose="020B0604020202020204" pitchFamily="34" charset="0"/>
                                          </a:rPr>
                                        </m:ctrlPr>
                                      </m:dPr>
                                      <m:e>
                                        <m:r>
                                          <a:rPr lang="es-MX" b="0" i="1" smtClean="0">
                                            <a:latin typeface="Cambria Math" panose="02040503050406030204" pitchFamily="18" charset="0"/>
                                            <a:ea typeface="Cambria Math" panose="02040503050406030204" pitchFamily="18" charset="0"/>
                                            <a:cs typeface="Arial" panose="020B0604020202020204" pitchFamily="34" charset="0"/>
                                          </a:rPr>
                                          <m:t>𝑥</m:t>
                                        </m:r>
                                      </m:e>
                                    </m:d>
                                  </m:e>
                                </m:d>
                                <m:r>
                                  <a:rPr lang="es-MX" b="0" i="1" smtClean="0">
                                    <a:latin typeface="Cambria Math" panose="02040503050406030204" pitchFamily="18" charset="0"/>
                                    <a:cs typeface="Arial" panose="020B0604020202020204" pitchFamily="34" charset="0"/>
                                  </a:rPr>
                                  <m:t>  </m:t>
                                </m:r>
                              </m:oMath>
                            </m:oMathPara>
                          </a14:m>
                          <a:endParaRPr lang="es-MX" b="0" dirty="0">
                            <a:latin typeface="+mn-lt"/>
                            <a:cs typeface="Arial" panose="020B0604020202020204" pitchFamily="34"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b="0" i="1" smtClean="0">
                                    <a:latin typeface="Cambria Math" panose="02040503050406030204" pitchFamily="18" charset="0"/>
                                    <a:cs typeface="Arial" panose="020B0604020202020204" pitchFamily="34" charset="0"/>
                                  </a:rPr>
                                  <m:t>∃</m:t>
                                </m:r>
                                <m:r>
                                  <a:rPr lang="es-MX" b="0" i="1" smtClean="0">
                                    <a:latin typeface="Cambria Math" panose="02040503050406030204" pitchFamily="18" charset="0"/>
                                    <a:cs typeface="Arial" panose="020B0604020202020204" pitchFamily="34" charset="0"/>
                                  </a:rPr>
                                  <m:t>𝑥</m:t>
                                </m:r>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𝑇</m:t>
                                    </m:r>
                                    <m:d>
                                      <m:dPr>
                                        <m:ctrlPr>
                                          <a:rPr lang="es-MX" b="0" i="1" smtClean="0">
                                            <a:latin typeface="Cambria Math" panose="02040503050406030204" pitchFamily="18" charset="0"/>
                                            <a:cs typeface="Arial" panose="020B0604020202020204" pitchFamily="34" charset="0"/>
                                          </a:rPr>
                                        </m:ctrlPr>
                                      </m:dPr>
                                      <m:e>
                                        <m:r>
                                          <a:rPr lang="es-MX" b="0" i="1" smtClean="0">
                                            <a:latin typeface="Cambria Math" panose="02040503050406030204" pitchFamily="18" charset="0"/>
                                            <a:cs typeface="Arial" panose="020B0604020202020204" pitchFamily="34" charset="0"/>
                                          </a:rPr>
                                          <m:t>𝑥</m:t>
                                        </m:r>
                                      </m:e>
                                    </m:d>
                                    <m:r>
                                      <a:rPr lang="es-MX" b="0" i="1" smtClean="0">
                                        <a:latin typeface="Cambria Math" panose="02040503050406030204" pitchFamily="18" charset="0"/>
                                        <a:ea typeface="Cambria Math" panose="02040503050406030204" pitchFamily="18" charset="0"/>
                                        <a:cs typeface="Arial" panose="020B0604020202020204" pitchFamily="34" charset="0"/>
                                      </a:rPr>
                                      <m:t>∨</m:t>
                                    </m:r>
                                    <m:r>
                                      <a:rPr lang="es-MX" b="0" i="1" smtClean="0">
                                        <a:latin typeface="Cambria Math" panose="02040503050406030204" pitchFamily="18" charset="0"/>
                                        <a:ea typeface="Cambria Math" panose="02040503050406030204" pitchFamily="18" charset="0"/>
                                        <a:cs typeface="Arial" panose="020B0604020202020204" pitchFamily="34" charset="0"/>
                                      </a:rPr>
                                      <m:t>𝑄</m:t>
                                    </m:r>
                                    <m:d>
                                      <m:dPr>
                                        <m:ctrlPr>
                                          <a:rPr lang="es-MX" b="0" i="1" smtClean="0">
                                            <a:latin typeface="Cambria Math" panose="02040503050406030204" pitchFamily="18" charset="0"/>
                                            <a:ea typeface="Cambria Math" panose="02040503050406030204" pitchFamily="18" charset="0"/>
                                            <a:cs typeface="Arial" panose="020B0604020202020204" pitchFamily="34" charset="0"/>
                                          </a:rPr>
                                        </m:ctrlPr>
                                      </m:dPr>
                                      <m:e>
                                        <m:r>
                                          <a:rPr lang="es-MX" b="0" i="1" smtClean="0">
                                            <a:latin typeface="Cambria Math" panose="02040503050406030204" pitchFamily="18" charset="0"/>
                                            <a:ea typeface="Cambria Math" panose="02040503050406030204" pitchFamily="18" charset="0"/>
                                            <a:cs typeface="Arial" panose="020B0604020202020204" pitchFamily="34" charset="0"/>
                                          </a:rPr>
                                          <m:t>𝑥</m:t>
                                        </m:r>
                                      </m:e>
                                    </m:d>
                                    <m:r>
                                      <a:rPr lang="es-MX" b="0" i="1" smtClean="0">
                                        <a:latin typeface="Cambria Math" panose="02040503050406030204" pitchFamily="18" charset="0"/>
                                        <a:ea typeface="Cambria Math" panose="02040503050406030204" pitchFamily="18" charset="0"/>
                                        <a:cs typeface="Arial" panose="020B0604020202020204" pitchFamily="34" charset="0"/>
                                      </a:rPr>
                                      <m:t>∨</m:t>
                                    </m:r>
                                    <m:r>
                                      <a:rPr lang="es-MX" b="0" i="1" smtClean="0">
                                        <a:latin typeface="Cambria Math" panose="02040503050406030204" pitchFamily="18" charset="0"/>
                                        <a:ea typeface="Cambria Math" panose="02040503050406030204" pitchFamily="18" charset="0"/>
                                        <a:cs typeface="Arial" panose="020B0604020202020204" pitchFamily="34" charset="0"/>
                                      </a:rPr>
                                      <m:t>𝑀</m:t>
                                    </m:r>
                                    <m:d>
                                      <m:dPr>
                                        <m:ctrlPr>
                                          <a:rPr lang="es-MX" b="0" i="1" smtClean="0">
                                            <a:latin typeface="Cambria Math" panose="02040503050406030204" pitchFamily="18" charset="0"/>
                                            <a:ea typeface="Cambria Math" panose="02040503050406030204" pitchFamily="18" charset="0"/>
                                            <a:cs typeface="Arial" panose="020B0604020202020204" pitchFamily="34" charset="0"/>
                                          </a:rPr>
                                        </m:ctrlPr>
                                      </m:dPr>
                                      <m:e>
                                        <m:r>
                                          <a:rPr lang="es-MX" b="0" i="1" smtClean="0">
                                            <a:latin typeface="Cambria Math" panose="02040503050406030204" pitchFamily="18" charset="0"/>
                                            <a:ea typeface="Cambria Math" panose="02040503050406030204" pitchFamily="18" charset="0"/>
                                            <a:cs typeface="Arial" panose="020B0604020202020204" pitchFamily="34" charset="0"/>
                                          </a:rPr>
                                          <m:t>𝑥</m:t>
                                        </m:r>
                                      </m:e>
                                    </m:d>
                                  </m:e>
                                </m:d>
                                <m:r>
                                  <a:rPr lang="es-MX" b="0" i="1" smtClean="0">
                                    <a:latin typeface="Cambria Math" panose="02040503050406030204" pitchFamily="18" charset="0"/>
                                    <a:ea typeface="Cambria Math" panose="02040503050406030204" pitchFamily="18" charset="0"/>
                                    <a:cs typeface="Arial" panose="020B0604020202020204" pitchFamily="34" charset="0"/>
                                  </a:rPr>
                                  <m:t> </m:t>
                                </m:r>
                                <m:r>
                                  <a:rPr lang="es-MX" b="0" i="1" smtClean="0">
                                    <a:latin typeface="Cambria Math" panose="02040503050406030204" pitchFamily="18" charset="0"/>
                                    <a:cs typeface="Arial" panose="020B0604020202020204" pitchFamily="34" charset="0"/>
                                  </a:rPr>
                                  <m:t>  </m:t>
                                </m:r>
                              </m:oMath>
                            </m:oMathPara>
                          </a14:m>
                          <a:endParaRPr lang="es-MX" sz="1800" b="0" kern="1200" dirty="0">
                            <a:solidFill>
                              <a:srgbClr val="000000"/>
                            </a:solidFill>
                            <a:latin typeface="Arial"/>
                            <a:ea typeface="Arial"/>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CO" sz="1800" kern="1200" dirty="0">
                            <a:solidFill>
                              <a:srgbClr val="000000"/>
                            </a:solidFill>
                            <a:latin typeface="Arial"/>
                            <a:ea typeface="Arial"/>
                            <a:cs typeface="Arial" panose="020B0604020202020204" pitchFamily="34" charset="0"/>
                          </a:endParaRPr>
                        </a:p>
                        <a:p>
                          <a:endParaRPr lang="es-CO"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714967203"/>
                      </a:ext>
                    </a:extLst>
                  </a:tr>
                </a:tbl>
              </a:graphicData>
            </a:graphic>
          </p:graphicFrame>
        </mc:Choice>
        <mc:Fallback xmlns="">
          <p:graphicFrame>
            <p:nvGraphicFramePr>
              <p:cNvPr id="7" name="Tabla 2">
                <a:extLst>
                  <a:ext uri="{FF2B5EF4-FFF2-40B4-BE49-F238E27FC236}">
                    <a16:creationId xmlns:a16="http://schemas.microsoft.com/office/drawing/2014/main" id="{2C8D1343-44DE-4DBF-AF43-18191B859832}"/>
                  </a:ext>
                </a:extLst>
              </p:cNvPr>
              <p:cNvGraphicFramePr>
                <a:graphicFrameLocks noGrp="1"/>
              </p:cNvGraphicFramePr>
              <p:nvPr>
                <p:extLst>
                  <p:ext uri="{D42A27DB-BD31-4B8C-83A1-F6EECF244321}">
                    <p14:modId xmlns:p14="http://schemas.microsoft.com/office/powerpoint/2010/main" val="4118325175"/>
                  </p:ext>
                </p:extLst>
              </p:nvPr>
            </p:nvGraphicFramePr>
            <p:xfrm>
              <a:off x="1378858" y="4415686"/>
              <a:ext cx="8128000" cy="1416558"/>
            </p:xfrm>
            <a:graphic>
              <a:graphicData uri="http://schemas.openxmlformats.org/drawingml/2006/table">
                <a:tbl>
                  <a:tblPr firstRow="1" bandRow="1">
                    <a:tableStyleId>{AD6A3598-7CB8-4345-8D95-17CE05F158A0}</a:tableStyleId>
                  </a:tblPr>
                  <a:tblGrid>
                    <a:gridCol w="4064000">
                      <a:extLst>
                        <a:ext uri="{9D8B030D-6E8A-4147-A177-3AD203B41FA5}">
                          <a16:colId xmlns:a16="http://schemas.microsoft.com/office/drawing/2014/main" val="3377211390"/>
                        </a:ext>
                      </a:extLst>
                    </a:gridCol>
                    <a:gridCol w="4064000">
                      <a:extLst>
                        <a:ext uri="{9D8B030D-6E8A-4147-A177-3AD203B41FA5}">
                          <a16:colId xmlns:a16="http://schemas.microsoft.com/office/drawing/2014/main" val="1918659203"/>
                        </a:ext>
                      </a:extLst>
                    </a:gridCol>
                  </a:tblGrid>
                  <a:tr h="396240">
                    <a:tc>
                      <a:txBody>
                        <a:bodyPr/>
                        <a:lstStyle/>
                        <a:p>
                          <a:pPr algn="ctr"/>
                          <a:r>
                            <a:rPr lang="es-CO" sz="2000" b="1" dirty="0">
                              <a:latin typeface="+mn-lt"/>
                              <a:cs typeface="Arial" panose="020B0604020202020204" pitchFamily="34" charset="0"/>
                            </a:rPr>
                            <a:t>Premisas</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2000" b="1" dirty="0">
                              <a:latin typeface="+mn-lt"/>
                              <a:cs typeface="Arial" panose="020B0604020202020204" pitchFamily="34" charset="0"/>
                            </a:rPr>
                            <a:t>Conclusión</a:t>
                          </a: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2695394"/>
                      </a:ext>
                    </a:extLst>
                  </a:tr>
                  <a:tr h="1020318">
                    <a:tc>
                      <a:txBody>
                        <a:bodyPr/>
                        <a:lstStyle/>
                        <a:p>
                          <a:endParaRPr lang="es-CO"/>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t="-41667" r="-100150" b="-2381"/>
                          </a:stretch>
                        </a:blipFill>
                      </a:tcPr>
                    </a:tc>
                    <a:tc>
                      <a:txBody>
                        <a:bodyPr/>
                        <a:lstStyle/>
                        <a:p>
                          <a:endParaRPr lang="es-CO"/>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4"/>
                          <a:stretch>
                            <a:fillRect l="-100000" t="-41667" r="-150" b="-2381"/>
                          </a:stretch>
                        </a:blipFill>
                      </a:tcPr>
                    </a:tc>
                    <a:extLst>
                      <a:ext uri="{0D108BD9-81ED-4DB2-BD59-A6C34878D82A}">
                        <a16:rowId xmlns:a16="http://schemas.microsoft.com/office/drawing/2014/main" val="714967203"/>
                      </a:ext>
                    </a:extLst>
                  </a:tr>
                </a:tbl>
              </a:graphicData>
            </a:graphic>
          </p:graphicFrame>
        </mc:Fallback>
      </mc:AlternateContent>
    </p:spTree>
    <p:extLst>
      <p:ext uri="{BB962C8B-B14F-4D97-AF65-F5344CB8AC3E}">
        <p14:creationId xmlns:p14="http://schemas.microsoft.com/office/powerpoint/2010/main" val="28609496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508000" y="96038"/>
            <a:ext cx="87126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Ejercicios de repaso</a:t>
            </a:r>
            <a:endParaRPr dirty="0">
              <a:latin typeface="+mj-lt"/>
            </a:endParaRPr>
          </a:p>
        </p:txBody>
      </p:sp>
      <mc:AlternateContent xmlns:mc="http://schemas.openxmlformats.org/markup-compatibility/2006" xmlns:a14="http://schemas.microsoft.com/office/drawing/2010/main">
        <mc:Choice Requires="a14">
          <p:sp>
            <p:nvSpPr>
              <p:cNvPr id="5" name="CuadroTexto 4">
                <a:extLst>
                  <a:ext uri="{FF2B5EF4-FFF2-40B4-BE49-F238E27FC236}">
                    <a16:creationId xmlns:a16="http://schemas.microsoft.com/office/drawing/2014/main" id="{D055498E-B21E-4DD3-9366-5DAC438D31FC}"/>
                  </a:ext>
                </a:extLst>
              </p:cNvPr>
              <p:cNvSpPr txBox="1"/>
              <p:nvPr/>
            </p:nvSpPr>
            <p:spPr>
              <a:xfrm>
                <a:off x="283988" y="1045538"/>
                <a:ext cx="11356469" cy="5016758"/>
              </a:xfrm>
              <a:prstGeom prst="rect">
                <a:avLst/>
              </a:prstGeom>
              <a:noFill/>
            </p:spPr>
            <p:txBody>
              <a:bodyPr wrap="square" rtlCol="0">
                <a:spAutoFit/>
              </a:bodyPr>
              <a:lstStyle/>
              <a:p>
                <a:pPr marL="457200" indent="-457200">
                  <a:buFont typeface="+mj-lt"/>
                  <a:buAutoNum type="arabicPeriod"/>
                </a:pPr>
                <a:r>
                  <a:rPr lang="es-MX" sz="2000" dirty="0">
                    <a:ea typeface="Roboto" panose="02000000000000000000" pitchFamily="2" charset="0"/>
                  </a:rPr>
                  <a:t>Considere el conjunto de premisas dado por:</a:t>
                </a:r>
              </a:p>
              <a:p>
                <a:pPr marL="914400" lvl="1" indent="-457200">
                  <a:buFont typeface="+mj-lt"/>
                  <a:buAutoNum type="alphaLcPeriod"/>
                </a:pPr>
                <a:r>
                  <a:rPr lang="es-MX" sz="2000" dirty="0">
                    <a:ea typeface="Roboto" panose="02000000000000000000" pitchFamily="2" charset="0"/>
                  </a:rPr>
                  <a:t>Todo numero real es positivo o es negativo o es cero.</a:t>
                </a:r>
              </a:p>
              <a:p>
                <a:pPr marL="914400" lvl="1" indent="-457200">
                  <a:buFont typeface="+mj-lt"/>
                  <a:buAutoNum type="alphaLcPeriod"/>
                </a:pPr>
                <a:r>
                  <a:rPr lang="es-MX" sz="2000" dirty="0">
                    <a:ea typeface="Roboto" panose="02000000000000000000" pitchFamily="2" charset="0"/>
                  </a:rPr>
                  <a:t>4 no es un numero negativo.</a:t>
                </a:r>
              </a:p>
              <a:p>
                <a:pPr marL="914400" lvl="1" indent="-457200">
                  <a:buFont typeface="+mj-lt"/>
                  <a:buAutoNum type="alphaLcPeriod"/>
                </a:pPr>
                <a:r>
                  <a:rPr lang="es-MX" sz="2000" dirty="0">
                    <a:ea typeface="Roboto" panose="02000000000000000000" pitchFamily="2" charset="0"/>
                  </a:rPr>
                  <a:t>4 no es cero</a:t>
                </a:r>
              </a:p>
              <a:p>
                <a:pPr lvl="1"/>
                <a:r>
                  <a:rPr lang="es-MX" sz="2000" dirty="0">
                    <a:ea typeface="Roboto" panose="02000000000000000000" pitchFamily="2" charset="0"/>
                  </a:rPr>
                  <a:t>Y la siguiente conclusión: “4 es un numero positivo”.</a:t>
                </a:r>
              </a:p>
              <a:p>
                <a:pPr marL="457200" indent="-457200">
                  <a:buFont typeface="+mj-lt"/>
                  <a:buAutoNum type="arabicPeriod"/>
                </a:pPr>
                <a:r>
                  <a:rPr lang="es-MX" sz="2000" dirty="0">
                    <a:ea typeface="Roboto" panose="02000000000000000000" pitchFamily="2" charset="0"/>
                  </a:rPr>
                  <a:t>El dominio de referencia es </a:t>
                </a:r>
                <a14:m>
                  <m:oMath xmlns:m="http://schemas.openxmlformats.org/officeDocument/2006/math">
                    <m:r>
                      <a:rPr lang="es-MX" sz="2000" i="1" smtClean="0">
                        <a:latin typeface="Cambria Math" panose="02040503050406030204" pitchFamily="18" charset="0"/>
                        <a:ea typeface="Cambria Math" panose="02040503050406030204" pitchFamily="18" charset="0"/>
                      </a:rPr>
                      <m:t>ℤ</m:t>
                    </m:r>
                  </m:oMath>
                </a14:m>
                <a:r>
                  <a:rPr lang="es-MX" sz="2000" dirty="0">
                    <a:ea typeface="Roboto" panose="02000000000000000000" pitchFamily="2" charset="0"/>
                  </a:rPr>
                  <a:t> y se definen las siguientes premisas:</a:t>
                </a:r>
              </a:p>
              <a:p>
                <a:pPr marL="914400" lvl="1" indent="-457200">
                  <a:buFont typeface="+mj-lt"/>
                  <a:buAutoNum type="alphaLcPeriod"/>
                </a:pPr>
                <a:r>
                  <a:rPr lang="es-MX" sz="2000" dirty="0">
                    <a:ea typeface="Roboto" panose="02000000000000000000" pitchFamily="2" charset="0"/>
                  </a:rPr>
                  <a:t>Para cada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si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es un numero par, entonces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+4</m:t>
                    </m:r>
                  </m:oMath>
                </a14:m>
                <a:r>
                  <a:rPr lang="es-MX" sz="2000" dirty="0">
                    <a:ea typeface="Roboto" panose="02000000000000000000" pitchFamily="2" charset="0"/>
                  </a:rPr>
                  <a:t> es un numero par.</a:t>
                </a:r>
              </a:p>
              <a:p>
                <a:pPr marL="914400" lvl="1" indent="-457200">
                  <a:buFont typeface="+mj-lt"/>
                  <a:buAutoNum type="alphaLcPeriod"/>
                </a:pPr>
                <a:r>
                  <a:rPr lang="es-MX" sz="2000" dirty="0">
                    <a:ea typeface="Roboto" panose="02000000000000000000" pitchFamily="2" charset="0"/>
                  </a:rPr>
                  <a:t>Para cada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si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es un numero par, entonces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no es un numero par.</a:t>
                </a:r>
              </a:p>
              <a:p>
                <a:pPr marL="914400" lvl="1" indent="-457200">
                  <a:buFont typeface="+mj-lt"/>
                  <a:buAutoNum type="alphaLcPeriod"/>
                </a:pPr>
                <a:r>
                  <a:rPr lang="es-MX" sz="2000" dirty="0">
                    <a:ea typeface="Roboto" panose="02000000000000000000" pitchFamily="2" charset="0"/>
                  </a:rPr>
                  <a:t>Dos es un numero par.</a:t>
                </a:r>
              </a:p>
              <a:p>
                <a:pPr lvl="1"/>
                <a:r>
                  <a:rPr lang="es-MX" sz="2000" dirty="0">
                    <a:ea typeface="Roboto" panose="02000000000000000000" pitchFamily="2" charset="0"/>
                  </a:rPr>
                  <a:t>La conclusión que se sigue es: “2+4 no es un numero impar”</a:t>
                </a:r>
              </a:p>
              <a:p>
                <a:pPr marL="457200" indent="-457200">
                  <a:buFont typeface="+mj-lt"/>
                  <a:buAutoNum type="arabicPeriod"/>
                </a:pPr>
                <a:r>
                  <a:rPr lang="es-MX" sz="2000" dirty="0">
                    <a:ea typeface="Roboto" panose="02000000000000000000" pitchFamily="2" charset="0"/>
                  </a:rPr>
                  <a:t>“Alguien en esta clase disfruta observar ballenas, toda persona que disfruta observar ballenas se preocupa por la contaminación del océano”.</a:t>
                </a:r>
              </a:p>
              <a:p>
                <a:pPr lvl="1"/>
                <a:r>
                  <a:rPr lang="es-MX" sz="2000" dirty="0">
                    <a:ea typeface="Roboto" panose="02000000000000000000" pitchFamily="2" charset="0"/>
                  </a:rPr>
                  <a:t>Por lo tanto, “hay una persona en esta clase que se preocupa por la contaminación del océano”</a:t>
                </a:r>
              </a:p>
              <a:p>
                <a:pPr marL="457200" indent="-457200">
                  <a:buFont typeface="+mj-lt"/>
                  <a:buAutoNum type="arabicPeriod"/>
                </a:pPr>
                <a:r>
                  <a:rPr lang="es-MX" sz="2000" dirty="0">
                    <a:ea typeface="Roboto" panose="02000000000000000000" pitchFamily="2" charset="0"/>
                  </a:rPr>
                  <a:t>“Toda persona en Nueva Jersey vive a menos de 50 millas del océano. Alguien en Nueva Jersey nunca ha visto el océano”.</a:t>
                </a:r>
              </a:p>
              <a:p>
                <a:pPr lvl="1"/>
                <a:r>
                  <a:rPr lang="es-MX" sz="2000" dirty="0">
                    <a:ea typeface="Roboto" panose="02000000000000000000" pitchFamily="2" charset="0"/>
                  </a:rPr>
                  <a:t>Por lo tanto, “Alguien que vive a menos de 50 millas del océano nunca ha visto el océano”.</a:t>
                </a:r>
              </a:p>
            </p:txBody>
          </p:sp>
        </mc:Choice>
        <mc:Fallback xmlns="">
          <p:sp>
            <p:nvSpPr>
              <p:cNvPr id="5" name="CuadroTexto 4">
                <a:extLst>
                  <a:ext uri="{FF2B5EF4-FFF2-40B4-BE49-F238E27FC236}">
                    <a16:creationId xmlns:a16="http://schemas.microsoft.com/office/drawing/2014/main" id="{D055498E-B21E-4DD3-9366-5DAC438D31FC}"/>
                  </a:ext>
                </a:extLst>
              </p:cNvPr>
              <p:cNvSpPr txBox="1">
                <a:spLocks noRot="1" noChangeAspect="1" noMove="1" noResize="1" noEditPoints="1" noAdjustHandles="1" noChangeArrowheads="1" noChangeShapeType="1" noTextEdit="1"/>
              </p:cNvSpPr>
              <p:nvPr/>
            </p:nvSpPr>
            <p:spPr>
              <a:xfrm>
                <a:off x="283988" y="1045538"/>
                <a:ext cx="11356469" cy="5016758"/>
              </a:xfrm>
              <a:prstGeom prst="rect">
                <a:avLst/>
              </a:prstGeom>
              <a:blipFill>
                <a:blip r:embed="rId3"/>
                <a:stretch>
                  <a:fillRect l="-590" t="-852" b="-1338"/>
                </a:stretch>
              </a:blipFill>
            </p:spPr>
            <p:txBody>
              <a:bodyPr/>
              <a:lstStyle/>
              <a:p>
                <a:r>
                  <a:rPr lang="es-CO">
                    <a:noFill/>
                  </a:rPr>
                  <a:t> </a:t>
                </a:r>
              </a:p>
            </p:txBody>
          </p:sp>
        </mc:Fallback>
      </mc:AlternateContent>
    </p:spTree>
    <p:extLst>
      <p:ext uri="{BB962C8B-B14F-4D97-AF65-F5344CB8AC3E}">
        <p14:creationId xmlns:p14="http://schemas.microsoft.com/office/powerpoint/2010/main" val="5399127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508000" y="96038"/>
            <a:ext cx="87126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Ejercicios de repaso</a:t>
            </a:r>
            <a:endParaRPr dirty="0">
              <a:latin typeface="+mj-lt"/>
            </a:endParaRPr>
          </a:p>
        </p:txBody>
      </p:sp>
      <p:sp>
        <p:nvSpPr>
          <p:cNvPr id="5" name="CuadroTexto 4">
            <a:extLst>
              <a:ext uri="{FF2B5EF4-FFF2-40B4-BE49-F238E27FC236}">
                <a16:creationId xmlns:a16="http://schemas.microsoft.com/office/drawing/2014/main" id="{D055498E-B21E-4DD3-9366-5DAC438D31FC}"/>
              </a:ext>
            </a:extLst>
          </p:cNvPr>
          <p:cNvSpPr txBox="1"/>
          <p:nvPr/>
        </p:nvSpPr>
        <p:spPr>
          <a:xfrm>
            <a:off x="195498" y="927551"/>
            <a:ext cx="11356469" cy="1631216"/>
          </a:xfrm>
          <a:prstGeom prst="rect">
            <a:avLst/>
          </a:prstGeom>
          <a:noFill/>
        </p:spPr>
        <p:txBody>
          <a:bodyPr wrap="square" rtlCol="0">
            <a:spAutoFit/>
          </a:bodyPr>
          <a:lstStyle/>
          <a:p>
            <a:r>
              <a:rPr lang="es-MX" sz="2000" dirty="0">
                <a:ea typeface="Roboto" panose="02000000000000000000" pitchFamily="2" charset="0"/>
              </a:rPr>
              <a:t>Considere el conjunto de premisas dado por:</a:t>
            </a:r>
          </a:p>
          <a:p>
            <a:pPr marL="457200" indent="-457200">
              <a:buFont typeface="+mj-lt"/>
              <a:buAutoNum type="alphaLcPeriod"/>
            </a:pPr>
            <a:r>
              <a:rPr lang="es-MX" sz="2000" dirty="0">
                <a:ea typeface="Roboto" panose="02000000000000000000" pitchFamily="2" charset="0"/>
              </a:rPr>
              <a:t>Todo numero real es positivo o es negativo o es cero.</a:t>
            </a:r>
          </a:p>
          <a:p>
            <a:pPr marL="457200" indent="-457200">
              <a:buFont typeface="+mj-lt"/>
              <a:buAutoNum type="alphaLcPeriod"/>
            </a:pPr>
            <a:r>
              <a:rPr lang="es-MX" sz="2000" dirty="0">
                <a:ea typeface="Roboto" panose="02000000000000000000" pitchFamily="2" charset="0"/>
              </a:rPr>
              <a:t>4 no es un numero negativo.</a:t>
            </a:r>
          </a:p>
          <a:p>
            <a:pPr marL="457200" indent="-457200">
              <a:buFont typeface="+mj-lt"/>
              <a:buAutoNum type="alphaLcPeriod"/>
            </a:pPr>
            <a:r>
              <a:rPr lang="es-MX" sz="2000" dirty="0">
                <a:ea typeface="Roboto" panose="02000000000000000000" pitchFamily="2" charset="0"/>
              </a:rPr>
              <a:t>4 no es cero</a:t>
            </a:r>
          </a:p>
          <a:p>
            <a:r>
              <a:rPr lang="es-MX" sz="2000" dirty="0">
                <a:ea typeface="Roboto" panose="02000000000000000000" pitchFamily="2" charset="0"/>
              </a:rPr>
              <a:t>Y la siguiente conclusión: “4 es un numero positivo”.</a:t>
            </a:r>
          </a:p>
        </p:txBody>
      </p:sp>
      <p:graphicFrame>
        <p:nvGraphicFramePr>
          <p:cNvPr id="4" name="Tabla 2">
            <a:extLst>
              <a:ext uri="{FF2B5EF4-FFF2-40B4-BE49-F238E27FC236}">
                <a16:creationId xmlns:a16="http://schemas.microsoft.com/office/drawing/2014/main" id="{18A08823-9AB7-4B08-AE1A-592A21AA10AD}"/>
              </a:ext>
            </a:extLst>
          </p:cNvPr>
          <p:cNvGraphicFramePr>
            <a:graphicFrameLocks noGrp="1"/>
          </p:cNvGraphicFramePr>
          <p:nvPr>
            <p:extLst>
              <p:ext uri="{D42A27DB-BD31-4B8C-83A1-F6EECF244321}">
                <p14:modId xmlns:p14="http://schemas.microsoft.com/office/powerpoint/2010/main" val="598872061"/>
              </p:ext>
            </p:extLst>
          </p:nvPr>
        </p:nvGraphicFramePr>
        <p:xfrm>
          <a:off x="5560025" y="2610308"/>
          <a:ext cx="5991942" cy="3733800"/>
        </p:xfrm>
        <a:graphic>
          <a:graphicData uri="http://schemas.openxmlformats.org/drawingml/2006/table">
            <a:tbl>
              <a:tblPr firstRow="1" bandRow="1">
                <a:tableStyleId>{AD6A3598-7CB8-4345-8D95-17CE05F158A0}</a:tableStyleId>
              </a:tblPr>
              <a:tblGrid>
                <a:gridCol w="371928">
                  <a:extLst>
                    <a:ext uri="{9D8B030D-6E8A-4147-A177-3AD203B41FA5}">
                      <a16:colId xmlns:a16="http://schemas.microsoft.com/office/drawing/2014/main" val="1610952478"/>
                    </a:ext>
                  </a:extLst>
                </a:gridCol>
                <a:gridCol w="134543">
                  <a:extLst>
                    <a:ext uri="{9D8B030D-6E8A-4147-A177-3AD203B41FA5}">
                      <a16:colId xmlns:a16="http://schemas.microsoft.com/office/drawing/2014/main" val="1919891108"/>
                    </a:ext>
                  </a:extLst>
                </a:gridCol>
                <a:gridCol w="2185929">
                  <a:extLst>
                    <a:ext uri="{9D8B030D-6E8A-4147-A177-3AD203B41FA5}">
                      <a16:colId xmlns:a16="http://schemas.microsoft.com/office/drawing/2014/main" val="2942974496"/>
                    </a:ext>
                  </a:extLst>
                </a:gridCol>
                <a:gridCol w="3299542">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Afirmación</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gridSpan="2">
                  <a:txBody>
                    <a:bodyPr/>
                    <a:lstStyle/>
                    <a:p>
                      <a:pPr/>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5827864"/>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44816522"/>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8459320"/>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0592092"/>
                  </a:ext>
                </a:extLst>
              </a:tr>
              <a:tr h="370840">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6840162"/>
                  </a:ext>
                </a:extLst>
              </a:tr>
            </a:tbl>
          </a:graphicData>
        </a:graphic>
      </p:graphicFrame>
    </p:spTree>
    <p:extLst>
      <p:ext uri="{BB962C8B-B14F-4D97-AF65-F5344CB8AC3E}">
        <p14:creationId xmlns:p14="http://schemas.microsoft.com/office/powerpoint/2010/main" val="15275006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508000" y="96038"/>
            <a:ext cx="87126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Ejercicios de repaso</a:t>
            </a:r>
            <a:endParaRPr dirty="0">
              <a:latin typeface="+mj-lt"/>
            </a:endParaRPr>
          </a:p>
        </p:txBody>
      </p:sp>
      <mc:AlternateContent xmlns:mc="http://schemas.openxmlformats.org/markup-compatibility/2006">
        <mc:Choice xmlns:a14="http://schemas.microsoft.com/office/drawing/2010/main" Requires="a14">
          <p:sp>
            <p:nvSpPr>
              <p:cNvPr id="5" name="CuadroTexto 4">
                <a:extLst>
                  <a:ext uri="{FF2B5EF4-FFF2-40B4-BE49-F238E27FC236}">
                    <a16:creationId xmlns:a16="http://schemas.microsoft.com/office/drawing/2014/main" id="{D055498E-B21E-4DD3-9366-5DAC438D31FC}"/>
                  </a:ext>
                </a:extLst>
              </p:cNvPr>
              <p:cNvSpPr txBox="1"/>
              <p:nvPr/>
            </p:nvSpPr>
            <p:spPr>
              <a:xfrm>
                <a:off x="283988" y="1045538"/>
                <a:ext cx="11356469" cy="1631216"/>
              </a:xfrm>
              <a:prstGeom prst="rect">
                <a:avLst/>
              </a:prstGeom>
              <a:noFill/>
            </p:spPr>
            <p:txBody>
              <a:bodyPr wrap="square" rtlCol="0">
                <a:spAutoFit/>
              </a:bodyPr>
              <a:lstStyle/>
              <a:p>
                <a:r>
                  <a:rPr lang="es-MX" sz="2000" dirty="0">
                    <a:ea typeface="Roboto" panose="02000000000000000000" pitchFamily="2" charset="0"/>
                  </a:rPr>
                  <a:t>El dominio de referencia es </a:t>
                </a:r>
                <a14:m>
                  <m:oMath xmlns:m="http://schemas.openxmlformats.org/officeDocument/2006/math">
                    <m:r>
                      <a:rPr lang="es-MX" sz="2000" i="1" smtClean="0">
                        <a:latin typeface="Cambria Math" panose="02040503050406030204" pitchFamily="18" charset="0"/>
                        <a:ea typeface="Cambria Math" panose="02040503050406030204" pitchFamily="18" charset="0"/>
                      </a:rPr>
                      <m:t>ℤ</m:t>
                    </m:r>
                  </m:oMath>
                </a14:m>
                <a:r>
                  <a:rPr lang="es-MX" sz="2000" dirty="0">
                    <a:ea typeface="Roboto" panose="02000000000000000000" pitchFamily="2" charset="0"/>
                  </a:rPr>
                  <a:t> y se definen las siguientes premisas:</a:t>
                </a:r>
              </a:p>
              <a:p>
                <a:pPr marL="457200" indent="-457200">
                  <a:buFont typeface="+mj-lt"/>
                  <a:buAutoNum type="alphaLcPeriod"/>
                </a:pPr>
                <a:r>
                  <a:rPr lang="es-MX" sz="2000" dirty="0">
                    <a:ea typeface="Roboto" panose="02000000000000000000" pitchFamily="2" charset="0"/>
                  </a:rPr>
                  <a:t>Para cada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si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es un numero par, entonces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r>
                      <a:rPr lang="es-MX" sz="2000" b="0" i="1" smtClean="0">
                        <a:latin typeface="Cambria Math" panose="02040503050406030204" pitchFamily="18" charset="0"/>
                        <a:ea typeface="Roboto" panose="02000000000000000000" pitchFamily="2" charset="0"/>
                      </a:rPr>
                      <m:t>+4</m:t>
                    </m:r>
                  </m:oMath>
                </a14:m>
                <a:r>
                  <a:rPr lang="es-MX" sz="2000" dirty="0">
                    <a:ea typeface="Roboto" panose="02000000000000000000" pitchFamily="2" charset="0"/>
                  </a:rPr>
                  <a:t> es un numero par.</a:t>
                </a:r>
              </a:p>
              <a:p>
                <a:pPr marL="457200" indent="-457200">
                  <a:buFont typeface="+mj-lt"/>
                  <a:buAutoNum type="alphaLcPeriod"/>
                </a:pPr>
                <a:r>
                  <a:rPr lang="es-MX" sz="2000" dirty="0">
                    <a:ea typeface="Roboto" panose="02000000000000000000" pitchFamily="2" charset="0"/>
                  </a:rPr>
                  <a:t>Para cada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si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es un numero par, entonces </a:t>
                </a:r>
                <a14:m>
                  <m:oMath xmlns:m="http://schemas.openxmlformats.org/officeDocument/2006/math">
                    <m:r>
                      <a:rPr lang="es-MX" sz="2000" b="0" i="1" smtClean="0">
                        <a:latin typeface="Cambria Math" panose="02040503050406030204" pitchFamily="18" charset="0"/>
                        <a:ea typeface="Roboto" panose="02000000000000000000" pitchFamily="2" charset="0"/>
                      </a:rPr>
                      <m:t>𝑥</m:t>
                    </m:r>
                  </m:oMath>
                </a14:m>
                <a:r>
                  <a:rPr lang="es-MX" sz="2000" dirty="0">
                    <a:ea typeface="Roboto" panose="02000000000000000000" pitchFamily="2" charset="0"/>
                  </a:rPr>
                  <a:t> no es un numero par.</a:t>
                </a:r>
              </a:p>
              <a:p>
                <a:pPr marL="457200" indent="-457200">
                  <a:buFont typeface="+mj-lt"/>
                  <a:buAutoNum type="alphaLcPeriod"/>
                </a:pPr>
                <a:r>
                  <a:rPr lang="es-MX" sz="2000" dirty="0">
                    <a:ea typeface="Roboto" panose="02000000000000000000" pitchFamily="2" charset="0"/>
                  </a:rPr>
                  <a:t>Dos es un numero par.</a:t>
                </a:r>
              </a:p>
              <a:p>
                <a:r>
                  <a:rPr lang="es-MX" sz="2000" dirty="0">
                    <a:ea typeface="Roboto" panose="02000000000000000000" pitchFamily="2" charset="0"/>
                  </a:rPr>
                  <a:t>La conclusión que se sigue es: “2+4 no es un numero impar”</a:t>
                </a:r>
              </a:p>
            </p:txBody>
          </p:sp>
        </mc:Choice>
        <mc:Fallback>
          <p:sp>
            <p:nvSpPr>
              <p:cNvPr id="5" name="CuadroTexto 4">
                <a:extLst>
                  <a:ext uri="{FF2B5EF4-FFF2-40B4-BE49-F238E27FC236}">
                    <a16:creationId xmlns:a16="http://schemas.microsoft.com/office/drawing/2014/main" id="{D055498E-B21E-4DD3-9366-5DAC438D31FC}"/>
                  </a:ext>
                </a:extLst>
              </p:cNvPr>
              <p:cNvSpPr txBox="1">
                <a:spLocks noRot="1" noChangeAspect="1" noMove="1" noResize="1" noEditPoints="1" noAdjustHandles="1" noChangeArrowheads="1" noChangeShapeType="1" noTextEdit="1"/>
              </p:cNvSpPr>
              <p:nvPr/>
            </p:nvSpPr>
            <p:spPr>
              <a:xfrm>
                <a:off x="283988" y="1045538"/>
                <a:ext cx="11356469" cy="1631216"/>
              </a:xfrm>
              <a:prstGeom prst="rect">
                <a:avLst/>
              </a:prstGeom>
              <a:blipFill>
                <a:blip r:embed="rId3"/>
                <a:stretch>
                  <a:fillRect l="-590" t="-2247" b="-5993"/>
                </a:stretch>
              </a:blipFill>
            </p:spPr>
            <p:txBody>
              <a:bodyPr/>
              <a:lstStyle/>
              <a:p>
                <a:r>
                  <a:rPr lang="es-CO">
                    <a:noFill/>
                  </a:rPr>
                  <a:t> </a:t>
                </a:r>
              </a:p>
            </p:txBody>
          </p:sp>
        </mc:Fallback>
      </mc:AlternateContent>
      <p:graphicFrame>
        <p:nvGraphicFramePr>
          <p:cNvPr id="4" name="Tabla 2">
            <a:extLst>
              <a:ext uri="{FF2B5EF4-FFF2-40B4-BE49-F238E27FC236}">
                <a16:creationId xmlns:a16="http://schemas.microsoft.com/office/drawing/2014/main" id="{4C0C11C9-A862-4C0E-85C4-9433C78F10CD}"/>
              </a:ext>
            </a:extLst>
          </p:cNvPr>
          <p:cNvGraphicFramePr>
            <a:graphicFrameLocks noGrp="1"/>
          </p:cNvGraphicFramePr>
          <p:nvPr>
            <p:extLst>
              <p:ext uri="{D42A27DB-BD31-4B8C-83A1-F6EECF244321}">
                <p14:modId xmlns:p14="http://schemas.microsoft.com/office/powerpoint/2010/main" val="961572638"/>
              </p:ext>
            </p:extLst>
          </p:nvPr>
        </p:nvGraphicFramePr>
        <p:xfrm>
          <a:off x="5648515" y="2757792"/>
          <a:ext cx="5991942" cy="3733800"/>
        </p:xfrm>
        <a:graphic>
          <a:graphicData uri="http://schemas.openxmlformats.org/drawingml/2006/table">
            <a:tbl>
              <a:tblPr firstRow="1" bandRow="1">
                <a:tableStyleId>{AD6A3598-7CB8-4345-8D95-17CE05F158A0}</a:tableStyleId>
              </a:tblPr>
              <a:tblGrid>
                <a:gridCol w="371928">
                  <a:extLst>
                    <a:ext uri="{9D8B030D-6E8A-4147-A177-3AD203B41FA5}">
                      <a16:colId xmlns:a16="http://schemas.microsoft.com/office/drawing/2014/main" val="1610952478"/>
                    </a:ext>
                  </a:extLst>
                </a:gridCol>
                <a:gridCol w="134543">
                  <a:extLst>
                    <a:ext uri="{9D8B030D-6E8A-4147-A177-3AD203B41FA5}">
                      <a16:colId xmlns:a16="http://schemas.microsoft.com/office/drawing/2014/main" val="1919891108"/>
                    </a:ext>
                  </a:extLst>
                </a:gridCol>
                <a:gridCol w="2185929">
                  <a:extLst>
                    <a:ext uri="{9D8B030D-6E8A-4147-A177-3AD203B41FA5}">
                      <a16:colId xmlns:a16="http://schemas.microsoft.com/office/drawing/2014/main" val="2942974496"/>
                    </a:ext>
                  </a:extLst>
                </a:gridCol>
                <a:gridCol w="3299542">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Afirmación</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gridSpan="2">
                  <a:txBody>
                    <a:bodyPr/>
                    <a:lstStyle/>
                    <a:p>
                      <a:pPr/>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5827864"/>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44816522"/>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8459320"/>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0592092"/>
                  </a:ext>
                </a:extLst>
              </a:tr>
              <a:tr h="370840">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6840162"/>
                  </a:ext>
                </a:extLst>
              </a:tr>
            </a:tbl>
          </a:graphicData>
        </a:graphic>
      </p:graphicFrame>
    </p:spTree>
    <p:extLst>
      <p:ext uri="{BB962C8B-B14F-4D97-AF65-F5344CB8AC3E}">
        <p14:creationId xmlns:p14="http://schemas.microsoft.com/office/powerpoint/2010/main" val="290891188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508000" y="96038"/>
            <a:ext cx="87126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Ejercicios de repaso</a:t>
            </a:r>
            <a:endParaRPr dirty="0">
              <a:latin typeface="+mj-lt"/>
            </a:endParaRPr>
          </a:p>
        </p:txBody>
      </p:sp>
      <p:sp>
        <p:nvSpPr>
          <p:cNvPr id="5" name="CuadroTexto 4">
            <a:extLst>
              <a:ext uri="{FF2B5EF4-FFF2-40B4-BE49-F238E27FC236}">
                <a16:creationId xmlns:a16="http://schemas.microsoft.com/office/drawing/2014/main" id="{D055498E-B21E-4DD3-9366-5DAC438D31FC}"/>
              </a:ext>
            </a:extLst>
          </p:cNvPr>
          <p:cNvSpPr txBox="1"/>
          <p:nvPr/>
        </p:nvSpPr>
        <p:spPr>
          <a:xfrm>
            <a:off x="283988" y="1045538"/>
            <a:ext cx="11356469" cy="1323439"/>
          </a:xfrm>
          <a:prstGeom prst="rect">
            <a:avLst/>
          </a:prstGeom>
          <a:noFill/>
        </p:spPr>
        <p:txBody>
          <a:bodyPr wrap="square" rtlCol="0">
            <a:spAutoFit/>
          </a:bodyPr>
          <a:lstStyle/>
          <a:p>
            <a:r>
              <a:rPr lang="es-MX" sz="2000" dirty="0">
                <a:ea typeface="Roboto" panose="02000000000000000000" pitchFamily="2" charset="0"/>
              </a:rPr>
              <a:t>“Alguien en esta clase disfruta observar ballenas, toda persona que disfruta observar ballenas se preocupa por la contaminación del océano”.</a:t>
            </a:r>
          </a:p>
          <a:p>
            <a:endParaRPr lang="es-MX" sz="2000" dirty="0">
              <a:ea typeface="Roboto" panose="02000000000000000000" pitchFamily="2" charset="0"/>
            </a:endParaRPr>
          </a:p>
          <a:p>
            <a:r>
              <a:rPr lang="es-MX" sz="2000" dirty="0">
                <a:ea typeface="Roboto" panose="02000000000000000000" pitchFamily="2" charset="0"/>
              </a:rPr>
              <a:t>Por lo tanto, “hay una persona en esta clase que se preocupa por la contaminación del océano”</a:t>
            </a:r>
          </a:p>
        </p:txBody>
      </p:sp>
      <p:graphicFrame>
        <p:nvGraphicFramePr>
          <p:cNvPr id="4" name="Tabla 2">
            <a:extLst>
              <a:ext uri="{FF2B5EF4-FFF2-40B4-BE49-F238E27FC236}">
                <a16:creationId xmlns:a16="http://schemas.microsoft.com/office/drawing/2014/main" id="{ED5E7AE4-82E1-4357-85A6-001FFB01649C}"/>
              </a:ext>
            </a:extLst>
          </p:cNvPr>
          <p:cNvGraphicFramePr>
            <a:graphicFrameLocks noGrp="1"/>
          </p:cNvGraphicFramePr>
          <p:nvPr>
            <p:extLst>
              <p:ext uri="{D42A27DB-BD31-4B8C-83A1-F6EECF244321}">
                <p14:modId xmlns:p14="http://schemas.microsoft.com/office/powerpoint/2010/main" val="3618325783"/>
              </p:ext>
            </p:extLst>
          </p:nvPr>
        </p:nvGraphicFramePr>
        <p:xfrm>
          <a:off x="5560025" y="2610308"/>
          <a:ext cx="5991942" cy="3733800"/>
        </p:xfrm>
        <a:graphic>
          <a:graphicData uri="http://schemas.openxmlformats.org/drawingml/2006/table">
            <a:tbl>
              <a:tblPr firstRow="1" bandRow="1">
                <a:tableStyleId>{AD6A3598-7CB8-4345-8D95-17CE05F158A0}</a:tableStyleId>
              </a:tblPr>
              <a:tblGrid>
                <a:gridCol w="371928">
                  <a:extLst>
                    <a:ext uri="{9D8B030D-6E8A-4147-A177-3AD203B41FA5}">
                      <a16:colId xmlns:a16="http://schemas.microsoft.com/office/drawing/2014/main" val="1610952478"/>
                    </a:ext>
                  </a:extLst>
                </a:gridCol>
                <a:gridCol w="134543">
                  <a:extLst>
                    <a:ext uri="{9D8B030D-6E8A-4147-A177-3AD203B41FA5}">
                      <a16:colId xmlns:a16="http://schemas.microsoft.com/office/drawing/2014/main" val="1919891108"/>
                    </a:ext>
                  </a:extLst>
                </a:gridCol>
                <a:gridCol w="2185929">
                  <a:extLst>
                    <a:ext uri="{9D8B030D-6E8A-4147-A177-3AD203B41FA5}">
                      <a16:colId xmlns:a16="http://schemas.microsoft.com/office/drawing/2014/main" val="2942974496"/>
                    </a:ext>
                  </a:extLst>
                </a:gridCol>
                <a:gridCol w="3299542">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Afirmación</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gridSpan="2">
                  <a:txBody>
                    <a:bodyPr/>
                    <a:lstStyle/>
                    <a:p>
                      <a:pPr/>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5827864"/>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44816522"/>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8459320"/>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0592092"/>
                  </a:ext>
                </a:extLst>
              </a:tr>
              <a:tr h="370840">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6840162"/>
                  </a:ext>
                </a:extLst>
              </a:tr>
            </a:tbl>
          </a:graphicData>
        </a:graphic>
      </p:graphicFrame>
    </p:spTree>
    <p:extLst>
      <p:ext uri="{BB962C8B-B14F-4D97-AF65-F5344CB8AC3E}">
        <p14:creationId xmlns:p14="http://schemas.microsoft.com/office/powerpoint/2010/main" val="17291053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508000" y="96038"/>
            <a:ext cx="87126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Ejercicios de repaso</a:t>
            </a:r>
            <a:endParaRPr dirty="0">
              <a:latin typeface="+mj-lt"/>
            </a:endParaRPr>
          </a:p>
        </p:txBody>
      </p:sp>
      <p:sp>
        <p:nvSpPr>
          <p:cNvPr id="5" name="CuadroTexto 4">
            <a:extLst>
              <a:ext uri="{FF2B5EF4-FFF2-40B4-BE49-F238E27FC236}">
                <a16:creationId xmlns:a16="http://schemas.microsoft.com/office/drawing/2014/main" id="{D055498E-B21E-4DD3-9366-5DAC438D31FC}"/>
              </a:ext>
            </a:extLst>
          </p:cNvPr>
          <p:cNvSpPr txBox="1"/>
          <p:nvPr/>
        </p:nvSpPr>
        <p:spPr>
          <a:xfrm>
            <a:off x="283988" y="1045538"/>
            <a:ext cx="11356469" cy="1323439"/>
          </a:xfrm>
          <a:prstGeom prst="rect">
            <a:avLst/>
          </a:prstGeom>
          <a:noFill/>
        </p:spPr>
        <p:txBody>
          <a:bodyPr wrap="square" rtlCol="0">
            <a:spAutoFit/>
          </a:bodyPr>
          <a:lstStyle/>
          <a:p>
            <a:r>
              <a:rPr lang="es-MX" sz="2000" dirty="0">
                <a:ea typeface="Roboto" panose="02000000000000000000" pitchFamily="2" charset="0"/>
              </a:rPr>
              <a:t>“Toda persona en Nueva Jersey vive a menos de 50 millas del océano. Alguien en Nueva Jersey nunca ha visto el océano”.</a:t>
            </a:r>
          </a:p>
          <a:p>
            <a:endParaRPr lang="es-MX" sz="2000" dirty="0">
              <a:ea typeface="Roboto" panose="02000000000000000000" pitchFamily="2" charset="0"/>
            </a:endParaRPr>
          </a:p>
          <a:p>
            <a:r>
              <a:rPr lang="es-MX" sz="2000" dirty="0">
                <a:ea typeface="Roboto" panose="02000000000000000000" pitchFamily="2" charset="0"/>
              </a:rPr>
              <a:t>Por lo tanto, “Alguien que vive a menos de 50 millas del océano nunca ha visto el océano”.</a:t>
            </a:r>
          </a:p>
        </p:txBody>
      </p:sp>
      <p:graphicFrame>
        <p:nvGraphicFramePr>
          <p:cNvPr id="4" name="Tabla 2">
            <a:extLst>
              <a:ext uri="{FF2B5EF4-FFF2-40B4-BE49-F238E27FC236}">
                <a16:creationId xmlns:a16="http://schemas.microsoft.com/office/drawing/2014/main" id="{EEA5DC78-1CB3-4557-94AD-E7442BB94FC5}"/>
              </a:ext>
            </a:extLst>
          </p:cNvPr>
          <p:cNvGraphicFramePr>
            <a:graphicFrameLocks noGrp="1"/>
          </p:cNvGraphicFramePr>
          <p:nvPr>
            <p:extLst>
              <p:ext uri="{D42A27DB-BD31-4B8C-83A1-F6EECF244321}">
                <p14:modId xmlns:p14="http://schemas.microsoft.com/office/powerpoint/2010/main" val="3618325783"/>
              </p:ext>
            </p:extLst>
          </p:nvPr>
        </p:nvGraphicFramePr>
        <p:xfrm>
          <a:off x="5560025" y="2610308"/>
          <a:ext cx="5991942" cy="3733800"/>
        </p:xfrm>
        <a:graphic>
          <a:graphicData uri="http://schemas.openxmlformats.org/drawingml/2006/table">
            <a:tbl>
              <a:tblPr firstRow="1" bandRow="1">
                <a:tableStyleId>{AD6A3598-7CB8-4345-8D95-17CE05F158A0}</a:tableStyleId>
              </a:tblPr>
              <a:tblGrid>
                <a:gridCol w="371928">
                  <a:extLst>
                    <a:ext uri="{9D8B030D-6E8A-4147-A177-3AD203B41FA5}">
                      <a16:colId xmlns:a16="http://schemas.microsoft.com/office/drawing/2014/main" val="1610952478"/>
                    </a:ext>
                  </a:extLst>
                </a:gridCol>
                <a:gridCol w="134543">
                  <a:extLst>
                    <a:ext uri="{9D8B030D-6E8A-4147-A177-3AD203B41FA5}">
                      <a16:colId xmlns:a16="http://schemas.microsoft.com/office/drawing/2014/main" val="1919891108"/>
                    </a:ext>
                  </a:extLst>
                </a:gridCol>
                <a:gridCol w="2185929">
                  <a:extLst>
                    <a:ext uri="{9D8B030D-6E8A-4147-A177-3AD203B41FA5}">
                      <a16:colId xmlns:a16="http://schemas.microsoft.com/office/drawing/2014/main" val="2942974496"/>
                    </a:ext>
                  </a:extLst>
                </a:gridCol>
                <a:gridCol w="3299542">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Afirmación</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gridSpan="2">
                  <a:txBody>
                    <a:bodyPr/>
                    <a:lstStyle/>
                    <a:p>
                      <a:pPr/>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5827864"/>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44816522"/>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8459320"/>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0592092"/>
                  </a:ext>
                </a:extLst>
              </a:tr>
              <a:tr h="370840">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6840162"/>
                  </a:ext>
                </a:extLst>
              </a:tr>
            </a:tbl>
          </a:graphicData>
        </a:graphic>
      </p:graphicFrame>
    </p:spTree>
    <p:extLst>
      <p:ext uri="{BB962C8B-B14F-4D97-AF65-F5344CB8AC3E}">
        <p14:creationId xmlns:p14="http://schemas.microsoft.com/office/powerpoint/2010/main" val="38456986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508000" y="96038"/>
            <a:ext cx="87126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Ejercicios de repaso</a:t>
            </a:r>
            <a:endParaRPr dirty="0">
              <a:latin typeface="+mj-lt"/>
            </a:endParaRPr>
          </a:p>
        </p:txBody>
      </p:sp>
      <p:sp>
        <p:nvSpPr>
          <p:cNvPr id="4" name="CuadroTexto 3">
            <a:extLst>
              <a:ext uri="{FF2B5EF4-FFF2-40B4-BE49-F238E27FC236}">
                <a16:creationId xmlns:a16="http://schemas.microsoft.com/office/drawing/2014/main" id="{AF909063-CAA1-41D3-A0B2-2A2D736D4430}"/>
              </a:ext>
            </a:extLst>
          </p:cNvPr>
          <p:cNvSpPr txBox="1"/>
          <p:nvPr/>
        </p:nvSpPr>
        <p:spPr>
          <a:xfrm>
            <a:off x="283988" y="1045538"/>
            <a:ext cx="4582980" cy="2554545"/>
          </a:xfrm>
          <a:prstGeom prst="rect">
            <a:avLst/>
          </a:prstGeom>
          <a:noFill/>
        </p:spPr>
        <p:txBody>
          <a:bodyPr wrap="square" rtlCol="0">
            <a:spAutoFit/>
          </a:bodyPr>
          <a:lstStyle/>
          <a:p>
            <a:pPr marL="457200" indent="-457200">
              <a:buFont typeface="+mj-lt"/>
              <a:buAutoNum type="arabicPeriod" startAt="5"/>
            </a:pPr>
            <a:r>
              <a:rPr lang="es-MX" sz="2000" dirty="0">
                <a:ea typeface="Roboto" panose="02000000000000000000" pitchFamily="2" charset="0"/>
              </a:rPr>
              <a:t>Deduzca los teoremas con base en el sistema de lógica cuantificacional.</a:t>
            </a: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a:p>
            <a:pPr marL="457200" indent="-457200">
              <a:buFont typeface="+mj-lt"/>
              <a:buAutoNum type="arabicPeriod" startAt="5"/>
            </a:pPr>
            <a:endParaRPr lang="es-MX" sz="2000" dirty="0">
              <a:ea typeface="Roboto" panose="02000000000000000000" pitchFamily="2" charset="0"/>
            </a:endParaRPr>
          </a:p>
        </p:txBody>
      </p:sp>
      <mc:AlternateContent xmlns:mc="http://schemas.openxmlformats.org/markup-compatibility/2006">
        <mc:Choice xmlns:a14="http://schemas.microsoft.com/office/drawing/2010/main" Requires="a14">
          <p:graphicFrame>
            <p:nvGraphicFramePr>
              <p:cNvPr id="6" name="Tabla 2">
                <a:extLst>
                  <a:ext uri="{FF2B5EF4-FFF2-40B4-BE49-F238E27FC236}">
                    <a16:creationId xmlns:a16="http://schemas.microsoft.com/office/drawing/2014/main" id="{18B2A7AE-0C8B-4674-A42D-54AA8FC0005B}"/>
                  </a:ext>
                </a:extLst>
              </p:cNvPr>
              <p:cNvGraphicFramePr>
                <a:graphicFrameLocks noGrp="1"/>
              </p:cNvGraphicFramePr>
              <p:nvPr>
                <p:extLst>
                  <p:ext uri="{D42A27DB-BD31-4B8C-83A1-F6EECF244321}">
                    <p14:modId xmlns:p14="http://schemas.microsoft.com/office/powerpoint/2010/main" val="2991961625"/>
                  </p:ext>
                </p:extLst>
              </p:nvPr>
            </p:nvGraphicFramePr>
            <p:xfrm>
              <a:off x="5320071" y="1045538"/>
              <a:ext cx="6388276" cy="1500505"/>
            </p:xfrm>
            <a:graphic>
              <a:graphicData uri="http://schemas.openxmlformats.org/drawingml/2006/table">
                <a:tbl>
                  <a:tblPr firstRow="1" bandRow="1">
                    <a:tableStyleId>{AD6A3598-7CB8-4345-8D95-17CE05F158A0}</a:tableStyleId>
                  </a:tblPr>
                  <a:tblGrid>
                    <a:gridCol w="3194138">
                      <a:extLst>
                        <a:ext uri="{9D8B030D-6E8A-4147-A177-3AD203B41FA5}">
                          <a16:colId xmlns:a16="http://schemas.microsoft.com/office/drawing/2014/main" val="3377211390"/>
                        </a:ext>
                      </a:extLst>
                    </a:gridCol>
                    <a:gridCol w="3194138">
                      <a:extLst>
                        <a:ext uri="{9D8B030D-6E8A-4147-A177-3AD203B41FA5}">
                          <a16:colId xmlns:a16="http://schemas.microsoft.com/office/drawing/2014/main" val="1918659203"/>
                        </a:ext>
                      </a:extLst>
                    </a:gridCol>
                  </a:tblGrid>
                  <a:tr h="370840">
                    <a:tc>
                      <a:txBody>
                        <a:bodyPr/>
                        <a:lstStyle/>
                        <a:p>
                          <a:pPr algn="ctr"/>
                          <a:r>
                            <a:rPr lang="es-CO" sz="1800" b="1" dirty="0">
                              <a:latin typeface="+mn-lt"/>
                              <a:cs typeface="Arial" panose="020B0604020202020204" pitchFamily="34" charset="0"/>
                            </a:rPr>
                            <a:t>Premisas</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800" b="1" dirty="0">
                              <a:latin typeface="+mn-lt"/>
                              <a:cs typeface="Arial" panose="020B0604020202020204" pitchFamily="34" charset="0"/>
                            </a:rPr>
                            <a:t>Conclusión</a:t>
                          </a: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2695394"/>
                      </a:ext>
                    </a:extLst>
                  </a:tr>
                  <a:tr h="370840">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cs typeface="Arial" panose="020B0604020202020204" pitchFamily="34" charset="0"/>
                                  </a:rPr>
                                  <m:t>∀</m:t>
                                </m:r>
                                <m:r>
                                  <a:rPr lang="es-MX" sz="1600" b="0" i="1" smtClean="0">
                                    <a:latin typeface="Cambria Math" panose="02040503050406030204" pitchFamily="18" charset="0"/>
                                    <a:cs typeface="Arial" panose="020B0604020202020204" pitchFamily="34" charset="0"/>
                                  </a:rPr>
                                  <m:t>𝑥</m:t>
                                </m:r>
                                <m:d>
                                  <m:dPr>
                                    <m:ctrlPr>
                                      <a:rPr lang="es-MX" sz="1600" b="0" i="1" smtClean="0">
                                        <a:latin typeface="Cambria Math" panose="02040503050406030204" pitchFamily="18" charset="0"/>
                                        <a:cs typeface="Arial" panose="020B0604020202020204" pitchFamily="34" charset="0"/>
                                      </a:rPr>
                                    </m:ctrlPr>
                                  </m:dPr>
                                  <m:e>
                                    <m:d>
                                      <m:dPr>
                                        <m:ctrlPr>
                                          <a:rPr lang="es-MX" sz="1600" b="0" i="1" smtClean="0">
                                            <a:latin typeface="Cambria Math" panose="02040503050406030204" pitchFamily="18" charset="0"/>
                                            <a:cs typeface="Arial" panose="020B0604020202020204" pitchFamily="34" charset="0"/>
                                          </a:rPr>
                                        </m:ctrlPr>
                                      </m:dPr>
                                      <m:e>
                                        <m:r>
                                          <a:rPr lang="es-MX" sz="1600" b="0" i="1" smtClean="0">
                                            <a:latin typeface="Cambria Math" panose="02040503050406030204" pitchFamily="18" charset="0"/>
                                            <a:cs typeface="Arial" panose="020B0604020202020204" pitchFamily="34" charset="0"/>
                                          </a:rPr>
                                          <m:t>𝑥</m:t>
                                        </m:r>
                                        <m:r>
                                          <a:rPr lang="es-MX" sz="1600" b="0" i="1" smtClean="0">
                                            <a:latin typeface="Cambria Math" panose="02040503050406030204" pitchFamily="18" charset="0"/>
                                            <a:cs typeface="Arial" panose="020B0604020202020204" pitchFamily="34" charset="0"/>
                                          </a:rPr>
                                          <m:t>&lt;4</m:t>
                                        </m:r>
                                      </m:e>
                                    </m:d>
                                    <m:r>
                                      <a:rPr lang="es-MX" sz="1600" b="0" i="1" smtClean="0">
                                        <a:latin typeface="Cambria Math" panose="02040503050406030204" pitchFamily="18" charset="0"/>
                                        <a:ea typeface="Cambria Math" panose="02040503050406030204" pitchFamily="18" charset="0"/>
                                        <a:cs typeface="Arial" panose="020B0604020202020204" pitchFamily="34" charset="0"/>
                                      </a:rPr>
                                      <m:t>∧</m:t>
                                    </m:r>
                                    <m:d>
                                      <m:dPr>
                                        <m:ctrlPr>
                                          <a:rPr lang="es-MX" sz="1600" b="0" i="1" smtClean="0">
                                            <a:latin typeface="Cambria Math" panose="02040503050406030204" pitchFamily="18" charset="0"/>
                                            <a:ea typeface="Cambria Math" panose="02040503050406030204" pitchFamily="18" charset="0"/>
                                            <a:cs typeface="Arial" panose="020B0604020202020204" pitchFamily="34" charset="0"/>
                                          </a:rPr>
                                        </m:ctrlPr>
                                      </m:dPr>
                                      <m:e>
                                        <m:r>
                                          <a:rPr lang="es-MX" sz="1600" b="0" i="1" smtClean="0">
                                            <a:latin typeface="Cambria Math" panose="02040503050406030204" pitchFamily="18" charset="0"/>
                                            <a:ea typeface="Cambria Math" panose="02040503050406030204" pitchFamily="18" charset="0"/>
                                            <a:cs typeface="Arial" panose="020B0604020202020204" pitchFamily="34" charset="0"/>
                                          </a:rPr>
                                          <m:t>4&lt;5</m:t>
                                        </m:r>
                                      </m:e>
                                    </m:d>
                                    <m:r>
                                      <a:rPr lang="es-MX" sz="1600" b="0" i="1" smtClean="0">
                                        <a:latin typeface="Cambria Math" panose="02040503050406030204" pitchFamily="18" charset="0"/>
                                        <a:ea typeface="Cambria Math" panose="02040503050406030204" pitchFamily="18" charset="0"/>
                                        <a:cs typeface="Arial" panose="020B0604020202020204" pitchFamily="34" charset="0"/>
                                      </a:rPr>
                                      <m:t>→</m:t>
                                    </m:r>
                                    <m:r>
                                      <a:rPr lang="es-MX" sz="1600" b="0" i="1" smtClean="0">
                                        <a:latin typeface="Cambria Math" panose="02040503050406030204" pitchFamily="18" charset="0"/>
                                        <a:ea typeface="Cambria Math" panose="02040503050406030204" pitchFamily="18" charset="0"/>
                                        <a:cs typeface="Arial" panose="020B0604020202020204" pitchFamily="34" charset="0"/>
                                      </a:rPr>
                                      <m:t>𝑥</m:t>
                                    </m:r>
                                    <m:r>
                                      <a:rPr lang="es-MX" sz="1600" b="0" i="1" smtClean="0">
                                        <a:latin typeface="Cambria Math" panose="02040503050406030204" pitchFamily="18" charset="0"/>
                                        <a:ea typeface="Cambria Math" panose="02040503050406030204" pitchFamily="18" charset="0"/>
                                        <a:cs typeface="Arial" panose="020B0604020202020204" pitchFamily="34" charset="0"/>
                                      </a:rPr>
                                      <m:t>&lt;5</m:t>
                                    </m:r>
                                  </m:e>
                                </m:d>
                              </m:oMath>
                            </m:oMathPara>
                          </a14:m>
                          <a:endParaRPr lang="es-MX" sz="1600" b="0" dirty="0">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cs typeface="Arial" panose="020B0604020202020204" pitchFamily="34" charset="0"/>
                                  </a:rPr>
                                  <m:t>∀</m:t>
                                </m:r>
                                <m:r>
                                  <a:rPr lang="es-MX" sz="1600" b="0" i="1" smtClean="0">
                                    <a:latin typeface="Cambria Math" panose="02040503050406030204" pitchFamily="18" charset="0"/>
                                    <a:cs typeface="Arial" panose="020B0604020202020204" pitchFamily="34" charset="0"/>
                                  </a:rPr>
                                  <m:t>𝑥</m:t>
                                </m:r>
                                <m:d>
                                  <m:dPr>
                                    <m:ctrlPr>
                                      <a:rPr lang="es-MX" sz="1600" b="0" i="1" smtClean="0">
                                        <a:latin typeface="Cambria Math" panose="02040503050406030204" pitchFamily="18" charset="0"/>
                                        <a:cs typeface="Arial" panose="020B0604020202020204" pitchFamily="34" charset="0"/>
                                      </a:rPr>
                                    </m:ctrlPr>
                                  </m:dPr>
                                  <m:e>
                                    <m:d>
                                      <m:dPr>
                                        <m:ctrlPr>
                                          <a:rPr lang="es-MX" sz="1600" b="0" i="1" smtClean="0">
                                            <a:latin typeface="Cambria Math" panose="02040503050406030204" pitchFamily="18" charset="0"/>
                                            <a:cs typeface="Arial" panose="020B0604020202020204" pitchFamily="34" charset="0"/>
                                          </a:rPr>
                                        </m:ctrlPr>
                                      </m:dPr>
                                      <m:e>
                                        <m:r>
                                          <a:rPr lang="es-MX" sz="1600" b="0" i="1" smtClean="0">
                                            <a:latin typeface="Cambria Math" panose="02040503050406030204" pitchFamily="18" charset="0"/>
                                            <a:cs typeface="Arial" panose="020B0604020202020204" pitchFamily="34" charset="0"/>
                                          </a:rPr>
                                          <m:t>−4&lt;</m:t>
                                        </m:r>
                                        <m:r>
                                          <a:rPr lang="es-MX" sz="1600" b="0" i="1" smtClean="0">
                                            <a:latin typeface="Cambria Math" panose="02040503050406030204" pitchFamily="18" charset="0"/>
                                            <a:cs typeface="Arial" panose="020B0604020202020204" pitchFamily="34" charset="0"/>
                                          </a:rPr>
                                          <m:t>𝑥</m:t>
                                        </m:r>
                                      </m:e>
                                    </m:d>
                                    <m:r>
                                      <a:rPr lang="es-MX" sz="1600" b="0" i="1" smtClean="0">
                                        <a:latin typeface="Cambria Math" panose="02040503050406030204" pitchFamily="18" charset="0"/>
                                        <a:ea typeface="Cambria Math" panose="02040503050406030204" pitchFamily="18" charset="0"/>
                                        <a:cs typeface="Arial" panose="020B0604020202020204" pitchFamily="34" charset="0"/>
                                      </a:rPr>
                                      <m:t>↔</m:t>
                                    </m:r>
                                    <m:d>
                                      <m:dPr>
                                        <m:ctrlPr>
                                          <a:rPr lang="es-MX" sz="1600" b="0" i="1" smtClean="0">
                                            <a:latin typeface="Cambria Math" panose="02040503050406030204" pitchFamily="18" charset="0"/>
                                            <a:ea typeface="Cambria Math" panose="02040503050406030204" pitchFamily="18" charset="0"/>
                                            <a:cs typeface="Arial" panose="020B0604020202020204" pitchFamily="34" charset="0"/>
                                          </a:rPr>
                                        </m:ctrlPr>
                                      </m:dPr>
                                      <m:e>
                                        <m:r>
                                          <a:rPr lang="es-MX" sz="1600" b="0" i="1" smtClean="0">
                                            <a:latin typeface="Cambria Math" panose="02040503050406030204" pitchFamily="18" charset="0"/>
                                            <a:ea typeface="Cambria Math" panose="02040503050406030204" pitchFamily="18" charset="0"/>
                                            <a:cs typeface="Arial" panose="020B0604020202020204" pitchFamily="34" charset="0"/>
                                          </a:rPr>
                                          <m:t>𝑥</m:t>
                                        </m:r>
                                        <m:r>
                                          <a:rPr lang="es-MX" sz="1600" b="0" i="1" smtClean="0">
                                            <a:latin typeface="Cambria Math" panose="02040503050406030204" pitchFamily="18" charset="0"/>
                                            <a:ea typeface="Cambria Math" panose="02040503050406030204" pitchFamily="18" charset="0"/>
                                            <a:cs typeface="Arial" panose="020B0604020202020204" pitchFamily="34" charset="0"/>
                                          </a:rPr>
                                          <m:t>&lt;4</m:t>
                                        </m:r>
                                      </m:e>
                                    </m:d>
                                  </m:e>
                                </m:d>
                              </m:oMath>
                            </m:oMathPara>
                          </a14:m>
                          <a:endParaRPr lang="es-CO" sz="1600" kern="1200" dirty="0">
                            <a:solidFill>
                              <a:srgbClr val="000000"/>
                            </a:solidFill>
                            <a:latin typeface="Arial"/>
                            <a:ea typeface="Arial"/>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cs typeface="Arial" panose="020B0604020202020204" pitchFamily="34" charset="0"/>
                                  </a:rPr>
                                  <m:t>4&lt;5</m:t>
                                </m:r>
                              </m:oMath>
                            </m:oMathPara>
                          </a14:m>
                          <a:endParaRPr lang="es-MX" sz="1600" b="0" dirty="0">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cs typeface="Arial" panose="020B0604020202020204" pitchFamily="34" charset="0"/>
                                  </a:rPr>
                                  <m:t>−4&lt;−3</m:t>
                                </m:r>
                              </m:oMath>
                            </m:oMathPara>
                          </a14:m>
                          <a:endParaRPr lang="es-CO" sz="1600" kern="1200" dirty="0">
                            <a:solidFill>
                              <a:srgbClr val="000000"/>
                            </a:solidFill>
                            <a:latin typeface="Arial"/>
                            <a:ea typeface="Arial"/>
                            <a:cs typeface="Arial" panose="020B0604020202020204" pitchFamily="34"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cs typeface="Arial" panose="020B0604020202020204" pitchFamily="34" charset="0"/>
                                  </a:rPr>
                                  <m:t>3&lt;5</m:t>
                                </m:r>
                              </m:oMath>
                            </m:oMathPara>
                          </a14:m>
                          <a:endParaRPr lang="es-CO" sz="1600" kern="1200" dirty="0">
                            <a:solidFill>
                              <a:srgbClr val="000000"/>
                            </a:solidFill>
                            <a:latin typeface="Arial"/>
                            <a:ea typeface="Arial"/>
                            <a:cs typeface="Arial" panose="020B0604020202020204" pitchFamily="34" charset="0"/>
                          </a:endParaRPr>
                        </a:p>
                        <a:p>
                          <a:endParaRPr lang="es-CO"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714967203"/>
                      </a:ext>
                    </a:extLst>
                  </a:tr>
                </a:tbl>
              </a:graphicData>
            </a:graphic>
          </p:graphicFrame>
        </mc:Choice>
        <mc:Fallback>
          <p:graphicFrame>
            <p:nvGraphicFramePr>
              <p:cNvPr id="6" name="Tabla 2">
                <a:extLst>
                  <a:ext uri="{FF2B5EF4-FFF2-40B4-BE49-F238E27FC236}">
                    <a16:creationId xmlns:a16="http://schemas.microsoft.com/office/drawing/2014/main" id="{18B2A7AE-0C8B-4674-A42D-54AA8FC0005B}"/>
                  </a:ext>
                </a:extLst>
              </p:cNvPr>
              <p:cNvGraphicFramePr>
                <a:graphicFrameLocks noGrp="1"/>
              </p:cNvGraphicFramePr>
              <p:nvPr>
                <p:extLst>
                  <p:ext uri="{D42A27DB-BD31-4B8C-83A1-F6EECF244321}">
                    <p14:modId xmlns:p14="http://schemas.microsoft.com/office/powerpoint/2010/main" val="2991961625"/>
                  </p:ext>
                </p:extLst>
              </p:nvPr>
            </p:nvGraphicFramePr>
            <p:xfrm>
              <a:off x="5320071" y="1045538"/>
              <a:ext cx="6388276" cy="1500505"/>
            </p:xfrm>
            <a:graphic>
              <a:graphicData uri="http://schemas.openxmlformats.org/drawingml/2006/table">
                <a:tbl>
                  <a:tblPr firstRow="1" bandRow="1">
                    <a:tableStyleId>{AD6A3598-7CB8-4345-8D95-17CE05F158A0}</a:tableStyleId>
                  </a:tblPr>
                  <a:tblGrid>
                    <a:gridCol w="3194138">
                      <a:extLst>
                        <a:ext uri="{9D8B030D-6E8A-4147-A177-3AD203B41FA5}">
                          <a16:colId xmlns:a16="http://schemas.microsoft.com/office/drawing/2014/main" val="3377211390"/>
                        </a:ext>
                      </a:extLst>
                    </a:gridCol>
                    <a:gridCol w="3194138">
                      <a:extLst>
                        <a:ext uri="{9D8B030D-6E8A-4147-A177-3AD203B41FA5}">
                          <a16:colId xmlns:a16="http://schemas.microsoft.com/office/drawing/2014/main" val="1918659203"/>
                        </a:ext>
                      </a:extLst>
                    </a:gridCol>
                  </a:tblGrid>
                  <a:tr h="370840">
                    <a:tc>
                      <a:txBody>
                        <a:bodyPr/>
                        <a:lstStyle/>
                        <a:p>
                          <a:pPr algn="ctr"/>
                          <a:r>
                            <a:rPr lang="es-CO" sz="1800" b="1" dirty="0">
                              <a:latin typeface="+mn-lt"/>
                              <a:cs typeface="Arial" panose="020B0604020202020204" pitchFamily="34" charset="0"/>
                            </a:rPr>
                            <a:t>Premisas</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800" b="1" dirty="0">
                              <a:latin typeface="+mn-lt"/>
                              <a:cs typeface="Arial" panose="020B0604020202020204" pitchFamily="34" charset="0"/>
                            </a:rPr>
                            <a:t>Conclusión</a:t>
                          </a: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2695394"/>
                      </a:ext>
                    </a:extLst>
                  </a:tr>
                  <a:tr h="1129665">
                    <a:tc>
                      <a:txBody>
                        <a:bodyPr/>
                        <a:lstStyle/>
                        <a:p>
                          <a:endParaRPr lang="es-CO"/>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t="-35484" r="-100000" b="-538"/>
                          </a:stretch>
                        </a:blipFill>
                      </a:tcPr>
                    </a:tc>
                    <a:tc>
                      <a:txBody>
                        <a:bodyPr/>
                        <a:lstStyle/>
                        <a:p>
                          <a:endParaRPr lang="es-CO"/>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l="-100191" t="-35484" r="-191" b="-538"/>
                          </a:stretch>
                        </a:blipFill>
                      </a:tcPr>
                    </a:tc>
                    <a:extLst>
                      <a:ext uri="{0D108BD9-81ED-4DB2-BD59-A6C34878D82A}">
                        <a16:rowId xmlns:a16="http://schemas.microsoft.com/office/drawing/2014/main" val="714967203"/>
                      </a:ext>
                    </a:extLst>
                  </a:tr>
                </a:tbl>
              </a:graphicData>
            </a:graphic>
          </p:graphicFrame>
        </mc:Fallback>
      </mc:AlternateContent>
      <p:graphicFrame>
        <p:nvGraphicFramePr>
          <p:cNvPr id="8" name="Tabla 2">
            <a:extLst>
              <a:ext uri="{FF2B5EF4-FFF2-40B4-BE49-F238E27FC236}">
                <a16:creationId xmlns:a16="http://schemas.microsoft.com/office/drawing/2014/main" id="{7BC7A3B4-0CC9-4AE3-AD5D-C05C23F0335F}"/>
              </a:ext>
            </a:extLst>
          </p:cNvPr>
          <p:cNvGraphicFramePr>
            <a:graphicFrameLocks noGrp="1"/>
          </p:cNvGraphicFramePr>
          <p:nvPr>
            <p:extLst>
              <p:ext uri="{D42A27DB-BD31-4B8C-83A1-F6EECF244321}">
                <p14:modId xmlns:p14="http://schemas.microsoft.com/office/powerpoint/2010/main" val="34661401"/>
              </p:ext>
            </p:extLst>
          </p:nvPr>
        </p:nvGraphicFramePr>
        <p:xfrm>
          <a:off x="5716405" y="2890528"/>
          <a:ext cx="5991942" cy="3733800"/>
        </p:xfrm>
        <a:graphic>
          <a:graphicData uri="http://schemas.openxmlformats.org/drawingml/2006/table">
            <a:tbl>
              <a:tblPr firstRow="1" bandRow="1">
                <a:tableStyleId>{AD6A3598-7CB8-4345-8D95-17CE05F158A0}</a:tableStyleId>
              </a:tblPr>
              <a:tblGrid>
                <a:gridCol w="371928">
                  <a:extLst>
                    <a:ext uri="{9D8B030D-6E8A-4147-A177-3AD203B41FA5}">
                      <a16:colId xmlns:a16="http://schemas.microsoft.com/office/drawing/2014/main" val="1610952478"/>
                    </a:ext>
                  </a:extLst>
                </a:gridCol>
                <a:gridCol w="134543">
                  <a:extLst>
                    <a:ext uri="{9D8B030D-6E8A-4147-A177-3AD203B41FA5}">
                      <a16:colId xmlns:a16="http://schemas.microsoft.com/office/drawing/2014/main" val="1919891108"/>
                    </a:ext>
                  </a:extLst>
                </a:gridCol>
                <a:gridCol w="2185929">
                  <a:extLst>
                    <a:ext uri="{9D8B030D-6E8A-4147-A177-3AD203B41FA5}">
                      <a16:colId xmlns:a16="http://schemas.microsoft.com/office/drawing/2014/main" val="2942974496"/>
                    </a:ext>
                  </a:extLst>
                </a:gridCol>
                <a:gridCol w="3299542">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Afirmación</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gridSpan="2">
                  <a:txBody>
                    <a:bodyPr/>
                    <a:lstStyle/>
                    <a:p>
                      <a:pPr/>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5827864"/>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44816522"/>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8459320"/>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0592092"/>
                  </a:ext>
                </a:extLst>
              </a:tr>
              <a:tr h="370840">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6840162"/>
                  </a:ext>
                </a:extLst>
              </a:tr>
            </a:tbl>
          </a:graphicData>
        </a:graphic>
      </p:graphicFrame>
    </p:spTree>
    <p:extLst>
      <p:ext uri="{BB962C8B-B14F-4D97-AF65-F5344CB8AC3E}">
        <p14:creationId xmlns:p14="http://schemas.microsoft.com/office/powerpoint/2010/main" val="23866170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37"/>
          <p:cNvSpPr txBox="1">
            <a:spLocks noGrp="1"/>
          </p:cNvSpPr>
          <p:nvPr>
            <p:ph type="title"/>
          </p:nvPr>
        </p:nvSpPr>
        <p:spPr>
          <a:xfrm>
            <a:off x="508000" y="96038"/>
            <a:ext cx="8712650" cy="949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pPr>
            <a:r>
              <a:rPr lang="es-ES" dirty="0">
                <a:latin typeface="+mj-lt"/>
              </a:rPr>
              <a:t>Ejercicios de repaso</a:t>
            </a:r>
            <a:endParaRPr dirty="0">
              <a:latin typeface="+mj-lt"/>
            </a:endParaRPr>
          </a:p>
        </p:txBody>
      </p:sp>
      <p:sp>
        <p:nvSpPr>
          <p:cNvPr id="4" name="CuadroTexto 3">
            <a:extLst>
              <a:ext uri="{FF2B5EF4-FFF2-40B4-BE49-F238E27FC236}">
                <a16:creationId xmlns:a16="http://schemas.microsoft.com/office/drawing/2014/main" id="{AF909063-CAA1-41D3-A0B2-2A2D736D4430}"/>
              </a:ext>
            </a:extLst>
          </p:cNvPr>
          <p:cNvSpPr txBox="1"/>
          <p:nvPr/>
        </p:nvSpPr>
        <p:spPr>
          <a:xfrm>
            <a:off x="283988" y="1045538"/>
            <a:ext cx="5615367" cy="707886"/>
          </a:xfrm>
          <a:prstGeom prst="rect">
            <a:avLst/>
          </a:prstGeom>
          <a:noFill/>
        </p:spPr>
        <p:txBody>
          <a:bodyPr wrap="square" rtlCol="0">
            <a:spAutoFit/>
          </a:bodyPr>
          <a:lstStyle/>
          <a:p>
            <a:r>
              <a:rPr lang="es-MX" sz="2000" dirty="0">
                <a:ea typeface="Roboto" panose="02000000000000000000" pitchFamily="2" charset="0"/>
              </a:rPr>
              <a:t>Deduzca los teoremas con base en el sistema de lógica cuantificacional.</a:t>
            </a:r>
          </a:p>
        </p:txBody>
      </p:sp>
      <mc:AlternateContent xmlns:mc="http://schemas.openxmlformats.org/markup-compatibility/2006">
        <mc:Choice xmlns:a14="http://schemas.microsoft.com/office/drawing/2010/main" Requires="a14">
          <p:graphicFrame>
            <p:nvGraphicFramePr>
              <p:cNvPr id="7" name="Tabla 2">
                <a:extLst>
                  <a:ext uri="{FF2B5EF4-FFF2-40B4-BE49-F238E27FC236}">
                    <a16:creationId xmlns:a16="http://schemas.microsoft.com/office/drawing/2014/main" id="{D07020A5-7841-4BCC-B2A6-312198312307}"/>
                  </a:ext>
                </a:extLst>
              </p:cNvPr>
              <p:cNvGraphicFramePr>
                <a:graphicFrameLocks noGrp="1"/>
              </p:cNvGraphicFramePr>
              <p:nvPr>
                <p:extLst>
                  <p:ext uri="{D42A27DB-BD31-4B8C-83A1-F6EECF244321}">
                    <p14:modId xmlns:p14="http://schemas.microsoft.com/office/powerpoint/2010/main" val="2519104535"/>
                  </p:ext>
                </p:extLst>
              </p:nvPr>
            </p:nvGraphicFramePr>
            <p:xfrm>
              <a:off x="5775748" y="1045538"/>
              <a:ext cx="5908252" cy="1288098"/>
            </p:xfrm>
            <a:graphic>
              <a:graphicData uri="http://schemas.openxmlformats.org/drawingml/2006/table">
                <a:tbl>
                  <a:tblPr firstRow="1" bandRow="1">
                    <a:tableStyleId>{AD6A3598-7CB8-4345-8D95-17CE05F158A0}</a:tableStyleId>
                  </a:tblPr>
                  <a:tblGrid>
                    <a:gridCol w="2954126">
                      <a:extLst>
                        <a:ext uri="{9D8B030D-6E8A-4147-A177-3AD203B41FA5}">
                          <a16:colId xmlns:a16="http://schemas.microsoft.com/office/drawing/2014/main" val="3377211390"/>
                        </a:ext>
                      </a:extLst>
                    </a:gridCol>
                    <a:gridCol w="2954126">
                      <a:extLst>
                        <a:ext uri="{9D8B030D-6E8A-4147-A177-3AD203B41FA5}">
                          <a16:colId xmlns:a16="http://schemas.microsoft.com/office/drawing/2014/main" val="1918659203"/>
                        </a:ext>
                      </a:extLst>
                    </a:gridCol>
                  </a:tblGrid>
                  <a:tr h="370840">
                    <a:tc>
                      <a:txBody>
                        <a:bodyPr/>
                        <a:lstStyle/>
                        <a:p>
                          <a:pPr algn="ctr"/>
                          <a:r>
                            <a:rPr lang="es-CO" sz="1800" b="1" dirty="0">
                              <a:latin typeface="+mn-lt"/>
                              <a:cs typeface="Arial" panose="020B0604020202020204" pitchFamily="34" charset="0"/>
                            </a:rPr>
                            <a:t>Premisas</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800" b="1" dirty="0">
                              <a:latin typeface="+mn-lt"/>
                              <a:cs typeface="Arial" panose="020B0604020202020204" pitchFamily="34" charset="0"/>
                            </a:rPr>
                            <a:t>Conclusión</a:t>
                          </a: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2695394"/>
                      </a:ext>
                    </a:extLst>
                  </a:tr>
                  <a:tr h="370840">
                    <a:tc>
                      <a:txBody>
                        <a:bodyPr/>
                        <a:lstStyle/>
                        <a:p>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cs typeface="Arial" panose="020B0604020202020204" pitchFamily="34" charset="0"/>
                                  </a:rPr>
                                  <m:t>∀</m:t>
                                </m:r>
                                <m:r>
                                  <a:rPr lang="es-MX" sz="1600" b="0" i="1" smtClean="0">
                                    <a:latin typeface="Cambria Math" panose="02040503050406030204" pitchFamily="18" charset="0"/>
                                    <a:cs typeface="Arial" panose="020B0604020202020204" pitchFamily="34" charset="0"/>
                                  </a:rPr>
                                  <m:t>𝑥</m:t>
                                </m:r>
                                <m:d>
                                  <m:dPr>
                                    <m:ctrlPr>
                                      <a:rPr lang="es-MX" sz="1600" b="0" i="1" smtClean="0">
                                        <a:latin typeface="Cambria Math" panose="02040503050406030204" pitchFamily="18" charset="0"/>
                                        <a:cs typeface="Arial" panose="020B0604020202020204" pitchFamily="34" charset="0"/>
                                      </a:rPr>
                                    </m:ctrlPr>
                                  </m:dPr>
                                  <m:e>
                                    <m:r>
                                      <a:rPr lang="es-MX" sz="1600" b="0" i="1" smtClean="0">
                                        <a:latin typeface="Cambria Math" panose="02040503050406030204" pitchFamily="18" charset="0"/>
                                        <a:cs typeface="Arial" panose="020B0604020202020204" pitchFamily="34" charset="0"/>
                                      </a:rPr>
                                      <m:t>𝑅</m:t>
                                    </m:r>
                                    <m:d>
                                      <m:dPr>
                                        <m:ctrlPr>
                                          <a:rPr lang="es-MX" sz="1600" b="0" i="1" smtClean="0">
                                            <a:latin typeface="Cambria Math" panose="02040503050406030204" pitchFamily="18" charset="0"/>
                                            <a:cs typeface="Arial" panose="020B0604020202020204" pitchFamily="34" charset="0"/>
                                          </a:rPr>
                                        </m:ctrlPr>
                                      </m:dPr>
                                      <m:e>
                                        <m:r>
                                          <a:rPr lang="es-MX" sz="1600" b="0" i="1" smtClean="0">
                                            <a:latin typeface="Cambria Math" panose="02040503050406030204" pitchFamily="18" charset="0"/>
                                            <a:cs typeface="Arial" panose="020B0604020202020204" pitchFamily="34" charset="0"/>
                                          </a:rPr>
                                          <m:t>𝑥</m:t>
                                        </m:r>
                                      </m:e>
                                    </m:d>
                                    <m:r>
                                      <a:rPr lang="es-MX" sz="1600" b="0" i="1" smtClean="0">
                                        <a:latin typeface="Cambria Math" panose="02040503050406030204" pitchFamily="18" charset="0"/>
                                        <a:ea typeface="Cambria Math" panose="02040503050406030204" pitchFamily="18" charset="0"/>
                                        <a:cs typeface="Arial" panose="020B0604020202020204" pitchFamily="34" charset="0"/>
                                      </a:rPr>
                                      <m:t>∨</m:t>
                                    </m:r>
                                    <m:r>
                                      <a:rPr lang="es-MX" sz="1600" b="0" i="1" smtClean="0">
                                        <a:latin typeface="Cambria Math" panose="02040503050406030204" pitchFamily="18" charset="0"/>
                                        <a:ea typeface="Cambria Math" panose="02040503050406030204" pitchFamily="18" charset="0"/>
                                        <a:cs typeface="Arial" panose="020B0604020202020204" pitchFamily="34" charset="0"/>
                                      </a:rPr>
                                      <m:t>𝑍</m:t>
                                    </m:r>
                                    <m:d>
                                      <m:dPr>
                                        <m:ctrlPr>
                                          <a:rPr lang="es-MX" sz="1600" b="0" i="1" smtClean="0">
                                            <a:latin typeface="Cambria Math" panose="02040503050406030204" pitchFamily="18" charset="0"/>
                                            <a:ea typeface="Cambria Math" panose="02040503050406030204" pitchFamily="18" charset="0"/>
                                            <a:cs typeface="Arial" panose="020B0604020202020204" pitchFamily="34" charset="0"/>
                                          </a:rPr>
                                        </m:ctrlPr>
                                      </m:dPr>
                                      <m:e>
                                        <m:r>
                                          <a:rPr lang="es-MX" sz="1600" b="0" i="1" smtClean="0">
                                            <a:latin typeface="Cambria Math" panose="02040503050406030204" pitchFamily="18" charset="0"/>
                                            <a:ea typeface="Cambria Math" panose="02040503050406030204" pitchFamily="18" charset="0"/>
                                            <a:cs typeface="Arial" panose="020B0604020202020204" pitchFamily="34" charset="0"/>
                                          </a:rPr>
                                          <m:t>𝑥</m:t>
                                        </m:r>
                                      </m:e>
                                    </m:d>
                                  </m:e>
                                </m:d>
                              </m:oMath>
                            </m:oMathPara>
                          </a14:m>
                          <a:endParaRPr lang="es-MX" sz="1600" b="0" dirty="0">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cs typeface="Arial" panose="020B0604020202020204" pitchFamily="34" charset="0"/>
                                  </a:rPr>
                                  <m:t>∀</m:t>
                                </m:r>
                                <m:r>
                                  <a:rPr lang="es-MX" sz="1600" b="0" i="1" smtClean="0">
                                    <a:latin typeface="Cambria Math" panose="02040503050406030204" pitchFamily="18" charset="0"/>
                                    <a:cs typeface="Arial" panose="020B0604020202020204" pitchFamily="34" charset="0"/>
                                  </a:rPr>
                                  <m:t>𝑥</m:t>
                                </m:r>
                                <m:d>
                                  <m:dPr>
                                    <m:ctrlPr>
                                      <a:rPr lang="es-MX" sz="1600" b="0" i="1" smtClean="0">
                                        <a:latin typeface="Cambria Math" panose="02040503050406030204" pitchFamily="18" charset="0"/>
                                        <a:cs typeface="Arial" panose="020B0604020202020204" pitchFamily="34" charset="0"/>
                                      </a:rPr>
                                    </m:ctrlPr>
                                  </m:dPr>
                                  <m:e>
                                    <m:r>
                                      <a:rPr lang="es-MX" sz="1600" b="0" i="1" smtClean="0">
                                        <a:latin typeface="Cambria Math" panose="02040503050406030204" pitchFamily="18" charset="0"/>
                                        <a:cs typeface="Arial" panose="020B0604020202020204" pitchFamily="34" charset="0"/>
                                      </a:rPr>
                                      <m:t>¬</m:t>
                                    </m:r>
                                    <m:r>
                                      <a:rPr lang="es-MX" sz="1600" b="0" i="1" smtClean="0">
                                        <a:latin typeface="Cambria Math" panose="02040503050406030204" pitchFamily="18" charset="0"/>
                                        <a:cs typeface="Arial" panose="020B0604020202020204" pitchFamily="34" charset="0"/>
                                      </a:rPr>
                                      <m:t>𝑇</m:t>
                                    </m:r>
                                    <m:d>
                                      <m:dPr>
                                        <m:ctrlPr>
                                          <a:rPr lang="es-MX" sz="1600" b="0" i="1" smtClean="0">
                                            <a:latin typeface="Cambria Math" panose="02040503050406030204" pitchFamily="18" charset="0"/>
                                            <a:cs typeface="Arial" panose="020B0604020202020204" pitchFamily="34" charset="0"/>
                                          </a:rPr>
                                        </m:ctrlPr>
                                      </m:dPr>
                                      <m:e>
                                        <m:r>
                                          <a:rPr lang="es-MX" sz="1600" b="0" i="1" smtClean="0">
                                            <a:latin typeface="Cambria Math" panose="02040503050406030204" pitchFamily="18" charset="0"/>
                                            <a:cs typeface="Arial" panose="020B0604020202020204" pitchFamily="34" charset="0"/>
                                          </a:rPr>
                                          <m:t>𝑥</m:t>
                                        </m:r>
                                      </m:e>
                                    </m:d>
                                    <m:r>
                                      <a:rPr lang="es-MX" sz="1600" b="0" i="1" smtClean="0">
                                        <a:latin typeface="Cambria Math" panose="02040503050406030204" pitchFamily="18" charset="0"/>
                                        <a:ea typeface="Cambria Math" panose="02040503050406030204" pitchFamily="18" charset="0"/>
                                        <a:cs typeface="Arial" panose="020B0604020202020204" pitchFamily="34" charset="0"/>
                                      </a:rPr>
                                      <m:t>→¬</m:t>
                                    </m:r>
                                    <m:r>
                                      <a:rPr lang="es-MX" sz="1600" b="0" i="1" smtClean="0">
                                        <a:latin typeface="Cambria Math" panose="02040503050406030204" pitchFamily="18" charset="0"/>
                                        <a:ea typeface="Cambria Math" panose="02040503050406030204" pitchFamily="18" charset="0"/>
                                        <a:cs typeface="Arial" panose="020B0604020202020204" pitchFamily="34" charset="0"/>
                                      </a:rPr>
                                      <m:t>𝑅</m:t>
                                    </m:r>
                                    <m:d>
                                      <m:dPr>
                                        <m:ctrlPr>
                                          <a:rPr lang="es-MX" sz="1600" b="0" i="1" smtClean="0">
                                            <a:latin typeface="Cambria Math" panose="02040503050406030204" pitchFamily="18" charset="0"/>
                                            <a:ea typeface="Cambria Math" panose="02040503050406030204" pitchFamily="18" charset="0"/>
                                            <a:cs typeface="Arial" panose="020B0604020202020204" pitchFamily="34" charset="0"/>
                                          </a:rPr>
                                        </m:ctrlPr>
                                      </m:dPr>
                                      <m:e>
                                        <m:r>
                                          <a:rPr lang="es-MX" sz="1600" b="0" i="1" smtClean="0">
                                            <a:latin typeface="Cambria Math" panose="02040503050406030204" pitchFamily="18" charset="0"/>
                                            <a:ea typeface="Cambria Math" panose="02040503050406030204" pitchFamily="18" charset="0"/>
                                            <a:cs typeface="Arial" panose="020B0604020202020204" pitchFamily="34" charset="0"/>
                                          </a:rPr>
                                          <m:t>𝑥</m:t>
                                        </m:r>
                                      </m:e>
                                    </m:d>
                                  </m:e>
                                </m:d>
                              </m:oMath>
                            </m:oMathPara>
                          </a14:m>
                          <a:endParaRPr lang="es-CO" sz="1600" kern="1200" dirty="0">
                            <a:solidFill>
                              <a:srgbClr val="000000"/>
                            </a:solidFill>
                            <a:latin typeface="Arial"/>
                            <a:ea typeface="Arial"/>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cs typeface="Arial" panose="020B0604020202020204" pitchFamily="34" charset="0"/>
                                  </a:rPr>
                                  <m:t>∃</m:t>
                                </m:r>
                                <m:r>
                                  <a:rPr lang="es-MX" sz="1600" b="0" i="1" smtClean="0">
                                    <a:latin typeface="Cambria Math" panose="02040503050406030204" pitchFamily="18" charset="0"/>
                                    <a:cs typeface="Arial" panose="020B0604020202020204" pitchFamily="34" charset="0"/>
                                  </a:rPr>
                                  <m:t>𝑥</m:t>
                                </m:r>
                                <m:d>
                                  <m:dPr>
                                    <m:ctrlPr>
                                      <a:rPr lang="es-MX" sz="1600" b="0" i="1" smtClean="0">
                                        <a:latin typeface="Cambria Math" panose="02040503050406030204" pitchFamily="18" charset="0"/>
                                        <a:cs typeface="Arial" panose="020B0604020202020204" pitchFamily="34" charset="0"/>
                                      </a:rPr>
                                    </m:ctrlPr>
                                  </m:dPr>
                                  <m:e>
                                    <m:r>
                                      <a:rPr lang="es-MX" sz="1600" b="0" i="1" smtClean="0">
                                        <a:latin typeface="Cambria Math" panose="02040503050406030204" pitchFamily="18" charset="0"/>
                                        <a:cs typeface="Arial" panose="020B0604020202020204" pitchFamily="34" charset="0"/>
                                      </a:rPr>
                                      <m:t>¬</m:t>
                                    </m:r>
                                    <m:r>
                                      <a:rPr lang="es-MX" sz="1600" b="0" i="1" smtClean="0">
                                        <a:latin typeface="Cambria Math" panose="02040503050406030204" pitchFamily="18" charset="0"/>
                                        <a:cs typeface="Arial" panose="020B0604020202020204" pitchFamily="34" charset="0"/>
                                      </a:rPr>
                                      <m:t>𝑍</m:t>
                                    </m:r>
                                    <m:d>
                                      <m:dPr>
                                        <m:ctrlPr>
                                          <a:rPr lang="es-MX" sz="1600" b="0" i="1" smtClean="0">
                                            <a:latin typeface="Cambria Math" panose="02040503050406030204" pitchFamily="18" charset="0"/>
                                            <a:cs typeface="Arial" panose="020B0604020202020204" pitchFamily="34" charset="0"/>
                                          </a:rPr>
                                        </m:ctrlPr>
                                      </m:dPr>
                                      <m:e>
                                        <m:r>
                                          <a:rPr lang="es-MX" sz="1600" b="0" i="1" smtClean="0">
                                            <a:latin typeface="Cambria Math" panose="02040503050406030204" pitchFamily="18" charset="0"/>
                                            <a:cs typeface="Arial" panose="020B0604020202020204" pitchFamily="34" charset="0"/>
                                          </a:rPr>
                                          <m:t>𝑥</m:t>
                                        </m:r>
                                      </m:e>
                                    </m:d>
                                    <m:r>
                                      <a:rPr lang="es-MX" sz="1600" b="0" i="1" smtClean="0">
                                        <a:latin typeface="Cambria Math" panose="02040503050406030204" pitchFamily="18" charset="0"/>
                                        <a:ea typeface="Cambria Math" panose="02040503050406030204" pitchFamily="18" charset="0"/>
                                        <a:cs typeface="Arial" panose="020B0604020202020204" pitchFamily="34" charset="0"/>
                                      </a:rPr>
                                      <m:t>∨</m:t>
                                    </m:r>
                                    <m:r>
                                      <a:rPr lang="es-MX" sz="1600" b="0" i="1" smtClean="0">
                                        <a:latin typeface="Cambria Math" panose="02040503050406030204" pitchFamily="18" charset="0"/>
                                        <a:ea typeface="Cambria Math" panose="02040503050406030204" pitchFamily="18" charset="0"/>
                                        <a:cs typeface="Arial" panose="020B0604020202020204" pitchFamily="34" charset="0"/>
                                      </a:rPr>
                                      <m:t>𝑄</m:t>
                                    </m:r>
                                    <m:d>
                                      <m:dPr>
                                        <m:ctrlPr>
                                          <a:rPr lang="es-MX" sz="1600" b="0" i="1" smtClean="0">
                                            <a:latin typeface="Cambria Math" panose="02040503050406030204" pitchFamily="18" charset="0"/>
                                            <a:ea typeface="Cambria Math" panose="02040503050406030204" pitchFamily="18" charset="0"/>
                                            <a:cs typeface="Arial" panose="020B0604020202020204" pitchFamily="34" charset="0"/>
                                          </a:rPr>
                                        </m:ctrlPr>
                                      </m:dPr>
                                      <m:e>
                                        <m:r>
                                          <a:rPr lang="es-MX" sz="1600" b="0" i="1" smtClean="0">
                                            <a:latin typeface="Cambria Math" panose="02040503050406030204" pitchFamily="18" charset="0"/>
                                            <a:ea typeface="Cambria Math" panose="02040503050406030204" pitchFamily="18" charset="0"/>
                                            <a:cs typeface="Arial" panose="020B0604020202020204" pitchFamily="34" charset="0"/>
                                          </a:rPr>
                                          <m:t>𝑥</m:t>
                                        </m:r>
                                      </m:e>
                                    </m:d>
                                  </m:e>
                                </m:d>
                                <m:r>
                                  <a:rPr lang="es-MX" sz="1600" b="0" i="1" smtClean="0">
                                    <a:latin typeface="Cambria Math" panose="02040503050406030204" pitchFamily="18" charset="0"/>
                                    <a:cs typeface="Arial" panose="020B0604020202020204" pitchFamily="34" charset="0"/>
                                  </a:rPr>
                                  <m:t>  </m:t>
                                </m:r>
                              </m:oMath>
                            </m:oMathPara>
                          </a14:m>
                          <a:endParaRPr lang="es-MX" sz="1600" b="0" dirty="0">
                            <a:latin typeface="+mn-lt"/>
                            <a:cs typeface="Arial" panose="020B0604020202020204" pitchFamily="34" charset="0"/>
                          </a:endParaRP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s-MX" sz="1600" b="0" i="1" smtClean="0">
                                    <a:latin typeface="Cambria Math" panose="02040503050406030204" pitchFamily="18" charset="0"/>
                                    <a:cs typeface="Arial" panose="020B0604020202020204" pitchFamily="34" charset="0"/>
                                  </a:rPr>
                                  <m:t>∃</m:t>
                                </m:r>
                                <m:r>
                                  <a:rPr lang="es-MX" sz="1600" b="0" i="1" smtClean="0">
                                    <a:latin typeface="Cambria Math" panose="02040503050406030204" pitchFamily="18" charset="0"/>
                                    <a:cs typeface="Arial" panose="020B0604020202020204" pitchFamily="34" charset="0"/>
                                  </a:rPr>
                                  <m:t>𝑥</m:t>
                                </m:r>
                                <m:d>
                                  <m:dPr>
                                    <m:ctrlPr>
                                      <a:rPr lang="es-MX" sz="1600" b="0" i="1" smtClean="0">
                                        <a:latin typeface="Cambria Math" panose="02040503050406030204" pitchFamily="18" charset="0"/>
                                        <a:cs typeface="Arial" panose="020B0604020202020204" pitchFamily="34" charset="0"/>
                                      </a:rPr>
                                    </m:ctrlPr>
                                  </m:dPr>
                                  <m:e>
                                    <m:r>
                                      <a:rPr lang="es-MX" sz="1600" b="0" i="1" smtClean="0">
                                        <a:latin typeface="Cambria Math" panose="02040503050406030204" pitchFamily="18" charset="0"/>
                                        <a:cs typeface="Arial" panose="020B0604020202020204" pitchFamily="34" charset="0"/>
                                      </a:rPr>
                                      <m:t>𝑇</m:t>
                                    </m:r>
                                    <m:d>
                                      <m:dPr>
                                        <m:ctrlPr>
                                          <a:rPr lang="es-MX" sz="1600" b="0" i="1" smtClean="0">
                                            <a:latin typeface="Cambria Math" panose="02040503050406030204" pitchFamily="18" charset="0"/>
                                            <a:cs typeface="Arial" panose="020B0604020202020204" pitchFamily="34" charset="0"/>
                                          </a:rPr>
                                        </m:ctrlPr>
                                      </m:dPr>
                                      <m:e>
                                        <m:r>
                                          <a:rPr lang="es-MX" sz="1600" b="0" i="1" smtClean="0">
                                            <a:latin typeface="Cambria Math" panose="02040503050406030204" pitchFamily="18" charset="0"/>
                                            <a:cs typeface="Arial" panose="020B0604020202020204" pitchFamily="34" charset="0"/>
                                          </a:rPr>
                                          <m:t>𝑥</m:t>
                                        </m:r>
                                      </m:e>
                                    </m:d>
                                    <m:r>
                                      <a:rPr lang="es-MX" sz="1600" b="0" i="1" smtClean="0">
                                        <a:latin typeface="Cambria Math" panose="02040503050406030204" pitchFamily="18" charset="0"/>
                                        <a:ea typeface="Cambria Math" panose="02040503050406030204" pitchFamily="18" charset="0"/>
                                        <a:cs typeface="Arial" panose="020B0604020202020204" pitchFamily="34" charset="0"/>
                                      </a:rPr>
                                      <m:t>∨</m:t>
                                    </m:r>
                                    <m:r>
                                      <a:rPr lang="es-MX" sz="1600" b="0" i="1" smtClean="0">
                                        <a:latin typeface="Cambria Math" panose="02040503050406030204" pitchFamily="18" charset="0"/>
                                        <a:ea typeface="Cambria Math" panose="02040503050406030204" pitchFamily="18" charset="0"/>
                                        <a:cs typeface="Arial" panose="020B0604020202020204" pitchFamily="34" charset="0"/>
                                      </a:rPr>
                                      <m:t>𝑄</m:t>
                                    </m:r>
                                    <m:d>
                                      <m:dPr>
                                        <m:ctrlPr>
                                          <a:rPr lang="es-MX" sz="1600" b="0" i="1" smtClean="0">
                                            <a:latin typeface="Cambria Math" panose="02040503050406030204" pitchFamily="18" charset="0"/>
                                            <a:ea typeface="Cambria Math" panose="02040503050406030204" pitchFamily="18" charset="0"/>
                                            <a:cs typeface="Arial" panose="020B0604020202020204" pitchFamily="34" charset="0"/>
                                          </a:rPr>
                                        </m:ctrlPr>
                                      </m:dPr>
                                      <m:e>
                                        <m:r>
                                          <a:rPr lang="es-MX" sz="1600" b="0" i="1" smtClean="0">
                                            <a:latin typeface="Cambria Math" panose="02040503050406030204" pitchFamily="18" charset="0"/>
                                            <a:ea typeface="Cambria Math" panose="02040503050406030204" pitchFamily="18" charset="0"/>
                                            <a:cs typeface="Arial" panose="020B0604020202020204" pitchFamily="34" charset="0"/>
                                          </a:rPr>
                                          <m:t>𝑥</m:t>
                                        </m:r>
                                      </m:e>
                                    </m:d>
                                    <m:r>
                                      <a:rPr lang="es-MX" sz="1600" b="0" i="1" smtClean="0">
                                        <a:latin typeface="Cambria Math" panose="02040503050406030204" pitchFamily="18" charset="0"/>
                                        <a:ea typeface="Cambria Math" panose="02040503050406030204" pitchFamily="18" charset="0"/>
                                        <a:cs typeface="Arial" panose="020B0604020202020204" pitchFamily="34" charset="0"/>
                                      </a:rPr>
                                      <m:t>∨</m:t>
                                    </m:r>
                                    <m:r>
                                      <a:rPr lang="es-MX" sz="1600" b="0" i="1" smtClean="0">
                                        <a:latin typeface="Cambria Math" panose="02040503050406030204" pitchFamily="18" charset="0"/>
                                        <a:ea typeface="Cambria Math" panose="02040503050406030204" pitchFamily="18" charset="0"/>
                                        <a:cs typeface="Arial" panose="020B0604020202020204" pitchFamily="34" charset="0"/>
                                      </a:rPr>
                                      <m:t>𝑀</m:t>
                                    </m:r>
                                    <m:d>
                                      <m:dPr>
                                        <m:ctrlPr>
                                          <a:rPr lang="es-MX" sz="1600" b="0" i="1" smtClean="0">
                                            <a:latin typeface="Cambria Math" panose="02040503050406030204" pitchFamily="18" charset="0"/>
                                            <a:ea typeface="Cambria Math" panose="02040503050406030204" pitchFamily="18" charset="0"/>
                                            <a:cs typeface="Arial" panose="020B0604020202020204" pitchFamily="34" charset="0"/>
                                          </a:rPr>
                                        </m:ctrlPr>
                                      </m:dPr>
                                      <m:e>
                                        <m:r>
                                          <a:rPr lang="es-MX" sz="1600" b="0" i="1" smtClean="0">
                                            <a:latin typeface="Cambria Math" panose="02040503050406030204" pitchFamily="18" charset="0"/>
                                            <a:ea typeface="Cambria Math" panose="02040503050406030204" pitchFamily="18" charset="0"/>
                                            <a:cs typeface="Arial" panose="020B0604020202020204" pitchFamily="34" charset="0"/>
                                          </a:rPr>
                                          <m:t>𝑥</m:t>
                                        </m:r>
                                      </m:e>
                                    </m:d>
                                  </m:e>
                                </m:d>
                                <m:r>
                                  <a:rPr lang="es-MX" sz="1600" b="0" i="1" smtClean="0">
                                    <a:latin typeface="Cambria Math" panose="02040503050406030204" pitchFamily="18" charset="0"/>
                                    <a:ea typeface="Cambria Math" panose="02040503050406030204" pitchFamily="18" charset="0"/>
                                    <a:cs typeface="Arial" panose="020B0604020202020204" pitchFamily="34" charset="0"/>
                                  </a:rPr>
                                  <m:t> </m:t>
                                </m:r>
                                <m:r>
                                  <a:rPr lang="es-MX" sz="1600" b="0" i="1" smtClean="0">
                                    <a:latin typeface="Cambria Math" panose="02040503050406030204" pitchFamily="18" charset="0"/>
                                    <a:cs typeface="Arial" panose="020B0604020202020204" pitchFamily="34" charset="0"/>
                                  </a:rPr>
                                  <m:t>  </m:t>
                                </m:r>
                              </m:oMath>
                            </m:oMathPara>
                          </a14:m>
                          <a:endParaRPr lang="es-MX" sz="1600" b="0" kern="1200" dirty="0">
                            <a:solidFill>
                              <a:srgbClr val="000000"/>
                            </a:solidFill>
                            <a:latin typeface="Arial"/>
                            <a:ea typeface="Arial"/>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s-CO" sz="1600" kern="1200" dirty="0">
                            <a:solidFill>
                              <a:srgbClr val="000000"/>
                            </a:solidFill>
                            <a:latin typeface="Arial"/>
                            <a:ea typeface="Arial"/>
                            <a:cs typeface="Arial" panose="020B0604020202020204" pitchFamily="34" charset="0"/>
                          </a:endParaRPr>
                        </a:p>
                        <a:p>
                          <a:endParaRPr lang="es-CO" sz="1600" dirty="0">
                            <a:latin typeface="+mn-lt"/>
                            <a:cs typeface="Arial" panose="020B0604020202020204" pitchFamily="34" charset="0"/>
                          </a:endParaRP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714967203"/>
                      </a:ext>
                    </a:extLst>
                  </a:tr>
                </a:tbl>
              </a:graphicData>
            </a:graphic>
          </p:graphicFrame>
        </mc:Choice>
        <mc:Fallback>
          <p:graphicFrame>
            <p:nvGraphicFramePr>
              <p:cNvPr id="7" name="Tabla 2">
                <a:extLst>
                  <a:ext uri="{FF2B5EF4-FFF2-40B4-BE49-F238E27FC236}">
                    <a16:creationId xmlns:a16="http://schemas.microsoft.com/office/drawing/2014/main" id="{D07020A5-7841-4BCC-B2A6-312198312307}"/>
                  </a:ext>
                </a:extLst>
              </p:cNvPr>
              <p:cNvGraphicFramePr>
                <a:graphicFrameLocks noGrp="1"/>
              </p:cNvGraphicFramePr>
              <p:nvPr>
                <p:extLst>
                  <p:ext uri="{D42A27DB-BD31-4B8C-83A1-F6EECF244321}">
                    <p14:modId xmlns:p14="http://schemas.microsoft.com/office/powerpoint/2010/main" val="2519104535"/>
                  </p:ext>
                </p:extLst>
              </p:nvPr>
            </p:nvGraphicFramePr>
            <p:xfrm>
              <a:off x="5775748" y="1045538"/>
              <a:ext cx="5908252" cy="1288098"/>
            </p:xfrm>
            <a:graphic>
              <a:graphicData uri="http://schemas.openxmlformats.org/drawingml/2006/table">
                <a:tbl>
                  <a:tblPr firstRow="1" bandRow="1">
                    <a:tableStyleId>{AD6A3598-7CB8-4345-8D95-17CE05F158A0}</a:tableStyleId>
                  </a:tblPr>
                  <a:tblGrid>
                    <a:gridCol w="2954126">
                      <a:extLst>
                        <a:ext uri="{9D8B030D-6E8A-4147-A177-3AD203B41FA5}">
                          <a16:colId xmlns:a16="http://schemas.microsoft.com/office/drawing/2014/main" val="3377211390"/>
                        </a:ext>
                      </a:extLst>
                    </a:gridCol>
                    <a:gridCol w="2954126">
                      <a:extLst>
                        <a:ext uri="{9D8B030D-6E8A-4147-A177-3AD203B41FA5}">
                          <a16:colId xmlns:a16="http://schemas.microsoft.com/office/drawing/2014/main" val="1918659203"/>
                        </a:ext>
                      </a:extLst>
                    </a:gridCol>
                  </a:tblGrid>
                  <a:tr h="370840">
                    <a:tc>
                      <a:txBody>
                        <a:bodyPr/>
                        <a:lstStyle/>
                        <a:p>
                          <a:pPr algn="ctr"/>
                          <a:r>
                            <a:rPr lang="es-CO" sz="1800" b="1" dirty="0">
                              <a:latin typeface="+mn-lt"/>
                              <a:cs typeface="Arial" panose="020B0604020202020204" pitchFamily="34" charset="0"/>
                            </a:rPr>
                            <a:t>Premisas</a:t>
                          </a:r>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a:r>
                            <a:rPr lang="es-CO" sz="1800" b="1" dirty="0">
                              <a:latin typeface="+mn-lt"/>
                              <a:cs typeface="Arial" panose="020B0604020202020204" pitchFamily="34" charset="0"/>
                            </a:rPr>
                            <a:t>Conclusión</a:t>
                          </a:r>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282695394"/>
                      </a:ext>
                    </a:extLst>
                  </a:tr>
                  <a:tr h="917258">
                    <a:tc>
                      <a:txBody>
                        <a:bodyPr/>
                        <a:lstStyle/>
                        <a:p>
                          <a:endParaRPr lang="es-CO"/>
                        </a:p>
                      </a:txBody>
                      <a:tcPr>
                        <a:lnL w="9525" cap="flat" cmpd="sng">
                          <a:noFill/>
                          <a:prstDash val="solid"/>
                          <a:round/>
                          <a:headEnd type="none" w="sm" len="sm"/>
                          <a:tailEnd type="none" w="sm" len="sm"/>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t="-43709" r="-100206" b="-1325"/>
                          </a:stretch>
                        </a:blipFill>
                      </a:tcPr>
                    </a:tc>
                    <a:tc>
                      <a:txBody>
                        <a:bodyPr/>
                        <a:lstStyle/>
                        <a:p>
                          <a:endParaRPr lang="es-CO"/>
                        </a:p>
                      </a:txBody>
                      <a:tcPr>
                        <a:lnL w="12700" cap="flat" cmpd="sng" algn="ctr">
                          <a:solidFill>
                            <a:schemeClr val="tx1"/>
                          </a:solidFill>
                          <a:prstDash val="solid"/>
                          <a:round/>
                          <a:headEnd type="none" w="med" len="med"/>
                          <a:tailEnd type="none" w="med" len="med"/>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blipFill>
                          <a:blip r:embed="rId3"/>
                          <a:stretch>
                            <a:fillRect l="-100000" t="-43709" r="-206" b="-1325"/>
                          </a:stretch>
                        </a:blipFill>
                      </a:tcPr>
                    </a:tc>
                    <a:extLst>
                      <a:ext uri="{0D108BD9-81ED-4DB2-BD59-A6C34878D82A}">
                        <a16:rowId xmlns:a16="http://schemas.microsoft.com/office/drawing/2014/main" val="714967203"/>
                      </a:ext>
                    </a:extLst>
                  </a:tr>
                </a:tbl>
              </a:graphicData>
            </a:graphic>
          </p:graphicFrame>
        </mc:Fallback>
      </mc:AlternateContent>
      <p:graphicFrame>
        <p:nvGraphicFramePr>
          <p:cNvPr id="8" name="Tabla 2">
            <a:extLst>
              <a:ext uri="{FF2B5EF4-FFF2-40B4-BE49-F238E27FC236}">
                <a16:creationId xmlns:a16="http://schemas.microsoft.com/office/drawing/2014/main" id="{E9306342-AAAD-48FF-A7DD-ACD0F3B38C45}"/>
              </a:ext>
            </a:extLst>
          </p:cNvPr>
          <p:cNvGraphicFramePr>
            <a:graphicFrameLocks noGrp="1"/>
          </p:cNvGraphicFramePr>
          <p:nvPr>
            <p:extLst>
              <p:ext uri="{D42A27DB-BD31-4B8C-83A1-F6EECF244321}">
                <p14:modId xmlns:p14="http://schemas.microsoft.com/office/powerpoint/2010/main" val="3342740445"/>
              </p:ext>
            </p:extLst>
          </p:nvPr>
        </p:nvGraphicFramePr>
        <p:xfrm>
          <a:off x="5515780" y="2657465"/>
          <a:ext cx="5991942" cy="3733800"/>
        </p:xfrm>
        <a:graphic>
          <a:graphicData uri="http://schemas.openxmlformats.org/drawingml/2006/table">
            <a:tbl>
              <a:tblPr firstRow="1" bandRow="1">
                <a:tableStyleId>{AD6A3598-7CB8-4345-8D95-17CE05F158A0}</a:tableStyleId>
              </a:tblPr>
              <a:tblGrid>
                <a:gridCol w="371928">
                  <a:extLst>
                    <a:ext uri="{9D8B030D-6E8A-4147-A177-3AD203B41FA5}">
                      <a16:colId xmlns:a16="http://schemas.microsoft.com/office/drawing/2014/main" val="1610952478"/>
                    </a:ext>
                  </a:extLst>
                </a:gridCol>
                <a:gridCol w="134543">
                  <a:extLst>
                    <a:ext uri="{9D8B030D-6E8A-4147-A177-3AD203B41FA5}">
                      <a16:colId xmlns:a16="http://schemas.microsoft.com/office/drawing/2014/main" val="1919891108"/>
                    </a:ext>
                  </a:extLst>
                </a:gridCol>
                <a:gridCol w="2185929">
                  <a:extLst>
                    <a:ext uri="{9D8B030D-6E8A-4147-A177-3AD203B41FA5}">
                      <a16:colId xmlns:a16="http://schemas.microsoft.com/office/drawing/2014/main" val="2942974496"/>
                    </a:ext>
                  </a:extLst>
                </a:gridCol>
                <a:gridCol w="3299542">
                  <a:extLst>
                    <a:ext uri="{9D8B030D-6E8A-4147-A177-3AD203B41FA5}">
                      <a16:colId xmlns:a16="http://schemas.microsoft.com/office/drawing/2014/main" val="4281859008"/>
                    </a:ext>
                  </a:extLst>
                </a:gridCol>
              </a:tblGrid>
              <a:tr h="370840">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2">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s-CO" sz="1800" b="1" dirty="0">
                          <a:latin typeface="+mn-lt"/>
                          <a:ea typeface="Roboto" panose="02000000000000000000" pitchFamily="2" charset="0"/>
                        </a:rPr>
                        <a:t>Afirmación</a:t>
                      </a:r>
                      <a:endParaRPr lang="es-CO" sz="16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s-CO" sz="2000" b="1" dirty="0">
                          <a:latin typeface="+mn-lt"/>
                          <a:ea typeface="Roboto" panose="02000000000000000000" pitchFamily="2" charset="0"/>
                        </a:rPr>
                        <a:t>Razón</a:t>
                      </a: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0073712"/>
                  </a:ext>
                </a:extLst>
              </a:tr>
              <a:tr h="370840">
                <a:tc gridSpan="2">
                  <a:txBody>
                    <a:bodyPr/>
                    <a:lstStyle/>
                    <a:p>
                      <a:pPr/>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b="1"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12700" cap="flat" cmpd="sng" algn="ctr">
                      <a:solidFill>
                        <a:schemeClr val="tx1"/>
                      </a:solidFill>
                      <a:prstDash val="solid"/>
                      <a:round/>
                      <a:headEnd type="none" w="med" len="med"/>
                      <a:tailEnd type="none" w="med" len="med"/>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343470127"/>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7809005"/>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325827864"/>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74396960"/>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87912512"/>
                  </a:ext>
                </a:extLst>
              </a:tr>
              <a:tr h="370840">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244816522"/>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38459320"/>
                  </a:ext>
                </a:extLst>
              </a:tr>
              <a:tr h="370840">
                <a:tc gridSpan="2">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520592092"/>
                  </a:ext>
                </a:extLst>
              </a:tr>
              <a:tr h="370840">
                <a:tc gridSpan="2">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hMerge="1">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lang="es-CO" sz="1600" dirty="0"/>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tc>
                  <a:txBody>
                    <a:bodyPr/>
                    <a:lstStyle/>
                    <a:p>
                      <a:endParaRPr lang="es-CO" sz="1800" b="1" dirty="0">
                        <a:latin typeface="+mn-lt"/>
                        <a:ea typeface="Roboto" panose="02000000000000000000" pitchFamily="2" charset="0"/>
                      </a:endParaRPr>
                    </a:p>
                  </a:txBody>
                  <a:tcPr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16840162"/>
                  </a:ext>
                </a:extLst>
              </a:tr>
            </a:tbl>
          </a:graphicData>
        </a:graphic>
      </p:graphicFrame>
    </p:spTree>
    <p:extLst>
      <p:ext uri="{BB962C8B-B14F-4D97-AF65-F5344CB8AC3E}">
        <p14:creationId xmlns:p14="http://schemas.microsoft.com/office/powerpoint/2010/main" val="305643442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27744</TotalTime>
  <Words>3301</Words>
  <Application>Microsoft Office PowerPoint</Application>
  <PresentationFormat>Panorámica</PresentationFormat>
  <Paragraphs>650</Paragraphs>
  <Slides>29</Slides>
  <Notes>29</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29</vt:i4>
      </vt:variant>
    </vt:vector>
  </HeadingPairs>
  <TitlesOfParts>
    <vt:vector size="36" baseType="lpstr">
      <vt:lpstr>Arial</vt:lpstr>
      <vt:lpstr>Calibri</vt:lpstr>
      <vt:lpstr>Roboto Slab</vt:lpstr>
      <vt:lpstr>Calibri Light</vt:lpstr>
      <vt:lpstr>Cambria Math</vt:lpstr>
      <vt:lpstr>Roboto</vt:lpstr>
      <vt:lpstr>Tema de Office</vt:lpstr>
      <vt:lpstr> Matemáticas Discretas I</vt:lpstr>
      <vt:lpstr>Equivalencias en lógica de predicados</vt:lpstr>
      <vt:lpstr>Equivalencias lógica proposicional</vt:lpstr>
      <vt:lpstr>Equivalencias lógica cuantificacional</vt:lpstr>
      <vt:lpstr>Reglas de inferencia</vt:lpstr>
      <vt:lpstr>Lógica proposicional</vt:lpstr>
      <vt:lpstr>Reglas de inferencia con cuantificadores</vt:lpstr>
      <vt:lpstr>Reglas de inferencia con cuantificadores</vt:lpstr>
      <vt:lpstr>Reglas de inferencia con cuantificadores</vt:lpstr>
      <vt:lpstr>Reglas de inferencia con cuantificadores</vt:lpstr>
      <vt:lpstr>Reglas de inferencia con cuantificadores</vt:lpstr>
      <vt:lpstr>Equivalencias lógica proposicional</vt:lpstr>
      <vt:lpstr>Reglas de inferencia</vt:lpstr>
      <vt:lpstr>Equivalencias lógica cuantificacional</vt:lpstr>
      <vt:lpstr>Ejemplos</vt:lpstr>
      <vt:lpstr>Ejemplos</vt:lpstr>
      <vt:lpstr>Ejemplos</vt:lpstr>
      <vt:lpstr>Ejemplos</vt:lpstr>
      <vt:lpstr>Ejemplos</vt:lpstr>
      <vt:lpstr>Ejemplos</vt:lpstr>
      <vt:lpstr>Ejercicios de repaso</vt:lpstr>
      <vt:lpstr>Ejercicios de repaso</vt:lpstr>
      <vt:lpstr>Ejercicios de repaso</vt:lpstr>
      <vt:lpstr>Ejercicios de repaso</vt:lpstr>
      <vt:lpstr>Ejercicios de repaso</vt:lpstr>
      <vt:lpstr>Ejercicios de repaso</vt:lpstr>
      <vt:lpstr>Ejercicios de repaso</vt:lpstr>
      <vt:lpstr>Ejercicios de repaso</vt:lpstr>
      <vt:lpstr>Ejercicios de repaso</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Curso Matemáticas Discretas I</dc:title>
  <dc:creator>Usuario</dc:creator>
  <cp:lastModifiedBy>HENRY ALBERTO ARCILA RAMIREZ</cp:lastModifiedBy>
  <cp:revision>339</cp:revision>
  <dcterms:modified xsi:type="dcterms:W3CDTF">2026-04-23T13:14:39Z</dcterms:modified>
</cp:coreProperties>
</file>