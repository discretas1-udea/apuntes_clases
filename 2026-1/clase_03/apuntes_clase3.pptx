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4" r:id="rId8"/>
    <p:sldId id="267" r:id="rId9"/>
    <p:sldId id="265" r:id="rId10"/>
    <p:sldId id="268" r:id="rId11"/>
    <p:sldId id="269" r:id="rId12"/>
    <p:sldId id="275" r:id="rId13"/>
    <p:sldId id="276" r:id="rId14"/>
    <p:sldId id="278" r:id="rId15"/>
    <p:sldId id="279" r:id="rId16"/>
    <p:sldId id="280" r:id="rId17"/>
    <p:sldId id="281" r:id="rId18"/>
    <p:sldId id="282" r:id="rId19"/>
    <p:sldId id="283" r:id="rId20"/>
    <p:sldId id="270" r:id="rId21"/>
    <p:sldId id="286" r:id="rId22"/>
    <p:sldId id="284" r:id="rId23"/>
    <p:sldId id="287" r:id="rId24"/>
    <p:sldId id="288" r:id="rId25"/>
    <p:sldId id="289" r:id="rId26"/>
    <p:sldId id="290" r:id="rId27"/>
    <p:sldId id="271" r:id="rId28"/>
    <p:sldId id="272" r:id="rId29"/>
    <p:sldId id="291" r:id="rId30"/>
    <p:sldId id="292" r:id="rId31"/>
    <p:sldId id="293" r:id="rId32"/>
    <p:sldId id="298" r:id="rId3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42770-6FBD-4BB4-A2B9-23B83B79F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0A678D-ACF8-42CB-B602-771D3671A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A27A23-4A75-4158-B3E1-3279D54A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5C36C1-26A3-49BE-A8A8-656951FE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69EE2A-0423-43AD-9F4C-5952D9F2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44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926FE-A781-4BB8-B275-F95FB8E1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D71A97-A3C2-4295-8826-D28A126AD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06F645-AB27-4911-BCC9-574BF367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A8FE45-F388-46E1-847F-D74F2CDF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E19B6D-4D65-4A9C-873F-E7FFC1C6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438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6E4C1-EE2C-4DF3-B95E-10353CE8F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36596D-34C7-480C-B7C7-AE611D66A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F39E0B-86F6-4DD6-8E06-F04AB91D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028C16-2CC1-490E-9309-92C8F9A0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EC182E-E5DD-4074-AA33-D149FC81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244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F4A12-1EEC-4400-93DE-671E040E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44AD98-7D87-40F1-9981-C755DC426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3F4873-7AED-4F9D-9103-5818CC36D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EDBBA8-578A-446A-800E-01BDB42C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82B379-A5D7-4342-86D7-62F9B931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451239-35D4-4220-9B22-7EE6E22E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4234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EBB5A-6224-4348-9B94-4161FF843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CF24BE-9C24-4CA6-8A5C-36DBE9285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DEFA7D-A451-44F4-B5C6-2ACBE2F84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B200E4-6816-4997-87AF-39943A087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501A54D-0CA9-4172-B839-F19F04CFF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98EF700-2071-4D13-B6EE-34550DBEF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078420-F81E-408E-A9AB-0F92562DA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306ED8-BF80-4607-B42A-65A6846C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198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C3652-A105-4D57-9F69-2D3E81B5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5AD369-43CB-4B39-8D56-C54136FF9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DF48D6-33A3-43B8-9361-244B90D5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288C44-51DA-4E62-85C0-E253415A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7FBCCC-D27A-4A96-85AB-1BAF6493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C6C721-C0F1-483D-97A4-E08FDBE3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EA1B9F-FE52-448D-B841-4A00EEA7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978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02A91-1D28-42A9-B21E-EFA7DDA2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294BA1-5B56-44D0-B843-FE7B2B25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0E838D-4388-42AC-AC13-A32F7F7E4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099FCE-0501-4EC2-A21B-EDDDE2E6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EAC3F1-97ED-4708-B0C0-2A867F73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88FABF-430B-4BBC-AAF0-0C3836E0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69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43730-08F4-474D-BF3B-2673A2E08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1ADB43-4142-4E41-9C02-2EC1C4EE5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40C94E-B1B0-42F9-8668-259526B6F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67A2EA-ED3A-479F-B942-4062C664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C577A8-F277-4E96-AC0F-E0581A09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59C557-34C4-49D7-B43D-1D70DA147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189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9DA3E-683D-49C3-B835-5DA47B06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2A7221-F084-498B-A2A3-827959A70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26429-F5E6-4B51-8B8E-E05BD785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10D87B-E1BE-4DE4-9F60-CD7364B2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6E0DB5-B959-49A6-9256-FDCF4D4D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011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88A24B-644E-406E-86FA-07F4B0DB5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82AB56-3945-4933-BAEA-72759D362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9CA228-69BD-4106-8570-761E9E57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BA0E29-7829-410A-9C8D-1D51D1C5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41274-8A44-49CB-A1AD-9434CB35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1293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5368ED-5B28-4202-9E33-32EC05B8A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C0C07D-486C-406F-ABEB-E3692C2CE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1E458E-9971-4F89-8F75-BCD52B592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13CD78-927C-4944-A41E-D7C93DAE7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0AC53E-55C5-4980-8039-C8B4C48B2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109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retas1-udea.github.io/discretas1-udea-20261/lessons/mod1/clase2/" TargetMode="External"/><Relationship Id="rId2" Type="http://schemas.openxmlformats.org/officeDocument/2006/relationships/hyperlink" Target="https://discretas1-udea.github.io/discretas1-udea-20261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scretas1-udea.github.io/discretas1-udea-20261/assets/slides/clase2.pd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1E613-42B3-43C2-8E09-AFBF8FB95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/>
              <a:t>Matemáticas Discretas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E98DC3-5DEF-4734-A422-0A017D4D3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4000" b="1" dirty="0"/>
              <a:t>Clase 03</a:t>
            </a:r>
          </a:p>
          <a:p>
            <a:r>
              <a:rPr lang="es-CO" dirty="0"/>
              <a:t>17/02/2025</a:t>
            </a:r>
          </a:p>
        </p:txBody>
      </p:sp>
    </p:spTree>
    <p:extLst>
      <p:ext uri="{BB962C8B-B14F-4D97-AF65-F5344CB8AC3E}">
        <p14:creationId xmlns:p14="http://schemas.microsoft.com/office/powerpoint/2010/main" val="270481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Recursos de esta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b="1" dirty="0"/>
              <a:t>Pagina web</a:t>
            </a:r>
            <a:r>
              <a:rPr lang="es-CO" dirty="0"/>
              <a:t>: </a:t>
            </a:r>
            <a:r>
              <a:rPr lang="es-CO" dirty="0">
                <a:hlinkClick r:id="rId2"/>
              </a:rPr>
              <a:t>https://discretas1-udea.github.io/discretas1-udea-20261/</a:t>
            </a:r>
            <a:endParaRPr lang="es-CO" dirty="0"/>
          </a:p>
          <a:p>
            <a:pPr lvl="1"/>
            <a:r>
              <a:rPr lang="es-CO" b="1" dirty="0"/>
              <a:t>Clase 2</a:t>
            </a:r>
            <a:r>
              <a:rPr lang="es-CO" dirty="0"/>
              <a:t>: </a:t>
            </a:r>
            <a:r>
              <a:rPr lang="es-CO" dirty="0">
                <a:hlinkClick r:id="rId3"/>
              </a:rPr>
              <a:t>https://discretas1-udea.github.io/discretas1-udea-20261/lessons/mod1/clase2/</a:t>
            </a:r>
            <a:endParaRPr lang="es-CO" dirty="0"/>
          </a:p>
          <a:p>
            <a:r>
              <a:rPr lang="es-CO" b="1" dirty="0"/>
              <a:t>Diapositivas</a:t>
            </a:r>
            <a:r>
              <a:rPr lang="es-CO" dirty="0"/>
              <a:t>: </a:t>
            </a:r>
            <a:r>
              <a:rPr lang="es-CO" dirty="0">
                <a:hlinkClick r:id="rId4"/>
              </a:rPr>
              <a:t>https://discretas1-udea.github.io/discretas1-udea-20261/assets/slides/clase2.pdf</a:t>
            </a:r>
            <a:endParaRPr lang="es-CO" dirty="0"/>
          </a:p>
          <a:p>
            <a:pPr marL="0" indent="0">
              <a:buNone/>
            </a:pP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6998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970"/>
            <a:ext cx="10515600" cy="4351338"/>
          </a:xfrm>
        </p:spPr>
        <p:txBody>
          <a:bodyPr/>
          <a:lstStyle/>
          <a:p>
            <a:r>
              <a:rPr lang="es-CO" dirty="0"/>
              <a:t>Repaso clase anterior</a:t>
            </a:r>
          </a:p>
          <a:p>
            <a:r>
              <a:rPr lang="es-CO" dirty="0"/>
              <a:t>Axiomas de verdad  - Sobre los operadores</a:t>
            </a:r>
          </a:p>
          <a:p>
            <a:r>
              <a:rPr lang="es-CO" dirty="0"/>
              <a:t>Evaluación de expresiones lógicas</a:t>
            </a:r>
          </a:p>
          <a:p>
            <a:r>
              <a:rPr lang="es-CO" dirty="0"/>
              <a:t>Tablas de verdad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9693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55" y="226580"/>
            <a:ext cx="11430000" cy="867929"/>
          </a:xfrm>
        </p:spPr>
        <p:txBody>
          <a:bodyPr/>
          <a:lstStyle/>
          <a:p>
            <a:r>
              <a:rPr lang="es-CO" b="1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746" y="1219200"/>
            <a:ext cx="11305309" cy="5135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</a:rPr>
              <a:t>Lenguaje natural</a:t>
            </a:r>
          </a:p>
          <a:p>
            <a:r>
              <a:rPr lang="es-CO" sz="2400" dirty="0"/>
              <a:t>El lenguaje es la herramienta principal para nuestra comunicación.</a:t>
            </a:r>
          </a:p>
          <a:p>
            <a:pPr lvl="1"/>
            <a:r>
              <a:rPr lang="es-CO" sz="2200" b="1" dirty="0"/>
              <a:t>Oración</a:t>
            </a:r>
            <a:r>
              <a:rPr lang="es-CO" sz="2200" dirty="0"/>
              <a:t>: Unidad mínima que encierra un significado.</a:t>
            </a:r>
          </a:p>
          <a:p>
            <a:endParaRPr lang="es-CO" sz="2600" dirty="0"/>
          </a:p>
          <a:p>
            <a:pPr marL="457200" lvl="1" indent="0" algn="ctr">
              <a:buNone/>
            </a:pPr>
            <a:r>
              <a:rPr lang="es-CO" sz="2000" dirty="0"/>
              <a:t>El candidato a la alcaldía del partido tradicional se quemó en las elecciones de ayer.</a:t>
            </a:r>
          </a:p>
          <a:p>
            <a:endParaRPr lang="es-CO" sz="2600" dirty="0"/>
          </a:p>
          <a:p>
            <a:endParaRPr lang="es-CO" sz="2600" dirty="0"/>
          </a:p>
          <a:p>
            <a:r>
              <a:rPr lang="es-CO" sz="2600" dirty="0"/>
              <a:t>Uno de los problemas del lenguaje natural es su ambigüedad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23493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493417"/>
            <a:ext cx="11374582" cy="4838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3000" b="1" dirty="0">
                <a:solidFill>
                  <a:schemeClr val="accent2"/>
                </a:solidFill>
              </a:rPr>
              <a:t>Tipos de enunciados</a:t>
            </a:r>
          </a:p>
          <a:p>
            <a:pPr lvl="1"/>
            <a:endParaRPr lang="es-CO" sz="2800" dirty="0"/>
          </a:p>
          <a:p>
            <a:pPr lvl="1"/>
            <a:endParaRPr lang="es-CO" sz="2800" dirty="0"/>
          </a:p>
          <a:p>
            <a:pPr lvl="1"/>
            <a:endParaRPr lang="es-CO" sz="2800" dirty="0"/>
          </a:p>
          <a:p>
            <a:pPr lvl="1"/>
            <a:endParaRPr lang="es-CO" sz="2800" dirty="0"/>
          </a:p>
          <a:p>
            <a:pPr lvl="1"/>
            <a:endParaRPr lang="es-CO" sz="2800" dirty="0"/>
          </a:p>
          <a:p>
            <a:pPr lvl="1"/>
            <a:endParaRPr lang="es-CO" sz="2800" dirty="0"/>
          </a:p>
          <a:p>
            <a:pPr lvl="1"/>
            <a:r>
              <a:rPr lang="es-CO" sz="2000" b="1" dirty="0"/>
              <a:t>Importante</a:t>
            </a:r>
            <a:r>
              <a:rPr lang="es-CO" sz="2000" dirty="0"/>
              <a:t>: En este curso solo nos vamos a centrar en los enunciados declarativos.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6CFFE42-4C85-4C26-8EA6-1F8750CE0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329874"/>
              </p:ext>
            </p:extLst>
          </p:nvPr>
        </p:nvGraphicFramePr>
        <p:xfrm>
          <a:off x="1149927" y="2301326"/>
          <a:ext cx="10203873" cy="1981200"/>
        </p:xfrm>
        <a:graphic>
          <a:graphicData uri="http://schemas.openxmlformats.org/drawingml/2006/table">
            <a:tbl>
              <a:tblPr/>
              <a:tblGrid>
                <a:gridCol w="2161309">
                  <a:extLst>
                    <a:ext uri="{9D8B030D-6E8A-4147-A177-3AD203B41FA5}">
                      <a16:colId xmlns:a16="http://schemas.microsoft.com/office/drawing/2014/main" val="842039229"/>
                    </a:ext>
                  </a:extLst>
                </a:gridCol>
                <a:gridCol w="4028043">
                  <a:extLst>
                    <a:ext uri="{9D8B030D-6E8A-4147-A177-3AD203B41FA5}">
                      <a16:colId xmlns:a16="http://schemas.microsoft.com/office/drawing/2014/main" val="3920924801"/>
                    </a:ext>
                  </a:extLst>
                </a:gridCol>
                <a:gridCol w="4014521">
                  <a:extLst>
                    <a:ext uri="{9D8B030D-6E8A-4147-A177-3AD203B41FA5}">
                      <a16:colId xmlns:a16="http://schemas.microsoft.com/office/drawing/2014/main" val="27184543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000" b="1" dirty="0">
                          <a:effectLst/>
                        </a:rPr>
                        <a:t>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>
                          <a:effectLst/>
                        </a:rPr>
                        <a:t>Intención Comunicativa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>
                          <a:effectLst/>
                        </a:rPr>
                        <a:t>Ejemplo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46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000" dirty="0">
                          <a:effectLst/>
                        </a:rPr>
                        <a:t>Declarativo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effectLst/>
                        </a:rPr>
                        <a:t>Informar o afirmar un hecho.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effectLst/>
                        </a:rPr>
                        <a:t>“Pedro es el esposo de Vilma.”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457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000">
                          <a:effectLst/>
                        </a:rPr>
                        <a:t>Interrogativo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effectLst/>
                        </a:rPr>
                        <a:t>Preguntar o solicitar información.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effectLst/>
                        </a:rPr>
                        <a:t>“¿Dino es el perro de los Mármol?”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687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000">
                          <a:effectLst/>
                        </a:rPr>
                        <a:t>Imperativo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effectLst/>
                        </a:rPr>
                        <a:t>Ordenar o solicitar una acción.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effectLst/>
                        </a:rPr>
                        <a:t>“¡Estudia para el examen!”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35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000" dirty="0">
                          <a:effectLst/>
                        </a:rPr>
                        <a:t>Exclamativo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effectLst/>
                        </a:rPr>
                        <a:t>Expresar emoción o sorpresa.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effectLst/>
                        </a:rPr>
                        <a:t>“¡Qué día tan caluroso!”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625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3648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s-CO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055" y="929272"/>
            <a:ext cx="11443853" cy="54161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</a:rPr>
              <a:t>Proposicion</a:t>
            </a:r>
          </a:p>
          <a:p>
            <a:r>
              <a:rPr lang="es-MX" sz="2000" b="1" dirty="0"/>
              <a:t>Definición</a:t>
            </a:r>
            <a:r>
              <a:rPr lang="es-MX" sz="2000" dirty="0"/>
              <a:t>: Es un enunciado declarativo que solo puede puede ser verdadera (</a:t>
            </a:r>
            <a:r>
              <a:rPr lang="es-MX" sz="2000" b="1" dirty="0"/>
              <a:t>V</a:t>
            </a:r>
            <a:r>
              <a:rPr lang="es-MX" sz="2000" dirty="0"/>
              <a:t>) o falsa pero no ambos (</a:t>
            </a:r>
            <a:r>
              <a:rPr lang="es-MX" sz="2000" b="1" dirty="0"/>
              <a:t>F</a:t>
            </a:r>
            <a:r>
              <a:rPr lang="es-MX" sz="2000" dirty="0"/>
              <a:t>).</a:t>
            </a:r>
          </a:p>
          <a:p>
            <a:pPr algn="ctr"/>
            <a:endParaRPr lang="es-MX" sz="2000" dirty="0"/>
          </a:p>
          <a:p>
            <a:pPr marL="0" indent="0" algn="ctr">
              <a:buNone/>
            </a:pPr>
            <a:r>
              <a:rPr lang="es-MX" sz="2000" dirty="0"/>
              <a:t>Este libro es difícil de leer</a:t>
            </a:r>
          </a:p>
          <a:p>
            <a:pPr marL="0" indent="0" algn="ctr">
              <a:buNone/>
            </a:pPr>
            <a:endParaRPr lang="es-MX" sz="2000" dirty="0"/>
          </a:p>
          <a:p>
            <a:pPr marL="0" indent="0" algn="ctr">
              <a:buNone/>
            </a:pPr>
            <a:r>
              <a:rPr lang="es-MX" sz="2000" dirty="0"/>
              <a:t>Esta oración es falsa</a:t>
            </a:r>
          </a:p>
          <a:p>
            <a:endParaRPr lang="es-MX" sz="2000" dirty="0"/>
          </a:p>
          <a:p>
            <a:r>
              <a:rPr lang="es-CO" sz="2000" b="1" dirty="0"/>
              <a:t>Tipos</a:t>
            </a:r>
            <a:r>
              <a:rPr lang="es-CO" sz="2000" dirty="0"/>
              <a:t>:</a:t>
            </a:r>
          </a:p>
          <a:p>
            <a:pPr lvl="1"/>
            <a:r>
              <a:rPr lang="es-CO" sz="2000" b="1" dirty="0"/>
              <a:t>Simples</a:t>
            </a:r>
            <a:r>
              <a:rPr lang="es-CO" sz="2000" dirty="0"/>
              <a:t>: Expresa un único hecho o idea.</a:t>
            </a:r>
          </a:p>
          <a:p>
            <a:pPr lvl="1"/>
            <a:endParaRPr lang="es-CO" sz="2000" dirty="0"/>
          </a:p>
          <a:p>
            <a:pPr marL="457200" lvl="1" indent="0" algn="ctr">
              <a:buNone/>
            </a:pPr>
            <a:r>
              <a:rPr lang="es-CO" sz="2000" dirty="0"/>
              <a:t>Jacob y Esau son Hijos de Isaac</a:t>
            </a:r>
          </a:p>
          <a:p>
            <a:pPr marL="457200" lvl="1" indent="0" algn="ctr">
              <a:buNone/>
            </a:pPr>
            <a:endParaRPr lang="es-CO" sz="2000" dirty="0"/>
          </a:p>
          <a:p>
            <a:pPr lvl="1"/>
            <a:r>
              <a:rPr lang="es-CO" sz="2000" b="1" dirty="0"/>
              <a:t>Compuestas</a:t>
            </a:r>
            <a:r>
              <a:rPr lang="es-CO" sz="2000" dirty="0"/>
              <a:t>: Varias expresiones simples unidas mediante </a:t>
            </a:r>
            <a:r>
              <a:rPr lang="es-CO" sz="2000" b="1" u="sng" dirty="0"/>
              <a:t>conectores</a:t>
            </a:r>
            <a:r>
              <a:rPr lang="es-CO" sz="2000" dirty="0"/>
              <a:t>.</a:t>
            </a:r>
          </a:p>
          <a:p>
            <a:pPr lvl="1"/>
            <a:endParaRPr lang="es-CO" sz="2000" dirty="0"/>
          </a:p>
          <a:p>
            <a:pPr marL="457200" lvl="1" indent="0" algn="ctr">
              <a:buNone/>
            </a:pPr>
            <a:r>
              <a:rPr lang="es-CO" sz="2000" dirty="0"/>
              <a:t>Como Jacob le dio un plato de lentejas a su padre, obtuvo su la </a:t>
            </a:r>
            <a:r>
              <a:rPr lang="es-CO" sz="2000" dirty="0" err="1"/>
              <a:t>primojenitura</a:t>
            </a:r>
            <a:r>
              <a:rPr lang="es-CO" sz="2000" dirty="0"/>
              <a:t>.</a:t>
            </a:r>
          </a:p>
          <a:p>
            <a:pPr lvl="1"/>
            <a:endParaRPr lang="es-CO" sz="2000" dirty="0"/>
          </a:p>
        </p:txBody>
      </p:sp>
      <p:pic>
        <p:nvPicPr>
          <p:cNvPr id="5122" name="Picture 2" descr="Jacob y Esaú">
            <a:extLst>
              <a:ext uri="{FF2B5EF4-FFF2-40B4-BE49-F238E27FC236}">
                <a16:creationId xmlns:a16="http://schemas.microsoft.com/office/drawing/2014/main" id="{5DE597D8-93AD-47E2-AC49-A729FD414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9695" y="3838143"/>
            <a:ext cx="2381250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9848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3417"/>
            <a:ext cx="10910455" cy="49994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</a:rPr>
              <a:t>Lenguaje formal</a:t>
            </a:r>
          </a:p>
          <a:p>
            <a:r>
              <a:rPr lang="es-MX" sz="2000" dirty="0"/>
              <a:t>Lenguaje Simbólico (Matemático) empleado para la construcción de expresiones lógicas.</a:t>
            </a:r>
          </a:p>
          <a:p>
            <a:r>
              <a:rPr lang="es-MX" sz="2000" dirty="0"/>
              <a:t>Elementos: Variables, Operadores, Reglas de formación.</a:t>
            </a:r>
          </a:p>
          <a:p>
            <a:pPr lvl="1"/>
            <a:endParaRPr lang="es-MX" sz="2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430120-F6CC-456C-AA06-5CF84527C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590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O" altLang="es-C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AFAC128-E8A8-4D6B-A643-E7D094C0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53" y="3056359"/>
            <a:ext cx="11021294" cy="258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70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3417"/>
            <a:ext cx="10910455" cy="49994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</a:rPr>
              <a:t>Operadores lógicos</a:t>
            </a:r>
          </a:p>
          <a:p>
            <a:pPr lvl="1"/>
            <a:r>
              <a:rPr lang="es-MX" dirty="0"/>
              <a:t>Permiten construir proposiciones compuestas.</a:t>
            </a:r>
            <a:endParaRPr lang="es-MX" sz="2400" dirty="0"/>
          </a:p>
          <a:p>
            <a:pPr lvl="1"/>
            <a:endParaRPr lang="es-MX" sz="2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430120-F6CC-456C-AA06-5CF84527C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590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O" altLang="es-C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BB98AE4-3101-4887-B2A9-C075B0301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253" y="2573727"/>
            <a:ext cx="9701494" cy="391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33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08" y="84304"/>
            <a:ext cx="10515600" cy="1325563"/>
          </a:xfrm>
        </p:spPr>
        <p:txBody>
          <a:bodyPr/>
          <a:lstStyle/>
          <a:p>
            <a:r>
              <a:rPr lang="es-CO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8" y="1093548"/>
            <a:ext cx="11582399" cy="1457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</a:rPr>
              <a:t>Proceso de traducción</a:t>
            </a:r>
          </a:p>
          <a:p>
            <a:r>
              <a:rPr lang="es-MX" sz="2000" b="1" dirty="0"/>
              <a:t>Definición</a:t>
            </a:r>
            <a:r>
              <a:rPr lang="es-MX" sz="2000" dirty="0"/>
              <a:t>: Proceso convertir una expresión en lenguaje natural a lenguaje formal y </a:t>
            </a:r>
            <a:r>
              <a:rPr lang="es-MX" sz="2000" dirty="0" err="1"/>
              <a:t>vicecersa</a:t>
            </a:r>
            <a:r>
              <a:rPr lang="es-MX" sz="2000"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64699E-E3B9-4111-8243-D731415AE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40866"/>
            <a:ext cx="9448799" cy="1871932"/>
          </a:xfrm>
          <a:prstGeom prst="rect">
            <a:avLst/>
          </a:prstGeom>
        </p:spPr>
      </p:pic>
      <p:pic>
        <p:nvPicPr>
          <p:cNvPr id="2050" name="Picture 2" descr="Futurama Titanic.">
            <a:extLst>
              <a:ext uri="{FF2B5EF4-FFF2-40B4-BE49-F238E27FC236}">
                <a16:creationId xmlns:a16="http://schemas.microsoft.com/office/drawing/2014/main" id="{65A47DC1-C4EB-40A8-B299-269D96872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685" y="4209454"/>
            <a:ext cx="1511877" cy="218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 know Futurama is known for its science accuracy so this question goes to  the Electric Engineers of Reddit. Bender is looking at this robot porno and  says &quot;You're a bad girl&quot;.">
            <a:extLst>
              <a:ext uri="{FF2B5EF4-FFF2-40B4-BE49-F238E27FC236}">
                <a16:creationId xmlns:a16="http://schemas.microsoft.com/office/drawing/2014/main" id="{BE27E670-BCA1-412E-94A0-FA1DD8888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111" y="4185696"/>
            <a:ext cx="1511877" cy="222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searcher says human-robot marriage will be acceptable one day | TechCrunch">
            <a:extLst>
              <a:ext uri="{FF2B5EF4-FFF2-40B4-BE49-F238E27FC236}">
                <a16:creationId xmlns:a16="http://schemas.microsoft.com/office/drawing/2014/main" id="{C932F063-0A45-448B-ACF0-6E1669258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689" y="3912798"/>
            <a:ext cx="2710295" cy="196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202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3417"/>
            <a:ext cx="11076709" cy="1935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latin typeface="Calibri (Cuerpo)"/>
              </a:rPr>
              <a:t>Pasos resumidos del proceso de traducción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i="0" dirty="0">
                <a:effectLst/>
                <a:latin typeface="Calibri (Cuerpo)"/>
              </a:rPr>
              <a:t>Detecte la estructura lógica (conectores)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i="0" dirty="0">
                <a:effectLst/>
                <a:latin typeface="Calibri (Cuerpo)"/>
              </a:rPr>
              <a:t>Defina proposiciones simples asociándolas a variables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i="0" dirty="0">
                <a:effectLst/>
                <a:latin typeface="Calibri (Cuerpo)"/>
              </a:rPr>
              <a:t>Construya la fórmula y verifique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FE300C0-C7B0-4886-B865-815BAD6EA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91" y="3664527"/>
            <a:ext cx="10404417" cy="22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8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471563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</a:rPr>
              <a:t>Ejemplos</a:t>
            </a:r>
            <a:r>
              <a:rPr lang="es-CO" dirty="0">
                <a:solidFill>
                  <a:schemeClr val="accent2"/>
                </a:solidFill>
              </a:rPr>
              <a:t> </a:t>
            </a:r>
          </a:p>
          <a:p>
            <a:pPr marL="0" indent="0">
              <a:buNone/>
            </a:pPr>
            <a:r>
              <a:rPr lang="es-CO" sz="2000" dirty="0"/>
              <a:t>Exprese las siguientes expresión en lenguaje formal:</a:t>
            </a:r>
            <a:endParaRPr lang="es-CO" sz="2000" b="1" dirty="0"/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Juan es estudiante de matemáticas pero no de ciencias de la computación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Ni hace calor ni está soleado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Este número es par o este número es impar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Si tiene una contraseña vigente, entonces puede iniciar sesión en la red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John batirá el récord mundial de la milla solo si corre la milla en menos de cuatro minutos.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Este entero es par si, y solo si, es igual al doble de algún entero.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Si el pianista toca el concierto, entonces la gente vendrá si los precios no son demasiado altos.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00359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471563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Juan es estudiante de matemáticas pero no de ciencias de la computación</a:t>
            </a:r>
          </a:p>
          <a:p>
            <a:pPr marL="0" indent="0" algn="l">
              <a:buNone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Ni hace calor ni está soleado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Este número es par o este número es impar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Si tiene una contraseña vigente, entonces puede iniciar sesión en la red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John batirá el récord mundial de la milla solo si corre la milla en menos de cuatro minutos.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Este entero es par si, y solo si, es igual al doble de algún entero.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Si el pianista toca el concierto, entonces la gente vendrá si los precios no son demasiado altos.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62597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471563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ctr">
              <a:buNone/>
            </a:pPr>
            <a:r>
              <a:rPr lang="es-MX" sz="2400" b="0" i="0" dirty="0">
                <a:solidFill>
                  <a:srgbClr val="131314"/>
                </a:solidFill>
                <a:effectLst/>
              </a:rPr>
              <a:t>Juan es estudiante de matemáticas pero no de ciencias de la computación</a:t>
            </a: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Variables (proposiciones simples)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Expresión lógica (Proposicion compuesta)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69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471563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ctr">
              <a:buNone/>
            </a:pPr>
            <a:r>
              <a:rPr lang="es-MX" sz="2400" b="0" i="0" dirty="0">
                <a:solidFill>
                  <a:srgbClr val="131314"/>
                </a:solidFill>
                <a:effectLst/>
              </a:rPr>
              <a:t>Ni hace calor ni está soleado</a:t>
            </a: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Variables (proposiciones simples)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Expresión lógica (Proposicion compuesta)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639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471563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ctr">
              <a:buNone/>
            </a:pPr>
            <a:r>
              <a:rPr lang="es-MX" sz="2400" b="0" i="0" dirty="0">
                <a:solidFill>
                  <a:srgbClr val="131314"/>
                </a:solidFill>
                <a:effectLst/>
              </a:rPr>
              <a:t>Este número es par o este número es impar</a:t>
            </a: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Variables (proposiciones simples)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Expresión lógica (Proposicion compuesta)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958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471563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ctr">
              <a:buNone/>
            </a:pPr>
            <a:r>
              <a:rPr lang="es-MX" sz="2400" b="0" i="0" dirty="0">
                <a:solidFill>
                  <a:srgbClr val="131314"/>
                </a:solidFill>
                <a:effectLst/>
              </a:rPr>
              <a:t>Si tiene una contraseña vigente, entonces puede iniciar sesión en la red</a:t>
            </a: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Variables (proposiciones simples)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Expresión lógica (Proposicion compuesta)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997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471563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ctr">
              <a:buNone/>
            </a:pPr>
            <a:r>
              <a:rPr lang="es-MX" sz="2400" b="0" i="0" dirty="0">
                <a:solidFill>
                  <a:srgbClr val="131314"/>
                </a:solidFill>
                <a:effectLst/>
              </a:rPr>
              <a:t>John batirá el récord mundial de la milla solo si corre la milla en menos de cuatro minutos.</a:t>
            </a: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Variables (proposiciones simples)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Expresión lógica (Proposicion compuesta)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516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471563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ctr">
              <a:buNone/>
            </a:pPr>
            <a:r>
              <a:rPr lang="es-MX" sz="2400" b="0" i="0" dirty="0">
                <a:solidFill>
                  <a:srgbClr val="131314"/>
                </a:solidFill>
                <a:effectLst/>
              </a:rPr>
              <a:t>Este entero es par si, y solo si, es igual al doble de algún entero.</a:t>
            </a: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Variables (proposiciones simples)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Expresión lógica (Proposicion compuesta)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686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Sobre la clase anterior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637819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ctr">
              <a:buNone/>
            </a:pPr>
            <a:r>
              <a:rPr lang="es-MX" sz="2200" b="0" i="0" dirty="0">
                <a:solidFill>
                  <a:srgbClr val="131314"/>
                </a:solidFill>
                <a:effectLst/>
              </a:rPr>
              <a:t>Si el pianista toca el concierto, entonces la gente vendrá si los precios no son demasiado altos.</a:t>
            </a: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Variables (proposiciones simples)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Expresión lógica (Proposicion compuesta)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84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8"/>
            <a:ext cx="11471563" cy="1083528"/>
          </a:xfrm>
        </p:spPr>
        <p:txBody>
          <a:bodyPr>
            <a:normAutofit/>
          </a:bodyPr>
          <a:lstStyle/>
          <a:p>
            <a:r>
              <a:rPr lang="es-MX" sz="2000" b="0" i="0" dirty="0">
                <a:solidFill>
                  <a:srgbClr val="5C5962"/>
                </a:solidFill>
                <a:effectLst/>
                <a:latin typeface="system-ui"/>
              </a:rPr>
              <a:t>Permiten conocer cómo se comporta cada operador frente a los valores de verdad.</a:t>
            </a:r>
          </a:p>
          <a:p>
            <a:r>
              <a:rPr lang="es-MX" sz="2000" b="0" i="0" dirty="0">
                <a:solidFill>
                  <a:srgbClr val="5C5962"/>
                </a:solidFill>
                <a:effectLst/>
                <a:latin typeface="system-ui"/>
              </a:rPr>
              <a:t>Estas reglas se especifican mediante </a:t>
            </a:r>
            <a:r>
              <a:rPr lang="es-MX" sz="2000" b="1" i="0" dirty="0">
                <a:solidFill>
                  <a:srgbClr val="5C5962"/>
                </a:solidFill>
                <a:effectLst/>
                <a:latin typeface="system-ui"/>
              </a:rPr>
              <a:t>tablas de verdad</a:t>
            </a:r>
            <a:r>
              <a:rPr lang="es-MX" sz="2000" b="0" i="0" dirty="0">
                <a:solidFill>
                  <a:srgbClr val="5C5962"/>
                </a:solidFill>
                <a:effectLst/>
                <a:latin typeface="system-ui"/>
              </a:rPr>
              <a:t>, que constituyen la base semántica de la lógica proposicional.</a:t>
            </a:r>
            <a:r>
              <a:rPr lang="es-MX" sz="2000" b="0" i="0" dirty="0">
                <a:solidFill>
                  <a:srgbClr val="131314"/>
                </a:solidFill>
                <a:effectLst/>
                <a:latin typeface="Google Sans Text"/>
              </a:rPr>
              <a:t> </a:t>
            </a: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DBAF7999-5CFF-484B-B203-3AAAE2925E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5593828"/>
                  </p:ext>
                </p:extLst>
              </p:nvPr>
            </p:nvGraphicFramePr>
            <p:xfrm>
              <a:off x="866725" y="3147334"/>
              <a:ext cx="215224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612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7612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2999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2999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2999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DBAF7999-5CFF-484B-B203-3AAAE2925E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5593828"/>
                  </p:ext>
                </p:extLst>
              </p:nvPr>
            </p:nvGraphicFramePr>
            <p:xfrm>
              <a:off x="866725" y="3147334"/>
              <a:ext cx="215224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612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7612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29990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2999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29990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64B85BCC-C0B6-4510-8106-FB790B9EE8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5160152"/>
                  </p:ext>
                </p:extLst>
              </p:nvPr>
            </p:nvGraphicFramePr>
            <p:xfrm>
              <a:off x="4132227" y="2778002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64B85BCC-C0B6-4510-8106-FB790B9EE8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5160152"/>
                  </p:ext>
                </p:extLst>
              </p:nvPr>
            </p:nvGraphicFramePr>
            <p:xfrm>
              <a:off x="4132227" y="2778002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CECB8900-DD43-4366-866A-52B7130B0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727944"/>
                  </p:ext>
                </p:extLst>
              </p:nvPr>
            </p:nvGraphicFramePr>
            <p:xfrm>
              <a:off x="7820296" y="2603817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CECB8900-DD43-4366-866A-52B7130B0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727944"/>
                  </p:ext>
                </p:extLst>
              </p:nvPr>
            </p:nvGraphicFramePr>
            <p:xfrm>
              <a:off x="7820296" y="2603817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4">
                <a:extLst>
                  <a:ext uri="{FF2B5EF4-FFF2-40B4-BE49-F238E27FC236}">
                    <a16:creationId xmlns:a16="http://schemas.microsoft.com/office/drawing/2014/main" id="{367AB169-B43D-4FDE-B933-8A068AC689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1741953"/>
                  </p:ext>
                </p:extLst>
              </p:nvPr>
            </p:nvGraphicFramePr>
            <p:xfrm>
              <a:off x="838200" y="4723562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4">
                <a:extLst>
                  <a:ext uri="{FF2B5EF4-FFF2-40B4-BE49-F238E27FC236}">
                    <a16:creationId xmlns:a16="http://schemas.microsoft.com/office/drawing/2014/main" id="{367AB169-B43D-4FDE-B933-8A068AC689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1741953"/>
                  </p:ext>
                </p:extLst>
              </p:nvPr>
            </p:nvGraphicFramePr>
            <p:xfrm>
              <a:off x="838200" y="4723562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4">
                <a:extLst>
                  <a:ext uri="{FF2B5EF4-FFF2-40B4-BE49-F238E27FC236}">
                    <a16:creationId xmlns:a16="http://schemas.microsoft.com/office/drawing/2014/main" id="{108F8D8B-745F-484A-8307-68D91BA284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5961242"/>
                  </p:ext>
                </p:extLst>
              </p:nvPr>
            </p:nvGraphicFramePr>
            <p:xfrm>
              <a:off x="4298103" y="4941166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4">
                <a:extLst>
                  <a:ext uri="{FF2B5EF4-FFF2-40B4-BE49-F238E27FC236}">
                    <a16:creationId xmlns:a16="http://schemas.microsoft.com/office/drawing/2014/main" id="{108F8D8B-745F-484A-8307-68D91BA284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5961242"/>
                  </p:ext>
                </p:extLst>
              </p:nvPr>
            </p:nvGraphicFramePr>
            <p:xfrm>
              <a:off x="4298103" y="4941166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57C1A8C1-7E7A-425A-9AF7-A9B7F38055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1927620"/>
                  </p:ext>
                </p:extLst>
              </p:nvPr>
            </p:nvGraphicFramePr>
            <p:xfrm>
              <a:off x="8260266" y="4723562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1780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1780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96691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57C1A8C1-7E7A-425A-9AF7-A9B7F38055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1927620"/>
                  </p:ext>
                </p:extLst>
              </p:nvPr>
            </p:nvGraphicFramePr>
            <p:xfrm>
              <a:off x="8260266" y="4723562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1780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1780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96691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CuadroTexto 9">
            <a:extLst>
              <a:ext uri="{FF2B5EF4-FFF2-40B4-BE49-F238E27FC236}">
                <a16:creationId xmlns:a16="http://schemas.microsoft.com/office/drawing/2014/main" id="{C48494CF-F1F2-425E-9F9C-C5169348AA49}"/>
              </a:ext>
            </a:extLst>
          </p:cNvPr>
          <p:cNvSpPr txBox="1"/>
          <p:nvPr/>
        </p:nvSpPr>
        <p:spPr>
          <a:xfrm>
            <a:off x="1407667" y="2778002"/>
            <a:ext cx="1070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Negación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C0F04C0-6FDB-4471-928A-F7435E951C2B}"/>
              </a:ext>
            </a:extLst>
          </p:cNvPr>
          <p:cNvSpPr txBox="1"/>
          <p:nvPr/>
        </p:nvSpPr>
        <p:spPr>
          <a:xfrm>
            <a:off x="4804145" y="2405716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Conjunción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9E5F45F-EE0C-47D7-ACCB-6543210753D9}"/>
              </a:ext>
            </a:extLst>
          </p:cNvPr>
          <p:cNvSpPr txBox="1"/>
          <p:nvPr/>
        </p:nvSpPr>
        <p:spPr>
          <a:xfrm>
            <a:off x="8506769" y="2256454"/>
            <a:ext cx="1229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Disyunción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3C07DFB-011D-4E28-AECB-EEE8E2DA0AE0}"/>
              </a:ext>
            </a:extLst>
          </p:cNvPr>
          <p:cNvSpPr txBox="1"/>
          <p:nvPr/>
        </p:nvSpPr>
        <p:spPr>
          <a:xfrm>
            <a:off x="1070767" y="4337840"/>
            <a:ext cx="2137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Disyunción exclusiva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08B981-8D3B-4239-B03D-7EA6E2D801EB}"/>
              </a:ext>
            </a:extLst>
          </p:cNvPr>
          <p:cNvSpPr txBox="1"/>
          <p:nvPr/>
        </p:nvSpPr>
        <p:spPr>
          <a:xfrm>
            <a:off x="4948380" y="4592109"/>
            <a:ext cx="130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Condicional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D4A8C9C-2D1F-48CB-B829-C785F3B2A015}"/>
              </a:ext>
            </a:extLst>
          </p:cNvPr>
          <p:cNvSpPr txBox="1"/>
          <p:nvPr/>
        </p:nvSpPr>
        <p:spPr>
          <a:xfrm>
            <a:off x="8830970" y="4403070"/>
            <a:ext cx="1461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Bicondicional</a:t>
            </a:r>
          </a:p>
        </p:txBody>
      </p:sp>
    </p:spTree>
    <p:extLst>
      <p:ext uri="{BB962C8B-B14F-4D97-AF65-F5344CB8AC3E}">
        <p14:creationId xmlns:p14="http://schemas.microsoft.com/office/powerpoint/2010/main" val="2573958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8"/>
            <a:ext cx="11471563" cy="540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i="0" dirty="0">
                <a:solidFill>
                  <a:schemeClr val="accent1"/>
                </a:solidFill>
                <a:effectLst/>
                <a:latin typeface="system-ui"/>
              </a:rPr>
              <a:t>Negación</a:t>
            </a:r>
            <a:endParaRPr lang="es-MX" sz="2400" b="1" i="0" dirty="0">
              <a:solidFill>
                <a:schemeClr val="accent1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DBAF7999-5CFF-484B-B203-3AAAE2925EC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2272128"/>
              <a:ext cx="215224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612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7612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2999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2999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2999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DBAF7999-5CFF-484B-B203-3AAAE2925EC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2272128"/>
              <a:ext cx="215224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612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7612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29990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2999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29990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7829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8"/>
            <a:ext cx="11471563" cy="540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i="0" dirty="0">
                <a:solidFill>
                  <a:schemeClr val="accent1"/>
                </a:solidFill>
                <a:effectLst/>
                <a:latin typeface="system-ui"/>
              </a:rPr>
              <a:t>Conjunción</a:t>
            </a:r>
            <a:endParaRPr lang="es-MX" sz="2400" b="1" i="0" dirty="0">
              <a:solidFill>
                <a:schemeClr val="accent1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a 15">
                <a:extLst>
                  <a:ext uri="{FF2B5EF4-FFF2-40B4-BE49-F238E27FC236}">
                    <a16:creationId xmlns:a16="http://schemas.microsoft.com/office/drawing/2014/main" id="{8E8FE435-16D1-40EB-9193-C2E96D4823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7772469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a 15">
                <a:extLst>
                  <a:ext uri="{FF2B5EF4-FFF2-40B4-BE49-F238E27FC236}">
                    <a16:creationId xmlns:a16="http://schemas.microsoft.com/office/drawing/2014/main" id="{8E8FE435-16D1-40EB-9193-C2E96D4823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7772469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06850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8"/>
            <a:ext cx="11471563" cy="540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i="0" dirty="0">
                <a:solidFill>
                  <a:schemeClr val="accent1"/>
                </a:solidFill>
                <a:effectLst/>
                <a:latin typeface="system-ui"/>
              </a:rPr>
              <a:t>Disyunción (O inclusivo)</a:t>
            </a:r>
            <a:endParaRPr lang="es-MX" sz="2400" b="1" i="0" dirty="0">
              <a:solidFill>
                <a:schemeClr val="accent1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D3337124-24E4-451C-8F8B-7D6AA1D2DC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0197781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D3337124-24E4-451C-8F8B-7D6AA1D2DC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0197781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27671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8"/>
            <a:ext cx="11471563" cy="540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i="0" dirty="0">
                <a:solidFill>
                  <a:schemeClr val="accent1"/>
                </a:solidFill>
                <a:effectLst/>
                <a:latin typeface="system-ui"/>
              </a:rPr>
              <a:t>Disyunción exclusiva (O exclusivo)</a:t>
            </a:r>
            <a:endParaRPr lang="es-MX" sz="2400" b="1" i="0" dirty="0">
              <a:solidFill>
                <a:schemeClr val="accent1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FC08C3D3-2D53-4096-8C7C-76F6A79A31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392076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FC08C3D3-2D53-4096-8C7C-76F6A79A31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392076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21719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8"/>
            <a:ext cx="11471563" cy="540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i="0" dirty="0">
                <a:solidFill>
                  <a:schemeClr val="accent1"/>
                </a:solidFill>
                <a:effectLst/>
                <a:latin typeface="system-ui"/>
              </a:rPr>
              <a:t>Condicional</a:t>
            </a:r>
            <a:endParaRPr lang="es-MX" sz="2400" b="1" i="0" dirty="0">
              <a:solidFill>
                <a:schemeClr val="accent1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C64C0D06-FFCE-42EE-A875-3EAE7D5D29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6136915"/>
                  </p:ext>
                </p:extLst>
              </p:nvPr>
            </p:nvGraphicFramePr>
            <p:xfrm>
              <a:off x="585085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C64C0D06-FFCE-42EE-A875-3EAE7D5D29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6136915"/>
                  </p:ext>
                </p:extLst>
              </p:nvPr>
            </p:nvGraphicFramePr>
            <p:xfrm>
              <a:off x="585085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2134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8"/>
            <a:ext cx="11471563" cy="540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dirty="0">
                <a:solidFill>
                  <a:schemeClr val="accent1"/>
                </a:solidFill>
                <a:latin typeface="system-ui"/>
              </a:rPr>
              <a:t>Bicondicional</a:t>
            </a:r>
            <a:endParaRPr lang="es-MX" sz="2400" b="1" i="0" dirty="0">
              <a:solidFill>
                <a:schemeClr val="accent1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30BFA087-8C28-493C-802C-3984AF5889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9904841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1780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1780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96691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30BFA087-8C28-493C-802C-3984AF5889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9904841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1780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1780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96691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756616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7" y="1222834"/>
            <a:ext cx="11471563" cy="163120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sz="3300" b="1" i="0" dirty="0">
                <a:solidFill>
                  <a:schemeClr val="accent2"/>
                </a:solidFill>
                <a:effectLst/>
              </a:rPr>
              <a:t>Jerarquía de operadores</a:t>
            </a:r>
          </a:p>
          <a:p>
            <a:r>
              <a:rPr lang="es-MX" sz="2600" b="1" dirty="0">
                <a:solidFill>
                  <a:srgbClr val="5C5962"/>
                </a:solidFill>
                <a:latin typeface="system-ui"/>
              </a:rPr>
              <a:t>Prioridad</a:t>
            </a:r>
            <a:r>
              <a:rPr lang="es-MX" sz="2600" dirty="0">
                <a:solidFill>
                  <a:srgbClr val="5C5962"/>
                </a:solidFill>
                <a:latin typeface="system-ui"/>
              </a:rPr>
              <a:t>: Cuando hay dos o mas operaciones: ¿Que operación se ejecuta primero? </a:t>
            </a:r>
            <a:r>
              <a:rPr lang="es-MX" sz="2600" dirty="0">
                <a:solidFill>
                  <a:srgbClr val="5C5962"/>
                </a:solidFill>
                <a:latin typeface="system-ui"/>
                <a:sym typeface="Wingdings" panose="05000000000000000000" pitchFamily="2" charset="2"/>
              </a:rPr>
              <a:t> Orden de precedencia.</a:t>
            </a:r>
            <a:endParaRPr lang="es-MX" sz="2600" dirty="0">
              <a:solidFill>
                <a:srgbClr val="5C5962"/>
              </a:solidFill>
              <a:latin typeface="system-ui"/>
            </a:endParaRPr>
          </a:p>
          <a:p>
            <a:r>
              <a:rPr lang="es-MX" sz="2600" b="1" i="0" dirty="0">
                <a:solidFill>
                  <a:srgbClr val="5C5962"/>
                </a:solidFill>
                <a:effectLst/>
                <a:latin typeface="system-ui"/>
              </a:rPr>
              <a:t>Asociatividad</a:t>
            </a:r>
            <a:r>
              <a:rPr lang="es-MX" sz="2600" b="0" i="0" dirty="0">
                <a:solidFill>
                  <a:srgbClr val="5C5962"/>
                </a:solidFill>
                <a:effectLst/>
                <a:latin typeface="system-ui"/>
              </a:rPr>
              <a:t>: Cuando dos o mas operaciones tienen igual orden de precedencia </a:t>
            </a:r>
            <a:r>
              <a:rPr lang="es-MX" sz="2600" b="0" i="0" dirty="0">
                <a:solidFill>
                  <a:srgbClr val="5C5962"/>
                </a:solidFill>
                <a:effectLst/>
                <a:latin typeface="system-ui"/>
                <a:sym typeface="Wingdings" panose="05000000000000000000" pitchFamily="2" charset="2"/>
              </a:rPr>
              <a:t> ¿Cual de esta realiza primero?</a:t>
            </a:r>
            <a:endParaRPr lang="es-MX" sz="2600" b="0" i="0" dirty="0">
              <a:solidFill>
                <a:srgbClr val="131314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95CB773-A135-46AB-B323-B6C208574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174" y="3006436"/>
            <a:ext cx="8788547" cy="362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39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5"/>
                <a:ext cx="11471563" cy="42635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b="1" i="0" dirty="0">
                    <a:solidFill>
                      <a:schemeClr val="accent2"/>
                    </a:solidFill>
                    <a:effectLst/>
                  </a:rPr>
                  <a:t>Ejemplos: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000" b="0" i="0" dirty="0">
                    <a:solidFill>
                      <a:srgbClr val="5C5962"/>
                    </a:solidFill>
                    <a:effectLst/>
                    <a:latin typeface="system-ui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una proposición verdadera (“Hace calor”)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una proposición false (“El </a:t>
                </a:r>
                <a:r>
                  <a:rPr lang="es-MX" sz="2000" b="0" i="0" dirty="0" err="1">
                    <a:solidFill>
                      <a:srgbClr val="131314"/>
                    </a:solidFill>
                    <a:effectLst/>
                    <a:latin typeface="Google Sans Text"/>
                  </a:rPr>
                  <a:t>dia</a:t>
                </a:r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esta soleado”) determine el valor de verdad de: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s-MX" sz="20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s-MX" sz="20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Determine el valor de </a:t>
                </a:r>
                <a:r>
                  <a:rPr lang="es-MX" sz="2000" dirty="0">
                    <a:solidFill>
                      <a:srgbClr val="131314"/>
                    </a:solidFill>
                    <a:latin typeface="Google Sans Text"/>
                  </a:rPr>
                  <a:t>verdad de la expresión</a:t>
                </a:r>
                <a:r>
                  <a:rPr lang="es-MX" sz="2000" b="0" dirty="0">
                    <a:solidFill>
                      <a:srgbClr val="5C5962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∧¬(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cuando: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Sean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proposiciones. </a:t>
                </a:r>
              </a:p>
              <a:p>
                <a:pPr lvl="1"/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Si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son falsas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es falsa. ¿Qué puede afirmarse del valor de verdad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?</a:t>
                </a:r>
              </a:p>
              <a:p>
                <a:pPr lvl="1"/>
                <a:r>
                  <a:rPr lang="es-MX" sz="2000" dirty="0">
                    <a:solidFill>
                      <a:srgbClr val="131314"/>
                    </a:solidFill>
                    <a:latin typeface="Google Sans Text"/>
                  </a:rPr>
                  <a:t>Si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es falsa, que se puede afirmar del valor de la verdad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s-MX" sz="20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lvl="1"/>
                <a:endParaRPr lang="es-MX" sz="16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5"/>
                <a:ext cx="11471563" cy="4263566"/>
              </a:xfrm>
              <a:blipFill>
                <a:blip r:embed="rId2"/>
                <a:stretch>
                  <a:fillRect l="-1063" t="-243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7348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5"/>
                <a:ext cx="11471563" cy="42635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b="1" i="0" dirty="0">
                    <a:solidFill>
                      <a:srgbClr val="5C5962"/>
                    </a:solidFill>
                    <a:effectLst/>
                    <a:latin typeface="system-ui"/>
                  </a:rPr>
                  <a:t>Ejemplo 1:</a:t>
                </a:r>
                <a:r>
                  <a:rPr lang="es-MX" sz="2000" b="0" i="0" dirty="0">
                    <a:solidFill>
                      <a:srgbClr val="5C5962"/>
                    </a:solidFill>
                    <a:effectLst/>
                    <a:latin typeface="system-ui"/>
                  </a:rPr>
                  <a:t>  Sea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una proposición verdadera (“Hace calor”)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una proposición false (“El </a:t>
                </a:r>
                <a:r>
                  <a:rPr lang="es-MX" sz="2000" b="0" i="0" dirty="0" err="1">
                    <a:solidFill>
                      <a:srgbClr val="131314"/>
                    </a:solidFill>
                    <a:effectLst/>
                    <a:latin typeface="Google Sans Text"/>
                  </a:rPr>
                  <a:t>dia</a:t>
                </a:r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esta soleado”) determine el valor de verdad de:</a:t>
                </a:r>
              </a:p>
              <a:p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s-MX" sz="20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s-MX" sz="20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5"/>
                <a:ext cx="11471563" cy="4263566"/>
              </a:xfrm>
              <a:blipFill>
                <a:blip r:embed="rId2"/>
                <a:stretch>
                  <a:fillRect l="-531" t="-157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857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5"/>
                <a:ext cx="11471563" cy="42635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b="1" i="0" dirty="0">
                    <a:solidFill>
                      <a:srgbClr val="5C5962"/>
                    </a:solidFill>
                    <a:effectLst/>
                    <a:latin typeface="system-ui"/>
                  </a:rPr>
                  <a:t>Ejemplo 2:</a:t>
                </a:r>
                <a:r>
                  <a:rPr lang="es-MX" sz="2000" b="0" i="0" dirty="0">
                    <a:solidFill>
                      <a:srgbClr val="5C5962"/>
                    </a:solidFill>
                    <a:effectLst/>
                    <a:latin typeface="system-ui"/>
                  </a:rPr>
                  <a:t> </a:t>
                </a:r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Determine el valor de </a:t>
                </a:r>
                <a:r>
                  <a:rPr lang="es-MX" sz="2000" dirty="0">
                    <a:solidFill>
                      <a:srgbClr val="131314"/>
                    </a:solidFill>
                    <a:latin typeface="Google Sans Text"/>
                  </a:rPr>
                  <a:t>verdad de la expresión</a:t>
                </a:r>
                <a:r>
                  <a:rPr lang="es-MX" sz="2000" b="0" dirty="0">
                    <a:solidFill>
                      <a:srgbClr val="5C5962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∧¬(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cuando:</a:t>
                </a:r>
              </a:p>
              <a:p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</a:t>
                </a: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5"/>
                <a:ext cx="11471563" cy="4263566"/>
              </a:xfrm>
              <a:blipFill>
                <a:blip r:embed="rId2"/>
                <a:stretch>
                  <a:fillRect l="-531" t="-157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2510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5"/>
                <a:ext cx="11471563" cy="501171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b="1" i="0" dirty="0">
                    <a:solidFill>
                      <a:srgbClr val="5C5962"/>
                    </a:solidFill>
                    <a:effectLst/>
                    <a:latin typeface="system-ui"/>
                  </a:rPr>
                  <a:t>Ejemplo 3:</a:t>
                </a:r>
                <a:r>
                  <a:rPr lang="es-MX" sz="2000" b="0" i="0" dirty="0">
                    <a:solidFill>
                      <a:srgbClr val="5C5962"/>
                    </a:solidFill>
                    <a:effectLst/>
                    <a:latin typeface="system-ui"/>
                  </a:rPr>
                  <a:t> </a:t>
                </a:r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Sean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proposiciones. </a:t>
                </a:r>
              </a:p>
              <a:p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Si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son falsas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es falsa. ¿Qué puede afirmarse del valor de verdad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?</a:t>
                </a:r>
              </a:p>
              <a:p>
                <a:r>
                  <a:rPr lang="es-MX" sz="2000" dirty="0">
                    <a:solidFill>
                      <a:srgbClr val="131314"/>
                    </a:solidFill>
                    <a:latin typeface="Google Sans Text"/>
                  </a:rPr>
                  <a:t>Si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MX" sz="20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es falsa, que se puede afirmar del valor de la verdad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s-MX" sz="20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lvl="1"/>
                <a:endParaRPr lang="es-MX" sz="16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5"/>
                <a:ext cx="11471563" cy="5011710"/>
              </a:xfrm>
              <a:blipFill>
                <a:blip r:embed="rId2"/>
                <a:stretch>
                  <a:fillRect l="-531" t="-13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49804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Descargar fondos de Looneytunes, Eso Es Todo Amigos. | Wallpapers.com">
            <a:extLst>
              <a:ext uri="{FF2B5EF4-FFF2-40B4-BE49-F238E27FC236}">
                <a16:creationId xmlns:a16="http://schemas.microsoft.com/office/drawing/2014/main" id="{80E56D42-6B08-45CB-A8AD-5B69CC1FD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189" y="1300595"/>
            <a:ext cx="8043676" cy="4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409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1436</Words>
  <Application>Microsoft Office PowerPoint</Application>
  <PresentationFormat>Panorámica</PresentationFormat>
  <Paragraphs>377</Paragraphs>
  <Slides>32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41" baseType="lpstr">
      <vt:lpstr>Arial</vt:lpstr>
      <vt:lpstr>Calibri</vt:lpstr>
      <vt:lpstr>Calibri (Cuerpo)</vt:lpstr>
      <vt:lpstr>Calibri Light</vt:lpstr>
      <vt:lpstr>Cambria Math</vt:lpstr>
      <vt:lpstr>Google Sans Text</vt:lpstr>
      <vt:lpstr>Roboto</vt:lpstr>
      <vt:lpstr>system-ui</vt:lpstr>
      <vt:lpstr>Tema de Office</vt:lpstr>
      <vt:lpstr>Matemáticas Discretas 1</vt:lpstr>
      <vt:lpstr>Recursos de esta clase</vt:lpstr>
      <vt:lpstr>Agenda</vt:lpstr>
      <vt:lpstr>Sobre la clase anterior</vt:lpstr>
      <vt:lpstr>Sobre la clase anterior</vt:lpstr>
      <vt:lpstr>Sobre la clase anterior</vt:lpstr>
      <vt:lpstr>Sobre la clase anterior</vt:lpstr>
      <vt:lpstr>Sobre la clase anterior</vt:lpstr>
      <vt:lpstr>Sobre la clase anterior</vt:lpstr>
      <vt:lpstr>Sobre la clase anterior</vt:lpstr>
      <vt:lpstr>Sobre la clase anterior</vt:lpstr>
      <vt:lpstr>Sobre la clase anterior</vt:lpstr>
      <vt:lpstr>Sobre la clase anterior</vt:lpstr>
      <vt:lpstr>Sobre la clase anterior</vt:lpstr>
      <vt:lpstr>Sobre la clase anterior</vt:lpstr>
      <vt:lpstr>Sobre la clase anterior</vt:lpstr>
      <vt:lpstr>Sobre la clase anterior</vt:lpstr>
      <vt:lpstr>Sobre la clase anterior</vt:lpstr>
      <vt:lpstr>Sobre la clase anterior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Matemáticas Discretas 1</dc:title>
  <dc:creator>Henry Arcila</dc:creator>
  <cp:lastModifiedBy>Henry Arcila</cp:lastModifiedBy>
  <cp:revision>4</cp:revision>
  <dcterms:created xsi:type="dcterms:W3CDTF">2026-02-16T23:39:43Z</dcterms:created>
  <dcterms:modified xsi:type="dcterms:W3CDTF">2026-02-19T13:07:48Z</dcterms:modified>
</cp:coreProperties>
</file>