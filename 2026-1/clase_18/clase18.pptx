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5" r:id="rId1"/>
    <p:sldMasterId id="2147483725" r:id="rId2"/>
  </p:sldMasterIdLst>
  <p:notesMasterIdLst>
    <p:notesMasterId r:id="rId26"/>
  </p:notesMasterIdLst>
  <p:sldIdLst>
    <p:sldId id="256" r:id="rId3"/>
    <p:sldId id="733" r:id="rId4"/>
    <p:sldId id="734" r:id="rId5"/>
    <p:sldId id="735" r:id="rId6"/>
    <p:sldId id="822" r:id="rId7"/>
    <p:sldId id="744" r:id="rId8"/>
    <p:sldId id="747" r:id="rId9"/>
    <p:sldId id="823" r:id="rId10"/>
    <p:sldId id="754" r:id="rId11"/>
    <p:sldId id="824" r:id="rId12"/>
    <p:sldId id="827" r:id="rId13"/>
    <p:sldId id="828" r:id="rId14"/>
    <p:sldId id="829" r:id="rId15"/>
    <p:sldId id="825" r:id="rId16"/>
    <p:sldId id="830" r:id="rId17"/>
    <p:sldId id="759" r:id="rId18"/>
    <p:sldId id="831" r:id="rId19"/>
    <p:sldId id="832" r:id="rId20"/>
    <p:sldId id="769" r:id="rId21"/>
    <p:sldId id="833" r:id="rId22"/>
    <p:sldId id="834" r:id="rId23"/>
    <p:sldId id="835" r:id="rId24"/>
    <p:sldId id="778" r:id="rId25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libri Light" panose="020F0302020204030204" pitchFamily="34" charset="0"/>
      <p:regular r:id="rId31"/>
      <p:italic r:id="rId32"/>
    </p:embeddedFont>
    <p:embeddedFont>
      <p:font typeface="Cambria Math" panose="02040503050406030204" pitchFamily="18" charset="0"/>
      <p:regular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  <p:embeddedFont>
      <p:font typeface="Roboto Slab" panose="020B0604020202020204" charset="0"/>
      <p:regular r:id="rId38"/>
      <p:bold r:id="rId39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6A3598-7CB8-4345-8D95-17CE05F158A0}">
  <a:tblStyle styleId="{AD6A3598-7CB8-4345-8D95-17CE05F158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56" autoAdjust="0"/>
    <p:restoredTop sz="89503" autoAdjust="0"/>
  </p:normalViewPr>
  <p:slideViewPr>
    <p:cSldViewPr snapToGrid="0">
      <p:cViewPr varScale="1">
        <p:scale>
          <a:sx n="61" d="100"/>
          <a:sy n="61" d="100"/>
        </p:scale>
        <p:origin x="10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19.xml"/><Relationship Id="rId34" Type="http://schemas.openxmlformats.org/officeDocument/2006/relationships/font" Target="fonts/font8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1658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887063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400024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637274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412732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7234747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</a:t>
            </a:r>
            <a:r>
              <a:rPr lang="es-ES" sz="24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pthreads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 dirty="0" err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TBB, ...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525836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71933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28638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98766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99497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53734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935809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926a7ab31e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4" name="Google Shape;664;g926a7ab31e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3465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97931-88D2-48EC-BDFD-C8C3C5166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679D90-F057-4BD5-83C0-DDC6EE211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C13BD3-4696-4B09-8A88-F3994E7C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285628-4B07-48C3-A0F4-63457190B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DA6BEC-6DF4-4166-BD89-B2E0A39B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6564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74B2C-17C9-4AA4-9668-F80AC962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58D9D8-9866-4269-8D7D-807856891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009FBE-E524-4470-9FCD-AEB4BE30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4FB710-71F8-4468-A8D3-4E66EDFF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AD742D-28B3-4CCB-96B9-49F1E4510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80487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4E514-96C5-4BA6-8853-8FD23DBA4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B46064-8B93-4EDC-9C8C-E62E5E204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64F67B-C4F9-4EEE-B654-135E4059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42D2EB-0949-472E-B96E-7077F243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8BF961-D28F-480C-A33B-2D90830F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560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49851-BE79-4814-B324-7A715144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8196A1-DDE1-4352-9C3D-A0CD29769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0082F4-C4BC-4497-8E38-2AAC216C9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CBF39F-7AC4-42AD-8BED-FB1348027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CD1E40-2EDD-42B2-8717-B610AA70C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650591-7D21-4F93-B6A8-04637AA52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879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A18ABB-EB85-46DB-94FC-5071555A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0E644E-2C94-4905-A3B3-39494B91F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1FDA4E-3792-47ED-A324-BE4AB193A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BAA52EB-49DC-417B-A1D3-7E5D77F55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6D28227-5811-416F-8EB6-975798573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3328A4A-DB4B-4AF3-A5E0-7FDD49D01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760E545-7BCF-40CB-8EA9-E2B464925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89E4DE-3B1B-4798-B272-2678EA5F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3544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7F13F-4B41-424E-B1EA-AD2F1961B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0B4F20C-7C18-429B-BBC6-F1E192325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3DD1AD9-50A0-4CE3-8023-232BC37E1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0C54793-A555-45AF-9D0F-A5E36048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9583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0C75C98-5CC7-41D3-8B42-1FBCC7B8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F9A19D-8546-4DB7-943E-A6C40975F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834467-C085-4B5F-A2D6-1D111E7B6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9740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15EE5-EEA6-4207-BAC5-8F00A7018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EC8231-695B-4518-9BF7-E97F51238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354B8A-1CBC-41E0-A9E8-5FB2EDDB2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F94055-E401-4C0E-938D-614524727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E66432-8574-4009-93CD-B90204AD6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F7A7D2-9509-468B-B64D-B399F9DB3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9093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419B6-6D50-4A22-8E95-82EE8602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EF31C67-83EC-4E09-A025-68611B0A31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D1882C-D761-4343-B07D-229B12E86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EC2773-E284-4FB7-96DB-FA2355335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179AA4-7DC2-4E0C-97DC-8A68C1379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07F01C-D4A8-4D86-8512-8420DA1E1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013850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C9AA4-F3E2-4CC2-A284-905F19EC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CBEBAE-E35C-4899-864F-A5E0E8FF5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92D712-9AB0-4144-8F48-C505B625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14778D-63AC-4546-B99B-D4A982BA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497614-F0BD-4E0B-BF9D-789914892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5041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CF5863-9BB8-4C9A-9E37-8A7D97BE2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6A67F6-87AB-4DD7-B3BC-A39896F4C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C8C0A3-B3A6-4C11-B5E9-3F6DDA91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C6C295-0416-473F-848C-AC3B030A9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718280-2589-4855-81D4-C63D086C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5146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7107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54" name="Google Shape;5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3335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42" name="Google Shape;4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9626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7C737-9953-4D57-B3F4-4011A1D5D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01D0F5-29D9-47E9-ACD2-6930B685A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0C34DE-B236-4046-8127-4FB9FAAD5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E7802A-B73E-4072-ABF0-9EBACB087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76A537-CFBB-4E15-80B2-5F54D2EBF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107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04CA2-8649-4E86-9700-F6793151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44CE3B-347F-4426-ACFB-76AA7E158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A40320-8218-4BB1-9713-4E69C607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28D131-B0D5-405F-BCD1-48D2979DE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566F2F-8670-4D1C-8B3E-75166C2FC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643772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86887-6E3F-4AC5-A816-DC71AF3D5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4F7C67-23F3-43A0-AB5A-3FEC40936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E73A4D-1970-416F-A353-2C38654E3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00F788-371A-4DE3-9F14-A3CA95735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5D324A-B59E-4164-80E9-B836C381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03189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8357B-C9EC-42ED-BE57-EAF43AFD9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F1E9CE-AEBE-4B06-BDCD-72FD23FE28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7AF2049-0B20-4B83-90F1-FD14E8C54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C79B53-E080-4191-849F-B9CAA3496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FFF218-7419-4307-B099-8C86F71A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17D390-4961-4170-9A6E-552DD96AD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7133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7F57D-C719-4F9D-8AAB-CAA75748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CB5A4A-95B3-42D6-A443-FFFB893B5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913706-BF52-4BD4-8ACD-47598A162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5C10FA-5C86-41F6-AE78-FF1832846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23C8BD-49B0-4E9D-924D-A35B45BE4E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9B8EDD6-C8AC-45D4-80D2-AD1B26DE2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463BC19-A6D0-49FB-B10D-346BCB4F2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60B028-66CC-4E03-9EF1-91EEC35E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90908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EF1BD-EE35-4C0C-BFEC-628DD470D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7394FE-1134-4389-AF05-BA8A258F5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78D7FD-3EB6-4D6D-87E6-5C6AA09C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14A6DD-6FA6-406F-9069-1DE53FF9F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58062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9B1B54-ED07-47C1-A62D-26A434CE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60D637A-BE8B-4BC7-815E-70FFA1DC7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AB03C8-7E29-4544-BB57-05607BB5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7464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E36AE-AA94-4508-9D4A-5106DF5E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D84E1A-9BC1-47AE-B406-B547F83FC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FBC41C-04F8-4B36-A3B6-F7653DA27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DDACD0-62DB-42B1-922B-F566EFDB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21BE86-8A69-4562-8F9C-B899398AB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9097F2-8CC4-48A0-9D15-C6ADF816C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86136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31111-ACF9-439E-83CA-F334495F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293E472-B3A0-417E-B084-5959D5FF34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9BBBA9-285D-4C62-ACAB-211E08D95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F101C2-B2A5-4401-8C9E-706CCFD78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20B6E9-8F4A-45BA-8D21-D765A3782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D1AC20-ED0C-447A-B894-4FA01BF93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250790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75C51-9ADB-4334-A72D-C171EC01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E6F167-2176-4226-BA98-363F4A874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02BDDE-E45E-465B-9C04-9541D2BC5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18F6C2-E380-4707-9F84-6066F1F59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FC04F5-49E6-4847-AAD4-188931C54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38379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326F15-CF33-49F1-AABB-18747F9F4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87C8B2-1765-4BCD-B3CF-5B801870E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378C62-8D5F-440C-AAE0-9F97DCBE8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261810-3680-4475-8035-FD7CAE75F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FF26E6-D395-4C99-AB2C-24C12E84A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82664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7269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37009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2501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E7B29E-FD20-45CE-B6B9-11DBA95B4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6E3B48-B3F4-480E-AA13-7F98C293F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5C6A56-744E-406A-A3F4-EB0DB79BFC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FCF1F0-6C88-47BC-ABAB-E51E40656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7FB6FA-3336-4974-922C-505465D63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9279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9" r:id="rId12"/>
    <p:sldLayoutId id="2147483710" r:id="rId13"/>
    <p:sldLayoutId id="2147483711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6EBC38-B1CD-4C9D-B8FE-94935A285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AA0D9D-3DB1-45BE-846C-7676A08F2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2E77D2-618F-4B77-8320-920DDB2E4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75251E-4AF4-4E3C-954D-1483D3392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E26067-3063-408F-822B-1CEC73E87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03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6.xml"/><Relationship Id="rId1" Type="http://schemas.openxmlformats.org/officeDocument/2006/relationships/video" Target="https://www.youtube.com/embed/wgbV6DLVezo?feature=oembed" TargetMode="External"/><Relationship Id="rId5" Type="http://schemas.openxmlformats.org/officeDocument/2006/relationships/image" Target="../media/image2.jpeg"/><Relationship Id="rId4" Type="http://schemas.openxmlformats.org/officeDocument/2006/relationships/hyperlink" Target="https://ed.ted.com/lessons/how-exactly-does-binary-code-work-jose-americo-n-l-f-freitas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s.wikipedia.org/wiki/Ficha_de_arcilla" TargetMode="External"/><Relationship Id="rId13" Type="http://schemas.openxmlformats.org/officeDocument/2006/relationships/image" Target="../media/image8.gif"/><Relationship Id="rId3" Type="http://schemas.openxmlformats.org/officeDocument/2006/relationships/image" Target="../media/image3.jpeg"/><Relationship Id="rId7" Type="http://schemas.openxmlformats.org/officeDocument/2006/relationships/image" Target="../media/image5.jpeg"/><Relationship Id="rId12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es.wikipedia.org/wiki/Quipu" TargetMode="External"/><Relationship Id="rId11" Type="http://schemas.openxmlformats.org/officeDocument/2006/relationships/hyperlink" Target="https://es.wikipedia.org/wiki/Jerogl%C3%ADfico" TargetMode="External"/><Relationship Id="rId5" Type="http://schemas.openxmlformats.org/officeDocument/2006/relationships/image" Target="../media/image4.png"/><Relationship Id="rId10" Type="http://schemas.openxmlformats.org/officeDocument/2006/relationships/hyperlink" Target="https://es.wikipedia.org/wiki/Escritura_cuneiforme" TargetMode="External"/><Relationship Id="rId4" Type="http://schemas.openxmlformats.org/officeDocument/2006/relationships/hyperlink" Target="https://es.wikipedia.org/wiki/Palo_tallado" TargetMode="External"/><Relationship Id="rId9" Type="http://schemas.openxmlformats.org/officeDocument/2006/relationships/image" Target="../media/image6.png"/><Relationship Id="rId14" Type="http://schemas.openxmlformats.org/officeDocument/2006/relationships/hyperlink" Target="https://es.wikipedia.org/wiki/%C3%81baco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32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1.png"/><Relationship Id="rId5" Type="http://schemas.openxmlformats.org/officeDocument/2006/relationships/image" Target="../media/image2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26" Type="http://schemas.openxmlformats.org/officeDocument/2006/relationships/image" Target="../media/image96.png"/><Relationship Id="rId39" Type="http://schemas.openxmlformats.org/officeDocument/2006/relationships/image" Target="../media/image109.png"/><Relationship Id="rId21" Type="http://schemas.openxmlformats.org/officeDocument/2006/relationships/image" Target="../media/image91.png"/><Relationship Id="rId34" Type="http://schemas.openxmlformats.org/officeDocument/2006/relationships/image" Target="../media/image104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29" Type="http://schemas.openxmlformats.org/officeDocument/2006/relationships/image" Target="../media/image99.png"/><Relationship Id="rId41" Type="http://schemas.openxmlformats.org/officeDocument/2006/relationships/image" Target="../media/image11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76.png"/><Relationship Id="rId11" Type="http://schemas.openxmlformats.org/officeDocument/2006/relationships/image" Target="../media/image36.png"/><Relationship Id="rId24" Type="http://schemas.openxmlformats.org/officeDocument/2006/relationships/image" Target="../media/image94.png"/><Relationship Id="rId32" Type="http://schemas.openxmlformats.org/officeDocument/2006/relationships/image" Target="../media/image102.png"/><Relationship Id="rId37" Type="http://schemas.openxmlformats.org/officeDocument/2006/relationships/image" Target="../media/image107.png"/><Relationship Id="rId40" Type="http://schemas.openxmlformats.org/officeDocument/2006/relationships/image" Target="../media/image110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23" Type="http://schemas.openxmlformats.org/officeDocument/2006/relationships/image" Target="../media/image93.png"/><Relationship Id="rId28" Type="http://schemas.openxmlformats.org/officeDocument/2006/relationships/image" Target="../media/image98.png"/><Relationship Id="rId36" Type="http://schemas.openxmlformats.org/officeDocument/2006/relationships/image" Target="../media/image106.png"/><Relationship Id="rId10" Type="http://schemas.openxmlformats.org/officeDocument/2006/relationships/image" Target="../media/image80.png"/><Relationship Id="rId19" Type="http://schemas.openxmlformats.org/officeDocument/2006/relationships/image" Target="../media/image89.png"/><Relationship Id="rId31" Type="http://schemas.openxmlformats.org/officeDocument/2006/relationships/image" Target="../media/image101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22" Type="http://schemas.openxmlformats.org/officeDocument/2006/relationships/image" Target="../media/image92.png"/><Relationship Id="rId27" Type="http://schemas.openxmlformats.org/officeDocument/2006/relationships/image" Target="../media/image97.png"/><Relationship Id="rId30" Type="http://schemas.openxmlformats.org/officeDocument/2006/relationships/image" Target="../media/image100.png"/><Relationship Id="rId35" Type="http://schemas.openxmlformats.org/officeDocument/2006/relationships/image" Target="../media/image105.png"/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5" Type="http://schemas.openxmlformats.org/officeDocument/2006/relationships/image" Target="../media/image95.png"/><Relationship Id="rId33" Type="http://schemas.openxmlformats.org/officeDocument/2006/relationships/image" Target="../media/image103.png"/><Relationship Id="rId38" Type="http://schemas.openxmlformats.org/officeDocument/2006/relationships/image" Target="../media/image10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1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40.png"/><Relationship Id="rId5" Type="http://schemas.openxmlformats.org/officeDocument/2006/relationships/image" Target="../media/image81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021275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Matemáticas Discretas I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600" b="1" dirty="0"/>
              <a:t>Clase 18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>
                <a:ea typeface="Roboto"/>
                <a:cs typeface="Roboto"/>
                <a:sym typeface="Roboto"/>
              </a:rPr>
              <a:t>28/05/2026</a:t>
            </a:r>
            <a:endParaRPr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Contextualización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19C6E9F-BCCF-4FD4-8EC3-574D66199786}"/>
              </a:ext>
            </a:extLst>
          </p:cNvPr>
          <p:cNvSpPr txBox="1"/>
          <p:nvPr/>
        </p:nvSpPr>
        <p:spPr>
          <a:xfrm>
            <a:off x="916648" y="798036"/>
            <a:ext cx="110442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How exactly does binary code work?</a:t>
            </a:r>
            <a:endParaRPr lang="es-MX" sz="2600" b="1" dirty="0">
              <a:solidFill>
                <a:schemeClr val="accent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Google Shape;310;p34">
            <a:extLst>
              <a:ext uri="{FF2B5EF4-FFF2-40B4-BE49-F238E27FC236}">
                <a16:creationId xmlns:a16="http://schemas.microsoft.com/office/drawing/2014/main" id="{6C8FE628-6E73-4697-AB63-4D28DA179624}"/>
              </a:ext>
            </a:extLst>
          </p:cNvPr>
          <p:cNvSpPr txBox="1">
            <a:spLocks/>
          </p:cNvSpPr>
          <p:nvPr/>
        </p:nvSpPr>
        <p:spPr>
          <a:xfrm>
            <a:off x="4585854" y="5593532"/>
            <a:ext cx="3920837" cy="1153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 algn="ctr">
              <a:buNone/>
            </a:pP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How exactly does binary code work?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127000" indent="0" algn="ctr">
              <a:buNone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José Américo N L F Freitas </a:t>
            </a:r>
          </a:p>
          <a:p>
            <a:pPr marL="127000" indent="0" algn="ctr">
              <a:buNone/>
            </a:pPr>
            <a:r>
              <a:rPr lang="es-MX" sz="1600" dirty="0">
                <a:latin typeface="Roboto" panose="02000000000000000000" pitchFamily="2" charset="0"/>
                <a:ea typeface="Roboto" panose="02000000000000000000" pitchFamily="2" charset="0"/>
              </a:rPr>
              <a:t>(</a:t>
            </a:r>
            <a:r>
              <a:rPr lang="es-MX" sz="1600" dirty="0">
                <a:latin typeface="Roboto" panose="02000000000000000000" pitchFamily="2" charset="0"/>
                <a:ea typeface="Roboto" panose="02000000000000000000" pitchFamily="2" charset="0"/>
                <a:hlinkClick r:id="rId4"/>
              </a:rPr>
              <a:t>link</a:t>
            </a:r>
            <a:r>
              <a:rPr lang="es-MX" sz="1600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  <p:pic>
        <p:nvPicPr>
          <p:cNvPr id="4" name="Elementos multimedia en línea 3" title="How exactly does binary code work? - José Américo N L F de Freitas">
            <a:hlinkClick r:id="" action="ppaction://media"/>
            <a:extLst>
              <a:ext uri="{FF2B5EF4-FFF2-40B4-BE49-F238E27FC236}">
                <a16:creationId xmlns:a16="http://schemas.microsoft.com/office/drawing/2014/main" id="{280E6E51-C482-4FDD-BA80-CA89FBF26F6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2692399" y="1569274"/>
            <a:ext cx="7122580" cy="402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1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Representación de la información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916650" y="1006516"/>
            <a:ext cx="105870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Representación de los datos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916650" y="1498960"/>
            <a:ext cx="11033946" cy="910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Es una representación física de la información.</a:t>
            </a:r>
          </a:p>
          <a:p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Los datos pueden ser almacenados, transmitidos y/o procesados.</a:t>
            </a:r>
          </a:p>
          <a:p>
            <a:endParaRPr lang="es-MX" sz="2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s-MX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D2B269E-DCA9-41CE-9672-5F020BDDA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702" y="2577082"/>
            <a:ext cx="2512187" cy="1400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8CC71B5-3B1D-4081-9EB8-8D7FFCADA250}"/>
              </a:ext>
            </a:extLst>
          </p:cNvPr>
          <p:cNvSpPr txBox="1"/>
          <p:nvPr/>
        </p:nvSpPr>
        <p:spPr>
          <a:xfrm>
            <a:off x="1739640" y="3837684"/>
            <a:ext cx="1780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>
                <a:latin typeface="Roboto" panose="02000000000000000000" pitchFamily="2" charset="0"/>
                <a:ea typeface="Roboto" panose="02000000000000000000" pitchFamily="2" charset="0"/>
              </a:rPr>
              <a:t>Palo tallado 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</a:rPr>
              <a:t>(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  <a:hlinkClick r:id="rId4"/>
              </a:rPr>
              <a:t>link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  <p:pic>
        <p:nvPicPr>
          <p:cNvPr id="1028" name="Picture 4" descr="Quipu - Wikipedia, la enciclopedia libre">
            <a:extLst>
              <a:ext uri="{FF2B5EF4-FFF2-40B4-BE49-F238E27FC236}">
                <a16:creationId xmlns:a16="http://schemas.microsoft.com/office/drawing/2014/main" id="{82A3F9A7-39A6-4FDD-8B12-E33D02CE3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954" y="4373558"/>
            <a:ext cx="1295661" cy="194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BA20B10C-FA5B-4FDF-8ED4-30AFE8B0F8C8}"/>
              </a:ext>
            </a:extLst>
          </p:cNvPr>
          <p:cNvSpPr txBox="1"/>
          <p:nvPr/>
        </p:nvSpPr>
        <p:spPr>
          <a:xfrm>
            <a:off x="2020629" y="6361775"/>
            <a:ext cx="1780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>
                <a:latin typeface="Roboto" panose="02000000000000000000" pitchFamily="2" charset="0"/>
                <a:ea typeface="Roboto" panose="02000000000000000000" pitchFamily="2" charset="0"/>
              </a:rPr>
              <a:t>Quipu 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</a:rPr>
              <a:t>(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  <a:hlinkClick r:id="rId6"/>
              </a:rPr>
              <a:t>link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  <p:pic>
        <p:nvPicPr>
          <p:cNvPr id="1032" name="Picture 8" descr="La contabilidad prehistórica que sobrevivió a la escritura">
            <a:extLst>
              <a:ext uri="{FF2B5EF4-FFF2-40B4-BE49-F238E27FC236}">
                <a16:creationId xmlns:a16="http://schemas.microsoft.com/office/drawing/2014/main" id="{CF64126F-A6D7-4A2A-AFE8-5041F63CE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827" y="3402754"/>
            <a:ext cx="2512187" cy="140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D33D3DD0-677C-4731-911D-1976A776905D}"/>
              </a:ext>
            </a:extLst>
          </p:cNvPr>
          <p:cNvSpPr txBox="1"/>
          <p:nvPr/>
        </p:nvSpPr>
        <p:spPr>
          <a:xfrm>
            <a:off x="4466813" y="5084777"/>
            <a:ext cx="17803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>
                <a:latin typeface="Roboto" panose="02000000000000000000" pitchFamily="2" charset="0"/>
                <a:ea typeface="Roboto" panose="02000000000000000000" pitchFamily="2" charset="0"/>
              </a:rPr>
              <a:t>Ficha de arcilla 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</a:rPr>
              <a:t>(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  <a:hlinkClick r:id="rId8"/>
              </a:rPr>
              <a:t>link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  <p:pic>
        <p:nvPicPr>
          <p:cNvPr id="1034" name="Picture 10" descr="Escritura cuneiforme - Wikipedia, la enciclopedia libre">
            <a:extLst>
              <a:ext uri="{FF2B5EF4-FFF2-40B4-BE49-F238E27FC236}">
                <a16:creationId xmlns:a16="http://schemas.microsoft.com/office/drawing/2014/main" id="{42CFF5CB-D885-492D-BEAD-558FDAF12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596" y="4145461"/>
            <a:ext cx="1092649" cy="170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2B9B131-8B62-4C09-AEAC-4075724DA7B4}"/>
              </a:ext>
            </a:extLst>
          </p:cNvPr>
          <p:cNvSpPr txBox="1"/>
          <p:nvPr/>
        </p:nvSpPr>
        <p:spPr>
          <a:xfrm>
            <a:off x="7440341" y="5963368"/>
            <a:ext cx="17803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>
                <a:solidFill>
                  <a:srgbClr val="20212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</a:t>
            </a:r>
            <a:r>
              <a:rPr lang="es-CO" b="1" i="0" dirty="0">
                <a:solidFill>
                  <a:srgbClr val="20212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scritura cuneiforme</a:t>
            </a:r>
            <a:r>
              <a:rPr lang="es-CO" b="1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</a:rPr>
              <a:t>(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  <a:hlinkClick r:id="rId10"/>
              </a:rPr>
              <a:t>link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997ABE1-2489-42E9-890A-62946969F7A3}"/>
              </a:ext>
            </a:extLst>
          </p:cNvPr>
          <p:cNvSpPr txBox="1"/>
          <p:nvPr/>
        </p:nvSpPr>
        <p:spPr>
          <a:xfrm>
            <a:off x="7517765" y="3591286"/>
            <a:ext cx="1780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>
                <a:solidFill>
                  <a:srgbClr val="20212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Jeroglífico 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</a:rPr>
              <a:t>(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  <a:hlinkClick r:id="rId11"/>
              </a:rPr>
              <a:t>link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  <p:pic>
        <p:nvPicPr>
          <p:cNvPr id="1036" name="Picture 12" descr="Historia y Arqueología: Los secretos de los jeroglíficos egipcios: ¿una  antigua lengua olvidada?">
            <a:extLst>
              <a:ext uri="{FF2B5EF4-FFF2-40B4-BE49-F238E27FC236}">
                <a16:creationId xmlns:a16="http://schemas.microsoft.com/office/drawing/2014/main" id="{CB30C678-6AD2-48F2-8782-EEB3AB17C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291" y="2537625"/>
            <a:ext cx="1688359" cy="102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atex1minuto: El ábaco | Fundación CIENTEC">
            <a:extLst>
              <a:ext uri="{FF2B5EF4-FFF2-40B4-BE49-F238E27FC236}">
                <a16:creationId xmlns:a16="http://schemas.microsoft.com/office/drawing/2014/main" id="{180399CC-56D2-4DA9-912E-4D64D77A8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7854" y="3898853"/>
            <a:ext cx="1860887" cy="1099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D745B391-1985-4314-8602-3C3BFD956CBA}"/>
              </a:ext>
            </a:extLst>
          </p:cNvPr>
          <p:cNvSpPr txBox="1"/>
          <p:nvPr/>
        </p:nvSpPr>
        <p:spPr>
          <a:xfrm>
            <a:off x="9929046" y="5055600"/>
            <a:ext cx="1780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>
                <a:solidFill>
                  <a:srgbClr val="20212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Abaco 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</a:rPr>
              <a:t>(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  <a:hlinkClick r:id="rId14"/>
              </a:rPr>
              <a:t>link</a:t>
            </a:r>
            <a:r>
              <a:rPr lang="es-CO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2171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Representación de la información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916650" y="826691"/>
            <a:ext cx="105870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Representación de los datos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916650" y="1319134"/>
            <a:ext cx="10832005" cy="262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A pesar de que la información puede ser muy diversa (imágenes, sonidos, números, códigos), es posible representarla con niveles de voltaje.</a:t>
            </a:r>
          </a:p>
          <a:p>
            <a:pPr lvl="1"/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Siguen siendo una representación física de la información.</a:t>
            </a:r>
          </a:p>
          <a:p>
            <a:pPr lvl="1"/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Los datos pueden ser almacenados, transmitidos y procesados</a:t>
            </a:r>
          </a:p>
          <a:p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En las computadoras actuales la forma más simple es mediante dos valores:</a:t>
            </a:r>
          </a:p>
          <a:p>
            <a:pPr lvl="1"/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Falso (0)</a:t>
            </a: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: 0V</a:t>
            </a:r>
          </a:p>
          <a:p>
            <a:pPr lvl="1"/>
            <a:r>
              <a:rPr lang="es-MX" sz="1800" b="1" dirty="0">
                <a:latin typeface="Roboto" panose="02000000000000000000" pitchFamily="2" charset="0"/>
                <a:ea typeface="Roboto" panose="02000000000000000000" pitchFamily="2" charset="0"/>
              </a:rPr>
              <a:t>Verdadero (1)</a:t>
            </a:r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: 5V</a:t>
            </a:r>
          </a:p>
          <a:p>
            <a:pPr marL="127000" indent="0">
              <a:buNone/>
            </a:pPr>
            <a:endParaRPr lang="es-MX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212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Representación de la información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916650" y="1030670"/>
            <a:ext cx="105870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Conversión Análogo/Digital (A/D) y Digital/Análogo (D/A)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B412E0F-D114-41E7-8A20-F9FF02046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872" y="1980170"/>
            <a:ext cx="10217625" cy="352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5705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Representación de la información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916650" y="826691"/>
            <a:ext cx="105870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Señal binaria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794194" y="1282607"/>
            <a:ext cx="11217697" cy="25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Es una señal digital que sólo tiene dos valores posibles:</a:t>
            </a:r>
          </a:p>
          <a:p>
            <a:pPr lvl="1"/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Alto, Bajo</a:t>
            </a:r>
          </a:p>
          <a:p>
            <a:pPr lvl="1"/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ON, OFF</a:t>
            </a:r>
          </a:p>
          <a:p>
            <a:pPr lvl="1"/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Verdadero, Falso</a:t>
            </a:r>
          </a:p>
          <a:p>
            <a:pPr lvl="1"/>
            <a:r>
              <a:rPr lang="es-MX" sz="1800" dirty="0">
                <a:latin typeface="Roboto" panose="02000000000000000000" pitchFamily="2" charset="0"/>
                <a:ea typeface="Roboto" panose="02000000000000000000" pitchFamily="2" charset="0"/>
              </a:rPr>
              <a:t>Sí, No</a:t>
            </a:r>
          </a:p>
          <a:p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Los niveles lógicos en un sistema digital se suelen representar con los dígitos binarios ‘1’ y ‘0’</a:t>
            </a:r>
          </a:p>
          <a:p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Desde el punto de vista eléctrico, los valores binarios corresponden a niveles de voltaje.</a:t>
            </a:r>
          </a:p>
        </p:txBody>
      </p:sp>
    </p:spTree>
    <p:extLst>
      <p:ext uri="{BB962C8B-B14F-4D97-AF65-F5344CB8AC3E}">
        <p14:creationId xmlns:p14="http://schemas.microsoft.com/office/powerpoint/2010/main" val="3503006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Representación de la información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916650" y="826691"/>
            <a:ext cx="105870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Ventaja de usar una representación binaria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794193" y="1282607"/>
            <a:ext cx="10832005" cy="1289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Fácil implementación en hardware electrónico (transistor operando como interruptor controlado eléctricamente)</a:t>
            </a:r>
          </a:p>
          <a:p>
            <a:r>
              <a:rPr lang="es-MX" sz="2000" dirty="0">
                <a:latin typeface="Roboto" panose="02000000000000000000" pitchFamily="2" charset="0"/>
                <a:ea typeface="Roboto" panose="02000000000000000000" pitchFamily="2" charset="0"/>
              </a:rPr>
              <a:t>Buena tolerancia al ruido eléctrico. (Comunicaciones)</a:t>
            </a:r>
          </a:p>
        </p:txBody>
      </p:sp>
    </p:spTree>
    <p:extLst>
      <p:ext uri="{BB962C8B-B14F-4D97-AF65-F5344CB8AC3E}">
        <p14:creationId xmlns:p14="http://schemas.microsoft.com/office/powerpoint/2010/main" val="2796466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960690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Sistemas numéricos posicionales</a:t>
            </a:r>
            <a:endParaRPr dirty="0"/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916650" y="750087"/>
            <a:ext cx="9501968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accent2"/>
                </a:solidFill>
              </a:rPr>
              <a:t>Conceptos clave</a:t>
            </a:r>
            <a:endParaRPr lang="es-MX" dirty="0">
              <a:solidFill>
                <a:schemeClr val="accent2"/>
              </a:solidFill>
            </a:endParaRPr>
          </a:p>
          <a:p>
            <a:pPr marL="0" indent="0">
              <a:buFont typeface="Roboto"/>
              <a:buNone/>
            </a:pPr>
            <a:endParaRPr lang="es-MX" sz="2400" dirty="0"/>
          </a:p>
          <a:p>
            <a:pPr indent="0">
              <a:buFont typeface="Roboto"/>
              <a:buNone/>
            </a:pPr>
            <a:endParaRPr lang="es-MX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8373" y="1272956"/>
                <a:ext cx="11448866" cy="54890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1800" dirty="0"/>
                  <a:t>En los sistemas numéricos posicionales, un número se representa mediante un cadena de dígitos en la cual la posición de cada dígito tiene un peso asociado.</a:t>
                </a:r>
              </a:p>
              <a:p>
                <a:r>
                  <a:rPr lang="es-MX" sz="1800" dirty="0"/>
                  <a:t>Para un número cualquiera </a:t>
                </a:r>
                <a14:m>
                  <m:oMath xmlns:m="http://schemas.openxmlformats.org/officeDocument/2006/math"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MX" sz="1800" dirty="0"/>
                  <a:t>, compuesto por una parte entera y una parte fraccionaria en una base </a:t>
                </a:r>
                <a14:m>
                  <m:oMath xmlns:m="http://schemas.openxmlformats.org/officeDocument/2006/math">
                    <m:r>
                      <a:rPr lang="es-MX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MX" sz="1800" dirty="0"/>
                  <a:t>, su valor se representa como:</a:t>
                </a:r>
              </a:p>
              <a:p>
                <a:endParaRPr lang="es-MX" sz="1800" dirty="0"/>
              </a:p>
              <a:p>
                <a:endParaRPr lang="es-MX" sz="1800" dirty="0"/>
              </a:p>
              <a:p>
                <a:endParaRPr lang="es-MX" sz="1800" dirty="0"/>
              </a:p>
              <a:p>
                <a:endParaRPr lang="es-MX" sz="1800" dirty="0"/>
              </a:p>
              <a:p>
                <a:pPr marL="584200" lvl="1" indent="0">
                  <a:buNone/>
                </a:pPr>
                <a:endParaRPr lang="es-MX" sz="1800" dirty="0"/>
              </a:p>
              <a:p>
                <a:r>
                  <a:rPr lang="es-MX" sz="1800" b="1" dirty="0"/>
                  <a:t>Desglose de la formula</a:t>
                </a:r>
                <a:r>
                  <a:rPr lang="es-MX" sz="1800" dirty="0"/>
                  <a:t>: La fórmula se puede entender mejor si la separamos en su parte entera y su parte fraccionaria:</a:t>
                </a:r>
                <a:endParaRPr lang="es-MX" sz="2000" dirty="0"/>
              </a:p>
              <a:p>
                <a:endParaRPr lang="es-MX" sz="2000" dirty="0"/>
              </a:p>
              <a:p>
                <a:pPr lvl="1"/>
                <a:endParaRPr lang="es-MX" sz="1600" dirty="0"/>
              </a:p>
              <a:p>
                <a:pPr marL="127000" indent="0">
                  <a:buNone/>
                </a:pPr>
                <a:endParaRPr lang="es-CO" sz="20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73" y="1272956"/>
                <a:ext cx="11448866" cy="5489006"/>
              </a:xfrm>
              <a:prstGeom prst="rect">
                <a:avLst/>
              </a:prstGeom>
              <a:blipFill>
                <a:blip r:embed="rId3"/>
                <a:stretch>
                  <a:fillRect r="-4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79AF107-1AF2-4AEB-A418-77B1FA6D7C3D}"/>
                  </a:ext>
                </a:extLst>
              </p:cNvPr>
              <p:cNvSpPr txBox="1"/>
              <p:nvPr/>
            </p:nvSpPr>
            <p:spPr>
              <a:xfrm>
                <a:off x="4647791" y="2475981"/>
                <a:ext cx="5860900" cy="1600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Donde</a:t>
                </a:r>
                <a:r>
                  <a:rPr lang="es-MX" dirty="0">
                    <a:latin typeface="Roboto" panose="02000000000000000000" pitchFamily="2" charset="0"/>
                    <a:ea typeface="Roboto" panose="02000000000000000000" pitchFamily="2" charset="0"/>
                  </a:rPr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𝑵</m:t>
                    </m:r>
                  </m:oMath>
                </a14:m>
                <a:r>
                  <a:rPr lang="es-MX" dirty="0">
                    <a:latin typeface="Roboto" panose="02000000000000000000" pitchFamily="2" charset="0"/>
                    <a:ea typeface="Roboto" panose="02000000000000000000" pitchFamily="2" charset="0"/>
                  </a:rPr>
                  <a:t> es el valor total del número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𝒃</m:t>
                    </m:r>
                  </m:oMath>
                </a14:m>
                <a:r>
                  <a:rPr lang="es-MX" dirty="0">
                    <a:latin typeface="Roboto" panose="02000000000000000000" pitchFamily="2" charset="0"/>
                    <a:ea typeface="Roboto" panose="02000000000000000000" pitchFamily="2" charset="0"/>
                  </a:rPr>
                  <a:t> es la base del sistema numérico (un número entero mayor que 1).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b="1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b="1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𝒅</m:t>
                        </m:r>
                      </m:e>
                      <m:sub>
                        <m:r>
                          <a:rPr lang="es-MX" b="1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s-MX" dirty="0">
                    <a:latin typeface="Roboto" panose="02000000000000000000" pitchFamily="2" charset="0"/>
                    <a:ea typeface="Roboto" panose="02000000000000000000" pitchFamily="2" charset="0"/>
                  </a:rPr>
                  <a:t> es el dígito en la posición </a:t>
                </a:r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𝒊</m:t>
                    </m:r>
                  </m:oMath>
                </a14:m>
                <a:r>
                  <a:rPr lang="es-MX" dirty="0">
                    <a:latin typeface="Roboto" panose="02000000000000000000" pitchFamily="2" charset="0"/>
                    <a:ea typeface="Roboto" panose="02000000000000000000" pitchFamily="2" charset="0"/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MX" dirty="0">
                    <a:latin typeface="Roboto" panose="02000000000000000000" pitchFamily="2" charset="0"/>
                    <a:ea typeface="Roboto" panose="02000000000000000000" pitchFamily="2" charset="0"/>
                  </a:rPr>
                  <a:t>El valor de cada dígito debe ser </a:t>
                </a:r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𝟎</m:t>
                    </m:r>
                    <m:r>
                      <a:rPr lang="es-MX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≤</m:t>
                    </m:r>
                    <m:r>
                      <a:rPr lang="es-MX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𝒊</m:t>
                    </m:r>
                    <m:r>
                      <a:rPr lang="es-MX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&lt;</m:t>
                    </m:r>
                    <m:r>
                      <a:rPr lang="es-MX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𝒅</m:t>
                    </m:r>
                  </m:oMath>
                </a14:m>
                <a:r>
                  <a:rPr lang="es-MX" b="0" dirty="0">
                    <a:latin typeface="Roboto" panose="02000000000000000000" pitchFamily="2" charset="0"/>
                    <a:ea typeface="Roboto" panose="02000000000000000000" pitchFamily="2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𝒏</m:t>
                    </m:r>
                  </m:oMath>
                </a14:m>
                <a:r>
                  <a:rPr lang="es-MX" dirty="0">
                    <a:latin typeface="Roboto" panose="02000000000000000000" pitchFamily="2" charset="0"/>
                    <a:ea typeface="Roboto" panose="02000000000000000000" pitchFamily="2" charset="0"/>
                  </a:rPr>
                  <a:t> es la posición del dígito más significativo de la parte entera.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𝒎</m:t>
                    </m:r>
                  </m:oMath>
                </a14:m>
                <a:r>
                  <a:rPr lang="es-MX" dirty="0">
                    <a:latin typeface="Roboto" panose="02000000000000000000" pitchFamily="2" charset="0"/>
                    <a:ea typeface="Roboto" panose="02000000000000000000" pitchFamily="2" charset="0"/>
                  </a:rPr>
                  <a:t> es el número de dígitos de la parte fraccionaria.</a:t>
                </a:r>
                <a:endParaRPr lang="es-CO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79AF107-1AF2-4AEB-A418-77B1FA6D7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791" y="2475981"/>
                <a:ext cx="5860900" cy="1600438"/>
              </a:xfrm>
              <a:prstGeom prst="rect">
                <a:avLst/>
              </a:prstGeom>
              <a:blipFill>
                <a:blip r:embed="rId4"/>
                <a:stretch>
                  <a:fillRect l="-832" t="-1521" r="-25780" b="-3193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D4D181C-3970-47F0-B53B-79EEDFDEB1B0}"/>
                  </a:ext>
                </a:extLst>
              </p:cNvPr>
              <p:cNvSpPr txBox="1"/>
              <p:nvPr/>
            </p:nvSpPr>
            <p:spPr>
              <a:xfrm>
                <a:off x="4947067" y="6286891"/>
                <a:ext cx="6620091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s-CO" sz="1600" b="1" dirty="0">
                    <a:solidFill>
                      <a:schemeClr val="accent5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Parte entera</a:t>
                </a:r>
                <a:r>
                  <a:rPr lang="es-CO" sz="1600" dirty="0">
                    <a:latin typeface="Roboto" panose="02000000000000000000" pitchFamily="2" charset="0"/>
                    <a:ea typeface="Roboto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MX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MX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s-MX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MX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s-MX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MX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MX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s-MX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MX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s-CO" sz="16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D4D181C-3970-47F0-B53B-79EEDFDEB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067" y="6286891"/>
                <a:ext cx="6620091" cy="338554"/>
              </a:xfrm>
              <a:prstGeom prst="rect">
                <a:avLst/>
              </a:prstGeom>
              <a:blipFill>
                <a:blip r:embed="rId5"/>
                <a:stretch>
                  <a:fillRect l="-553" t="-5357" b="-214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6D05A5B-2577-464C-8ABE-D0A0D3968BBB}"/>
                  </a:ext>
                </a:extLst>
              </p:cNvPr>
              <p:cNvSpPr txBox="1"/>
              <p:nvPr/>
            </p:nvSpPr>
            <p:spPr>
              <a:xfrm>
                <a:off x="4947068" y="5815886"/>
                <a:ext cx="7244931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s-CO" sz="1600" b="1" dirty="0">
                    <a:solidFill>
                      <a:schemeClr val="accent2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Parte fraccionaria</a:t>
                </a:r>
                <a:r>
                  <a:rPr lang="es-CO" sz="1600" dirty="0">
                    <a:latin typeface="Roboto" panose="02000000000000000000" pitchFamily="2" charset="0"/>
                    <a:ea typeface="Roboto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s-MX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s-MX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s-MX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s-MX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s-MX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s-MX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s-MX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s-CO" sz="16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6D05A5B-2577-464C-8ABE-D0A0D3968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068" y="5815886"/>
                <a:ext cx="7244931" cy="338554"/>
              </a:xfrm>
              <a:prstGeom prst="rect">
                <a:avLst/>
              </a:prstGeom>
              <a:blipFill>
                <a:blip r:embed="rId6"/>
                <a:stretch>
                  <a:fillRect l="-505" t="-5357" b="-214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16C02F8-9F7E-4AA8-A7A9-E5EB2F083715}"/>
                  </a:ext>
                </a:extLst>
              </p:cNvPr>
              <p:cNvSpPr txBox="1"/>
              <p:nvPr/>
            </p:nvSpPr>
            <p:spPr>
              <a:xfrm>
                <a:off x="1875154" y="3050883"/>
                <a:ext cx="1819216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MX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s-MX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MX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1800" i="1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s-MX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s-MX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s-MX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s-MX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16C02F8-9F7E-4AA8-A7A9-E5EB2F083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154" y="3050883"/>
                <a:ext cx="1819216" cy="7562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5C40FE7-9523-448A-AA8F-C4991375DC01}"/>
                  </a:ext>
                </a:extLst>
              </p:cNvPr>
              <p:cNvSpPr txBox="1"/>
              <p:nvPr/>
            </p:nvSpPr>
            <p:spPr>
              <a:xfrm>
                <a:off x="887817" y="5193754"/>
                <a:ext cx="477981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MX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s-MX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MX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−1…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MX" sz="1800" i="1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−2…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MX" sz="18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5C40FE7-9523-448A-AA8F-C4991375D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17" y="5193754"/>
                <a:ext cx="4779817" cy="276999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errar llave 5">
            <a:extLst>
              <a:ext uri="{FF2B5EF4-FFF2-40B4-BE49-F238E27FC236}">
                <a16:creationId xmlns:a16="http://schemas.microsoft.com/office/drawing/2014/main" id="{420D6F42-DF42-4995-9EA1-0B2A88C169A2}"/>
              </a:ext>
            </a:extLst>
          </p:cNvPr>
          <p:cNvSpPr/>
          <p:nvPr/>
        </p:nvSpPr>
        <p:spPr>
          <a:xfrm rot="5400000">
            <a:off x="4374944" y="4568911"/>
            <a:ext cx="227856" cy="1939637"/>
          </a:xfrm>
          <a:prstGeom prst="rightBrace">
            <a:avLst>
              <a:gd name="adj1" fmla="val 30050"/>
              <a:gd name="adj2" fmla="val 50000"/>
            </a:avLst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errar llave 11">
            <a:extLst>
              <a:ext uri="{FF2B5EF4-FFF2-40B4-BE49-F238E27FC236}">
                <a16:creationId xmlns:a16="http://schemas.microsoft.com/office/drawing/2014/main" id="{B2F31753-F881-4CD8-A91F-FE9A6E0F0116}"/>
              </a:ext>
            </a:extLst>
          </p:cNvPr>
          <p:cNvSpPr/>
          <p:nvPr/>
        </p:nvSpPr>
        <p:spPr>
          <a:xfrm rot="5400000">
            <a:off x="2670835" y="4873712"/>
            <a:ext cx="227855" cy="1330037"/>
          </a:xfrm>
          <a:prstGeom prst="rightBrace">
            <a:avLst>
              <a:gd name="adj1" fmla="val 30050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9C5D9410-DE7F-4D60-A4D6-4C80699997B6}"/>
              </a:ext>
            </a:extLst>
          </p:cNvPr>
          <p:cNvCxnSpPr>
            <a:cxnSpLocks/>
            <a:stCxn id="6" idx="1"/>
            <a:endCxn id="9" idx="1"/>
          </p:cNvCxnSpPr>
          <p:nvPr/>
        </p:nvCxnSpPr>
        <p:spPr>
          <a:xfrm rot="16200000" flipH="1">
            <a:off x="4551717" y="5589812"/>
            <a:ext cx="332505" cy="458196"/>
          </a:xfrm>
          <a:prstGeom prst="bentConnector4">
            <a:avLst>
              <a:gd name="adj1" fmla="val 100031"/>
              <a:gd name="adj2" fmla="val 62432"/>
            </a:avLst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07DE8F97-307C-4B91-BC47-17D8C3421984}"/>
              </a:ext>
            </a:extLst>
          </p:cNvPr>
          <p:cNvCxnSpPr>
            <a:cxnSpLocks/>
            <a:stCxn id="12" idx="1"/>
            <a:endCxn id="8" idx="1"/>
          </p:cNvCxnSpPr>
          <p:nvPr/>
        </p:nvCxnSpPr>
        <p:spPr>
          <a:xfrm rot="16200000" flipH="1">
            <a:off x="3464159" y="4973261"/>
            <a:ext cx="803510" cy="2162305"/>
          </a:xfrm>
          <a:prstGeom prst="bentConnector4">
            <a:avLst>
              <a:gd name="adj1" fmla="val 76563"/>
              <a:gd name="adj2" fmla="val -79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521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021380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Sistemas numéricos posicionales</a:t>
            </a:r>
            <a:endParaRPr dirty="0"/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916650" y="1165556"/>
            <a:ext cx="9501968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accent2"/>
                </a:solidFill>
              </a:rPr>
              <a:t>Ejemplos</a:t>
            </a:r>
            <a:endParaRPr lang="es-MX" dirty="0">
              <a:solidFill>
                <a:schemeClr val="accent2"/>
              </a:solidFill>
            </a:endParaRPr>
          </a:p>
          <a:p>
            <a:pPr marL="0" indent="0">
              <a:buFont typeface="Roboto"/>
              <a:buNone/>
            </a:pPr>
            <a:endParaRPr lang="es-MX" sz="2400" dirty="0"/>
          </a:p>
          <a:p>
            <a:pPr indent="0">
              <a:buFont typeface="Roboto"/>
              <a:buNone/>
            </a:pPr>
            <a:endParaRPr lang="es-MX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8239" y="1699587"/>
                <a:ext cx="11015521" cy="2410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/>
                  <a:t>Exprese en notación posicional los siguientes números:</a:t>
                </a:r>
                <a:endParaRPr lang="es-MX" sz="2000" dirty="0"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432</m:t>
                        </m:r>
                      </m:e>
                      <m:sub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</m:t>
                        </m:r>
                      </m:sub>
                    </m:sSub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=4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3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4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3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s-MX" sz="1800" dirty="0"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432</m:t>
                        </m:r>
                      </m:e>
                      <m:sub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8</m:t>
                        </m:r>
                      </m:sub>
                    </m:sSub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=4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3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4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64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3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</m:oMath>
                </a14:m>
                <a:endParaRPr lang="es-MX" sz="1800" dirty="0"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432</m:t>
                        </m:r>
                      </m:e>
                      <m:sub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16</m:t>
                        </m:r>
                      </m:sub>
                    </m:sSub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=4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3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4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256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3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</m:oMath>
                </a14:m>
                <a:endParaRPr lang="es-MX" sz="1800" b="0" dirty="0"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25.4</m:t>
                        </m:r>
                      </m:e>
                      <m:sub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</m:t>
                        </m:r>
                      </m:sub>
                    </m:sSub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5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×10+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5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×1+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s-MX" sz="1800" dirty="0"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MX" sz="16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1101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b>
                    </m:sSub>
                    <m:r>
                      <a:rPr lang="es-MX" sz="16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0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0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0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  <m:r>
                      <a:rPr lang="es-MX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</m:oMath>
                </a14:m>
                <a:endParaRPr lang="es-MX" sz="1800" b="0" dirty="0"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:endParaRPr lang="es-MX" sz="2000" b="0" dirty="0"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:endParaRPr lang="es-MX" sz="2000" dirty="0"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CO" sz="20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239" y="1699587"/>
                <a:ext cx="11015521" cy="2410044"/>
              </a:xfrm>
              <a:prstGeom prst="rect">
                <a:avLst/>
              </a:prstGeom>
              <a:blipFill>
                <a:blip r:embed="rId3"/>
                <a:stretch>
                  <a:fillRect b="-5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368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50196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Sistemas numéricos posicionales</a:t>
            </a:r>
            <a:endParaRPr dirty="0"/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916650" y="750087"/>
            <a:ext cx="9501968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accent2"/>
                </a:solidFill>
              </a:rPr>
              <a:t>Sistema numérico decimal (base 10)</a:t>
            </a:r>
            <a:endParaRPr lang="es-MX" dirty="0">
              <a:solidFill>
                <a:schemeClr val="accent2"/>
              </a:solidFill>
            </a:endParaRPr>
          </a:p>
          <a:p>
            <a:pPr marL="0" indent="0">
              <a:buFont typeface="Roboto"/>
              <a:buNone/>
            </a:pPr>
            <a:endParaRPr lang="es-MX" sz="2400" dirty="0"/>
          </a:p>
          <a:p>
            <a:pPr indent="0">
              <a:buFont typeface="Roboto"/>
              <a:buNone/>
            </a:pPr>
            <a:endParaRPr lang="es-MX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1717" y="1272955"/>
                <a:ext cx="11015521" cy="52167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dirty="0"/>
                  <a:t>Es el que usamos a diario.</a:t>
                </a:r>
              </a:p>
              <a:p>
                <a:r>
                  <a:rPr lang="es-MX" sz="2000" dirty="0"/>
                  <a:t>Se llama decimal porque utiliza la base 10, es decir, diez símbolos distintos</a:t>
                </a:r>
              </a:p>
              <a:p>
                <a:r>
                  <a:rPr lang="es-MX" sz="2000" dirty="0"/>
                  <a:t>Dígitos:</a:t>
                </a:r>
              </a:p>
              <a:p>
                <a:endParaRPr lang="es-MX" sz="2000" b="0" i="1" dirty="0">
                  <a:latin typeface="Cambria Math" panose="02040503050406030204" pitchFamily="18" charset="0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0,1,2,3,4,5,6,7,8,9</m:t>
                      </m:r>
                    </m:oMath>
                  </m:oMathPara>
                </a14:m>
                <a:endParaRPr lang="es-MX" sz="2000" dirty="0">
                  <a:ea typeface="Roboto" panose="02000000000000000000" pitchFamily="2" charset="0"/>
                </a:endParaRPr>
              </a:p>
              <a:p>
                <a:r>
                  <a:rPr lang="es-MX" sz="2000" dirty="0"/>
                  <a:t>Representación posicional: </a:t>
                </a:r>
              </a:p>
              <a:p>
                <a:endParaRPr lang="es-MX" sz="2000" dirty="0"/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𝑁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𝑁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10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−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𝑚</m:t>
                          </m:r>
                        </m:sub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p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MX" sz="2000" b="0" i="1" dirty="0">
                  <a:latin typeface="Cambria Math" panose="02040503050406030204" pitchFamily="18" charset="0"/>
                  <a:ea typeface="Roboto" panose="02000000000000000000" pitchFamily="2" charset="0"/>
                </a:endParaRPr>
              </a:p>
              <a:p>
                <a:r>
                  <a:rPr lang="es-MX" sz="2000" b="1" dirty="0">
                    <a:ea typeface="Roboto" panose="02000000000000000000" pitchFamily="2" charset="0"/>
                  </a:rPr>
                  <a:t>Ejemplo</a:t>
                </a:r>
                <a:r>
                  <a:rPr lang="es-MX" sz="2000" dirty="0">
                    <a:ea typeface="Roboto" panose="02000000000000000000" pitchFamily="2" charset="0"/>
                  </a:rPr>
                  <a:t>: Represente el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5238</m:t>
                    </m:r>
                  </m:oMath>
                </a14:m>
                <a:endParaRPr lang="es-MX" sz="2000" b="0" dirty="0">
                  <a:ea typeface="Roboto" panose="02000000000000000000" pitchFamily="2" charset="0"/>
                </a:endParaRPr>
              </a:p>
              <a:p>
                <a:endParaRPr lang="es-MX" sz="2000" dirty="0"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5238=5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2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3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8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s-MX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=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5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1000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2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3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8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MX" sz="1600" dirty="0"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=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5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238</m:t>
                      </m:r>
                    </m:oMath>
                  </m:oMathPara>
                </a14:m>
                <a:endParaRPr lang="es-MX" sz="1600" dirty="0"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:endParaRPr lang="es-MX" sz="2000" dirty="0"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CO" sz="20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717" y="1272955"/>
                <a:ext cx="11015521" cy="52167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2">
                <a:extLst>
                  <a:ext uri="{FF2B5EF4-FFF2-40B4-BE49-F238E27FC236}">
                    <a16:creationId xmlns:a16="http://schemas.microsoft.com/office/drawing/2014/main" id="{30DB52A1-E169-4631-A375-946EF1AD19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0964891"/>
                  </p:ext>
                </p:extLst>
              </p:nvPr>
            </p:nvGraphicFramePr>
            <p:xfrm>
              <a:off x="6604769" y="5071197"/>
              <a:ext cx="4351020" cy="9144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1748017093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2325487836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3563616872"/>
                        </a:ext>
                      </a:extLst>
                    </a:gridCol>
                  </a:tblGrid>
                  <a:tr h="22311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Potencia de 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2311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Forma 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2311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Digito </a:t>
                          </a:r>
                          <a14:m>
                            <m:oMath xmlns:m="http://schemas.openxmlformats.org/officeDocument/2006/math">
                              <m:r>
                                <a:rPr lang="es-MX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oMath>
                          </a14:m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2">
                <a:extLst>
                  <a:ext uri="{FF2B5EF4-FFF2-40B4-BE49-F238E27FC236}">
                    <a16:creationId xmlns:a16="http://schemas.microsoft.com/office/drawing/2014/main" id="{30DB52A1-E169-4631-A375-946EF1AD19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0964891"/>
                  </p:ext>
                </p:extLst>
              </p:nvPr>
            </p:nvGraphicFramePr>
            <p:xfrm>
              <a:off x="6604769" y="5071197"/>
              <a:ext cx="4351020" cy="9144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1748017093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2325487836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356361687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Potencia de 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7500" t="-2000" r="-300000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000" r="-202521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96667" t="-2000" r="-100833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96667" t="-2000" r="-833" b="-2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Forma 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7500" t="-100000" r="-300000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00000" r="-202521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96667" t="-100000" r="-100833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96667" t="-100000" r="-833" b="-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24" t="-204000" r="-20339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7500" t="-204000" r="-30000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04000" r="-202521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96667" t="-204000" r="-100833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96667" t="-204000" r="-833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19510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9400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Sistemas numéricos posicionales</a:t>
            </a:r>
            <a:endParaRPr dirty="0"/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916650" y="750087"/>
            <a:ext cx="9501968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accent2"/>
                </a:solidFill>
              </a:rPr>
              <a:t>Sistema numérico binario (base 2)</a:t>
            </a:r>
            <a:endParaRPr lang="es-MX" dirty="0">
              <a:solidFill>
                <a:schemeClr val="accent2"/>
              </a:solidFill>
            </a:endParaRPr>
          </a:p>
          <a:p>
            <a:pPr marL="0" indent="0">
              <a:buFont typeface="Roboto"/>
              <a:buNone/>
            </a:pPr>
            <a:endParaRPr lang="es-MX" sz="2400" dirty="0"/>
          </a:p>
          <a:p>
            <a:pPr indent="0">
              <a:buFont typeface="Roboto"/>
              <a:buNone/>
            </a:pPr>
            <a:endParaRPr lang="es-MX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1717" y="1272955"/>
                <a:ext cx="11015521" cy="52167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dirty="0"/>
                  <a:t>Solo utiliza dos dígitos para representar cualquier número: 0 y 1. A cada uno de estos dígitos se le conoce como bit (contracción del inglés Binary Digit). </a:t>
                </a:r>
              </a:p>
              <a:p>
                <a:r>
                  <a:rPr lang="es-MX" sz="2000" dirty="0"/>
                  <a:t>Dígitos:</a:t>
                </a:r>
              </a:p>
              <a:p>
                <a:endParaRPr lang="es-MX" sz="2000" b="0" i="1" dirty="0">
                  <a:latin typeface="Cambria Math" panose="02040503050406030204" pitchFamily="18" charset="0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0,1</m:t>
                      </m:r>
                    </m:oMath>
                  </m:oMathPara>
                </a14:m>
                <a:endParaRPr lang="es-MX" sz="2000" dirty="0">
                  <a:ea typeface="Roboto" panose="02000000000000000000" pitchFamily="2" charset="0"/>
                </a:endParaRPr>
              </a:p>
              <a:p>
                <a:r>
                  <a:rPr lang="es-MX" sz="2000" dirty="0"/>
                  <a:t>Representación posicional: </a:t>
                </a:r>
              </a:p>
              <a:p>
                <a:endParaRPr lang="es-MX" sz="2000" dirty="0"/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𝑁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2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−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𝑚</m:t>
                          </m:r>
                        </m:sub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p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MX" sz="2000" b="0" i="1" dirty="0">
                  <a:latin typeface="Cambria Math" panose="02040503050406030204" pitchFamily="18" charset="0"/>
                  <a:ea typeface="Roboto" panose="02000000000000000000" pitchFamily="2" charset="0"/>
                </a:endParaRPr>
              </a:p>
              <a:p>
                <a:r>
                  <a:rPr lang="es-MX" sz="2000" b="1" dirty="0">
                    <a:ea typeface="Roboto" panose="02000000000000000000" pitchFamily="2" charset="0"/>
                  </a:rPr>
                  <a:t>Ejemplo</a:t>
                </a:r>
                <a:r>
                  <a:rPr lang="es-MX" sz="2000" dirty="0">
                    <a:ea typeface="Roboto" panose="02000000000000000000" pitchFamily="2" charset="0"/>
                  </a:rPr>
                  <a:t>: Represente 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0110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endParaRPr lang="es-MX" sz="2000" b="0" dirty="0">
                  <a:ea typeface="Roboto" panose="02000000000000000000" pitchFamily="2" charset="0"/>
                </a:endParaRPr>
              </a:p>
              <a:p>
                <a:endParaRPr lang="es-MX" sz="2000" dirty="0"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0</m:t>
                          </m:r>
                          <m:r>
                            <a:rPr lang="es-MX" sz="16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10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2</m:t>
                          </m:r>
                        </m:sub>
                      </m:sSub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0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0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s-MX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=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0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0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MX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=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0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0</m:t>
                      </m:r>
                    </m:oMath>
                  </m:oMathPara>
                </a14:m>
                <a:endParaRPr lang="es-MX" sz="1600" i="1" dirty="0">
                  <a:latin typeface="Cambria Math" panose="02040503050406030204" pitchFamily="18" charset="0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=</m:t>
                      </m:r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6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s-MX" sz="2000" dirty="0"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CO" sz="20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717" y="1272955"/>
                <a:ext cx="11015521" cy="52167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2">
                <a:extLst>
                  <a:ext uri="{FF2B5EF4-FFF2-40B4-BE49-F238E27FC236}">
                    <a16:creationId xmlns:a16="http://schemas.microsoft.com/office/drawing/2014/main" id="{30DB52A1-E169-4631-A375-946EF1AD19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3108164"/>
                  </p:ext>
                </p:extLst>
              </p:nvPr>
            </p:nvGraphicFramePr>
            <p:xfrm>
              <a:off x="6319477" y="5193513"/>
              <a:ext cx="4351020" cy="9144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1748017093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2325487836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3563616872"/>
                        </a:ext>
                      </a:extLst>
                    </a:gridCol>
                  </a:tblGrid>
                  <a:tr h="22311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Potencia de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2311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Forma 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2311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Digito </a:t>
                          </a:r>
                          <a14:m>
                            <m:oMath xmlns:m="http://schemas.openxmlformats.org/officeDocument/2006/math">
                              <m:r>
                                <a:rPr lang="es-MX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oMath>
                          </a14:m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2">
                <a:extLst>
                  <a:ext uri="{FF2B5EF4-FFF2-40B4-BE49-F238E27FC236}">
                    <a16:creationId xmlns:a16="http://schemas.microsoft.com/office/drawing/2014/main" id="{30DB52A1-E169-4631-A375-946EF1AD19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3108164"/>
                  </p:ext>
                </p:extLst>
              </p:nvPr>
            </p:nvGraphicFramePr>
            <p:xfrm>
              <a:off x="6319477" y="5193513"/>
              <a:ext cx="4351020" cy="9144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1748017093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2325487836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356361687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Potencia de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7500" t="-2000" r="-300000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000" r="-202521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96667" t="-2000" r="-100833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96667" t="-2000" r="-833" b="-2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Forma 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7500" t="-100000" r="-300000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00000" r="-202521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96667" t="-100000" r="-100833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96667" t="-100000" r="-833" b="-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24" t="-204000" r="-20339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7500" t="-204000" r="-30000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04000" r="-202521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96667" t="-204000" r="-100833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96667" t="-204000" r="-833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50813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8674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Sistemas numéricos posicionales</a:t>
            </a:r>
            <a:endParaRPr dirty="0"/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916650" y="750087"/>
            <a:ext cx="9501968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accent2"/>
                </a:solidFill>
              </a:rPr>
              <a:t>Sistema numérico octal (base 8)</a:t>
            </a:r>
            <a:endParaRPr lang="es-MX" dirty="0">
              <a:solidFill>
                <a:schemeClr val="accent2"/>
              </a:solidFill>
            </a:endParaRPr>
          </a:p>
          <a:p>
            <a:pPr marL="0" indent="0">
              <a:buFont typeface="Roboto"/>
              <a:buNone/>
            </a:pPr>
            <a:endParaRPr lang="es-MX" sz="2400" dirty="0"/>
          </a:p>
          <a:p>
            <a:pPr indent="0">
              <a:buFont typeface="Roboto"/>
              <a:buNone/>
            </a:pPr>
            <a:endParaRPr lang="es-MX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1717" y="1272955"/>
                <a:ext cx="11015521" cy="52167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dirty="0"/>
                  <a:t>Sistema de numeración que utiliza 8 dígitos. </a:t>
                </a:r>
              </a:p>
              <a:p>
                <a:r>
                  <a:rPr lang="es-MX" sz="2000" dirty="0"/>
                  <a:t>Dígitos:</a:t>
                </a:r>
              </a:p>
              <a:p>
                <a:endParaRPr lang="es-MX" sz="2000" b="0" i="1" dirty="0">
                  <a:latin typeface="Cambria Math" panose="02040503050406030204" pitchFamily="18" charset="0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0,1,2,3,4,5,6,7</m:t>
                      </m:r>
                    </m:oMath>
                  </m:oMathPara>
                </a14:m>
                <a:endParaRPr lang="es-MX" sz="2000" dirty="0">
                  <a:ea typeface="Roboto" panose="02000000000000000000" pitchFamily="2" charset="0"/>
                </a:endParaRPr>
              </a:p>
              <a:p>
                <a:r>
                  <a:rPr lang="es-MX" sz="2000" dirty="0"/>
                  <a:t>Representación posicional: </a:t>
                </a:r>
              </a:p>
              <a:p>
                <a:endParaRPr lang="es-MX" sz="2000" dirty="0"/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𝑁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8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−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𝑚</m:t>
                          </m:r>
                        </m:sub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p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MX" sz="2000" b="0" i="1" dirty="0">
                  <a:latin typeface="Cambria Math" panose="02040503050406030204" pitchFamily="18" charset="0"/>
                  <a:ea typeface="Roboto" panose="02000000000000000000" pitchFamily="2" charset="0"/>
                </a:endParaRPr>
              </a:p>
              <a:p>
                <a:r>
                  <a:rPr lang="es-MX" sz="2000" b="1" dirty="0">
                    <a:ea typeface="Roboto" panose="02000000000000000000" pitchFamily="2" charset="0"/>
                  </a:rPr>
                  <a:t>Ejemplo</a:t>
                </a:r>
                <a:r>
                  <a:rPr lang="es-MX" sz="2000" dirty="0">
                    <a:ea typeface="Roboto" panose="02000000000000000000" pitchFamily="2" charset="0"/>
                  </a:rPr>
                  <a:t>: Represente 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347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8</m:t>
                        </m:r>
                      </m:sub>
                    </m:sSub>
                  </m:oMath>
                </a14:m>
                <a:endParaRPr lang="es-MX" sz="2000" b="0" dirty="0">
                  <a:ea typeface="Roboto" panose="02000000000000000000" pitchFamily="2" charset="0"/>
                </a:endParaRPr>
              </a:p>
              <a:p>
                <a:endParaRPr lang="es-MX" sz="2000" dirty="0"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347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8</m:t>
                          </m:r>
                        </m:sub>
                      </m:sSub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3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4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7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s-MX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=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3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64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4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7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MX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=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192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s-MX" sz="1600" i="1" dirty="0">
                  <a:latin typeface="Cambria Math" panose="02040503050406030204" pitchFamily="18" charset="0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=</m:t>
                      </m:r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231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s-MX" sz="2000" dirty="0"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CO" sz="20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717" y="1272955"/>
                <a:ext cx="11015521" cy="52167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2">
                <a:extLst>
                  <a:ext uri="{FF2B5EF4-FFF2-40B4-BE49-F238E27FC236}">
                    <a16:creationId xmlns:a16="http://schemas.microsoft.com/office/drawing/2014/main" id="{30DB52A1-E169-4631-A375-946EF1AD19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442940"/>
                  </p:ext>
                </p:extLst>
              </p:nvPr>
            </p:nvGraphicFramePr>
            <p:xfrm>
              <a:off x="6573927" y="5193513"/>
              <a:ext cx="3622040" cy="9144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2325487836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3563616872"/>
                        </a:ext>
                      </a:extLst>
                    </a:gridCol>
                  </a:tblGrid>
                  <a:tr h="22311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Potencia de 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2311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Forma 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64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2311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Digito </a:t>
                          </a:r>
                          <a14:m>
                            <m:oMath xmlns:m="http://schemas.openxmlformats.org/officeDocument/2006/math">
                              <m:r>
                                <a:rPr lang="es-MX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oMath>
                          </a14:m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2">
                <a:extLst>
                  <a:ext uri="{FF2B5EF4-FFF2-40B4-BE49-F238E27FC236}">
                    <a16:creationId xmlns:a16="http://schemas.microsoft.com/office/drawing/2014/main" id="{30DB52A1-E169-4631-A375-946EF1AD19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442940"/>
                  </p:ext>
                </p:extLst>
              </p:nvPr>
            </p:nvGraphicFramePr>
            <p:xfrm>
              <a:off x="6573927" y="5193513"/>
              <a:ext cx="3622040" cy="9144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2325487836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356361687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Potencia de 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9160" t="-2000" r="-203361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96667" t="-2000" r="-101667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96667" t="-2000" r="-1667" b="-2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Forma 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9160" t="-100000" r="-203361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96667" t="-100000" r="-101667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96667" t="-100000" r="-1667" b="-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24" t="-204000" r="-152966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9160" t="-204000" r="-203361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96667" t="-204000" r="-101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96667" t="-204000" r="-1667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4255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01867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Sistemas numéricos posicionales</a:t>
            </a:r>
            <a:endParaRPr dirty="0"/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916650" y="750087"/>
            <a:ext cx="8011450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accent2"/>
                </a:solidFill>
              </a:rPr>
              <a:t>Sistema numérico hexadecimal (base 16)</a:t>
            </a:r>
            <a:endParaRPr lang="es-MX" dirty="0">
              <a:solidFill>
                <a:schemeClr val="accent2"/>
              </a:solidFill>
            </a:endParaRPr>
          </a:p>
          <a:p>
            <a:pPr marL="0" indent="0">
              <a:buFont typeface="Roboto"/>
              <a:buNone/>
            </a:pPr>
            <a:endParaRPr lang="es-MX" sz="2400" dirty="0"/>
          </a:p>
          <a:p>
            <a:pPr indent="0">
              <a:buFont typeface="Roboto"/>
              <a:buNone/>
            </a:pPr>
            <a:endParaRPr lang="es-MX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1718" y="1272955"/>
                <a:ext cx="8304000" cy="5489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dirty="0"/>
                  <a:t>Utiliza </a:t>
                </a:r>
                <a:r>
                  <a:rPr lang="es-MX" sz="2000" b="1" dirty="0"/>
                  <a:t>16</a:t>
                </a:r>
                <a:r>
                  <a:rPr lang="es-MX" sz="2000" dirty="0"/>
                  <a:t> símbolos para representar cualquier cantidad. Como solo existen 10 dígitos numéricos, este sistema se complementa con las primeras seis letras del alfabeto.</a:t>
                </a:r>
              </a:p>
              <a:p>
                <a:r>
                  <a:rPr lang="es-MX" sz="2000" dirty="0"/>
                  <a:t>Dígitos:</a:t>
                </a: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0,1,2,3,4,5,6,7,8,9,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𝐴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,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𝐵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,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𝐶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,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𝐷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,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𝐸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,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𝐹</m:t>
                      </m:r>
                    </m:oMath>
                  </m:oMathPara>
                </a14:m>
                <a:endParaRPr lang="es-MX" sz="2000" b="0" dirty="0"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ea typeface="Roboto" panose="02000000000000000000" pitchFamily="2" charset="0"/>
                </a:endParaRPr>
              </a:p>
              <a:p>
                <a:r>
                  <a:rPr lang="es-MX" sz="2000" dirty="0"/>
                  <a:t>Representación posicional: </a:t>
                </a:r>
              </a:p>
              <a:p>
                <a:endParaRPr lang="es-MX" sz="2000" dirty="0"/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𝑁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16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−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𝑚</m:t>
                          </m:r>
                        </m:sub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p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16</m:t>
                              </m:r>
                            </m:e>
                            <m:sup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MX" sz="2000" b="0" i="1" dirty="0">
                  <a:latin typeface="Cambria Math" panose="02040503050406030204" pitchFamily="18" charset="0"/>
                  <a:ea typeface="Roboto" panose="02000000000000000000" pitchFamily="2" charset="0"/>
                </a:endParaRPr>
              </a:p>
              <a:p>
                <a:r>
                  <a:rPr lang="es-MX" sz="2000" b="1" dirty="0">
                    <a:ea typeface="Roboto" panose="02000000000000000000" pitchFamily="2" charset="0"/>
                  </a:rPr>
                  <a:t>Ejemplo</a:t>
                </a:r>
                <a:r>
                  <a:rPr lang="es-MX" sz="2000" dirty="0">
                    <a:ea typeface="Roboto" panose="02000000000000000000" pitchFamily="2" charset="0"/>
                  </a:rPr>
                  <a:t>: Represente el </a:t>
                </a:r>
                <a14:m>
                  <m:oMath xmlns:m="http://schemas.openxmlformats.org/officeDocument/2006/math"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𝐷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16</m:t>
                        </m:r>
                      </m:sub>
                    </m:sSub>
                  </m:oMath>
                </a14:m>
                <a:endParaRPr lang="es-MX" sz="2000" b="0" dirty="0">
                  <a:ea typeface="Roboto" panose="02000000000000000000" pitchFamily="2" charset="0"/>
                </a:endParaRPr>
              </a:p>
              <a:p>
                <a:endParaRPr lang="es-MX" sz="2000" dirty="0"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</m:t>
                          </m:r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𝐴𝐷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16</m:t>
                          </m:r>
                        </m:sub>
                      </m:sSub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10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13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s-MX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=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256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10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13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MX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=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256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160</m:t>
                      </m:r>
                      <m:r>
                        <a:rPr lang="es-MX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es-MX" sz="1600" i="1" dirty="0">
                  <a:latin typeface="Cambria Math" panose="02040503050406030204" pitchFamily="18" charset="0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=</m:t>
                      </m:r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429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s-MX" sz="2000" dirty="0"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CO" sz="20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718" y="1272955"/>
                <a:ext cx="8304000" cy="5489007"/>
              </a:xfrm>
              <a:prstGeom prst="rect">
                <a:avLst/>
              </a:prstGeom>
              <a:blipFill>
                <a:blip r:embed="rId3"/>
                <a:stretch>
                  <a:fillRect r="-13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2">
                <a:extLst>
                  <a:ext uri="{FF2B5EF4-FFF2-40B4-BE49-F238E27FC236}">
                    <a16:creationId xmlns:a16="http://schemas.microsoft.com/office/drawing/2014/main" id="{30DB52A1-E169-4631-A375-946EF1AD19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9166713"/>
                  </p:ext>
                </p:extLst>
              </p:nvPr>
            </p:nvGraphicFramePr>
            <p:xfrm>
              <a:off x="5306060" y="5688813"/>
              <a:ext cx="3622040" cy="9144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2325487836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3563616872"/>
                        </a:ext>
                      </a:extLst>
                    </a:gridCol>
                  </a:tblGrid>
                  <a:tr h="22311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Potencia de 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2311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Forma 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256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2311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Digito </a:t>
                          </a:r>
                          <a14:m>
                            <m:oMath xmlns:m="http://schemas.openxmlformats.org/officeDocument/2006/math">
                              <m:r>
                                <a:rPr lang="es-MX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oMath>
                          </a14:m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2">
                <a:extLst>
                  <a:ext uri="{FF2B5EF4-FFF2-40B4-BE49-F238E27FC236}">
                    <a16:creationId xmlns:a16="http://schemas.microsoft.com/office/drawing/2014/main" id="{30DB52A1-E169-4631-A375-946EF1AD19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9166713"/>
                  </p:ext>
                </p:extLst>
              </p:nvPr>
            </p:nvGraphicFramePr>
            <p:xfrm>
              <a:off x="5306060" y="5688813"/>
              <a:ext cx="3622040" cy="9144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2325487836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356361687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Potencia de 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9160" t="-4000" r="-203361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96667" t="-4000" r="-101667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96667" t="-4000" r="-1667" b="-2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Forma 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9160" t="-101961" r="-203361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96667" t="-101961" r="-101667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96667" t="-101961" r="-1667" b="-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24" t="-206000" r="-152966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9160" t="-206000" r="-203361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96667" t="-206000" r="-10166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396667" t="-206000" r="-1667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2">
                <a:extLst>
                  <a:ext uri="{FF2B5EF4-FFF2-40B4-BE49-F238E27FC236}">
                    <a16:creationId xmlns:a16="http://schemas.microsoft.com/office/drawing/2014/main" id="{0258EF71-3C57-4654-A5AF-7EB1DC9951F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334950" y="1452093"/>
              <a:ext cx="2639522" cy="5029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319761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1319761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</a:tblGrid>
                  <a:tr h="237798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Hexadecimal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Decimal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3129597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779449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27162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7526917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729201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62444935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9458759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3194633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7770054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4744525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1179884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835766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0303837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07665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2">
                <a:extLst>
                  <a:ext uri="{FF2B5EF4-FFF2-40B4-BE49-F238E27FC236}">
                    <a16:creationId xmlns:a16="http://schemas.microsoft.com/office/drawing/2014/main" id="{0258EF71-3C57-4654-A5AF-7EB1DC9951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4541611"/>
                  </p:ext>
                </p:extLst>
              </p:nvPr>
            </p:nvGraphicFramePr>
            <p:xfrm>
              <a:off x="9334950" y="1452093"/>
              <a:ext cx="2639522" cy="46939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319761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1319761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Hexadecimal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Decimal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115556" r="-100461" b="-1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115556" r="-461" b="-15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215556" r="-100461" b="-1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215556" r="-461" b="-14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315556" r="-100461" b="-1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315556" r="-461" b="-13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312959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415556" r="-100461" b="-1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415556" r="-461" b="-12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77944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515556" r="-100461" b="-1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515556" r="-461" b="-11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7162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615556" r="-100461" b="-10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615556" r="-461" b="-10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752691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715556" r="-100461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715556" r="-461" b="-9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29201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797826" r="-100461" b="-784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797826" r="-461" b="-7847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244493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917778" r="-100461" b="-7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917778" r="-461" b="-7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94587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1017778" r="-100461" b="-6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1017778" r="-461" b="-6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319463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1117778" r="-100461" b="-5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1117778" r="-461" b="-5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77700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1217778" r="-100461" b="-4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1217778" r="-461" b="-4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474452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1317778" r="-100461" b="-3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1317778" r="-461" b="-3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11798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1417778" r="-100461" b="-2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1417778" r="-461" b="-2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835766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1517778" r="-100461" b="-1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1517778" r="-461" b="-1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030383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61" t="-1617778" r="-100461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00461" t="-1617778" r="-461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07665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21313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01287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Sistemas numéricos posicionales</a:t>
            </a:r>
            <a:endParaRPr dirty="0"/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916649" y="780067"/>
            <a:ext cx="9501968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accent2"/>
                </a:solidFill>
              </a:rPr>
              <a:t>Tabla resumen – Principales sistemas numéricos</a:t>
            </a:r>
            <a:endParaRPr lang="es-MX" dirty="0">
              <a:solidFill>
                <a:schemeClr val="accent2"/>
              </a:solidFill>
            </a:endParaRPr>
          </a:p>
          <a:p>
            <a:pPr marL="0" indent="0">
              <a:buFont typeface="Roboto"/>
              <a:buNone/>
            </a:pPr>
            <a:endParaRPr lang="es-MX" sz="2400" dirty="0"/>
          </a:p>
          <a:p>
            <a:pPr indent="0">
              <a:buFont typeface="Roboto"/>
              <a:buNone/>
            </a:pPr>
            <a:endParaRPr lang="es-MX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3360A4CF-336E-4646-8179-AD73BD64A3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54100" y="1592178"/>
              <a:ext cx="10477500" cy="4023360"/>
            </p:xfrm>
            <a:graphic>
              <a:graphicData uri="http://schemas.openxmlformats.org/drawingml/2006/table">
                <a:tbl>
                  <a:tblPr/>
                  <a:tblGrid>
                    <a:gridCol w="2095500">
                      <a:extLst>
                        <a:ext uri="{9D8B030D-6E8A-4147-A177-3AD203B41FA5}">
                          <a16:colId xmlns:a16="http://schemas.microsoft.com/office/drawing/2014/main" val="2589874575"/>
                        </a:ext>
                      </a:extLst>
                    </a:gridCol>
                    <a:gridCol w="2095500">
                      <a:extLst>
                        <a:ext uri="{9D8B030D-6E8A-4147-A177-3AD203B41FA5}">
                          <a16:colId xmlns:a16="http://schemas.microsoft.com/office/drawing/2014/main" val="172528244"/>
                        </a:ext>
                      </a:extLst>
                    </a:gridCol>
                    <a:gridCol w="2095500">
                      <a:extLst>
                        <a:ext uri="{9D8B030D-6E8A-4147-A177-3AD203B41FA5}">
                          <a16:colId xmlns:a16="http://schemas.microsoft.com/office/drawing/2014/main" val="4185171607"/>
                        </a:ext>
                      </a:extLst>
                    </a:gridCol>
                    <a:gridCol w="2095500">
                      <a:extLst>
                        <a:ext uri="{9D8B030D-6E8A-4147-A177-3AD203B41FA5}">
                          <a16:colId xmlns:a16="http://schemas.microsoft.com/office/drawing/2014/main" val="1832685680"/>
                        </a:ext>
                      </a:extLst>
                    </a:gridCol>
                    <a:gridCol w="2095500">
                      <a:extLst>
                        <a:ext uri="{9D8B030D-6E8A-4147-A177-3AD203B41FA5}">
                          <a16:colId xmlns:a16="http://schemas.microsoft.com/office/drawing/2014/main" val="308339850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Característica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Decimal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Binario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Octal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Hexadecimal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007846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Base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683807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Dígitos Utilizados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0, 1, 2, 3, 4, 5, 6, 7, 8, 9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0, 1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0, 1, 2, 3, 4, 5, 6, 7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0-9 y A, B, C, D, E, 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764159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Relación con Binario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Ninguna directa. Es el sistema de referencia humano.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Es el </a:t>
                          </a:r>
                          <a:r>
                            <a:rPr lang="es-MX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sistema fundamental</a:t>
                          </a:r>
                          <a:r>
                            <a:rPr lang="es-MX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de la computación.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 dígito octal = 3 bits</a:t>
                          </a:r>
                          <a:b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</a:br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=8</m:t>
                              </m:r>
                            </m:oMath>
                          </a14:m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 dígito hexadecimal = 4 bits</a:t>
                          </a:r>
                          <a:br>
                            <a:rPr lang="es-MX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</a:br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=16</m:t>
                              </m:r>
                            </m:oMath>
                          </a14:m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)</a:t>
                          </a:r>
                          <a:endParaRPr lang="es-MX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268597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Uso Principal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Cálculos cotidianos, finanzas, vida diaria.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Lenguaje nativo del hardware de la computadora (circuitos, lógica).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Permisos de archivos en Unix/Linux, algunos sistemas embebidos.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Direcciones de memoria, colores web (CSS), direcciones MAC, depuración.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691484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3360A4CF-336E-4646-8179-AD73BD64A3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3081946"/>
                  </p:ext>
                </p:extLst>
              </p:nvPr>
            </p:nvGraphicFramePr>
            <p:xfrm>
              <a:off x="1054100" y="1592178"/>
              <a:ext cx="10477500" cy="2590800"/>
            </p:xfrm>
            <a:graphic>
              <a:graphicData uri="http://schemas.openxmlformats.org/drawingml/2006/table">
                <a:tbl>
                  <a:tblPr/>
                  <a:tblGrid>
                    <a:gridCol w="2095500">
                      <a:extLst>
                        <a:ext uri="{9D8B030D-6E8A-4147-A177-3AD203B41FA5}">
                          <a16:colId xmlns:a16="http://schemas.microsoft.com/office/drawing/2014/main" val="2589874575"/>
                        </a:ext>
                      </a:extLst>
                    </a:gridCol>
                    <a:gridCol w="2095500">
                      <a:extLst>
                        <a:ext uri="{9D8B030D-6E8A-4147-A177-3AD203B41FA5}">
                          <a16:colId xmlns:a16="http://schemas.microsoft.com/office/drawing/2014/main" val="172528244"/>
                        </a:ext>
                      </a:extLst>
                    </a:gridCol>
                    <a:gridCol w="2095500">
                      <a:extLst>
                        <a:ext uri="{9D8B030D-6E8A-4147-A177-3AD203B41FA5}">
                          <a16:colId xmlns:a16="http://schemas.microsoft.com/office/drawing/2014/main" val="4185171607"/>
                        </a:ext>
                      </a:extLst>
                    </a:gridCol>
                    <a:gridCol w="2095500">
                      <a:extLst>
                        <a:ext uri="{9D8B030D-6E8A-4147-A177-3AD203B41FA5}">
                          <a16:colId xmlns:a16="http://schemas.microsoft.com/office/drawing/2014/main" val="1832685680"/>
                        </a:ext>
                      </a:extLst>
                    </a:gridCol>
                    <a:gridCol w="2095500">
                      <a:extLst>
                        <a:ext uri="{9D8B030D-6E8A-4147-A177-3AD203B41FA5}">
                          <a16:colId xmlns:a16="http://schemas.microsoft.com/office/drawing/2014/main" val="308339850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Característica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Decimal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Binario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Octal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Hexadecimal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0078461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Base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683807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Dígitos Utilizados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0, 1, 2, 3, 4, 5, 6, 7, 8, 9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0, 1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0, 1, 2, 3, 4, 5, 6, 7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0-9 y A, B, C, D, E, 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76415994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Relación con Binario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Ninguna directa. Es el sistema de referencia humano.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Es el </a:t>
                          </a:r>
                          <a:r>
                            <a:rPr lang="es-MX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sistema fundamental</a:t>
                          </a:r>
                          <a:r>
                            <a:rPr lang="es-MX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de la computación.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291" t="-125620" r="-100581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291" t="-125620" r="-581" b="-13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6859769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Uso Principal</a:t>
                          </a:r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Cálculos cotidianos, finanzas, vida diaria.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Lenguaje nativo del hardware de la computadora (circuitos, lógica).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Permisos de archivos en Unix/Linux, algunos sistemas embebidos.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Direcciones de memoria, colores web (CSS), direcciones MAC, depuración.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691484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29774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650" y="96038"/>
            <a:ext cx="10358700" cy="949500"/>
          </a:xfrm>
        </p:spPr>
        <p:txBody>
          <a:bodyPr/>
          <a:lstStyle/>
          <a:p>
            <a:r>
              <a:rPr lang="es-ES" dirty="0"/>
              <a:t>Conversión entre sistemas numéricos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916650" y="928797"/>
            <a:ext cx="62925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Puente universal</a:t>
            </a:r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6F7568D7-A06A-4828-B1CE-C8CEB5838F7C}"/>
              </a:ext>
            </a:extLst>
          </p:cNvPr>
          <p:cNvSpPr txBox="1">
            <a:spLocks/>
          </p:cNvSpPr>
          <p:nvPr/>
        </p:nvSpPr>
        <p:spPr>
          <a:xfrm>
            <a:off x="916650" y="1421241"/>
            <a:ext cx="10764073" cy="4813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/>
              <a:t>Este método funciona para convertir CUALQUIER base a CUALQUIER otra, usando el sistema decimal (base 10) como intermediario. Para ello se procede en dos partes: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0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Cualquier Base → Decimal</a:t>
            </a:r>
            <a:r>
              <a:rPr lang="es-MX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Método de expansión polinómica.</a:t>
            </a:r>
          </a:p>
          <a:p>
            <a:pPr marL="584200" indent="-457200">
              <a:buFont typeface="+mj-lt"/>
              <a:buAutoNum type="arabicPeriod"/>
            </a:pPr>
            <a:r>
              <a:rPr lang="es-MX" sz="20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Decimal → Cualquier Base</a:t>
            </a:r>
            <a:r>
              <a:rPr lang="es-MX" sz="2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: Método de divisiones sucesivas.</a:t>
            </a:r>
          </a:p>
          <a:p>
            <a:pPr marL="584200" indent="-457200">
              <a:buFont typeface="+mj-lt"/>
              <a:buAutoNum type="arabicPeriod"/>
            </a:pPr>
            <a:endParaRPr lang="es-MX" sz="20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584200" indent="-457200">
              <a:buFont typeface="+mj-lt"/>
              <a:buAutoNum type="arabicPeriod"/>
            </a:pPr>
            <a:endParaRPr lang="es-MX" sz="2000" b="1" dirty="0">
              <a:solidFill>
                <a:schemeClr val="accent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C5521DC6-7F6C-4C6D-B7FD-1D5DF8EBC730}"/>
              </a:ext>
            </a:extLst>
          </p:cNvPr>
          <p:cNvGrpSpPr/>
          <p:nvPr/>
        </p:nvGrpSpPr>
        <p:grpSpPr>
          <a:xfrm>
            <a:off x="2783089" y="2673973"/>
            <a:ext cx="7057999" cy="3428998"/>
            <a:chOff x="2783089" y="2673973"/>
            <a:chExt cx="7057999" cy="34289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8D8281B9-F688-4CB6-88E7-46FC33212DBE}"/>
                    </a:ext>
                  </a:extLst>
                </p:cNvPr>
                <p:cNvSpPr txBox="1"/>
                <p:nvPr/>
              </p:nvSpPr>
              <p:spPr>
                <a:xfrm>
                  <a:off x="2783089" y="4111473"/>
                  <a:ext cx="1669240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𝐵𝑎𝑠𝑒</m:t>
                        </m:r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3600" b="1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es-CO" sz="3600" b="1" dirty="0"/>
                </a:p>
              </p:txBody>
            </p:sp>
          </mc:Choice>
          <mc:Fallback xmlns=""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8D8281B9-F688-4CB6-88E7-46FC33212D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089" y="4111473"/>
                  <a:ext cx="1669240" cy="55399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FBADBABB-269E-4967-9DFC-A688A18ECE9A}"/>
                    </a:ext>
                  </a:extLst>
                </p:cNvPr>
                <p:cNvSpPr txBox="1"/>
                <p:nvPr/>
              </p:nvSpPr>
              <p:spPr>
                <a:xfrm>
                  <a:off x="8301692" y="4141444"/>
                  <a:ext cx="1539396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𝐵𝑎𝑠𝑒</m:t>
                        </m:r>
                        <m:r>
                          <a:rPr lang="es-MX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36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oMath>
                    </m:oMathPara>
                  </a14:m>
                  <a:endParaRPr lang="es-CO" sz="3600" b="1" dirty="0"/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FBADBABB-269E-4967-9DFC-A688A18ECE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01692" y="4141444"/>
                  <a:ext cx="1539396" cy="55399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124" name="Picture 4">
              <a:extLst>
                <a:ext uri="{FF2B5EF4-FFF2-40B4-BE49-F238E27FC236}">
                  <a16:creationId xmlns:a16="http://schemas.microsoft.com/office/drawing/2014/main" id="{180FA0CC-7B9B-462F-BD9F-6206EF3026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2511" y="2673973"/>
              <a:ext cx="3428998" cy="3428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2F3CF7F5-0080-4E36-8E66-0BC8D9B205EC}"/>
                    </a:ext>
                  </a:extLst>
                </p:cNvPr>
                <p:cNvSpPr txBox="1"/>
                <p:nvPr/>
              </p:nvSpPr>
              <p:spPr>
                <a:xfrm>
                  <a:off x="5424250" y="5312361"/>
                  <a:ext cx="2018181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36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𝑫𝒆𝒄𝒊𝒎𝒂𝒍</m:t>
                        </m:r>
                      </m:oMath>
                    </m:oMathPara>
                  </a14:m>
                  <a:endParaRPr lang="es-CO" sz="3600" b="1" dirty="0"/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2F3CF7F5-0080-4E36-8E66-0BC8D9B205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4250" y="5312361"/>
                  <a:ext cx="2018181" cy="5539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67400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650" y="96038"/>
            <a:ext cx="10564150" cy="949500"/>
          </a:xfrm>
        </p:spPr>
        <p:txBody>
          <a:bodyPr/>
          <a:lstStyle/>
          <a:p>
            <a:r>
              <a:rPr lang="es-ES" dirty="0"/>
              <a:t>Conversión entre sistemas numéricos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916650" y="804102"/>
            <a:ext cx="8304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Expansión Polinómica (Cualquier Base → Decimal)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6F7568D7-A06A-4828-B1CE-C8CEB5838F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5500" y="1215724"/>
                <a:ext cx="10947400" cy="12734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/>
                  <a:t>Regla</a:t>
                </a:r>
                <a:r>
                  <a:rPr lang="es-MX" sz="2000" dirty="0"/>
                  <a:t>: Se multiplica cada dígito por su base elevada a la posición que ocupa, y suma todos los resultados.</a:t>
                </a:r>
              </a:p>
              <a:p>
                <a:pPr marL="127000" indent="0">
                  <a:buNone/>
                </a:pPr>
                <a:r>
                  <a:rPr lang="es-MX" sz="2000" b="1" dirty="0"/>
                  <a:t>Ejemplo</a:t>
                </a:r>
                <a:r>
                  <a:rPr lang="es-MX" sz="2000" dirty="0"/>
                  <a:t>: Convertir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es-MX" sz="2000" dirty="0"/>
                  <a:t> a base 10.</a:t>
                </a: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6F7568D7-A06A-4828-B1CE-C8CEB5838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1215724"/>
                <a:ext cx="10947400" cy="1273476"/>
              </a:xfrm>
              <a:prstGeom prst="rect">
                <a:avLst/>
              </a:prstGeom>
              <a:blipFill>
                <a:blip r:embed="rId2"/>
                <a:stretch>
                  <a:fillRect b="-4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59B79BC-9BE9-4E1F-9D38-87ECBBD51D02}"/>
                  </a:ext>
                </a:extLst>
              </p:cNvPr>
              <p:cNvSpPr txBox="1"/>
              <p:nvPr/>
            </p:nvSpPr>
            <p:spPr>
              <a:xfrm>
                <a:off x="2712887" y="2520886"/>
                <a:ext cx="13500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b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59B79BC-9BE9-4E1F-9D38-87ECBBD51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887" y="2520886"/>
                <a:ext cx="1350050" cy="276999"/>
              </a:xfrm>
              <a:prstGeom prst="rect">
                <a:avLst/>
              </a:prstGeom>
              <a:blipFill>
                <a:blip r:embed="rId3"/>
                <a:stretch>
                  <a:fillRect l="-3167" r="-1357" b="-177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2FF79CB-BB91-4AF7-833F-C750A8584BCA}"/>
                  </a:ext>
                </a:extLst>
              </p:cNvPr>
              <p:cNvSpPr txBox="1"/>
              <p:nvPr/>
            </p:nvSpPr>
            <p:spPr>
              <a:xfrm>
                <a:off x="1450050" y="3567499"/>
                <a:ext cx="4076116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b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3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𝐵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7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s-MX" sz="1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                =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3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7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s-MX" sz="1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          =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3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256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7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MX" sz="18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          =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951                                            </m:t>
                      </m:r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12FF79CB-BB91-4AF7-833F-C750A8584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050" y="3567499"/>
                <a:ext cx="4076116" cy="1107996"/>
              </a:xfrm>
              <a:prstGeom prst="rect">
                <a:avLst/>
              </a:prstGeom>
              <a:blipFill>
                <a:blip r:embed="rId4"/>
                <a:stretch>
                  <a:fillRect t="-549" b="-164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a 2">
                <a:extLst>
                  <a:ext uri="{FF2B5EF4-FFF2-40B4-BE49-F238E27FC236}">
                    <a16:creationId xmlns:a16="http://schemas.microsoft.com/office/drawing/2014/main" id="{EFEB4EBF-F741-4D24-8206-F13BA63BAC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7979202"/>
                  </p:ext>
                </p:extLst>
              </p:nvPr>
            </p:nvGraphicFramePr>
            <p:xfrm>
              <a:off x="1450050" y="5144194"/>
              <a:ext cx="4318867" cy="1219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895806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807687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  <a:gridCol w="807687">
                      <a:extLst>
                        <a:ext uri="{9D8B030D-6E8A-4147-A177-3AD203B41FA5}">
                          <a16:colId xmlns:a16="http://schemas.microsoft.com/office/drawing/2014/main" val="2325487836"/>
                        </a:ext>
                      </a:extLst>
                    </a:gridCol>
                    <a:gridCol w="807687">
                      <a:extLst>
                        <a:ext uri="{9D8B030D-6E8A-4147-A177-3AD203B41FA5}">
                          <a16:colId xmlns:a16="http://schemas.microsoft.com/office/drawing/2014/main" val="3563616872"/>
                        </a:ext>
                      </a:extLst>
                    </a:gridCol>
                  </a:tblGrid>
                  <a:tr h="22311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Potencia de 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23115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Forma 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256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2311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Digito hexadecimal </a:t>
                          </a:r>
                          <a14:m>
                            <m:oMath xmlns:m="http://schemas.openxmlformats.org/officeDocument/2006/math">
                              <m:r>
                                <a:rPr lang="es-MX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oMath>
                          </a14:m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  <a:tr h="22311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decimal </a:t>
                          </a:r>
                          <a14:m>
                            <m:oMath xmlns:m="http://schemas.openxmlformats.org/officeDocument/2006/math">
                              <m:r>
                                <a:rPr lang="es-MX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oMath>
                          </a14:m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17990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a 2">
                <a:extLst>
                  <a:ext uri="{FF2B5EF4-FFF2-40B4-BE49-F238E27FC236}">
                    <a16:creationId xmlns:a16="http://schemas.microsoft.com/office/drawing/2014/main" id="{EFEB4EBF-F741-4D24-8206-F13BA63BAC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7979202"/>
                  </p:ext>
                </p:extLst>
              </p:nvPr>
            </p:nvGraphicFramePr>
            <p:xfrm>
              <a:off x="1450050" y="5144194"/>
              <a:ext cx="4318867" cy="1219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895806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807687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  <a:gridCol w="807687">
                      <a:extLst>
                        <a:ext uri="{9D8B030D-6E8A-4147-A177-3AD203B41FA5}">
                          <a16:colId xmlns:a16="http://schemas.microsoft.com/office/drawing/2014/main" val="2325487836"/>
                        </a:ext>
                      </a:extLst>
                    </a:gridCol>
                    <a:gridCol w="807687">
                      <a:extLst>
                        <a:ext uri="{9D8B030D-6E8A-4147-A177-3AD203B41FA5}">
                          <a16:colId xmlns:a16="http://schemas.microsoft.com/office/drawing/2014/main" val="356361687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Potencia de 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36364" t="-2000" r="-202273" b="-3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33835" t="-2000" r="-100752" b="-3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33835" t="-2000" r="-752" b="-3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Forma 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36364" t="-100000" r="-202273" b="-2156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33835" t="-100000" r="-100752" b="-2156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33835" t="-100000" r="-752" b="-2156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t="-204000" r="-127885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36364" t="-204000" r="-202273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33835" t="-204000" r="-100752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33835" t="-204000" r="-752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t="-304000" r="-127885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236364" t="-304000" r="-202273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33835" t="-304000" r="-100752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433835" t="-304000" r="-752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17990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la 2">
                <a:extLst>
                  <a:ext uri="{FF2B5EF4-FFF2-40B4-BE49-F238E27FC236}">
                    <a16:creationId xmlns:a16="http://schemas.microsoft.com/office/drawing/2014/main" id="{D6939A10-D095-48DC-A3AC-8933A3B439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1712921"/>
                  </p:ext>
                </p:extLst>
              </p:nvPr>
            </p:nvGraphicFramePr>
            <p:xfrm>
              <a:off x="7184890" y="1852462"/>
              <a:ext cx="2639522" cy="46939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319761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1319761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</a:tblGrid>
                  <a:tr h="237798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Hexadecimal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Decimal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3129597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779449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27162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7526917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729201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6309811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4379760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3194633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7770054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4744525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1179884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835766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0303837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07665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la 2">
                <a:extLst>
                  <a:ext uri="{FF2B5EF4-FFF2-40B4-BE49-F238E27FC236}">
                    <a16:creationId xmlns:a16="http://schemas.microsoft.com/office/drawing/2014/main" id="{D6939A10-D095-48DC-A3AC-8933A3B439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1712921"/>
                  </p:ext>
                </p:extLst>
              </p:nvPr>
            </p:nvGraphicFramePr>
            <p:xfrm>
              <a:off x="7184890" y="1852462"/>
              <a:ext cx="2639522" cy="46939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319761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1319761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Hexadecimal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Decimal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113333" r="-100922" b="-15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113333" r="-922" b="-15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213333" r="-100922" b="-14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213333" r="-922" b="-1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313333" r="-100922" b="-13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313333" r="-922" b="-13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312959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413333" r="-100922" b="-1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413333" r="-922" b="-1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77944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513333" r="-100922" b="-1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513333" r="-922" b="-11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7162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613333" r="-100922" b="-10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613333" r="-922" b="-10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752691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713333" r="-100922" b="-9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713333" r="-922" b="-9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29201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795652" r="-100922" b="-786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795652" r="-922" b="-786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630981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915556" r="-100922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915556" r="-922" b="-7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437976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1015556" r="-100922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1015556" r="-922" b="-6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319463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1115556" r="-100922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1115556" r="-922" b="-5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77700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1215556" r="-100922" b="-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1215556" r="-922" b="-4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474452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1315556" r="-100922" b="-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1315556" r="-922" b="-3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11798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1415556" r="-100922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1415556" r="-922" b="-2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835766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1515556" r="-100922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1515556" r="-922" b="-1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030383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461" t="-1615556" r="-100922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6"/>
                          <a:stretch>
                            <a:fillRect l="-100461" t="-1615556" r="-922" b="-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07665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3799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649" y="96038"/>
            <a:ext cx="10607693" cy="949500"/>
          </a:xfrm>
        </p:spPr>
        <p:txBody>
          <a:bodyPr/>
          <a:lstStyle/>
          <a:p>
            <a:r>
              <a:rPr lang="es-ES" dirty="0"/>
              <a:t>Conversión entre sistemas numéricos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916650" y="804102"/>
            <a:ext cx="98760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Método de divisiones sucesivas (Decimal → Cualquier Base)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6F7568D7-A06A-4828-B1CE-C8CEB5838F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8859" y="1326953"/>
                <a:ext cx="10947400" cy="12734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/>
                  <a:t>Regla</a:t>
                </a:r>
                <a:r>
                  <a:rPr lang="es-MX" sz="2000" dirty="0"/>
                  <a:t>: Se divide el número decimal entre la base de destino repetidamente hasta que el cociente sea 0. El resultado se forma con los residuos, leídos desde el último hasta el primero.</a:t>
                </a:r>
              </a:p>
              <a:p>
                <a:pPr marL="127000" indent="0">
                  <a:buNone/>
                </a:pPr>
                <a:r>
                  <a:rPr lang="es-MX" sz="2000" b="1" dirty="0"/>
                  <a:t>Ejemplo</a:t>
                </a:r>
                <a:r>
                  <a:rPr lang="es-MX" sz="2000" dirty="0"/>
                  <a:t>: Convertir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s-MX" sz="2000" dirty="0"/>
                  <a:t> a base 3.</a:t>
                </a: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6F7568D7-A06A-4828-B1CE-C8CEB5838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859" y="1326953"/>
                <a:ext cx="10947400" cy="1273476"/>
              </a:xfrm>
              <a:prstGeom prst="rect">
                <a:avLst/>
              </a:prstGeom>
              <a:blipFill>
                <a:blip r:embed="rId2"/>
                <a:stretch>
                  <a:fillRect r="-612" b="-4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59B79BC-9BE9-4E1F-9D38-87ECBBD51D02}"/>
                  </a:ext>
                </a:extLst>
              </p:cNvPr>
              <p:cNvSpPr txBox="1"/>
              <p:nvPr/>
            </p:nvSpPr>
            <p:spPr>
              <a:xfrm>
                <a:off x="5528873" y="2705905"/>
                <a:ext cx="136441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150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59B79BC-9BE9-4E1F-9D38-87ECBBD51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8873" y="2705905"/>
                <a:ext cx="1364412" cy="307777"/>
              </a:xfrm>
              <a:prstGeom prst="rect">
                <a:avLst/>
              </a:prstGeom>
              <a:blipFill>
                <a:blip r:embed="rId3"/>
                <a:stretch>
                  <a:fillRect l="-3571" r="-893" b="-2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upo 40">
            <a:extLst>
              <a:ext uri="{FF2B5EF4-FFF2-40B4-BE49-F238E27FC236}">
                <a16:creationId xmlns:a16="http://schemas.microsoft.com/office/drawing/2014/main" id="{BCDD19CF-33F8-42B6-8878-D19BA72860D4}"/>
              </a:ext>
            </a:extLst>
          </p:cNvPr>
          <p:cNvGrpSpPr/>
          <p:nvPr/>
        </p:nvGrpSpPr>
        <p:grpSpPr>
          <a:xfrm>
            <a:off x="2530197" y="3483276"/>
            <a:ext cx="5076905" cy="2216909"/>
            <a:chOff x="1801832" y="3280216"/>
            <a:chExt cx="5076905" cy="2216909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C21E8E1F-C46B-41F7-8F06-2A1FF237D469}"/>
                </a:ext>
              </a:extLst>
            </p:cNvPr>
            <p:cNvGrpSpPr/>
            <p:nvPr/>
          </p:nvGrpSpPr>
          <p:grpSpPr>
            <a:xfrm>
              <a:off x="1801832" y="3280216"/>
              <a:ext cx="5063468" cy="1765454"/>
              <a:chOff x="1801832" y="3280216"/>
              <a:chExt cx="5063468" cy="17654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12FF79CB-BB91-4AF7-833F-C750A8584BCA}"/>
                      </a:ext>
                    </a:extLst>
                  </p:cNvPr>
                  <p:cNvSpPr txBox="1"/>
                  <p:nvPr/>
                </p:nvSpPr>
                <p:spPr>
                  <a:xfrm>
                    <a:off x="1801832" y="3290499"/>
                    <a:ext cx="44884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150</m:t>
                          </m:r>
                        </m:oMath>
                      </m:oMathPara>
                    </a14:m>
                    <a:endParaRPr lang="es-CO" sz="1800" dirty="0"/>
                  </a:p>
                </p:txBody>
              </p:sp>
            </mc:Choice>
            <mc:Fallback xmlns="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12FF79CB-BB91-4AF7-833F-C750A8584B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1832" y="3290499"/>
                    <a:ext cx="448841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2162" r="-10811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" name="Conector: angular 4">
                <a:extLst>
                  <a:ext uri="{FF2B5EF4-FFF2-40B4-BE49-F238E27FC236}">
                    <a16:creationId xmlns:a16="http://schemas.microsoft.com/office/drawing/2014/main" id="{E33FE066-3851-47B7-9A4C-37078BD2D84B}"/>
                  </a:ext>
                </a:extLst>
              </p:cNvPr>
              <p:cNvCxnSpPr/>
              <p:nvPr/>
            </p:nvCxnSpPr>
            <p:spPr>
              <a:xfrm>
                <a:off x="2363550" y="3280216"/>
                <a:ext cx="900350" cy="297567"/>
              </a:xfrm>
              <a:prstGeom prst="bentConnector3">
                <a:avLst>
                  <a:gd name="adj1" fmla="val -78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CuadroTexto 11">
                    <a:extLst>
                      <a:ext uri="{FF2B5EF4-FFF2-40B4-BE49-F238E27FC236}">
                        <a16:creationId xmlns:a16="http://schemas.microsoft.com/office/drawing/2014/main" id="{F4370823-CB0B-482A-BB1B-D888BA7EED7B}"/>
                      </a:ext>
                    </a:extLst>
                  </p:cNvPr>
                  <p:cNvSpPr txBox="1"/>
                  <p:nvPr/>
                </p:nvSpPr>
                <p:spPr>
                  <a:xfrm>
                    <a:off x="2589304" y="3280216"/>
                    <a:ext cx="19236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s-CO" sz="1800" dirty="0"/>
                  </a:p>
                </p:txBody>
              </p:sp>
            </mc:Choice>
            <mc:Fallback xmlns="">
              <p:sp>
                <p:nvSpPr>
                  <p:cNvPr id="12" name="CuadroTexto 11">
                    <a:extLst>
                      <a:ext uri="{FF2B5EF4-FFF2-40B4-BE49-F238E27FC236}">
                        <a16:creationId xmlns:a16="http://schemas.microsoft.com/office/drawing/2014/main" id="{F4370823-CB0B-482A-BB1B-D888BA7EED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89304" y="3280216"/>
                    <a:ext cx="192360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5000" r="-25000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CuadroTexto 12">
                    <a:extLst>
                      <a:ext uri="{FF2B5EF4-FFF2-40B4-BE49-F238E27FC236}">
                        <a16:creationId xmlns:a16="http://schemas.microsoft.com/office/drawing/2014/main" id="{69DE708A-CF45-4FF7-BEFE-C9B902160594}"/>
                      </a:ext>
                    </a:extLst>
                  </p:cNvPr>
                  <p:cNvSpPr txBox="1"/>
                  <p:nvPr/>
                </p:nvSpPr>
                <p:spPr>
                  <a:xfrm>
                    <a:off x="2493124" y="3577783"/>
                    <a:ext cx="320601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oMath>
                      </m:oMathPara>
                    </a14:m>
                    <a:endParaRPr lang="es-CO" sz="1800" dirty="0"/>
                  </a:p>
                </p:txBody>
              </p:sp>
            </mc:Choice>
            <mc:Fallback xmlns="">
              <p:sp>
                <p:nvSpPr>
                  <p:cNvPr id="13" name="CuadroTexto 12">
                    <a:extLst>
                      <a:ext uri="{FF2B5EF4-FFF2-40B4-BE49-F238E27FC236}">
                        <a16:creationId xmlns:a16="http://schemas.microsoft.com/office/drawing/2014/main" id="{69DE708A-CF45-4FF7-BEFE-C9B9021605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93124" y="3577783"/>
                    <a:ext cx="32060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6981" r="-15094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CuadroTexto 13">
                    <a:extLst>
                      <a:ext uri="{FF2B5EF4-FFF2-40B4-BE49-F238E27FC236}">
                        <a16:creationId xmlns:a16="http://schemas.microsoft.com/office/drawing/2014/main" id="{9DCABD4F-5821-4BAC-A37E-D70E01DE107D}"/>
                      </a:ext>
                    </a:extLst>
                  </p:cNvPr>
                  <p:cNvSpPr txBox="1"/>
                  <p:nvPr/>
                </p:nvSpPr>
                <p:spPr>
                  <a:xfrm>
                    <a:off x="1930072" y="3557215"/>
                    <a:ext cx="3206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oMath>
                      </m:oMathPara>
                    </a14:m>
                    <a:endParaRPr lang="es-CO" sz="1800" dirty="0"/>
                  </a:p>
                </p:txBody>
              </p:sp>
            </mc:Choice>
            <mc:Fallback xmlns="">
              <p:sp>
                <p:nvSpPr>
                  <p:cNvPr id="14" name="CuadroTexto 13">
                    <a:extLst>
                      <a:ext uri="{FF2B5EF4-FFF2-40B4-BE49-F238E27FC236}">
                        <a16:creationId xmlns:a16="http://schemas.microsoft.com/office/drawing/2014/main" id="{9DCABD4F-5821-4BAC-A37E-D70E01DE10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30072" y="3557215"/>
                    <a:ext cx="320601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5094" r="-15094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CuadroTexto 15">
                    <a:extLst>
                      <a:ext uri="{FF2B5EF4-FFF2-40B4-BE49-F238E27FC236}">
                        <a16:creationId xmlns:a16="http://schemas.microsoft.com/office/drawing/2014/main" id="{BA8447E8-0C8F-4F13-BAC9-12AA4050BCCD}"/>
                      </a:ext>
                    </a:extLst>
                  </p:cNvPr>
                  <p:cNvSpPr txBox="1"/>
                  <p:nvPr/>
                </p:nvSpPr>
                <p:spPr>
                  <a:xfrm>
                    <a:off x="2057135" y="3823929"/>
                    <a:ext cx="19236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s-CO" sz="1800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CuadroTexto 15">
                    <a:extLst>
                      <a:ext uri="{FF2B5EF4-FFF2-40B4-BE49-F238E27FC236}">
                        <a16:creationId xmlns:a16="http://schemas.microsoft.com/office/drawing/2014/main" id="{BA8447E8-0C8F-4F13-BAC9-12AA4050BC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7135" y="3823929"/>
                    <a:ext cx="192360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9032" r="-25806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Conector: angular 16">
                <a:extLst>
                  <a:ext uri="{FF2B5EF4-FFF2-40B4-BE49-F238E27FC236}">
                    <a16:creationId xmlns:a16="http://schemas.microsoft.com/office/drawing/2014/main" id="{A6D4CF0A-0D09-4730-AC35-2C3DA0084237}"/>
                  </a:ext>
                </a:extLst>
              </p:cNvPr>
              <p:cNvCxnSpPr/>
              <p:nvPr/>
            </p:nvCxnSpPr>
            <p:spPr>
              <a:xfrm>
                <a:off x="3263900" y="3577783"/>
                <a:ext cx="900350" cy="297567"/>
              </a:xfrm>
              <a:prstGeom prst="bentConnector3">
                <a:avLst>
                  <a:gd name="adj1" fmla="val -78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CuadroTexto 17">
                    <a:extLst>
                      <a:ext uri="{FF2B5EF4-FFF2-40B4-BE49-F238E27FC236}">
                        <a16:creationId xmlns:a16="http://schemas.microsoft.com/office/drawing/2014/main" id="{EC21C021-1BA6-454B-85EB-8ED0CA03EBAA}"/>
                      </a:ext>
                    </a:extLst>
                  </p:cNvPr>
                  <p:cNvSpPr txBox="1"/>
                  <p:nvPr/>
                </p:nvSpPr>
                <p:spPr>
                  <a:xfrm>
                    <a:off x="3489654" y="3577783"/>
                    <a:ext cx="19236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s-CO" sz="1800" dirty="0"/>
                  </a:p>
                </p:txBody>
              </p:sp>
            </mc:Choice>
            <mc:Fallback xmlns="">
              <p:sp>
                <p:nvSpPr>
                  <p:cNvPr id="18" name="CuadroTexto 17">
                    <a:extLst>
                      <a:ext uri="{FF2B5EF4-FFF2-40B4-BE49-F238E27FC236}">
                        <a16:creationId xmlns:a16="http://schemas.microsoft.com/office/drawing/2014/main" id="{EC21C021-1BA6-454B-85EB-8ED0CA03EB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89654" y="3577783"/>
                    <a:ext cx="192360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9032" r="-25806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CuadroTexto 18">
                    <a:extLst>
                      <a:ext uri="{FF2B5EF4-FFF2-40B4-BE49-F238E27FC236}">
                        <a16:creationId xmlns:a16="http://schemas.microsoft.com/office/drawing/2014/main" id="{644016A9-D07C-404E-B68B-17F2FD57F63E}"/>
                      </a:ext>
                    </a:extLst>
                  </p:cNvPr>
                  <p:cNvSpPr txBox="1"/>
                  <p:nvPr/>
                </p:nvSpPr>
                <p:spPr>
                  <a:xfrm>
                    <a:off x="3393474" y="3875350"/>
                    <a:ext cx="320601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oMath>
                      </m:oMathPara>
                    </a14:m>
                    <a:endParaRPr lang="es-CO" sz="1800" dirty="0"/>
                  </a:p>
                </p:txBody>
              </p:sp>
            </mc:Choice>
            <mc:Fallback xmlns="">
              <p:sp>
                <p:nvSpPr>
                  <p:cNvPr id="19" name="CuadroTexto 18">
                    <a:extLst>
                      <a:ext uri="{FF2B5EF4-FFF2-40B4-BE49-F238E27FC236}">
                        <a16:creationId xmlns:a16="http://schemas.microsoft.com/office/drawing/2014/main" id="{644016A9-D07C-404E-B68B-17F2FD57F6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93474" y="3875350"/>
                    <a:ext cx="32060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5094" r="-15094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CuadroTexto 19">
                    <a:extLst>
                      <a:ext uri="{FF2B5EF4-FFF2-40B4-BE49-F238E27FC236}">
                        <a16:creationId xmlns:a16="http://schemas.microsoft.com/office/drawing/2014/main" id="{6A253E9C-8D23-4076-A0B8-EB6FED7D276A}"/>
                      </a:ext>
                    </a:extLst>
                  </p:cNvPr>
                  <p:cNvSpPr txBox="1"/>
                  <p:nvPr/>
                </p:nvSpPr>
                <p:spPr>
                  <a:xfrm>
                    <a:off x="2493124" y="3823928"/>
                    <a:ext cx="320601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oMath>
                      </m:oMathPara>
                    </a14:m>
                    <a:endParaRPr lang="es-CO" sz="1800" dirty="0"/>
                  </a:p>
                </p:txBody>
              </p:sp>
            </mc:Choice>
            <mc:Fallback xmlns="">
              <p:sp>
                <p:nvSpPr>
                  <p:cNvPr id="20" name="CuadroTexto 19">
                    <a:extLst>
                      <a:ext uri="{FF2B5EF4-FFF2-40B4-BE49-F238E27FC236}">
                        <a16:creationId xmlns:a16="http://schemas.microsoft.com/office/drawing/2014/main" id="{6A253E9C-8D23-4076-A0B8-EB6FED7D27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93124" y="3823928"/>
                    <a:ext cx="320601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5094" r="-15094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CuadroTexto 20">
                    <a:extLst>
                      <a:ext uri="{FF2B5EF4-FFF2-40B4-BE49-F238E27FC236}">
                        <a16:creationId xmlns:a16="http://schemas.microsoft.com/office/drawing/2014/main" id="{2175104B-7A8F-4784-B774-8A828387508E}"/>
                      </a:ext>
                    </a:extLst>
                  </p:cNvPr>
                  <p:cNvSpPr txBox="1"/>
                  <p:nvPr/>
                </p:nvSpPr>
                <p:spPr>
                  <a:xfrm>
                    <a:off x="2621365" y="4045322"/>
                    <a:ext cx="19236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s-CO" sz="1800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CuadroTexto 20">
                    <a:extLst>
                      <a:ext uri="{FF2B5EF4-FFF2-40B4-BE49-F238E27FC236}">
                        <a16:creationId xmlns:a16="http://schemas.microsoft.com/office/drawing/2014/main" id="{2175104B-7A8F-4784-B774-8A82838750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21365" y="4045322"/>
                    <a:ext cx="192360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5000" r="-25000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Conector: angular 21">
                <a:extLst>
                  <a:ext uri="{FF2B5EF4-FFF2-40B4-BE49-F238E27FC236}">
                    <a16:creationId xmlns:a16="http://schemas.microsoft.com/office/drawing/2014/main" id="{F9ACF17B-92BD-4449-A067-3B4D2C51AFD8}"/>
                  </a:ext>
                </a:extLst>
              </p:cNvPr>
              <p:cNvCxnSpPr/>
              <p:nvPr/>
            </p:nvCxnSpPr>
            <p:spPr>
              <a:xfrm>
                <a:off x="4164250" y="3875350"/>
                <a:ext cx="900350" cy="297567"/>
              </a:xfrm>
              <a:prstGeom prst="bentConnector3">
                <a:avLst>
                  <a:gd name="adj1" fmla="val -78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CuadroTexto 22">
                    <a:extLst>
                      <a:ext uri="{FF2B5EF4-FFF2-40B4-BE49-F238E27FC236}">
                        <a16:creationId xmlns:a16="http://schemas.microsoft.com/office/drawing/2014/main" id="{CA43F719-0FFD-4C4D-A99B-A1CA6A72A99F}"/>
                      </a:ext>
                    </a:extLst>
                  </p:cNvPr>
                  <p:cNvSpPr txBox="1"/>
                  <p:nvPr/>
                </p:nvSpPr>
                <p:spPr>
                  <a:xfrm>
                    <a:off x="4390004" y="3875350"/>
                    <a:ext cx="19236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s-CO" sz="1800" dirty="0"/>
                  </a:p>
                </p:txBody>
              </p:sp>
            </mc:Choice>
            <mc:Fallback xmlns="">
              <p:sp>
                <p:nvSpPr>
                  <p:cNvPr id="23" name="CuadroTexto 22">
                    <a:extLst>
                      <a:ext uri="{FF2B5EF4-FFF2-40B4-BE49-F238E27FC236}">
                        <a16:creationId xmlns:a16="http://schemas.microsoft.com/office/drawing/2014/main" id="{CA43F719-0FFD-4C4D-A99B-A1CA6A72A9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90004" y="3875350"/>
                    <a:ext cx="192360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9032" r="-25806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CuadroTexto 23">
                    <a:extLst>
                      <a:ext uri="{FF2B5EF4-FFF2-40B4-BE49-F238E27FC236}">
                        <a16:creationId xmlns:a16="http://schemas.microsoft.com/office/drawing/2014/main" id="{D567412A-F206-4FA4-9FA3-84710B436819}"/>
                      </a:ext>
                    </a:extLst>
                  </p:cNvPr>
                  <p:cNvSpPr txBox="1"/>
                  <p:nvPr/>
                </p:nvSpPr>
                <p:spPr>
                  <a:xfrm>
                    <a:off x="4293824" y="4172917"/>
                    <a:ext cx="320601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es-CO" sz="1800" dirty="0"/>
                  </a:p>
                </p:txBody>
              </p:sp>
            </mc:Choice>
            <mc:Fallback xmlns="">
              <p:sp>
                <p:nvSpPr>
                  <p:cNvPr id="24" name="CuadroTexto 23">
                    <a:extLst>
                      <a:ext uri="{FF2B5EF4-FFF2-40B4-BE49-F238E27FC236}">
                        <a16:creationId xmlns:a16="http://schemas.microsoft.com/office/drawing/2014/main" id="{D567412A-F206-4FA4-9FA3-84710B4368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3824" y="4172917"/>
                    <a:ext cx="320601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CuadroTexto 24">
                    <a:extLst>
                      <a:ext uri="{FF2B5EF4-FFF2-40B4-BE49-F238E27FC236}">
                        <a16:creationId xmlns:a16="http://schemas.microsoft.com/office/drawing/2014/main" id="{74925393-2B90-41E4-AEDA-3B7B60A6D90D}"/>
                      </a:ext>
                    </a:extLst>
                  </p:cNvPr>
                  <p:cNvSpPr txBox="1"/>
                  <p:nvPr/>
                </p:nvSpPr>
                <p:spPr>
                  <a:xfrm>
                    <a:off x="3480463" y="4152349"/>
                    <a:ext cx="320601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s-CO" sz="1800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CuadroTexto 24">
                    <a:extLst>
                      <a:ext uri="{FF2B5EF4-FFF2-40B4-BE49-F238E27FC236}">
                        <a16:creationId xmlns:a16="http://schemas.microsoft.com/office/drawing/2014/main" id="{74925393-2B90-41E4-AEDA-3B7B60A6D9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80463" y="4152349"/>
                    <a:ext cx="320601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8696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0" name="Conector: angular 29">
                <a:extLst>
                  <a:ext uri="{FF2B5EF4-FFF2-40B4-BE49-F238E27FC236}">
                    <a16:creationId xmlns:a16="http://schemas.microsoft.com/office/drawing/2014/main" id="{6AB79FA1-813C-4865-8F74-2C95ED28EAF5}"/>
                  </a:ext>
                </a:extLst>
              </p:cNvPr>
              <p:cNvCxnSpPr/>
              <p:nvPr/>
            </p:nvCxnSpPr>
            <p:spPr>
              <a:xfrm>
                <a:off x="5064600" y="4173537"/>
                <a:ext cx="900350" cy="297567"/>
              </a:xfrm>
              <a:prstGeom prst="bentConnector3">
                <a:avLst>
                  <a:gd name="adj1" fmla="val -78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CBEA1AE2-F179-4602-B8DF-4E77F8F46EF0}"/>
                      </a:ext>
                    </a:extLst>
                  </p:cNvPr>
                  <p:cNvSpPr txBox="1"/>
                  <p:nvPr/>
                </p:nvSpPr>
                <p:spPr>
                  <a:xfrm>
                    <a:off x="5290354" y="4173537"/>
                    <a:ext cx="19236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s-CO" sz="1800" dirty="0"/>
                  </a:p>
                </p:txBody>
              </p:sp>
            </mc:Choice>
            <mc:Fallback xmlns="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CBEA1AE2-F179-4602-B8DF-4E77F8F46E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90354" y="4173537"/>
                    <a:ext cx="192360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5000" r="-25000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CuadroTexto 32">
                    <a:extLst>
                      <a:ext uri="{FF2B5EF4-FFF2-40B4-BE49-F238E27FC236}">
                        <a16:creationId xmlns:a16="http://schemas.microsoft.com/office/drawing/2014/main" id="{6CAB2A08-94CD-4EF7-A9E6-7B81F4B3FFDC}"/>
                      </a:ext>
                    </a:extLst>
                  </p:cNvPr>
                  <p:cNvSpPr txBox="1"/>
                  <p:nvPr/>
                </p:nvSpPr>
                <p:spPr>
                  <a:xfrm>
                    <a:off x="5194174" y="4471104"/>
                    <a:ext cx="320601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s-CO" sz="1800" dirty="0"/>
                  </a:p>
                </p:txBody>
              </p:sp>
            </mc:Choice>
            <mc:Fallback xmlns="">
              <p:sp>
                <p:nvSpPr>
                  <p:cNvPr id="33" name="CuadroTexto 32">
                    <a:extLst>
                      <a:ext uri="{FF2B5EF4-FFF2-40B4-BE49-F238E27FC236}">
                        <a16:creationId xmlns:a16="http://schemas.microsoft.com/office/drawing/2014/main" id="{6CAB2A08-94CD-4EF7-A9E6-7B81F4B3FF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4174" y="4471104"/>
                    <a:ext cx="320601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8889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E241191E-1084-46D9-AA7C-7A6273431EA7}"/>
                      </a:ext>
                    </a:extLst>
                  </p:cNvPr>
                  <p:cNvSpPr txBox="1"/>
                  <p:nvPr/>
                </p:nvSpPr>
                <p:spPr>
                  <a:xfrm>
                    <a:off x="4293824" y="4429348"/>
                    <a:ext cx="320601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s-CO" sz="1800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E241191E-1084-46D9-AA7C-7A6273431E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93824" y="4429348"/>
                    <a:ext cx="320601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8889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" name="Conector: angular 34">
                <a:extLst>
                  <a:ext uri="{FF2B5EF4-FFF2-40B4-BE49-F238E27FC236}">
                    <a16:creationId xmlns:a16="http://schemas.microsoft.com/office/drawing/2014/main" id="{D584BFA2-4EB4-4F06-9E5A-E26017B183E9}"/>
                  </a:ext>
                </a:extLst>
              </p:cNvPr>
              <p:cNvCxnSpPr/>
              <p:nvPr/>
            </p:nvCxnSpPr>
            <p:spPr>
              <a:xfrm>
                <a:off x="5964950" y="4471104"/>
                <a:ext cx="900350" cy="297567"/>
              </a:xfrm>
              <a:prstGeom prst="bentConnector3">
                <a:avLst>
                  <a:gd name="adj1" fmla="val -78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CuadroTexto 35">
                    <a:extLst>
                      <a:ext uri="{FF2B5EF4-FFF2-40B4-BE49-F238E27FC236}">
                        <a16:creationId xmlns:a16="http://schemas.microsoft.com/office/drawing/2014/main" id="{586BF36B-64E1-4523-A164-F876D1E5E4AF}"/>
                      </a:ext>
                    </a:extLst>
                  </p:cNvPr>
                  <p:cNvSpPr txBox="1"/>
                  <p:nvPr/>
                </p:nvSpPr>
                <p:spPr>
                  <a:xfrm>
                    <a:off x="6190704" y="4471104"/>
                    <a:ext cx="19236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s-CO" sz="1800" dirty="0"/>
                  </a:p>
                </p:txBody>
              </p:sp>
            </mc:Choice>
            <mc:Fallback xmlns="">
              <p:sp>
                <p:nvSpPr>
                  <p:cNvPr id="36" name="CuadroTexto 35">
                    <a:extLst>
                      <a:ext uri="{FF2B5EF4-FFF2-40B4-BE49-F238E27FC236}">
                        <a16:creationId xmlns:a16="http://schemas.microsoft.com/office/drawing/2014/main" id="{586BF36B-64E1-4523-A164-F876D1E5E4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90704" y="4471104"/>
                    <a:ext cx="192360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25000" r="-25000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CuadroTexto 36">
                    <a:extLst>
                      <a:ext uri="{FF2B5EF4-FFF2-40B4-BE49-F238E27FC236}">
                        <a16:creationId xmlns:a16="http://schemas.microsoft.com/office/drawing/2014/main" id="{CBAB304D-514B-4813-B1D5-2B08C96702BD}"/>
                      </a:ext>
                    </a:extLst>
                  </p:cNvPr>
                  <p:cNvSpPr txBox="1"/>
                  <p:nvPr/>
                </p:nvSpPr>
                <p:spPr>
                  <a:xfrm>
                    <a:off x="6094524" y="4768671"/>
                    <a:ext cx="320601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s-CO" sz="1800" dirty="0"/>
                  </a:p>
                </p:txBody>
              </p:sp>
            </mc:Choice>
            <mc:Fallback xmlns="">
              <p:sp>
                <p:nvSpPr>
                  <p:cNvPr id="37" name="CuadroTexto 36">
                    <a:extLst>
                      <a:ext uri="{FF2B5EF4-FFF2-40B4-BE49-F238E27FC236}">
                        <a16:creationId xmlns:a16="http://schemas.microsoft.com/office/drawing/2014/main" id="{CBAB304D-514B-4813-B1D5-2B08C96702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4524" y="4768671"/>
                    <a:ext cx="320601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8889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CuadroTexto 37">
                    <a:extLst>
                      <a:ext uri="{FF2B5EF4-FFF2-40B4-BE49-F238E27FC236}">
                        <a16:creationId xmlns:a16="http://schemas.microsoft.com/office/drawing/2014/main" id="{1E1D9C27-7132-4E17-AD4F-17C13962831B}"/>
                      </a:ext>
                    </a:extLst>
                  </p:cNvPr>
                  <p:cNvSpPr txBox="1"/>
                  <p:nvPr/>
                </p:nvSpPr>
                <p:spPr>
                  <a:xfrm>
                    <a:off x="5194174" y="4706347"/>
                    <a:ext cx="320601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s-CO" sz="1800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CuadroTexto 37">
                    <a:extLst>
                      <a:ext uri="{FF2B5EF4-FFF2-40B4-BE49-F238E27FC236}">
                        <a16:creationId xmlns:a16="http://schemas.microsoft.com/office/drawing/2014/main" id="{1E1D9C27-7132-4E17-AD4F-17C1396283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4174" y="4706347"/>
                    <a:ext cx="320601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8696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B06188E1-0A1E-4D62-8EC0-4B36D5C17A43}"/>
                </a:ext>
              </a:extLst>
            </p:cNvPr>
            <p:cNvCxnSpPr/>
            <p:nvPr/>
          </p:nvCxnSpPr>
          <p:spPr>
            <a:xfrm flipH="1" flipV="1">
              <a:off x="3101340" y="4619887"/>
              <a:ext cx="1630680" cy="66077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8081DE12-3900-451A-8B6C-6FEF09AFD564}"/>
                    </a:ext>
                  </a:extLst>
                </p:cNvPr>
                <p:cNvSpPr txBox="1"/>
                <p:nvPr/>
              </p:nvSpPr>
              <p:spPr>
                <a:xfrm>
                  <a:off x="5354474" y="5189348"/>
                  <a:ext cx="1524263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12120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8081DE12-3900-451A-8B6C-6FEF09AFD5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4474" y="5189348"/>
                  <a:ext cx="1524263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3200" r="-400" b="-20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8082798F-50AC-402A-8C4C-7BD767B28716}"/>
                  </a:ext>
                </a:extLst>
              </p:cNvPr>
              <p:cNvSpPr txBox="1"/>
              <p:nvPr/>
            </p:nvSpPr>
            <p:spPr>
              <a:xfrm>
                <a:off x="8925050" y="4463130"/>
                <a:ext cx="1341969" cy="3077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150</m:t>
                              </m:r>
                            </m:e>
                            <m:sub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8082798F-50AC-402A-8C4C-7BD767B28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050" y="4463130"/>
                <a:ext cx="1341969" cy="307777"/>
              </a:xfrm>
              <a:prstGeom prst="rect">
                <a:avLst/>
              </a:prstGeom>
              <a:blipFill>
                <a:blip r:embed="rId23"/>
                <a:stretch>
                  <a:fillRect l="-3636" r="-1818" b="-196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609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650" y="96038"/>
            <a:ext cx="10358700" cy="949500"/>
          </a:xfrm>
        </p:spPr>
        <p:txBody>
          <a:bodyPr/>
          <a:lstStyle/>
          <a:p>
            <a:r>
              <a:rPr lang="es-ES" dirty="0"/>
              <a:t>Conversión entre sistemas numéricos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916650" y="799316"/>
            <a:ext cx="89512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Ejemplo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61133FAF-1DF9-44A1-8BC4-F71DD8DFA6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5500" y="1215724"/>
                <a:ext cx="10947400" cy="5330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/>
                  <a:t>Regla</a:t>
                </a:r>
                <a:r>
                  <a:rPr lang="es-MX" sz="2000" dirty="0"/>
                  <a:t>: Hallar el numero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42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s-MX" sz="2000" dirty="0"/>
                  <a:t> a base 9.</a:t>
                </a: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61133FAF-1DF9-44A1-8BC4-F71DD8DFA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1215724"/>
                <a:ext cx="10947400" cy="533092"/>
              </a:xfrm>
              <a:prstGeom prst="rect">
                <a:avLst/>
              </a:prstGeom>
              <a:blipFill>
                <a:blip r:embed="rId2"/>
                <a:stretch>
                  <a:fillRect b="-1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7D0899D7-5D68-4EEF-8438-F9564822230D}"/>
              </a:ext>
            </a:extLst>
          </p:cNvPr>
          <p:cNvSpPr txBox="1">
            <a:spLocks/>
          </p:cNvSpPr>
          <p:nvPr/>
        </p:nvSpPr>
        <p:spPr>
          <a:xfrm>
            <a:off x="825500" y="1687378"/>
            <a:ext cx="10947400" cy="533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/>
              <a:t>Paso 1</a:t>
            </a:r>
            <a:r>
              <a:rPr lang="es-MX" sz="2000" dirty="0"/>
              <a:t>: Base 5 </a:t>
            </a:r>
            <a:r>
              <a:rPr lang="es-MX" sz="2000" dirty="0">
                <a:sym typeface="Wingdings" panose="05000000000000000000" pitchFamily="2" charset="2"/>
              </a:rPr>
              <a:t> </a:t>
            </a:r>
            <a:r>
              <a:rPr lang="es-MX" sz="2000" dirty="0">
                <a:solidFill>
                  <a:schemeClr val="accent2"/>
                </a:solidFill>
                <a:sym typeface="Wingdings" panose="05000000000000000000" pitchFamily="2" charset="2"/>
              </a:rPr>
              <a:t>Base 10</a:t>
            </a:r>
            <a:endParaRPr lang="es-MX" sz="2000" dirty="0">
              <a:solidFill>
                <a:schemeClr val="accent2"/>
              </a:solidFill>
            </a:endParaRP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ACC3FEA1-7AEE-44EB-B10F-E597DEA9EDBD}"/>
              </a:ext>
            </a:extLst>
          </p:cNvPr>
          <p:cNvSpPr txBox="1">
            <a:spLocks/>
          </p:cNvSpPr>
          <p:nvPr/>
        </p:nvSpPr>
        <p:spPr>
          <a:xfrm>
            <a:off x="916650" y="3527778"/>
            <a:ext cx="10947400" cy="533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/>
              <a:t>Paso 2</a:t>
            </a:r>
            <a:r>
              <a:rPr lang="es-MX" sz="2000" dirty="0"/>
              <a:t>: </a:t>
            </a:r>
            <a:r>
              <a:rPr lang="es-MX" sz="2000" dirty="0">
                <a:solidFill>
                  <a:schemeClr val="accent2"/>
                </a:solidFill>
              </a:rPr>
              <a:t>Base 10 </a:t>
            </a:r>
            <a:r>
              <a:rPr lang="es-MX" sz="2000" dirty="0">
                <a:sym typeface="Wingdings" panose="05000000000000000000" pitchFamily="2" charset="2"/>
              </a:rPr>
              <a:t> Base 9</a:t>
            </a:r>
            <a:endParaRPr lang="es-MX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FA4F88C-062B-4670-A47E-CDB0A4847665}"/>
                  </a:ext>
                </a:extLst>
              </p:cNvPr>
              <p:cNvSpPr txBox="1"/>
              <p:nvPr/>
            </p:nvSpPr>
            <p:spPr>
              <a:xfrm>
                <a:off x="1589750" y="2321004"/>
                <a:ext cx="3425040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e>
                        <m:sub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4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2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s-MX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s-MX" sz="1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        =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4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2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MX" sz="18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        =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20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2</m:t>
                      </m:r>
                    </m:oMath>
                  </m:oMathPara>
                </a14:m>
                <a:endParaRPr lang="es-MX" sz="18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        =</m:t>
                      </m:r>
                      <m:sSub>
                        <m:sSubPr>
                          <m:ctrlP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22</m:t>
                          </m:r>
                        </m:e>
                        <m:sub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10</m:t>
                          </m:r>
                        </m:sub>
                      </m:sSub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                                           </m:t>
                      </m:r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8FA4F88C-062B-4670-A47E-CDB0A4847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750" y="2321004"/>
                <a:ext cx="3425040" cy="1107996"/>
              </a:xfrm>
              <a:prstGeom prst="rect">
                <a:avLst/>
              </a:prstGeom>
              <a:blipFill>
                <a:blip r:embed="rId3"/>
                <a:stretch>
                  <a:fillRect l="-2491" t="-549" b="-329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a 2">
                <a:extLst>
                  <a:ext uri="{FF2B5EF4-FFF2-40B4-BE49-F238E27FC236}">
                    <a16:creationId xmlns:a16="http://schemas.microsoft.com/office/drawing/2014/main" id="{5DCDAC76-1D3B-4ADA-B54E-8A7F62FCA27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52670" y="2417802"/>
              <a:ext cx="2893060" cy="16459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2325487836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3563616872"/>
                        </a:ext>
                      </a:extLst>
                    </a:gridCol>
                  </a:tblGrid>
                  <a:tr h="223115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Potencia de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s-MX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23115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Forma 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2311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Digito </a:t>
                          </a:r>
                          <a14:m>
                            <m:oMath xmlns:m="http://schemas.openxmlformats.org/officeDocument/2006/math">
                              <m:r>
                                <a:rPr lang="es-MX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oMath>
                          </a14:m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CO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a 2">
                <a:extLst>
                  <a:ext uri="{FF2B5EF4-FFF2-40B4-BE49-F238E27FC236}">
                    <a16:creationId xmlns:a16="http://schemas.microsoft.com/office/drawing/2014/main" id="{5DCDAC76-1D3B-4ADA-B54E-8A7F62FCA27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852670" y="2417802"/>
              <a:ext cx="2893060" cy="9144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435100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2325487836"/>
                        </a:ext>
                      </a:extLst>
                    </a:gridCol>
                    <a:gridCol w="728980">
                      <a:extLst>
                        <a:ext uri="{9D8B030D-6E8A-4147-A177-3AD203B41FA5}">
                          <a16:colId xmlns:a16="http://schemas.microsoft.com/office/drawing/2014/main" val="356361687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Potencia de 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9160" t="-2000" r="-102521" b="-2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96667" t="-2000" r="-1667" b="-2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Forma 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9160" t="-100000" r="-102521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96667" t="-100000" r="-1667" b="-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424" t="-204000" r="-102119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199160" t="-204000" r="-102521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4"/>
                          <a:stretch>
                            <a:fillRect l="-296667" t="-204000" r="-1667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FDE784A2-CAE4-4B75-887F-D93D5D060562}"/>
              </a:ext>
            </a:extLst>
          </p:cNvPr>
          <p:cNvCxnSpPr>
            <a:cxnSpLocks/>
          </p:cNvCxnSpPr>
          <p:nvPr/>
        </p:nvCxnSpPr>
        <p:spPr>
          <a:xfrm>
            <a:off x="2964915" y="4256446"/>
            <a:ext cx="660935" cy="287282"/>
          </a:xfrm>
          <a:prstGeom prst="bentConnector3">
            <a:avLst>
              <a:gd name="adj1" fmla="val 1001"/>
            </a:avLst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A7BA6B7-C351-444D-ACC4-C635CEC73218}"/>
                  </a:ext>
                </a:extLst>
              </p:cNvPr>
              <p:cNvSpPr txBox="1"/>
              <p:nvPr/>
            </p:nvSpPr>
            <p:spPr>
              <a:xfrm>
                <a:off x="2516850" y="4266729"/>
                <a:ext cx="3206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EA7BA6B7-C351-444D-ACC4-C635CEC73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850" y="4266729"/>
                <a:ext cx="320601" cy="276999"/>
              </a:xfrm>
              <a:prstGeom prst="rect">
                <a:avLst/>
              </a:prstGeom>
              <a:blipFill>
                <a:blip r:embed="rId5"/>
                <a:stretch>
                  <a:fillRect l="-17308" r="-15385" b="-888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4C83722-F66F-4DB8-A129-4714533CCF1D}"/>
                  </a:ext>
                </a:extLst>
              </p:cNvPr>
              <p:cNvSpPr txBox="1"/>
              <p:nvPr/>
            </p:nvSpPr>
            <p:spPr>
              <a:xfrm>
                <a:off x="3196300" y="4256446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4C83722-F66F-4DB8-A129-4714533CC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300" y="4256446"/>
                <a:ext cx="192360" cy="276999"/>
              </a:xfrm>
              <a:prstGeom prst="rect">
                <a:avLst/>
              </a:prstGeom>
              <a:blipFill>
                <a:blip r:embed="rId6"/>
                <a:stretch>
                  <a:fillRect l="-25000" r="-25000" b="-869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36A5580-2FFF-4086-91BF-E13F04628D11}"/>
                  </a:ext>
                </a:extLst>
              </p:cNvPr>
              <p:cNvSpPr txBox="1"/>
              <p:nvPr/>
            </p:nvSpPr>
            <p:spPr>
              <a:xfrm>
                <a:off x="3196300" y="4590521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A36A5580-2FFF-4086-91BF-E13F04628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300" y="4590521"/>
                <a:ext cx="192360" cy="276999"/>
              </a:xfrm>
              <a:prstGeom prst="rect">
                <a:avLst/>
              </a:prstGeom>
              <a:blipFill>
                <a:blip r:embed="rId7"/>
                <a:stretch>
                  <a:fillRect l="-25000" r="-25000" b="-1111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0A62410E-7C56-4A71-B85E-685CEC833780}"/>
                  </a:ext>
                </a:extLst>
              </p:cNvPr>
              <p:cNvSpPr txBox="1"/>
              <p:nvPr/>
            </p:nvSpPr>
            <p:spPr>
              <a:xfrm>
                <a:off x="2645091" y="4533445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MX" sz="1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0A62410E-7C56-4A71-B85E-685CEC833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091" y="4533445"/>
                <a:ext cx="192360" cy="276999"/>
              </a:xfrm>
              <a:prstGeom prst="rect">
                <a:avLst/>
              </a:prstGeom>
              <a:blipFill>
                <a:blip r:embed="rId8"/>
                <a:stretch>
                  <a:fillRect l="-29032" r="-25806" b="-888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ED5FB913-0982-435C-8C69-4005F8206F07}"/>
              </a:ext>
            </a:extLst>
          </p:cNvPr>
          <p:cNvCxnSpPr>
            <a:cxnSpLocks/>
          </p:cNvCxnSpPr>
          <p:nvPr/>
        </p:nvCxnSpPr>
        <p:spPr>
          <a:xfrm>
            <a:off x="3613150" y="4543728"/>
            <a:ext cx="660935" cy="287282"/>
          </a:xfrm>
          <a:prstGeom prst="bentConnector3">
            <a:avLst>
              <a:gd name="adj1" fmla="val 1001"/>
            </a:avLst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195B58E-E5D5-4568-BFF2-4B6FD76FB312}"/>
                  </a:ext>
                </a:extLst>
              </p:cNvPr>
              <p:cNvSpPr txBox="1"/>
              <p:nvPr/>
            </p:nvSpPr>
            <p:spPr>
              <a:xfrm>
                <a:off x="3844535" y="4543728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B195B58E-E5D5-4568-BFF2-4B6FD76FB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535" y="4543728"/>
                <a:ext cx="192360" cy="276999"/>
              </a:xfrm>
              <a:prstGeom prst="rect">
                <a:avLst/>
              </a:prstGeom>
              <a:blipFill>
                <a:blip r:embed="rId9"/>
                <a:stretch>
                  <a:fillRect l="-29032" r="-25806" b="-869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0F3948D4-6598-4CBF-A7AF-7072326F08CF}"/>
                  </a:ext>
                </a:extLst>
              </p:cNvPr>
              <p:cNvSpPr txBox="1"/>
              <p:nvPr/>
            </p:nvSpPr>
            <p:spPr>
              <a:xfrm>
                <a:off x="3844535" y="4877803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MX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0F3948D4-6598-4CBF-A7AF-7072326F0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535" y="4877803"/>
                <a:ext cx="192360" cy="276999"/>
              </a:xfrm>
              <a:prstGeom prst="rect">
                <a:avLst/>
              </a:prstGeom>
              <a:blipFill>
                <a:blip r:embed="rId10"/>
                <a:stretch>
                  <a:fillRect l="-29032" r="-25806" b="-869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3B967875-0481-4490-A30C-F37AAFDD0109}"/>
                  </a:ext>
                </a:extLst>
              </p:cNvPr>
              <p:cNvSpPr txBox="1"/>
              <p:nvPr/>
            </p:nvSpPr>
            <p:spPr>
              <a:xfrm>
                <a:off x="3212365" y="4867520"/>
                <a:ext cx="1923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MX" sz="1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3B967875-0481-4490-A30C-F37AAFDD0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365" y="4867520"/>
                <a:ext cx="192360" cy="276999"/>
              </a:xfrm>
              <a:prstGeom prst="rect">
                <a:avLst/>
              </a:prstGeom>
              <a:blipFill>
                <a:blip r:embed="rId11"/>
                <a:stretch>
                  <a:fillRect l="-28125" r="-21875" b="-869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F72932A6-68B5-4E57-8B31-38E4FBC656D3}"/>
              </a:ext>
            </a:extLst>
          </p:cNvPr>
          <p:cNvCxnSpPr>
            <a:cxnSpLocks/>
          </p:cNvCxnSpPr>
          <p:nvPr/>
        </p:nvCxnSpPr>
        <p:spPr>
          <a:xfrm flipH="1" flipV="1">
            <a:off x="2408610" y="4968054"/>
            <a:ext cx="815340" cy="3323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4A79995-C804-4510-B17C-4224B7003F80}"/>
                  </a:ext>
                </a:extLst>
              </p:cNvPr>
              <p:cNvSpPr txBox="1"/>
              <p:nvPr/>
            </p:nvSpPr>
            <p:spPr>
              <a:xfrm>
                <a:off x="3388660" y="5212533"/>
                <a:ext cx="108985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44A79995-C804-4510-B17C-4224B7003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60" y="5212533"/>
                <a:ext cx="1089850" cy="307777"/>
              </a:xfrm>
              <a:prstGeom prst="rect">
                <a:avLst/>
              </a:prstGeom>
              <a:blipFill>
                <a:blip r:embed="rId12"/>
                <a:stretch>
                  <a:fillRect l="-4469" r="-559" b="-196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81AECCF-FE67-4954-A968-C5E14C2F7EFB}"/>
                  </a:ext>
                </a:extLst>
              </p:cNvPr>
              <p:cNvSpPr txBox="1"/>
              <p:nvPr/>
            </p:nvSpPr>
            <p:spPr>
              <a:xfrm>
                <a:off x="6708996" y="4351327"/>
                <a:ext cx="1208921" cy="3077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42</m:t>
                          </m:r>
                        </m:e>
                        <m:sub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81AECCF-FE67-4954-A968-C5E14C2F7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996" y="4351327"/>
                <a:ext cx="1208921" cy="307777"/>
              </a:xfrm>
              <a:prstGeom prst="rect">
                <a:avLst/>
              </a:prstGeom>
              <a:blipFill>
                <a:blip r:embed="rId13"/>
                <a:stretch>
                  <a:fillRect l="-4040" r="-1010" b="-2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7386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650" y="96038"/>
            <a:ext cx="10462550" cy="949500"/>
          </a:xfrm>
        </p:spPr>
        <p:txBody>
          <a:bodyPr/>
          <a:lstStyle/>
          <a:p>
            <a:r>
              <a:rPr lang="es-ES" dirty="0"/>
              <a:t>Conversión entre sistemas numéricos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916650" y="799316"/>
            <a:ext cx="89512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Ejercicio</a:t>
            </a:r>
          </a:p>
        </p:txBody>
      </p:sp>
      <p:sp>
        <p:nvSpPr>
          <p:cNvPr id="5" name="Google Shape;310;p34">
            <a:extLst>
              <a:ext uri="{FF2B5EF4-FFF2-40B4-BE49-F238E27FC236}">
                <a16:creationId xmlns:a16="http://schemas.microsoft.com/office/drawing/2014/main" id="{61133FAF-1DF9-44A1-8BC4-F71DD8DFA682}"/>
              </a:ext>
            </a:extLst>
          </p:cNvPr>
          <p:cNvSpPr txBox="1">
            <a:spLocks/>
          </p:cNvSpPr>
          <p:nvPr/>
        </p:nvSpPr>
        <p:spPr>
          <a:xfrm>
            <a:off x="825500" y="1215724"/>
            <a:ext cx="10947400" cy="533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/>
              <a:t>Exprese los números del 0 al 15 en base 2 y base 8.</a:t>
            </a: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FCB2836B-C8DD-4CD7-8346-A6A8C46051D1}"/>
              </a:ext>
            </a:extLst>
          </p:cNvPr>
          <p:cNvGrpSpPr/>
          <p:nvPr/>
        </p:nvGrpSpPr>
        <p:grpSpPr>
          <a:xfrm>
            <a:off x="1138343" y="1973415"/>
            <a:ext cx="2069900" cy="1263864"/>
            <a:chOff x="1138343" y="1973415"/>
            <a:chExt cx="2069900" cy="1263864"/>
          </a:xfrm>
        </p:grpSpPr>
        <p:cxnSp>
          <p:nvCxnSpPr>
            <p:cNvPr id="11" name="Conector: angular 10">
              <a:extLst>
                <a:ext uri="{FF2B5EF4-FFF2-40B4-BE49-F238E27FC236}">
                  <a16:creationId xmlns:a16="http://schemas.microsoft.com/office/drawing/2014/main" id="{FDE784A2-CAE4-4B75-887F-D93D5D060562}"/>
                </a:ext>
              </a:extLst>
            </p:cNvPr>
            <p:cNvCxnSpPr>
              <a:cxnSpLocks/>
            </p:cNvCxnSpPr>
            <p:nvPr/>
          </p:nvCxnSpPr>
          <p:spPr>
            <a:xfrm>
              <a:off x="1694648" y="1973415"/>
              <a:ext cx="660935" cy="287282"/>
            </a:xfrm>
            <a:prstGeom prst="bentConnector3">
              <a:avLst>
                <a:gd name="adj1" fmla="val 100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EA7BA6B7-C351-444D-ACC4-C635CEC73218}"/>
                    </a:ext>
                  </a:extLst>
                </p:cNvPr>
                <p:cNvSpPr txBox="1"/>
                <p:nvPr/>
              </p:nvSpPr>
              <p:spPr>
                <a:xfrm>
                  <a:off x="1246583" y="1983698"/>
                  <a:ext cx="3206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EA7BA6B7-C351-444D-ACC4-C635CEC732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6583" y="1983698"/>
                  <a:ext cx="320601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5094" r="-15094" b="-869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44C83722-F66F-4DB8-A129-4714533CCF1D}"/>
                    </a:ext>
                  </a:extLst>
                </p:cNvPr>
                <p:cNvSpPr txBox="1"/>
                <p:nvPr/>
              </p:nvSpPr>
              <p:spPr>
                <a:xfrm>
                  <a:off x="1926033" y="1973415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44C83722-F66F-4DB8-A129-4714533CCF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6033" y="1973415"/>
                  <a:ext cx="19236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8125" r="-21875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A36A5580-2FFF-4086-91BF-E13F04628D11}"/>
                    </a:ext>
                  </a:extLst>
                </p:cNvPr>
                <p:cNvSpPr txBox="1"/>
                <p:nvPr/>
              </p:nvSpPr>
              <p:spPr>
                <a:xfrm>
                  <a:off x="1926033" y="2307490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A36A5580-2FFF-4086-91BF-E13F04628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6033" y="2307490"/>
                  <a:ext cx="19236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8125" r="-21875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0A62410E-7C56-4A71-B85E-685CEC833780}"/>
                    </a:ext>
                  </a:extLst>
                </p:cNvPr>
                <p:cNvSpPr txBox="1"/>
                <p:nvPr/>
              </p:nvSpPr>
              <p:spPr>
                <a:xfrm>
                  <a:off x="1374824" y="2250414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0A62410E-7C56-4A71-B85E-685CEC8337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4824" y="2250414"/>
                  <a:ext cx="19236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9032" r="-25806" b="-869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Conector: angular 18">
              <a:extLst>
                <a:ext uri="{FF2B5EF4-FFF2-40B4-BE49-F238E27FC236}">
                  <a16:creationId xmlns:a16="http://schemas.microsoft.com/office/drawing/2014/main" id="{ED5FB913-0982-435C-8C69-4005F8206F07}"/>
                </a:ext>
              </a:extLst>
            </p:cNvPr>
            <p:cNvCxnSpPr>
              <a:cxnSpLocks/>
            </p:cNvCxnSpPr>
            <p:nvPr/>
          </p:nvCxnSpPr>
          <p:spPr>
            <a:xfrm>
              <a:off x="2342883" y="2260697"/>
              <a:ext cx="660935" cy="287282"/>
            </a:xfrm>
            <a:prstGeom prst="bentConnector3">
              <a:avLst>
                <a:gd name="adj1" fmla="val 100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B195B58E-E5D5-4568-BFF2-4B6FD76FB312}"/>
                    </a:ext>
                  </a:extLst>
                </p:cNvPr>
                <p:cNvSpPr txBox="1"/>
                <p:nvPr/>
              </p:nvSpPr>
              <p:spPr>
                <a:xfrm>
                  <a:off x="2574268" y="2260697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B195B58E-E5D5-4568-BFF2-4B6FD76FB3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4268" y="2260697"/>
                  <a:ext cx="19236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5000" r="-25000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0F3948D4-6598-4CBF-A7AF-7072326F08CF}"/>
                    </a:ext>
                  </a:extLst>
                </p:cNvPr>
                <p:cNvSpPr txBox="1"/>
                <p:nvPr/>
              </p:nvSpPr>
              <p:spPr>
                <a:xfrm>
                  <a:off x="2574268" y="2594772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O" sz="1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0F3948D4-6598-4CBF-A7AF-7072326F0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4268" y="2594772"/>
                  <a:ext cx="19236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5000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3B967875-0481-4490-A30C-F37AAFDD0109}"/>
                    </a:ext>
                  </a:extLst>
                </p:cNvPr>
                <p:cNvSpPr txBox="1"/>
                <p:nvPr/>
              </p:nvSpPr>
              <p:spPr>
                <a:xfrm>
                  <a:off x="1942098" y="2584489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3B967875-0481-4490-A30C-F37AAFDD01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2098" y="2584489"/>
                  <a:ext cx="19236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9032" r="-25806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F72932A6-68B5-4E57-8B31-38E4FBC656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8343" y="2685023"/>
              <a:ext cx="815340" cy="33236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44A79995-C804-4510-B17C-4224B7003F80}"/>
                    </a:ext>
                  </a:extLst>
                </p:cNvPr>
                <p:cNvSpPr txBox="1"/>
                <p:nvPr/>
              </p:nvSpPr>
              <p:spPr>
                <a:xfrm>
                  <a:off x="2118393" y="2929502"/>
                  <a:ext cx="108985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44A79995-C804-4510-B17C-4224B7003F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8393" y="2929502"/>
                  <a:ext cx="1089850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5056" r="-1685" b="-20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81AECCF-FE67-4954-A968-C5E14C2F7EFB}"/>
                  </a:ext>
                </a:extLst>
              </p:cNvPr>
              <p:cNvSpPr txBox="1"/>
              <p:nvPr/>
            </p:nvSpPr>
            <p:spPr>
              <a:xfrm>
                <a:off x="2882553" y="4109452"/>
                <a:ext cx="2337115" cy="30777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1010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81AECCF-FE67-4954-A968-C5E14C2F7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553" y="4109452"/>
                <a:ext cx="2337115" cy="307777"/>
              </a:xfrm>
              <a:prstGeom prst="rect">
                <a:avLst/>
              </a:prstGeom>
              <a:blipFill>
                <a:blip r:embed="rId10"/>
                <a:stretch>
                  <a:fillRect l="-2089" r="-261" b="-196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a 2">
                <a:extLst>
                  <a:ext uri="{FF2B5EF4-FFF2-40B4-BE49-F238E27FC236}">
                    <a16:creationId xmlns:a16="http://schemas.microsoft.com/office/drawing/2014/main" id="{0BFE1312-FA07-4B45-8989-7667E2F7E1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3342336"/>
                  </p:ext>
                </p:extLst>
              </p:nvPr>
            </p:nvGraphicFramePr>
            <p:xfrm>
              <a:off x="6949747" y="1896486"/>
              <a:ext cx="4978472" cy="4733707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244618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1244618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  <a:gridCol w="1244618">
                      <a:extLst>
                        <a:ext uri="{9D8B030D-6E8A-4147-A177-3AD203B41FA5}">
                          <a16:colId xmlns:a16="http://schemas.microsoft.com/office/drawing/2014/main" val="2529711838"/>
                        </a:ext>
                      </a:extLst>
                    </a:gridCol>
                    <a:gridCol w="1244618">
                      <a:extLst>
                        <a:ext uri="{9D8B030D-6E8A-4147-A177-3AD203B41FA5}">
                          <a16:colId xmlns:a16="http://schemas.microsoft.com/office/drawing/2014/main" val="3387796263"/>
                        </a:ext>
                      </a:extLst>
                    </a:gridCol>
                  </a:tblGrid>
                  <a:tr h="3445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Hexadecimal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Decimal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Octal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Binario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5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000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5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001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5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010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3129597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5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011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779449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5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7162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5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75269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5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29201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5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6309811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5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4379760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5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3194633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1010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7770054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1011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4744525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1100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1179884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1101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8357668"/>
                      </a:ext>
                    </a:extLst>
                  </a:tr>
                  <a:tr h="2217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1110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0303837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s-CO" sz="12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1111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07665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a 2">
                <a:extLst>
                  <a:ext uri="{FF2B5EF4-FFF2-40B4-BE49-F238E27FC236}">
                    <a16:creationId xmlns:a16="http://schemas.microsoft.com/office/drawing/2014/main" id="{0BFE1312-FA07-4B45-8989-7667E2F7E1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3342336"/>
                  </p:ext>
                </p:extLst>
              </p:nvPr>
            </p:nvGraphicFramePr>
            <p:xfrm>
              <a:off x="6949747" y="1896486"/>
              <a:ext cx="4978472" cy="4733707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244618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1244618">
                      <a:extLst>
                        <a:ext uri="{9D8B030D-6E8A-4147-A177-3AD203B41FA5}">
                          <a16:colId xmlns:a16="http://schemas.microsoft.com/office/drawing/2014/main" val="1563791475"/>
                        </a:ext>
                      </a:extLst>
                    </a:gridCol>
                    <a:gridCol w="1244618">
                      <a:extLst>
                        <a:ext uri="{9D8B030D-6E8A-4147-A177-3AD203B41FA5}">
                          <a16:colId xmlns:a16="http://schemas.microsoft.com/office/drawing/2014/main" val="2529711838"/>
                        </a:ext>
                      </a:extLst>
                    </a:gridCol>
                    <a:gridCol w="1244618">
                      <a:extLst>
                        <a:ext uri="{9D8B030D-6E8A-4147-A177-3AD203B41FA5}">
                          <a16:colId xmlns:a16="http://schemas.microsoft.com/office/drawing/2014/main" val="3387796263"/>
                        </a:ext>
                      </a:extLst>
                    </a:gridCol>
                  </a:tblGrid>
                  <a:tr h="3445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Hexadecimal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Decimal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Octal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4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Binario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128889" r="-301471" b="-1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128889" r="-200000" b="-1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128889" r="-100980" b="-1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128889" r="-980" b="-15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228889" r="-301471" b="-1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228889" r="-200000" b="-1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228889" r="-100980" b="-1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228889" r="-980" b="-14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328889" r="-301471" b="-1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328889" r="-200000" b="-1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328889" r="-100980" b="-1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328889" r="-980" b="-13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312959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428889" r="-301471" b="-1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428889" r="-200000" b="-1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428889" r="-100980" b="-1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428889" r="-980" b="-12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77944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528889" r="-301471" b="-1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528889" r="-200000" b="-1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528889" r="-100980" b="-1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528889" r="-980" b="-11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7162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628889" r="-301471" b="-10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628889" r="-200000" b="-10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628889" r="-100980" b="-10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628889" r="-980" b="-10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752691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728889" r="-301471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728889" r="-200000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728889" r="-100980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728889" r="-980" b="-9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29201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828889" r="-301471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828889" r="-200000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828889" r="-100980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828889" r="-980" b="-8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630981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928889" r="-301471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928889" r="-200000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928889" r="-100980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928889" r="-980" b="-7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437976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1028889" r="-301471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1028889" r="-200000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1028889" r="-100980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1028889" r="-980" b="-6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319463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1128889" r="-301471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1128889" r="-200000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1128889" r="-100980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1128889" r="-980" b="-5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77700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1228889" r="-301471" b="-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1228889" r="-200000" b="-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1228889" r="-100980" b="-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1228889" r="-980" b="-4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474452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1328889" r="-301471" b="-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1328889" r="-200000" b="-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1328889" r="-100980" b="-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1328889" r="-980" b="-3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11798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1428889" r="-301471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1428889" r="-200000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1428889" r="-100980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1428889" r="-980" b="-2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835766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1528889" r="-301471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1528889" r="-200000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1528889" r="-100980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1528889" r="-980" b="-1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030383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490" t="-1628889" r="-301471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100000" t="-1628889" r="-200000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200980" t="-1628889" r="-100980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11"/>
                          <a:stretch>
                            <a:fillRect l="-300980" t="-1628889" r="-980" b="-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076658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9" name="Grupo 48">
            <a:extLst>
              <a:ext uri="{FF2B5EF4-FFF2-40B4-BE49-F238E27FC236}">
                <a16:creationId xmlns:a16="http://schemas.microsoft.com/office/drawing/2014/main" id="{F9E20F3A-C041-4886-A8E1-66B1858E074B}"/>
              </a:ext>
            </a:extLst>
          </p:cNvPr>
          <p:cNvGrpSpPr/>
          <p:nvPr/>
        </p:nvGrpSpPr>
        <p:grpSpPr>
          <a:xfrm>
            <a:off x="3590031" y="2009925"/>
            <a:ext cx="3064665" cy="1779610"/>
            <a:chOff x="3590031" y="2009925"/>
            <a:chExt cx="3064665" cy="1779610"/>
          </a:xfrm>
        </p:grpSpPr>
        <p:cxnSp>
          <p:nvCxnSpPr>
            <p:cNvPr id="28" name="Conector: angular 27">
              <a:extLst>
                <a:ext uri="{FF2B5EF4-FFF2-40B4-BE49-F238E27FC236}">
                  <a16:creationId xmlns:a16="http://schemas.microsoft.com/office/drawing/2014/main" id="{92CF7CC7-44C9-427F-BD55-61801CEA901D}"/>
                </a:ext>
              </a:extLst>
            </p:cNvPr>
            <p:cNvCxnSpPr>
              <a:cxnSpLocks/>
            </p:cNvCxnSpPr>
            <p:nvPr/>
          </p:nvCxnSpPr>
          <p:spPr>
            <a:xfrm>
              <a:off x="4038096" y="2009925"/>
              <a:ext cx="660935" cy="287282"/>
            </a:xfrm>
            <a:prstGeom prst="bentConnector3">
              <a:avLst>
                <a:gd name="adj1" fmla="val 100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829EC71D-1BD3-4F3D-A1B5-172B4E6F1046}"/>
                    </a:ext>
                  </a:extLst>
                </p:cNvPr>
                <p:cNvSpPr txBox="1"/>
                <p:nvPr/>
              </p:nvSpPr>
              <p:spPr>
                <a:xfrm>
                  <a:off x="3590031" y="2020208"/>
                  <a:ext cx="32060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829EC71D-1BD3-4F3D-A1B5-172B4E6F10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0031" y="2020208"/>
                  <a:ext cx="320601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16981" r="-13208" b="-869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F154A276-B238-40CB-BD25-D90C6FFFF367}"/>
                    </a:ext>
                  </a:extLst>
                </p:cNvPr>
                <p:cNvSpPr txBox="1"/>
                <p:nvPr/>
              </p:nvSpPr>
              <p:spPr>
                <a:xfrm>
                  <a:off x="4269481" y="2009925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F154A276-B238-40CB-BD25-D90C6FFFF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9481" y="2009925"/>
                  <a:ext cx="19236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5000" r="-25000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D3FE884D-AB7B-4C1F-8147-16DBDE3570AA}"/>
                    </a:ext>
                  </a:extLst>
                </p:cNvPr>
                <p:cNvSpPr txBox="1"/>
                <p:nvPr/>
              </p:nvSpPr>
              <p:spPr>
                <a:xfrm>
                  <a:off x="4269481" y="2344000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D3FE884D-AB7B-4C1F-8147-16DBDE3570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9481" y="2344000"/>
                  <a:ext cx="192360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8125" r="-25000" b="-11111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90F8DF08-D629-464D-AC22-3D160364FB61}"/>
                    </a:ext>
                  </a:extLst>
                </p:cNvPr>
                <p:cNvSpPr txBox="1"/>
                <p:nvPr/>
              </p:nvSpPr>
              <p:spPr>
                <a:xfrm>
                  <a:off x="3718272" y="2286924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90F8DF08-D629-464D-AC22-3D160364FB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8272" y="2286924"/>
                  <a:ext cx="19236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8125" r="-21875" b="-869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Conector: angular 32">
              <a:extLst>
                <a:ext uri="{FF2B5EF4-FFF2-40B4-BE49-F238E27FC236}">
                  <a16:creationId xmlns:a16="http://schemas.microsoft.com/office/drawing/2014/main" id="{2E613A62-FF08-4F5B-87A2-C2AC91F6AEBD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31" y="2297207"/>
              <a:ext cx="660935" cy="287282"/>
            </a:xfrm>
            <a:prstGeom prst="bentConnector3">
              <a:avLst>
                <a:gd name="adj1" fmla="val 100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DC61450D-3DA1-4211-9B2C-F2736F14580F}"/>
                    </a:ext>
                  </a:extLst>
                </p:cNvPr>
                <p:cNvSpPr txBox="1"/>
                <p:nvPr/>
              </p:nvSpPr>
              <p:spPr>
                <a:xfrm>
                  <a:off x="4917716" y="2297207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DC61450D-3DA1-4211-9B2C-F2736F1458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16" y="2297207"/>
                  <a:ext cx="192360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9032" r="-25806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CB87EB03-E8B1-4A7E-A786-F7463AF078D2}"/>
                    </a:ext>
                  </a:extLst>
                </p:cNvPr>
                <p:cNvSpPr txBox="1"/>
                <p:nvPr/>
              </p:nvSpPr>
              <p:spPr>
                <a:xfrm>
                  <a:off x="4917716" y="2631282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CB87EB03-E8B1-4A7E-A786-F7463AF07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16" y="2631282"/>
                  <a:ext cx="192360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9032" r="-25806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2CA8E4EA-8B69-46F9-A9F7-D4136E03E625}"/>
                    </a:ext>
                  </a:extLst>
                </p:cNvPr>
                <p:cNvSpPr txBox="1"/>
                <p:nvPr/>
              </p:nvSpPr>
              <p:spPr>
                <a:xfrm>
                  <a:off x="4285546" y="2620999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2CA8E4EA-8B69-46F9-A9F7-D4136E03E6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5546" y="2620999"/>
                  <a:ext cx="192360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5000" r="-25000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Conector recto de flecha 36">
              <a:extLst>
                <a:ext uri="{FF2B5EF4-FFF2-40B4-BE49-F238E27FC236}">
                  <a16:creationId xmlns:a16="http://schemas.microsoft.com/office/drawing/2014/main" id="{6D9940E0-E773-473F-9E58-3C6C4A0F1C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94072" y="3237279"/>
              <a:ext cx="815340" cy="33236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6793C7AB-5F59-404B-A70F-34B90B060CBD}"/>
                    </a:ext>
                  </a:extLst>
                </p:cNvPr>
                <p:cNvSpPr txBox="1"/>
                <p:nvPr/>
              </p:nvSpPr>
              <p:spPr>
                <a:xfrm>
                  <a:off x="5074122" y="3481758"/>
                  <a:ext cx="137518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1010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6793C7AB-5F59-404B-A70F-34B90B060C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4122" y="3481758"/>
                  <a:ext cx="1375185" cy="307777"/>
                </a:xfrm>
                <a:prstGeom prst="rect">
                  <a:avLst/>
                </a:prstGeom>
                <a:blipFill>
                  <a:blip r:embed="rId19"/>
                  <a:stretch>
                    <a:fillRect l="-3540" r="-885" b="-19608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Conector: angular 38">
              <a:extLst>
                <a:ext uri="{FF2B5EF4-FFF2-40B4-BE49-F238E27FC236}">
                  <a16:creationId xmlns:a16="http://schemas.microsoft.com/office/drawing/2014/main" id="{4FC2D3E6-2C72-48F0-90BC-1D628C515214}"/>
                </a:ext>
              </a:extLst>
            </p:cNvPr>
            <p:cNvCxnSpPr>
              <a:cxnSpLocks/>
            </p:cNvCxnSpPr>
            <p:nvPr/>
          </p:nvCxnSpPr>
          <p:spPr>
            <a:xfrm>
              <a:off x="5332826" y="2584489"/>
              <a:ext cx="660935" cy="287282"/>
            </a:xfrm>
            <a:prstGeom prst="bentConnector3">
              <a:avLst>
                <a:gd name="adj1" fmla="val 100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E6E2EFD5-16E2-4DBF-96BD-09CB5FE5B0CF}"/>
                    </a:ext>
                  </a:extLst>
                </p:cNvPr>
                <p:cNvSpPr txBox="1"/>
                <p:nvPr/>
              </p:nvSpPr>
              <p:spPr>
                <a:xfrm>
                  <a:off x="5564211" y="2584489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E6E2EFD5-16E2-4DBF-96BD-09CB5FE5B0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4211" y="2584489"/>
                  <a:ext cx="192360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29032" r="-25806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6A67F1D1-BA54-4D27-A7F3-B67601DF5E67}"/>
                    </a:ext>
                  </a:extLst>
                </p:cNvPr>
                <p:cNvSpPr txBox="1"/>
                <p:nvPr/>
              </p:nvSpPr>
              <p:spPr>
                <a:xfrm>
                  <a:off x="5564211" y="2918564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6A67F1D1-BA54-4D27-A7F3-B67601DF5E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4211" y="2918564"/>
                  <a:ext cx="192360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29032" r="-25806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5C6A6965-B2BF-40CB-BEC7-ED4536DEF3E0}"/>
                    </a:ext>
                  </a:extLst>
                </p:cNvPr>
                <p:cNvSpPr txBox="1"/>
                <p:nvPr/>
              </p:nvSpPr>
              <p:spPr>
                <a:xfrm>
                  <a:off x="4912480" y="2918563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5C6A6965-B2BF-40CB-BEC7-ED4536DEF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2480" y="2918563"/>
                  <a:ext cx="192360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29032" r="-25806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Conector: angular 43">
              <a:extLst>
                <a:ext uri="{FF2B5EF4-FFF2-40B4-BE49-F238E27FC236}">
                  <a16:creationId xmlns:a16="http://schemas.microsoft.com/office/drawing/2014/main" id="{05713E43-D094-4E06-A9F9-60DC6818A6AB}"/>
                </a:ext>
              </a:extLst>
            </p:cNvPr>
            <p:cNvCxnSpPr>
              <a:cxnSpLocks/>
            </p:cNvCxnSpPr>
            <p:nvPr/>
          </p:nvCxnSpPr>
          <p:spPr>
            <a:xfrm>
              <a:off x="5993761" y="2869947"/>
              <a:ext cx="660935" cy="287282"/>
            </a:xfrm>
            <a:prstGeom prst="bentConnector3">
              <a:avLst>
                <a:gd name="adj1" fmla="val 100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709E707F-8239-4893-827E-173736CF34B4}"/>
                    </a:ext>
                  </a:extLst>
                </p:cNvPr>
                <p:cNvSpPr txBox="1"/>
                <p:nvPr/>
              </p:nvSpPr>
              <p:spPr>
                <a:xfrm>
                  <a:off x="6225146" y="2869947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709E707F-8239-4893-827E-173736CF34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5146" y="2869947"/>
                  <a:ext cx="192360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25000" r="-25000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B200B28A-78DB-4B63-A94F-100CE856E8C1}"/>
                    </a:ext>
                  </a:extLst>
                </p:cNvPr>
                <p:cNvSpPr txBox="1"/>
                <p:nvPr/>
              </p:nvSpPr>
              <p:spPr>
                <a:xfrm>
                  <a:off x="6225146" y="3204022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B200B28A-78DB-4B63-A94F-100CE856E8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5146" y="3204022"/>
                  <a:ext cx="192360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25000" r="-25000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A2BC7993-B6F1-4922-9FAB-5EB7AE28869A}"/>
                    </a:ext>
                  </a:extLst>
                </p:cNvPr>
                <p:cNvSpPr txBox="1"/>
                <p:nvPr/>
              </p:nvSpPr>
              <p:spPr>
                <a:xfrm>
                  <a:off x="5558275" y="3146946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A2BC7993-B6F1-4922-9FAB-5EB7AE2886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8275" y="3146946"/>
                  <a:ext cx="192360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29032" r="-25806" b="-869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EE833AC8-A752-418E-91C4-9F87E8245588}"/>
              </a:ext>
            </a:extLst>
          </p:cNvPr>
          <p:cNvGrpSpPr/>
          <p:nvPr/>
        </p:nvGrpSpPr>
        <p:grpSpPr>
          <a:xfrm>
            <a:off x="1129030" y="4737146"/>
            <a:ext cx="2069900" cy="1035593"/>
            <a:chOff x="1129030" y="1973415"/>
            <a:chExt cx="2069900" cy="1035593"/>
          </a:xfrm>
        </p:grpSpPr>
        <p:cxnSp>
          <p:nvCxnSpPr>
            <p:cNvPr id="51" name="Conector: angular 50">
              <a:extLst>
                <a:ext uri="{FF2B5EF4-FFF2-40B4-BE49-F238E27FC236}">
                  <a16:creationId xmlns:a16="http://schemas.microsoft.com/office/drawing/2014/main" id="{6A0D777B-04FD-4860-836F-B655D1550CB7}"/>
                </a:ext>
              </a:extLst>
            </p:cNvPr>
            <p:cNvCxnSpPr>
              <a:cxnSpLocks/>
            </p:cNvCxnSpPr>
            <p:nvPr/>
          </p:nvCxnSpPr>
          <p:spPr>
            <a:xfrm>
              <a:off x="1694648" y="1973415"/>
              <a:ext cx="660935" cy="287282"/>
            </a:xfrm>
            <a:prstGeom prst="bentConnector3">
              <a:avLst>
                <a:gd name="adj1" fmla="val 100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1AD8C5E9-11D8-43B2-8137-2411B7D2CF62}"/>
                    </a:ext>
                  </a:extLst>
                </p:cNvPr>
                <p:cNvSpPr txBox="1"/>
                <p:nvPr/>
              </p:nvSpPr>
              <p:spPr>
                <a:xfrm>
                  <a:off x="1379933" y="1983698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1AD8C5E9-11D8-43B2-8137-2411B7D2CF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9933" y="1983698"/>
                  <a:ext cx="192360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8125" r="-25000" b="-11111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2BAD4F06-BF80-4790-8867-7360721FF0C2}"/>
                    </a:ext>
                  </a:extLst>
                </p:cNvPr>
                <p:cNvSpPr txBox="1"/>
                <p:nvPr/>
              </p:nvSpPr>
              <p:spPr>
                <a:xfrm>
                  <a:off x="1926033" y="1973415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2BAD4F06-BF80-4790-8867-7360721FF0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6033" y="1973415"/>
                  <a:ext cx="192360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28125" r="-21875" b="-869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DCF3058F-DD61-4633-A158-46684B56EC73}"/>
                    </a:ext>
                  </a:extLst>
                </p:cNvPr>
                <p:cNvSpPr txBox="1"/>
                <p:nvPr/>
              </p:nvSpPr>
              <p:spPr>
                <a:xfrm>
                  <a:off x="1926033" y="2307490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DCF3058F-DD61-4633-A158-46684B56EC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6033" y="2307490"/>
                  <a:ext cx="192360" cy="276999"/>
                </a:xfrm>
                <a:prstGeom prst="rect">
                  <a:avLst/>
                </a:prstGeom>
                <a:blipFill>
                  <a:blip r:embed="rId28"/>
                  <a:stretch>
                    <a:fillRect l="-28125" r="-21875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7E09A83A-8773-42A3-8C3D-8572BE311BA4}"/>
                    </a:ext>
                  </a:extLst>
                </p:cNvPr>
                <p:cNvSpPr txBox="1"/>
                <p:nvPr/>
              </p:nvSpPr>
              <p:spPr>
                <a:xfrm>
                  <a:off x="1374824" y="2250414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7E09A83A-8773-42A3-8C3D-8572BE311B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4824" y="2250414"/>
                  <a:ext cx="192360" cy="276999"/>
                </a:xfrm>
                <a:prstGeom prst="rect">
                  <a:avLst/>
                </a:prstGeom>
                <a:blipFill>
                  <a:blip r:embed="rId29"/>
                  <a:stretch>
                    <a:fillRect l="-29032" r="-29032" b="-11111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Conector recto de flecha 59">
              <a:extLst>
                <a:ext uri="{FF2B5EF4-FFF2-40B4-BE49-F238E27FC236}">
                  <a16:creationId xmlns:a16="http://schemas.microsoft.com/office/drawing/2014/main" id="{5C313B94-2D2E-4582-8239-14329A7CFD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9030" y="2456752"/>
              <a:ext cx="565618" cy="17453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CuadroTexto 60">
                  <a:extLst>
                    <a:ext uri="{FF2B5EF4-FFF2-40B4-BE49-F238E27FC236}">
                      <a16:creationId xmlns:a16="http://schemas.microsoft.com/office/drawing/2014/main" id="{644BC58B-F7D8-40EA-80A5-4C580BECD784}"/>
                    </a:ext>
                  </a:extLst>
                </p:cNvPr>
                <p:cNvSpPr txBox="1"/>
                <p:nvPr/>
              </p:nvSpPr>
              <p:spPr>
                <a:xfrm>
                  <a:off x="2109080" y="2701231"/>
                  <a:ext cx="1089850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61" name="CuadroTexto 60">
                  <a:extLst>
                    <a:ext uri="{FF2B5EF4-FFF2-40B4-BE49-F238E27FC236}">
                      <a16:creationId xmlns:a16="http://schemas.microsoft.com/office/drawing/2014/main" id="{644BC58B-F7D8-40EA-80A5-4C580BECD7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9080" y="2701231"/>
                  <a:ext cx="1089850" cy="307777"/>
                </a:xfrm>
                <a:prstGeom prst="rect">
                  <a:avLst/>
                </a:prstGeom>
                <a:blipFill>
                  <a:blip r:embed="rId30"/>
                  <a:stretch>
                    <a:fillRect b="-19608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49616FE7-E6F9-4BCF-89AB-68BBA748BE91}"/>
              </a:ext>
            </a:extLst>
          </p:cNvPr>
          <p:cNvGrpSpPr/>
          <p:nvPr/>
        </p:nvGrpSpPr>
        <p:grpSpPr>
          <a:xfrm>
            <a:off x="3718272" y="4714838"/>
            <a:ext cx="2364206" cy="1589221"/>
            <a:chOff x="3718272" y="2009925"/>
            <a:chExt cx="2364206" cy="1589221"/>
          </a:xfrm>
        </p:grpSpPr>
        <p:cxnSp>
          <p:nvCxnSpPr>
            <p:cNvPr id="63" name="Conector: angular 62">
              <a:extLst>
                <a:ext uri="{FF2B5EF4-FFF2-40B4-BE49-F238E27FC236}">
                  <a16:creationId xmlns:a16="http://schemas.microsoft.com/office/drawing/2014/main" id="{66A48165-6F05-4633-979B-3FC5985FD284}"/>
                </a:ext>
              </a:extLst>
            </p:cNvPr>
            <p:cNvCxnSpPr>
              <a:cxnSpLocks/>
            </p:cNvCxnSpPr>
            <p:nvPr/>
          </p:nvCxnSpPr>
          <p:spPr>
            <a:xfrm>
              <a:off x="4038096" y="2009925"/>
              <a:ext cx="660935" cy="287282"/>
            </a:xfrm>
            <a:prstGeom prst="bentConnector3">
              <a:avLst>
                <a:gd name="adj1" fmla="val 100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304C09C8-A886-44E9-A76E-3970B6AF6775}"/>
                    </a:ext>
                  </a:extLst>
                </p:cNvPr>
                <p:cNvSpPr txBox="1"/>
                <p:nvPr/>
              </p:nvSpPr>
              <p:spPr>
                <a:xfrm>
                  <a:off x="3723381" y="2020208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304C09C8-A886-44E9-A76E-3970B6AF67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3381" y="2020208"/>
                  <a:ext cx="192360" cy="276999"/>
                </a:xfrm>
                <a:prstGeom prst="rect">
                  <a:avLst/>
                </a:prstGeom>
                <a:blipFill>
                  <a:blip r:embed="rId31"/>
                  <a:stretch>
                    <a:fillRect l="-29032" r="-29032" b="-869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127959E6-5C3E-483A-BE13-AA4ACDF7FFFC}"/>
                    </a:ext>
                  </a:extLst>
                </p:cNvPr>
                <p:cNvSpPr txBox="1"/>
                <p:nvPr/>
              </p:nvSpPr>
              <p:spPr>
                <a:xfrm>
                  <a:off x="4269481" y="2009925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127959E6-5C3E-483A-BE13-AA4ACDF7F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9481" y="2009925"/>
                  <a:ext cx="192360" cy="276999"/>
                </a:xfrm>
                <a:prstGeom prst="rect">
                  <a:avLst/>
                </a:prstGeom>
                <a:blipFill>
                  <a:blip r:embed="rId32"/>
                  <a:stretch>
                    <a:fillRect l="-25000" r="-25000" b="-869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8A308F74-48BC-44A0-A0D4-12C4A3610FE0}"/>
                    </a:ext>
                  </a:extLst>
                </p:cNvPr>
                <p:cNvSpPr txBox="1"/>
                <p:nvPr/>
              </p:nvSpPr>
              <p:spPr>
                <a:xfrm>
                  <a:off x="4269481" y="2344000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8A308F74-48BC-44A0-A0D4-12C4A3610F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9481" y="2344000"/>
                  <a:ext cx="192360" cy="276999"/>
                </a:xfrm>
                <a:prstGeom prst="rect">
                  <a:avLst/>
                </a:prstGeom>
                <a:blipFill>
                  <a:blip r:embed="rId33"/>
                  <a:stretch>
                    <a:fillRect l="-25000" r="-25000" b="-869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D1BDDAA7-71AC-4B72-B096-7AA19329A912}"/>
                    </a:ext>
                  </a:extLst>
                </p:cNvPr>
                <p:cNvSpPr txBox="1"/>
                <p:nvPr/>
              </p:nvSpPr>
              <p:spPr>
                <a:xfrm>
                  <a:off x="3718272" y="2286924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D1BDDAA7-71AC-4B72-B096-7AA19329A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8272" y="2286924"/>
                  <a:ext cx="192360" cy="276999"/>
                </a:xfrm>
                <a:prstGeom prst="rect">
                  <a:avLst/>
                </a:prstGeom>
                <a:blipFill>
                  <a:blip r:embed="rId34"/>
                  <a:stretch>
                    <a:fillRect l="-28125" r="-21875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Conector: angular 67">
              <a:extLst>
                <a:ext uri="{FF2B5EF4-FFF2-40B4-BE49-F238E27FC236}">
                  <a16:creationId xmlns:a16="http://schemas.microsoft.com/office/drawing/2014/main" id="{2389740B-DE02-4CA5-8482-E0E5085F8E36}"/>
                </a:ext>
              </a:extLst>
            </p:cNvPr>
            <p:cNvCxnSpPr>
              <a:cxnSpLocks/>
            </p:cNvCxnSpPr>
            <p:nvPr/>
          </p:nvCxnSpPr>
          <p:spPr>
            <a:xfrm>
              <a:off x="4686331" y="2297207"/>
              <a:ext cx="660935" cy="287282"/>
            </a:xfrm>
            <a:prstGeom prst="bentConnector3">
              <a:avLst>
                <a:gd name="adj1" fmla="val 100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B742DF1E-EE8E-451D-AF69-30D9B2A1ECC6}"/>
                    </a:ext>
                  </a:extLst>
                </p:cNvPr>
                <p:cNvSpPr txBox="1"/>
                <p:nvPr/>
              </p:nvSpPr>
              <p:spPr>
                <a:xfrm>
                  <a:off x="4917716" y="2297207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B742DF1E-EE8E-451D-AF69-30D9B2A1E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16" y="2297207"/>
                  <a:ext cx="192360" cy="276999"/>
                </a:xfrm>
                <a:prstGeom prst="rect">
                  <a:avLst/>
                </a:prstGeom>
                <a:blipFill>
                  <a:blip r:embed="rId35"/>
                  <a:stretch>
                    <a:fillRect l="-29032" r="-25806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679A8D26-C7A7-483D-BFD7-103B5D466254}"/>
                    </a:ext>
                  </a:extLst>
                </p:cNvPr>
                <p:cNvSpPr txBox="1"/>
                <p:nvPr/>
              </p:nvSpPr>
              <p:spPr>
                <a:xfrm>
                  <a:off x="4917716" y="2631282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679A8D26-C7A7-483D-BFD7-103B5D4662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16" y="2631282"/>
                  <a:ext cx="192360" cy="276999"/>
                </a:xfrm>
                <a:prstGeom prst="rect">
                  <a:avLst/>
                </a:prstGeom>
                <a:blipFill>
                  <a:blip r:embed="rId36"/>
                  <a:stretch>
                    <a:fillRect l="-29032" r="-25806" b="-869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45C80F7E-6EA4-49F6-B1D0-D46ECB1D9A1D}"/>
                    </a:ext>
                  </a:extLst>
                </p:cNvPr>
                <p:cNvSpPr txBox="1"/>
                <p:nvPr/>
              </p:nvSpPr>
              <p:spPr>
                <a:xfrm>
                  <a:off x="4285546" y="2620999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45C80F7E-6EA4-49F6-B1D0-D46ECB1D9A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5546" y="2620999"/>
                  <a:ext cx="192360" cy="276999"/>
                </a:xfrm>
                <a:prstGeom prst="rect">
                  <a:avLst/>
                </a:prstGeom>
                <a:blipFill>
                  <a:blip r:embed="rId37"/>
                  <a:stretch>
                    <a:fillRect l="-25000" r="-25000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Conector recto de flecha 71">
              <a:extLst>
                <a:ext uri="{FF2B5EF4-FFF2-40B4-BE49-F238E27FC236}">
                  <a16:creationId xmlns:a16="http://schemas.microsoft.com/office/drawing/2014/main" id="{DD0D5529-24AE-42F0-AE4D-0A6F11DD9E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61811" y="2913486"/>
              <a:ext cx="815340" cy="33236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CuadroTexto 72">
                  <a:extLst>
                    <a:ext uri="{FF2B5EF4-FFF2-40B4-BE49-F238E27FC236}">
                      <a16:creationId xmlns:a16="http://schemas.microsoft.com/office/drawing/2014/main" id="{4F5879A6-325E-4CE0-AC31-05A27FAB8AF6}"/>
                    </a:ext>
                  </a:extLst>
                </p:cNvPr>
                <p:cNvSpPr txBox="1"/>
                <p:nvPr/>
              </p:nvSpPr>
              <p:spPr>
                <a:xfrm>
                  <a:off x="4849961" y="3291369"/>
                  <a:ext cx="1232517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101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73" name="CuadroTexto 72">
                  <a:extLst>
                    <a:ext uri="{FF2B5EF4-FFF2-40B4-BE49-F238E27FC236}">
                      <a16:creationId xmlns:a16="http://schemas.microsoft.com/office/drawing/2014/main" id="{4F5879A6-325E-4CE0-AC31-05A27FAB8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9961" y="3291369"/>
                  <a:ext cx="1232517" cy="307777"/>
                </a:xfrm>
                <a:prstGeom prst="rect">
                  <a:avLst/>
                </a:prstGeom>
                <a:blipFill>
                  <a:blip r:embed="rId38"/>
                  <a:stretch>
                    <a:fillRect l="-4455" r="-990" b="-20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Conector: angular 73">
              <a:extLst>
                <a:ext uri="{FF2B5EF4-FFF2-40B4-BE49-F238E27FC236}">
                  <a16:creationId xmlns:a16="http://schemas.microsoft.com/office/drawing/2014/main" id="{AEC20AB4-2358-458B-9421-F7AF1A6642D3}"/>
                </a:ext>
              </a:extLst>
            </p:cNvPr>
            <p:cNvCxnSpPr>
              <a:cxnSpLocks/>
            </p:cNvCxnSpPr>
            <p:nvPr/>
          </p:nvCxnSpPr>
          <p:spPr>
            <a:xfrm>
              <a:off x="5332826" y="2584489"/>
              <a:ext cx="660935" cy="287282"/>
            </a:xfrm>
            <a:prstGeom prst="bentConnector3">
              <a:avLst>
                <a:gd name="adj1" fmla="val 100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44F80822-5D08-4B59-AB34-182BCBCA6F97}"/>
                    </a:ext>
                  </a:extLst>
                </p:cNvPr>
                <p:cNvSpPr txBox="1"/>
                <p:nvPr/>
              </p:nvSpPr>
              <p:spPr>
                <a:xfrm>
                  <a:off x="5564211" y="2584489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44F80822-5D08-4B59-AB34-182BCBCA6F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4211" y="2584489"/>
                  <a:ext cx="192360" cy="276999"/>
                </a:xfrm>
                <a:prstGeom prst="rect">
                  <a:avLst/>
                </a:prstGeom>
                <a:blipFill>
                  <a:blip r:embed="rId39"/>
                  <a:stretch>
                    <a:fillRect l="-29032" r="-25806" b="-888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9A2F1672-E7ED-4E83-A70D-9EDBB9C060A0}"/>
                    </a:ext>
                  </a:extLst>
                </p:cNvPr>
                <p:cNvSpPr txBox="1"/>
                <p:nvPr/>
              </p:nvSpPr>
              <p:spPr>
                <a:xfrm>
                  <a:off x="5564211" y="2918564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9A2F1672-E7ED-4E83-A70D-9EDBB9C060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4211" y="2918564"/>
                  <a:ext cx="192360" cy="276999"/>
                </a:xfrm>
                <a:prstGeom prst="rect">
                  <a:avLst/>
                </a:prstGeom>
                <a:blipFill>
                  <a:blip r:embed="rId40"/>
                  <a:stretch>
                    <a:fillRect l="-29032" r="-25806" b="-869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393E1F09-7FC9-4BAD-B9B4-B0835453F04C}"/>
                    </a:ext>
                  </a:extLst>
                </p:cNvPr>
                <p:cNvSpPr txBox="1"/>
                <p:nvPr/>
              </p:nvSpPr>
              <p:spPr>
                <a:xfrm>
                  <a:off x="4912480" y="2918563"/>
                  <a:ext cx="1923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s-MX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O" sz="1800" dirty="0"/>
                </a:p>
              </p:txBody>
            </p:sp>
          </mc:Choice>
          <mc:Fallback xmlns="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393E1F09-7FC9-4BAD-B9B4-B0835453F0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2480" y="2918563"/>
                  <a:ext cx="192360" cy="276999"/>
                </a:xfrm>
                <a:prstGeom prst="rect">
                  <a:avLst/>
                </a:prstGeom>
                <a:blipFill>
                  <a:blip r:embed="rId41"/>
                  <a:stretch>
                    <a:fillRect l="-29032" r="-25806" b="-869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20741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650" y="96038"/>
            <a:ext cx="10358700" cy="949500"/>
          </a:xfrm>
        </p:spPr>
        <p:txBody>
          <a:bodyPr/>
          <a:lstStyle/>
          <a:p>
            <a:r>
              <a:rPr lang="es-ES" dirty="0"/>
              <a:t>Conversión entre sistemas numéricos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916650" y="928797"/>
            <a:ext cx="91694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Atajo directo (Entre binario, octal y hexadecimal)</a:t>
            </a:r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6F7568D7-A06A-4828-B1CE-C8CEB5838F7C}"/>
              </a:ext>
            </a:extLst>
          </p:cNvPr>
          <p:cNvSpPr txBox="1">
            <a:spLocks/>
          </p:cNvSpPr>
          <p:nvPr/>
        </p:nvSpPr>
        <p:spPr>
          <a:xfrm>
            <a:off x="916650" y="1421241"/>
            <a:ext cx="10793236" cy="83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s-MX" sz="2000" dirty="0"/>
              <a:t>Este método es mucho más rápido porque estas bases son potencias de 2. </a:t>
            </a:r>
          </a:p>
          <a:p>
            <a:pPr marL="584200" indent="-457200">
              <a:buFont typeface="+mj-lt"/>
              <a:buAutoNum type="arabicPeriod"/>
            </a:pPr>
            <a:endParaRPr lang="es-MX" sz="2000" b="1" dirty="0">
              <a:solidFill>
                <a:schemeClr val="accent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a 2">
                <a:extLst>
                  <a:ext uri="{FF2B5EF4-FFF2-40B4-BE49-F238E27FC236}">
                    <a16:creationId xmlns:a16="http://schemas.microsoft.com/office/drawing/2014/main" id="{D03A9525-9722-4355-831F-2196A6D9BE8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220650" y="1957132"/>
              <a:ext cx="2489236" cy="5029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244618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1244618">
                      <a:extLst>
                        <a:ext uri="{9D8B030D-6E8A-4147-A177-3AD203B41FA5}">
                          <a16:colId xmlns:a16="http://schemas.microsoft.com/office/drawing/2014/main" val="3387796263"/>
                        </a:ext>
                      </a:extLst>
                    </a:gridCol>
                  </a:tblGrid>
                  <a:tr h="3445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Hexadecimal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Binario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0000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0001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0010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3129597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0011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779449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0100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7162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0101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275269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0110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4729201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0111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6309811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54379760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83194633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1010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7770054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1011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4744525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1100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1179884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1101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8357668"/>
                      </a:ext>
                    </a:extLst>
                  </a:tr>
                  <a:tr h="2217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1110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0303837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6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1111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07665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a 2">
                <a:extLst>
                  <a:ext uri="{FF2B5EF4-FFF2-40B4-BE49-F238E27FC236}">
                    <a16:creationId xmlns:a16="http://schemas.microsoft.com/office/drawing/2014/main" id="{D03A9525-9722-4355-831F-2196A6D9BE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7514053"/>
                  </p:ext>
                </p:extLst>
              </p:nvPr>
            </p:nvGraphicFramePr>
            <p:xfrm>
              <a:off x="9220650" y="1957132"/>
              <a:ext cx="2489236" cy="4733707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244618">
                      <a:extLst>
                        <a:ext uri="{9D8B030D-6E8A-4147-A177-3AD203B41FA5}">
                          <a16:colId xmlns:a16="http://schemas.microsoft.com/office/drawing/2014/main" val="1622257375"/>
                        </a:ext>
                      </a:extLst>
                    </a:gridCol>
                    <a:gridCol w="1244618">
                      <a:extLst>
                        <a:ext uri="{9D8B030D-6E8A-4147-A177-3AD203B41FA5}">
                          <a16:colId xmlns:a16="http://schemas.microsoft.com/office/drawing/2014/main" val="3387796263"/>
                        </a:ext>
                      </a:extLst>
                    </a:gridCol>
                  </a:tblGrid>
                  <a:tr h="3445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Hexadecimal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Binario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128889" r="-100488" b="-1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128889" r="-980" b="-15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228889" r="-100488" b="-1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228889" r="-980" b="-14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328889" r="-100488" b="-1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328889" r="-980" b="-13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312959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428889" r="-100488" b="-1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428889" r="-980" b="-12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77944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528889" r="-100488" b="-1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528889" r="-980" b="-11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7162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628889" r="-100488" b="-10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628889" r="-980" b="-10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752691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728889" r="-100488" b="-9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728889" r="-980" b="-9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29201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828889" r="-100488" b="-8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828889" r="-980" b="-8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630981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928889" r="-100488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928889" r="-980" b="-7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437976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1028889" r="-100488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1028889" r="-980" b="-6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319463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1128889" r="-100488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1128889" r="-980" b="-5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77700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1228889" r="-100488" b="-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1228889" r="-980" b="-4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474452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1328889" r="-100488" b="-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1328889" r="-980" b="-3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11798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1428889" r="-100488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1428889" r="-980" b="-2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835766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1528889" r="-100488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1528889" r="-980" b="-1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030383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488" t="-1628889" r="-100488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2"/>
                          <a:stretch>
                            <a:fillRect l="-100980" t="-1628889" r="-980" b="-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07665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a 2">
                <a:extLst>
                  <a:ext uri="{FF2B5EF4-FFF2-40B4-BE49-F238E27FC236}">
                    <a16:creationId xmlns:a16="http://schemas.microsoft.com/office/drawing/2014/main" id="{F39B06F4-959C-4193-ACB5-4206DB655D2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664395" y="3769442"/>
              <a:ext cx="2489236" cy="256032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244618">
                      <a:extLst>
                        <a:ext uri="{9D8B030D-6E8A-4147-A177-3AD203B41FA5}">
                          <a16:colId xmlns:a16="http://schemas.microsoft.com/office/drawing/2014/main" val="2529711838"/>
                        </a:ext>
                      </a:extLst>
                    </a:gridCol>
                    <a:gridCol w="1244618">
                      <a:extLst>
                        <a:ext uri="{9D8B030D-6E8A-4147-A177-3AD203B41FA5}">
                          <a16:colId xmlns:a16="http://schemas.microsoft.com/office/drawing/2014/main" val="3387796263"/>
                        </a:ext>
                      </a:extLst>
                    </a:gridCol>
                  </a:tblGrid>
                  <a:tr h="3445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Octal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Binario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0000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001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010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3129597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011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779449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7162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275269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110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292018"/>
                      </a:ext>
                    </a:extLst>
                  </a:tr>
                  <a:tr h="21401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chemeClr val="accent2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111</m:t>
                                </m:r>
                              </m:oMath>
                            </m:oMathPara>
                          </a14:m>
                          <a:endParaRPr lang="es-CO" sz="1200" dirty="0">
                            <a:solidFill>
                              <a:srgbClr val="C00000"/>
                            </a:solidFill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63098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a 2">
                <a:extLst>
                  <a:ext uri="{FF2B5EF4-FFF2-40B4-BE49-F238E27FC236}">
                    <a16:creationId xmlns:a16="http://schemas.microsoft.com/office/drawing/2014/main" id="{F39B06F4-959C-4193-ACB5-4206DB655D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6030588"/>
                  </p:ext>
                </p:extLst>
              </p:nvPr>
            </p:nvGraphicFramePr>
            <p:xfrm>
              <a:off x="5664395" y="3769442"/>
              <a:ext cx="2489236" cy="2539147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244618">
                      <a:extLst>
                        <a:ext uri="{9D8B030D-6E8A-4147-A177-3AD203B41FA5}">
                          <a16:colId xmlns:a16="http://schemas.microsoft.com/office/drawing/2014/main" val="2529711838"/>
                        </a:ext>
                      </a:extLst>
                    </a:gridCol>
                    <a:gridCol w="1244618">
                      <a:extLst>
                        <a:ext uri="{9D8B030D-6E8A-4147-A177-3AD203B41FA5}">
                          <a16:colId xmlns:a16="http://schemas.microsoft.com/office/drawing/2014/main" val="3387796263"/>
                        </a:ext>
                      </a:extLst>
                    </a:gridCol>
                  </a:tblGrid>
                  <a:tr h="3445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Octal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Binario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681472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88" t="-128889" r="-100488" b="-7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980" t="-128889" r="-980" b="-7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19826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88" t="-228889" r="-100488" b="-6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980" t="-228889" r="-980" b="-6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838304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88" t="-328889" r="-100488" b="-5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980" t="-328889" r="-980" b="-5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312959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88" t="-428889" r="-100488" b="-4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980" t="-428889" r="-980" b="-4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77944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88" t="-528889" r="-100488" b="-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980" t="-528889" r="-980" b="-3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27162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88" t="-628889" r="-100488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980" t="-628889" r="-980" b="-2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752691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88" t="-728889" r="-100488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980" t="-728889" r="-980" b="-1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29201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488" t="-828889" r="-100488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3"/>
                          <a:stretch>
                            <a:fillRect l="-100980" t="-828889" r="-980" b="-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63098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69BE75FF-6DA7-44EE-BE3A-834775AEE9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6649" y="1818984"/>
                <a:ext cx="7894841" cy="15527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dirty="0"/>
                  <a:t>La clave es la </a:t>
                </a:r>
                <a:r>
                  <a:rPr lang="es-MX" sz="2000" b="1" dirty="0"/>
                  <a:t>agrupación de bits</a:t>
                </a:r>
                <a:r>
                  <a:rPr lang="es-MX" sz="2000" dirty="0"/>
                  <a:t>.</a:t>
                </a:r>
              </a:p>
              <a:p>
                <a:pPr lvl="1"/>
                <a:r>
                  <a:rPr lang="es-MX" sz="2000" b="1" dirty="0"/>
                  <a:t>Octal (Base 8)</a:t>
                </a:r>
                <a:r>
                  <a:rPr lang="es-MX" sz="20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s-MX" sz="2000" dirty="0"/>
                  <a:t>. Se trabaja en grupos de </a:t>
                </a:r>
                <a:r>
                  <a:rPr lang="es-MX" sz="2000" b="1" dirty="0"/>
                  <a:t>3 bits</a:t>
                </a:r>
                <a:r>
                  <a:rPr lang="es-MX" sz="2000" dirty="0"/>
                  <a:t>.</a:t>
                </a:r>
              </a:p>
              <a:p>
                <a:pPr lvl="1"/>
                <a:r>
                  <a:rPr lang="es-MX" sz="2000" b="1" dirty="0"/>
                  <a:t>Hexadecimal (Base 16)</a:t>
                </a:r>
                <a:r>
                  <a:rPr lang="es-MX" sz="20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s-MX" sz="2000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s-MX" sz="2000" dirty="0"/>
                  <a:t>. Se trabaja en grupos de </a:t>
                </a:r>
                <a:r>
                  <a:rPr lang="es-MX" sz="2000" b="1" dirty="0"/>
                  <a:t>4 bits</a:t>
                </a:r>
                <a:r>
                  <a:rPr lang="es-MX" sz="2000" dirty="0"/>
                  <a:t>.</a:t>
                </a:r>
              </a:p>
              <a:p>
                <a:pPr lvl="1"/>
                <a:endParaRPr lang="es-MX" sz="20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/>
                </a:pPr>
                <a:endParaRPr lang="es-MX" sz="2000" b="1" dirty="0">
                  <a:solidFill>
                    <a:schemeClr val="accent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4" name="Google Shape;310;p34">
                <a:extLst>
                  <a:ext uri="{FF2B5EF4-FFF2-40B4-BE49-F238E27FC236}">
                    <a16:creationId xmlns:a16="http://schemas.microsoft.com/office/drawing/2014/main" id="{69BE75FF-6DA7-44EE-BE3A-834775AEE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49" y="1818984"/>
                <a:ext cx="7894841" cy="15527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438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650" y="96038"/>
            <a:ext cx="10358700" cy="949500"/>
          </a:xfrm>
        </p:spPr>
        <p:txBody>
          <a:bodyPr/>
          <a:lstStyle/>
          <a:p>
            <a:r>
              <a:rPr lang="es-ES" dirty="0"/>
              <a:t>Conversión entre sistemas numéricos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916650" y="928797"/>
            <a:ext cx="91694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Binario → Octal/Hexadecimal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6F7568D7-A06A-4828-B1CE-C8CEB5838F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9668" y="1421240"/>
                <a:ext cx="10764073" cy="934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/>
                  <a:t>Se agrupa los bits desde la derecha y sustituye cada grupo por su dígito correspondiente.</a:t>
                </a:r>
                <a:endParaRPr lang="es-MX" sz="2000" b="1" dirty="0">
                  <a:solidFill>
                    <a:schemeClr val="accent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r>
                  <a:rPr lang="es-MX" sz="2000" b="1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Ejemplo</a:t>
                </a:r>
                <a:r>
                  <a:rPr lang="es-MX" sz="200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: Convertir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11110101101</m:t>
                        </m:r>
                      </m:e>
                      <m:sub>
                        <m: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sz="200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a octal y hexadecimal</a:t>
                </a: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6F7568D7-A06A-4828-B1CE-C8CEB5838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668" y="1421240"/>
                <a:ext cx="10764073" cy="934032"/>
              </a:xfrm>
              <a:prstGeom prst="rect">
                <a:avLst/>
              </a:prstGeom>
              <a:blipFill>
                <a:blip r:embed="rId2"/>
                <a:stretch>
                  <a:fillRect b="-78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1020B1A9-8735-4E2F-A6EB-C7BB530E697A}"/>
              </a:ext>
            </a:extLst>
          </p:cNvPr>
          <p:cNvSpPr txBox="1"/>
          <p:nvPr/>
        </p:nvSpPr>
        <p:spPr>
          <a:xfrm>
            <a:off x="1266413" y="2478383"/>
            <a:ext cx="5577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Conversión de binario a octal</a:t>
            </a:r>
            <a:r>
              <a:rPr lang="es-CO" sz="1800" dirty="0">
                <a:latin typeface="Roboto" panose="02000000000000000000" pitchFamily="2" charset="0"/>
                <a:ea typeface="Roboto" panose="02000000000000000000" pitchFamily="2" charset="0"/>
              </a:rPr>
              <a:t>: Base 2 </a:t>
            </a:r>
            <a:r>
              <a:rPr lang="es-CO" sz="1800" dirty="0">
                <a:latin typeface="Roboto" panose="02000000000000000000" pitchFamily="2" charset="0"/>
                <a:ea typeface="Roboto" panose="02000000000000000000" pitchFamily="2" charset="0"/>
                <a:sym typeface="Wingdings" panose="05000000000000000000" pitchFamily="2" charset="2"/>
              </a:rPr>
              <a:t> Base 8</a:t>
            </a:r>
            <a:endParaRPr lang="es-CO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99C5C02-F4F5-4543-888A-7E7FB8C16D2D}"/>
              </a:ext>
            </a:extLst>
          </p:cNvPr>
          <p:cNvSpPr txBox="1"/>
          <p:nvPr/>
        </p:nvSpPr>
        <p:spPr>
          <a:xfrm>
            <a:off x="1266413" y="4318063"/>
            <a:ext cx="6575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Conversión de binario a hexadecimal</a:t>
            </a:r>
            <a:r>
              <a:rPr lang="es-CO" sz="1800" dirty="0">
                <a:latin typeface="Roboto" panose="02000000000000000000" pitchFamily="2" charset="0"/>
                <a:ea typeface="Roboto" panose="02000000000000000000" pitchFamily="2" charset="0"/>
              </a:rPr>
              <a:t>: Base 2 </a:t>
            </a:r>
            <a:r>
              <a:rPr lang="es-CO" sz="1800" dirty="0">
                <a:latin typeface="Roboto" panose="02000000000000000000" pitchFamily="2" charset="0"/>
                <a:ea typeface="Roboto" panose="02000000000000000000" pitchFamily="2" charset="0"/>
                <a:sym typeface="Wingdings" panose="05000000000000000000" pitchFamily="2" charset="2"/>
              </a:rPr>
              <a:t> Base 16</a:t>
            </a:r>
            <a:endParaRPr lang="es-CO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DA1CF28-C43F-40E9-8A36-609C79769BBB}"/>
              </a:ext>
            </a:extLst>
          </p:cNvPr>
          <p:cNvGrpSpPr/>
          <p:nvPr/>
        </p:nvGrpSpPr>
        <p:grpSpPr>
          <a:xfrm>
            <a:off x="3373812" y="3250924"/>
            <a:ext cx="1950855" cy="663929"/>
            <a:chOff x="3284912" y="3097036"/>
            <a:chExt cx="1950855" cy="6639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0F3BE45C-ED3C-455F-B002-924C32B1EC39}"/>
                    </a:ext>
                  </a:extLst>
                </p:cNvPr>
                <p:cNvSpPr txBox="1"/>
                <p:nvPr/>
              </p:nvSpPr>
              <p:spPr>
                <a:xfrm>
                  <a:off x="3284912" y="3097036"/>
                  <a:ext cx="195085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0</m:t>
                        </m:r>
                        <m:r>
                          <a:rPr lang="es-MX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11</m:t>
                        </m:r>
                        <m: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a:rPr lang="es-MX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110</m:t>
                        </m:r>
                        <m: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a:rPr lang="es-MX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101</m:t>
                        </m:r>
                        <m: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a:rPr lang="es-MX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101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0F3BE45C-ED3C-455F-B002-924C32B1EC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4912" y="3097036"/>
                  <a:ext cx="1950855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2188" r="-2188" b="-980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errar llave 8">
              <a:extLst>
                <a:ext uri="{FF2B5EF4-FFF2-40B4-BE49-F238E27FC236}">
                  <a16:creationId xmlns:a16="http://schemas.microsoft.com/office/drawing/2014/main" id="{FBA5C614-5D19-45C0-A12D-75830169BC2F}"/>
                </a:ext>
              </a:extLst>
            </p:cNvPr>
            <p:cNvSpPr/>
            <p:nvPr/>
          </p:nvSpPr>
          <p:spPr>
            <a:xfrm rot="5400000">
              <a:off x="4907280" y="3169920"/>
              <a:ext cx="129540" cy="434340"/>
            </a:xfrm>
            <a:prstGeom prst="rightBrace">
              <a:avLst>
                <a:gd name="adj1" fmla="val 40476"/>
                <a:gd name="adj2" fmla="val 50000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0" name="Cerrar llave 9">
              <a:extLst>
                <a:ext uri="{FF2B5EF4-FFF2-40B4-BE49-F238E27FC236}">
                  <a16:creationId xmlns:a16="http://schemas.microsoft.com/office/drawing/2014/main" id="{47205E4E-6F18-45F5-BCF2-C1C076C12608}"/>
                </a:ext>
              </a:extLst>
            </p:cNvPr>
            <p:cNvSpPr/>
            <p:nvPr/>
          </p:nvSpPr>
          <p:spPr>
            <a:xfrm rot="5400000">
              <a:off x="4424281" y="3169920"/>
              <a:ext cx="129540" cy="434340"/>
            </a:xfrm>
            <a:prstGeom prst="rightBrace">
              <a:avLst>
                <a:gd name="adj1" fmla="val 40476"/>
                <a:gd name="adj2" fmla="val 50000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Cerrar llave 10">
              <a:extLst>
                <a:ext uri="{FF2B5EF4-FFF2-40B4-BE49-F238E27FC236}">
                  <a16:creationId xmlns:a16="http://schemas.microsoft.com/office/drawing/2014/main" id="{0996ACC1-BF45-4E73-9519-65445A03BF27}"/>
                </a:ext>
              </a:extLst>
            </p:cNvPr>
            <p:cNvSpPr/>
            <p:nvPr/>
          </p:nvSpPr>
          <p:spPr>
            <a:xfrm rot="5400000">
              <a:off x="3948902" y="3166861"/>
              <a:ext cx="129540" cy="434340"/>
            </a:xfrm>
            <a:prstGeom prst="rightBrace">
              <a:avLst>
                <a:gd name="adj1" fmla="val 40476"/>
                <a:gd name="adj2" fmla="val 50000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" name="Cerrar llave 11">
              <a:extLst>
                <a:ext uri="{FF2B5EF4-FFF2-40B4-BE49-F238E27FC236}">
                  <a16:creationId xmlns:a16="http://schemas.microsoft.com/office/drawing/2014/main" id="{D1FC5119-C7C2-421C-9660-9E40CAED0C27}"/>
                </a:ext>
              </a:extLst>
            </p:cNvPr>
            <p:cNvSpPr/>
            <p:nvPr/>
          </p:nvSpPr>
          <p:spPr>
            <a:xfrm rot="5400000">
              <a:off x="3473523" y="3166861"/>
              <a:ext cx="129540" cy="434340"/>
            </a:xfrm>
            <a:prstGeom prst="rightBrace">
              <a:avLst>
                <a:gd name="adj1" fmla="val 40476"/>
                <a:gd name="adj2" fmla="val 50000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1E01D82C-4FC2-4FFE-92FB-DFCA58C154AA}"/>
                    </a:ext>
                  </a:extLst>
                </p:cNvPr>
                <p:cNvSpPr txBox="1"/>
                <p:nvPr/>
              </p:nvSpPr>
              <p:spPr>
                <a:xfrm>
                  <a:off x="3452374" y="3453188"/>
                  <a:ext cx="21319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3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1E01D82C-4FC2-4FFE-92FB-DFCA58C154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2374" y="3453188"/>
                  <a:ext cx="213199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5714" r="-22857" b="-10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E08E1F9E-E101-4BCD-A2C6-69075A6872CD}"/>
                    </a:ext>
                  </a:extLst>
                </p:cNvPr>
                <p:cNvSpPr txBox="1"/>
                <p:nvPr/>
              </p:nvSpPr>
              <p:spPr>
                <a:xfrm>
                  <a:off x="3934317" y="3453188"/>
                  <a:ext cx="21319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6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E08E1F9E-E101-4BCD-A2C6-69075A6872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4317" y="3453188"/>
                  <a:ext cx="213199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25714" r="-22857" b="-10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50B4D41A-8673-4323-82A5-182EFACB9DBF}"/>
                    </a:ext>
                  </a:extLst>
                </p:cNvPr>
                <p:cNvSpPr txBox="1"/>
                <p:nvPr/>
              </p:nvSpPr>
              <p:spPr>
                <a:xfrm>
                  <a:off x="4396198" y="3453188"/>
                  <a:ext cx="21319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5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50B4D41A-8673-4323-82A5-182EFACB9D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6198" y="3453188"/>
                  <a:ext cx="213199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25714" r="-25714" b="-12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3EEF6B03-FADE-4D8A-8603-C5E0A5E0259C}"/>
                    </a:ext>
                  </a:extLst>
                </p:cNvPr>
                <p:cNvSpPr txBox="1"/>
                <p:nvPr/>
              </p:nvSpPr>
              <p:spPr>
                <a:xfrm>
                  <a:off x="4876600" y="3433692"/>
                  <a:ext cx="21319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5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3EEF6B03-FADE-4D8A-8603-C5E0A5E025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600" y="3433692"/>
                  <a:ext cx="213199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25714" r="-25714" b="-12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1A680B0-9FBB-458F-9EA1-101DC2F537B0}"/>
                  </a:ext>
                </a:extLst>
              </p:cNvPr>
              <p:cNvSpPr txBox="1"/>
              <p:nvPr/>
            </p:nvSpPr>
            <p:spPr>
              <a:xfrm>
                <a:off x="6630036" y="3319260"/>
                <a:ext cx="2887714" cy="3077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11110101</m:t>
                          </m:r>
                          <m:r>
                            <a:rPr lang="es-MX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101</m:t>
                          </m:r>
                        </m:e>
                        <m:sub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2</m:t>
                          </m:r>
                        </m:sub>
                      </m:sSub>
                      <m:r>
                        <a:rPr lang="es-MX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3655</m:t>
                          </m:r>
                        </m:e>
                        <m:sub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11A680B0-9FBB-458F-9EA1-101DC2F53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036" y="3319260"/>
                <a:ext cx="2887714" cy="307777"/>
              </a:xfrm>
              <a:prstGeom prst="rect">
                <a:avLst/>
              </a:prstGeom>
              <a:blipFill>
                <a:blip r:embed="rId8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upo 28">
            <a:extLst>
              <a:ext uri="{FF2B5EF4-FFF2-40B4-BE49-F238E27FC236}">
                <a16:creationId xmlns:a16="http://schemas.microsoft.com/office/drawing/2014/main" id="{2ED4663E-171B-4DE2-96EF-86E21CBD59D5}"/>
              </a:ext>
            </a:extLst>
          </p:cNvPr>
          <p:cNvGrpSpPr/>
          <p:nvPr/>
        </p:nvGrpSpPr>
        <p:grpSpPr>
          <a:xfrm>
            <a:off x="3422523" y="5067745"/>
            <a:ext cx="1950855" cy="686789"/>
            <a:chOff x="3422523" y="5067745"/>
            <a:chExt cx="1950855" cy="6867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099F4D79-2F49-47C5-A709-BE619F8E9D7A}"/>
                    </a:ext>
                  </a:extLst>
                </p:cNvPr>
                <p:cNvSpPr txBox="1"/>
                <p:nvPr/>
              </p:nvSpPr>
              <p:spPr>
                <a:xfrm>
                  <a:off x="3422523" y="5067745"/>
                  <a:ext cx="1950855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0</m:t>
                        </m:r>
                        <m:r>
                          <a:rPr lang="es-MX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111</m:t>
                        </m:r>
                        <m: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a:rPr lang="es-MX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1010</m:t>
                        </m:r>
                        <m: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a:rPr lang="es-MX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  <m:r>
                          <a:rPr lang="es-MX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101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099F4D79-2F49-47C5-A709-BE619F8E9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523" y="5067745"/>
                  <a:ext cx="1950855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625" r="-625" b="-980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Cerrar llave 20">
              <a:extLst>
                <a:ext uri="{FF2B5EF4-FFF2-40B4-BE49-F238E27FC236}">
                  <a16:creationId xmlns:a16="http://schemas.microsoft.com/office/drawing/2014/main" id="{E3026FA6-9327-40C9-8DCB-9C62142DE509}"/>
                </a:ext>
              </a:extLst>
            </p:cNvPr>
            <p:cNvSpPr/>
            <p:nvPr/>
          </p:nvSpPr>
          <p:spPr>
            <a:xfrm rot="5400000">
              <a:off x="4932126" y="5082232"/>
              <a:ext cx="143731" cy="565322"/>
            </a:xfrm>
            <a:prstGeom prst="rightBrace">
              <a:avLst>
                <a:gd name="adj1" fmla="val 40476"/>
                <a:gd name="adj2" fmla="val 50000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Cerrar llave 21">
              <a:extLst>
                <a:ext uri="{FF2B5EF4-FFF2-40B4-BE49-F238E27FC236}">
                  <a16:creationId xmlns:a16="http://schemas.microsoft.com/office/drawing/2014/main" id="{60ECED83-7870-4057-89B7-6275AF59BB77}"/>
                </a:ext>
              </a:extLst>
            </p:cNvPr>
            <p:cNvSpPr/>
            <p:nvPr/>
          </p:nvSpPr>
          <p:spPr>
            <a:xfrm rot="5400000">
              <a:off x="4324764" y="5082232"/>
              <a:ext cx="143731" cy="565323"/>
            </a:xfrm>
            <a:prstGeom prst="rightBrace">
              <a:avLst>
                <a:gd name="adj1" fmla="val 40476"/>
                <a:gd name="adj2" fmla="val 50000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Cerrar llave 22">
              <a:extLst>
                <a:ext uri="{FF2B5EF4-FFF2-40B4-BE49-F238E27FC236}">
                  <a16:creationId xmlns:a16="http://schemas.microsoft.com/office/drawing/2014/main" id="{F29518ED-8247-4B80-8C76-C2D023C055D8}"/>
                </a:ext>
              </a:extLst>
            </p:cNvPr>
            <p:cNvSpPr/>
            <p:nvPr/>
          </p:nvSpPr>
          <p:spPr>
            <a:xfrm rot="5400000">
              <a:off x="3703476" y="5068308"/>
              <a:ext cx="129540" cy="607364"/>
            </a:xfrm>
            <a:prstGeom prst="rightBrace">
              <a:avLst>
                <a:gd name="adj1" fmla="val 40476"/>
                <a:gd name="adj2" fmla="val 50000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uadroTexto 25">
                  <a:extLst>
                    <a:ext uri="{FF2B5EF4-FFF2-40B4-BE49-F238E27FC236}">
                      <a16:creationId xmlns:a16="http://schemas.microsoft.com/office/drawing/2014/main" id="{4581557D-4435-4616-BF26-18EF961F4063}"/>
                    </a:ext>
                  </a:extLst>
                </p:cNvPr>
                <p:cNvSpPr txBox="1"/>
                <p:nvPr/>
              </p:nvSpPr>
              <p:spPr>
                <a:xfrm>
                  <a:off x="3667884" y="5436759"/>
                  <a:ext cx="21319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7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26" name="CuadroTexto 25">
                  <a:extLst>
                    <a:ext uri="{FF2B5EF4-FFF2-40B4-BE49-F238E27FC236}">
                      <a16:creationId xmlns:a16="http://schemas.microsoft.com/office/drawing/2014/main" id="{4581557D-4435-4616-BF26-18EF961F4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7884" y="5436759"/>
                  <a:ext cx="213199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25714" r="-22857" b="-10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8700B98A-BE2B-4F39-92EF-2DDD41FAFD4C}"/>
                    </a:ext>
                  </a:extLst>
                </p:cNvPr>
                <p:cNvSpPr txBox="1"/>
                <p:nvPr/>
              </p:nvSpPr>
              <p:spPr>
                <a:xfrm>
                  <a:off x="4290029" y="5446757"/>
                  <a:ext cx="23493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8700B98A-BE2B-4F39-92EF-2DDD41FAF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0029" y="5446757"/>
                  <a:ext cx="234936" cy="307777"/>
                </a:xfrm>
                <a:prstGeom prst="rect">
                  <a:avLst/>
                </a:prstGeom>
                <a:blipFill>
                  <a:blip r:embed="rId11"/>
                  <a:stretch>
                    <a:fillRect l="-23684" r="-23684" b="-980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4A4F4BEA-EA44-4D09-9EE4-4E04459CD175}"/>
                    </a:ext>
                  </a:extLst>
                </p:cNvPr>
                <p:cNvSpPr txBox="1"/>
                <p:nvPr/>
              </p:nvSpPr>
              <p:spPr>
                <a:xfrm>
                  <a:off x="4881137" y="5446756"/>
                  <a:ext cx="25596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𝐷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4A4F4BEA-EA44-4D09-9EE4-4E04459CD1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1137" y="5446756"/>
                  <a:ext cx="255968" cy="307777"/>
                </a:xfrm>
                <a:prstGeom prst="rect">
                  <a:avLst/>
                </a:prstGeom>
                <a:blipFill>
                  <a:blip r:embed="rId12"/>
                  <a:stretch>
                    <a:fillRect l="-21429" r="-16667" b="-980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D2A2256E-809D-417F-9BFE-BA1CB44CE435}"/>
                  </a:ext>
                </a:extLst>
              </p:cNvPr>
              <p:cNvSpPr txBox="1"/>
              <p:nvPr/>
            </p:nvSpPr>
            <p:spPr>
              <a:xfrm>
                <a:off x="6684570" y="5211004"/>
                <a:ext cx="2778646" cy="3077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11110101</m:t>
                          </m:r>
                          <m:r>
                            <a:rPr lang="es-MX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101</m:t>
                          </m:r>
                        </m:e>
                        <m:sub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2</m:t>
                          </m:r>
                        </m:sub>
                      </m:sSub>
                      <m:r>
                        <a:rPr lang="es-MX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7</m:t>
                          </m:r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𝐴𝐷</m:t>
                          </m:r>
                        </m:e>
                        <m:sub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D2A2256E-809D-417F-9BFE-BA1CB44C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4570" y="5211004"/>
                <a:ext cx="2778646" cy="307777"/>
              </a:xfrm>
              <a:prstGeom prst="rect">
                <a:avLst/>
              </a:prstGeom>
              <a:blipFill>
                <a:blip r:embed="rId13"/>
                <a:stretch>
                  <a:fillRect l="-1758" r="-659" b="-2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2390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650" y="96038"/>
            <a:ext cx="10477064" cy="949500"/>
          </a:xfrm>
        </p:spPr>
        <p:txBody>
          <a:bodyPr/>
          <a:lstStyle/>
          <a:p>
            <a:r>
              <a:rPr lang="es-ES" dirty="0"/>
              <a:t>Conversión entre sistemas numéricos</a:t>
            </a:r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916650" y="928797"/>
            <a:ext cx="91694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Octal/Hexadecimal → Binario</a:t>
            </a:r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6F7568D7-A06A-4828-B1CE-C8CEB5838F7C}"/>
              </a:ext>
            </a:extLst>
          </p:cNvPr>
          <p:cNvSpPr txBox="1">
            <a:spLocks/>
          </p:cNvSpPr>
          <p:nvPr/>
        </p:nvSpPr>
        <p:spPr>
          <a:xfrm>
            <a:off x="916650" y="1421240"/>
            <a:ext cx="10764073" cy="523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/>
              <a:t>Se sustituye cada dígito por su grupo de bits correspondiente</a:t>
            </a:r>
          </a:p>
          <a:p>
            <a:pPr marL="127000" indent="0">
              <a:buNone/>
            </a:pPr>
            <a:endParaRPr lang="es-MX" sz="2000" b="1" dirty="0">
              <a:solidFill>
                <a:schemeClr val="accent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8854897-0D87-4229-974C-9713E01B45F2}"/>
              </a:ext>
            </a:extLst>
          </p:cNvPr>
          <p:cNvSpPr txBox="1"/>
          <p:nvPr/>
        </p:nvSpPr>
        <p:spPr>
          <a:xfrm>
            <a:off x="1328250" y="2607047"/>
            <a:ext cx="7498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Conversión de hexadecimal a binario</a:t>
            </a:r>
            <a:r>
              <a:rPr lang="es-CO" sz="1800" dirty="0">
                <a:latin typeface="Roboto" panose="02000000000000000000" pitchFamily="2" charset="0"/>
                <a:ea typeface="Roboto" panose="02000000000000000000" pitchFamily="2" charset="0"/>
              </a:rPr>
              <a:t>: Base 16 </a:t>
            </a:r>
            <a:r>
              <a:rPr lang="es-CO" sz="1800" dirty="0">
                <a:latin typeface="Roboto" panose="02000000000000000000" pitchFamily="2" charset="0"/>
                <a:ea typeface="Roboto" panose="02000000000000000000" pitchFamily="2" charset="0"/>
                <a:sym typeface="Wingdings" panose="05000000000000000000" pitchFamily="2" charset="2"/>
              </a:rPr>
              <a:t> Base 2</a:t>
            </a:r>
            <a:endParaRPr lang="es-CO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8AAB7A0-0122-4A90-A272-A3A86AFAACEC}"/>
              </a:ext>
            </a:extLst>
          </p:cNvPr>
          <p:cNvSpPr txBox="1"/>
          <p:nvPr/>
        </p:nvSpPr>
        <p:spPr>
          <a:xfrm>
            <a:off x="1328250" y="5024275"/>
            <a:ext cx="6575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dirty="0">
                <a:latin typeface="Roboto" panose="02000000000000000000" pitchFamily="2" charset="0"/>
                <a:ea typeface="Roboto" panose="02000000000000000000" pitchFamily="2" charset="0"/>
              </a:rPr>
              <a:t>Conversión de octal a binario</a:t>
            </a:r>
            <a:r>
              <a:rPr lang="es-CO" sz="1800" dirty="0">
                <a:latin typeface="Roboto" panose="02000000000000000000" pitchFamily="2" charset="0"/>
                <a:ea typeface="Roboto" panose="02000000000000000000" pitchFamily="2" charset="0"/>
              </a:rPr>
              <a:t>: Base 8 </a:t>
            </a:r>
            <a:r>
              <a:rPr lang="es-CO" sz="1800" dirty="0">
                <a:latin typeface="Roboto" panose="02000000000000000000" pitchFamily="2" charset="0"/>
                <a:ea typeface="Roboto" panose="02000000000000000000" pitchFamily="2" charset="0"/>
                <a:sym typeface="Wingdings" panose="05000000000000000000" pitchFamily="2" charset="2"/>
              </a:rPr>
              <a:t> Base 2</a:t>
            </a:r>
            <a:endParaRPr lang="es-CO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8E1EFB8-6C74-4640-9783-4E0CE2F60352}"/>
                  </a:ext>
                </a:extLst>
              </p:cNvPr>
              <p:cNvSpPr txBox="1"/>
              <p:nvPr/>
            </p:nvSpPr>
            <p:spPr>
              <a:xfrm>
                <a:off x="6905417" y="3633357"/>
                <a:ext cx="2912144" cy="3077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9</m:t>
                      </m:r>
                      <m:r>
                        <a:rPr lang="es-MX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𝐹</m:t>
                      </m:r>
                      <m:sSub>
                        <m:sSubPr>
                          <m:ctrlP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2</m:t>
                          </m:r>
                        </m:e>
                        <m:sub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16</m:t>
                          </m:r>
                        </m:sub>
                      </m:sSub>
                      <m:r>
                        <a:rPr lang="es-MX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100111110010</m:t>
                          </m:r>
                        </m:e>
                        <m:sub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A8E1EFB8-6C74-4640-9783-4E0CE2F60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417" y="3633357"/>
                <a:ext cx="2912144" cy="307777"/>
              </a:xfrm>
              <a:prstGeom prst="rect">
                <a:avLst/>
              </a:prstGeom>
              <a:blipFill>
                <a:blip r:embed="rId2"/>
                <a:stretch>
                  <a:fillRect l="-1468" b="-1960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34742F30-17D1-44BB-B064-BFD1F5EA95B7}"/>
                  </a:ext>
                </a:extLst>
              </p:cNvPr>
              <p:cNvSpPr txBox="1"/>
              <p:nvPr/>
            </p:nvSpPr>
            <p:spPr>
              <a:xfrm>
                <a:off x="7516749" y="5899654"/>
                <a:ext cx="2356671" cy="3077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170</m:t>
                          </m:r>
                        </m:e>
                        <m:sub>
                          <m:r>
                            <a:rPr lang="es-MX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8</m:t>
                          </m:r>
                        </m:sub>
                      </m:sSub>
                      <m:r>
                        <a:rPr lang="es-MX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001111000</m:t>
                          </m:r>
                        </m:e>
                        <m:sub>
                          <m:r>
                            <a:rPr lang="es-MX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34742F30-17D1-44BB-B064-BFD1F5EA9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749" y="5899654"/>
                <a:ext cx="2356671" cy="307777"/>
              </a:xfrm>
              <a:prstGeom prst="rect">
                <a:avLst/>
              </a:prstGeom>
              <a:blipFill>
                <a:blip r:embed="rId3"/>
                <a:stretch>
                  <a:fillRect l="-1550" b="-2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Google Shape;310;p34">
                <a:extLst>
                  <a:ext uri="{FF2B5EF4-FFF2-40B4-BE49-F238E27FC236}">
                    <a16:creationId xmlns:a16="http://schemas.microsoft.com/office/drawing/2014/main" id="{44800B65-EDCF-4D41-9A01-BD4C92D0BF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6649" y="1944849"/>
                <a:ext cx="10764073" cy="523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b="1" dirty="0"/>
                  <a:t>Ejemplo 1</a:t>
                </a:r>
                <a:r>
                  <a:rPr lang="es-MX" sz="2000" dirty="0"/>
                  <a:t>: Convertir </a:t>
                </a:r>
                <a14:m>
                  <m:oMath xmlns:m="http://schemas.openxmlformats.org/officeDocument/2006/math">
                    <m:r>
                      <a:rPr lang="es-MX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9</m:t>
                    </m:r>
                    <m:r>
                      <a:rPr lang="es-MX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𝐹</m:t>
                    </m:r>
                    <m:sSub>
                      <m:sSubPr>
                        <m:ctrlP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e>
                      <m:sub>
                        <m: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es-MX" sz="2000" dirty="0"/>
                  <a:t> a binario </a:t>
                </a:r>
              </a:p>
              <a:p>
                <a:pPr marL="127000" indent="0">
                  <a:buNone/>
                </a:pPr>
                <a:endParaRPr lang="es-MX" sz="2000" b="1" dirty="0">
                  <a:solidFill>
                    <a:schemeClr val="accent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8" name="Google Shape;310;p34">
                <a:extLst>
                  <a:ext uri="{FF2B5EF4-FFF2-40B4-BE49-F238E27FC236}">
                    <a16:creationId xmlns:a16="http://schemas.microsoft.com/office/drawing/2014/main" id="{44800B65-EDCF-4D41-9A01-BD4C92D0B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49" y="1944849"/>
                <a:ext cx="10764073" cy="523609"/>
              </a:xfrm>
              <a:prstGeom prst="rect">
                <a:avLst/>
              </a:prstGeom>
              <a:blipFill>
                <a:blip r:embed="rId4"/>
                <a:stretch>
                  <a:fillRect b="-151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Google Shape;310;p34">
                <a:extLst>
                  <a:ext uri="{FF2B5EF4-FFF2-40B4-BE49-F238E27FC236}">
                    <a16:creationId xmlns:a16="http://schemas.microsoft.com/office/drawing/2014/main" id="{6233750B-8DBD-4AD8-AB2B-0F8563FD4D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6648" y="4362077"/>
                <a:ext cx="10764073" cy="5236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b="1" dirty="0"/>
                  <a:t>Ejemplo 2</a:t>
                </a:r>
                <a:r>
                  <a:rPr lang="es-MX" sz="2000" dirty="0"/>
                  <a:t>: Convertir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170</m:t>
                        </m:r>
                      </m:e>
                      <m:sub>
                        <m: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s-MX" sz="2000" dirty="0"/>
                  <a:t> a binario </a:t>
                </a:r>
              </a:p>
              <a:p>
                <a:pPr marL="127000" indent="0">
                  <a:buNone/>
                </a:pPr>
                <a:endParaRPr lang="es-MX" sz="2000" b="1" dirty="0">
                  <a:solidFill>
                    <a:schemeClr val="accent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9" name="Google Shape;310;p34">
                <a:extLst>
                  <a:ext uri="{FF2B5EF4-FFF2-40B4-BE49-F238E27FC236}">
                    <a16:creationId xmlns:a16="http://schemas.microsoft.com/office/drawing/2014/main" id="{6233750B-8DBD-4AD8-AB2B-0F8563FD4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48" y="4362077"/>
                <a:ext cx="10764073" cy="523609"/>
              </a:xfrm>
              <a:prstGeom prst="rect">
                <a:avLst/>
              </a:prstGeom>
              <a:blipFill>
                <a:blip r:embed="rId5"/>
                <a:stretch>
                  <a:fillRect b="-164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o 2">
            <a:extLst>
              <a:ext uri="{FF2B5EF4-FFF2-40B4-BE49-F238E27FC236}">
                <a16:creationId xmlns:a16="http://schemas.microsoft.com/office/drawing/2014/main" id="{A4489ADF-A8B3-411B-BB0C-9E99ABE12F91}"/>
              </a:ext>
            </a:extLst>
          </p:cNvPr>
          <p:cNvGrpSpPr/>
          <p:nvPr/>
        </p:nvGrpSpPr>
        <p:grpSpPr>
          <a:xfrm>
            <a:off x="3409823" y="3354221"/>
            <a:ext cx="1931793" cy="708950"/>
            <a:chOff x="3077386" y="3269888"/>
            <a:chExt cx="1931793" cy="7089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6F878046-7668-4408-8C33-AE775C3E50AC}"/>
                    </a:ext>
                  </a:extLst>
                </p:cNvPr>
                <p:cNvSpPr txBox="1"/>
                <p:nvPr/>
              </p:nvSpPr>
              <p:spPr>
                <a:xfrm>
                  <a:off x="3301901" y="3269888"/>
                  <a:ext cx="1476750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9         </m:t>
                        </m:r>
                        <m: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𝐹</m:t>
                        </m:r>
                        <m:r>
                          <a:rPr lang="es-MX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       2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6F878046-7668-4408-8C33-AE775C3E50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1901" y="3269888"/>
                  <a:ext cx="1476750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2893" r="-3306" b="-980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Cerrar llave 12">
              <a:extLst>
                <a:ext uri="{FF2B5EF4-FFF2-40B4-BE49-F238E27FC236}">
                  <a16:creationId xmlns:a16="http://schemas.microsoft.com/office/drawing/2014/main" id="{DC8E3BBB-CFD1-4695-B256-8C7FBF1C5762}"/>
                </a:ext>
              </a:extLst>
            </p:cNvPr>
            <p:cNvSpPr/>
            <p:nvPr/>
          </p:nvSpPr>
          <p:spPr>
            <a:xfrm rot="16200000" flipV="1">
              <a:off x="3344010" y="3341291"/>
              <a:ext cx="135471" cy="561922"/>
            </a:xfrm>
            <a:prstGeom prst="rightBrace">
              <a:avLst>
                <a:gd name="adj1" fmla="val 40476"/>
                <a:gd name="adj2" fmla="val 50000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A1FC10A8-F79A-4419-B4C4-A1FB68DEE027}"/>
                    </a:ext>
                  </a:extLst>
                </p:cNvPr>
                <p:cNvSpPr txBox="1"/>
                <p:nvPr/>
              </p:nvSpPr>
              <p:spPr>
                <a:xfrm>
                  <a:off x="3077386" y="3671061"/>
                  <a:ext cx="64120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1001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A1FC10A8-F79A-4419-B4C4-A1FB68DEE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7386" y="3671061"/>
                  <a:ext cx="641201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7547" r="-6604" b="-980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85888153-A9BE-4C8F-80EB-9806C7A40FA3}"/>
                    </a:ext>
                  </a:extLst>
                </p:cNvPr>
                <p:cNvSpPr txBox="1"/>
                <p:nvPr/>
              </p:nvSpPr>
              <p:spPr>
                <a:xfrm>
                  <a:off x="3716954" y="3667452"/>
                  <a:ext cx="64120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1111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85888153-A9BE-4C8F-80EB-9806C7A40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6954" y="3667452"/>
                  <a:ext cx="641201" cy="307777"/>
                </a:xfrm>
                <a:prstGeom prst="rect">
                  <a:avLst/>
                </a:prstGeom>
                <a:blipFill>
                  <a:blip r:embed="rId8"/>
                  <a:stretch>
                    <a:fillRect l="-7619" r="-7619" b="-980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CFABA8C4-3828-4612-B287-69E4473878D2}"/>
                    </a:ext>
                  </a:extLst>
                </p:cNvPr>
                <p:cNvSpPr txBox="1"/>
                <p:nvPr/>
              </p:nvSpPr>
              <p:spPr>
                <a:xfrm>
                  <a:off x="4367978" y="3671061"/>
                  <a:ext cx="64120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0010</m:t>
                        </m:r>
                      </m:oMath>
                    </m:oMathPara>
                  </a14:m>
                  <a:endParaRPr lang="es-CO" sz="2000" dirty="0"/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CFABA8C4-3828-4612-B287-69E447387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7978" y="3671061"/>
                  <a:ext cx="641201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7619" r="-7619" b="-9804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Cerrar llave 29">
              <a:extLst>
                <a:ext uri="{FF2B5EF4-FFF2-40B4-BE49-F238E27FC236}">
                  <a16:creationId xmlns:a16="http://schemas.microsoft.com/office/drawing/2014/main" id="{34089B88-1006-468A-A16B-FA1C85A1F367}"/>
                </a:ext>
              </a:extLst>
            </p:cNvPr>
            <p:cNvSpPr/>
            <p:nvPr/>
          </p:nvSpPr>
          <p:spPr>
            <a:xfrm rot="16200000" flipV="1">
              <a:off x="3981676" y="3335799"/>
              <a:ext cx="135471" cy="561922"/>
            </a:xfrm>
            <a:prstGeom prst="rightBrace">
              <a:avLst>
                <a:gd name="adj1" fmla="val 40476"/>
                <a:gd name="adj2" fmla="val 50000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31" name="Cerrar llave 30">
              <a:extLst>
                <a:ext uri="{FF2B5EF4-FFF2-40B4-BE49-F238E27FC236}">
                  <a16:creationId xmlns:a16="http://schemas.microsoft.com/office/drawing/2014/main" id="{586562DA-87D0-476F-9240-C662690D6320}"/>
                </a:ext>
              </a:extLst>
            </p:cNvPr>
            <p:cNvSpPr/>
            <p:nvPr/>
          </p:nvSpPr>
          <p:spPr>
            <a:xfrm rot="16200000" flipV="1">
              <a:off x="4605451" y="3350119"/>
              <a:ext cx="135471" cy="561922"/>
            </a:xfrm>
            <a:prstGeom prst="rightBrace">
              <a:avLst>
                <a:gd name="adj1" fmla="val 40476"/>
                <a:gd name="adj2" fmla="val 50000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707BBCE-B72D-4F38-A13E-C38ECE2AF54B}"/>
                  </a:ext>
                </a:extLst>
              </p:cNvPr>
              <p:cNvSpPr txBox="1"/>
              <p:nvPr/>
            </p:nvSpPr>
            <p:spPr>
              <a:xfrm>
                <a:off x="3785916" y="5527592"/>
                <a:ext cx="122790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1       7      1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707BBCE-B72D-4F38-A13E-C38ECE2AF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916" y="5527592"/>
                <a:ext cx="1227900" cy="307777"/>
              </a:xfrm>
              <a:prstGeom prst="rect">
                <a:avLst/>
              </a:prstGeom>
              <a:blipFill>
                <a:blip r:embed="rId10"/>
                <a:stretch>
                  <a:fillRect l="-3483" r="-3980" b="-1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errar llave 33">
            <a:extLst>
              <a:ext uri="{FF2B5EF4-FFF2-40B4-BE49-F238E27FC236}">
                <a16:creationId xmlns:a16="http://schemas.microsoft.com/office/drawing/2014/main" id="{19257249-8B1F-4112-9D8F-721702018A08}"/>
              </a:ext>
            </a:extLst>
          </p:cNvPr>
          <p:cNvSpPr/>
          <p:nvPr/>
        </p:nvSpPr>
        <p:spPr>
          <a:xfrm rot="16200000" flipV="1">
            <a:off x="3843661" y="5646743"/>
            <a:ext cx="129980" cy="460931"/>
          </a:xfrm>
          <a:prstGeom prst="rightBrace">
            <a:avLst>
              <a:gd name="adj1" fmla="val 40476"/>
              <a:gd name="adj2" fmla="val 50000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A8A60FA-A810-42EF-A544-15538069C364}"/>
                  </a:ext>
                </a:extLst>
              </p:cNvPr>
              <p:cNvSpPr txBox="1"/>
              <p:nvPr/>
            </p:nvSpPr>
            <p:spPr>
              <a:xfrm>
                <a:off x="3664564" y="5874464"/>
                <a:ext cx="49853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001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A8A60FA-A810-42EF-A544-15538069C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564" y="5874464"/>
                <a:ext cx="498534" cy="307777"/>
              </a:xfrm>
              <a:prstGeom prst="rect">
                <a:avLst/>
              </a:prstGeom>
              <a:blipFill>
                <a:blip r:embed="rId11"/>
                <a:stretch>
                  <a:fillRect l="-9756" r="-9756" b="-1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E8B784C4-34C8-43AF-BD6E-0946BF973E85}"/>
                  </a:ext>
                </a:extLst>
              </p:cNvPr>
              <p:cNvSpPr txBox="1"/>
              <p:nvPr/>
            </p:nvSpPr>
            <p:spPr>
              <a:xfrm>
                <a:off x="4176719" y="5879542"/>
                <a:ext cx="49853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111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E8B784C4-34C8-43AF-BD6E-0946BF973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719" y="5879542"/>
                <a:ext cx="498534" cy="307777"/>
              </a:xfrm>
              <a:prstGeom prst="rect">
                <a:avLst/>
              </a:prstGeom>
              <a:blipFill>
                <a:blip r:embed="rId12"/>
                <a:stretch>
                  <a:fillRect l="-9756" r="-9756" b="-980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AE29471-AAB4-4D0B-A00D-7F014205DF23}"/>
                  </a:ext>
                </a:extLst>
              </p:cNvPr>
              <p:cNvSpPr txBox="1"/>
              <p:nvPr/>
            </p:nvSpPr>
            <p:spPr>
              <a:xfrm>
                <a:off x="4714946" y="5874463"/>
                <a:ext cx="49853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000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AE29471-AAB4-4D0B-A00D-7F014205D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946" y="5874463"/>
                <a:ext cx="498534" cy="307777"/>
              </a:xfrm>
              <a:prstGeom prst="rect">
                <a:avLst/>
              </a:prstGeom>
              <a:blipFill>
                <a:blip r:embed="rId13"/>
                <a:stretch>
                  <a:fillRect l="-9756" r="-9756" b="-1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Cerrar llave 39">
            <a:extLst>
              <a:ext uri="{FF2B5EF4-FFF2-40B4-BE49-F238E27FC236}">
                <a16:creationId xmlns:a16="http://schemas.microsoft.com/office/drawing/2014/main" id="{E1BEDF19-0931-4E0D-886F-E5462C418C04}"/>
              </a:ext>
            </a:extLst>
          </p:cNvPr>
          <p:cNvSpPr/>
          <p:nvPr/>
        </p:nvSpPr>
        <p:spPr>
          <a:xfrm rot="16200000" flipV="1">
            <a:off x="4357592" y="5646743"/>
            <a:ext cx="129980" cy="460931"/>
          </a:xfrm>
          <a:prstGeom prst="rightBrace">
            <a:avLst>
              <a:gd name="adj1" fmla="val 40476"/>
              <a:gd name="adj2" fmla="val 50000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Cerrar llave 40">
            <a:extLst>
              <a:ext uri="{FF2B5EF4-FFF2-40B4-BE49-F238E27FC236}">
                <a16:creationId xmlns:a16="http://schemas.microsoft.com/office/drawing/2014/main" id="{5134A9A3-765D-4F66-98E1-1E63972DD127}"/>
              </a:ext>
            </a:extLst>
          </p:cNvPr>
          <p:cNvSpPr/>
          <p:nvPr/>
        </p:nvSpPr>
        <p:spPr>
          <a:xfrm rot="16200000" flipV="1">
            <a:off x="4877052" y="5646743"/>
            <a:ext cx="129980" cy="460931"/>
          </a:xfrm>
          <a:prstGeom prst="rightBrace">
            <a:avLst>
              <a:gd name="adj1" fmla="val 40476"/>
              <a:gd name="adj2" fmla="val 50000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50078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98C59EC-F126-45E7-B7C1-9AB9A32E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Suma binaria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19C6E9F-BCCF-4FD4-8EC3-574D66199786}"/>
              </a:ext>
            </a:extLst>
          </p:cNvPr>
          <p:cNvSpPr txBox="1"/>
          <p:nvPr/>
        </p:nvSpPr>
        <p:spPr>
          <a:xfrm>
            <a:off x="916650" y="853847"/>
            <a:ext cx="110442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Representación de funciones booleanas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310;p34">
                <a:extLst>
                  <a:ext uri="{FF2B5EF4-FFF2-40B4-BE49-F238E27FC236}">
                    <a16:creationId xmlns:a16="http://schemas.microsoft.com/office/drawing/2014/main" id="{6C8FE628-6E73-4697-AB63-4D28DA1796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0509" y="1346289"/>
                <a:ext cx="11150432" cy="1598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Los métodos de cálculo de aritmética binaria son análogos a los de aritmética decimal. En aritmética binaria el número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</m:t>
                    </m:r>
                  </m:oMath>
                </a14:m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 en notación binaria) desempeña un papel similar al del número 10 en aritmética decimal.</a:t>
                </a:r>
              </a:p>
              <a:p>
                <a:r>
                  <a:rPr lang="es-MX" sz="2000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Ejemplo</a:t>
                </a:r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: Sume</a:t>
                </a:r>
                <a:r>
                  <a:rPr lang="es-MX" sz="2000" b="0" dirty="0">
                    <a:ea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1001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 usando notación binaria</a:t>
                </a:r>
              </a:p>
            </p:txBody>
          </p:sp>
        </mc:Choice>
        <mc:Fallback xmlns="">
          <p:sp>
            <p:nvSpPr>
              <p:cNvPr id="12" name="Google Shape;310;p34">
                <a:extLst>
                  <a:ext uri="{FF2B5EF4-FFF2-40B4-BE49-F238E27FC236}">
                    <a16:creationId xmlns:a16="http://schemas.microsoft.com/office/drawing/2014/main" id="{6C8FE628-6E73-4697-AB63-4D28DA179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09" y="1346289"/>
                <a:ext cx="11150432" cy="15983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Vertical addition of 1101 base 2 and 111 base 2 is shown. On the left side of 111 base 2, a plus sign is shown; and, below this number, a horizontal line is shown. The number 10100 base 2 is shown below the horizontal line. The carry numbers 1, 1, and 1 are shown above the 1 1 0 from 1101 base 2. The row is labeled as “carry row.”">
            <a:extLst>
              <a:ext uri="{FF2B5EF4-FFF2-40B4-BE49-F238E27FC236}">
                <a16:creationId xmlns:a16="http://schemas.microsoft.com/office/drawing/2014/main" id="{BBF940A3-C5F4-475D-8C94-3177AAE00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400" y="4299528"/>
            <a:ext cx="3665873" cy="1212183"/>
          </a:xfrm>
          <a:prstGeom prst="rect">
            <a:avLst/>
          </a:prstGeom>
        </p:spPr>
      </p:pic>
      <p:pic>
        <p:nvPicPr>
          <p:cNvPr id="6" name="Picture 5" descr="Vertical addition of 1 base 2 and 1 base 2 is shown. On the left side of the second 1 base 2, a plus sign is shown. A horizontal line segment is shown below it. The number 10 base 2 is shown below the horizontal line.">
            <a:extLst>
              <a:ext uri="{FF2B5EF4-FFF2-40B4-BE49-F238E27FC236}">
                <a16:creationId xmlns:a16="http://schemas.microsoft.com/office/drawing/2014/main" id="{6E4BDB3D-0AB1-4239-8D38-A3CB50152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0551" y="3624404"/>
            <a:ext cx="549321" cy="813933"/>
          </a:xfrm>
          <a:prstGeom prst="rect">
            <a:avLst/>
          </a:prstGeom>
        </p:spPr>
      </p:pic>
      <p:pic>
        <p:nvPicPr>
          <p:cNvPr id="7" name="Picture 7" descr="Vertical addition of 1 base 2,  1 base 2, and 1 base 2 is shown. On the left side of the third 1 base 2, a plus sign is shown. A horizontal line segment is shown below it. The number 11 base 2 is shown below the horizontal line.">
            <a:extLst>
              <a:ext uri="{FF2B5EF4-FFF2-40B4-BE49-F238E27FC236}">
                <a16:creationId xmlns:a16="http://schemas.microsoft.com/office/drawing/2014/main" id="{D659BFFD-438B-4D10-BBEC-18838EE883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5841" y="5557037"/>
            <a:ext cx="527343" cy="10514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288A6BB-E300-4D30-8F37-2A902EC46FDB}"/>
                  </a:ext>
                </a:extLst>
              </p:cNvPr>
              <p:cNvSpPr txBox="1"/>
              <p:nvPr/>
            </p:nvSpPr>
            <p:spPr>
              <a:xfrm>
                <a:off x="1204608" y="2916963"/>
                <a:ext cx="489139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 dirty="0">
                    <a:latin typeface="Roboto" panose="02000000000000000000" pitchFamily="2" charset="0"/>
                    <a:ea typeface="Roboto" panose="02000000000000000000" pitchFamily="2" charset="0"/>
                  </a:rPr>
                  <a:t>Ya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</m:t>
                        </m:r>
                      </m:sub>
                    </m:sSub>
                    <m:r>
                      <a:rPr lang="es-MX" sz="16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sSub>
                      <m:sSubPr>
                        <m:ctrlPr>
                          <a:rPr lang="es-MX" sz="16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O" sz="1600" dirty="0">
                    <a:latin typeface="Roboto" panose="02000000000000000000" pitchFamily="2" charset="0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</m:t>
                        </m:r>
                      </m:sub>
                    </m:sSub>
                    <m:r>
                      <a:rPr lang="es-MX" sz="16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O" sz="1600" dirty="0">
                    <a:latin typeface="Roboto" panose="02000000000000000000" pitchFamily="2" charset="0"/>
                    <a:ea typeface="Roboto" panose="02000000000000000000" pitchFamily="2" charset="0"/>
                  </a:rPr>
                  <a:t>, la traducción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</m:t>
                        </m:r>
                      </m:sub>
                    </m:sSub>
                    <m:r>
                      <a:rPr lang="es-MX" sz="16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+</m:t>
                    </m:r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</m:t>
                        </m:r>
                      </m:sub>
                    </m:sSub>
                    <m:r>
                      <a:rPr lang="es-MX" sz="16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sSub>
                      <m:sSubPr>
                        <m:ctrlPr>
                          <a:rPr lang="es-MX" sz="16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s-CO" sz="1600" dirty="0">
                    <a:latin typeface="Roboto" panose="02000000000000000000" pitchFamily="2" charset="0"/>
                    <a:ea typeface="Roboto" panose="02000000000000000000" pitchFamily="2" charset="0"/>
                  </a:rPr>
                  <a:t> en notación binaria 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</m:t>
                        </m:r>
                      </m:e>
                      <m:sub>
                        <m:r>
                          <a:rPr lang="es-MX" sz="16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CO" sz="1600" dirty="0">
                    <a:latin typeface="Roboto" panose="02000000000000000000" pitchFamily="2" charset="0"/>
                    <a:ea typeface="Roboto" panose="02000000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288A6BB-E300-4D30-8F37-2A902EC46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608" y="2916963"/>
                <a:ext cx="4891392" cy="584775"/>
              </a:xfrm>
              <a:prstGeom prst="rect">
                <a:avLst/>
              </a:prstGeom>
              <a:blipFill>
                <a:blip r:embed="rId7"/>
                <a:stretch>
                  <a:fillRect l="-748" t="-3158" b="-1368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3E9CBAC-43AC-4EF6-94CB-1A4ED290B2EE}"/>
                  </a:ext>
                </a:extLst>
              </p:cNvPr>
              <p:cNvSpPr txBox="1"/>
              <p:nvPr/>
            </p:nvSpPr>
            <p:spPr>
              <a:xfrm>
                <a:off x="1109358" y="4589045"/>
                <a:ext cx="541844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dirty="0">
                    <a:latin typeface="Roboto" panose="02000000000000000000" pitchFamily="2" charset="0"/>
                    <a:ea typeface="Roboto" panose="02000000000000000000" pitchFamily="2" charset="0"/>
                  </a:rPr>
                  <a:t>De lo que se deduce que la suma de dos </a:t>
                </a:r>
                <a14:m>
                  <m:oMath xmlns:m="http://schemas.openxmlformats.org/officeDocument/2006/math">
                    <m:r>
                      <a:rPr lang="es-MX" sz="140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</m:oMath>
                </a14:m>
                <a:r>
                  <a:rPr lang="es-CO" dirty="0">
                    <a:latin typeface="Roboto" panose="02000000000000000000" pitchFamily="2" charset="0"/>
                    <a:ea typeface="Roboto" panose="02000000000000000000" pitchFamily="2" charset="0"/>
                  </a:rPr>
                  <a:t> juntos, da como resultado llevar un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</m:oMath>
                </a14:m>
                <a:r>
                  <a:rPr lang="es-CO" dirty="0">
                    <a:latin typeface="Roboto" panose="02000000000000000000" pitchFamily="2" charset="0"/>
                    <a:ea typeface="Roboto" panose="02000000000000000000" pitchFamily="2" charset="0"/>
                  </a:rPr>
                  <a:t> cuando se usa la notación binaria. Sumar tres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</m:oMath>
                </a14:m>
                <a:r>
                  <a:rPr lang="es-CO" dirty="0">
                    <a:latin typeface="Roboto" panose="02000000000000000000" pitchFamily="2" charset="0"/>
                    <a:ea typeface="Roboto" panose="02000000000000000000" pitchFamily="2" charset="0"/>
                  </a:rPr>
                  <a:t> juntos, también da como resultado en llevar un </a:t>
                </a:r>
                <a14:m>
                  <m:oMath xmlns:m="http://schemas.openxmlformats.org/officeDocument/2006/math">
                    <m:r>
                      <a:rPr lang="es-MX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</m:oMath>
                </a14:m>
                <a:r>
                  <a:rPr lang="es-CO" dirty="0">
                    <a:latin typeface="Roboto" panose="02000000000000000000" pitchFamily="2" charset="0"/>
                    <a:ea typeface="Roboto" panose="02000000000000000000" pitchFamily="2" charset="0"/>
                  </a:rPr>
                  <a:t> ya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3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</m:t>
                        </m:r>
                      </m:sub>
                    </m:sSub>
                    <m:r>
                      <a:rPr lang="es-MX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sSub>
                      <m:sSubPr>
                        <m:ctrlPr>
                          <a:rPr lang="es-MX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</m:e>
                      <m:sub>
                        <m:r>
                          <a:rPr lang="es-MX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endParaRPr lang="es-CO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3E9CBAC-43AC-4EF6-94CB-1A4ED290B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358" y="4589045"/>
                <a:ext cx="5418442" cy="954107"/>
              </a:xfrm>
              <a:prstGeom prst="rect">
                <a:avLst/>
              </a:prstGeom>
              <a:blipFill>
                <a:blip r:embed="rId8"/>
                <a:stretch>
                  <a:fillRect l="-337" t="-128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4">
            <a:extLst>
              <a:ext uri="{FF2B5EF4-FFF2-40B4-BE49-F238E27FC236}">
                <a16:creationId xmlns:a16="http://schemas.microsoft.com/office/drawing/2014/main" id="{1223F40E-3751-4F93-A8C2-E28295BFA76D}"/>
              </a:ext>
            </a:extLst>
          </p:cNvPr>
          <p:cNvSpPr txBox="1"/>
          <p:nvPr/>
        </p:nvSpPr>
        <p:spPr>
          <a:xfrm>
            <a:off x="6832999" y="2978073"/>
            <a:ext cx="350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0" i="0" u="none" strike="noStrike" baseline="0" dirty="0">
                <a:latin typeface="Roboto" panose="02000000000000000000" pitchFamily="2" charset="0"/>
                <a:ea typeface="Roboto" panose="02000000000000000000" pitchFamily="2" charset="0"/>
              </a:rPr>
              <a:t>Así, la suma se puede realizar de la siguiente manera:</a:t>
            </a:r>
            <a:endParaRPr lang="es-CO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8373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28754</TotalTime>
  <Words>2085</Words>
  <Application>Microsoft Office PowerPoint</Application>
  <PresentationFormat>Panorámica</PresentationFormat>
  <Paragraphs>599</Paragraphs>
  <Slides>23</Slides>
  <Notes>15</Notes>
  <HiddenSlides>0</HiddenSlides>
  <MMClips>1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23</vt:i4>
      </vt:variant>
    </vt:vector>
  </HeadingPairs>
  <TitlesOfParts>
    <vt:vector size="31" baseType="lpstr">
      <vt:lpstr>Roboto Slab</vt:lpstr>
      <vt:lpstr>Arial</vt:lpstr>
      <vt:lpstr>Calibri</vt:lpstr>
      <vt:lpstr>Calibri Light</vt:lpstr>
      <vt:lpstr>Cambria Math</vt:lpstr>
      <vt:lpstr>Roboto</vt:lpstr>
      <vt:lpstr>Tema de Office</vt:lpstr>
      <vt:lpstr>2_Tema de Office</vt:lpstr>
      <vt:lpstr> Matemáticas Discretas I</vt:lpstr>
      <vt:lpstr>Contextualización</vt:lpstr>
      <vt:lpstr>Representación de la información</vt:lpstr>
      <vt:lpstr>Representación de la información</vt:lpstr>
      <vt:lpstr>Representación de la información</vt:lpstr>
      <vt:lpstr>Representación de la información</vt:lpstr>
      <vt:lpstr>Representación de la información</vt:lpstr>
      <vt:lpstr>Sistemas numéricos posicionales</vt:lpstr>
      <vt:lpstr>Sistemas numéricos posicionales</vt:lpstr>
      <vt:lpstr>Sistemas numéricos posicionales</vt:lpstr>
      <vt:lpstr>Sistemas numéricos posicionales</vt:lpstr>
      <vt:lpstr>Sistemas numéricos posicionales</vt:lpstr>
      <vt:lpstr>Sistemas numéricos posicionales</vt:lpstr>
      <vt:lpstr>Sistemas numéricos posicionales</vt:lpstr>
      <vt:lpstr>Conversión entre sistemas numéricos</vt:lpstr>
      <vt:lpstr>Conversión entre sistemas numéricos</vt:lpstr>
      <vt:lpstr>Conversión entre sistemas numéricos</vt:lpstr>
      <vt:lpstr>Conversión entre sistemas numéricos</vt:lpstr>
      <vt:lpstr>Conversión entre sistemas numéricos</vt:lpstr>
      <vt:lpstr>Conversión entre sistemas numéricos</vt:lpstr>
      <vt:lpstr>Conversión entre sistemas numéricos</vt:lpstr>
      <vt:lpstr>Conversión entre sistemas numéricos</vt:lpstr>
      <vt:lpstr>Suma binaria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Matemáticas Discretas I</dc:title>
  <dc:creator>Usuario</dc:creator>
  <cp:lastModifiedBy>HENRY ALBERTO ARCILA RAMIREZ</cp:lastModifiedBy>
  <cp:revision>378</cp:revision>
  <dcterms:modified xsi:type="dcterms:W3CDTF">2026-05-28T13:06:39Z</dcterms:modified>
</cp:coreProperties>
</file>